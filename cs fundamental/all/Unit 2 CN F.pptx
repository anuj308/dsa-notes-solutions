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4" r:id="rId2"/>
  </p:sldMasterIdLst>
  <p:notesMasterIdLst>
    <p:notesMasterId r:id="rId39"/>
  </p:notesMasterIdLst>
  <p:sldIdLst>
    <p:sldId id="4012" r:id="rId3"/>
    <p:sldId id="310" r:id="rId4"/>
    <p:sldId id="4013" r:id="rId5"/>
    <p:sldId id="4014" r:id="rId6"/>
    <p:sldId id="4018" r:id="rId7"/>
    <p:sldId id="4019" r:id="rId8"/>
    <p:sldId id="4015" r:id="rId9"/>
    <p:sldId id="4016" r:id="rId10"/>
    <p:sldId id="307" r:id="rId11"/>
    <p:sldId id="4020" r:id="rId12"/>
    <p:sldId id="297" r:id="rId13"/>
    <p:sldId id="308" r:id="rId14"/>
    <p:sldId id="4021" r:id="rId15"/>
    <p:sldId id="309" r:id="rId16"/>
    <p:sldId id="4022" r:id="rId17"/>
    <p:sldId id="4023" r:id="rId18"/>
    <p:sldId id="4024" r:id="rId19"/>
    <p:sldId id="4025" r:id="rId20"/>
    <p:sldId id="4026" r:id="rId21"/>
    <p:sldId id="4027" r:id="rId22"/>
    <p:sldId id="4028" r:id="rId23"/>
    <p:sldId id="4029" r:id="rId24"/>
    <p:sldId id="4030" r:id="rId25"/>
    <p:sldId id="4036" r:id="rId26"/>
    <p:sldId id="4041" r:id="rId27"/>
    <p:sldId id="4037" r:id="rId28"/>
    <p:sldId id="4039" r:id="rId29"/>
    <p:sldId id="4042" r:id="rId30"/>
    <p:sldId id="4040" r:id="rId31"/>
    <p:sldId id="4031" r:id="rId32"/>
    <p:sldId id="4032" r:id="rId33"/>
    <p:sldId id="4033" r:id="rId34"/>
    <p:sldId id="4034" r:id="rId35"/>
    <p:sldId id="331" r:id="rId36"/>
    <p:sldId id="304" r:id="rId37"/>
    <p:sldId id="403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ince Rana" initials="PR" lastIdx="1" clrIdx="0">
    <p:extLst>
      <p:ext uri="{19B8F6BF-5375-455C-9EA6-DF929625EA0E}">
        <p15:presenceInfo xmlns:p15="http://schemas.microsoft.com/office/powerpoint/2012/main" userId="c5a101c88276c48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commentAuthors" Target="commentAuthor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7D949B-89B6-4186-B6FC-6E2E0ED6AA05}" type="datetimeFigureOut">
              <a:rPr lang="en-IN" smtClean="0"/>
              <a:t>18-03-2025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4BF01F-5E41-4F53-AB8B-B09821116E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188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181D44-40DF-2CEA-A972-68D5079E1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156A533-7395-65B6-B614-477A131140F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3CEF123E-5C0B-1E27-A83F-D775B8E461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D580CD38-F530-1278-A20D-01AF2E840F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dirty="0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9170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A0A70-ABED-5AF3-42B0-0426C31B2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2ADF3C1-7E79-A677-EC8F-69F0688CF21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9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E8640639-0129-2D3C-B47C-2247A4511F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A226A9EC-4FCD-9FCF-5D0C-CFAD7535D8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046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71CF0-F83F-4906-139B-84A2DB7D7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05DEE04-D272-DCFC-DEF7-546CCA9C28F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10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9DE65245-AFCD-E878-D761-78FBE017F9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38FD57AE-D5B8-E011-929D-8596A031D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962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DB998-8810-D465-5BD2-661B2F462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6F56FE5F-DA47-4CE4-2907-5C7AEB33F10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11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7269944F-4D65-D8E7-6DE1-0FA355FEFE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9F5BA518-F53C-152E-383A-070841AD2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141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F54436-BD6B-8EC5-1870-97568B514D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42F2B8F-0EDD-4BF2-E52C-F4D39D9F6B2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12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9683BF10-92FD-4622-2B1C-BCB07C3032A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D37C43D6-D6E7-2A66-F241-714917D83A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802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F32359-049E-EDC4-0994-9DE5ADABA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AB33F7B4-A13D-1B0F-BBC2-F6C15F99EC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13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DD6E180F-671A-22A2-1DB3-B72C4D76EC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8B3FC224-2625-33E1-42A5-1E2A58153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8838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F52520-CFE1-85D4-9BA2-8A48785D5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98AC52E-C9EF-3C30-4F40-CB5DF66D79F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14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685ED048-85E6-6F19-724C-A4AC96C919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CEF709D-1482-2FE0-FB0B-DE40FCF33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25316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308F29-517D-0C4A-E0B8-060A4363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80156EF-A7B7-8367-B4EB-1D968D945649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15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4D18C851-F7A8-0627-66D4-D4E543F1B9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237C066D-3887-E8F2-6F67-5498CAFED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0565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CD1D4D-44E7-B5A0-E182-CFD112D69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4F9B897-61A4-048C-9EE9-D8F0A8C0112C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16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A90FD5CD-678F-A769-14D6-AB9CD0425D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AC33EB07-C57A-9F3D-BBE4-EC98955DF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540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CF52F1-2FA9-9BE1-C923-B20E66548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2B7C47F2-0CAE-A557-68F0-3010744B5F3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17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A7B013B0-6910-449B-122E-911DBEF41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AECF2436-14B6-5FE8-37ED-181AD7DAF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5463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FB0CD-408F-F01E-D84F-8A5AF64E5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7BC00F7-A57D-61AF-731C-8AED7DECD70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18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5D29733A-DFEC-F08D-4A1B-FD9E364052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7530F18-EB8A-4849-8F9F-40BC0F1F99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460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8606D2-9D1B-6A18-0B4D-90230CB5B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8C17098-9002-9916-731B-BBC3C9A8B905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19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2CF7F5CA-72A8-C6F8-561C-2CF1529D3A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59B169A7-6432-3B6F-923C-247E57D07E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751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7D628A-6B67-B41A-C0BF-84D40D1A1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2579DA22-24BA-A4BA-5378-13D222FFB55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20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1AE4FC2B-C420-6562-2D51-E0ED5DE028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87D97B69-4969-584F-8EFF-D74A67C974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4944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46B205-8C03-B365-F046-8D182E0F0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19F117A-3B26-4E89-B78C-1CCF673EF93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21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D87F05AF-FCC4-E5D3-D075-421F32B49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0BF05FF5-1441-CBE0-D040-02534A1C3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393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AC65D-28D7-1DBF-9B54-3151ED14E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F65E0C09-1629-6216-0C17-1D55D3911BD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22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D2D29BCA-7145-39EF-484D-D5A027EE11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356661E2-5C10-D930-5110-30D6DD942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88941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E2791-B79A-D3C7-526C-290B2B5BB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D42244A1-F94F-6091-AD3C-08ADB54DA6A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23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03197327-C6B1-72D5-84D4-11BB61535B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D1591A19-F955-2CA3-0CAD-073BE8C111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0377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1A5C1-6178-94BB-91FC-5E01B93E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B18EBDF-5800-4101-9967-A5450B0961E1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24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3524060D-FFA5-BC9F-C471-169418704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72EEB79E-542E-1C57-881E-07C1156CB2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894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CBC73-C871-45EF-6EB1-21EAB8F34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425522F-E2B9-3A0D-9E77-60ACB34E6DD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25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8524664E-9A7B-FBB1-F798-F777FA1A39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0CE9AD57-1A45-1AA4-FB27-DD5CE3F748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73648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09D160-AE4E-063D-FE79-B1D67F0A4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8BDA4B2A-9622-785C-451E-0D692AAEAEF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26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2753BB55-84F2-AD5B-C786-9940C20933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0D36676-4396-25A7-EDBA-21CFB893BB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75947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78A4F-0001-A99F-3774-15EE405C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552312C3-4FE9-6E9B-10F0-3E70D1BC7EE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27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8D316697-D927-CE8A-A05F-D1B40879B2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C42FB9B1-9596-0298-76D5-1C17E9AC4A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8081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16F900-6C96-9F83-6699-92C480FAF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2583F79C-DB0E-3927-E193-4387F70105A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28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77AF2A97-4D24-7AB2-CC72-FD18B55A83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8C37D11-8093-5E2B-CDAB-75ECFEB2A6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7709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DA3F1F-B67B-D4C1-3220-B6BB8C16F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623E1BB-49BE-8023-A235-AAD42A38F4F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29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65213B5F-281D-B9A3-940F-CEA97E17FD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937305C-126F-8AFA-267C-36D2A92109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5357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3CCFD4-CF51-0F41-01C4-5A478EAE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16B16FB-04E5-524C-5D6C-3A55B991B8D2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30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3AC0DC5D-E700-67FC-6E38-7C3BCDF396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6E54BAE1-295C-AAD3-AB9D-D894D9128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18702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AAFEE-E952-66D2-F139-EC55BD32A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E26DC576-F658-88B2-8CBC-9B9DBAC5CB5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31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CAB7BBC7-D4B7-4C73-06C7-D44C19444D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857841F6-A7BC-8BAD-16A3-5A51C9DEE6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211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96763-A8DF-D1E3-4355-87E214552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4DBD85A9-49F2-9312-EE66-0885C0EF80FB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32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7ABB9BFE-87CD-F878-3DD8-D8190D415E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BEC1B5C3-2059-53AD-2E96-AC31AD002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665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17C9DD-6F54-E4D1-4D2B-1B4787403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37B8F520-56B1-14E4-CD9C-9B911685103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33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2A43D6E3-83EC-6D5D-E4DA-907DB3708D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F2E1464C-1643-877F-7A2B-610118ADE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56903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D579D-9F20-42EA-74C8-DC9C64781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B733715-FAD2-5589-282A-1D4FB3B38776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34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B4C70D68-0EF1-D39E-D57C-B545A275CF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40AF2CCB-8360-530E-0B34-36C4F1CD29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44753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26BDC-325E-79E4-31A2-F7C9C3998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19E252FC-965C-9B47-A22E-138CCCF0244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35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BA9A402B-94AB-AB3B-2048-C9DF2F4F3A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EE33B855-97EE-8473-F4AC-E300AD2D42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910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latin typeface="Times New Roman" pitchFamily="16" charset="0"/>
              </a:defRPr>
            </a:lvl9pPr>
          </a:lstStyle>
          <a:p>
            <a:fld id="{341E80A0-5749-422A-8BF6-649022B87008}" type="slidenum">
              <a:rPr lang="en-IN" altLang="en-US">
                <a:latin typeface="Calibri" pitchFamily="32" charset="0"/>
              </a:rPr>
              <a:pPr/>
              <a:t>36</a:t>
            </a:fld>
            <a:endParaRPr lang="en-IN" altLang="en-US">
              <a:latin typeface="Calibri" pitchFamily="32" charset="0"/>
            </a:endParaRPr>
          </a:p>
        </p:txBody>
      </p:sp>
      <p:sp>
        <p:nvSpPr>
          <p:cNvPr id="31747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>
              <a:latin typeface="Times New Roman" pitchFamily="16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454A-B50B-99CF-5F2C-9914471B25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906C5-4742-264F-78E1-18B014E036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54A67-BCE4-0B38-9F85-49846340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14B60-7D0F-4B94-AD34-57FBF25B891C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1F8AC-443C-1ECA-AB44-6EBF6FD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DF0F3-AEC5-C9B9-7171-1B6A033D0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48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A43DA-CBC5-58B5-65B8-9D38B353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176963"/>
            <a:ext cx="2451755" cy="643543"/>
          </a:xfrm>
        </p:spPr>
        <p:txBody>
          <a:bodyPr/>
          <a:lstStyle>
            <a:lvl1pPr>
              <a:defRPr/>
            </a:lvl1pPr>
          </a:lstStyle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B5CF5-59AF-DD83-C89A-DF31B5195C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4E04A-0F9D-BFA3-1170-4193E83A9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DE81-956F-4639-9EC4-8A1C08347E1B}" type="datetime1">
              <a:rPr lang="en-IN" smtClean="0"/>
              <a:t>18-03-2025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89B7-C73D-98DA-3AF0-70E1DF6AB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C4C7C3-2C9F-8A2C-CC92-9224B93D4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</p:txBody>
      </p:sp>
    </p:spTree>
    <p:extLst>
      <p:ext uri="{BB962C8B-B14F-4D97-AF65-F5344CB8AC3E}">
        <p14:creationId xmlns:p14="http://schemas.microsoft.com/office/powerpoint/2010/main" val="92453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F116C-C79E-55DD-9F00-FFDBCF607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E630C-B948-FAC9-6274-CA2DCE44C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03E107-FDF9-7A65-56F5-E97F0661F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F2B97-4755-4048-8E73-634762C4259B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5382A-4979-C9DC-A38D-71EEC2F21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4B501-66BB-E071-2D45-786A50329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50733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5DFD8-0D14-BAF4-B9E1-9E8435A7E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4BAE9-DB1F-171F-6D48-3F467841FF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CAD39-A292-B30E-5E61-53E6C13EC3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F5A39-F187-8FE8-5DEB-F71006593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BBF090-EFD6-4185-9074-02D9F3A27109}" type="datetime1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0DC70-1010-1A04-FE7B-7DB3E6713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8834-3EFD-4C90-DC78-7AB1AA3B0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013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73B6E-AAAA-C190-F84C-C7A9E54BF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E850B-3436-7B73-9CAF-6857749DD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440929-494D-74D0-7921-2D938A372A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974FE-72C9-137E-0265-73F50D8D7A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7C57EA2-CA11-4B56-861E-239081BE50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3161D1-E209-E17B-7F43-1EA7214E3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7A8C-1E75-43B1-9F96-6F4163C70336}" type="datetime1">
              <a:rPr lang="en-IN" smtClean="0"/>
              <a:t>18-03-2025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3D1B75-14EF-E88A-5B4F-ECF203D09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9406F7-C76D-E3CE-11A0-2DF7C798A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817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6511-9AF4-26A2-B0E0-2904E16E7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C37283-2B3B-38B3-2541-367195BBA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5DA10-BC5B-4036-8EED-DF5350FEFE53}" type="datetime1">
              <a:rPr lang="en-IN" smtClean="0"/>
              <a:t>18-03-2025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109F2-D873-FF79-0EAD-7BB606B3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1DAC8C-10EC-B45D-546A-403F5F41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250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D1B28-282D-9541-5396-99E0DEE59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9FACF6-3696-BA79-A674-7B2FB7D6CC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AE520-B0BD-9957-B156-89F4DEFC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48B98-4480-435F-AA6C-7EF26FC102F3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8C5B5D-0A2A-D9E7-19E8-E963CF0D8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85D3D-8D58-9A45-B29D-22587F406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35515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B756CC-275B-5F05-BC12-BB1376D40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74C46-0D45-4097-89CB-89B4D59589B5}" type="datetime1">
              <a:rPr lang="en-IN" smtClean="0"/>
              <a:t>18-03-2025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4A5A5C-6A14-6463-9263-E1C97FDE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8AB0B-4F9E-B3E8-F5BE-48D1A7FC0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3060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9790F-A78E-F728-A554-7D4A7AF1C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C0024-81A1-24AC-3552-CA9CEA7E4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8CF34-E943-6E55-F9DC-69271DB3A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3B6FBF-46A8-C3B9-7C32-FF6F9D37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5333-C14B-4523-8892-9EE44EF01BF5}" type="datetime1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4E712-4476-5F97-67B0-BBB596A0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0A3B25-9720-6577-0395-9103E7757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320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83F6F-8F6C-7195-27A7-50671BA45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FE7027-CB64-2D79-C450-A50A1A1A5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A3577A-646B-877F-ACC8-447532FEA7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ABA6D9-4ADB-E95F-6717-B7292C01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C60E-CE47-49F8-B4C2-4B8506E4F337}" type="datetime1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60814B-405F-B37D-4F5F-B70E8488D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D74CF4-2834-8D90-41B2-3FFB1D4B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02249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2A8B3-3C5F-769E-BE44-7FCB772A83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DCE24B-7910-B2E8-C9C8-E2F93AFB81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1D4F-E585-8CF2-AC0F-F3EA4F0C4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4B8B9-7064-4582-8BFF-D3ED0A035893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C96A0-30C4-BF0C-B817-DF0BA33BB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19994-D6D6-8277-D64E-72F4CB96C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9937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5684E-E78C-6403-5784-881B5F719D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46A895-CB19-8C3C-14DE-6EAED0DAF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AFCB57-9456-2AC2-F828-82B3C205D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A1F74-C5D5-4F87-A358-ECFC9D06884B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BB12E-7780-918E-5E3C-724738430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75309-26BD-45AA-9E3A-6EF56CE4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1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805CA-64DA-7A7B-4891-7A6B8047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6B69A-FCC2-90BD-9A37-126254ADD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ABC91-EC09-2857-8B3E-614F98AA1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F5149-A9CF-4B0E-B933-52C61BF9F1B4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794C4-D2FD-CA9E-C702-D02F95DA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DEB17-B836-A102-BCC3-58688194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83441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355A4-BA41-9990-0BFD-1E916EF99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B645F-2D36-27A4-0D69-611DFB20F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904F4-B53C-10A4-7064-5291E4DEA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35EC2-F366-4519-8F78-C14DEFC02620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E27C2-43A0-A162-37B3-EF75BB89B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3B826-B0FB-E849-1121-546E8B606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47209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90AA4-0EEC-1910-219B-96E52B07A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17A996-700C-8856-F10D-D7278A1CA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24365-E9CC-94A3-0A72-92127392E3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A84B0-C007-29DA-8B67-4CE5B038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EE728C-7229-405E-8EA8-5D1F6BF0CE3C}" type="datetime1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9E5FC1-9832-9B7D-9B54-7B18C73E2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9635D5-DDAC-6838-F355-9C0C2DD03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49093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9B48-B68C-8D32-079B-1645F088D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AB960C-4219-6983-0C52-217AC58F9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769EF-D148-61DF-AFB8-6EF04CEC7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EA73A1-C499-2A9B-E75B-1154818966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B8333-0DCE-37E2-23CD-46F3077CFE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95650C-0497-8426-5DF8-4C97B7AF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EFC76-DEAE-4DC9-90D3-FA98CEE19EA8}" type="datetime1">
              <a:rPr lang="en-IN" smtClean="0"/>
              <a:t>18-03-2025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B8A9DE-2FB5-C79A-2943-462DA6FB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9724FD-8C07-AEE4-BBE6-DA354462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</p:txBody>
      </p:sp>
    </p:spTree>
    <p:extLst>
      <p:ext uri="{BB962C8B-B14F-4D97-AF65-F5344CB8AC3E}">
        <p14:creationId xmlns:p14="http://schemas.microsoft.com/office/powerpoint/2010/main" val="269560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F88E4-0792-5BA9-BE94-464A6F03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1C477E-E98E-F086-D115-312E62622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C4BAE-74CD-4160-B3CE-9F94730E8AA9}" type="datetime1">
              <a:rPr lang="en-IN" smtClean="0"/>
              <a:t>18-03-2025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E8CD6-E452-FA58-0BC8-C687D66B2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5C0FB-F8F2-DA66-B48E-72CD031E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23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46531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6AB04C-4B79-7005-36F1-C9FB1DEE4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B1DFB-4F58-4F4A-929F-BC1381CAB6C8}" type="datetime1">
              <a:rPr lang="en-IN" smtClean="0"/>
              <a:t>18-03-2025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31B8A-25F3-6D94-B4CA-324320512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7D600B-FC92-B9D2-FACD-D1262A7F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11443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A35B0-C1B0-E6AB-B380-50ABEA8F3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D5895-86AE-A3CE-C31C-FB7CF55DB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0EB17-A1F2-E5F9-ED41-62DC90AD12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287DF9-5748-B0BB-9C7D-8482D5BA0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3D978-794C-4E28-9598-CC5A7467E977}" type="datetime1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EA28-7244-CDBC-F803-23D6CD4E3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29182A-CA6D-E2D7-482F-762101710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771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9B041-8FBF-F565-BCAD-A99A18D8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9234A-8C7C-D620-B3B3-C41A1469AF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54AD2-77CC-C892-A748-AD3B17214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BE1194-303B-9933-260D-2C63208A4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65B70-BF76-405F-98AC-0004B5830A3D}" type="datetime1">
              <a:rPr lang="en-IN" smtClean="0"/>
              <a:t>18-03-2025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BA9130-20CC-57FB-47BE-CDEC1F09E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2348CB-7743-E12C-D78A-75A626F0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3356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BC72-8CD6-0E85-13EF-8BA27B4A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E10B12-44A6-5B00-51C5-19A410F8DF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DF8CB-E411-D17F-6052-5B236CE2B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C8A8-0396-47D1-B498-7C428D407BDB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8749B-CDA9-68AA-E078-A69E90B2D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EA385-88F7-9976-998B-80FBFDB07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59925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FC4FFA-DD57-5FAC-2EE6-9EAD02C84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0C6E0-DC51-EA44-4B38-485AD0862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D8F35-A9B5-5576-277C-2E9278119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CAAA2-34A8-4A6B-B2CA-32812FDB269F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CB4B6-2658-9894-E8D5-63990185E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D8861-B1F0-FFAA-83FC-D0C881720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6930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9BC712-3CD6-D18D-1483-CAFF2130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7F309-DEC2-2A35-6A1B-36732AEA3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BBC8F-5AA1-6A5F-813E-EC818CB3A0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7B1B2-D5D4-4702-944C-371018239B9C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EE63-802B-29AB-6E8E-2336CA6B4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85C65-30CE-BE4C-6597-F76452533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F464-475C-44AD-B39D-86A1D68B524E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E00DB2-1B79-F076-988B-189E25D268A4}"/>
              </a:ext>
            </a:extLst>
          </p:cNvPr>
          <p:cNvSpPr/>
          <p:nvPr userDrawn="1"/>
        </p:nvSpPr>
        <p:spPr>
          <a:xfrm>
            <a:off x="2078655" y="431018"/>
            <a:ext cx="8107244" cy="46502"/>
          </a:xfrm>
          <a:prstGeom prst="rect">
            <a:avLst/>
          </a:prstGeom>
          <a:solidFill>
            <a:srgbClr val="F47D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E6FB77-67DC-C0AD-16FE-6E68AF2B887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355072" y="178307"/>
            <a:ext cx="1547520" cy="4186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ED9CD6-CADD-7BD4-3F8E-872DFDE3128D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28281" y="178308"/>
            <a:ext cx="1581202" cy="5054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318C861-1BD5-B856-A0FD-4B28D1D8BE11}"/>
              </a:ext>
            </a:extLst>
          </p:cNvPr>
          <p:cNvSpPr/>
          <p:nvPr userDrawn="1"/>
        </p:nvSpPr>
        <p:spPr>
          <a:xfrm>
            <a:off x="1" y="6778868"/>
            <a:ext cx="12191997" cy="79131"/>
          </a:xfrm>
          <a:prstGeom prst="rect">
            <a:avLst/>
          </a:prstGeom>
          <a:solidFill>
            <a:srgbClr val="ED771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23961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62EF7-2B1E-F75F-243E-4990CA998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slide &lt;#&gt;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506ED-FA6E-CA12-B350-E1276F52F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E11F86-D74F-050E-7460-D8B081731F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B975F-DFC6-4F2F-864A-C8C7B6F4EE92}" type="datetime1">
              <a:rPr lang="en-IN" smtClean="0"/>
              <a:t>18-03-2025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759DB-62FC-3D0D-E075-FEF02A5D6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07A15-664D-B50A-F176-AD86DF389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Slide </a:t>
            </a:r>
            <a:fld id="{1005F464-475C-44AD-B39D-86A1D68B524E}" type="slidenum">
              <a:rPr lang="en-IN" smtClean="0"/>
              <a:pPr/>
              <a:t>‹#›</a:t>
            </a:fld>
            <a:r>
              <a:rPr lang="en-IN" dirty="0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6073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be.com/playlist?list=PLZ2ps__7DhBYc4jkUk_yQAjYEVFzVzhdU&amp;si=2cdYZiJa6NVwbJ6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youtube.com/playlist?list=PLBlnK6fEyqRi_CUQ-FXxgzKQ1dwr_ZJWZ&amp;si=vRmw_BpdGuBIhDkb" TargetMode="External"/><Relationship Id="rId4" Type="http://schemas.openxmlformats.org/officeDocument/2006/relationships/hyperlink" Target="https://youtube.com/playlist?list=PLIwC9bZ0rmjSkm1VRJROX4vP2YMIf4Ebh&amp;si=kH6pymcwWOLcGtqP" TargetMode="Externa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javatpoint.com/dbms-tutorial" TargetMode="External"/><Relationship Id="rId3" Type="http://schemas.openxmlformats.org/officeDocument/2006/relationships/hyperlink" Target="https://www.appsierra.com/blog/database-normalization-tutorial" TargetMode="External"/><Relationship Id="rId7" Type="http://schemas.openxmlformats.org/officeDocument/2006/relationships/hyperlink" Target="https://www.w3schools.com/sql/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b-book.com/slides-dir/" TargetMode="External"/><Relationship Id="rId5" Type="http://schemas.openxmlformats.org/officeDocument/2006/relationships/hyperlink" Target="https://www.geeksforgeeks.org/dbms/" TargetMode="External"/><Relationship Id="rId4" Type="http://schemas.openxmlformats.org/officeDocument/2006/relationships/hyperlink" Target="https://www.exasol.com/blog/what-is-a-relational-database/" TargetMode="External"/><Relationship Id="rId9" Type="http://schemas.openxmlformats.org/officeDocument/2006/relationships/hyperlink" Target="https://byjus.com/govt-exams/database-management-system-dbms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0C57A-EB01-5294-F8AB-F5CA01DD8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1FCCFE37-7053-F912-0A2A-D4863BE11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1991" y="2206625"/>
            <a:ext cx="7956550" cy="1222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ct val="100000"/>
              <a:buFont typeface="Times New Roman" pitchFamily="16" charset="0"/>
              <a:buNone/>
            </a:pPr>
            <a:r>
              <a:rPr lang="en-US" altLang="en-US" sz="5400" dirty="0">
                <a:solidFill>
                  <a:schemeClr val="tx1"/>
                </a:solidFill>
                <a:latin typeface="Berlin Sans FB Demi" pitchFamily="32" charset="0"/>
              </a:rPr>
              <a:t>CSE357:</a:t>
            </a:r>
          </a:p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IN" sz="5700" b="1" dirty="0">
                <a:solidFill>
                  <a:srgbClr val="000000"/>
                </a:solidFill>
                <a:effectLst/>
                <a:latin typeface="Berlin Sans FB" panose="020E0602020502020306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COMBINATORIAL STUDIES</a:t>
            </a:r>
            <a:endParaRPr lang="en-US" sz="5700" dirty="0">
              <a:effectLst/>
              <a:latin typeface="Berlin Sans FB" panose="020E0602020502020306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DB013B-BE55-5533-857D-185825C54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</a:t>
            </a:fld>
            <a:r>
              <a:rPr lang="en-IN"/>
              <a:t> of 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7673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F1120-0A56-BC85-879B-E85FF83EC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EE2F985-ECF8-64D8-51CF-D3C9D6E502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3532"/>
            <a:ext cx="12192000" cy="604520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40981-B6DC-5BCE-CD04-FBAD45F86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2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20980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997F-D922-8399-9B37-CC52BF8E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CCBE74B0-C295-FE66-3FB4-E064E251A9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466" y="1470025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Foundations of Computer Networks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Elements and Types of Networks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and Signals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Topologies and Transmission Medium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Models and Protocols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OSI and TCP/IP Models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Working of TCP/IP Model (Internet)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Subnetting and Routing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Protocols: HTTP, SMTP, POP/IMAP, FTP, DNS, DHCP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Overview of Traceroute and Ping</a:t>
            </a:r>
          </a:p>
        </p:txBody>
      </p:sp>
      <p:sp>
        <p:nvSpPr>
          <p:cNvPr id="3" name="Text Box 1">
            <a:extLst>
              <a:ext uri="{FF2B5EF4-FFF2-40B4-BE49-F238E27FC236}">
                <a16:creationId xmlns:a16="http://schemas.microsoft.com/office/drawing/2014/main" id="{127B00A7-7C02-4663-B9FE-2F5F26D447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957" y="4254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III: </a:t>
            </a:r>
            <a:r>
              <a:rPr lang="en-US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n-US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omputer Networking Basics </a:t>
            </a:r>
            <a:endParaRPr lang="en-US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38041-4AD1-01C2-E032-1CE4CC01E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</a:t>
            </a:fld>
            <a:r>
              <a:rPr lang="en-IN"/>
              <a:t> of 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630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473D6-B0EA-5EDE-49C9-4EC9D9EC7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4C9E99A9-4CE3-7B29-01CC-A42D09807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79" y="470134"/>
            <a:ext cx="88882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Networking Basics 1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59EC9511-B253-62E7-3437-4390F8F47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96735"/>
            <a:ext cx="4588934" cy="516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Protocol 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Address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Switch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Firewall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Gateway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Subnet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 (Local Area Network)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61722D5-6D1E-3BC7-05DA-2FD01E110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2466" y="1807003"/>
            <a:ext cx="4944534" cy="516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WAN (Wide Area Network)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DNS (Domain Name System)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DHCP (Dynamic Host Configuration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Packet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Bandwidth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Latency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OSI Model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 (Transmission Control Protocol)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71B1D-AEC3-2407-3A09-39DE79BC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4</a:t>
            </a:fld>
            <a:r>
              <a:rPr lang="en-IN"/>
              <a:t> of 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672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7BA0A-2FB7-C00F-2553-7BB809F0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B2A07BFA-4C00-C077-41E1-616A987408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79" y="470134"/>
            <a:ext cx="88882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Networking Basics 2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06386B8-2763-511E-B30F-1624AA343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796735"/>
            <a:ext cx="5088467" cy="516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UDP (User Datagram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 Address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HTTPS (Hypertext Transfer Protocol Secure)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FTP (File Transfer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SSL/TLS (Secure Sockets Layer/Transport Layer Security)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ARP (Address Resolution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 (Network Address Translation)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B3FA02CB-CF37-B876-2871-A48DDA3FF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64670"/>
            <a:ext cx="4944534" cy="516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QoS (Quality of Service)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DNS (Domain Name System)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VoIP (Voice over Internet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DNS Spoofing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Ping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Traceroute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RIP (Routing Information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OSPF (Open Shortest Path First)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 Party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8971B-64A2-92EA-7B94-1118929EF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5</a:t>
            </a:fld>
            <a:r>
              <a:rPr lang="en-IN"/>
              <a:t> of 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8757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CBA75-C830-0927-A451-2173A1177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15A6DDB5-7051-C2B7-994F-A84A33109A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579" y="470134"/>
            <a:ext cx="88882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Networking Basics 3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E8F03E55-C94A-3877-CE4B-713639EE80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199" y="1796735"/>
            <a:ext cx="5325535" cy="516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VPN (Virtual Private Network)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802.11 (Wi-Fi)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SNMP (Simple Network Management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FTP (File Transfer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PoE (Power over Ethernet)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IPsec (Internet Protocol Security)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SMTP (Simple Mail Transfer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IMAP (Internet Message Access Protocol)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B0D4ACF2-E3E6-273B-9596-A25EC8FA37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764670"/>
            <a:ext cx="5257800" cy="516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DDoS (Distributed Denial of Service)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Proxy Server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SMTP (Simple Mail Transfer Protocol)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IMAP (Internet Message Access Protocol)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POP3 (Post Office Protocol version 3)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IPsec (Internet Protocol Security)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Wireshark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BEAC6-7F89-9EC0-EF70-650C0CC56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6</a:t>
            </a:fld>
            <a:r>
              <a:rPr lang="en-IN"/>
              <a:t> of 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55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0EFA5-1CB4-CAA9-0766-ABAFD3DC4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3AB7D398-563D-1C3A-578E-482DDB79F9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52450"/>
            <a:ext cx="888828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OSI Reference Model Layers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4908B8B3-04A2-88CE-08AC-5DD1D61E6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796735"/>
            <a:ext cx="8229600" cy="5163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Presentation Layer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Session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Transport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Link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Physical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0B7D2-6C12-5EC7-09EC-8BEF3B7E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7</a:t>
            </a:fld>
            <a:r>
              <a:rPr lang="en-IN"/>
              <a:t> of 23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296573-605A-512F-D5DF-55E1EF496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8934" y="1337734"/>
            <a:ext cx="8873066" cy="491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35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C8D7C-8C8F-C0CC-8EEF-C5C9BF4A2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>
            <a:extLst>
              <a:ext uri="{FF2B5EF4-FFF2-40B4-BE49-F238E27FC236}">
                <a16:creationId xmlns:a16="http://schemas.microsoft.com/office/drawing/2014/main" id="{8C523341-D92B-1FC5-BFFD-CFBE8A644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6413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TCP/IP Model</a:t>
            </a:r>
            <a:endParaRPr lang="en-US" sz="28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 Box 2">
            <a:extLst>
              <a:ext uri="{FF2B5EF4-FFF2-40B4-BE49-F238E27FC236}">
                <a16:creationId xmlns:a16="http://schemas.microsoft.com/office/drawing/2014/main" id="{6AF7B874-4960-0C3B-7C2B-54B3417EDC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0400" y="2067454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Application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Transport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Internet Layer</a:t>
            </a:r>
          </a:p>
          <a:p>
            <a:pPr marL="342900" marR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 Layer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8ABDBC-037E-1737-1E0D-C80DDDC95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8</a:t>
            </a:fld>
            <a:r>
              <a:rPr lang="en-IN"/>
              <a:t> of 23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633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B3E89-5EE7-E53D-DBEA-76F28E93B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957FB56C-DA43-7F89-B0FE-59A4396090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42627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Topologies</a:t>
            </a: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C50C57E3-B99B-EBD1-0B35-24F87C774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2026844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Bus Topology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 Topology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Ring Topology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Mesh Topology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Tree Topology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Point-to-Point Topology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Wireless Mesh Topology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8BB8F3-7A62-1DE9-23C1-2906F4F51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9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048250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024C-0AA2-DA03-FF62-92F8F9A74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C3C0A376-2FD8-0241-EC2E-255152987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742627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Devices</a:t>
            </a: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FEF58198-66D8-6EAB-ADEA-91DCD1AE2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" y="2026844"/>
            <a:ext cx="35814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Router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Switch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Hub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Firewall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Gateway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Access Points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Modem</a:t>
            </a:r>
          </a:p>
        </p:txBody>
      </p:sp>
      <p:sp>
        <p:nvSpPr>
          <p:cNvPr id="2" name="Text Box 2">
            <a:extLst>
              <a:ext uri="{FF2B5EF4-FFF2-40B4-BE49-F238E27FC236}">
                <a16:creationId xmlns:a16="http://schemas.microsoft.com/office/drawing/2014/main" id="{78F59CA5-FEE6-1F75-9354-B47D53B662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133" y="2026844"/>
            <a:ext cx="4317999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Bridge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Repeater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Proxy Server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Load Balancer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Attached Storage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VPN Concentrator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A99287-6D8A-9E46-30C2-26BD8908C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10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890909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CCE26-342C-5DF8-C3FB-E9E3E43FA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5D12F7FE-8742-E8B4-9EBC-EEB98020F7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388" y="442383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Protocols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693B2380-F51A-2EEF-9ED4-90C05966D0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388" y="1703390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FC4A4-B813-1397-8695-03B88F88E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3200"/>
            <a:ext cx="12192000" cy="524827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F5788A-A8A1-934A-6DC8-A14EC44C7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11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272413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DD09-248F-178D-05DC-6C5EE0B42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4DE8BF65-A662-D649-BF50-686A620B8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24" y="47466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TCP/IP Protocol Suite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E4D8BEDB-5C8A-E9B1-9924-57061BE540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588" y="1528912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Addressing (IPv4 and IPv6)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IPv4 Addressing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IPv4 Components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Network Portion 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Host Portion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IPv4 Classes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C2F762-07C3-6AEB-C0B9-8FBBE029A0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33" y="4061579"/>
            <a:ext cx="11243734" cy="25980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D20CFA-6617-0B0D-42DE-C0927CFB3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12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83530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CA200-533E-5729-E54F-1A8B8C126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A5A5D7F5-E558-8414-B963-BA0494CCFF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24" y="474665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TCP/IP Protocol Suite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C00C9CF1-4D06-3CDD-2FDB-3F7883A02E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24" y="1314448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Addressing (IPv4 and IPv6)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IPv6 Addressing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IPv6 Components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 Routing Prefix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Subnet ID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Interface ID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IPv6 Advantages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Space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Header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Autoconfiguration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IPv6 Address Types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Unicast Address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Multicast Address</a:t>
            </a:r>
          </a:p>
          <a:p>
            <a:pPr marL="915987" lvl="2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Anycast Address</a:t>
            </a:r>
          </a:p>
          <a:p>
            <a:pPr marL="458787" lvl="1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CBDB8-7B51-22B0-FDB0-D8006EC80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13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8345424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A6203-4F9D-0227-5D36-492915346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BD4A6792-6BB7-A1BC-9932-9406D0F1C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Subnetting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19BBF16D-2E8E-ADEB-E67C-DED13E0621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8" y="1789113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Subnetting divides a large IP network into smaller, more manageable sub-networks, or subnets.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Subnetting?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Efficient IP Address Utilization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Broadcast Domain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Improved Network Security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Network Management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457459-696E-CB60-C57A-9752C1DDD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14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661977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DE159-B816-3417-D73A-7F013F975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86006BCC-30E1-6695-D1FE-D0DA3A201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(Route Aggregation)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F60536C6-09B3-D0C4-D90A-439ADE00D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used in computer networking to combine multiple smaller subnets into a single larger network.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Routing Table Size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Network Configuration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Space Conservation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686C51-6434-B714-1D35-710199B38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15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852305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80423-64E2-454A-077F-2E5DC490D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EF1A8C1B-B0BA-93C6-9CF8-FFD1BCC62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Ethernet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14DCF40B-B9AB-11C6-945E-AFAB0FDE9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widely used networking technology that defines the rules for constructing and operating a local area network (LAN).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Points about Ethernet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Topology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Link Layer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Frame Format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CSMA/CD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C9F1E8-AD1A-BC16-1737-25F01127F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16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9332730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7CACA-F62D-8762-EAE9-870363BCD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38B0A320-A72E-7A73-1BC9-7BC078A085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 802.3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C22FB844-E3C8-0517-2F44-B4D3038FA2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set of standards that govern the physical and data-link layers of wired Ethernet networks.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Features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Physical Layer Specifications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Data-Link Layer Specifications: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Speeds and Variants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 Access Control (MAC)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Ethernet Frame Format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IEEE 802.3 Ethernet Standards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90B074-33A8-7927-23CF-BDDE91EC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17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3078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04B67-5BB4-7B9B-8C16-17686F9F7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985D9B72-337A-EAC4-8973-1DBEFC9A0D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VLANs (Virtual LANs)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6CC615FE-1C88-5055-1CDB-B769471A8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is a network segmentation and management technique that allows network administrators to logically divide a single physical local area network (LAN) into multiple isolated virtual LANs.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Purpose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Security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Flexibility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Broadcast Control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A0DC27-3338-C245-8155-2C42EAFC6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18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077683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94EFF-4B8F-91D4-4088-28454C662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BE096BF5-069A-3D08-2257-2408540BDC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E702F87F-71CA-E456-A0B7-BF0BAD176B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652588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the process of selecting the best path for network traffic to travel from the source to the destination in a computer network.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Aspects of Routing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Process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Source and Destination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Packet Forwarding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Tables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Information Repository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Decision Making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Algorithms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Dynamic Routing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Routing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280A92-D419-F34B-9DD6-9A3C0FBD7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19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20215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CF4BE-4780-C1C3-8B82-D34BD2128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83853FD6-81AD-5037-1294-816132A1C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Algorithms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A67BF9D8-C35D-BC97-2E97-6595F729D9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Distance Vector Routing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Bellman-Ford Algorithm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RIP (Routing Information Protocol)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OSPF (Open Shortest Path First)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Link-State Routing Algorithm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Distance-Vector Routing Algorithm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Path Vector Routing Algorithm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BGP (Border Gateway Protocol)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A79448-CA70-7D9C-8A79-E22EBCB8A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20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0787580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8738F-718F-A4C3-DC69-1C22B10CF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0FCE343E-44D8-2421-A138-329ABB4A2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IP Routing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9EB81B51-1ED9-A1E1-C8AE-50C6780577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the process of forwarding packets from one network to another based on their destination IP addresses.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Components of IP Routing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Table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Protocols: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Routing Metrics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Static Routing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163129-D17B-098A-9221-DAEE5D184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21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266557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675B1-BB1E-5C59-4B45-59F258F8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56F59752-EF86-6860-FDA7-FD02B5CCA6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(Route Aggregation)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7BF7C360-4E09-2D65-B042-9BB5D4FBF2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used in computer networking to combine multiple smaller subnets into a single larger network.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Routing Table Size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Network Configuration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Space Conservation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D1879E5-1605-003D-92FB-657AE1D48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22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688014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6E80E-FA00-B55E-B630-E98FF3411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1E4C8658-BD15-28DB-589D-9779E4659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Cryptography.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E5E3304C-3C62-40DB-77EC-3633004C9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001" y="3429000"/>
            <a:ext cx="12183533" cy="5730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Plain Text---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Encryption----Cipher Text-----Decryption----Plain Text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Symmetric Key Cryptography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Asymmetric Key Cryptography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733CBB-AD7D-03BC-489D-310C4EF4F0C7}"/>
              </a:ext>
            </a:extLst>
          </p:cNvPr>
          <p:cNvSpPr/>
          <p:nvPr/>
        </p:nvSpPr>
        <p:spPr>
          <a:xfrm>
            <a:off x="1524000" y="2192867"/>
            <a:ext cx="1744133" cy="829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Sender</a:t>
            </a:r>
            <a:endParaRPr lang="en-IN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4EE899F-7CE7-C27E-CD68-514A51B67FDF}"/>
              </a:ext>
            </a:extLst>
          </p:cNvPr>
          <p:cNvSpPr/>
          <p:nvPr/>
        </p:nvSpPr>
        <p:spPr>
          <a:xfrm>
            <a:off x="8263465" y="2192867"/>
            <a:ext cx="1744133" cy="8297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Receiver</a:t>
            </a:r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44B3A5-CF25-89EC-A056-E887F146B227}"/>
              </a:ext>
            </a:extLst>
          </p:cNvPr>
          <p:cNvCxnSpPr>
            <a:cxnSpLocks/>
            <a:stCxn id="5" idx="6"/>
            <a:endCxn id="6" idx="2"/>
          </p:cNvCxnSpPr>
          <p:nvPr/>
        </p:nvCxnSpPr>
        <p:spPr>
          <a:xfrm>
            <a:off x="3268133" y="2607734"/>
            <a:ext cx="499533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324076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7ACEA-26BD-B927-35E2-6555FAB34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95194373-EBF5-83D8-AE0C-69F45A59A6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Cryptography.. 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47A6FEAB-593E-3EE2-8A77-0142EDC6F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1882246"/>
            <a:ext cx="12183533" cy="4797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Symmetric Key Cryptography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C=[K1[M]]--------------------------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M=[K1[C]]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E16D40-7C87-446C-BC30-531371DB7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33" y="2370666"/>
            <a:ext cx="10896600" cy="4089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7005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9FAE8-2FD7-E30A-4E10-B88660314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80AEDFDA-CEB3-93F4-1A64-6104389BAB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Cryptography…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73CD1384-BB4E-50F8-A4F4-C765C6DF7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1882246"/>
            <a:ext cx="12183533" cy="4797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Symmetric Key Cryptography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DES(Data Encryption Standard) 56 bit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3DES(Triple Data Encryption Standard)  192 bit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AES (Advanced Encryption Standard) 128 bits, 192 bits, 256 bits</a:t>
            </a: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C=[K1[M]]--------------------------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M=[K1[C]]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4998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3B354-CAC6-9273-BEE6-432AC9FF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D4C7D445-3931-E41C-BB7C-59E312E6E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Cryptography.… 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592514BE-13AC-6791-9598-3912B16D4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1882246"/>
            <a:ext cx="12183533" cy="4797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Symmetric Key Cryptography (Questions)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 1: How many keys are required if we have four nodes?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 2: Suppose in a group of N people, everyone wants to communicate secretly with N-1 others using Symmetric Key and Asymmetric Key cryptography. Communication between any two people should not be decodable by others in group. The number of keys required in both cases are? 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5898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8A24-37E9-CFD2-2971-A9FED59AC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A5045D77-E849-19A7-9FDB-CE4EA319E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Cryptography….. 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BF371222-0BDC-B16A-B125-19ECC5626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1882246"/>
            <a:ext cx="12183533" cy="4797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Asymmetric Key Cryptography or Public Key” RSA”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Two Keys (Public key and Private key)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EB3AEB-1BED-9908-8DF9-5ED1D5E2ED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8666"/>
            <a:ext cx="11692467" cy="359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69293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FB9E7-AA8B-83C7-C5E4-2D52ECC6A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6F931EEB-20C1-E6DA-EE2E-F82CC253B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Cryptography…… 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3BFE8926-886B-4A31-AE53-FCA2356DA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411" y="1523103"/>
            <a:ext cx="11939177" cy="4797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Asymmetric Key Cryptography or Public Key” RSA(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ivest-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hamir-</a:t>
            </a: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dleman)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1: Choose two different large random prime numbers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2: Calculate n=p*q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3: Calculate </a:t>
            </a:r>
            <a:r>
              <a:rPr lang="az-Cyrl-AZ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(n)=(p-1)*(q-1)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4: Choose ‘e’ such that 1&lt;e&lt;</a:t>
            </a:r>
            <a:r>
              <a:rPr lang="az-Cyrl-AZ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ф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  [e is co prime to </a:t>
            </a:r>
            <a:r>
              <a:rPr lang="az-Cyrl-AZ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(n), </a:t>
            </a:r>
            <a:r>
              <a:rPr lang="en-US" sz="3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gcd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(e,</a:t>
            </a:r>
            <a:r>
              <a:rPr lang="az-Cyrl-AZ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ф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(n))=1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5:Calculate d, such that de mod </a:t>
            </a:r>
            <a:r>
              <a:rPr lang="az-Cyrl-AZ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(n)=1 [de=1+K</a:t>
            </a:r>
            <a:r>
              <a:rPr lang="az-Cyrl-AZ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ф</a:t>
            </a: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(n)/e   k=0,1,2,3…]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3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Step 6:Public key ‘e’ Private Key ‘d’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8156161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44564-08D2-A28A-5862-AB8C414A8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C77BE16B-B1D4-408B-DA9E-56C32E04B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Cryptography…… 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D08D4265-05DD-45BF-8E80-46C4DA3C28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690" y="1653646"/>
            <a:ext cx="11939177" cy="47979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Asymmetric Key Cryptography or Public Key” RSA(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ivest-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hamir-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dleman)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Question: In an RSA cryptosystem, a particular A uses two prime numbers, p=13 and q=17, to generate his public and private keys. If the Public Key of A </a:t>
            </a:r>
            <a:r>
              <a:rPr lang="en-US" sz="28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35, 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then the Private Key of A is ________  </a:t>
            </a:r>
          </a:p>
        </p:txBody>
      </p:sp>
    </p:spTree>
    <p:extLst>
      <p:ext uri="{BB962C8B-B14F-4D97-AF65-F5344CB8AC3E}">
        <p14:creationId xmlns:p14="http://schemas.microsoft.com/office/powerpoint/2010/main" val="303145660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41B5C-9113-DE2D-5B1B-CFA5AF182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1BB37167-B193-4150-A65D-B5751530E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(Route Aggregation)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3C30981F-6D93-F540-A4ED-6B98F42278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used in computer networking to combine multiple smaller subnets into a single larger network.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Routing Table Size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Network Configuration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Space Conservation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1A61329-27ED-6A50-84A2-180CDBF7D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30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0711175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FC482-D5A0-4C0B-F193-AC449594E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7E9FEBA4-7A65-ADD6-8AEE-960F069D8C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(Route Aggregation)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1A0E3545-CE94-722B-421C-BEC113072C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used in computer networking to combine multiple smaller subnets into a single larger network.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Routing Table Size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Network Configuration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Space Conservation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FF7265-1660-6967-87BE-7397A70A1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31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309536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78418-5DBA-B3DF-AFBE-F7F06B649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88FB58D7-F6B7-8A01-4502-39730CF020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(Route Aggregation)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60541916-D8B7-41F7-4678-7F2E9BE9D1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used in computer networking to combine multiple smaller subnets into a single larger network.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Routing Table Size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Network Configuration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Space Conservation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BC707C-A2AF-224D-3517-3C270F805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32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512382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F773-F7EC-EF1C-EB82-70C17C1D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E7F3F450-C1B4-6FD1-55BC-A84B3E620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5357" y="6286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(Route Aggregation) 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64DC0A0F-D045-A7BB-DD76-A87DA605D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057" y="1789113"/>
            <a:ext cx="9842875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 a method used in computer networking to combine multiple smaller subnets into a single larger network. 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Why </a:t>
            </a:r>
            <a:r>
              <a:rPr lang="en-US" sz="24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Supernetting</a:t>
            </a: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Reduced Routing Table Size</a:t>
            </a:r>
          </a:p>
          <a:p>
            <a:pPr marL="458787" lvl="1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Simplified Network Configuration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Address Space Conservation</a:t>
            </a: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357450-6FB1-1FB5-BE87-3A7811157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33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82710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E7E81-592A-32B6-1E68-E5E8CB1B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E53F5194-331A-EB69-8F88-9D84A69CE4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973" y="665002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Links For Reference 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(Complete Video Course) 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39F9002E-8FD1-9423-2596-909C0C0A1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03" y="1958976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https://youtube.com/playlist?list=PLZ2ps__7DhBYc4jkUk_yQAjYEVFzVzhdU&amp;si=2cdYZiJa6NVwbJ6s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https://youtube.com/playlist?list=PLIwC9bZ0rmjSkm1VRJROX4vP2YMIf4Ebh&amp;si=kH6pymcwWOLcGtqP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https://youtube.com/playlist?list=PLBlnK6fEyqRi_CUQ-FXxgzKQ1dwr_ZJWZ&amp;si=vRmw_BpdGuBIhDkb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81A7CB-0DE9-ECDE-5D78-34974618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34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3710589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51EC5-EDE5-A08C-FF34-EC8D45A9B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>
            <a:extLst>
              <a:ext uri="{FF2B5EF4-FFF2-40B4-BE49-F238E27FC236}">
                <a16:creationId xmlns:a16="http://schemas.microsoft.com/office/drawing/2014/main" id="{BC47970F-1E16-69A2-2AA9-203234EE2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23" y="603250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Web Links For Reference 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(Study Material) 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A5FB04FB-AA76-9C73-4ED7-B1ED45EC8C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823" y="1789113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https://www.appsierra.com/blog/database-normalization-tutorial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https://www.exasol.com/blog/what-is-a-relational-database/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5"/>
              </a:rPr>
              <a:t>https://www.geeksforgeeks.org/dbms/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6"/>
              </a:rPr>
              <a:t>https://db-book.com/slides-dir/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7"/>
              </a:rPr>
              <a:t>https://www.w3schools.com/sql/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8"/>
              </a:rPr>
              <a:t>https://www.javatpoint.com/dbms-tutorial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9"/>
              </a:rPr>
              <a:t>https://byjus.com/govt-exams/database-management-system-dbms/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8F2975-988E-0F4D-28BA-D528108F5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35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531539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769290" y="748378"/>
            <a:ext cx="974631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NEXT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----&gt;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Fundamentals of Programming Languages</a:t>
            </a:r>
            <a:endParaRPr lang="en-US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769290" y="1911623"/>
            <a:ext cx="8229600" cy="50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1313" indent="-341313"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1pPr>
            <a:lvl2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2pPr>
            <a:lvl3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3pPr>
            <a:lvl4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4pPr>
            <a:lvl5pPr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5pPr>
            <a:lvl6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6pPr>
            <a:lvl7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7pPr>
            <a:lvl8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8pPr>
            <a:lvl9pPr defTabSz="449263" eaLnBrk="0" fontAlgn="base" hangingPunct="0"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itchFamily="32" charset="0"/>
                <a:ea typeface="Noto Sans CJK SC" charset="0"/>
                <a:cs typeface="Noto Sans CJK SC" charset="0"/>
              </a:defRPr>
            </a:lvl9pPr>
          </a:lstStyle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C/C++/Java Interview Questions Overview,,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Variables, Data Types, and Memory,, Pointers and Storage, Classes,, Introduction to Object-Oriented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Programming (OOP),, Compiler and Interpreter Basics,, Understanding Process Loading and Linking,,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Techniques of Parameter Passing and Binding,, Storage Organization and Storage Classes,, Advanced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OOP Concepts and Data Structures, Abstract Data Types (ADTs),, Data Structure Principles,,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Advanced Programming Techniques,, Memory Handling in OOP Languages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93046C-9AF8-4FB2-3FA1-689BE3771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IN"/>
              <a:t>Slide </a:t>
            </a:r>
            <a:fld id="{1005F464-475C-44AD-B39D-86A1D68B524E}" type="slidenum">
              <a:rPr lang="en-IN" smtClean="0"/>
              <a:pPr/>
              <a:t>36</a:t>
            </a:fld>
            <a:r>
              <a:rPr lang="en-IN"/>
              <a:t> of 30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083527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792</TotalTime>
  <Words>1660</Words>
  <Application>Microsoft Office PowerPoint</Application>
  <PresentationFormat>Widescreen</PresentationFormat>
  <Paragraphs>338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6" baseType="lpstr">
      <vt:lpstr>Aptos</vt:lpstr>
      <vt:lpstr>Aptos Display</vt:lpstr>
      <vt:lpstr>Arial</vt:lpstr>
      <vt:lpstr>Berlin Sans FB</vt:lpstr>
      <vt:lpstr>Berlin Sans FB Demi</vt:lpstr>
      <vt:lpstr>Calibri</vt:lpstr>
      <vt:lpstr>Calibri Light</vt:lpstr>
      <vt:lpstr>Times New Roman</vt:lpstr>
      <vt:lpstr>1_Office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lovi raj gupta</dc:creator>
  <cp:lastModifiedBy>Prince Rana</cp:lastModifiedBy>
  <cp:revision>126</cp:revision>
  <dcterms:created xsi:type="dcterms:W3CDTF">2024-12-19T08:47:23Z</dcterms:created>
  <dcterms:modified xsi:type="dcterms:W3CDTF">2025-03-18T09:35:49Z</dcterms:modified>
</cp:coreProperties>
</file>