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L="0" marR="0" lvl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</a:defRPr>
    </a:defPPr>
    <a:lvl1pPr marL="0" marR="0" lvl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1pPr>
    <a:lvl2pPr marL="0" marR="0" lvl="1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2pPr>
    <a:lvl3pPr marL="0" marR="0" lvl="2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3pPr>
    <a:lvl4pPr marL="0" marR="0" lvl="3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4pPr>
    <a:lvl5pPr marL="0" marR="0" lvl="4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5pPr>
    <a:lvl6pPr marL="0" marR="0" lvl="5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6pPr>
    <a:lvl7pPr marL="0" marR="0" lvl="6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7pPr>
    <a:lvl8pPr marL="0" marR="0" lvl="7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8pPr>
    <a:lvl9pPr marL="0" marR="0" lvl="8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691" y="-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6778625"/>
            <a:ext cx="12192000" cy="79376"/>
          </a:xfrm>
          <a:prstGeom prst="rect">
            <a:avLst/>
          </a:prstGeom>
          <a:solidFill>
            <a:srgbClr val="ED771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685800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ectangle 2"/>
          <p:cNvSpPr/>
          <p:nvPr/>
        </p:nvSpPr>
        <p:spPr>
          <a:xfrm>
            <a:off x="2078568" y="431800"/>
            <a:ext cx="8106834" cy="46038"/>
          </a:xfrm>
          <a:prstGeom prst="rect">
            <a:avLst/>
          </a:prstGeom>
          <a:solidFill>
            <a:srgbClr val="F47D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4" name="Picture 4" descr="Picture 4"/>
          <p:cNvPicPr>
            <a:picLocks noChangeAspect="1"/>
          </p:cNvPicPr>
          <p:nvPr/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10354733" y="177800"/>
            <a:ext cx="1547285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5" descr="Picture 5"/>
          <p:cNvPicPr>
            <a:picLocks noChangeAspect="1"/>
          </p:cNvPicPr>
          <p:nvPr/>
        </p:nvPicPr>
        <p:blipFill>
          <a:blip r:embed="rId3" cstate="print">
            <a:extLst/>
          </a:blip>
          <a:stretch>
            <a:fillRect/>
          </a:stretch>
        </p:blipFill>
        <p:spPr>
          <a:xfrm>
            <a:off x="328083" y="177801"/>
            <a:ext cx="1581151" cy="50641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"/>
          <p:cNvSpPr txBox="1"/>
          <p:nvPr/>
        </p:nvSpPr>
        <p:spPr>
          <a:xfrm>
            <a:off x="1842770" y="770255"/>
            <a:ext cx="7865110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5400" b="1">
                <a:solidFill>
                  <a:srgbClr val="10253F"/>
                </a:solidFill>
                <a:latin typeface="Berlin Sans FB Demi"/>
                <a:ea typeface="Berlin Sans FB Demi"/>
                <a:cs typeface="Berlin Sans FB Demi"/>
                <a:sym typeface="Berlin Sans FB Demi"/>
              </a:defRPr>
            </a:pPr>
            <a:r>
              <a:rPr lang="en-US" dirty="0" smtClean="0"/>
              <a:t>CSE332</a:t>
            </a:r>
            <a:r>
              <a:rPr/>
              <a:t/>
            </a:r>
            <a:br>
              <a:rPr/>
            </a:br>
            <a:r>
              <a:rPr lang="en-US" dirty="0" smtClean="0"/>
              <a:t>INDUSTRY ETHICS AND LEGAL ISSUES</a:t>
            </a:r>
            <a:endParaRPr/>
          </a:p>
        </p:txBody>
      </p:sp>
      <p:sp>
        <p:nvSpPr>
          <p:cNvPr id="106" name="Line 3"/>
          <p:cNvSpPr/>
          <p:nvPr/>
        </p:nvSpPr>
        <p:spPr>
          <a:xfrm>
            <a:off x="2566989" y="3789364"/>
            <a:ext cx="7058025" cy="1587"/>
          </a:xfrm>
          <a:prstGeom prst="line">
            <a:avLst/>
          </a:prstGeom>
          <a:ln w="38160">
            <a:solidFill>
              <a:srgbClr val="F79646"/>
            </a:solidFill>
            <a:miter/>
          </a:ln>
          <a:effectLst>
            <a:outerShdw dist="23040" dir="5400000" rotWithShape="0">
              <a:srgbClr val="000000">
                <a:alpha val="3503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6712" y="1357298"/>
            <a:ext cx="1078713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Intellectual </a:t>
            </a:r>
            <a:r>
              <a:rPr lang="en-US" sz="2000" dirty="0"/>
              <a:t>Property Rights (IPR) are legal </a:t>
            </a:r>
            <a:r>
              <a:rPr lang="en-US" sz="2000" dirty="0" smtClean="0"/>
              <a:t>rights.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It protect </a:t>
            </a:r>
            <a:r>
              <a:rPr lang="en-US" sz="2000" dirty="0"/>
              <a:t>and encourage the development and distribution of new products and services. </a:t>
            </a:r>
            <a:endParaRPr lang="en-US" sz="20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IPRs </a:t>
            </a:r>
            <a:r>
              <a:rPr lang="en-US" sz="2000" dirty="0"/>
              <a:t>are granted to people over their </a:t>
            </a:r>
            <a:r>
              <a:rPr lang="en-US" sz="2000" dirty="0" smtClean="0"/>
              <a:t>creations.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S</a:t>
            </a:r>
            <a:r>
              <a:rPr lang="en-US" sz="2000" dirty="0" smtClean="0"/>
              <a:t>uch </a:t>
            </a:r>
            <a:r>
              <a:rPr lang="en-US" sz="2000" dirty="0"/>
              <a:t>as inventions, designs, trademarks, and creative </a:t>
            </a:r>
            <a:r>
              <a:rPr lang="en-US" sz="2000" dirty="0" smtClean="0"/>
              <a:t>content.</a:t>
            </a:r>
            <a:endParaRPr lang="en-US" sz="4400" dirty="0"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3400"/>
            <a:ext cx="10596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4000" b="1" dirty="0" smtClean="0"/>
              <a:t>Intellectual </a:t>
            </a:r>
            <a:r>
              <a:rPr lang="en-IN" sz="4000" b="1" dirty="0"/>
              <a:t>property rights</a:t>
            </a:r>
            <a:endParaRPr lang="en-US" sz="4000" b="1" dirty="0">
              <a:solidFill>
                <a:schemeClr val="accent6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728" y="2796749"/>
            <a:ext cx="4243447" cy="381642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84" y="1268761"/>
            <a:ext cx="7704856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3907648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43472" y="1340768"/>
            <a:ext cx="8928992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dirty="0" smtClean="0"/>
              <a:t>“A </a:t>
            </a:r>
            <a:r>
              <a:rPr lang="en-US" dirty="0"/>
              <a:t>patent is a legal document that gives the inventor exclusive rights to their invention for a set period of time</a:t>
            </a:r>
            <a:r>
              <a:rPr lang="en-US" dirty="0" smtClean="0"/>
              <a:t>.”</a:t>
            </a:r>
            <a:r>
              <a:rPr lang="en-US" dirty="0"/>
              <a:t> 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</a:t>
            </a:r>
            <a:r>
              <a:rPr lang="en-US" dirty="0"/>
              <a:t>protects the invention from being made, used, or sold without the inventor's permission. </a:t>
            </a: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58572"/>
          <a:stretch/>
        </p:blipFill>
        <p:spPr>
          <a:xfrm>
            <a:off x="4763852" y="3501008"/>
            <a:ext cx="2088232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1838752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91744" y="764704"/>
            <a:ext cx="4536504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3200" b="1" dirty="0"/>
              <a:t>Copyright</a:t>
            </a:r>
            <a:endParaRPr kumimoji="0" lang="en-IN" sz="3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03512" y="1772816"/>
            <a:ext cx="9073008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Copyright </a:t>
            </a:r>
            <a:r>
              <a:rPr lang="en-US" dirty="0"/>
              <a:t>is the right to copy.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Only </a:t>
            </a:r>
            <a:r>
              <a:rPr lang="en-US" dirty="0"/>
              <a:t>the creator of the work can authorize anyone to reproduce the 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Copyright law protects creators of original material from unauthorized </a:t>
            </a:r>
            <a:r>
              <a:rPr lang="en-US" dirty="0" smtClean="0"/>
              <a:t>use</a:t>
            </a:r>
            <a:endParaRPr lang="en-US" dirty="0"/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400" y="3501008"/>
            <a:ext cx="2475191" cy="184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0661289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7408" y="1124744"/>
            <a:ext cx="504056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Things take place under copyrights</a:t>
            </a:r>
            <a:endParaRPr kumimoji="0" lang="en-IN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7408" y="1772816"/>
            <a:ext cx="5184576" cy="1754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Musical lyrics and compositions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Website </a:t>
            </a:r>
            <a:r>
              <a:rPr lang="en-US" dirty="0" smtClean="0"/>
              <a:t>content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256" y="908720"/>
            <a:ext cx="2333625" cy="19621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143" y="3717032"/>
            <a:ext cx="1847850" cy="2466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872" y="4221088"/>
            <a:ext cx="2657475" cy="1724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576" y="4283000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6600861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59896" y="836712"/>
            <a:ext cx="410445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2400" b="1" dirty="0"/>
              <a:t>Trademark</a:t>
            </a:r>
            <a:endParaRPr kumimoji="0" lang="en-IN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808" y="4365104"/>
            <a:ext cx="2381250" cy="1914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3472" y="1916832"/>
            <a:ext cx="9577064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trademark is a sign capable of distinguishing the goods or </a:t>
            </a:r>
            <a:r>
              <a:rPr lang="en-US" dirty="0" smtClean="0"/>
              <a:t>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Trademarks </a:t>
            </a:r>
            <a:r>
              <a:rPr lang="en-US" dirty="0"/>
              <a:t>are protected by intellectual property rights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</a:t>
            </a:r>
            <a:r>
              <a:rPr lang="en-US" dirty="0" smtClean="0"/>
              <a:t>rademark </a:t>
            </a:r>
            <a:r>
              <a:rPr lang="en-US" dirty="0"/>
              <a:t>protection can be obtained through </a:t>
            </a:r>
            <a:r>
              <a:rPr lang="en-US" dirty="0" smtClean="0"/>
              <a:t>registration.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will </a:t>
            </a:r>
            <a:r>
              <a:rPr lang="en-US" dirty="0"/>
              <a:t>confer an exclusive right to the use of the registered trademark. </a:t>
            </a: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6220092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15880" y="1268760"/>
            <a:ext cx="1722585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US" sz="2400" b="1" dirty="0"/>
              <a:t>Trade-Secret</a:t>
            </a:r>
            <a:endParaRPr kumimoji="0" lang="en-IN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1424" y="2780928"/>
            <a:ext cx="10585176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trade secret is a confidential piece of </a:t>
            </a:r>
            <a:r>
              <a:rPr lang="en-US" dirty="0" smtClean="0"/>
              <a:t>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Secrecy</a:t>
            </a:r>
            <a:r>
              <a:rPr lang="en-US" dirty="0"/>
              <a:t>: The information is not generally known or accessible to competitors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Commercial value</a:t>
            </a:r>
            <a:r>
              <a:rPr lang="en-US" dirty="0"/>
              <a:t>: The information gives the business an economic advantage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Reasonable efforts</a:t>
            </a:r>
            <a:r>
              <a:rPr lang="en-US" dirty="0"/>
              <a:t>: The business takes steps to keep the information </a:t>
            </a:r>
            <a:r>
              <a:rPr lang="en-US" dirty="0" smtClean="0"/>
              <a:t>secret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736" y="4278927"/>
            <a:ext cx="3960439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1917933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43672" y="908720"/>
            <a:ext cx="5688632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400" b="1" dirty="0"/>
              <a:t>Geographical Indication</a:t>
            </a:r>
            <a:endParaRPr kumimoji="0" lang="en-IN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2496" b="9406"/>
          <a:stretch/>
        </p:blipFill>
        <p:spPr>
          <a:xfrm>
            <a:off x="4547828" y="2492896"/>
            <a:ext cx="2880320" cy="23042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3432" y="1700808"/>
            <a:ext cx="10081120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geographical indication (GI) is a name or sign that identifies a product's geographical </a:t>
            </a:r>
            <a:r>
              <a:rPr lang="en-US" dirty="0" smtClean="0"/>
              <a:t>origin.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GIs </a:t>
            </a:r>
            <a:r>
              <a:rPr lang="en-US" dirty="0"/>
              <a:t>are used to certify that products are made in a specific place using traditional </a:t>
            </a:r>
            <a:r>
              <a:rPr lang="en-US" dirty="0" smtClean="0"/>
              <a:t>methods.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332148" y="4761332"/>
            <a:ext cx="5838137" cy="16558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88872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GIs help consumers identify quality products.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GIs help producers market their products.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GIs prevent other people from using popular product names.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6743861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51784" y="764704"/>
            <a:ext cx="367240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400" b="1" dirty="0"/>
              <a:t>Design</a:t>
            </a:r>
            <a:endParaRPr kumimoji="0" lang="en-IN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87488" y="1772816"/>
            <a:ext cx="9937104" cy="923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dirty="0" smtClean="0"/>
              <a:t>It protects </a:t>
            </a:r>
            <a:r>
              <a:rPr lang="en-US" dirty="0"/>
              <a:t>the visual appearance of a product or part of it. </a:t>
            </a:r>
            <a:endParaRPr lang="en-US" dirty="0" smtClean="0"/>
          </a:p>
          <a:p>
            <a:r>
              <a:rPr lang="en-US" dirty="0" smtClean="0"/>
              <a:t>Design </a:t>
            </a:r>
            <a:r>
              <a:rPr lang="en-US" dirty="0"/>
              <a:t>rights protect the unique look of a product, including its shape, color, pattern, texture, and materials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047" y="3429000"/>
            <a:ext cx="2139881" cy="214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9786125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7888" y="1196752"/>
            <a:ext cx="1924564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US" sz="2400" b="1" dirty="0" smtClean="0"/>
              <a:t>Plant </a:t>
            </a:r>
            <a:r>
              <a:rPr lang="en-US" sz="2400" b="1" dirty="0"/>
              <a:t>varieties</a:t>
            </a:r>
            <a:endParaRPr kumimoji="0" lang="en-IN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75520" y="2420888"/>
            <a:ext cx="9217024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dirty="0" smtClean="0"/>
              <a:t>“PVRs </a:t>
            </a:r>
            <a:r>
              <a:rPr lang="en-US" dirty="0"/>
              <a:t>protect breeders from unauthorized reproduction, production, marketing, selling, importing, and exporting of their plant varieties</a:t>
            </a:r>
            <a:r>
              <a:rPr lang="en-US" dirty="0" smtClean="0"/>
              <a:t>.</a:t>
            </a:r>
            <a:r>
              <a:rPr lang="en-IN" dirty="0" smtClean="0"/>
              <a:t>”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464" y="4005064"/>
            <a:ext cx="2615411" cy="17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027873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99656" y="2996952"/>
            <a:ext cx="6768752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Next Topic Copy Right Infringement</a:t>
            </a:r>
            <a:endParaRPr kumimoji="0" lang="en-IN" sz="3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5939609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PresentationFormat>Custom</PresentationFormat>
  <Paragraphs>43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1</cp:revision>
  <dcterms:modified xsi:type="dcterms:W3CDTF">2025-01-28T03:35:55Z</dcterms:modified>
</cp:coreProperties>
</file>