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>
  <p:sldMasterIdLst>
    <p:sldMasterId id="2147483701" r:id="rId1"/>
  </p:sldMasterIdLst>
  <p:notesMasterIdLst>
    <p:notesMasterId r:id="rId14"/>
  </p:notesMasterIdLst>
  <p:handoutMasterIdLst>
    <p:handoutMasterId r:id="rId15"/>
  </p:handoutMasterIdLst>
  <p:sldIdLst>
    <p:sldId id="299" r:id="rId2"/>
    <p:sldId id="318" r:id="rId3"/>
    <p:sldId id="319" r:id="rId4"/>
    <p:sldId id="320" r:id="rId5"/>
    <p:sldId id="321" r:id="rId6"/>
    <p:sldId id="322" r:id="rId7"/>
    <p:sldId id="323" r:id="rId8"/>
    <p:sldId id="324" r:id="rId9"/>
    <p:sldId id="325" r:id="rId10"/>
    <p:sldId id="326" r:id="rId11"/>
    <p:sldId id="327" r:id="rId12"/>
    <p:sldId id="328" r:id="rId13"/>
  </p:sldIdLst>
  <p:sldSz cx="9144000" cy="6858000" type="screen4x3"/>
  <p:notesSz cx="7315200" cy="9601200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FF6600"/>
    <a:srgbClr val="CCFF99"/>
    <a:srgbClr val="FFCC99"/>
    <a:srgbClr val="FF9933"/>
    <a:srgbClr val="FFFF99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0171" autoAdjust="0"/>
  </p:normalViewPr>
  <p:slideViewPr>
    <p:cSldViewPr>
      <p:cViewPr varScale="1">
        <p:scale>
          <a:sx n="78" d="100"/>
          <a:sy n="78" d="100"/>
        </p:scale>
        <p:origin x="-1570" y="-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>
        <p:scale>
          <a:sx n="100" d="100"/>
          <a:sy n="100" d="100"/>
        </p:scale>
        <p:origin x="-636" y="2586"/>
      </p:cViewPr>
      <p:guideLst>
        <p:guide orient="horz" pos="3024"/>
        <p:guide pos="2304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1860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b" anchorCtr="0" compatLnSpc="1">
            <a:prstTxWarp prst="textNoShape">
              <a:avLst/>
            </a:prstTxWarp>
          </a:bodyPr>
          <a:lstStyle>
            <a:lvl1pPr algn="l" defTabSz="966788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71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1860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b" anchorCtr="0" compatLnSpc="1">
            <a:prstTxWarp prst="textNoShape">
              <a:avLst/>
            </a:prstTxWarp>
          </a:bodyPr>
          <a:lstStyle>
            <a:lvl1pPr algn="r" defTabSz="966788">
              <a:defRPr sz="1200"/>
            </a:lvl1pPr>
          </a:lstStyle>
          <a:p>
            <a:pPr>
              <a:defRPr/>
            </a:pPr>
            <a:fld id="{EA2130B6-B841-40C5-8C66-8DDA29CCC6B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77158" name="Rectangle 6"/>
          <p:cNvSpPr>
            <a:spLocks noChangeArrowheads="1"/>
          </p:cNvSpPr>
          <p:nvPr/>
        </p:nvSpPr>
        <p:spPr bwMode="auto">
          <a:xfrm>
            <a:off x="533400" y="304800"/>
            <a:ext cx="38163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00243" tIns="50122" rIns="100243" bIns="50122"/>
          <a:lstStyle/>
          <a:p>
            <a:pPr algn="l" defTabSz="1003300">
              <a:defRPr/>
            </a:pPr>
            <a:r>
              <a:rPr lang="en-US" sz="1800" b="1" i="1"/>
              <a:t>Design and Analysis of Algorithms</a:t>
            </a:r>
          </a:p>
        </p:txBody>
      </p:sp>
      <p:sp>
        <p:nvSpPr>
          <p:cNvPr id="177159" name="Rectangle 7"/>
          <p:cNvSpPr>
            <a:spLocks noChangeArrowheads="1"/>
          </p:cNvSpPr>
          <p:nvPr/>
        </p:nvSpPr>
        <p:spPr bwMode="auto">
          <a:xfrm>
            <a:off x="4322763" y="304800"/>
            <a:ext cx="2382837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00243" tIns="50122" rIns="100243" bIns="50122"/>
          <a:lstStyle/>
          <a:p>
            <a:pPr algn="r" defTabSz="1003300">
              <a:defRPr/>
            </a:pPr>
            <a:r>
              <a:rPr lang="en-US" sz="1800" b="1" i="1"/>
              <a:t>Chapter 3</a:t>
            </a:r>
          </a:p>
        </p:txBody>
      </p:sp>
    </p:spTree>
    <p:extLst>
      <p:ext uri="{BB962C8B-B14F-4D97-AF65-F5344CB8AC3E}">
        <p14:creationId xmlns:p14="http://schemas.microsoft.com/office/powerpoint/2010/main" xmlns="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810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none" lIns="96653" tIns="48327" rIns="96653" bIns="48327" numCol="1" anchor="ctr" anchorCtr="0" compatLnSpc="1">
            <a:prstTxWarp prst="textNoShape">
              <a:avLst/>
            </a:prstTxWarp>
          </a:bodyPr>
          <a:lstStyle>
            <a:lvl1pPr algn="l" defTabSz="966788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810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none" lIns="96653" tIns="48327" rIns="96653" bIns="48327" numCol="1" anchor="ctr" anchorCtr="0" compatLnSpc="1">
            <a:prstTxWarp prst="textNoShape">
              <a:avLst/>
            </a:prstTxWarp>
          </a:bodyPr>
          <a:lstStyle>
            <a:lvl1pPr algn="r" defTabSz="966788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19138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6313" y="4560888"/>
            <a:ext cx="5362575" cy="43211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none" lIns="96653" tIns="48327" rIns="96653" bIns="4832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21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810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none" lIns="96653" tIns="48327" rIns="96653" bIns="48327" numCol="1" anchor="b" anchorCtr="0" compatLnSpc="1">
            <a:prstTxWarp prst="textNoShape">
              <a:avLst/>
            </a:prstTxWarp>
          </a:bodyPr>
          <a:lstStyle>
            <a:lvl1pPr algn="l" defTabSz="966788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0188"/>
            <a:ext cx="3170237" cy="4810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none" lIns="96653" tIns="48327" rIns="96653" bIns="48327" numCol="1" anchor="b" anchorCtr="0" compatLnSpc="1">
            <a:prstTxWarp prst="textNoShape">
              <a:avLst/>
            </a:prstTxWarp>
          </a:bodyPr>
          <a:lstStyle>
            <a:lvl1pPr algn="r" defTabSz="966788">
              <a:defRPr sz="1200"/>
            </a:lvl1pPr>
          </a:lstStyle>
          <a:p>
            <a:pPr>
              <a:defRPr/>
            </a:pPr>
            <a:fld id="{4071AC33-5DD2-4A2A-9177-D292C1DD4EC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071AC33-5DD2-4A2A-9177-D292C1DD4EC0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1449586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Design and Analysis of Algorithms - Chapter 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94FF60-D5D7-4036-A5D6-4FFB9D619E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B2271B-E278-477B-BFED-E836F15DBE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4D2D0E-C252-40B7-83B9-1ACF012A17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72565D-911C-4D61-9359-E832714B807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F5D234-80C8-4687-AB8B-0AD2214E7D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711FF1-D161-4523-90AF-E2F343F4DF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0D394D-D6E4-420D-8802-7A1031B556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02236D-74A7-478A-BB01-6959791FE7E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75121F-84C4-4DC2-9044-BBA470E3F4D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688D34-2BCF-41AF-8789-7B60FFCC42D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3E6D1F-F8BA-4934-A475-DF8F20FF96A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0" y="-18288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86E5091-BE1D-47EA-AF37-E0686E3F00E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27"/>
          <p:cNvSpPr>
            <a:spLocks noGrp="1" noChangeArrowheads="1"/>
          </p:cNvSpPr>
          <p:nvPr userDrawn="1"/>
        </p:nvSpPr>
        <p:spPr bwMode="auto">
          <a:xfrm>
            <a:off x="6908800" y="6426200"/>
            <a:ext cx="1905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endParaRPr lang="en-US" sz="1400" dirty="0">
              <a:latin typeface="Arial Narrow" pitchFamily="34" charset="0"/>
              <a:ea typeface="ヒラギノ角ゴ Pro W3" pitchFamily="84" charset="-128"/>
            </a:endParaRPr>
          </a:p>
        </p:txBody>
      </p:sp>
      <p:sp>
        <p:nvSpPr>
          <p:cNvPr id="8" name="Rectangle 28"/>
          <p:cNvSpPr>
            <a:spLocks noChangeArrowheads="1"/>
          </p:cNvSpPr>
          <p:nvPr userDrawn="1"/>
        </p:nvSpPr>
        <p:spPr bwMode="auto">
          <a:xfrm>
            <a:off x="609600" y="6197600"/>
            <a:ext cx="3886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algn="l">
              <a:defRPr/>
            </a:pPr>
            <a:endParaRPr lang="en-US" sz="900" dirty="0">
              <a:latin typeface="Arial" charset="0"/>
              <a:ea typeface="ヒラギノ角ゴ Pro W3" pitchFamily="84" charset="-128"/>
            </a:endParaRPr>
          </a:p>
        </p:txBody>
      </p:sp>
      <p:sp>
        <p:nvSpPr>
          <p:cNvPr id="9" name="Rectangle 29"/>
          <p:cNvSpPr>
            <a:spLocks noGrp="1" noChangeArrowheads="1"/>
          </p:cNvSpPr>
          <p:nvPr userDrawn="1"/>
        </p:nvSpPr>
        <p:spPr bwMode="auto">
          <a:xfrm>
            <a:off x="2667000" y="6488113"/>
            <a:ext cx="6400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 sz="1000" dirty="0">
              <a:latin typeface="Arial Narrow" pitchFamily="34" charset="0"/>
              <a:ea typeface="ヒラギノ角ゴ Pro W3" pitchFamily="84" charset="-128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ctrTitle"/>
          </p:nvPr>
        </p:nvSpPr>
        <p:spPr>
          <a:xfrm>
            <a:off x="179388" y="1882775"/>
            <a:ext cx="8856662" cy="1470025"/>
          </a:xfrm>
        </p:spPr>
        <p:txBody>
          <a:bodyPr/>
          <a:lstStyle/>
          <a:p>
            <a:pPr algn="ctr" eaLnBrk="1" hangingPunct="1"/>
            <a:r>
              <a:rPr lang="en-US" sz="4000" dirty="0">
                <a:latin typeface="Broadway" pitchFamily="82" charset="0"/>
              </a:rPr>
              <a:t>CSE332</a:t>
            </a:r>
            <a:endParaRPr lang="en-IN" sz="4000" dirty="0">
              <a:latin typeface="Broadway" pitchFamily="82" charset="0"/>
            </a:endParaRP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1371600" y="4038600"/>
            <a:ext cx="6400800" cy="16764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IN" dirty="0" smtClean="0"/>
              <a:t>Lecture 8 and Lecture 9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E34B31A-62E3-6B6B-846E-15BA3A5DF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82880"/>
            <a:ext cx="8229600" cy="2849880"/>
          </a:xfrm>
        </p:spPr>
        <p:txBody>
          <a:bodyPr/>
          <a:lstStyle/>
          <a:p>
            <a:r>
              <a:rPr lang="en-US" dirty="0"/>
              <a:t>Conducting Analysis and Registering Claims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52B267E-D612-91EA-63A0-6DAFCEEDD6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86000"/>
            <a:ext cx="8229600" cy="4953000"/>
          </a:xfrm>
        </p:spPr>
        <p:txBody>
          <a:bodyPr/>
          <a:lstStyle/>
          <a:p>
            <a:r>
              <a:rPr lang="en-US" sz="3000" dirty="0"/>
              <a:t>Identifying social and engineering issues</a:t>
            </a:r>
          </a:p>
          <a:p>
            <a:r>
              <a:rPr lang="en-US" sz="3000" dirty="0"/>
              <a:t>Conducting thorough analysis for solutions</a:t>
            </a:r>
          </a:p>
          <a:p>
            <a:r>
              <a:rPr lang="en-US" sz="3000" dirty="0"/>
              <a:t>Registering intellectual property protection claims</a:t>
            </a:r>
          </a:p>
          <a:p>
            <a:r>
              <a:rPr lang="en-US" sz="3000" dirty="0"/>
              <a:t>Critical steps for innovative project success</a:t>
            </a:r>
          </a:p>
          <a:p>
            <a:r>
              <a:rPr lang="en-US" sz="3000" dirty="0"/>
              <a:t>Balancing creativity and legal safeguarding rights</a:t>
            </a:r>
          </a:p>
          <a:p>
            <a:r>
              <a:rPr lang="en-US" sz="3000" dirty="0"/>
              <a:t>Promoting sustainable and ethical advancements</a:t>
            </a:r>
            <a:endParaRPr lang="en-IN" sz="3000" dirty="0"/>
          </a:p>
        </p:txBody>
      </p:sp>
    </p:spTree>
    <p:extLst>
      <p:ext uri="{BB962C8B-B14F-4D97-AF65-F5344CB8AC3E}">
        <p14:creationId xmlns:p14="http://schemas.microsoft.com/office/powerpoint/2010/main" xmlns="" val="3187126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819E191-213D-FA92-215B-115F2A4CE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 to Issues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3AA3EED-9076-67C6-E405-719DC5DAF0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3000" dirty="0"/>
              <a:t>Social issues impact technology adoption rates</a:t>
            </a:r>
          </a:p>
          <a:p>
            <a:r>
              <a:rPr lang="en-IN" sz="3000" dirty="0"/>
              <a:t>Engineering challenges hinder development progress</a:t>
            </a:r>
          </a:p>
          <a:p>
            <a:r>
              <a:rPr lang="en-IN" sz="3000" dirty="0"/>
              <a:t>Innovative ideas need effective legal safeguards</a:t>
            </a:r>
          </a:p>
          <a:p>
            <a:r>
              <a:rPr lang="en-IN" sz="3000" dirty="0" err="1"/>
              <a:t>Analyzing</a:t>
            </a:r>
            <a:r>
              <a:rPr lang="en-IN" sz="3000" dirty="0"/>
              <a:t> problems ensures impactful solutions</a:t>
            </a:r>
          </a:p>
          <a:p>
            <a:r>
              <a:rPr lang="en-IN" sz="3000" dirty="0"/>
              <a:t>Registering claims protects intellectual property rights</a:t>
            </a:r>
          </a:p>
          <a:p>
            <a:r>
              <a:rPr lang="en-IN" sz="3000" dirty="0"/>
              <a:t>Essential for fostering innovation and growth</a:t>
            </a:r>
          </a:p>
        </p:txBody>
      </p:sp>
    </p:spTree>
    <p:extLst>
      <p:ext uri="{BB962C8B-B14F-4D97-AF65-F5344CB8AC3E}">
        <p14:creationId xmlns:p14="http://schemas.microsoft.com/office/powerpoint/2010/main" xmlns="" val="1858311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815DBF4-0532-2292-3B4F-56300837A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Social Issues in Technology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52FCCC9-73EF-0DF0-D014-7D4594232C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Access inequality limits technology benefits</a:t>
            </a:r>
          </a:p>
          <a:p>
            <a:pPr algn="just"/>
            <a:r>
              <a:rPr lang="en-IN" dirty="0"/>
              <a:t>Cultural factors influence adoption practices</a:t>
            </a:r>
          </a:p>
          <a:p>
            <a:pPr algn="just"/>
            <a:r>
              <a:rPr lang="en-IN" dirty="0"/>
              <a:t>Privacy concerns create user trust barriers</a:t>
            </a:r>
          </a:p>
          <a:p>
            <a:pPr algn="just"/>
            <a:r>
              <a:rPr lang="en-IN" dirty="0"/>
              <a:t>Digital literacy varies across demographics</a:t>
            </a:r>
          </a:p>
          <a:p>
            <a:pPr algn="just"/>
            <a:r>
              <a:rPr lang="en-IN" dirty="0"/>
              <a:t>Ethical considerations shape public perceptions</a:t>
            </a:r>
          </a:p>
          <a:p>
            <a:pPr algn="just"/>
            <a:r>
              <a:rPr lang="en-IN" dirty="0"/>
              <a:t>Collaborative efforts address these challenges</a:t>
            </a:r>
          </a:p>
        </p:txBody>
      </p:sp>
    </p:spTree>
    <p:extLst>
      <p:ext uri="{BB962C8B-B14F-4D97-AF65-F5344CB8AC3E}">
        <p14:creationId xmlns:p14="http://schemas.microsoft.com/office/powerpoint/2010/main" xmlns="" val="2517396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26461D7-D568-1026-E0D6-76D09F5A2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Engineering Challenges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1E764A8-A700-D3EC-CE2B-82FE5103D2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800" dirty="0"/>
              <a:t>Resource constraints limit design possibilities</a:t>
            </a:r>
          </a:p>
          <a:p>
            <a:r>
              <a:rPr lang="en-IN" sz="2800" dirty="0"/>
              <a:t>Technological complexity increases implementation risks</a:t>
            </a:r>
          </a:p>
          <a:p>
            <a:r>
              <a:rPr lang="en-IN" sz="2800" dirty="0"/>
              <a:t>Safety standards demand rigorous testing protocols</a:t>
            </a:r>
          </a:p>
          <a:p>
            <a:r>
              <a:rPr lang="en-IN" sz="2800" dirty="0"/>
              <a:t>Scalability concerns affect future adaptability</a:t>
            </a:r>
          </a:p>
          <a:p>
            <a:r>
              <a:rPr lang="en-IN" sz="2800" dirty="0"/>
              <a:t>Environmental impact guides material selection choices</a:t>
            </a:r>
          </a:p>
          <a:p>
            <a:r>
              <a:rPr lang="en-IN" sz="2800" dirty="0"/>
              <a:t>Continuous improvement ensures optimal performance</a:t>
            </a:r>
          </a:p>
        </p:txBody>
      </p:sp>
    </p:spTree>
    <p:extLst>
      <p:ext uri="{BB962C8B-B14F-4D97-AF65-F5344CB8AC3E}">
        <p14:creationId xmlns:p14="http://schemas.microsoft.com/office/powerpoint/2010/main" xmlns="" val="1927102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3E75A73-5F40-139E-EE91-84FE5AFC8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Importance of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77FA01B-9C54-8683-3400-8BBF3CC1DC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800" dirty="0"/>
              <a:t>Thorough analysis identifies root problem causes</a:t>
            </a:r>
          </a:p>
          <a:p>
            <a:r>
              <a:rPr lang="en-IN" sz="2800" dirty="0"/>
              <a:t>Stakeholder input ensures inclusive decision-making</a:t>
            </a:r>
          </a:p>
          <a:p>
            <a:r>
              <a:rPr lang="en-IN" sz="2800" dirty="0"/>
              <a:t>Data-driven insights guide effective strategies</a:t>
            </a:r>
          </a:p>
          <a:p>
            <a:r>
              <a:rPr lang="en-IN" sz="2800" dirty="0"/>
              <a:t>Scenario </a:t>
            </a:r>
            <a:r>
              <a:rPr lang="en-IN" sz="2800" dirty="0" err="1"/>
              <a:t>modeling</a:t>
            </a:r>
            <a:r>
              <a:rPr lang="en-IN" sz="2800" dirty="0"/>
              <a:t> anticipates potential outcomes</a:t>
            </a:r>
          </a:p>
          <a:p>
            <a:r>
              <a:rPr lang="en-IN" sz="2800" dirty="0"/>
              <a:t>Structured approaches enhance solution feasibility</a:t>
            </a:r>
          </a:p>
          <a:p>
            <a:r>
              <a:rPr lang="en-IN" sz="2800" dirty="0"/>
              <a:t>Collaboration fosters interdisciplinary innovation</a:t>
            </a:r>
          </a:p>
        </p:txBody>
      </p:sp>
    </p:spTree>
    <p:extLst>
      <p:ext uri="{BB962C8B-B14F-4D97-AF65-F5344CB8AC3E}">
        <p14:creationId xmlns:p14="http://schemas.microsoft.com/office/powerpoint/2010/main" xmlns="" val="48392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8296C9E-1D9A-B3A8-EE85-41C851FC6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Intellectual Property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B0C5635-577E-9AD6-F71C-00D4BDD39A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Protecting ideas safeguards competitive advantages</a:t>
            </a:r>
          </a:p>
          <a:p>
            <a:r>
              <a:rPr lang="en-US" sz="2800" dirty="0"/>
              <a:t>Types include patents, trademarks, copyrights</a:t>
            </a:r>
          </a:p>
          <a:p>
            <a:r>
              <a:rPr lang="en-US" sz="2800" dirty="0"/>
              <a:t>Filing claims requires detailed documentation processes</a:t>
            </a:r>
          </a:p>
          <a:p>
            <a:r>
              <a:rPr lang="en-US" sz="2800" dirty="0"/>
              <a:t>Legal protection prevents unauthorized usage instances</a:t>
            </a:r>
          </a:p>
          <a:p>
            <a:r>
              <a:rPr lang="en-US" sz="2800" dirty="0"/>
              <a:t>Encourages investment in research and development</a:t>
            </a:r>
          </a:p>
          <a:p>
            <a:r>
              <a:rPr lang="en-US" sz="2800" dirty="0"/>
              <a:t>Strengthens economic and creative ecosystems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xmlns="" val="38071860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69702D7-CD50-CCE8-3E47-BA7952327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Process of Registering Claims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DCDC873-E4F5-7A62-1B34-A19E4A398F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Identify innovative aspects of your invention</a:t>
            </a:r>
          </a:p>
          <a:p>
            <a:r>
              <a:rPr lang="en-US" dirty="0"/>
              <a:t>Prepare detailed descriptions and technical drawings</a:t>
            </a:r>
          </a:p>
          <a:p>
            <a:r>
              <a:rPr lang="en-US" dirty="0"/>
              <a:t>Conduct searches for existing similar patents</a:t>
            </a:r>
          </a:p>
          <a:p>
            <a:r>
              <a:rPr lang="en-US" dirty="0"/>
              <a:t>File applications with relevant legal authorities</a:t>
            </a:r>
          </a:p>
          <a:p>
            <a:r>
              <a:rPr lang="en-US" dirty="0"/>
              <a:t>Respond to examination reports and objections</a:t>
            </a:r>
          </a:p>
          <a:p>
            <a:r>
              <a:rPr lang="en-US" dirty="0"/>
              <a:t>Maintain patents through timely fee payments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8909171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75C5CBB-D346-FB15-C5DB-3BCA4E696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Benefits of IP Protection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A0115EE-FF92-C1AC-3403-8050261A2C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000" dirty="0"/>
              <a:t>Secures exclusive rights for commercial exploitation</a:t>
            </a:r>
          </a:p>
          <a:p>
            <a:r>
              <a:rPr lang="en-US" sz="3000" dirty="0"/>
              <a:t>Increases market value of protected innovations</a:t>
            </a:r>
          </a:p>
          <a:p>
            <a:r>
              <a:rPr lang="en-US" sz="3000" dirty="0"/>
              <a:t>Attracts funding for further developmental efforts</a:t>
            </a:r>
          </a:p>
          <a:p>
            <a:r>
              <a:rPr lang="en-US" sz="3000" dirty="0"/>
              <a:t>Prevents competitors from copying unique ideas</a:t>
            </a:r>
          </a:p>
          <a:p>
            <a:r>
              <a:rPr lang="en-US" sz="3000" dirty="0"/>
              <a:t>Strengthens brand recognition and customer trust</a:t>
            </a:r>
          </a:p>
          <a:p>
            <a:r>
              <a:rPr lang="en-US" sz="3000" dirty="0"/>
              <a:t>Supports long-term business sustainability goals</a:t>
            </a:r>
            <a:endParaRPr lang="en-IN" sz="3000" dirty="0"/>
          </a:p>
        </p:txBody>
      </p:sp>
    </p:spTree>
    <p:extLst>
      <p:ext uri="{BB962C8B-B14F-4D97-AF65-F5344CB8AC3E}">
        <p14:creationId xmlns:p14="http://schemas.microsoft.com/office/powerpoint/2010/main" xmlns="" val="18796055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C76C369-3EA4-F90A-FB11-1C4AFC136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Case Studies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B250EE8-5795-0023-BAED-E2CC2510E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800" dirty="0"/>
              <a:t>Successful patent protection in renewable energy</a:t>
            </a:r>
          </a:p>
          <a:p>
            <a:r>
              <a:rPr lang="en-IN" sz="2800" dirty="0"/>
              <a:t>Copyrights promoting creative digital content growth</a:t>
            </a:r>
          </a:p>
          <a:p>
            <a:r>
              <a:rPr lang="en-IN" sz="2800" dirty="0"/>
              <a:t>Trademarks boosting brand identity for startups</a:t>
            </a:r>
          </a:p>
          <a:p>
            <a:r>
              <a:rPr lang="en-IN" sz="2800" dirty="0"/>
              <a:t>IP disputes resolved through effective legal frameworks</a:t>
            </a:r>
          </a:p>
          <a:p>
            <a:r>
              <a:rPr lang="en-IN" sz="2800" dirty="0"/>
              <a:t>Engineering innovations achieving global recognition</a:t>
            </a:r>
          </a:p>
          <a:p>
            <a:r>
              <a:rPr lang="en-IN" sz="2800" dirty="0"/>
              <a:t>Lessons learned from intellectual property cases</a:t>
            </a:r>
          </a:p>
        </p:txBody>
      </p:sp>
    </p:spTree>
    <p:extLst>
      <p:ext uri="{BB962C8B-B14F-4D97-AF65-F5344CB8AC3E}">
        <p14:creationId xmlns:p14="http://schemas.microsoft.com/office/powerpoint/2010/main" xmlns="" val="7901075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C7A0C0A-8FC0-E0AC-8CBE-CE97E086E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Challenges in IP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6425816-EDF7-2EF7-FB1E-63EFE8A031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000" dirty="0"/>
              <a:t>Costly and time-consuming registration processes</a:t>
            </a:r>
          </a:p>
          <a:p>
            <a:r>
              <a:rPr lang="en-US" sz="3000" dirty="0"/>
              <a:t>Global variations in intellectual property laws</a:t>
            </a:r>
          </a:p>
          <a:p>
            <a:r>
              <a:rPr lang="en-US" sz="3000" dirty="0"/>
              <a:t>Enforcement difficulties across multiple jurisdictions</a:t>
            </a:r>
          </a:p>
          <a:p>
            <a:r>
              <a:rPr lang="en-US" sz="3000" dirty="0"/>
              <a:t>Balancing openness with competitive confidentiality</a:t>
            </a:r>
          </a:p>
          <a:p>
            <a:r>
              <a:rPr lang="en-US" sz="3000" dirty="0"/>
              <a:t>Navigating ethical considerations in patenting life</a:t>
            </a:r>
          </a:p>
          <a:p>
            <a:r>
              <a:rPr lang="en-US" sz="3000" dirty="0"/>
              <a:t>Ensuring accessibility while protecting ownership</a:t>
            </a:r>
            <a:endParaRPr lang="en-IN" sz="3000" dirty="0"/>
          </a:p>
        </p:txBody>
      </p:sp>
    </p:spTree>
    <p:extLst>
      <p:ext uri="{BB962C8B-B14F-4D97-AF65-F5344CB8AC3E}">
        <p14:creationId xmlns:p14="http://schemas.microsoft.com/office/powerpoint/2010/main" xmlns="" val="21149309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A20C129-8F3F-7C8C-1BAF-9E7433B01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70124AB-6937-C17A-C9C1-13967EF84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Addressing social and engineering issues effectively</a:t>
            </a:r>
          </a:p>
          <a:p>
            <a:r>
              <a:rPr lang="en-US" sz="2800" dirty="0"/>
              <a:t>Conducting thorough analysis for innovative solutions</a:t>
            </a:r>
          </a:p>
          <a:p>
            <a:r>
              <a:rPr lang="en-US" sz="2800" dirty="0"/>
              <a:t>Registering claims to protect intellectual property</a:t>
            </a:r>
          </a:p>
          <a:p>
            <a:r>
              <a:rPr lang="en-US" sz="2800" dirty="0"/>
              <a:t>Promoting sustainable and ethical advancements globally</a:t>
            </a:r>
          </a:p>
          <a:p>
            <a:r>
              <a:rPr lang="en-US" sz="2800" dirty="0"/>
              <a:t>Encouraging collaboration for interdisciplinary success</a:t>
            </a:r>
          </a:p>
          <a:p>
            <a:r>
              <a:rPr lang="en-US" sz="2800" dirty="0"/>
              <a:t>Securing a better future through innovation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xmlns="" val="22100368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1767</TotalTime>
  <Words>411</Words>
  <Application>Microsoft Office PowerPoint</Application>
  <PresentationFormat>On-screen Show (4:3)</PresentationFormat>
  <Paragraphs>80</Paragraphs>
  <Slides>12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CSE332</vt:lpstr>
      <vt:lpstr>Conducting Analysis and Registering Claims</vt:lpstr>
      <vt:lpstr>Introduction to Issues</vt:lpstr>
      <vt:lpstr>Social Issues in Technology</vt:lpstr>
      <vt:lpstr>Engineering Challenges Overview</vt:lpstr>
      <vt:lpstr>Importance of Analysis</vt:lpstr>
      <vt:lpstr>Intellectual Property Basics</vt:lpstr>
      <vt:lpstr>Process of Registering Claims</vt:lpstr>
      <vt:lpstr>Benefits of IP Protection</vt:lpstr>
      <vt:lpstr>Case Studies</vt:lpstr>
      <vt:lpstr>Challenges in IP Management</vt:lpstr>
      <vt:lpstr>Conclusion</vt:lpstr>
    </vt:vector>
  </TitlesOfParts>
  <Company>Villanova University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3: Brute Force</dc:title>
  <dc:creator>Anany Levitin</dc:creator>
  <cp:lastModifiedBy>Admin</cp:lastModifiedBy>
  <cp:revision>137</cp:revision>
  <dcterms:created xsi:type="dcterms:W3CDTF">1999-08-23T17:38:43Z</dcterms:created>
  <dcterms:modified xsi:type="dcterms:W3CDTF">2025-02-07T11:01:25Z</dcterms:modified>
</cp:coreProperties>
</file>