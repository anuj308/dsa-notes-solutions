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316" r:id="rId3"/>
    <p:sldId id="346" r:id="rId4"/>
    <p:sldId id="347" r:id="rId5"/>
    <p:sldId id="349" r:id="rId6"/>
    <p:sldId id="350" r:id="rId7"/>
    <p:sldId id="351" r:id="rId8"/>
    <p:sldId id="353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8" autoAdjust="0"/>
    <p:restoredTop sz="94660"/>
  </p:normalViewPr>
  <p:slideViewPr>
    <p:cSldViewPr>
      <p:cViewPr varScale="1">
        <p:scale>
          <a:sx n="58" d="100"/>
          <a:sy n="58" d="100"/>
        </p:scale>
        <p:origin x="920" y="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6778625"/>
            <a:ext cx="12192000" cy="79376"/>
          </a:xfrm>
          <a:prstGeom prst="rect">
            <a:avLst/>
          </a:prstGeom>
          <a:solidFill>
            <a:srgbClr val="ED771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685800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2"/>
          <p:cNvSpPr/>
          <p:nvPr/>
        </p:nvSpPr>
        <p:spPr>
          <a:xfrm>
            <a:off x="2078568" y="431800"/>
            <a:ext cx="8106834" cy="46038"/>
          </a:xfrm>
          <a:prstGeom prst="rect">
            <a:avLst/>
          </a:prstGeom>
          <a:solidFill>
            <a:srgbClr val="F47D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354733" y="177800"/>
            <a:ext cx="1547285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5" descr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8083" y="177801"/>
            <a:ext cx="1581151" cy="50641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"/>
          <p:cNvSpPr txBox="1"/>
          <p:nvPr/>
        </p:nvSpPr>
        <p:spPr>
          <a:xfrm>
            <a:off x="1842770" y="770255"/>
            <a:ext cx="7865110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5400" b="1">
                <a:solidFill>
                  <a:srgbClr val="10253F"/>
                </a:solidFill>
                <a:latin typeface="Berlin Sans FB Demi"/>
                <a:ea typeface="Berlin Sans FB Demi"/>
                <a:cs typeface="Berlin Sans FB Demi"/>
                <a:sym typeface="Berlin Sans FB Demi"/>
              </a:defRPr>
            </a:pPr>
            <a:r>
              <a:rPr lang="en-US" dirty="0"/>
              <a:t>CSE332</a:t>
            </a:r>
            <a:br>
              <a:rPr/>
            </a:br>
            <a:r>
              <a:rPr lang="en-US" dirty="0"/>
              <a:t>INDUSTRY ETHICS AND LEGAL ISSUES</a:t>
            </a:r>
            <a:endParaRPr/>
          </a:p>
        </p:txBody>
      </p:sp>
      <p:sp>
        <p:nvSpPr>
          <p:cNvPr id="106" name="Line 3"/>
          <p:cNvSpPr/>
          <p:nvPr/>
        </p:nvSpPr>
        <p:spPr>
          <a:xfrm>
            <a:off x="2566989" y="3789364"/>
            <a:ext cx="7058025" cy="1587"/>
          </a:xfrm>
          <a:prstGeom prst="line">
            <a:avLst/>
          </a:prstGeom>
          <a:ln w="38160">
            <a:solidFill>
              <a:srgbClr val="F79646"/>
            </a:solidFill>
            <a:miter/>
          </a:ln>
          <a:effectLst>
            <a:outerShdw dist="23040" dir="5400000" rotWithShape="0">
              <a:srgbClr val="000000">
                <a:alpha val="3503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09588" y="1571612"/>
            <a:ext cx="10644262" cy="4038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lvl="0" algn="ctr" hangingPunct="1">
              <a:lnSpc>
                <a:spcPct val="90000"/>
              </a:lnSpc>
              <a:buFontTx/>
              <a:buChar char="-"/>
              <a:defRPr/>
            </a:pPr>
            <a:r>
              <a:rPr lang="en-US" sz="4400" b="1" dirty="0">
                <a:solidFill>
                  <a:srgbClr val="FF0000"/>
                </a:solidFill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Patents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CB284-352B-4A2C-498D-58633AE6D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715C41-80A8-288F-9834-2E9478508FD3}"/>
              </a:ext>
            </a:extLst>
          </p:cNvPr>
          <p:cNvSpPr txBox="1"/>
          <p:nvPr/>
        </p:nvSpPr>
        <p:spPr>
          <a:xfrm>
            <a:off x="911424" y="836712"/>
            <a:ext cx="609790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Stages from filing to grant of a patent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2958F3-4C30-539E-0040-BF7CF3109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359932"/>
            <a:ext cx="11233247" cy="516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25619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24A42-44B1-7CA8-EEAB-B5602A8DF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B863DB-3867-90F3-B4B6-E1656FEEAE4B}"/>
              </a:ext>
            </a:extLst>
          </p:cNvPr>
          <p:cNvSpPr txBox="1"/>
          <p:nvPr/>
        </p:nvSpPr>
        <p:spPr>
          <a:xfrm>
            <a:off x="695400" y="764704"/>
            <a:ext cx="609790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b="1" dirty="0">
                <a:cs typeface="Arial" charset="0"/>
              </a:rPr>
              <a:t>Publication and Examination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CAC2C0-7040-A0DB-FBF3-16EC9D891B95}"/>
              </a:ext>
            </a:extLst>
          </p:cNvPr>
          <p:cNvSpPr txBox="1"/>
          <p:nvPr/>
        </p:nvSpPr>
        <p:spPr>
          <a:xfrm>
            <a:off x="839416" y="1484784"/>
            <a:ext cx="60979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Rule24-B:Examinationofapplication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440C6E-C1C9-E086-8289-41F47894BD41}"/>
              </a:ext>
            </a:extLst>
          </p:cNvPr>
          <p:cNvSpPr txBox="1"/>
          <p:nvPr/>
        </p:nvSpPr>
        <p:spPr>
          <a:xfrm>
            <a:off x="839416" y="2326228"/>
            <a:ext cx="11017224" cy="3046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/>
              <a:t>Examination request for application: </a:t>
            </a:r>
          </a:p>
          <a:p>
            <a:r>
              <a:rPr lang="en-US" sz="2400" dirty="0"/>
              <a:t>1. </a:t>
            </a:r>
            <a:r>
              <a:rPr lang="en-US" sz="2400" b="1" dirty="0">
                <a:solidFill>
                  <a:srgbClr val="FF0000"/>
                </a:solidFill>
              </a:rPr>
              <a:t>48 months </a:t>
            </a:r>
            <a:r>
              <a:rPr lang="en-US" sz="2400" dirty="0"/>
              <a:t>from filing date or </a:t>
            </a:r>
            <a:r>
              <a:rPr lang="en-US" sz="2400" b="1" dirty="0">
                <a:solidFill>
                  <a:srgbClr val="FF0000"/>
                </a:solidFill>
              </a:rPr>
              <a:t>priority date</a:t>
            </a:r>
            <a:r>
              <a:rPr lang="en-US" sz="2400" dirty="0"/>
              <a:t>, whichever or </a:t>
            </a:r>
            <a:r>
              <a:rPr lang="en-US" sz="2400" b="1" dirty="0">
                <a:solidFill>
                  <a:srgbClr val="FF0000"/>
                </a:solidFill>
              </a:rPr>
              <a:t>6 months </a:t>
            </a:r>
            <a:r>
              <a:rPr lang="en-US" sz="2400" dirty="0"/>
              <a:t>from further application filing. </a:t>
            </a:r>
          </a:p>
          <a:p>
            <a:endParaRPr lang="en-US" sz="2400" dirty="0"/>
          </a:p>
          <a:p>
            <a:r>
              <a:rPr lang="en-US" sz="2400" dirty="0"/>
              <a:t>2. Controller refers to Examiner </a:t>
            </a:r>
            <a:r>
              <a:rPr lang="en-US" sz="2400" b="1" dirty="0">
                <a:solidFill>
                  <a:srgbClr val="FF0000"/>
                </a:solidFill>
              </a:rPr>
              <a:t>within 1 month </a:t>
            </a:r>
            <a:r>
              <a:rPr lang="en-US" sz="2400" dirty="0"/>
              <a:t>from publication or examination request receipt date whichever is </a:t>
            </a:r>
            <a:r>
              <a:rPr lang="en-US" sz="2400" b="1" dirty="0">
                <a:solidFill>
                  <a:srgbClr val="FF0000"/>
                </a:solidFill>
              </a:rPr>
              <a:t>earlier.</a:t>
            </a:r>
            <a:r>
              <a:rPr lang="en-US" sz="2400" dirty="0"/>
              <a:t> </a:t>
            </a:r>
          </a:p>
          <a:p>
            <a:endParaRPr lang="en-US" sz="2400" dirty="0"/>
          </a:p>
          <a:p>
            <a:r>
              <a:rPr lang="en-US" sz="2400" dirty="0"/>
              <a:t>3. Examiner prepares report </a:t>
            </a:r>
            <a:r>
              <a:rPr lang="en-US" sz="2400" b="1" dirty="0">
                <a:solidFill>
                  <a:srgbClr val="FF0000"/>
                </a:solidFill>
              </a:rPr>
              <a:t>in 1-3 months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197288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C2EC3-3A22-5DA5-C100-CB649DA9E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6363D2-9871-FB5A-32C1-5BB3801A6842}"/>
              </a:ext>
            </a:extLst>
          </p:cNvPr>
          <p:cNvSpPr txBox="1"/>
          <p:nvPr/>
        </p:nvSpPr>
        <p:spPr>
          <a:xfrm>
            <a:off x="1847528" y="476672"/>
            <a:ext cx="6097904" cy="9541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800" b="1" i="0" u="none" strike="noStrike" baseline="0" dirty="0">
                <a:latin typeface="Calibri" panose="020F0502020204030204" pitchFamily="34" charset="0"/>
              </a:rPr>
              <a:t>A PROCEDURE FROM FILING TO</a:t>
            </a:r>
          </a:p>
          <a:p>
            <a:pPr algn="l"/>
            <a:r>
              <a:rPr lang="en-US" sz="2800" b="1" i="0" u="none" strike="noStrike" baseline="0" dirty="0">
                <a:latin typeface="Calibri" panose="020F0502020204030204" pitchFamily="34" charset="0"/>
              </a:rPr>
              <a:t>GRANT OF PATENT (Cont.)</a:t>
            </a:r>
            <a:endParaRPr lang="en-US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4D42D-EC56-BD15-7504-D1E7DD020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24" y="1556792"/>
            <a:ext cx="10402752" cy="482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55951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42261-D6BD-3083-4A65-13A2CB523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13FC95-0AA5-EBD2-C236-4A57C9A68BD6}"/>
              </a:ext>
            </a:extLst>
          </p:cNvPr>
          <p:cNvSpPr txBox="1"/>
          <p:nvPr/>
        </p:nvSpPr>
        <p:spPr>
          <a:xfrm>
            <a:off x="2999656" y="476672"/>
            <a:ext cx="7583552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800" dirty="0">
                <a:cs typeface="Arial" charset="0"/>
              </a:rPr>
              <a:t> </a:t>
            </a:r>
            <a:r>
              <a:rPr lang="en-US" sz="2800" b="1" dirty="0">
                <a:cs typeface="Arial" charset="0"/>
              </a:rPr>
              <a:t>IMPORTANT FEES IN DIFFERENT PROCEEDINGS</a:t>
            </a:r>
            <a:endParaRPr lang="en-US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54A457-1A17-8BFD-269D-080F955A7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1123628"/>
            <a:ext cx="10441160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4212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B7ACC-4DDD-C224-21A8-4765464E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D3A186-EF17-8E0A-8751-D257723F86EE}"/>
              </a:ext>
            </a:extLst>
          </p:cNvPr>
          <p:cNvSpPr txBox="1"/>
          <p:nvPr/>
        </p:nvSpPr>
        <p:spPr>
          <a:xfrm>
            <a:off x="4079776" y="476672"/>
            <a:ext cx="6097904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latin typeface="Calibri" panose="020F0502020204030204" pitchFamily="34" charset="0"/>
              </a:rPr>
              <a:t>DUTIES OF PATENTEE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8C8C6-B1CD-3D54-B3A9-78929BC0375D}"/>
              </a:ext>
            </a:extLst>
          </p:cNvPr>
          <p:cNvSpPr txBox="1"/>
          <p:nvPr/>
        </p:nvSpPr>
        <p:spPr>
          <a:xfrm>
            <a:off x="623392" y="1196752"/>
            <a:ext cx="10585176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000000"/>
                </a:solidFill>
              </a:rPr>
              <a:t>Maintenance of the patent</a:t>
            </a:r>
          </a:p>
          <a:p>
            <a:pPr algn="l"/>
            <a:r>
              <a:rPr lang="en-US" sz="2400" b="1" i="0" u="none" strike="noStrike" baseline="0" dirty="0">
                <a:solidFill>
                  <a:srgbClr val="C61200"/>
                </a:solidFill>
              </a:rPr>
              <a:t>Pay renewal fees</a:t>
            </a:r>
          </a:p>
          <a:p>
            <a:pPr algn="l"/>
            <a:r>
              <a:rPr lang="en-US" sz="2400" b="1" i="0" u="none" strike="noStrike" baseline="0" dirty="0">
                <a:solidFill>
                  <a:srgbClr val="C61200"/>
                </a:solidFill>
              </a:rPr>
              <a:t>Every year till the end of the term</a:t>
            </a:r>
          </a:p>
          <a:p>
            <a:pPr algn="l"/>
            <a:r>
              <a:rPr lang="en-US" sz="2400" b="1" i="0" u="none" strike="noStrike" baseline="0" dirty="0">
                <a:solidFill>
                  <a:srgbClr val="C61200"/>
                </a:solidFill>
              </a:rPr>
              <a:t>Time limit: </a:t>
            </a:r>
          </a:p>
          <a:p>
            <a:pPr algn="l"/>
            <a:r>
              <a:rPr lang="en-US" sz="2400" b="1" dirty="0">
                <a:solidFill>
                  <a:srgbClr val="C61200"/>
                </a:solidFill>
              </a:rPr>
              <a:t>      </a:t>
            </a:r>
            <a:r>
              <a:rPr lang="en-US" sz="2400" b="1" i="0" u="none" strike="noStrike" baseline="0" dirty="0">
                <a:solidFill>
                  <a:srgbClr val="C61200"/>
                </a:solidFill>
              </a:rPr>
              <a:t>before end of the </a:t>
            </a:r>
            <a:r>
              <a:rPr lang="en-US" sz="2400" b="1" i="0" u="none" strike="noStrike" baseline="0" dirty="0" err="1">
                <a:solidFill>
                  <a:srgbClr val="C61200"/>
                </a:solidFill>
              </a:rPr>
              <a:t>preceeding</a:t>
            </a:r>
            <a:r>
              <a:rPr lang="en-US" sz="2400" b="1" i="0" u="none" strike="noStrike" baseline="0" dirty="0">
                <a:solidFill>
                  <a:srgbClr val="C61200"/>
                </a:solidFill>
              </a:rPr>
              <a:t> year ( 6months extn. Available )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CA1F8D-BF0B-B89C-FB12-C6FABA0A7309}"/>
              </a:ext>
            </a:extLst>
          </p:cNvPr>
          <p:cNvSpPr txBox="1"/>
          <p:nvPr/>
        </p:nvSpPr>
        <p:spPr>
          <a:xfrm>
            <a:off x="623392" y="3722257"/>
            <a:ext cx="7992888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000000"/>
                </a:solidFill>
              </a:rPr>
              <a:t>Working of the patents:</a:t>
            </a:r>
          </a:p>
          <a:p>
            <a:pPr algn="l"/>
            <a:r>
              <a:rPr lang="en-US" sz="2400" b="1" i="0" u="none" strike="noStrike" baseline="0" dirty="0">
                <a:solidFill>
                  <a:srgbClr val="008600"/>
                </a:solidFill>
              </a:rPr>
              <a:t>Inventions are to be worked in India on commercial scale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2952812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49DA3-64CB-4E41-A9B8-B751E4C16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765777-EC52-3FD1-0951-F5109B29CED2}"/>
              </a:ext>
            </a:extLst>
          </p:cNvPr>
          <p:cNvSpPr txBox="1"/>
          <p:nvPr/>
        </p:nvSpPr>
        <p:spPr>
          <a:xfrm>
            <a:off x="3719736" y="476672"/>
            <a:ext cx="6097904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Litigation </a:t>
            </a:r>
            <a:r>
              <a:rPr lang="en-US" sz="32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vs </a:t>
            </a:r>
            <a:r>
              <a:rPr lang="en-US" sz="32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Licensing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8BBE63-A59D-C20E-DC89-167E9FF80C76}"/>
              </a:ext>
            </a:extLst>
          </p:cNvPr>
          <p:cNvSpPr txBox="1"/>
          <p:nvPr/>
        </p:nvSpPr>
        <p:spPr>
          <a:xfrm>
            <a:off x="1487488" y="1268760"/>
            <a:ext cx="609790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If the objective is to stop a</a:t>
            </a:r>
          </a:p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competitor from offering a </a:t>
            </a:r>
          </a:p>
          <a:p>
            <a:pPr algn="l"/>
            <a:r>
              <a:rPr lang="en-US" sz="2400" dirty="0">
                <a:solidFill>
                  <a:srgbClr val="C00000"/>
                </a:solidFill>
                <a:latin typeface="Microsoft Sans Serif" panose="020B0604020202020204" pitchFamily="34" charset="0"/>
              </a:rPr>
              <a:t>p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roduct</a:t>
            </a:r>
            <a:r>
              <a:rPr lang="en-US" sz="2400" dirty="0">
                <a:solidFill>
                  <a:srgbClr val="C00000"/>
                </a:solidFill>
                <a:latin typeface="Microsoft Sans Serif" panose="020B0604020202020204" pitchFamily="34" charset="0"/>
              </a:rPr>
              <a:t> 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that infringes one’s patent.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8F511-1D0D-B794-45D3-09A65AB67ACA}"/>
              </a:ext>
            </a:extLst>
          </p:cNvPr>
          <p:cNvSpPr txBox="1"/>
          <p:nvPr/>
        </p:nvSpPr>
        <p:spPr>
          <a:xfrm>
            <a:off x="6672064" y="1268760"/>
            <a:ext cx="6097904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If the objective is to obtain royalty</a:t>
            </a:r>
          </a:p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for the use of one’s invention.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BF0B61-9485-7CD2-9DFE-B4DF9E3A1A73}"/>
              </a:ext>
            </a:extLst>
          </p:cNvPr>
          <p:cNvSpPr txBox="1"/>
          <p:nvPr/>
        </p:nvSpPr>
        <p:spPr>
          <a:xfrm>
            <a:off x="983432" y="3167390"/>
            <a:ext cx="638365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solidFill>
                  <a:schemeClr val="tx1"/>
                </a:solidFill>
              </a:rPr>
              <a:t>Alternatives To Litigation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E8E4F5-B962-9135-C9EB-E0EC5BA47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4077072"/>
            <a:ext cx="2088232" cy="18722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76A76CF-AC8E-B7B2-6503-5F9F4E4E41F6}"/>
              </a:ext>
            </a:extLst>
          </p:cNvPr>
          <p:cNvSpPr txBox="1"/>
          <p:nvPr/>
        </p:nvSpPr>
        <p:spPr>
          <a:xfrm>
            <a:off x="3935762" y="4228346"/>
            <a:ext cx="7920878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solidFill>
                  <a:schemeClr val="tx1"/>
                </a:solidFill>
              </a:rPr>
              <a:t>Litigations are costly, timely, &amp; disruptive</a:t>
            </a:r>
          </a:p>
          <a:p>
            <a:pPr algn="l"/>
            <a:r>
              <a:rPr lang="en-US" sz="2400" b="0" i="0" u="none" strike="noStrike" baseline="0" dirty="0">
                <a:solidFill>
                  <a:schemeClr val="tx1"/>
                </a:solidFill>
              </a:rPr>
              <a:t>Alternative dispute resolutions (ADR) include </a:t>
            </a:r>
            <a:r>
              <a:rPr lang="en-US" sz="2400" b="1" i="0" u="none" strike="noStrike" baseline="0" dirty="0">
                <a:solidFill>
                  <a:schemeClr val="tx1"/>
                </a:solidFill>
              </a:rPr>
              <a:t>Mediation </a:t>
            </a:r>
            <a:r>
              <a:rPr lang="en-US" sz="2400" b="0" i="0" u="none" strike="noStrike" baseline="0" dirty="0">
                <a:solidFill>
                  <a:schemeClr val="tx1"/>
                </a:solidFill>
              </a:rPr>
              <a:t>&amp; </a:t>
            </a:r>
            <a:r>
              <a:rPr lang="en-US" sz="2400" b="1" i="0" u="none" strike="noStrike" baseline="0" dirty="0">
                <a:solidFill>
                  <a:schemeClr val="tx1"/>
                </a:solidFill>
              </a:rPr>
              <a:t>Arbitration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77497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1496</TotalTime>
  <Words>197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Microsoft Sans Serif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Puneetbhardwaj08@outlook.com</cp:lastModifiedBy>
  <cp:revision>31</cp:revision>
  <dcterms:modified xsi:type="dcterms:W3CDTF">2025-03-13T04:47:58Z</dcterms:modified>
</cp:coreProperties>
</file>