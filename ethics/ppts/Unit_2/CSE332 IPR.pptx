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defTabSz="914400" hangingPunct="0" indent="0" latinLnBrk="1" lvl="0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</a:defRPr>
    </a:defPPr>
    <a:lvl1pPr defTabSz="914400" hangingPunct="0" indent="0" latinLnBrk="0" lvl="0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1pPr>
    <a:lvl2pPr defTabSz="914400" hangingPunct="0" indent="457200" latinLnBrk="0" lvl="1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2pPr>
    <a:lvl3pPr defTabSz="914400" hangingPunct="0" indent="914400" latinLnBrk="0" lvl="2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3pPr>
    <a:lvl4pPr defTabSz="914400" hangingPunct="0" indent="1371600" latinLnBrk="0" lvl="3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4pPr>
    <a:lvl5pPr defTabSz="914400" hangingPunct="0" indent="1828800" latinLnBrk="0" lvl="4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5pPr>
    <a:lvl6pPr defTabSz="914400" hangingPunct="0" indent="2286000" latinLnBrk="0" lvl="5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6pPr>
    <a:lvl7pPr defTabSz="914400" hangingPunct="0" indent="2743200" latinLnBrk="0" lvl="6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7pPr>
    <a:lvl8pPr defTabSz="914400" hangingPunct="0" indent="3200400" latinLnBrk="0" lvl="7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8pPr>
    <a:lvl9pPr defTabSz="914400" hangingPunct="0" indent="3657600" latinLnBrk="0" lvl="8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Intellectual </a:t>
            </a:r>
            <a:r>
              <a:rPr lang="en-US" sz="2000" dirty="0"/>
              <a:t>Property Rights (IPR) are legal </a:t>
            </a:r>
            <a:r>
              <a:rPr lang="en-US" sz="2000" dirty="0" smtClean="0"/>
              <a:t>rights.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It protect </a:t>
            </a:r>
            <a:r>
              <a:rPr lang="en-US" sz="2000" dirty="0"/>
              <a:t>and encourage the development and distribution of new products and services. </a:t>
            </a:r>
            <a:endParaRPr lang="en-US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IPRs </a:t>
            </a:r>
            <a:r>
              <a:rPr lang="en-US" sz="2000" dirty="0"/>
              <a:t>are granted to people over their </a:t>
            </a:r>
            <a:r>
              <a:rPr lang="en-US" sz="2000" dirty="0" smtClean="0"/>
              <a:t>creations.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lang="en-US" sz="2000" dirty="0" smtClean="0"/>
              <a:t>uch </a:t>
            </a:r>
            <a:r>
              <a:rPr lang="en-US" sz="2000" dirty="0"/>
              <a:t>as inventions, designs, trademarks, and creative </a:t>
            </a:r>
            <a:r>
              <a:rPr lang="en-US" sz="2000" dirty="0" smtClean="0"/>
              <a:t>content.</a:t>
            </a:r>
            <a:endParaRPr lang="en-US" sz="4400" dirty="0"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4000" b="1" dirty="0" smtClean="0"/>
              <a:t>Intellectual </a:t>
            </a:r>
            <a:r>
              <a:rPr lang="en-IN" sz="4000" b="1" dirty="0"/>
              <a:t>property rights</a:t>
            </a:r>
            <a:endParaRPr lang="en-US" sz="4000" b="1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2796749"/>
            <a:ext cx="4243447" cy="381642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1268761"/>
            <a:ext cx="770485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7648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3472" y="1340768"/>
            <a:ext cx="8928992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“A </a:t>
            </a:r>
            <a:r>
              <a:rPr lang="en-US" dirty="0"/>
              <a:t>patent is a legal document that gives the inventor exclusive rights to their invention for a set period of time</a:t>
            </a:r>
            <a:r>
              <a:rPr lang="en-US" dirty="0" smtClean="0"/>
              <a:t>.”</a:t>
            </a:r>
            <a:r>
              <a:rPr lang="en-US" dirty="0"/>
              <a:t> </a:t>
            </a:r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protects the invention from being made, used, or sold without the inventor's permission. 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8572"/>
          <a:stretch/>
        </p:blipFill>
        <p:spPr>
          <a:xfrm>
            <a:off x="4763852" y="3501008"/>
            <a:ext cx="208823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875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744" y="764704"/>
            <a:ext cx="4536504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3200" b="1" dirty="0"/>
              <a:t>Copyright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3512" y="1772816"/>
            <a:ext cx="9073008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Copyright </a:t>
            </a:r>
            <a:r>
              <a:rPr lang="en-US" dirty="0"/>
              <a:t>is the right to copy.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</a:t>
            </a:r>
            <a:r>
              <a:rPr lang="en-US" dirty="0"/>
              <a:t>the creator of the work can authorize anyone to reproduce the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Copyright law protects creators of original material from unauthorized </a:t>
            </a:r>
            <a:r>
              <a:rPr lang="en-US" dirty="0" smtClean="0"/>
              <a:t>use</a:t>
            </a:r>
            <a:endParaRPr lang="en-US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00" y="3501008"/>
            <a:ext cx="2475191" cy="18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1289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1124744"/>
            <a:ext cx="504056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Things take place under copyrights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7408" y="1772816"/>
            <a:ext cx="5184576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Musical lyrics and compositions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Website </a:t>
            </a:r>
            <a:r>
              <a:rPr lang="en-US" dirty="0" smtClean="0"/>
              <a:t>content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56" y="908720"/>
            <a:ext cx="2333625" cy="1962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143" y="3717032"/>
            <a:ext cx="1847850" cy="2466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4221088"/>
            <a:ext cx="2657475" cy="1724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76" y="42830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086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9896" y="836712"/>
            <a:ext cx="410445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Trademark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4365104"/>
            <a:ext cx="2381250" cy="1914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3472" y="1916832"/>
            <a:ext cx="9577064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trademark is a sign capable of distinguishing the goods or </a:t>
            </a:r>
            <a:r>
              <a:rPr lang="en-US" dirty="0" smtClean="0"/>
              <a:t>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Trademarks </a:t>
            </a:r>
            <a:r>
              <a:rPr lang="en-US" dirty="0"/>
              <a:t>are protected by intellectual property rights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rademark </a:t>
            </a:r>
            <a:r>
              <a:rPr lang="en-US" dirty="0"/>
              <a:t>protection can be obtained through </a:t>
            </a:r>
            <a:r>
              <a:rPr lang="en-US" dirty="0" smtClean="0"/>
              <a:t>registration.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will </a:t>
            </a:r>
            <a:r>
              <a:rPr lang="en-US" dirty="0"/>
              <a:t>confer an exclusive right to the use of the registered trademark. 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22009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5880" y="1268760"/>
            <a:ext cx="172258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Trade-Secret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1424" y="2780928"/>
            <a:ext cx="10585176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trade secret is </a:t>
            </a:r>
            <a:r>
              <a:rPr lang="en-US" dirty="0"/>
              <a:t>a confidential piece of </a:t>
            </a:r>
            <a:r>
              <a:rPr lang="en-US" dirty="0" smtClean="0"/>
              <a:t>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Secrecy</a:t>
            </a:r>
            <a:r>
              <a:rPr lang="en-US" dirty="0"/>
              <a:t>: The information is not generally known or accessible to 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Commercial value</a:t>
            </a:r>
            <a:r>
              <a:rPr lang="en-US" dirty="0"/>
              <a:t>: The information gives the business an economic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Reasonable efforts</a:t>
            </a:r>
            <a:r>
              <a:rPr lang="en-US" dirty="0"/>
              <a:t>: The business takes steps to keep the information </a:t>
            </a:r>
            <a:r>
              <a:rPr lang="en-US" dirty="0" smtClean="0"/>
              <a:t>secret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4278927"/>
            <a:ext cx="3960439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7933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672" y="908720"/>
            <a:ext cx="568863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Geographical Indication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2496" b="9406"/>
          <a:stretch/>
        </p:blipFill>
        <p:spPr>
          <a:xfrm>
            <a:off x="4547828" y="2492896"/>
            <a:ext cx="2880320" cy="23042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3432" y="1700808"/>
            <a:ext cx="1008112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geographical indication (GI) is a name or sign that identifies a product's geographical </a:t>
            </a:r>
            <a:r>
              <a:rPr lang="en-US" dirty="0" smtClean="0"/>
              <a:t>origin.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GIs </a:t>
            </a:r>
            <a:r>
              <a:rPr lang="en-US" dirty="0"/>
              <a:t>are used to certify that products are made in a specific place using traditional </a:t>
            </a:r>
            <a:r>
              <a:rPr lang="en-US" dirty="0" smtClean="0"/>
              <a:t>methods.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332148" y="4761332"/>
            <a:ext cx="5838137" cy="1655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help consumers identify quality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help producers market their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GIs prevent other people from using popular product names.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7438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1784" y="764704"/>
            <a:ext cx="36724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2400" b="1" dirty="0"/>
              <a:t>Design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7488" y="1772816"/>
            <a:ext cx="9937104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It protects </a:t>
            </a:r>
            <a:r>
              <a:rPr lang="en-US" dirty="0"/>
              <a:t>the visual appearance of a product or part of it. </a:t>
            </a:r>
            <a:endParaRPr lang="en-US" dirty="0" smtClean="0"/>
          </a:p>
          <a:p>
            <a:r>
              <a:rPr lang="en-US" dirty="0" smtClean="0"/>
              <a:t>Design </a:t>
            </a:r>
            <a:r>
              <a:rPr lang="en-US" dirty="0"/>
              <a:t>rights protect the unique look of a product, including its shape, color, pattern, texture, and materials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047" y="3429000"/>
            <a:ext cx="2139881" cy="21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612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7888" y="1196752"/>
            <a:ext cx="1924564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sz="2400" b="1" dirty="0" smtClean="0"/>
              <a:t>Plant </a:t>
            </a:r>
            <a:r>
              <a:rPr lang="en-US" sz="2400" b="1" dirty="0"/>
              <a:t>varieties</a:t>
            </a:r>
            <a:endParaRPr kumimoji="0" lang="en-IN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520" y="2420888"/>
            <a:ext cx="92170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 smtClean="0"/>
              <a:t>“PVRs </a:t>
            </a:r>
            <a:r>
              <a:rPr lang="en-US" dirty="0"/>
              <a:t>protect breeders from unauthorized reproduction, production, marketing, selling, importing, and exporting of their plant varieties</a:t>
            </a:r>
            <a:r>
              <a:rPr lang="en-US" dirty="0" smtClean="0"/>
              <a:t>.</a:t>
            </a:r>
            <a:r>
              <a:rPr lang="en-IN" dirty="0" smtClean="0"/>
              <a:t>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64" y="4005064"/>
            <a:ext cx="2615411" cy="1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87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9656" y="2996952"/>
            <a:ext cx="6768752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Next Topic Copy Right Infringement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3960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