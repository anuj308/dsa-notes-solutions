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70" r:id="rId5"/>
    <p:sldId id="27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77" y="35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E36209-C9F3-F89C-4580-51F0542D7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41B6708-08FD-393D-192C-C3E581738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BE8C8D-269C-6F7F-0E50-BEA2AD52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F27082-DEC9-9125-83DF-997D6D42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78154BA-F6C2-3436-67E9-45CFD417A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4914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16C919-3551-8E65-9227-9A3E778A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174A3E-0AC2-2DBA-D68D-61AE8E63F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1A95565-FFEB-A2C4-0631-18EE8DC3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9AEAE3-96FF-CD3C-C087-BE8BD905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749E27-48EC-DD87-BAF5-FFFB9C79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0574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01EF23-73E7-82D4-97D8-F66B949E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5AF112-327F-4EFE-2356-81FFFF20E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1B5C22-5B38-CBD8-5C52-88F7CCAB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0CA7CE-72FD-39B2-0AE1-C43F42EE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6C737DE-D11F-EC2F-182E-44ED8F6B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4692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244E56-4500-9340-7916-060FB6B9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C7D95C-DFEB-1674-16D3-4EBEEE98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988482-7E18-A62E-7920-479E5C247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AF132C4-4701-03A4-0DCF-AB3AA5C7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E2CD73-0A1F-11B4-819C-A1CD6E98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A2D5EBC-306F-DCDC-67DA-994E521D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7146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BD4154-7C61-2873-35E5-773897B2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64A9E2-F1AF-5EDB-5ADC-C45963153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8C6821C-65B8-35A4-D002-F27107BCB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A921EEB-590D-8D5C-1933-A8908BDF8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3559BDA-807D-254D-10B7-92083FAEF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5DB2C96-36A0-6F2C-3270-91CAC48D2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20B2743-0B55-05E9-0434-27599944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D551FEF-37B4-6FEB-618C-AAA5F7CB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616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8044AB-663A-4889-820E-175FD83C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07E9180-826A-5D24-C62B-B20E29CF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E1319B3-DB62-3571-56FA-AE89FC40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7907509-CA73-FD20-1F61-528C1D4E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406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921F7D2-C508-B298-F768-8F3F92BA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D954FC4-02E5-9A40-5E52-4AFC3662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23EBD2E-357C-34AF-6723-04200423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4509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A6E2DF-C7F1-3FC0-896E-31BB0D080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6B54B9-EB47-89A2-3D93-6F8315E7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B83D415-0918-BB3B-0079-E8FFE6B83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58C085-86AF-1E34-5E45-7F9154F0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13B91B5-7A4D-C30E-5C1E-DB0D38F2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95E401-3009-660E-D1D4-0A2A12F5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2707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943DC0-C555-AA20-FC41-2C0713A1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13C7297-BB5C-CA0B-3E11-D06D77A76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0AE0384-FA82-BB69-A27C-0E6C5C441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3E2B63B-BEDE-5A2E-12A6-C193D53A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CBFE0ED-4AC5-682C-5C83-7ED3D230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2B4AFF-4567-7ECE-F953-344AF301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8786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51C121-276C-DB53-F108-20C39C14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B9C00E6-0930-A198-3E0F-EE44E915C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1FD9A6-C5CA-B36B-D0F6-9023650B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C8FFD9-8B78-3316-2AD7-06C73D27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DB6D9C-B7C7-AB04-7FDA-DD217433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422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07F43BD-8625-6485-8FB4-4B5918A5D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870645-0AD0-0681-8BA3-06293834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CBFFBBB-BD55-2378-30F5-2E4CA99E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D40577-2540-D616-2420-52855D2F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BAAFA3-3B7C-9BB3-600F-373FC9F4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7500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8E2FE0E-69CE-7AB1-D455-83382BF1B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7B23E80-78F9-14B6-C59F-24ECB4CD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074A3C5-D077-B471-3F6F-080B1FA9A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7DE02-F0EE-4640-8A7F-DDF2A28070D3}" type="datetimeFigureOut">
              <a:rPr lang="en-IN" smtClean="0"/>
              <a:pPr/>
              <a:t>03-03-2025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0E9AB5-831B-A9AD-8FF5-6BF9D2250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84EA81-802D-2FAB-21E7-35B84E1C4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5FCA4-BA0C-45F0-9E9A-A936E19C21A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6117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pi.i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8F38B9-D63E-E511-FB4A-154BB9921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DFB1DDE-99C1-96F5-4D1D-AE9439296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0327AC9-E917-7FD7-7261-32EE85AD4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038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E295B02-E6C5-335B-F2FA-847E57B9A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3039" r="21007" b="85375"/>
          <a:stretch/>
        </p:blipFill>
        <p:spPr>
          <a:xfrm>
            <a:off x="0" y="0"/>
            <a:ext cx="12192000" cy="379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3F6E2C3-3A89-0A33-DAC9-1FBDDD5A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02" t="28741" r="20088" b="3300"/>
          <a:stretch/>
        </p:blipFill>
        <p:spPr>
          <a:xfrm>
            <a:off x="4729018" y="3860801"/>
            <a:ext cx="3011055" cy="2697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FF65705A-652E-5BFB-550B-EC6DDC04FC9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29018" y="3860802"/>
            <a:ext cx="3011055" cy="269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3470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India’s Export Promotion Schemes: STPs &amp; SEZs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Boosting Global Competitiveness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F57B4ED-165A-83FA-70E2-F68450AFB6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of STPs &amp; SEZs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Infosys, leveraging the STP model, achieved $15.4B in exports during 2022-23.</a:t>
            </a:r>
          </a:p>
          <a:p>
            <a:r>
              <a:t>• SEZs contributed to 20% of India’s total exports in the same period.</a:t>
            </a:r>
          </a:p>
          <a:p>
            <a:endParaRPr/>
          </a:p>
          <a:p>
            <a:r>
              <a:t>These figures underscore how these schemes are key drivers of global trade.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38AEE51-19DD-480F-2C56-1EC699D966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-161925"/>
            <a:ext cx="12192000" cy="6845807"/>
          </a:xfrm>
          <a:prstGeom prst="rect">
            <a:avLst/>
          </a:prstGeom>
        </p:spPr>
      </p:pic>
      <p:pic>
        <p:nvPicPr>
          <p:cNvPr id="2050" name="Picture 2" descr="TCS or Infosys: Who is better employer ...">
            <a:extLst>
              <a:ext uri="{FF2B5EF4-FFF2-40B4-BE49-F238E27FC236}">
                <a16:creationId xmlns:a16="http://schemas.microsoft.com/office/drawing/2014/main" xmlns="" id="{AF70C0D5-7BA6-4C8E-335F-BE3D695E1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557713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🔸New Industrial Park In Kakinada 🏭 🔹Kakinada SEZ Limited Is ...">
            <a:extLst>
              <a:ext uri="{FF2B5EF4-FFF2-40B4-BE49-F238E27FC236}">
                <a16:creationId xmlns:a16="http://schemas.microsoft.com/office/drawing/2014/main" xmlns="" id="{BE3684DA-B163-D501-8DF4-DC182FDFA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86377" y="4197350"/>
            <a:ext cx="1990725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pecial Economic Zones to revolutionize industrial &amp; economic ...">
            <a:extLst>
              <a:ext uri="{FF2B5EF4-FFF2-40B4-BE49-F238E27FC236}">
                <a16:creationId xmlns:a16="http://schemas.microsoft.com/office/drawing/2014/main" xmlns="" id="{A3DAB596-F207-D505-7282-EC5F96A26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70021" y="4127921"/>
            <a:ext cx="3186111" cy="243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F98CE2-8AFF-F4CE-6DDA-1370BD00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67E1A3-4E16-ACAB-F781-DFAD6F2B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STP Scheme: Digital Export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AC563B-FFDA-12AD-6EF9-4C40C06D9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b="1" i="0" dirty="0">
                <a:effectLst/>
                <a:latin typeface="Inter"/>
              </a:rPr>
              <a:t>STP Registration Flowchart</a:t>
            </a: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Start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Begin the STP registration process.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Eligibility Check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Ensure the unit qualifies for STP registration (e.g., software development, IT services, etc.).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Prepare Documents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Gather required documents: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Application form (Form A).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Project report.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Memorandum of Association (MOA) and Articles of Association (AOA).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Board resolution for STP registration.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PAN card, GST registration, and other legal documents.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Online Application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Submit the application on the STPI portal (</a:t>
            </a:r>
            <a:r>
              <a:rPr lang="en-US" b="0" i="0" u="none" strike="noStrike" dirty="0">
                <a:effectLst/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https://www.stpi.in</a:t>
            </a:r>
            <a:r>
              <a:rPr lang="en-US" b="0" i="0" dirty="0">
                <a:effectLst/>
                <a:latin typeface="Inter"/>
              </a:rPr>
              <a:t>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Application Review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STPI reviews the application and documents for completeness and accuracy.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727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87511A-063A-74F4-725A-61CE2CF5E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386EF5-D7BD-7CC9-E3FC-03AF2331B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Clarifications/Corrections (if any)</a:t>
            </a:r>
            <a:endParaRPr lang="en-US" b="0" i="0" dirty="0">
              <a:effectLst/>
              <a:latin typeface="Inter"/>
            </a:endParaRPr>
          </a:p>
          <a:p>
            <a:pPr marL="914400" lvl="1" indent="-457200" algn="l">
              <a:spcBef>
                <a:spcPts val="300"/>
              </a:spcBef>
              <a:buFont typeface="+mj-lt"/>
              <a:buAutoNum type="arabicPeriod" startAt="6"/>
            </a:pPr>
            <a:r>
              <a:rPr lang="en-US" b="0" i="0" dirty="0">
                <a:effectLst/>
                <a:latin typeface="Inter"/>
              </a:rPr>
              <a:t>If STPI requests additional information or corrections, provide the required details.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Site Inspection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STPI may conduct a site inspection of the proposed unit.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Approval/Rejection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STPI approves or rejects the application based on the review and inspection.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Approval Granted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If approved, the unit receives an STP registration certificate.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Commence Operations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Start operations under the STP scheme and avail benefits (e.g., tax exemptions, customs duty benefits).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Compliance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Submit monthly/quarterly/annual returns and reports to STPI as required.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6"/>
            </a:pPr>
            <a:r>
              <a:rPr lang="en-US" b="1" i="0" dirty="0">
                <a:effectLst/>
                <a:latin typeface="Inter"/>
              </a:rPr>
              <a:t>End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Process complete.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1018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2A2527-F43D-7344-0438-35E8D26A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D9A081-14A5-2900-86A7-7B825938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STP Scheme: Digital Export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5A2096-F263-B738-1177-91049827F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Since its inception in 1991 by the Ministry of Electronics &amp; IT, the STP scheme has transformed India's export landscape.</a:t>
            </a:r>
          </a:p>
          <a:p>
            <a:endParaRPr/>
          </a:p>
          <a:p>
            <a:r>
              <a:t>Key Features:</a:t>
            </a:r>
          </a:p>
          <a:p>
            <a:r>
              <a:t>• Tax holidays and a streamlined single-window clearance process</a:t>
            </a:r>
          </a:p>
          <a:p>
            <a:r>
              <a:t>• 100% FDI allowed in IT/ITES sectors</a:t>
            </a:r>
          </a:p>
          <a:p>
            <a:r>
              <a:t>• Over 600 registered units as of 2023</a:t>
            </a:r>
          </a:p>
          <a:p>
            <a:r>
              <a:t>• Focus on software development, R&amp;D, and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4FAB757-9E75-CC55-B830-85EC0D147E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8431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STPs? Key Incentives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STPs offer a suite of attractive benefits that have made them a cornerstone of India's export strategy:</a:t>
            </a:r>
          </a:p>
          <a:p>
            <a:endParaRPr/>
          </a:p>
          <a:p>
            <a:r>
              <a:t>• 10-year income tax exemption</a:t>
            </a:r>
          </a:p>
          <a:p>
            <a:r>
              <a:t>• Duty-free imports for advanced technology</a:t>
            </a:r>
          </a:p>
          <a:p>
            <a:r>
              <a:t>• Simplified compliance procedures</a:t>
            </a:r>
          </a:p>
          <a:p>
            <a:r>
              <a:t>• Robust cloud infrastructure support</a:t>
            </a:r>
          </a:p>
          <a:p>
            <a:r>
              <a:t>• Enhanced export revenue retention (contributing ~45% to IT exports)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F0609A1-C86D-241E-3037-D23EF7427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SEZ Scheme: Trade &amp; Investment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Launched in 2005 under the SEZ Act, Special Economic Zones have emerged as pivotal trade and investment hubs.</a:t>
            </a:r>
          </a:p>
          <a:p>
            <a:endParaRPr/>
          </a:p>
          <a:p>
            <a:r>
              <a:t>Highlights:</a:t>
            </a:r>
          </a:p>
          <a:p>
            <a:r>
              <a:t>• Over 270 operational SEZs as of 2023</a:t>
            </a:r>
          </a:p>
          <a:p>
            <a:r>
              <a:t>• Significant tax breaks and GST exemptions</a:t>
            </a:r>
          </a:p>
          <a:p>
            <a:r>
              <a:t>• Boost to export-oriented manufacturing and services</a:t>
            </a:r>
          </a:p>
          <a:p>
            <a:r>
              <a:t>• Strategic clusters in states like Gujarat and Tamil Nadu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6EBFDD6-A3F2-2933-29D8-2DCEEAB8F2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SEZ Advantages for Exporters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SEZs offer compelling advantages to exporters, including:</a:t>
            </a:r>
          </a:p>
          <a:p>
            <a:endParaRPr/>
          </a:p>
          <a:p>
            <a:r>
              <a:t>• A 15-year corporate tax holiday</a:t>
            </a:r>
          </a:p>
          <a:p>
            <a:r>
              <a:t>• Duty-free import and export privileges</a:t>
            </a:r>
          </a:p>
          <a:p>
            <a:r>
              <a:t>• An FDI framework that requires no additional licensing</a:t>
            </a:r>
          </a:p>
          <a:p>
            <a:r>
              <a:t>• Simplified labor laws</a:t>
            </a:r>
          </a:p>
          <a:p>
            <a:endParaRPr/>
          </a:p>
          <a:p>
            <a:r>
              <a:t>In 2022-23, SEZ exports reached an impressive ₹7.5 lakh crore.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DE25211-3AAD-88E3-343D-7AF146E949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Differences: STP vs. SEZ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side-by-side comparison of the two schemes:</a:t>
            </a:r>
          </a:p>
          <a:p>
            <a:endParaRPr/>
          </a:p>
          <a:p>
            <a:r>
              <a:t>• **Sector Focus:** STPs specialize in IT/Software, while SEZs cater to multiple sectors.</a:t>
            </a:r>
          </a:p>
          <a:p>
            <a:r>
              <a:t>• **Tax Holiday:** STPs provide a 10-year benefit, compared to 15 years for SEZs.</a:t>
            </a:r>
          </a:p>
          <a:p>
            <a:r>
              <a:t>• **Location:** STPs are typically situated in dedicated parks, whereas SEZs span larger geographic zones.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DC0004E-3796-FFE5-24E2-A83AB9DAA1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Driving Growth &amp; 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Together, STPs and SEZs have fueled significant economic growth:</a:t>
            </a:r>
          </a:p>
          <a:p>
            <a:endParaRPr/>
          </a:p>
          <a:p>
            <a:r>
              <a:t>• STPs have generated approximately 4.5 million jobs in the IT sector.</a:t>
            </a:r>
          </a:p>
          <a:p>
            <a:r>
              <a:t>• SEZs have created over 2 million direct jobs as of 2023.</a:t>
            </a:r>
          </a:p>
          <a:p>
            <a:r>
              <a:t>• Combined, these initiatives support exports valued at around ₹20 lakh crore.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B24CDF1-9965-592D-3BCC-C34E6728A4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summary, STPs and SEZs are foundational pillars of India's export growth and economic progress.</a:t>
            </a:r>
          </a:p>
          <a:p>
            <a:endParaRPr/>
          </a:p>
          <a:p>
            <a:r>
              <a:t>They provide a robust platform for future initiatives such as 'Make in India' and support for startups.</a:t>
            </a:r>
          </a:p>
          <a:p>
            <a:endParaRPr/>
          </a:p>
          <a:p>
            <a:r>
              <a:t>Call to Action:</a:t>
            </a:r>
          </a:p>
          <a:p>
            <a:r>
              <a:t>• Explore case studies (e.g., Wipro's success within an STP).</a:t>
            </a:r>
          </a:p>
          <a:p>
            <a:r>
              <a:t>• Stay updated on forthcoming policy changes in 2024.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DFC393A-B4CF-6425-CA0B-B75DB682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STPI Annual Report (2022-23)</a:t>
            </a:r>
          </a:p>
          <a:p>
            <a:r>
              <a:t>• SEZ India Portal (2023)</a:t>
            </a:r>
          </a:p>
          <a:p>
            <a:r>
              <a:t>• Ministry of Commerce &amp; Industry</a:t>
            </a:r>
          </a:p>
          <a:p>
            <a:endParaRPr/>
          </a:p>
          <a:p>
            <a:r>
              <a:t>Visual Suggestion: Include government logos (STPI, SEZ, MeitY) to reinforce credibility.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BD98664-D890-ED97-180B-1BF71C4D04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729</Words>
  <Application>Microsoft Office PowerPoint</Application>
  <PresentationFormat>Custom</PresentationFormat>
  <Paragraphs>97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India’s Export Promotion Schemes: STPs &amp; SEZs</vt:lpstr>
      <vt:lpstr>Real-World Impact of STPs &amp; SEZs</vt:lpstr>
      <vt:lpstr>STP Scheme: Digital Export Engine</vt:lpstr>
      <vt:lpstr>Slide 5</vt:lpstr>
      <vt:lpstr>STP Scheme: Digital Export Engine</vt:lpstr>
      <vt:lpstr>Why STPs? Key Incentives</vt:lpstr>
      <vt:lpstr>SEZ Scheme: Trade &amp; Investment Hubs</vt:lpstr>
      <vt:lpstr>SEZ Advantages for Exporters</vt:lpstr>
      <vt:lpstr>Key Differences: STP vs. SEZ</vt:lpstr>
      <vt:lpstr>Driving Growth &amp; Employment</vt:lpstr>
      <vt:lpstr>Summary &amp; Next Steps</vt:lpstr>
      <vt:lpstr>Data 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Tarun Jangwal</dc:creator>
  <cp:lastModifiedBy>Admin</cp:lastModifiedBy>
  <cp:revision>3</cp:revision>
  <dcterms:created xsi:type="dcterms:W3CDTF">2025-02-24T16:06:51Z</dcterms:created>
  <dcterms:modified xsi:type="dcterms:W3CDTF">2025-03-03T08:09:18Z</dcterms:modified>
</cp:coreProperties>
</file>