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7"/>
  </p:notesMasterIdLst>
  <p:handoutMasterIdLst>
    <p:handoutMasterId r:id="rId18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2" r:id="rId15"/>
    <p:sldId id="331" r:id="rId16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71" autoAdjust="0"/>
  </p:normalViewPr>
  <p:slideViewPr>
    <p:cSldViewPr>
      <p:cViewPr varScale="1">
        <p:scale>
          <a:sx n="56" d="100"/>
          <a:sy n="56" d="100"/>
        </p:scale>
        <p:origin x="153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ndupmitra.i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dbi.in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Unit3:- Government Funding and startup schemes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B31A-62E3-6B6B-846E-15BA3A5D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2849880"/>
          </a:xfrm>
        </p:spPr>
        <p:txBody>
          <a:bodyPr/>
          <a:lstStyle/>
          <a:p>
            <a:r>
              <a:rPr lang="en-IN" b="1" dirty="0"/>
              <a:t>What are startups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2A9194-ADBB-824C-054A-C2DF3DE51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83656"/>
            <a:ext cx="82296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Startups often operate with limited resources and rely on funding from investors, venture capitalists, or crowdfunding.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They typically focus on rapid growth and scalability to achieve success in a competitive market.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Many startups begin as small teams and evolve into larger companies if they succeed.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While some startups achieve great success, many face challenges and risks that can lead to failure.  </a:t>
            </a:r>
          </a:p>
        </p:txBody>
      </p:sp>
    </p:spTree>
    <p:extLst>
      <p:ext uri="{BB962C8B-B14F-4D97-AF65-F5344CB8AC3E}">
        <p14:creationId xmlns:p14="http://schemas.microsoft.com/office/powerpoint/2010/main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India (DPIIT - Startup India)</a:t>
            </a:r>
            <a:br>
              <a:rPr lang="en-US" sz="44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3EED-9076-67C6-E405-719DC5DAF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Department for Promotion of Industry and Internal Trade (DPIIT)</a:t>
            </a:r>
            <a:r>
              <a:rPr lang="en-US" sz="2800" dirty="0"/>
              <a:t> defines a startup as: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 company that has been in existence for </a:t>
            </a:r>
            <a:r>
              <a:rPr lang="en-US" sz="2800" b="1" dirty="0"/>
              <a:t>less than 10 years</a:t>
            </a:r>
            <a:r>
              <a:rPr lang="en-US" sz="2800" dirty="0"/>
              <a:t> from its date of incorporation.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Its annual turnover does not exceed </a:t>
            </a:r>
            <a:r>
              <a:rPr lang="en-US" sz="2800" b="1" dirty="0"/>
              <a:t>INR 100 crore</a:t>
            </a:r>
            <a:r>
              <a:rPr lang="en-US" sz="2800" dirty="0"/>
              <a:t> in any financial year.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is working towards </a:t>
            </a:r>
            <a:r>
              <a:rPr lang="en-US" sz="2800" b="1" dirty="0"/>
              <a:t>innovation, development, or improvement of products, processes, or services</a:t>
            </a:r>
            <a:r>
              <a:rPr lang="en-US" sz="2800" dirty="0"/>
              <a:t> or has a </a:t>
            </a:r>
            <a:r>
              <a:rPr lang="en-US" sz="2800" b="1" dirty="0"/>
              <a:t>scalable business model</a:t>
            </a:r>
            <a:r>
              <a:rPr lang="en-US" sz="2800" dirty="0"/>
              <a:t> with high potential for employment and wealth creation.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should </a:t>
            </a:r>
            <a:r>
              <a:rPr lang="en-US" sz="2800" b="1" dirty="0"/>
              <a:t>not be formed by splitting or reconstructing an existing business</a:t>
            </a:r>
            <a:r>
              <a:rPr lang="en-US" sz="2800" dirty="0"/>
              <a:t>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1152128"/>
          </a:xfrm>
        </p:spPr>
        <p:txBody>
          <a:bodyPr/>
          <a:lstStyle/>
          <a:p>
            <a:r>
              <a:rPr lang="en-US" b="1" dirty="0"/>
              <a:t>Government Startup Schemes in India &amp; Worldwide( Resources)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US" b="1" dirty="0"/>
              <a:t>🇮🇳 India (Startup India &amp; Other Schemes)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Startup India Initiative</a:t>
            </a:r>
            <a:r>
              <a:rPr lang="en-US" dirty="0"/>
              <a:t> – Provides tax exemptions, funding support, and ease of business registration.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MUDRA Loan Scheme</a:t>
            </a:r>
            <a:r>
              <a:rPr lang="en-US" dirty="0"/>
              <a:t> – Offers collateral-free loans up to ₹10 lakh for small startups.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Stand-Up India</a:t>
            </a:r>
            <a:r>
              <a:rPr lang="en-US" dirty="0"/>
              <a:t> – Supports SC/ST and women entrepreneurs with loans between ₹10 lakh – ₹1 crore.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4. SIDBI Fund of Funds</a:t>
            </a:r>
            <a:r>
              <a:rPr lang="en-US" sz="2800" dirty="0"/>
              <a:t> – ₹10,000 crore fund to invest in startups through venture capital firms.</a:t>
            </a:r>
          </a:p>
          <a:p>
            <a:pPr marL="0" indent="0" algn="just">
              <a:buNone/>
            </a:pPr>
            <a:r>
              <a:rPr lang="en-US" sz="2800" b="1" dirty="0"/>
              <a:t>5. Atal Innovation Mission (AIM)</a:t>
            </a:r>
            <a:r>
              <a:rPr lang="en-US" sz="2800" dirty="0"/>
              <a:t> – Supports innovation and incubation centers in schools &amp; universities.</a:t>
            </a:r>
          </a:p>
          <a:p>
            <a:pPr marL="0" indent="0" algn="just">
              <a:buNone/>
            </a:pPr>
            <a:r>
              <a:rPr lang="en-US" sz="2800" b="1" dirty="0"/>
              <a:t>6. E-Marketplace</a:t>
            </a:r>
            <a:r>
              <a:rPr lang="en-US" sz="2800" dirty="0"/>
              <a:t> – Allows startups to sell products/services to the government easily.</a:t>
            </a:r>
          </a:p>
          <a:p>
            <a:pPr marL="0" indent="0" algn="just">
              <a:buNone/>
            </a:pPr>
            <a:r>
              <a:rPr lang="en-US" sz="2800" b="1" dirty="0"/>
              <a:t>7. SEED Fund Scheme</a:t>
            </a:r>
            <a:r>
              <a:rPr lang="en-US" sz="2800" dirty="0"/>
              <a:t> – Provides financial assistance of up to ₹50 lakh for early-stage startups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1. Tax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Tax Holiday for 3 Years</a:t>
            </a:r>
            <a:r>
              <a:rPr lang="en-US" sz="2800" dirty="0"/>
              <a:t> – Startups registered under </a:t>
            </a:r>
            <a:r>
              <a:rPr lang="en-US" sz="2800" b="1" dirty="0"/>
              <a:t>DPIIT</a:t>
            </a:r>
            <a:r>
              <a:rPr lang="en-US" sz="2800" dirty="0"/>
              <a:t> (Department for Promotion of Industry and Internal Trade) get a </a:t>
            </a:r>
            <a:r>
              <a:rPr lang="en-US" sz="2800" b="1" dirty="0"/>
              <a:t>100% tax exemption</a:t>
            </a:r>
            <a:r>
              <a:rPr lang="en-US" sz="2800" dirty="0"/>
              <a:t> for the first </a:t>
            </a:r>
            <a:r>
              <a:rPr lang="en-US" sz="2800" b="1" dirty="0"/>
              <a:t>3 consecutive years</a:t>
            </a:r>
            <a:r>
              <a:rPr lang="en-US" sz="2800" dirty="0"/>
              <a:t> (under Section 80-IAC of the Income Tax 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Exemption from Tax</a:t>
            </a:r>
            <a:r>
              <a:rPr lang="en-US" sz="2800" dirty="0"/>
              <a:t> – Startups are exempt from the </a:t>
            </a:r>
            <a:r>
              <a:rPr lang="en-US" sz="2800" b="1" dirty="0"/>
              <a:t>Tax</a:t>
            </a:r>
            <a:r>
              <a:rPr lang="en-US" sz="2800" dirty="0"/>
              <a:t> (Section 56(2)(</a:t>
            </a:r>
            <a:r>
              <a:rPr lang="en-US" sz="2800" dirty="0" err="1"/>
              <a:t>viib</a:t>
            </a:r>
            <a:r>
              <a:rPr lang="en-US" sz="2800" dirty="0"/>
              <a:t>)) on investments received from investors.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Capital Gains Tax Exemption</a:t>
            </a:r>
            <a:r>
              <a:rPr lang="en-US" sz="2800" dirty="0"/>
              <a:t> – Startups can claim </a:t>
            </a:r>
            <a:r>
              <a:rPr lang="en-US" sz="2800" b="1" dirty="0"/>
              <a:t>exemptions on long-term capital gains</a:t>
            </a:r>
            <a:r>
              <a:rPr lang="en-US" sz="2800" dirty="0"/>
              <a:t> if the amount is reinvested in a fund approved by the government.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61653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2. Easy Compliance &amp; Self-Certification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self-certify</a:t>
            </a:r>
            <a:r>
              <a:rPr lang="en-US" sz="2800" dirty="0"/>
              <a:t> compliance for </a:t>
            </a:r>
            <a:r>
              <a:rPr lang="en-US" sz="2800" b="1" dirty="0"/>
              <a:t>9 labor and environmental laws</a:t>
            </a:r>
            <a:r>
              <a:rPr lang="en-US" sz="2800" dirty="0"/>
              <a:t>, reducing the regulatory burden.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Fewer inspections in the initial years.</a:t>
            </a:r>
          </a:p>
          <a:p>
            <a:pPr marL="0" indent="0" algn="just">
              <a:buNone/>
            </a:pPr>
            <a:r>
              <a:rPr lang="en-US" sz="2800" b="1" dirty="0"/>
              <a:t>3. Simplified Company Registration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register online</a:t>
            </a:r>
            <a:r>
              <a:rPr lang="en-US" sz="2800" dirty="0"/>
              <a:t> via the </a:t>
            </a:r>
            <a:r>
              <a:rPr lang="en-US" sz="2800" b="1" dirty="0"/>
              <a:t>Startup India Portal</a:t>
            </a:r>
            <a:r>
              <a:rPr lang="en-US" sz="2800" dirty="0"/>
              <a:t> with minimal documentation.</a:t>
            </a:r>
          </a:p>
          <a:p>
            <a:pPr marL="0" indent="0" algn="just">
              <a:buNone/>
            </a:pPr>
            <a:r>
              <a:rPr lang="en-US" sz="2800" b="1" dirty="0"/>
              <a:t>4. Funding Support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Fund of Funds for Startups (FFS)</a:t>
            </a:r>
            <a:r>
              <a:rPr lang="en-US" sz="2800" dirty="0"/>
              <a:t> – ₹10,000 crore fund managed by </a:t>
            </a:r>
            <a:r>
              <a:rPr lang="en-US" sz="2800" b="1" dirty="0"/>
              <a:t>SIDBI</a:t>
            </a:r>
            <a:r>
              <a:rPr lang="en-US" sz="2800" dirty="0"/>
              <a:t> to support venture capital firms investing in startups.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Credit Guarantee Scheme</a:t>
            </a:r>
            <a:r>
              <a:rPr lang="en-US" sz="2800" dirty="0"/>
              <a:t> – Provides collateral-free loans to startups.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507288" cy="5904656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5. Fast-Track Patent &amp; IPR Protection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Startups get </a:t>
            </a:r>
            <a:r>
              <a:rPr lang="en-US" b="1" dirty="0"/>
              <a:t>80% rebate</a:t>
            </a:r>
            <a:r>
              <a:rPr lang="en-US" dirty="0"/>
              <a:t> on patent filing fees and </a:t>
            </a:r>
            <a:r>
              <a:rPr lang="en-US" b="1" dirty="0"/>
              <a:t>50% rebate</a:t>
            </a:r>
            <a:r>
              <a:rPr lang="en-US" dirty="0"/>
              <a:t> on trademark fees.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Fast-track patent examination</a:t>
            </a:r>
            <a:r>
              <a:rPr lang="en-US" dirty="0"/>
              <a:t> and </a:t>
            </a:r>
            <a:r>
              <a:rPr lang="en-US" b="1" dirty="0"/>
              <a:t>free legal assistance</a:t>
            </a:r>
            <a:r>
              <a:rPr lang="en-US" dirty="0"/>
              <a:t> for intellectual property rights.</a:t>
            </a:r>
          </a:p>
          <a:p>
            <a:pPr marL="0" indent="0" algn="just">
              <a:buNone/>
            </a:pPr>
            <a:r>
              <a:rPr lang="en-US" b="1" dirty="0"/>
              <a:t>6. Government Tenders &amp; Procurement Benefits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Startups </a:t>
            </a:r>
            <a:r>
              <a:rPr lang="en-US" b="1" dirty="0"/>
              <a:t>do not need prior experience</a:t>
            </a:r>
            <a:r>
              <a:rPr lang="en-US" dirty="0"/>
              <a:t> to apply for </a:t>
            </a:r>
            <a:r>
              <a:rPr lang="en-US" b="1" dirty="0"/>
              <a:t>government tenders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They get </a:t>
            </a:r>
            <a:r>
              <a:rPr lang="en-US" b="1" dirty="0"/>
              <a:t>priority in public procurement</a:t>
            </a:r>
            <a:r>
              <a:rPr lang="en-US" dirty="0"/>
              <a:t> from PSUs and government departments.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7. Incubation &amp; Networking Opportunities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Startup India Hub</a:t>
            </a:r>
            <a:r>
              <a:rPr lang="en-US" sz="2800" dirty="0"/>
              <a:t> connects entrepreneurs with mentors, investors, and incubators.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Access to </a:t>
            </a:r>
            <a:r>
              <a:rPr lang="en-US" sz="2800" b="1" dirty="0"/>
              <a:t>Atal Incubation Centers (AICs)</a:t>
            </a:r>
            <a:r>
              <a:rPr lang="en-US" sz="2800" dirty="0"/>
              <a:t> and </a:t>
            </a:r>
            <a:r>
              <a:rPr lang="en-US" sz="2800" b="1" dirty="0"/>
              <a:t>Startup Accelerators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r>
              <a:rPr lang="en-US" sz="2800" b="1" dirty="0"/>
              <a:t>8. Easier Exit for Startups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wind up within 90 days</a:t>
            </a:r>
            <a:r>
              <a:rPr lang="en-US" sz="2800" dirty="0"/>
              <a:t> under the </a:t>
            </a:r>
            <a:r>
              <a:rPr lang="en-US" sz="2800" b="1" dirty="0"/>
              <a:t>Insolvency and Bankruptcy Code, 2016</a:t>
            </a:r>
            <a:r>
              <a:rPr lang="en-US" sz="2800" dirty="0"/>
              <a:t> instead of the usual 180 days.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C369-3EA4-F90A-FB11-1C4AFC1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Loan for Startup Business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1. MUDRA Loan (Pradhan Mantri MUDRA Yojana - PMMY)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b="1" dirty="0"/>
              <a:t>Loan Amount</a:t>
            </a:r>
            <a:r>
              <a:rPr lang="en-IN" sz="2400" dirty="0"/>
              <a:t>: Up to </a:t>
            </a:r>
            <a:r>
              <a:rPr lang="en-IN" sz="2400" b="1" dirty="0"/>
              <a:t>₹10 lakh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Eligibility</a:t>
            </a:r>
            <a:r>
              <a:rPr lang="en-IN" sz="2400" dirty="0"/>
              <a:t>: Startups, MSMEs, and small businesses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Types of Loans</a:t>
            </a:r>
            <a:r>
              <a:rPr lang="en-I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err="1"/>
              <a:t>Shishu</a:t>
            </a:r>
            <a:r>
              <a:rPr lang="en-IN" sz="2400" dirty="0"/>
              <a:t>: Up to ₹50,000 (For new businesses)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Kishor</a:t>
            </a:r>
            <a:r>
              <a:rPr lang="en-IN" sz="2400" dirty="0"/>
              <a:t>: ₹50,000 to ₹5 lakh (For growing businesses)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Tarun</a:t>
            </a:r>
            <a:r>
              <a:rPr lang="en-IN" sz="2400" dirty="0"/>
              <a:t>: ₹5 lakh to ₹10 lakh (For established businesses)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Collateral</a:t>
            </a:r>
            <a:r>
              <a:rPr lang="en-IN" sz="2400" dirty="0"/>
              <a:t>: </a:t>
            </a:r>
            <a:r>
              <a:rPr lang="en-IN" sz="2400" b="1" dirty="0"/>
              <a:t>No collateral required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Interest Rate</a:t>
            </a:r>
            <a:r>
              <a:rPr lang="en-IN" sz="2400" dirty="0"/>
              <a:t>: 8% to 12% (varies by bank)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Where to Apply</a:t>
            </a:r>
            <a:r>
              <a:rPr lang="en-IN" sz="2400" dirty="0"/>
              <a:t>: Public and private sector banks, NBFCs, microfinance institutions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9010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63367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2. Stand-Up India Scheme </a:t>
            </a:r>
            <a:r>
              <a:rPr lang="en-US" sz="2800" b="1" i="1" dirty="0"/>
              <a:t>(For Women &amp; SC/ST Entrepreneurs)</a:t>
            </a:r>
            <a:endParaRPr lang="en-US" sz="2800" b="1" dirty="0"/>
          </a:p>
          <a:p>
            <a:pPr algn="just"/>
            <a:r>
              <a:rPr lang="en-US" sz="2800" dirty="0"/>
              <a:t>✅ </a:t>
            </a:r>
            <a:r>
              <a:rPr lang="en-US" sz="2800" b="1" dirty="0"/>
              <a:t>Loan Amount</a:t>
            </a:r>
            <a:r>
              <a:rPr lang="en-US" sz="2800" dirty="0"/>
              <a:t>: ₹10 lakh to </a:t>
            </a:r>
            <a:r>
              <a:rPr lang="en-US" sz="2800" b="1" dirty="0"/>
              <a:t>₹1 crore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Eligibility</a:t>
            </a:r>
            <a:r>
              <a:rPr lang="en-US" sz="2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At least </a:t>
            </a:r>
            <a:r>
              <a:rPr lang="en-US" sz="2800" b="1" dirty="0"/>
              <a:t>51% ownership</a:t>
            </a:r>
            <a:r>
              <a:rPr lang="en-US" sz="2800" dirty="0"/>
              <a:t> by SC/ST or women entrepreneurs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Business must be in </a:t>
            </a:r>
            <a:r>
              <a:rPr lang="en-US" sz="2800" b="1" dirty="0"/>
              <a:t>manufacturing, services, trading, or agriculture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Interest Rate</a:t>
            </a:r>
            <a:r>
              <a:rPr lang="en-US" sz="2800" dirty="0"/>
              <a:t>: Bank-dependent, competitive rates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Where to Apply</a:t>
            </a:r>
            <a:r>
              <a:rPr lang="en-US" sz="2800" dirty="0"/>
              <a:t>: Banks and online via </a:t>
            </a:r>
            <a:r>
              <a:rPr lang="en-US" sz="2800" b="1" dirty="0">
                <a:hlinkClick r:id="rId2"/>
              </a:rPr>
              <a:t>www.standupmitra.in</a:t>
            </a:r>
            <a:endParaRPr lang="en-US" sz="2800" dirty="0"/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11493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3. Credit Guarantee Fund Trust for Micro and Small Enterprises (CGTMSE)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Loan Amount</a:t>
            </a:r>
            <a:r>
              <a:rPr lang="en-US" sz="2800" dirty="0"/>
              <a:t>: Up to </a:t>
            </a:r>
            <a:r>
              <a:rPr lang="en-US" sz="2800" b="1" dirty="0"/>
              <a:t>₹2 crore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Eligibility</a:t>
            </a:r>
            <a:r>
              <a:rPr lang="en-US" sz="2800" dirty="0"/>
              <a:t>: Startups &amp; MSMEs in </a:t>
            </a:r>
            <a:r>
              <a:rPr lang="en-US" sz="2800" b="1" dirty="0"/>
              <a:t>manufacturing, service, and retail sectors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Collateral</a:t>
            </a:r>
            <a:r>
              <a:rPr lang="en-US" sz="2800" dirty="0"/>
              <a:t>: </a:t>
            </a:r>
            <a:r>
              <a:rPr lang="en-US" sz="2800" b="1" dirty="0"/>
              <a:t>Collateral-free</a:t>
            </a:r>
            <a:r>
              <a:rPr lang="en-US" sz="2800" dirty="0"/>
              <a:t> for loans up to ₹2 crore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Interest Rate</a:t>
            </a:r>
            <a:r>
              <a:rPr lang="en-US" sz="2800" dirty="0"/>
              <a:t>: 9% to 14% (bank-dependent)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Where to Apply</a:t>
            </a:r>
            <a:r>
              <a:rPr lang="en-US" sz="2800" dirty="0"/>
              <a:t>: Public/private banks, NBFCs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0036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766F-50C5-A7A2-25C2-792EACFA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28413-4141-B18F-3177-D535F395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b="1" dirty="0"/>
              <a:t>4. SIDBI Startup Loan </a:t>
            </a:r>
            <a:r>
              <a:rPr lang="en-US" b="1" i="1" dirty="0"/>
              <a:t>(Small Industries Development Bank of India)</a:t>
            </a:r>
            <a:endParaRPr lang="en-US" b="1" dirty="0"/>
          </a:p>
          <a:p>
            <a:r>
              <a:rPr lang="en-US" dirty="0"/>
              <a:t>✅ </a:t>
            </a:r>
            <a:r>
              <a:rPr lang="en-US" b="1" dirty="0"/>
              <a:t>Loan Amount</a:t>
            </a:r>
            <a:r>
              <a:rPr lang="en-US" dirty="0"/>
              <a:t>: ₹10 lakh to </a:t>
            </a:r>
            <a:r>
              <a:rPr lang="en-US" b="1" dirty="0"/>
              <a:t>₹10 crore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Eligibility</a:t>
            </a:r>
            <a:r>
              <a:rPr lang="en-US" dirty="0"/>
              <a:t>: Startups in innovation, technology, and MSME sectors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Collateral</a:t>
            </a:r>
            <a:r>
              <a:rPr lang="en-US" dirty="0"/>
              <a:t>: Depends on the loan amount &amp; business plan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Interest Rate</a:t>
            </a:r>
            <a:r>
              <a:rPr lang="en-US" dirty="0"/>
              <a:t>: 9.5% onwards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Where to Apply</a:t>
            </a:r>
            <a:r>
              <a:rPr lang="en-US" dirty="0"/>
              <a:t>: </a:t>
            </a:r>
            <a:r>
              <a:rPr lang="en-US" b="1" dirty="0">
                <a:hlinkClick r:id="rId2"/>
              </a:rPr>
              <a:t>www.sidbi.in</a:t>
            </a:r>
            <a:r>
              <a:rPr lang="en-US" dirty="0"/>
              <a:t> or partner banks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114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34F1-5C47-E20A-CE73-23868303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2A6F-D27F-B65B-630E-A4BA9DEE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Bank-Specific Startup Loans</a:t>
            </a:r>
          </a:p>
          <a:p>
            <a:r>
              <a:rPr lang="en-US" dirty="0"/>
              <a:t>Many banks offer </a:t>
            </a:r>
            <a:r>
              <a:rPr lang="en-US" b="1" dirty="0"/>
              <a:t>customized startup loans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SBI Startup Loan</a:t>
            </a:r>
            <a:r>
              <a:rPr lang="en-US" dirty="0"/>
              <a:t> – Business loans for MSMEs and startups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HDFC Bank Business Growth Loan</a:t>
            </a:r>
            <a:r>
              <a:rPr lang="en-US" dirty="0"/>
              <a:t> – Unsecured loans for startups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ICICI Bank Business Loan</a:t>
            </a:r>
            <a:r>
              <a:rPr lang="en-US" dirty="0"/>
              <a:t> – Loans for working capital and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Axis Bank Business Loan</a:t>
            </a:r>
            <a:r>
              <a:rPr lang="en-US" dirty="0"/>
              <a:t> – Quick approval loans for small businesses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291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08D0-4649-1CBA-C934-B70EFDD1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604448" cy="144016"/>
          </a:xfrm>
        </p:spPr>
        <p:txBody>
          <a:bodyPr/>
          <a:lstStyle/>
          <a:p>
            <a:r>
              <a:rPr lang="en-US" b="1" dirty="0"/>
              <a:t>How to Apply for a Startup loan?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CD6E1-02EA-F14E-CBA0-E5EB6C4B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616624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Prepare Documents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Business plan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Financial projections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GST registration, PAN, Aadhaar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Bank statements (last 6 months)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Choose a Loan Scheme</a:t>
            </a:r>
            <a:r>
              <a:rPr lang="en-US" dirty="0"/>
              <a:t> (MUDRA, Stand-Up India, CGTMSE, etc.)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Apply Online or Visit a Bank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Submit Documents &amp; Get Approval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1819</TotalTime>
  <Words>1117</Words>
  <Application>Microsoft Office PowerPoint</Application>
  <PresentationFormat>On-screen Show (4:3)</PresentationFormat>
  <Paragraphs>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Narrow</vt:lpstr>
      <vt:lpstr>Broadway</vt:lpstr>
      <vt:lpstr>Calibri</vt:lpstr>
      <vt:lpstr>Times New Roman</vt:lpstr>
      <vt:lpstr>Office Theme</vt:lpstr>
      <vt:lpstr>CSE332</vt:lpstr>
      <vt:lpstr>What are startups</vt:lpstr>
      <vt:lpstr>India (DPIIT - Startup India) </vt:lpstr>
      <vt:lpstr>Government Startup Schemes in India &amp; Worldwide( Resources) </vt:lpstr>
      <vt:lpstr>Continue..</vt:lpstr>
      <vt:lpstr>Benefits of Startup India Scheme</vt:lpstr>
      <vt:lpstr>Benefits of Startup India Scheme</vt:lpstr>
      <vt:lpstr>Benefits of Startup India Scheme</vt:lpstr>
      <vt:lpstr>Benefits of Startup India Scheme</vt:lpstr>
      <vt:lpstr>Bank Loan for Startup Business in India</vt:lpstr>
      <vt:lpstr>Continue….</vt:lpstr>
      <vt:lpstr>Continue….</vt:lpstr>
      <vt:lpstr>Continue….</vt:lpstr>
      <vt:lpstr>Continue….</vt:lpstr>
      <vt:lpstr>How to Apply for a Startup loan? </vt:lpstr>
    </vt:vector>
  </TitlesOfParts>
  <Company>Villanova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Puneetbhardwaj08@outlook.com</cp:lastModifiedBy>
  <cp:revision>140</cp:revision>
  <dcterms:created xsi:type="dcterms:W3CDTF">1999-08-23T17:38:43Z</dcterms:created>
  <dcterms:modified xsi:type="dcterms:W3CDTF">2025-03-12T16:24:14Z</dcterms:modified>
</cp:coreProperties>
</file>