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701" r:id="rId1"/>
  </p:sldMasterIdLst>
  <p:notesMasterIdLst>
    <p:notesMasterId r:id="rId16"/>
  </p:notesMasterIdLst>
  <p:handoutMasterIdLst>
    <p:handoutMasterId r:id="rId17"/>
  </p:handoutMasterIdLst>
  <p:sldIdLst>
    <p:sldId id="299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33" r:id="rId11"/>
    <p:sldId id="326" r:id="rId12"/>
    <p:sldId id="327" r:id="rId13"/>
    <p:sldId id="328" r:id="rId14"/>
    <p:sldId id="331" r:id="rId15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6600"/>
    <a:srgbClr val="CCFF99"/>
    <a:srgbClr val="FFCC99"/>
    <a:srgbClr val="FF9933"/>
    <a:srgbClr val="FFFF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0171" autoAdjust="0"/>
  </p:normalViewPr>
  <p:slideViewPr>
    <p:cSldViewPr>
      <p:cViewPr varScale="1">
        <p:scale>
          <a:sx n="78" d="100"/>
          <a:sy n="78" d="100"/>
        </p:scale>
        <p:origin x="-1570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636" y="2586"/>
      </p:cViewPr>
      <p:guideLst>
        <p:guide orient="horz" pos="3024"/>
        <p:guide pos="230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EA2130B6-B841-40C5-8C66-8DDA29CCC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533400" y="304800"/>
            <a:ext cx="38163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l" defTabSz="1003300">
              <a:defRPr/>
            </a:pPr>
            <a:r>
              <a:rPr lang="en-US" sz="1800" b="1" i="1"/>
              <a:t>Design and Analysis of Algorithms</a:t>
            </a:r>
          </a:p>
        </p:txBody>
      </p:sp>
      <p:sp>
        <p:nvSpPr>
          <p:cNvPr id="177159" name="Rectangle 7"/>
          <p:cNvSpPr>
            <a:spLocks noChangeArrowheads="1"/>
          </p:cNvSpPr>
          <p:nvPr/>
        </p:nvSpPr>
        <p:spPr bwMode="auto">
          <a:xfrm>
            <a:off x="4322763" y="304800"/>
            <a:ext cx="2382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r" defTabSz="1003300">
              <a:defRPr/>
            </a:pPr>
            <a:r>
              <a:rPr lang="en-US" sz="1800" b="1" i="1"/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xmlns="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60888"/>
            <a:ext cx="5362575" cy="432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4071AC33-5DD2-4A2A-9177-D292C1DD4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4958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Analysis of Algorithms - Chapter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4FF60-D5D7-4036-A5D6-4FFB9D619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2271B-E278-477B-BFED-E836F15DB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D2D0E-C252-40B7-83B9-1ACF012A1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2565D-911C-4D61-9359-E832714B8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5D234-80C8-4687-AB8B-0AD2214E7D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11FF1-D161-4523-90AF-E2F343F4D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D394D-D6E4-420D-8802-7A1031B55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2236D-74A7-478A-BB01-6959791FE7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5121F-84C4-4DC2-9044-BBA470E3F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88D34-2BCF-41AF-8789-7B60FFCC42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E6D1F-F8BA-4934-A475-DF8F20FF96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18288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6E5091-BE1D-47EA-AF37-E0686E3F0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 userDrawn="1"/>
        </p:nvSpPr>
        <p:spPr bwMode="auto">
          <a:xfrm>
            <a:off x="6908800" y="6426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latin typeface="Arial Narrow" pitchFamily="34" charset="0"/>
              <a:ea typeface="ヒラギノ角ゴ Pro W3" pitchFamily="84" charset="-128"/>
            </a:endParaRPr>
          </a:p>
        </p:txBody>
      </p:sp>
      <p:sp>
        <p:nvSpPr>
          <p:cNvPr id="8" name="Rectangle 28"/>
          <p:cNvSpPr>
            <a:spLocks noChangeArrowheads="1"/>
          </p:cNvSpPr>
          <p:nvPr userDrawn="1"/>
        </p:nvSpPr>
        <p:spPr bwMode="auto">
          <a:xfrm>
            <a:off x="609600" y="6197600"/>
            <a:ext cx="3886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l">
              <a:defRPr/>
            </a:pPr>
            <a:endParaRPr lang="en-US" sz="900" dirty="0">
              <a:latin typeface="Arial" charset="0"/>
              <a:ea typeface="ヒラギノ角ゴ Pro W3" pitchFamily="84" charset="-128"/>
            </a:endParaRPr>
          </a:p>
        </p:txBody>
      </p:sp>
      <p:sp>
        <p:nvSpPr>
          <p:cNvPr id="9" name="Rectangle 29"/>
          <p:cNvSpPr>
            <a:spLocks noGrp="1" noChangeArrowheads="1"/>
          </p:cNvSpPr>
          <p:nvPr userDrawn="1"/>
        </p:nvSpPr>
        <p:spPr bwMode="auto">
          <a:xfrm>
            <a:off x="2667000" y="6488113"/>
            <a:ext cx="640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000" dirty="0">
              <a:latin typeface="Arial Narrow" pitchFamily="34" charset="0"/>
              <a:ea typeface="ヒラギノ角ゴ Pro W3" pitchFamily="8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179388" y="1882775"/>
            <a:ext cx="8856662" cy="1470025"/>
          </a:xfrm>
        </p:spPr>
        <p:txBody>
          <a:bodyPr/>
          <a:lstStyle/>
          <a:p>
            <a:pPr algn="ctr" eaLnBrk="1" hangingPunct="1"/>
            <a:r>
              <a:rPr lang="en-US" sz="4000" dirty="0">
                <a:latin typeface="Broadway" pitchFamily="82" charset="0"/>
              </a:rPr>
              <a:t>CSE332</a:t>
            </a:r>
            <a:endParaRPr lang="en-IN" sz="4000" dirty="0">
              <a:latin typeface="Broadway" pitchFamily="82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371600" y="3140968"/>
            <a:ext cx="6400800" cy="257403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>
                <a:solidFill>
                  <a:srgbClr val="0070C0"/>
                </a:solidFill>
              </a:rPr>
              <a:t>Unit3:- Government Funding and </a:t>
            </a:r>
            <a:r>
              <a:rPr lang="en-IN" dirty="0" err="1">
                <a:solidFill>
                  <a:srgbClr val="0070C0"/>
                </a:solidFill>
              </a:rPr>
              <a:t>startup</a:t>
            </a:r>
            <a:r>
              <a:rPr lang="en-IN" dirty="0">
                <a:solidFill>
                  <a:srgbClr val="0070C0"/>
                </a:solidFill>
              </a:rPr>
              <a:t> </a:t>
            </a:r>
            <a:r>
              <a:rPr lang="en-IN" dirty="0" smtClean="0">
                <a:solidFill>
                  <a:srgbClr val="0070C0"/>
                </a:solidFill>
              </a:rPr>
              <a:t>schemes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dirty="0" smtClean="0">
                <a:solidFill>
                  <a:srgbClr val="FF0000"/>
                </a:solidFill>
              </a:rPr>
              <a:t>Topics: </a:t>
            </a:r>
            <a:r>
              <a:rPr lang="en-US" dirty="0">
                <a:solidFill>
                  <a:srgbClr val="FF0000"/>
                </a:solidFill>
              </a:rPr>
              <a:t>Start-up India, 10000 startups -A NASSCOM </a:t>
            </a:r>
            <a:r>
              <a:rPr lang="en-US" dirty="0" smtClean="0">
                <a:solidFill>
                  <a:srgbClr val="FF0000"/>
                </a:solidFill>
              </a:rPr>
              <a:t>Initiative</a:t>
            </a:r>
            <a:endParaRPr lang="en-IN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892A9194-ADBB-824C-054A-C2DF3DE51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5536" y="1670992"/>
            <a:ext cx="8229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b="1" dirty="0"/>
              <a:t>Start-up India</a:t>
            </a:r>
            <a:r>
              <a:rPr lang="en-US" sz="2400" dirty="0"/>
              <a:t>, launched on </a:t>
            </a:r>
            <a:r>
              <a:rPr lang="en-US" sz="2400" b="1" dirty="0"/>
              <a:t>January 16, 2016</a:t>
            </a:r>
            <a:r>
              <a:rPr lang="en-US" sz="2400" dirty="0"/>
              <a:t>, </a:t>
            </a:r>
            <a:endParaRPr lang="en-US" sz="2400" dirty="0" smtClean="0"/>
          </a:p>
          <a:p>
            <a:pPr lvl="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 smtClean="0"/>
              <a:t>Aims </a:t>
            </a:r>
            <a:r>
              <a:rPr lang="en-US" sz="2400" dirty="0"/>
              <a:t>to </a:t>
            </a:r>
            <a:r>
              <a:rPr lang="en-US" sz="2400" b="1" dirty="0"/>
              <a:t>promote entrepreneurship, innovation, and job creation</a:t>
            </a:r>
            <a:r>
              <a:rPr lang="en-US" sz="2400" dirty="0"/>
              <a:t> </a:t>
            </a:r>
            <a:endParaRPr lang="en-US" sz="2400" dirty="0" smtClean="0"/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sz="2400" dirty="0" smtClean="0"/>
              <a:t>3. Through </a:t>
            </a:r>
            <a:r>
              <a:rPr lang="en-US" sz="2400" b="1" dirty="0"/>
              <a:t>financial support, legal simplifications, and </a:t>
            </a:r>
            <a:r>
              <a:rPr lang="en-US" sz="2400" b="1" dirty="0" smtClean="0"/>
              <a:t>mentorship</a:t>
            </a:r>
            <a:r>
              <a:rPr lang="en-US" sz="2400" dirty="0" smtClean="0"/>
              <a:t>. 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sz="2400" dirty="0"/>
              <a:t> </a:t>
            </a:r>
            <a:r>
              <a:rPr lang="en-US" sz="2400" dirty="0" smtClean="0"/>
              <a:t>Examples : Benefiting </a:t>
            </a:r>
            <a:r>
              <a:rPr lang="en-US" sz="2400" dirty="0"/>
              <a:t>startups like </a:t>
            </a:r>
            <a:r>
              <a:rPr lang="en-US" sz="2400" b="1" dirty="0"/>
              <a:t>BYJU’S, </a:t>
            </a:r>
            <a:r>
              <a:rPr lang="en-US" sz="2400" b="1" dirty="0" err="1"/>
              <a:t>Zomato</a:t>
            </a:r>
            <a:r>
              <a:rPr lang="en-US" sz="2400" b="1" dirty="0"/>
              <a:t>, and </a:t>
            </a:r>
            <a:r>
              <a:rPr lang="en-US" sz="2400" b="1" dirty="0" err="1"/>
              <a:t>Paytm</a:t>
            </a:r>
            <a:r>
              <a:rPr lang="en-US" sz="2400" dirty="0"/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Start-up India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712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19E191-213D-FA92-215B-115F2A4CE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75" y="116632"/>
            <a:ext cx="8229600" cy="648072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Benefits &amp; Incentives for Startups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445224"/>
          </a:xfrm>
        </p:spPr>
        <p:txBody>
          <a:bodyPr/>
          <a:lstStyle/>
          <a:p>
            <a:r>
              <a:rPr lang="en-US" b="1" dirty="0" smtClean="0"/>
              <a:t>Simplified </a:t>
            </a:r>
            <a:r>
              <a:rPr lang="en-US" b="1" dirty="0"/>
              <a:t>Compliance:</a:t>
            </a:r>
            <a:r>
              <a:rPr lang="en-US" dirty="0"/>
              <a:t> Self-certification for labor and environmental laws.</a:t>
            </a:r>
          </a:p>
          <a:p>
            <a:r>
              <a:rPr lang="en-US" b="1" dirty="0"/>
              <a:t>Tax Exemptions:</a:t>
            </a:r>
            <a:r>
              <a:rPr lang="en-US" dirty="0"/>
              <a:t> 3-year income tax holiday for eligible startups.</a:t>
            </a:r>
          </a:p>
          <a:p>
            <a:r>
              <a:rPr lang="en-US" b="1" dirty="0"/>
              <a:t>Funding Support:</a:t>
            </a:r>
            <a:r>
              <a:rPr lang="en-US" dirty="0"/>
              <a:t> ₹10,000 crore </a:t>
            </a:r>
            <a:r>
              <a:rPr lang="en-US" b="1" dirty="0"/>
              <a:t>Fund of Funds</a:t>
            </a:r>
            <a:r>
              <a:rPr lang="en-US" dirty="0"/>
              <a:t> for startups.</a:t>
            </a:r>
          </a:p>
          <a:p>
            <a:r>
              <a:rPr lang="en-US" b="1" dirty="0"/>
              <a:t>Fast-Track Patent Process:</a:t>
            </a:r>
            <a:r>
              <a:rPr lang="en-US" dirty="0"/>
              <a:t> 80% reduction in patent filing fees.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i="1" dirty="0"/>
              <a:t>Example:</a:t>
            </a:r>
            <a:r>
              <a:rPr lang="en-US" dirty="0"/>
              <a:t> </a:t>
            </a:r>
            <a:r>
              <a:rPr lang="en-US" b="1" dirty="0" err="1"/>
              <a:t>Ather</a:t>
            </a:r>
            <a:r>
              <a:rPr lang="en-US" b="1" dirty="0"/>
              <a:t> Energy (EV Startup)</a:t>
            </a:r>
            <a:r>
              <a:rPr lang="en-US" dirty="0"/>
              <a:t> leveraged government incentives to scale its business.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5831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15DBF4-0532-2292-3B4F-56300837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48"/>
            <a:ext cx="8229600" cy="360040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Eligibility &amp; Registration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2FCCC9-73EF-0DF0-D014-7D4594232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6048672"/>
          </a:xfrm>
        </p:spPr>
        <p:txBody>
          <a:bodyPr/>
          <a:lstStyle/>
          <a:p>
            <a:r>
              <a:rPr lang="en-US" b="1" dirty="0" smtClean="0"/>
              <a:t> </a:t>
            </a:r>
            <a:r>
              <a:rPr lang="en-US" b="1" dirty="0"/>
              <a:t>Must be incorporated as a Private Limited Company, LLP, or Partnership Firm</a:t>
            </a:r>
          </a:p>
          <a:p>
            <a:r>
              <a:rPr lang="en-US" b="1" dirty="0" smtClean="0"/>
              <a:t> </a:t>
            </a:r>
            <a:r>
              <a:rPr lang="en-US" b="1" dirty="0"/>
              <a:t>Should be less than 10 years old</a:t>
            </a:r>
          </a:p>
          <a:p>
            <a:r>
              <a:rPr lang="en-US" b="1" dirty="0" smtClean="0"/>
              <a:t> </a:t>
            </a:r>
            <a:r>
              <a:rPr lang="en-US" b="1" dirty="0"/>
              <a:t>Annual turnover should not exceed ₹100 crore</a:t>
            </a:r>
          </a:p>
          <a:p>
            <a:r>
              <a:rPr lang="en-US" b="1" dirty="0" smtClean="0"/>
              <a:t> </a:t>
            </a:r>
            <a:r>
              <a:rPr lang="en-US" b="1" dirty="0"/>
              <a:t>Must be working on innovation, development, or improvement of products/services</a:t>
            </a:r>
          </a:p>
          <a:p>
            <a:pPr marL="0" indent="0">
              <a:buNone/>
            </a:pPr>
            <a:r>
              <a:rPr lang="en-US" sz="2000" b="1" i="1" dirty="0" smtClean="0">
                <a:solidFill>
                  <a:srgbClr val="FF0000"/>
                </a:solidFill>
              </a:rPr>
              <a:t>Example</a:t>
            </a:r>
            <a:r>
              <a:rPr lang="en-US" sz="2000" b="1" i="1" dirty="0">
                <a:solidFill>
                  <a:srgbClr val="FF0000"/>
                </a:solidFill>
              </a:rPr>
              <a:t>: </a:t>
            </a:r>
            <a:r>
              <a:rPr lang="en-US" sz="2000" b="1" i="1" dirty="0" err="1">
                <a:solidFill>
                  <a:srgbClr val="FF0000"/>
                </a:solidFill>
              </a:rPr>
              <a:t>Zerodha</a:t>
            </a:r>
            <a:r>
              <a:rPr lang="en-US" sz="2000" b="1" i="1" dirty="0">
                <a:solidFill>
                  <a:srgbClr val="FF0000"/>
                </a:solidFill>
              </a:rPr>
              <a:t> (Fintech Startup) registered under Start-up India and grew into a market leader.</a:t>
            </a:r>
            <a:endParaRPr lang="en-IN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1739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6461D7-D568-1026-E0D6-76D09F5A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0"/>
            <a:ext cx="8229600" cy="443528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 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sz="3200" b="1" dirty="0" smtClean="0">
                <a:solidFill>
                  <a:srgbClr val="FF0000"/>
                </a:solidFill>
              </a:rPr>
              <a:t>Funding </a:t>
            </a:r>
            <a:r>
              <a:rPr lang="en-US" sz="3200" b="1" dirty="0">
                <a:solidFill>
                  <a:srgbClr val="FF0000"/>
                </a:solidFill>
              </a:rPr>
              <a:t>&amp; Investment </a:t>
            </a:r>
            <a:r>
              <a:rPr lang="en-US" sz="3200" b="1" dirty="0" smtClean="0">
                <a:solidFill>
                  <a:srgbClr val="FF0000"/>
                </a:solidFill>
              </a:rPr>
              <a:t>Opportunities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E764A8-A700-D3EC-CE2B-82FE5103D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908720"/>
            <a:ext cx="8229600" cy="5750099"/>
          </a:xfrm>
        </p:spPr>
        <p:txBody>
          <a:bodyPr/>
          <a:lstStyle/>
          <a:p>
            <a:r>
              <a:rPr lang="en-US" sz="2800" b="1" dirty="0" smtClean="0"/>
              <a:t>Fund </a:t>
            </a:r>
            <a:r>
              <a:rPr lang="en-US" sz="2800" b="1" dirty="0"/>
              <a:t>of Funds Scheme (FFS):</a:t>
            </a:r>
            <a:r>
              <a:rPr lang="en-US" sz="2800" dirty="0"/>
              <a:t> Invests in startups through SEBI-registered VC firms</a:t>
            </a:r>
            <a:r>
              <a:rPr lang="en-US" sz="2800" dirty="0" smtClean="0"/>
              <a:t>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/>
              <a:t>Start-up India Seed Fund Scheme (SISFS):</a:t>
            </a:r>
            <a:r>
              <a:rPr lang="en-US" sz="2800" dirty="0"/>
              <a:t> ₹945 crore to support early-stage startups.</a:t>
            </a:r>
          </a:p>
          <a:p>
            <a:endParaRPr lang="en-US" sz="2800" b="1" dirty="0" smtClean="0"/>
          </a:p>
          <a:p>
            <a:r>
              <a:rPr lang="en-US" sz="2800" b="1" dirty="0" smtClean="0"/>
              <a:t>Government </a:t>
            </a:r>
            <a:r>
              <a:rPr lang="en-US" sz="2800" b="1" dirty="0"/>
              <a:t>Grants &amp; Incubation Centers:</a:t>
            </a:r>
            <a:r>
              <a:rPr lang="en-US" sz="2800" dirty="0"/>
              <a:t> Provides infrastructure, networking, and financial support.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</a:p>
          <a:p>
            <a:pPr marL="0" indent="0"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Example</a:t>
            </a:r>
            <a:r>
              <a:rPr lang="en-US" sz="2000" i="1" dirty="0">
                <a:solidFill>
                  <a:srgbClr val="FF0000"/>
                </a:solidFill>
              </a:rPr>
              <a:t>: </a:t>
            </a:r>
            <a:r>
              <a:rPr lang="en-US" sz="2000" b="1" i="1" dirty="0" err="1">
                <a:solidFill>
                  <a:srgbClr val="FF0000"/>
                </a:solidFill>
              </a:rPr>
              <a:t>Cure.fit</a:t>
            </a:r>
            <a:r>
              <a:rPr lang="en-US" sz="2000" b="1" i="1" dirty="0">
                <a:solidFill>
                  <a:srgbClr val="FF0000"/>
                </a:solidFill>
              </a:rPr>
              <a:t> (</a:t>
            </a:r>
            <a:r>
              <a:rPr lang="en-US" sz="2000" b="1" i="1" dirty="0" err="1">
                <a:solidFill>
                  <a:srgbClr val="FF0000"/>
                </a:solidFill>
              </a:rPr>
              <a:t>HealthTech</a:t>
            </a:r>
            <a:r>
              <a:rPr lang="en-US" sz="2000" b="1" i="1" dirty="0">
                <a:solidFill>
                  <a:srgbClr val="FF0000"/>
                </a:solidFill>
              </a:rPr>
              <a:t> Startup)</a:t>
            </a:r>
            <a:r>
              <a:rPr lang="en-US" sz="2000" i="1" dirty="0">
                <a:solidFill>
                  <a:srgbClr val="FF0000"/>
                </a:solidFill>
              </a:rPr>
              <a:t> received funding through various government and private investors.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192710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E75A73-5F40-139E-EE91-84FE5AFC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Challenges Faced by Indian Startups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7FA01B-9C54-8683-3400-8BBF3CC1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r>
              <a:rPr lang="en-US" sz="2800" dirty="0" smtClean="0"/>
              <a:t> </a:t>
            </a:r>
            <a:r>
              <a:rPr lang="en-US" sz="2800" b="1" dirty="0"/>
              <a:t>Funding Constraints:</a:t>
            </a:r>
            <a:r>
              <a:rPr lang="en-US" sz="2800" dirty="0"/>
              <a:t> Many startups struggle to secure investment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</a:t>
            </a:r>
            <a:r>
              <a:rPr lang="en-US" sz="2800" b="1" dirty="0"/>
              <a:t>Regulatory Hurdles:</a:t>
            </a:r>
            <a:r>
              <a:rPr lang="en-US" sz="2800" dirty="0"/>
              <a:t> Compliance and legal formalities take time.</a:t>
            </a:r>
            <a:br>
              <a:rPr lang="en-US" sz="2800" dirty="0"/>
            </a:br>
            <a:endParaRPr lang="en-US" sz="2800" dirty="0" smtClean="0"/>
          </a:p>
          <a:p>
            <a:r>
              <a:rPr lang="en-US" sz="2800" dirty="0" smtClean="0"/>
              <a:t> </a:t>
            </a:r>
            <a:r>
              <a:rPr lang="en-US" sz="2800" b="1" dirty="0"/>
              <a:t>Market Competition:</a:t>
            </a:r>
            <a:r>
              <a:rPr lang="en-US" sz="2800" dirty="0"/>
              <a:t> High competition from global and local players.</a:t>
            </a:r>
            <a:br>
              <a:rPr lang="en-US" sz="2800" dirty="0"/>
            </a:br>
            <a:endParaRPr lang="en-US" sz="2800" dirty="0" smtClean="0"/>
          </a:p>
          <a:p>
            <a:r>
              <a:rPr lang="en-US" sz="2800" dirty="0" smtClean="0"/>
              <a:t> </a:t>
            </a:r>
            <a:r>
              <a:rPr lang="en-US" sz="2800" b="1" dirty="0"/>
              <a:t>Scaling Issues:</a:t>
            </a:r>
            <a:r>
              <a:rPr lang="en-US" sz="2800" dirty="0"/>
              <a:t> Difficulties in expanding due to operational challenges.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  <a:r>
              <a:rPr lang="en-US" sz="2400" i="1" dirty="0">
                <a:solidFill>
                  <a:srgbClr val="FF0000"/>
                </a:solidFill>
              </a:rPr>
              <a:t>Example: </a:t>
            </a:r>
            <a:r>
              <a:rPr lang="en-US" sz="2400" b="1" i="1" dirty="0" err="1">
                <a:solidFill>
                  <a:srgbClr val="FF0000"/>
                </a:solidFill>
              </a:rPr>
              <a:t>Kirana</a:t>
            </a:r>
            <a:r>
              <a:rPr lang="en-US" sz="2400" b="1" i="1" dirty="0">
                <a:solidFill>
                  <a:srgbClr val="FF0000"/>
                </a:solidFill>
              </a:rPr>
              <a:t> King (Retail Startup)</a:t>
            </a:r>
            <a:r>
              <a:rPr lang="en-US" sz="2400" i="1" dirty="0">
                <a:solidFill>
                  <a:srgbClr val="FF0000"/>
                </a:solidFill>
              </a:rPr>
              <a:t> overcame scaling challenges through digital transformation.</a:t>
            </a:r>
          </a:p>
          <a:p>
            <a:endParaRPr lang="en-IN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839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296C9E-1D9A-B3A8-EE85-41C851FC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Impact &amp; Future of Start-up India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0C5635-577E-9AD6-F71C-00D4BDD39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579296" cy="5661248"/>
          </a:xfrm>
        </p:spPr>
        <p:txBody>
          <a:bodyPr/>
          <a:lstStyle/>
          <a:p>
            <a:r>
              <a:rPr lang="en-US" sz="2400" b="1" dirty="0" smtClean="0"/>
              <a:t>Over </a:t>
            </a:r>
            <a:r>
              <a:rPr lang="en-US" sz="2400" b="1" dirty="0"/>
              <a:t>100,000 startups recognized</a:t>
            </a:r>
            <a:r>
              <a:rPr lang="en-US" sz="2400" dirty="0"/>
              <a:t> by the DPIIT (Department for Promotion of Industry and Internal Trade).</a:t>
            </a:r>
          </a:p>
          <a:p>
            <a:r>
              <a:rPr lang="en-US" sz="2400" b="1" dirty="0"/>
              <a:t>India is the 3rd largest startup ecosystem</a:t>
            </a:r>
            <a:r>
              <a:rPr lang="en-US" sz="2400" dirty="0"/>
              <a:t> globally.</a:t>
            </a:r>
          </a:p>
          <a:p>
            <a:r>
              <a:rPr lang="en-US" sz="2400" b="1" dirty="0"/>
              <a:t>Focus Areas for Growth:</a:t>
            </a:r>
            <a:r>
              <a:rPr lang="en-US" sz="2400" dirty="0"/>
              <a:t> </a:t>
            </a:r>
            <a:r>
              <a:rPr lang="en-US" sz="2400" dirty="0" err="1"/>
              <a:t>DeepTech</a:t>
            </a:r>
            <a:r>
              <a:rPr lang="en-US" sz="2400" dirty="0"/>
              <a:t>, AI, Green Energy, </a:t>
            </a:r>
            <a:r>
              <a:rPr lang="en-US" sz="2400" dirty="0" err="1"/>
              <a:t>FinTech</a:t>
            </a:r>
            <a:r>
              <a:rPr lang="en-US" sz="2400" dirty="0"/>
              <a:t>, </a:t>
            </a:r>
            <a:r>
              <a:rPr lang="en-US" sz="2400" dirty="0" err="1"/>
              <a:t>Agritech</a:t>
            </a:r>
            <a:r>
              <a:rPr lang="en-US" sz="2400" dirty="0"/>
              <a:t>.</a:t>
            </a:r>
          </a:p>
          <a:p>
            <a:r>
              <a:rPr lang="en-US" sz="2400" b="1" dirty="0"/>
              <a:t>Government’s Next Steps:</a:t>
            </a:r>
            <a:r>
              <a:rPr lang="en-US" sz="2400" dirty="0"/>
              <a:t> Improving ease of doing business, increasing startup funding, and promoting exports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Example</a:t>
            </a:r>
            <a:r>
              <a:rPr lang="en-US" sz="2000" i="1" dirty="0">
                <a:solidFill>
                  <a:srgbClr val="FF0000"/>
                </a:solidFill>
              </a:rPr>
              <a:t>: </a:t>
            </a:r>
            <a:r>
              <a:rPr lang="en-US" sz="2000" b="1" i="1" dirty="0" err="1">
                <a:solidFill>
                  <a:srgbClr val="FF0000"/>
                </a:solidFill>
              </a:rPr>
              <a:t>Nykaa</a:t>
            </a:r>
            <a:r>
              <a:rPr lang="en-US" sz="2000" b="1" i="1" dirty="0">
                <a:solidFill>
                  <a:srgbClr val="FF0000"/>
                </a:solidFill>
              </a:rPr>
              <a:t> (Beauty Startup)</a:t>
            </a:r>
            <a:r>
              <a:rPr lang="en-US" sz="2000" i="1" dirty="0">
                <a:solidFill>
                  <a:srgbClr val="FF0000"/>
                </a:solidFill>
              </a:rPr>
              <a:t> started as a small business and became a publicly traded company.</a:t>
            </a:r>
          </a:p>
        </p:txBody>
      </p:sp>
    </p:spTree>
    <p:extLst>
      <p:ext uri="{BB962C8B-B14F-4D97-AF65-F5344CB8AC3E}">
        <p14:creationId xmlns:p14="http://schemas.microsoft.com/office/powerpoint/2010/main" xmlns="" val="380718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9702D7-CD50-CCE8-3E47-BA795232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CDC873-E4F5-7A62-1B34-A19E4A398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507288" cy="5904656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.</a:t>
            </a:r>
            <a:endParaRPr lang="en-US" dirty="0"/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259632" y="3013502"/>
            <a:ext cx="69699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10000 </a:t>
            </a:r>
            <a:r>
              <a:rPr lang="en-IN" sz="5400" b="1" dirty="0" err="1">
                <a:solidFill>
                  <a:srgbClr val="FF0000"/>
                </a:solidFill>
              </a:rPr>
              <a:t>startups</a:t>
            </a:r>
            <a:r>
              <a:rPr lang="en-IN" sz="5400" b="1" dirty="0">
                <a:solidFill>
                  <a:srgbClr val="FF0000"/>
                </a:solidFill>
              </a:rPr>
              <a:t> -A NASSCOM Initiative</a:t>
            </a:r>
          </a:p>
        </p:txBody>
      </p:sp>
    </p:spTree>
    <p:extLst>
      <p:ext uri="{BB962C8B-B14F-4D97-AF65-F5344CB8AC3E}">
        <p14:creationId xmlns:p14="http://schemas.microsoft.com/office/powerpoint/2010/main" xmlns="" val="89091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5C5CBB-D346-FB15-C5DB-3BCA4E69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0115EE-FF92-C1AC-3403-8050261A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b="1" dirty="0" smtClean="0">
                <a:latin typeface="Arial" panose="020B0604020202020204" pitchFamily="34" charset="0"/>
              </a:rPr>
              <a:t>Introduction </a:t>
            </a:r>
            <a:r>
              <a:rPr lang="en-US" altLang="en-US" sz="2000" b="1" dirty="0">
                <a:latin typeface="Arial" panose="020B0604020202020204" pitchFamily="34" charset="0"/>
              </a:rPr>
              <a:t>&amp; Launch</a:t>
            </a:r>
            <a:r>
              <a:rPr lang="en-US" altLang="en-US" sz="2000" dirty="0">
                <a:latin typeface="Arial" panose="020B0604020202020204" pitchFamily="34" charset="0"/>
              </a:rPr>
              <a:t> – NASSCOM initiated in </a:t>
            </a:r>
            <a:r>
              <a:rPr lang="en-US" altLang="en-US" sz="2000" b="1" dirty="0">
                <a:latin typeface="Arial" panose="020B0604020202020204" pitchFamily="34" charset="0"/>
              </a:rPr>
              <a:t>2013</a:t>
            </a:r>
            <a:r>
              <a:rPr lang="en-US" altLang="en-US" sz="2000" dirty="0">
                <a:latin typeface="Arial" panose="020B0604020202020204" pitchFamily="34" charset="0"/>
              </a:rPr>
              <a:t> for startups.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Objective &amp; Vision</a:t>
            </a:r>
            <a:r>
              <a:rPr lang="en-US" altLang="en-US" sz="2000" dirty="0">
                <a:latin typeface="Arial" panose="020B0604020202020204" pitchFamily="34" charset="0"/>
              </a:rPr>
              <a:t> – Support, mentor, and scale </a:t>
            </a:r>
            <a:r>
              <a:rPr lang="en-US" altLang="en-US" sz="2000" b="1" dirty="0">
                <a:latin typeface="Arial" panose="020B0604020202020204" pitchFamily="34" charset="0"/>
              </a:rPr>
              <a:t>10,000 startups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Key Focus Areas</a:t>
            </a:r>
            <a:r>
              <a:rPr lang="en-US" altLang="en-US" sz="2000" dirty="0">
                <a:latin typeface="Arial" panose="020B0604020202020204" pitchFamily="34" charset="0"/>
              </a:rPr>
              <a:t> – AI, </a:t>
            </a:r>
            <a:r>
              <a:rPr lang="en-US" altLang="en-US" sz="2000" dirty="0" err="1">
                <a:latin typeface="Arial" panose="020B0604020202020204" pitchFamily="34" charset="0"/>
              </a:rPr>
              <a:t>FinTech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</a:rPr>
              <a:t>HealthTech</a:t>
            </a:r>
            <a:r>
              <a:rPr lang="en-US" altLang="en-US" sz="2000" dirty="0">
                <a:latin typeface="Arial" panose="020B0604020202020204" pitchFamily="34" charset="0"/>
              </a:rPr>
              <a:t>, SaaS, </a:t>
            </a:r>
            <a:r>
              <a:rPr lang="en-US" altLang="en-US" sz="2000" dirty="0" err="1">
                <a:latin typeface="Arial" panose="020B0604020202020204" pitchFamily="34" charset="0"/>
              </a:rPr>
              <a:t>EdTech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Startup Support</a:t>
            </a:r>
            <a:r>
              <a:rPr lang="en-US" altLang="en-US" sz="2000" dirty="0">
                <a:latin typeface="Arial" panose="020B0604020202020204" pitchFamily="34" charset="0"/>
              </a:rPr>
              <a:t> – Funding, mentorship, global expansion, acceleration.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Impact Created</a:t>
            </a:r>
            <a:r>
              <a:rPr lang="en-US" altLang="en-US" sz="2000" dirty="0">
                <a:latin typeface="Arial" panose="020B0604020202020204" pitchFamily="34" charset="0"/>
              </a:rPr>
              <a:t> – Thousands incubated, billions in funding.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endParaRPr lang="en-US" altLang="en-US" sz="2000" b="1" dirty="0" smtClean="0">
              <a:latin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000" b="1" i="1" dirty="0" smtClean="0">
                <a:solidFill>
                  <a:srgbClr val="FF0000"/>
                </a:solidFill>
                <a:latin typeface="Arial" panose="020B0604020202020204" pitchFamily="34" charset="0"/>
              </a:rPr>
              <a:t>Example </a:t>
            </a:r>
            <a:r>
              <a:rPr lang="en-US" altLang="en-US" sz="2000" b="1" i="1" dirty="0">
                <a:solidFill>
                  <a:srgbClr val="FF0000"/>
                </a:solidFill>
                <a:latin typeface="Arial" panose="020B0604020202020204" pitchFamily="34" charset="0"/>
              </a:rPr>
              <a:t>Success – </a:t>
            </a:r>
            <a:r>
              <a:rPr lang="en-US" altLang="en-US" sz="2000" b="1" i="1" dirty="0" err="1">
                <a:solidFill>
                  <a:srgbClr val="FF0000"/>
                </a:solidFill>
                <a:latin typeface="Arial" panose="020B0604020202020204" pitchFamily="34" charset="0"/>
              </a:rPr>
              <a:t>Freshworks</a:t>
            </a:r>
            <a:r>
              <a:rPr lang="en-US" altLang="en-US" sz="2000" b="1" i="1" dirty="0">
                <a:solidFill>
                  <a:srgbClr val="FF0000"/>
                </a:solidFill>
                <a:latin typeface="Arial" panose="020B0604020202020204" pitchFamily="34" charset="0"/>
              </a:rPr>
              <a:t> scaled, India’s first SaaS unicorn</a:t>
            </a:r>
            <a:endParaRPr lang="en-IN" b="1" i="1" dirty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22397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4" algn="l"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xmlns="" val="187960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0528" y="116632"/>
            <a:ext cx="8229600" cy="1143000"/>
          </a:xfrm>
        </p:spPr>
        <p:txBody>
          <a:bodyPr/>
          <a:lstStyle/>
          <a:p>
            <a:r>
              <a:rPr lang="en-IN" sz="4000" dirty="0">
                <a:solidFill>
                  <a:srgbClr val="FF0000"/>
                </a:solidFill>
              </a:rPr>
              <a:t>Key Features of 10,000 </a:t>
            </a:r>
            <a:r>
              <a:rPr lang="en-IN" sz="4000" dirty="0" err="1">
                <a:solidFill>
                  <a:srgbClr val="FF0000"/>
                </a:solidFill>
              </a:rPr>
              <a:t>Startups</a:t>
            </a:r>
            <a:r>
              <a:rPr lang="en-IN" sz="4000" dirty="0">
                <a:solidFill>
                  <a:srgbClr val="FF0000"/>
                </a:solidFill>
              </a:rPr>
              <a:t/>
            </a:r>
            <a:br>
              <a:rPr lang="en-IN" sz="4000" dirty="0">
                <a:solidFill>
                  <a:srgbClr val="FF0000"/>
                </a:solidFill>
              </a:rPr>
            </a:b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</a:t>
            </a:r>
            <a:r>
              <a:rPr lang="en-IN" dirty="0" err="1"/>
              <a:t>Startup</a:t>
            </a:r>
            <a:r>
              <a:rPr lang="en-IN" dirty="0"/>
              <a:t> Incubation &amp; Acceleration Programs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</a:t>
            </a:r>
            <a:r>
              <a:rPr lang="en-IN" dirty="0"/>
              <a:t>Funding Support via Investor Connects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</a:t>
            </a:r>
            <a:r>
              <a:rPr lang="en-IN" dirty="0"/>
              <a:t>Mentorship from Industry Experts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</a:t>
            </a:r>
            <a:r>
              <a:rPr lang="en-IN" dirty="0"/>
              <a:t>Global Expansion &amp; Market Access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</a:t>
            </a:r>
            <a:r>
              <a:rPr lang="en-IN" dirty="0"/>
              <a:t>Corporate &amp; Government Partnerships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b="1" i="1" dirty="0" smtClean="0">
                <a:solidFill>
                  <a:srgbClr val="FF0000"/>
                </a:solidFill>
              </a:rPr>
              <a:t>Example</a:t>
            </a:r>
            <a:r>
              <a:rPr lang="en-IN" sz="2400" b="1" i="1" dirty="0">
                <a:solidFill>
                  <a:srgbClr val="FF0000"/>
                </a:solidFill>
              </a:rPr>
              <a:t>: </a:t>
            </a:r>
            <a:r>
              <a:rPr lang="en-IN" sz="2400" b="1" i="1" dirty="0" err="1">
                <a:solidFill>
                  <a:srgbClr val="FF0000"/>
                </a:solidFill>
              </a:rPr>
              <a:t>Razorpay</a:t>
            </a:r>
            <a:r>
              <a:rPr lang="en-IN" sz="2400" b="1" i="1" dirty="0">
                <a:solidFill>
                  <a:srgbClr val="FF0000"/>
                </a:solidFill>
              </a:rPr>
              <a:t> – Grew rapidly through </a:t>
            </a:r>
            <a:r>
              <a:rPr lang="en-IN" sz="2400" b="1" i="1" dirty="0" err="1">
                <a:solidFill>
                  <a:srgbClr val="FF0000"/>
                </a:solidFill>
              </a:rPr>
              <a:t>startup</a:t>
            </a:r>
            <a:r>
              <a:rPr lang="en-IN" sz="2400" b="1" i="1" dirty="0">
                <a:solidFill>
                  <a:srgbClr val="FF0000"/>
                </a:solidFill>
              </a:rPr>
              <a:t> mentorship and funding.</a:t>
            </a:r>
          </a:p>
        </p:txBody>
      </p:sp>
    </p:spTree>
    <p:extLst>
      <p:ext uri="{BB962C8B-B14F-4D97-AF65-F5344CB8AC3E}">
        <p14:creationId xmlns:p14="http://schemas.microsoft.com/office/powerpoint/2010/main" xmlns="" val="25051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250EE8-5795-0023-BAED-E2CC2510E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08720"/>
            <a:ext cx="8229600" cy="583264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smtClean="0"/>
              <a:t>Over </a:t>
            </a:r>
            <a:r>
              <a:rPr lang="en-IN" sz="2400" b="1" dirty="0"/>
              <a:t>7,500 </a:t>
            </a:r>
            <a:r>
              <a:rPr lang="en-IN" sz="2400" b="1" dirty="0" err="1"/>
              <a:t>startups</a:t>
            </a:r>
            <a:r>
              <a:rPr lang="en-IN" sz="2400" b="1" dirty="0"/>
              <a:t> incubated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 smtClean="0"/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smtClean="0"/>
              <a:t>300</a:t>
            </a:r>
            <a:r>
              <a:rPr lang="en-IN" sz="2400" b="1" dirty="0"/>
              <a:t>+ </a:t>
            </a:r>
            <a:r>
              <a:rPr lang="en-IN" sz="2400" b="1" dirty="0" err="1"/>
              <a:t>startups</a:t>
            </a:r>
            <a:r>
              <a:rPr lang="en-IN" sz="2400" b="1" dirty="0"/>
              <a:t> scaled globally</a:t>
            </a:r>
            <a:r>
              <a:rPr lang="en-IN" sz="2400" dirty="0"/>
              <a:t/>
            </a:r>
            <a:br>
              <a:rPr lang="en-IN" sz="2400" dirty="0"/>
            </a:br>
            <a:endParaRPr lang="en-IN" sz="2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 smtClean="0"/>
              <a:t> </a:t>
            </a:r>
            <a:r>
              <a:rPr lang="en-IN" sz="2400" b="1" dirty="0"/>
              <a:t>50+ Accelerator programs conducted</a:t>
            </a:r>
            <a:r>
              <a:rPr lang="en-IN" sz="2400" dirty="0"/>
              <a:t/>
            </a:r>
            <a:br>
              <a:rPr lang="en-IN" sz="2400" dirty="0"/>
            </a:br>
            <a:endParaRPr lang="en-IN" sz="2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 smtClean="0"/>
              <a:t> </a:t>
            </a:r>
            <a:r>
              <a:rPr lang="en-IN" sz="2400" b="1" dirty="0"/>
              <a:t>$4 billion+ funding raised</a:t>
            </a:r>
            <a:endParaRPr lang="en-I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 smtClean="0"/>
              <a:t> </a:t>
            </a:r>
            <a:r>
              <a:rPr lang="en-IN" sz="2000" b="1" i="1" dirty="0">
                <a:solidFill>
                  <a:srgbClr val="FF0000"/>
                </a:solidFill>
              </a:rPr>
              <a:t>Example: </a:t>
            </a:r>
            <a:r>
              <a:rPr lang="en-IN" sz="2000" b="1" i="1" dirty="0" err="1">
                <a:solidFill>
                  <a:srgbClr val="FF0000"/>
                </a:solidFill>
              </a:rPr>
              <a:t>Unacademy</a:t>
            </a:r>
            <a:r>
              <a:rPr lang="en-IN" sz="2000" b="1" i="1" dirty="0">
                <a:solidFill>
                  <a:srgbClr val="FF0000"/>
                </a:solidFill>
              </a:rPr>
              <a:t> – Benefited from NASSCOM’s ecosystem and became a leading </a:t>
            </a:r>
            <a:r>
              <a:rPr lang="en-IN" sz="2000" b="1" i="1" dirty="0" err="1">
                <a:solidFill>
                  <a:srgbClr val="FF0000"/>
                </a:solidFill>
              </a:rPr>
              <a:t>EdTech</a:t>
            </a:r>
            <a:r>
              <a:rPr lang="en-IN" sz="2000" b="1" i="1" dirty="0">
                <a:solidFill>
                  <a:srgbClr val="FF0000"/>
                </a:solidFill>
              </a:rPr>
              <a:t> platform.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800" dirty="0"/>
          </a:p>
        </p:txBody>
      </p:sp>
      <p:sp>
        <p:nvSpPr>
          <p:cNvPr id="4" name="Rectangle 3"/>
          <p:cNvSpPr/>
          <p:nvPr/>
        </p:nvSpPr>
        <p:spPr>
          <a:xfrm>
            <a:off x="455155" y="200625"/>
            <a:ext cx="54849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Impact of 10,000 </a:t>
            </a:r>
            <a:r>
              <a:rPr lang="en-IN" b="1" dirty="0" err="1">
                <a:solidFill>
                  <a:srgbClr val="FF0000"/>
                </a:solidFill>
              </a:rPr>
              <a:t>Startups</a:t>
            </a:r>
            <a:r>
              <a:rPr lang="en-IN" sz="2800" b="1" dirty="0">
                <a:solidFill>
                  <a:srgbClr val="FF0000"/>
                </a:solidFill>
              </a:rPr>
              <a:t/>
            </a:r>
            <a:br>
              <a:rPr lang="en-IN" sz="2800" b="1" dirty="0">
                <a:solidFill>
                  <a:srgbClr val="FF0000"/>
                </a:solidFill>
              </a:rPr>
            </a:br>
            <a:endParaRPr lang="en-I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9010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A0C0A-8FC0-E0AC-8CBE-CE97E086E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89" y="24965"/>
            <a:ext cx="8229600" cy="1143000"/>
          </a:xfrm>
        </p:spPr>
        <p:txBody>
          <a:bodyPr/>
          <a:lstStyle/>
          <a:p>
            <a:r>
              <a:rPr lang="en-IN" sz="3200" b="1" dirty="0" smtClean="0">
                <a:solidFill>
                  <a:srgbClr val="FF0000"/>
                </a:solidFill>
              </a:rPr>
              <a:t>Challenges </a:t>
            </a:r>
            <a:r>
              <a:rPr lang="en-IN" sz="3200" b="1" dirty="0">
                <a:solidFill>
                  <a:srgbClr val="FF0000"/>
                </a:solidFill>
              </a:rPr>
              <a:t>Faced by </a:t>
            </a:r>
            <a:r>
              <a:rPr lang="en-IN" sz="3200" b="1" dirty="0" err="1">
                <a:solidFill>
                  <a:srgbClr val="FF0000"/>
                </a:solidFill>
              </a:rPr>
              <a:t>Startups</a:t>
            </a:r>
            <a:r>
              <a:rPr lang="en-IN" sz="3200" b="1" dirty="0">
                <a:solidFill>
                  <a:srgbClr val="FF0000"/>
                </a:solidFill>
              </a:rPr>
              <a:t/>
            </a:r>
            <a:br>
              <a:rPr lang="en-IN" sz="3200" b="1" dirty="0">
                <a:solidFill>
                  <a:srgbClr val="FF0000"/>
                </a:solidFill>
              </a:rPr>
            </a:b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425816-EDF7-2EF7-FB1E-63EFE8A03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836712"/>
            <a:ext cx="8291264" cy="49685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b="1" dirty="0" smtClean="0"/>
              <a:t>Funding </a:t>
            </a:r>
            <a:r>
              <a:rPr lang="en-IN" sz="2800" b="1" dirty="0"/>
              <a:t>&amp; Investment </a:t>
            </a:r>
            <a:r>
              <a:rPr lang="en-IN" sz="2800" b="1" dirty="0" smtClean="0"/>
              <a:t>Barriers</a:t>
            </a: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Market Competition &amp; Scalability Issues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Regulatory &amp; Compliance Challenges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Talent Acquisition &amp; Retention</a:t>
            </a:r>
            <a:endParaRPr lang="en-IN" sz="2800" dirty="0"/>
          </a:p>
          <a:p>
            <a:endParaRPr lang="en-IN" sz="2800" dirty="0" smtClean="0"/>
          </a:p>
          <a:p>
            <a:endParaRPr lang="en-IN" sz="2800" dirty="0"/>
          </a:p>
          <a:p>
            <a:r>
              <a:rPr lang="en-IN" sz="2800" dirty="0" smtClean="0"/>
              <a:t> </a:t>
            </a:r>
            <a:r>
              <a:rPr lang="en-IN" sz="2800" b="1" i="1" dirty="0">
                <a:solidFill>
                  <a:srgbClr val="FF0000"/>
                </a:solidFill>
              </a:rPr>
              <a:t>Example: Many AI-based </a:t>
            </a:r>
            <a:r>
              <a:rPr lang="en-IN" sz="2800" b="1" i="1" dirty="0" err="1">
                <a:solidFill>
                  <a:srgbClr val="FF0000"/>
                </a:solidFill>
              </a:rPr>
              <a:t>startups</a:t>
            </a:r>
            <a:r>
              <a:rPr lang="en-IN" sz="2800" b="1" i="1" dirty="0">
                <a:solidFill>
                  <a:srgbClr val="FF0000"/>
                </a:solidFill>
              </a:rPr>
              <a:t> struggle with data privacy regulations and funding gaps.</a:t>
            </a:r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xmlns="" val="211493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20C129-8F3F-7C8C-1BAF-9E7433B01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IN" sz="4000" b="1" dirty="0">
                <a:solidFill>
                  <a:srgbClr val="FF0000"/>
                </a:solidFill>
              </a:rPr>
              <a:t>Future of 10,000 </a:t>
            </a:r>
            <a:r>
              <a:rPr lang="en-IN" sz="4000" b="1" dirty="0" err="1">
                <a:solidFill>
                  <a:srgbClr val="FF0000"/>
                </a:solidFill>
              </a:rPr>
              <a:t>Startups</a:t>
            </a:r>
            <a:r>
              <a:rPr lang="en-IN" sz="4000" b="1" dirty="0">
                <a:solidFill>
                  <a:srgbClr val="FF0000"/>
                </a:solidFill>
              </a:rPr>
              <a:t> Initiative</a:t>
            </a:r>
            <a:r>
              <a:rPr lang="en-IN" b="1" dirty="0">
                <a:solidFill>
                  <a:srgbClr val="FF0000"/>
                </a:solidFill>
              </a:rPr>
              <a:t/>
            </a:r>
            <a:br>
              <a:rPr lang="en-IN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0124AB-6937-C17A-C9C1-13967EF84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836712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Expanding to Tier-2 &amp; Tier-3 Cities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Focus on AI, </a:t>
            </a:r>
            <a:r>
              <a:rPr lang="en-IN" sz="2800" b="1" dirty="0" err="1"/>
              <a:t>DeepTech</a:t>
            </a:r>
            <a:r>
              <a:rPr lang="en-IN" sz="2800" b="1" dirty="0"/>
              <a:t>, and Sustainability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More Collaboration with Government &amp; Enterprises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Scaling Indian </a:t>
            </a:r>
            <a:r>
              <a:rPr lang="en-IN" sz="2800" b="1" dirty="0" err="1"/>
              <a:t>Startups</a:t>
            </a:r>
            <a:r>
              <a:rPr lang="en-IN" sz="2800" b="1" dirty="0"/>
              <a:t> for Global Markets</a:t>
            </a:r>
            <a:endParaRPr lang="en-IN" sz="2800" dirty="0"/>
          </a:p>
          <a:p>
            <a:pPr marL="0" indent="0">
              <a:buNone/>
            </a:pPr>
            <a:endParaRPr lang="en-IN" sz="2800" dirty="0" smtClean="0"/>
          </a:p>
          <a:p>
            <a:pPr marL="0" indent="0">
              <a:buNone/>
            </a:pPr>
            <a:r>
              <a:rPr lang="en-IN" sz="2800" dirty="0" smtClean="0"/>
              <a:t> </a:t>
            </a:r>
            <a:r>
              <a:rPr lang="en-IN" sz="2800" b="1" i="1" dirty="0">
                <a:solidFill>
                  <a:srgbClr val="FF0000"/>
                </a:solidFill>
              </a:rPr>
              <a:t>Example: Digit Insurance – A </a:t>
            </a:r>
            <a:r>
              <a:rPr lang="en-IN" sz="2800" b="1" i="1" dirty="0" err="1">
                <a:solidFill>
                  <a:srgbClr val="FF0000"/>
                </a:solidFill>
              </a:rPr>
              <a:t>startup</a:t>
            </a:r>
            <a:r>
              <a:rPr lang="en-IN" sz="2800" b="1" i="1" dirty="0">
                <a:solidFill>
                  <a:srgbClr val="FF0000"/>
                </a:solidFill>
              </a:rPr>
              <a:t> that leveraged NASSCOM’s network to expand in the </a:t>
            </a:r>
            <a:r>
              <a:rPr lang="en-IN" sz="2800" b="1" i="1" dirty="0" err="1">
                <a:solidFill>
                  <a:srgbClr val="FF0000"/>
                </a:solidFill>
              </a:rPr>
              <a:t>InsurTech</a:t>
            </a:r>
            <a:r>
              <a:rPr lang="en-IN" sz="2800" b="1" i="1" dirty="0">
                <a:solidFill>
                  <a:srgbClr val="FF0000"/>
                </a:solidFill>
              </a:rPr>
              <a:t> sector</a:t>
            </a:r>
            <a:r>
              <a:rPr lang="en-IN" sz="2800" dirty="0"/>
              <a:t>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2210036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B408D0-4649-1CBA-C934-B70EFDD1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4744"/>
            <a:ext cx="8604448" cy="144016"/>
          </a:xfrm>
        </p:spPr>
        <p:txBody>
          <a:bodyPr/>
          <a:lstStyle/>
          <a:p>
            <a:r>
              <a:rPr lang="en-US" sz="3600" b="1" dirty="0"/>
              <a:t/>
            </a:r>
            <a:br>
              <a:rPr lang="en-US" sz="3600" b="1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ACD6E1-02EA-F14E-CBA0-E5EB6C4BD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6166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 </a:t>
            </a:r>
            <a:r>
              <a:rPr lang="en-US" sz="2800" b="1" dirty="0"/>
              <a:t>10,000 Startups is driving India’s startup </a:t>
            </a:r>
            <a:r>
              <a:rPr lang="en-US" sz="2800" b="1" dirty="0" smtClean="0"/>
              <a:t>ecosystem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 smtClean="0"/>
              <a:t> </a:t>
            </a:r>
            <a:r>
              <a:rPr lang="en-US" sz="2800" b="1" dirty="0"/>
              <a:t>Provides funding, mentorship, and global opportunities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 smtClean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 smtClean="0"/>
              <a:t>Helps </a:t>
            </a:r>
            <a:r>
              <a:rPr lang="en-US" sz="2800" b="1" dirty="0"/>
              <a:t>startups overcome challenges &amp; scale efficiently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 smtClean="0"/>
              <a:t> </a:t>
            </a:r>
            <a:r>
              <a:rPr lang="en-US" sz="2800" b="1" dirty="0"/>
              <a:t>Continuous support for emerging technologies &amp; </a:t>
            </a:r>
            <a:r>
              <a:rPr lang="en-US" sz="2800" b="1" dirty="0" smtClean="0"/>
              <a:t>entrepreneurs</a:t>
            </a:r>
            <a:endParaRPr lang="en-US" sz="2800" b="1" dirty="0"/>
          </a:p>
          <a:p>
            <a:pPr marL="0" indent="0">
              <a:buNone/>
            </a:pPr>
            <a:r>
              <a:rPr lang="en-US" sz="2400" b="1" i="1" dirty="0" smtClean="0">
                <a:solidFill>
                  <a:srgbClr val="FF0000"/>
                </a:solidFill>
              </a:rPr>
              <a:t>Final </a:t>
            </a:r>
            <a:r>
              <a:rPr lang="en-US" sz="2400" b="1" i="1" dirty="0">
                <a:solidFill>
                  <a:srgbClr val="FF0000"/>
                </a:solidFill>
              </a:rPr>
              <a:t>Thought: India’s future as a global startup hub depends on initiatives like NASSCOM’s 10,000 Startups!</a:t>
            </a:r>
            <a:endParaRPr lang="en-IN" sz="2400" i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48" y="116632"/>
            <a:ext cx="53458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Conclusion &amp; Key Takeaways</a:t>
            </a:r>
          </a:p>
        </p:txBody>
      </p:sp>
    </p:spTree>
    <p:extLst>
      <p:ext uri="{BB962C8B-B14F-4D97-AF65-F5344CB8AC3E}">
        <p14:creationId xmlns:p14="http://schemas.microsoft.com/office/powerpoint/2010/main" xmlns="" val="254343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2081</TotalTime>
  <Words>589</Words>
  <Application>Microsoft Office PowerPoint</Application>
  <PresentationFormat>On-screen Show (4:3)</PresentationFormat>
  <Paragraphs>95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CSE332</vt:lpstr>
      <vt:lpstr>Start-up India</vt:lpstr>
      <vt:lpstr>Benefits &amp; Incentives for Startups</vt:lpstr>
      <vt:lpstr>Eligibility &amp; Registration Process</vt:lpstr>
      <vt:lpstr>  Funding &amp; Investment Opportunities</vt:lpstr>
      <vt:lpstr>Challenges Faced by Indian Startups</vt:lpstr>
      <vt:lpstr>Impact &amp; Future of Start-up India</vt:lpstr>
      <vt:lpstr>Slide 7</vt:lpstr>
      <vt:lpstr>Slide 8</vt:lpstr>
      <vt:lpstr>Key Features of 10,000 Startups </vt:lpstr>
      <vt:lpstr>Slide 10</vt:lpstr>
      <vt:lpstr>Challenges Faced by Startups </vt:lpstr>
      <vt:lpstr>Future of 10,000 Startups Initiative </vt:lpstr>
      <vt:lpstr> </vt:lpstr>
    </vt:vector>
  </TitlesOfParts>
  <Company>Villanova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Brute Force</dc:title>
  <dc:creator>Anany Levitin</dc:creator>
  <cp:lastModifiedBy>Admin</cp:lastModifiedBy>
  <cp:revision>161</cp:revision>
  <dcterms:created xsi:type="dcterms:W3CDTF">1999-08-23T17:38:43Z</dcterms:created>
  <dcterms:modified xsi:type="dcterms:W3CDTF">2025-02-18T04:14:09Z</dcterms:modified>
</cp:coreProperties>
</file>