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93" r:id="rId12"/>
    <p:sldId id="266" r:id="rId13"/>
    <p:sldId id="294" r:id="rId14"/>
    <p:sldId id="295" r:id="rId15"/>
    <p:sldId id="272" r:id="rId16"/>
    <p:sldId id="296" r:id="rId17"/>
    <p:sldId id="297" r:id="rId18"/>
    <p:sldId id="309" r:id="rId19"/>
    <p:sldId id="291" r:id="rId20"/>
    <p:sldId id="310" r:id="rId21"/>
    <p:sldId id="311" r:id="rId22"/>
    <p:sldId id="312" r:id="rId23"/>
    <p:sldId id="313" r:id="rId24"/>
    <p:sldId id="314" r:id="rId25"/>
    <p:sldId id="315" r:id="rId26"/>
    <p:sldId id="292" r:id="rId27"/>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showPr>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0DEEF"/>
          </a:solidFill>
        </a:fill>
      </a:tcStyle>
    </a:wholeTbl>
    <a:band2H>
      <a:tcTxStyle/>
      <a:tcStyle>
        <a:tcBdr/>
        <a:fill>
          <a:solidFill>
            <a:srgbClr val="E9EFF7"/>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a:tcStyle>
        <a:tcBdr/>
        <a:fill>
          <a:solidFill>
            <a:srgbClr val="F0F0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a:tcStyle>
        <a:tcBdr/>
        <a:fill>
          <a:solidFill>
            <a:srgbClr val="EB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82" d="100"/>
          <a:sy n="82" d="100"/>
        </p:scale>
        <p:origin x="-691" y="-91"/>
      </p:cViewPr>
      <p:guideLst>
        <p:guide orient="horz" pos="2160"/>
        <p:guide pos="384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 name="Shape 102"/>
          <p:cNvSpPr>
            <a:spLocks noGrp="1" noRot="1" noChangeAspect="1"/>
          </p:cNvSpPr>
          <p:nvPr>
            <p:ph type="sldImg"/>
          </p:nvPr>
        </p:nvSpPr>
        <p:spPr>
          <a:xfrm>
            <a:off x="1143000" y="685800"/>
            <a:ext cx="4572000" cy="3429000"/>
          </a:xfrm>
          <a:prstGeom prst="rect">
            <a:avLst/>
          </a:prstGeom>
        </p:spPr>
        <p:txBody>
          <a:bodyPr/>
          <a:lstStyle/>
          <a:p>
            <a:endParaRPr/>
          </a:p>
        </p:txBody>
      </p:sp>
      <p:sp>
        <p:nvSpPr>
          <p:cNvPr id="103" name="Shape 103"/>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11" name="Title Text"/>
          <p:cNvSpPr txBox="1">
            <a:spLocks noGrp="1"/>
          </p:cNvSpPr>
          <p:nvPr>
            <p:ph type="title"/>
          </p:nvPr>
        </p:nvSpPr>
        <p:spPr>
          <a:xfrm>
            <a:off x="1524000" y="1122362"/>
            <a:ext cx="9144000" cy="2387601"/>
          </a:xfrm>
          <a:prstGeom prst="rect">
            <a:avLst/>
          </a:prstGeom>
        </p:spPr>
        <p:txBody>
          <a:bodyPr anchor="b"/>
          <a:lstStyle>
            <a:lvl1pPr algn="ctr">
              <a:defRPr sz="6000"/>
            </a:lvl1pPr>
          </a:lstStyle>
          <a:p>
            <a:r>
              <a:t>Title Text</a:t>
            </a:r>
          </a:p>
        </p:txBody>
      </p:sp>
      <p:sp>
        <p:nvSpPr>
          <p:cNvPr id="12" name="Body Level One…"/>
          <p:cNvSpPr txBox="1">
            <a:spLocks noGrp="1"/>
          </p:cNvSpPr>
          <p:nvPr>
            <p:ph type="body" sz="quarter" idx="1"/>
          </p:nvPr>
        </p:nvSpPr>
        <p:spPr>
          <a:xfrm>
            <a:off x="1524000" y="3602037"/>
            <a:ext cx="9144000" cy="1655763"/>
          </a:xfrm>
          <a:prstGeom prst="rect">
            <a:avLst/>
          </a:prstGeom>
        </p:spPr>
        <p:txBody>
          <a:bodyPr/>
          <a:lstStyle>
            <a:lvl1pPr marL="0" indent="0" algn="ctr">
              <a:buSzTx/>
              <a:buFontTx/>
              <a:buNone/>
              <a:defRPr sz="2400"/>
            </a:lvl1pPr>
            <a:lvl2pPr marL="0" indent="457200" algn="ctr">
              <a:buSzTx/>
              <a:buFontTx/>
              <a:buNone/>
              <a:defRPr sz="2400"/>
            </a:lvl2pPr>
            <a:lvl3pPr marL="0" indent="914400" algn="ctr">
              <a:buSzTx/>
              <a:buFontTx/>
              <a:buNone/>
              <a:defRPr sz="2400"/>
            </a:lvl3pPr>
            <a:lvl4pPr marL="0" indent="1371600" algn="ctr">
              <a:buSzTx/>
              <a:buFontTx/>
              <a:buNone/>
              <a:defRPr sz="2400"/>
            </a:lvl4pPr>
            <a:lvl5pPr marL="0" indent="1828800" algn="ctr">
              <a:buSzTx/>
              <a:buFontTx/>
              <a:buNone/>
              <a:defRPr sz="2400"/>
            </a:lvl5pPr>
          </a:lstStyle>
          <a:p>
            <a:r>
              <a:t>Body Level One</a:t>
            </a:r>
          </a:p>
          <a:p>
            <a:pPr lvl="1"/>
            <a:r>
              <a:t>Body Level Two</a:t>
            </a:r>
          </a:p>
          <a:p>
            <a:pPr lvl="2"/>
            <a:r>
              <a:t>Body Level Three</a:t>
            </a:r>
          </a:p>
          <a:p>
            <a:pPr lvl="3"/>
            <a:r>
              <a:t>Body Level Four</a:t>
            </a:r>
          </a:p>
          <a:p>
            <a:pPr lvl="4"/>
            <a:r>
              <a:t>Body Level Five</a:t>
            </a:r>
          </a:p>
        </p:txBody>
      </p:sp>
      <p:sp>
        <p:nvSpPr>
          <p:cNvPr id="13" name="Slide Number"/>
          <p:cNvSpPr txBox="1">
            <a:spLocks noGrp="1"/>
          </p:cNvSpPr>
          <p:nvPr>
            <p:ph type="sldNum" sz="quarter" idx="2"/>
          </p:nvPr>
        </p:nvSpPr>
        <p:spPr>
          <a:prstGeom prst="rect">
            <a:avLst/>
          </a:prstGeom>
        </p:spPr>
        <p:txBody>
          <a:bodyPr/>
          <a:lstStyle/>
          <a:p>
            <a:fld id="{86CB4B4D-7CA3-9044-876B-883B54F8677D}" type="slidenum">
              <a:rPr/>
              <a:pPr/>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Section Header">
    <p:spTree>
      <p:nvGrpSpPr>
        <p:cNvPr id="1" name=""/>
        <p:cNvGrpSpPr/>
        <p:nvPr/>
      </p:nvGrpSpPr>
      <p:grpSpPr>
        <a:xfrm>
          <a:off x="0" y="0"/>
          <a:ext cx="0" cy="0"/>
          <a:chOff x="0" y="0"/>
          <a:chExt cx="0" cy="0"/>
        </a:xfrm>
      </p:grpSpPr>
      <p:sp>
        <p:nvSpPr>
          <p:cNvPr id="29" name="Title Text"/>
          <p:cNvSpPr txBox="1">
            <a:spLocks noGrp="1"/>
          </p:cNvSpPr>
          <p:nvPr>
            <p:ph type="title"/>
          </p:nvPr>
        </p:nvSpPr>
        <p:spPr>
          <a:xfrm>
            <a:off x="831850" y="1709738"/>
            <a:ext cx="10515600" cy="2852737"/>
          </a:xfrm>
          <a:prstGeom prst="rect">
            <a:avLst/>
          </a:prstGeom>
        </p:spPr>
        <p:txBody>
          <a:bodyPr anchor="b"/>
          <a:lstStyle>
            <a:lvl1pPr>
              <a:defRPr sz="6000"/>
            </a:lvl1pPr>
          </a:lstStyle>
          <a:p>
            <a:r>
              <a:t>Title Text</a:t>
            </a:r>
          </a:p>
        </p:txBody>
      </p:sp>
      <p:sp>
        <p:nvSpPr>
          <p:cNvPr id="30" name="Body Level One…"/>
          <p:cNvSpPr txBox="1">
            <a:spLocks noGrp="1"/>
          </p:cNvSpPr>
          <p:nvPr>
            <p:ph type="body" sz="quarter" idx="1"/>
          </p:nvPr>
        </p:nvSpPr>
        <p:spPr>
          <a:xfrm>
            <a:off x="831850" y="4589462"/>
            <a:ext cx="10515600" cy="1500188"/>
          </a:xfrm>
          <a:prstGeom prst="rect">
            <a:avLst/>
          </a:prstGeom>
        </p:spPr>
        <p:txBody>
          <a:bodyPr/>
          <a:lstStyle>
            <a:lvl1pPr marL="0" indent="0">
              <a:buSzTx/>
              <a:buFontTx/>
              <a:buNone/>
              <a:defRPr sz="2400">
                <a:solidFill>
                  <a:srgbClr val="888888"/>
                </a:solidFill>
              </a:defRPr>
            </a:lvl1pPr>
            <a:lvl2pPr marL="0" indent="457200">
              <a:buSzTx/>
              <a:buFontTx/>
              <a:buNone/>
              <a:defRPr sz="2400">
                <a:solidFill>
                  <a:srgbClr val="888888"/>
                </a:solidFill>
              </a:defRPr>
            </a:lvl2pPr>
            <a:lvl3pPr marL="0" indent="914400">
              <a:buSzTx/>
              <a:buFontTx/>
              <a:buNone/>
              <a:defRPr sz="2400">
                <a:solidFill>
                  <a:srgbClr val="888888"/>
                </a:solidFill>
              </a:defRPr>
            </a:lvl3pPr>
            <a:lvl4pPr marL="0" indent="1371600">
              <a:buSzTx/>
              <a:buFontTx/>
              <a:buNone/>
              <a:defRPr sz="2400">
                <a:solidFill>
                  <a:srgbClr val="888888"/>
                </a:solidFill>
              </a:defRPr>
            </a:lvl4pPr>
            <a:lvl5pPr marL="0" indent="1828800">
              <a:buSzTx/>
              <a:buFontTx/>
              <a:buNone/>
              <a:defRPr sz="2400">
                <a:solidFill>
                  <a:srgbClr val="888888"/>
                </a:solidFill>
              </a:defRPr>
            </a:lvl5pPr>
          </a:lstStyle>
          <a:p>
            <a:r>
              <a:t>Body Level One</a:t>
            </a:r>
          </a:p>
          <a:p>
            <a:pPr lvl="1"/>
            <a:r>
              <a:t>Body Level Two</a:t>
            </a:r>
          </a:p>
          <a:p>
            <a:pPr lvl="2"/>
            <a:r>
              <a:t>Body Level Three</a:t>
            </a:r>
          </a:p>
          <a:p>
            <a:pPr lvl="3"/>
            <a:r>
              <a:t>Body Level Four</a:t>
            </a:r>
          </a:p>
          <a:p>
            <a:pPr lvl="4"/>
            <a:r>
              <a:t>Body Level Five</a:t>
            </a:r>
          </a:p>
        </p:txBody>
      </p:sp>
      <p:sp>
        <p:nvSpPr>
          <p:cNvPr id="31" name="Slide Number"/>
          <p:cNvSpPr txBox="1">
            <a:spLocks noGrp="1"/>
          </p:cNvSpPr>
          <p:nvPr>
            <p:ph type="sldNum" sz="quarter" idx="2"/>
          </p:nvPr>
        </p:nvSpPr>
        <p:spPr>
          <a:prstGeom prst="rect">
            <a:avLst/>
          </a:prstGeom>
        </p:spPr>
        <p:txBody>
          <a:bodyPr/>
          <a:lstStyle/>
          <a:p>
            <a:fld id="{86CB4B4D-7CA3-9044-876B-883B54F8677D}" type="slidenum">
              <a:rPr/>
              <a:pPr/>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wo Content">
    <p:spTree>
      <p:nvGrpSpPr>
        <p:cNvPr id="1" name=""/>
        <p:cNvGrpSpPr/>
        <p:nvPr/>
      </p:nvGrpSpPr>
      <p:grpSpPr>
        <a:xfrm>
          <a:off x="0" y="0"/>
          <a:ext cx="0" cy="0"/>
          <a:chOff x="0" y="0"/>
          <a:chExt cx="0" cy="0"/>
        </a:xfrm>
      </p:grpSpPr>
      <p:sp>
        <p:nvSpPr>
          <p:cNvPr id="38" name="Title Text"/>
          <p:cNvSpPr txBox="1">
            <a:spLocks noGrp="1"/>
          </p:cNvSpPr>
          <p:nvPr>
            <p:ph type="title"/>
          </p:nvPr>
        </p:nvSpPr>
        <p:spPr>
          <a:prstGeom prst="rect">
            <a:avLst/>
          </a:prstGeom>
        </p:spPr>
        <p:txBody>
          <a:bodyPr/>
          <a:lstStyle/>
          <a:p>
            <a:r>
              <a:t>Title Text</a:t>
            </a:r>
          </a:p>
        </p:txBody>
      </p:sp>
      <p:sp>
        <p:nvSpPr>
          <p:cNvPr id="39" name="Body Level One…"/>
          <p:cNvSpPr txBox="1">
            <a:spLocks noGrp="1"/>
          </p:cNvSpPr>
          <p:nvPr>
            <p:ph type="body" sz="half" idx="1"/>
          </p:nvPr>
        </p:nvSpPr>
        <p:spPr>
          <a:xfrm>
            <a:off x="838200" y="1825625"/>
            <a:ext cx="5181600" cy="4351338"/>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40" name="Slide Number"/>
          <p:cNvSpPr txBox="1">
            <a:spLocks noGrp="1"/>
          </p:cNvSpPr>
          <p:nvPr>
            <p:ph type="sldNum" sz="quarter" idx="2"/>
          </p:nvPr>
        </p:nvSpPr>
        <p:spPr>
          <a:prstGeom prst="rect">
            <a:avLst/>
          </a:prstGeom>
        </p:spPr>
        <p:txBody>
          <a:bodyPr/>
          <a:lstStyle/>
          <a:p>
            <a:fld id="{86CB4B4D-7CA3-9044-876B-883B54F8677D}" type="slidenum">
              <a:rPr/>
              <a:pPr/>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Comparison">
    <p:spTree>
      <p:nvGrpSpPr>
        <p:cNvPr id="1" name=""/>
        <p:cNvGrpSpPr/>
        <p:nvPr/>
      </p:nvGrpSpPr>
      <p:grpSpPr>
        <a:xfrm>
          <a:off x="0" y="0"/>
          <a:ext cx="0" cy="0"/>
          <a:chOff x="0" y="0"/>
          <a:chExt cx="0" cy="0"/>
        </a:xfrm>
      </p:grpSpPr>
      <p:sp>
        <p:nvSpPr>
          <p:cNvPr id="47" name="Title Text"/>
          <p:cNvSpPr txBox="1">
            <a:spLocks noGrp="1"/>
          </p:cNvSpPr>
          <p:nvPr>
            <p:ph type="title"/>
          </p:nvPr>
        </p:nvSpPr>
        <p:spPr>
          <a:xfrm>
            <a:off x="839787" y="365125"/>
            <a:ext cx="10515601" cy="1325563"/>
          </a:xfrm>
          <a:prstGeom prst="rect">
            <a:avLst/>
          </a:prstGeom>
        </p:spPr>
        <p:txBody>
          <a:bodyPr/>
          <a:lstStyle/>
          <a:p>
            <a:r>
              <a:t>Title Text</a:t>
            </a:r>
          </a:p>
        </p:txBody>
      </p:sp>
      <p:sp>
        <p:nvSpPr>
          <p:cNvPr id="48" name="Body Level One…"/>
          <p:cNvSpPr txBox="1">
            <a:spLocks noGrp="1"/>
          </p:cNvSpPr>
          <p:nvPr>
            <p:ph type="body" sz="quarter" idx="1"/>
          </p:nvPr>
        </p:nvSpPr>
        <p:spPr>
          <a:xfrm>
            <a:off x="839787" y="1681163"/>
            <a:ext cx="5157789" cy="823913"/>
          </a:xfrm>
          <a:prstGeom prst="rect">
            <a:avLst/>
          </a:prstGeom>
        </p:spPr>
        <p:txBody>
          <a:bodyPr anchor="b"/>
          <a:lstStyle>
            <a:lvl1pPr marL="0" indent="0">
              <a:buSzTx/>
              <a:buFontTx/>
              <a:buNone/>
              <a:defRPr sz="2400" b="1"/>
            </a:lvl1pPr>
            <a:lvl2pPr marL="0" indent="457200">
              <a:buSzTx/>
              <a:buFontTx/>
              <a:buNone/>
              <a:defRPr sz="2400" b="1"/>
            </a:lvl2pPr>
            <a:lvl3pPr marL="0" indent="914400">
              <a:buSzTx/>
              <a:buFontTx/>
              <a:buNone/>
              <a:defRPr sz="2400" b="1"/>
            </a:lvl3pPr>
            <a:lvl4pPr marL="0" indent="1371600">
              <a:buSzTx/>
              <a:buFontTx/>
              <a:buNone/>
              <a:defRPr sz="2400" b="1"/>
            </a:lvl4pPr>
            <a:lvl5pPr marL="0" indent="1828800">
              <a:buSzTx/>
              <a:buFontTx/>
              <a:buNone/>
              <a:defRPr sz="2400" b="1"/>
            </a:lvl5pPr>
          </a:lstStyle>
          <a:p>
            <a:r>
              <a:t>Body Level One</a:t>
            </a:r>
          </a:p>
          <a:p>
            <a:pPr lvl="1"/>
            <a:r>
              <a:t>Body Level Two</a:t>
            </a:r>
          </a:p>
          <a:p>
            <a:pPr lvl="2"/>
            <a:r>
              <a:t>Body Level Three</a:t>
            </a:r>
          </a:p>
          <a:p>
            <a:pPr lvl="3"/>
            <a:r>
              <a:t>Body Level Four</a:t>
            </a:r>
          </a:p>
          <a:p>
            <a:pPr lvl="4"/>
            <a:r>
              <a:t>Body Level Five</a:t>
            </a:r>
          </a:p>
        </p:txBody>
      </p:sp>
      <p:sp>
        <p:nvSpPr>
          <p:cNvPr id="49" name="Text Placeholder 4"/>
          <p:cNvSpPr>
            <a:spLocks noGrp="1"/>
          </p:cNvSpPr>
          <p:nvPr>
            <p:ph type="body" sz="quarter" idx="21"/>
          </p:nvPr>
        </p:nvSpPr>
        <p:spPr>
          <a:xfrm>
            <a:off x="6172200" y="1681163"/>
            <a:ext cx="5183188" cy="823913"/>
          </a:xfrm>
          <a:prstGeom prst="rect">
            <a:avLst/>
          </a:prstGeom>
        </p:spPr>
        <p:txBody>
          <a:bodyPr anchor="b"/>
          <a:lstStyle/>
          <a:p>
            <a:pPr marL="0" indent="0">
              <a:buSzTx/>
              <a:buFontTx/>
              <a:buNone/>
              <a:defRPr sz="2400" b="1"/>
            </a:pPr>
            <a:endParaRPr/>
          </a:p>
        </p:txBody>
      </p:sp>
      <p:sp>
        <p:nvSpPr>
          <p:cNvPr id="50" name="Slide Number"/>
          <p:cNvSpPr txBox="1">
            <a:spLocks noGrp="1"/>
          </p:cNvSpPr>
          <p:nvPr>
            <p:ph type="sldNum" sz="quarter" idx="2"/>
          </p:nvPr>
        </p:nvSpPr>
        <p:spPr>
          <a:prstGeom prst="rect">
            <a:avLst/>
          </a:prstGeom>
        </p:spPr>
        <p:txBody>
          <a:bodyPr/>
          <a:lstStyle/>
          <a:p>
            <a:fld id="{86CB4B4D-7CA3-9044-876B-883B54F8677D}" type="slidenum">
              <a:rPr/>
              <a:pPr/>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Content with Caption">
    <p:spTree>
      <p:nvGrpSpPr>
        <p:cNvPr id="1" name=""/>
        <p:cNvGrpSpPr/>
        <p:nvPr/>
      </p:nvGrpSpPr>
      <p:grpSpPr>
        <a:xfrm>
          <a:off x="0" y="0"/>
          <a:ext cx="0" cy="0"/>
          <a:chOff x="0" y="0"/>
          <a:chExt cx="0" cy="0"/>
        </a:xfrm>
      </p:grpSpPr>
      <p:sp>
        <p:nvSpPr>
          <p:cNvPr id="72" name="Title Text"/>
          <p:cNvSpPr txBox="1">
            <a:spLocks noGrp="1"/>
          </p:cNvSpPr>
          <p:nvPr>
            <p:ph type="title"/>
          </p:nvPr>
        </p:nvSpPr>
        <p:spPr>
          <a:xfrm>
            <a:off x="839787" y="457200"/>
            <a:ext cx="3932239" cy="1600200"/>
          </a:xfrm>
          <a:prstGeom prst="rect">
            <a:avLst/>
          </a:prstGeom>
        </p:spPr>
        <p:txBody>
          <a:bodyPr anchor="b"/>
          <a:lstStyle>
            <a:lvl1pPr>
              <a:defRPr sz="3200"/>
            </a:lvl1pPr>
          </a:lstStyle>
          <a:p>
            <a:r>
              <a:t>Title Text</a:t>
            </a:r>
          </a:p>
        </p:txBody>
      </p:sp>
      <p:sp>
        <p:nvSpPr>
          <p:cNvPr id="73" name="Body Level One…"/>
          <p:cNvSpPr txBox="1">
            <a:spLocks noGrp="1"/>
          </p:cNvSpPr>
          <p:nvPr>
            <p:ph type="body" sz="half" idx="1"/>
          </p:nvPr>
        </p:nvSpPr>
        <p:spPr>
          <a:xfrm>
            <a:off x="5183187" y="987425"/>
            <a:ext cx="6172201" cy="4873625"/>
          </a:xfrm>
          <a:prstGeom prst="rect">
            <a:avLst/>
          </a:prstGeom>
        </p:spPr>
        <p:txBody>
          <a:bodyPr/>
          <a:lstStyle>
            <a:lvl1pPr>
              <a:defRPr sz="3200"/>
            </a:lvl1pPr>
            <a:lvl2pPr marL="718457" indent="-261257">
              <a:defRPr sz="3200"/>
            </a:lvl2pPr>
            <a:lvl3pPr marL="1219200" indent="-304800">
              <a:defRPr sz="3200"/>
            </a:lvl3pPr>
            <a:lvl4pPr marL="1737360" indent="-365760">
              <a:defRPr sz="3200"/>
            </a:lvl4pPr>
            <a:lvl5pPr marL="2194560" indent="-365760">
              <a:defRPr sz="3200"/>
            </a:lvl5pPr>
          </a:lstStyle>
          <a:p>
            <a:r>
              <a:t>Body Level One</a:t>
            </a:r>
          </a:p>
          <a:p>
            <a:pPr lvl="1"/>
            <a:r>
              <a:t>Body Level Two</a:t>
            </a:r>
          </a:p>
          <a:p>
            <a:pPr lvl="2"/>
            <a:r>
              <a:t>Body Level Three</a:t>
            </a:r>
          </a:p>
          <a:p>
            <a:pPr lvl="3"/>
            <a:r>
              <a:t>Body Level Four</a:t>
            </a:r>
          </a:p>
          <a:p>
            <a:pPr lvl="4"/>
            <a:r>
              <a:t>Body Level Five</a:t>
            </a:r>
          </a:p>
        </p:txBody>
      </p:sp>
      <p:sp>
        <p:nvSpPr>
          <p:cNvPr id="74" name="Text Placeholder 3"/>
          <p:cNvSpPr>
            <a:spLocks noGrp="1"/>
          </p:cNvSpPr>
          <p:nvPr>
            <p:ph type="body" sz="quarter" idx="21"/>
          </p:nvPr>
        </p:nvSpPr>
        <p:spPr>
          <a:xfrm>
            <a:off x="839787" y="2057400"/>
            <a:ext cx="3932238" cy="3811588"/>
          </a:xfrm>
          <a:prstGeom prst="rect">
            <a:avLst/>
          </a:prstGeom>
        </p:spPr>
        <p:txBody>
          <a:bodyPr/>
          <a:lstStyle/>
          <a:p>
            <a:pPr marL="0" indent="0">
              <a:buSzTx/>
              <a:buFontTx/>
              <a:buNone/>
              <a:defRPr sz="1600"/>
            </a:pPr>
            <a:endParaRPr/>
          </a:p>
        </p:txBody>
      </p:sp>
      <p:sp>
        <p:nvSpPr>
          <p:cNvPr id="75" name="Slide Number"/>
          <p:cNvSpPr txBox="1">
            <a:spLocks noGrp="1"/>
          </p:cNvSpPr>
          <p:nvPr>
            <p:ph type="sldNum" sz="quarter" idx="2"/>
          </p:nvPr>
        </p:nvSpPr>
        <p:spPr>
          <a:prstGeom prst="rect">
            <a:avLst/>
          </a:prstGeom>
        </p:spPr>
        <p:txBody>
          <a:bodyPr/>
          <a:lstStyle/>
          <a:p>
            <a:fld id="{86CB4B4D-7CA3-9044-876B-883B54F8677D}" type="slidenum">
              <a:rPr/>
              <a:pPr/>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Picture with Caption">
    <p:spTree>
      <p:nvGrpSpPr>
        <p:cNvPr id="1" name=""/>
        <p:cNvGrpSpPr/>
        <p:nvPr/>
      </p:nvGrpSpPr>
      <p:grpSpPr>
        <a:xfrm>
          <a:off x="0" y="0"/>
          <a:ext cx="0" cy="0"/>
          <a:chOff x="0" y="0"/>
          <a:chExt cx="0" cy="0"/>
        </a:xfrm>
      </p:grpSpPr>
      <p:sp>
        <p:nvSpPr>
          <p:cNvPr id="82" name="Title Text"/>
          <p:cNvSpPr txBox="1">
            <a:spLocks noGrp="1"/>
          </p:cNvSpPr>
          <p:nvPr>
            <p:ph type="title"/>
          </p:nvPr>
        </p:nvSpPr>
        <p:spPr>
          <a:xfrm>
            <a:off x="839787" y="457200"/>
            <a:ext cx="3932239" cy="1600200"/>
          </a:xfrm>
          <a:prstGeom prst="rect">
            <a:avLst/>
          </a:prstGeom>
        </p:spPr>
        <p:txBody>
          <a:bodyPr anchor="b"/>
          <a:lstStyle>
            <a:lvl1pPr>
              <a:defRPr sz="3200"/>
            </a:lvl1pPr>
          </a:lstStyle>
          <a:p>
            <a:r>
              <a:t>Title Text</a:t>
            </a:r>
          </a:p>
        </p:txBody>
      </p:sp>
      <p:sp>
        <p:nvSpPr>
          <p:cNvPr id="83" name="Picture Placeholder 2"/>
          <p:cNvSpPr>
            <a:spLocks noGrp="1"/>
          </p:cNvSpPr>
          <p:nvPr>
            <p:ph type="pic" sz="half" idx="21"/>
          </p:nvPr>
        </p:nvSpPr>
        <p:spPr>
          <a:xfrm>
            <a:off x="5183187" y="987425"/>
            <a:ext cx="6172201" cy="4873625"/>
          </a:xfrm>
          <a:prstGeom prst="rect">
            <a:avLst/>
          </a:prstGeom>
        </p:spPr>
        <p:txBody>
          <a:bodyPr lIns="91439" rIns="91439">
            <a:noAutofit/>
          </a:bodyPr>
          <a:lstStyle/>
          <a:p>
            <a:endParaRPr/>
          </a:p>
        </p:txBody>
      </p:sp>
      <p:sp>
        <p:nvSpPr>
          <p:cNvPr id="84" name="Body Level One…"/>
          <p:cNvSpPr txBox="1">
            <a:spLocks noGrp="1"/>
          </p:cNvSpPr>
          <p:nvPr>
            <p:ph type="body" sz="quarter" idx="1"/>
          </p:nvPr>
        </p:nvSpPr>
        <p:spPr>
          <a:xfrm>
            <a:off x="839787" y="2057400"/>
            <a:ext cx="3932239" cy="3811588"/>
          </a:xfrm>
          <a:prstGeom prst="rect">
            <a:avLst/>
          </a:prstGeom>
        </p:spPr>
        <p:txBody>
          <a:bodyPr/>
          <a:lstStyle>
            <a:lvl1pPr marL="0" indent="0">
              <a:buSzTx/>
              <a:buFontTx/>
              <a:buNone/>
              <a:defRPr sz="1600"/>
            </a:lvl1pPr>
            <a:lvl2pPr marL="0" indent="457200">
              <a:buSzTx/>
              <a:buFontTx/>
              <a:buNone/>
              <a:defRPr sz="1600"/>
            </a:lvl2pPr>
            <a:lvl3pPr marL="0" indent="914400">
              <a:buSzTx/>
              <a:buFontTx/>
              <a:buNone/>
              <a:defRPr sz="1600"/>
            </a:lvl3pPr>
            <a:lvl4pPr marL="0" indent="1371600">
              <a:buSzTx/>
              <a:buFontTx/>
              <a:buNone/>
              <a:defRPr sz="1600"/>
            </a:lvl4pPr>
            <a:lvl5pPr marL="0" indent="1828800">
              <a:buSzTx/>
              <a:buFontTx/>
              <a:buNone/>
              <a:defRPr sz="1600"/>
            </a:lvl5pPr>
          </a:lstStyle>
          <a:p>
            <a:r>
              <a:t>Body Level One</a:t>
            </a:r>
          </a:p>
          <a:p>
            <a:pPr lvl="1"/>
            <a:r>
              <a:t>Body Level Two</a:t>
            </a:r>
          </a:p>
          <a:p>
            <a:pPr lvl="2"/>
            <a:r>
              <a:t>Body Level Three</a:t>
            </a:r>
          </a:p>
          <a:p>
            <a:pPr lvl="3"/>
            <a:r>
              <a:t>Body Level Four</a:t>
            </a:r>
          </a:p>
          <a:p>
            <a:pPr lvl="4"/>
            <a:r>
              <a:t>Body Level Five</a:t>
            </a:r>
          </a:p>
        </p:txBody>
      </p:sp>
      <p:sp>
        <p:nvSpPr>
          <p:cNvPr id="85" name="Slide Number"/>
          <p:cNvSpPr txBox="1">
            <a:spLocks noGrp="1"/>
          </p:cNvSpPr>
          <p:nvPr>
            <p:ph type="sldNum" sz="quarter" idx="2"/>
          </p:nvPr>
        </p:nvSpPr>
        <p:spPr>
          <a:prstGeom prst="rect">
            <a:avLst/>
          </a:prstGeom>
        </p:spPr>
        <p:txBody>
          <a:bodyPr/>
          <a:lstStyle/>
          <a:p>
            <a:fld id="{86CB4B4D-7CA3-9044-876B-883B54F8677D}" type="slidenum">
              <a:rPr/>
              <a:pPr/>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1_Two Content">
    <p:spTree>
      <p:nvGrpSpPr>
        <p:cNvPr id="1" name=""/>
        <p:cNvGrpSpPr/>
        <p:nvPr/>
      </p:nvGrpSpPr>
      <p:grpSpPr>
        <a:xfrm>
          <a:off x="0" y="0"/>
          <a:ext cx="0" cy="0"/>
          <a:chOff x="0" y="0"/>
          <a:chExt cx="0" cy="0"/>
        </a:xfrm>
      </p:grpSpPr>
      <p:sp>
        <p:nvSpPr>
          <p:cNvPr id="92" name="Rectangle 1"/>
          <p:cNvSpPr/>
          <p:nvPr/>
        </p:nvSpPr>
        <p:spPr>
          <a:xfrm>
            <a:off x="0" y="6778625"/>
            <a:ext cx="12192000" cy="79376"/>
          </a:xfrm>
          <a:prstGeom prst="rect">
            <a:avLst/>
          </a:prstGeom>
          <a:solidFill>
            <a:srgbClr val="ED771F"/>
          </a:solidFill>
          <a:ln w="12700">
            <a:miter lim="400000"/>
          </a:ln>
        </p:spPr>
        <p:txBody>
          <a:bodyPr lIns="45719" rIns="45719" anchor="ctr"/>
          <a:lstStyle/>
          <a:p>
            <a:pPr algn="ctr" defTabSz="685800">
              <a:defRPr sz="1300">
                <a:solidFill>
                  <a:srgbClr val="FFFFFF"/>
                </a:solidFill>
              </a:defRPr>
            </a:pPr>
            <a:endParaRPr/>
          </a:p>
        </p:txBody>
      </p:sp>
      <p:sp>
        <p:nvSpPr>
          <p:cNvPr id="93" name="Rectangle 2"/>
          <p:cNvSpPr/>
          <p:nvPr/>
        </p:nvSpPr>
        <p:spPr>
          <a:xfrm>
            <a:off x="2078568" y="431800"/>
            <a:ext cx="8106834" cy="46038"/>
          </a:xfrm>
          <a:prstGeom prst="rect">
            <a:avLst/>
          </a:prstGeom>
          <a:solidFill>
            <a:srgbClr val="F47D35"/>
          </a:solidFill>
          <a:ln w="12700">
            <a:miter lim="400000"/>
          </a:ln>
        </p:spPr>
        <p:txBody>
          <a:bodyPr lIns="45719" rIns="45719" anchor="ctr"/>
          <a:lstStyle/>
          <a:p>
            <a:pPr algn="ctr">
              <a:defRPr>
                <a:solidFill>
                  <a:srgbClr val="FFFFFF"/>
                </a:solidFill>
              </a:defRPr>
            </a:pPr>
            <a:endParaRPr/>
          </a:p>
        </p:txBody>
      </p:sp>
      <p:pic>
        <p:nvPicPr>
          <p:cNvPr id="94" name="Picture 4" descr="Picture 4"/>
          <p:cNvPicPr>
            <a:picLocks noChangeAspect="1"/>
          </p:cNvPicPr>
          <p:nvPr/>
        </p:nvPicPr>
        <p:blipFill>
          <a:blip r:embed="rId2" cstate="print">
            <a:extLst/>
          </a:blip>
          <a:stretch>
            <a:fillRect/>
          </a:stretch>
        </p:blipFill>
        <p:spPr>
          <a:xfrm>
            <a:off x="10354733" y="177800"/>
            <a:ext cx="1547285" cy="419100"/>
          </a:xfrm>
          <a:prstGeom prst="rect">
            <a:avLst/>
          </a:prstGeom>
          <a:ln w="12700">
            <a:miter lim="400000"/>
          </a:ln>
        </p:spPr>
      </p:pic>
      <p:pic>
        <p:nvPicPr>
          <p:cNvPr id="95" name="Picture 5" descr="Picture 5"/>
          <p:cNvPicPr>
            <a:picLocks noChangeAspect="1"/>
          </p:cNvPicPr>
          <p:nvPr/>
        </p:nvPicPr>
        <p:blipFill>
          <a:blip r:embed="rId3" cstate="print">
            <a:extLst/>
          </a:blip>
          <a:stretch>
            <a:fillRect/>
          </a:stretch>
        </p:blipFill>
        <p:spPr>
          <a:xfrm>
            <a:off x="328083" y="177801"/>
            <a:ext cx="1581151" cy="506413"/>
          </a:xfrm>
          <a:prstGeom prst="rect">
            <a:avLst/>
          </a:prstGeom>
          <a:ln w="12700">
            <a:miter lim="400000"/>
          </a:ln>
        </p:spPr>
      </p:pic>
      <p:sp>
        <p:nvSpPr>
          <p:cNvPr id="96" name="Slide Number"/>
          <p:cNvSpPr txBox="1">
            <a:spLocks noGrp="1"/>
          </p:cNvSpPr>
          <p:nvPr>
            <p:ph type="sldNum" sz="quarter" idx="2"/>
          </p:nvPr>
        </p:nvSpPr>
        <p:spPr>
          <a:xfrm>
            <a:off x="5892800" y="6172200"/>
            <a:ext cx="2844800" cy="368301"/>
          </a:xfrm>
          <a:prstGeom prst="rect">
            <a:avLst/>
          </a:prstGeom>
        </p:spPr>
        <p:txBody>
          <a:bodyPr/>
          <a:lstStyle/>
          <a:p>
            <a:fld id="{86CB4B4D-7CA3-9044-876B-883B54F8677D}" type="slidenum">
              <a:rPr/>
              <a:pPr/>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838200" y="365125"/>
            <a:ext cx="10515600" cy="1325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p>
            <a:r>
              <a:t>Title Text</a:t>
            </a:r>
          </a:p>
        </p:txBody>
      </p:sp>
      <p:sp>
        <p:nvSpPr>
          <p:cNvPr id="3" name="Body Level One…"/>
          <p:cNvSpPr txBox="1">
            <a:spLocks noGrp="1"/>
          </p:cNvSpPr>
          <p:nvPr>
            <p:ph type="body" idx="1"/>
          </p:nvPr>
        </p:nvSpPr>
        <p:spPr>
          <a:xfrm>
            <a:off x="838200" y="1825625"/>
            <a:ext cx="10515600" cy="435133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ormAutofit/>
          </a:bodyPr>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11095176" y="6414760"/>
            <a:ext cx="258624" cy="248305"/>
          </a:xfrm>
          <a:prstGeom prst="rect">
            <a:avLst/>
          </a:prstGeom>
          <a:ln w="12700">
            <a:miter lim="400000"/>
          </a:ln>
        </p:spPr>
        <p:txBody>
          <a:bodyPr wrap="none" lIns="45719" rIns="45719" anchor="ctr">
            <a:spAutoFit/>
          </a:bodyPr>
          <a:lstStyle>
            <a:lvl1pPr algn="r">
              <a:defRPr sz="1200">
                <a:solidFill>
                  <a:srgbClr val="888888"/>
                </a:solidFill>
              </a:defRPr>
            </a:lvl1pPr>
          </a:lstStyle>
          <a:p>
            <a:fld id="{86CB4B4D-7CA3-9044-876B-883B54F8677D}" type="slidenum">
              <a:rPr/>
              <a:pPr/>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6" r:id="rId5"/>
    <p:sldLayoutId id="2147483657" r:id="rId6"/>
    <p:sldLayoutId id="2147483658" r:id="rId7"/>
  </p:sldLayoutIdLst>
  <p:transition spd="med"/>
  <p:txStyles>
    <p:titleStyle>
      <a:lvl1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1pPr>
      <a:lvl2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2pPr>
      <a:lvl3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3pPr>
      <a:lvl4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4pPr>
      <a:lvl5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5pPr>
      <a:lvl6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6pPr>
      <a:lvl7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7pPr>
      <a:lvl8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8pPr>
      <a:lvl9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9pPr>
    </p:titleStyle>
    <p:body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Text Box 1"/>
          <p:cNvSpPr txBox="1"/>
          <p:nvPr/>
        </p:nvSpPr>
        <p:spPr>
          <a:xfrm>
            <a:off x="1842770" y="770255"/>
            <a:ext cx="7865110" cy="258532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p>
            <a:pPr algn="ctr">
              <a:tabLst>
                <a:tab pos="914400" algn="l"/>
                <a:tab pos="1828800" algn="l"/>
                <a:tab pos="2743200" algn="l"/>
                <a:tab pos="3657600" algn="l"/>
                <a:tab pos="4572000" algn="l"/>
                <a:tab pos="5486400" algn="l"/>
                <a:tab pos="6400800" algn="l"/>
                <a:tab pos="7315200" algn="l"/>
                <a:tab pos="8229600" algn="l"/>
                <a:tab pos="9144000" algn="l"/>
                <a:tab pos="10058400" algn="l"/>
              </a:tabLst>
              <a:defRPr sz="5400" b="1">
                <a:solidFill>
                  <a:srgbClr val="10253F"/>
                </a:solidFill>
                <a:latin typeface="Berlin Sans FB Demi"/>
                <a:ea typeface="Berlin Sans FB Demi"/>
                <a:cs typeface="Berlin Sans FB Demi"/>
                <a:sym typeface="Berlin Sans FB Demi"/>
              </a:defRPr>
            </a:pPr>
            <a:r>
              <a:rPr lang="en-US" dirty="0" smtClean="0"/>
              <a:t>CSE332</a:t>
            </a:r>
            <a:r>
              <a:rPr/>
              <a:t/>
            </a:r>
            <a:br>
              <a:rPr/>
            </a:br>
            <a:r>
              <a:rPr lang="en-US" dirty="0" smtClean="0"/>
              <a:t>INDUSTRY ETHICS AND LEGAL ISSUES</a:t>
            </a:r>
            <a:endParaRPr/>
          </a:p>
        </p:txBody>
      </p:sp>
      <p:sp>
        <p:nvSpPr>
          <p:cNvPr id="106" name="Line 3"/>
          <p:cNvSpPr/>
          <p:nvPr/>
        </p:nvSpPr>
        <p:spPr>
          <a:xfrm>
            <a:off x="2566989" y="3789364"/>
            <a:ext cx="7058025" cy="1587"/>
          </a:xfrm>
          <a:prstGeom prst="line">
            <a:avLst/>
          </a:prstGeom>
          <a:ln w="38160">
            <a:solidFill>
              <a:srgbClr val="F79646"/>
            </a:solidFill>
            <a:miter/>
          </a:ln>
          <a:effectLst>
            <a:outerShdw dist="23040" dir="5400000" rotWithShape="0">
              <a:srgbClr val="000000">
                <a:alpha val="35036"/>
              </a:srgbClr>
            </a:outerShdw>
          </a:effectLst>
        </p:spPr>
        <p:txBody>
          <a:bodyPr lIns="45719" rIns="45719"/>
          <a:lstStyle/>
          <a:p>
            <a:endParaRPr/>
          </a:p>
        </p:txBody>
      </p:sp>
      <p:sp>
        <p:nvSpPr>
          <p:cNvPr id="107" name="Text Box 4"/>
          <p:cNvSpPr txBox="1"/>
          <p:nvPr/>
        </p:nvSpPr>
        <p:spPr>
          <a:xfrm>
            <a:off x="5335925" y="3917950"/>
            <a:ext cx="1677181" cy="4492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6799" tIns="46799" rIns="46799" bIns="46799">
            <a:spAutoFit/>
          </a:bodyPr>
          <a:lstStyle>
            <a:lvl1pPr>
              <a:tabLst>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376092"/>
                </a:solidFill>
                <a:latin typeface="Arial Rounded MT Bold"/>
                <a:ea typeface="Arial Rounded MT Bold"/>
                <a:cs typeface="Arial Rounded MT Bold"/>
                <a:sym typeface="Arial Rounded MT Bold"/>
              </a:defRPr>
            </a:lvl1pPr>
          </a:lstStyle>
          <a:p>
            <a:r>
              <a:t>Lecture #0</a:t>
            </a:r>
          </a:p>
        </p:txBody>
      </p:sp>
      <p:sp>
        <p:nvSpPr>
          <p:cNvPr id="108" name="Text Box 5"/>
          <p:cNvSpPr txBox="1"/>
          <p:nvPr/>
        </p:nvSpPr>
        <p:spPr>
          <a:xfrm>
            <a:off x="2941320" y="4379912"/>
            <a:ext cx="6309360" cy="49704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ctr">
              <a:spcBef>
                <a:spcPts val="800"/>
              </a:spcBef>
              <a:tabLst>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898989"/>
                </a:solidFill>
              </a:defRPr>
            </a:lvl1pPr>
          </a:lstStyle>
          <a:p>
            <a:r>
              <a:t>The kick start session</a:t>
            </a:r>
          </a:p>
        </p:txBody>
      </p:sp>
    </p:spTree>
  </p:cSld>
  <p:clrMapOvr>
    <a:masterClrMapping/>
  </p:clrMapOvr>
  <p:transition spd="med"/>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Title 1"/>
          <p:cNvSpPr txBox="1">
            <a:spLocks noGrp="1"/>
          </p:cNvSpPr>
          <p:nvPr>
            <p:ph type="title" idx="4294967295"/>
          </p:nvPr>
        </p:nvSpPr>
        <p:spPr>
          <a:xfrm>
            <a:off x="1524000" y="274638"/>
            <a:ext cx="8229600" cy="1143001"/>
          </a:xfrm>
          <a:prstGeom prst="rect">
            <a:avLst/>
          </a:prstGeom>
        </p:spPr>
        <p:txBody>
          <a:bodyPr/>
          <a:lstStyle>
            <a:lvl1pPr>
              <a:defRPr sz="4800">
                <a:solidFill>
                  <a:srgbClr val="C00000"/>
                </a:solidFill>
                <a:latin typeface="Times New Roman"/>
                <a:ea typeface="Times New Roman"/>
                <a:cs typeface="Times New Roman"/>
                <a:sym typeface="Times New Roman"/>
              </a:defRPr>
            </a:lvl1pPr>
          </a:lstStyle>
          <a:p>
            <a:r>
              <a:t>Course Details</a:t>
            </a:r>
          </a:p>
        </p:txBody>
      </p:sp>
      <p:sp>
        <p:nvSpPr>
          <p:cNvPr id="111" name="Content Placeholder 2"/>
          <p:cNvSpPr txBox="1">
            <a:spLocks noGrp="1"/>
          </p:cNvSpPr>
          <p:nvPr>
            <p:ph type="body" idx="4294967295"/>
          </p:nvPr>
        </p:nvSpPr>
        <p:spPr>
          <a:xfrm>
            <a:off x="2057400" y="1514475"/>
            <a:ext cx="8610600" cy="5068888"/>
          </a:xfrm>
          <a:prstGeom prst="rect">
            <a:avLst/>
          </a:prstGeom>
        </p:spPr>
        <p:txBody>
          <a:bodyPr/>
          <a:lstStyle/>
          <a:p>
            <a:pPr>
              <a:defRPr sz="3600">
                <a:solidFill>
                  <a:srgbClr val="C00000"/>
                </a:solidFill>
                <a:latin typeface="Times New Roman"/>
                <a:ea typeface="Times New Roman"/>
                <a:cs typeface="Times New Roman"/>
                <a:sym typeface="Times New Roman"/>
              </a:defRPr>
            </a:pPr>
            <a:r>
              <a:t>Course Code</a:t>
            </a:r>
            <a:r>
              <a:rPr/>
              <a:t>:-</a:t>
            </a:r>
            <a:r>
              <a:rPr sz="2800">
                <a:solidFill>
                  <a:srgbClr val="002060"/>
                </a:solidFill>
              </a:rPr>
              <a:t> </a:t>
            </a:r>
            <a:r>
              <a:rPr lang="en-US" dirty="0" smtClean="0">
                <a:solidFill>
                  <a:srgbClr val="002060"/>
                </a:solidFill>
              </a:rPr>
              <a:t>CSE332</a:t>
            </a:r>
            <a:endParaRPr>
              <a:solidFill>
                <a:srgbClr val="002060"/>
              </a:solidFill>
            </a:endParaRPr>
          </a:p>
          <a:p>
            <a:pPr>
              <a:defRPr sz="3600">
                <a:solidFill>
                  <a:srgbClr val="C00000"/>
                </a:solidFill>
                <a:latin typeface="Times New Roman"/>
                <a:ea typeface="Times New Roman"/>
                <a:cs typeface="Times New Roman"/>
                <a:sym typeface="Times New Roman"/>
              </a:defRPr>
            </a:pPr>
            <a:r>
              <a:t>LTP:- </a:t>
            </a:r>
            <a:r>
              <a:rPr>
                <a:solidFill>
                  <a:srgbClr val="002060"/>
                </a:solidFill>
              </a:rPr>
              <a:t> </a:t>
            </a:r>
            <a:r>
              <a:rPr sz="2800">
                <a:solidFill>
                  <a:srgbClr val="002060"/>
                </a:solidFill>
              </a:rPr>
              <a:t> 2 0 </a:t>
            </a:r>
            <a:r>
              <a:rPr lang="en-US" sz="2800" dirty="0" smtClean="0">
                <a:solidFill>
                  <a:srgbClr val="002060"/>
                </a:solidFill>
              </a:rPr>
              <a:t>0</a:t>
            </a:r>
            <a:r>
              <a:rPr sz="2800" smtClean="0">
                <a:solidFill>
                  <a:srgbClr val="002060"/>
                </a:solidFill>
              </a:rPr>
              <a:t> </a:t>
            </a:r>
            <a:r>
              <a:rPr sz="2800">
                <a:solidFill>
                  <a:srgbClr val="002060"/>
                </a:solidFill>
              </a:rPr>
              <a:t>[2 </a:t>
            </a:r>
            <a:r>
              <a:rPr sz="2800" smtClean="0">
                <a:solidFill>
                  <a:srgbClr val="002060"/>
                </a:solidFill>
              </a:rPr>
              <a:t>lectures/week</a:t>
            </a:r>
            <a:r>
              <a:rPr sz="2800">
                <a:solidFill>
                  <a:srgbClr val="002060"/>
                </a:solidFill>
              </a:rPr>
              <a:t>]</a:t>
            </a:r>
          </a:p>
          <a:p>
            <a:pPr>
              <a:defRPr sz="3600">
                <a:solidFill>
                  <a:srgbClr val="C00000"/>
                </a:solidFill>
                <a:latin typeface="Times New Roman"/>
                <a:ea typeface="Times New Roman"/>
                <a:cs typeface="Times New Roman"/>
                <a:sym typeface="Times New Roman"/>
              </a:defRPr>
            </a:pPr>
            <a:r>
              <a:t>Credits</a:t>
            </a:r>
            <a:r>
              <a:rPr/>
              <a:t>:- </a:t>
            </a:r>
            <a:r>
              <a:rPr lang="en-US" dirty="0" smtClean="0"/>
              <a:t>2</a:t>
            </a:r>
            <a:endParaRPr/>
          </a:p>
        </p:txBody>
      </p:sp>
      <p:sp>
        <p:nvSpPr>
          <p:cNvPr id="112" name="Straight Connector 3"/>
          <p:cNvSpPr/>
          <p:nvPr/>
        </p:nvSpPr>
        <p:spPr>
          <a:xfrm>
            <a:off x="2163764" y="1295400"/>
            <a:ext cx="7056436" cy="0"/>
          </a:xfrm>
          <a:prstGeom prst="line">
            <a:avLst/>
          </a:prstGeom>
          <a:ln w="19050">
            <a:solidFill>
              <a:schemeClr val="accent6"/>
            </a:solidFill>
            <a:miter/>
          </a:ln>
        </p:spPr>
        <p:txBody>
          <a:bodyPr lIns="45719" rIns="45719"/>
          <a:lstStyle/>
          <a:p>
            <a:endParaRPr/>
          </a:p>
        </p:txBody>
      </p:sp>
    </p:spTree>
  </p:cSld>
  <p:clrMapOvr>
    <a:masterClrMapping/>
  </p:clrMapOvr>
  <p:transition spd="med"/>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Title 1"/>
          <p:cNvSpPr txBox="1">
            <a:spLocks noGrp="1"/>
          </p:cNvSpPr>
          <p:nvPr>
            <p:ph type="title" idx="4294967295"/>
          </p:nvPr>
        </p:nvSpPr>
        <p:spPr>
          <a:xfrm>
            <a:off x="1524000" y="274638"/>
            <a:ext cx="8229600" cy="1143001"/>
          </a:xfrm>
          <a:prstGeom prst="rect">
            <a:avLst/>
          </a:prstGeom>
        </p:spPr>
        <p:txBody>
          <a:bodyPr/>
          <a:lstStyle>
            <a:lvl1pPr>
              <a:defRPr sz="4800">
                <a:solidFill>
                  <a:srgbClr val="C00000"/>
                </a:solidFill>
                <a:latin typeface="Times New Roman"/>
                <a:ea typeface="Times New Roman"/>
                <a:cs typeface="Times New Roman"/>
                <a:sym typeface="Times New Roman"/>
              </a:defRPr>
            </a:lvl1pPr>
          </a:lstStyle>
          <a:p>
            <a:r>
              <a:t>Vision</a:t>
            </a:r>
          </a:p>
        </p:txBody>
      </p:sp>
      <p:sp>
        <p:nvSpPr>
          <p:cNvPr id="115" name="Content Placeholder 2"/>
          <p:cNvSpPr txBox="1">
            <a:spLocks noGrp="1"/>
          </p:cNvSpPr>
          <p:nvPr>
            <p:ph type="body" idx="4294967295"/>
          </p:nvPr>
        </p:nvSpPr>
        <p:spPr>
          <a:xfrm>
            <a:off x="1835222" y="1514474"/>
            <a:ext cx="9598897" cy="5068889"/>
          </a:xfrm>
          <a:prstGeom prst="rect">
            <a:avLst/>
          </a:prstGeom>
        </p:spPr>
        <p:txBody>
          <a:bodyPr/>
          <a:lstStyle>
            <a:lvl1pPr marL="0" indent="0" algn="just">
              <a:buSzTx/>
              <a:buNone/>
              <a:defRPr sz="3200">
                <a:latin typeface="Times New Roman"/>
                <a:ea typeface="Times New Roman"/>
                <a:cs typeface="Times New Roman"/>
                <a:sym typeface="Times New Roman"/>
              </a:defRPr>
            </a:lvl1pPr>
          </a:lstStyle>
          <a:p>
            <a:r>
              <a:t>To be a globally recognised school through excellence in teaching, learning and research for creating Computer Science professionals, leaders and entrepreneurs of future contributing to society and industry for sustainable growth.</a:t>
            </a:r>
          </a:p>
        </p:txBody>
      </p:sp>
      <p:sp>
        <p:nvSpPr>
          <p:cNvPr id="116" name="Straight Connector 3"/>
          <p:cNvSpPr/>
          <p:nvPr/>
        </p:nvSpPr>
        <p:spPr>
          <a:xfrm>
            <a:off x="2163764" y="1295400"/>
            <a:ext cx="7056436" cy="0"/>
          </a:xfrm>
          <a:prstGeom prst="line">
            <a:avLst/>
          </a:prstGeom>
          <a:ln w="19050">
            <a:solidFill>
              <a:schemeClr val="accent6"/>
            </a:solidFill>
            <a:miter/>
          </a:ln>
        </p:spPr>
        <p:txBody>
          <a:bodyPr lIns="45719" rIns="45719"/>
          <a:lstStyle/>
          <a:p>
            <a:endParaRPr/>
          </a:p>
        </p:txBody>
      </p:sp>
    </p:spTree>
  </p:cSld>
  <p:clrMapOvr>
    <a:masterClrMapping/>
  </p:clrMapOvr>
  <p:transition spd="med"/>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 name="Title 1"/>
          <p:cNvSpPr txBox="1">
            <a:spLocks noGrp="1"/>
          </p:cNvSpPr>
          <p:nvPr>
            <p:ph type="title" idx="4294967295"/>
          </p:nvPr>
        </p:nvSpPr>
        <p:spPr>
          <a:xfrm>
            <a:off x="1524000" y="274638"/>
            <a:ext cx="8229600" cy="1143001"/>
          </a:xfrm>
          <a:prstGeom prst="rect">
            <a:avLst/>
          </a:prstGeom>
        </p:spPr>
        <p:txBody>
          <a:bodyPr/>
          <a:lstStyle>
            <a:lvl1pPr>
              <a:defRPr sz="4800">
                <a:solidFill>
                  <a:srgbClr val="C00000"/>
                </a:solidFill>
                <a:latin typeface="Times New Roman"/>
                <a:ea typeface="Times New Roman"/>
                <a:cs typeface="Times New Roman"/>
                <a:sym typeface="Times New Roman"/>
              </a:defRPr>
            </a:lvl1pPr>
          </a:lstStyle>
          <a:p>
            <a:r>
              <a:t>Mission</a:t>
            </a:r>
          </a:p>
        </p:txBody>
      </p:sp>
      <p:sp>
        <p:nvSpPr>
          <p:cNvPr id="119" name="Content Placeholder 2"/>
          <p:cNvSpPr txBox="1">
            <a:spLocks noGrp="1"/>
          </p:cNvSpPr>
          <p:nvPr>
            <p:ph type="body" idx="4294967295"/>
          </p:nvPr>
        </p:nvSpPr>
        <p:spPr>
          <a:xfrm>
            <a:off x="840259" y="1539189"/>
            <a:ext cx="10198443" cy="5068888"/>
          </a:xfrm>
          <a:prstGeom prst="rect">
            <a:avLst/>
          </a:prstGeom>
        </p:spPr>
        <p:txBody>
          <a:bodyPr/>
          <a:lstStyle/>
          <a:p>
            <a:pPr algn="just">
              <a:defRPr>
                <a:latin typeface="Times New Roman"/>
                <a:ea typeface="Times New Roman"/>
                <a:cs typeface="Times New Roman"/>
                <a:sym typeface="Times New Roman"/>
              </a:defRPr>
            </a:pPr>
            <a:r>
              <a:t>To build computational skills through hands-on and practice-based learning with measurable outcomes.</a:t>
            </a:r>
          </a:p>
          <a:p>
            <a:pPr algn="just">
              <a:defRPr>
                <a:latin typeface="Times New Roman"/>
                <a:ea typeface="Times New Roman"/>
                <a:cs typeface="Times New Roman"/>
                <a:sym typeface="Times New Roman"/>
              </a:defRPr>
            </a:pPr>
            <a:r>
              <a:t>To establish a strong connect with industry for in-demand technology driven curriculum.</a:t>
            </a:r>
          </a:p>
          <a:p>
            <a:pPr algn="just">
              <a:defRPr>
                <a:latin typeface="Times New Roman"/>
                <a:ea typeface="Times New Roman"/>
                <a:cs typeface="Times New Roman"/>
                <a:sym typeface="Times New Roman"/>
              </a:defRPr>
            </a:pPr>
            <a:r>
              <a:t>To build the infrastructure for meaningful research around societal problems.</a:t>
            </a:r>
          </a:p>
          <a:p>
            <a:pPr algn="just">
              <a:defRPr>
                <a:latin typeface="Times New Roman"/>
                <a:ea typeface="Times New Roman"/>
                <a:cs typeface="Times New Roman"/>
                <a:sym typeface="Times New Roman"/>
              </a:defRPr>
            </a:pPr>
            <a:r>
              <a:t>To nurture future leaders through research-infused education and lifelong learning.</a:t>
            </a:r>
          </a:p>
          <a:p>
            <a:pPr algn="just">
              <a:defRPr>
                <a:latin typeface="Times New Roman"/>
                <a:ea typeface="Times New Roman"/>
                <a:cs typeface="Times New Roman"/>
                <a:sym typeface="Times New Roman"/>
              </a:defRPr>
            </a:pPr>
            <a:r>
              <a:t>To create smart and ethical professionals and entrepreneurs who are recognized globally</a:t>
            </a:r>
          </a:p>
        </p:txBody>
      </p:sp>
      <p:sp>
        <p:nvSpPr>
          <p:cNvPr id="120" name="Straight Connector 3"/>
          <p:cNvSpPr/>
          <p:nvPr/>
        </p:nvSpPr>
        <p:spPr>
          <a:xfrm>
            <a:off x="2163764" y="1295400"/>
            <a:ext cx="7056436" cy="0"/>
          </a:xfrm>
          <a:prstGeom prst="line">
            <a:avLst/>
          </a:prstGeom>
          <a:ln w="19050">
            <a:solidFill>
              <a:schemeClr val="accent6"/>
            </a:solidFill>
            <a:miter/>
          </a:ln>
        </p:spPr>
        <p:txBody>
          <a:bodyPr lIns="45719" rIns="45719"/>
          <a:lstStyle/>
          <a:p>
            <a:endParaRPr/>
          </a:p>
        </p:txBody>
      </p:sp>
    </p:spTree>
  </p:cSld>
  <p:clrMapOvr>
    <a:masterClrMapping/>
  </p:clrMapOvr>
  <p:transition spd="med"/>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Title 1"/>
          <p:cNvSpPr txBox="1">
            <a:spLocks noGrp="1"/>
          </p:cNvSpPr>
          <p:nvPr>
            <p:ph type="title" idx="4294967295"/>
          </p:nvPr>
        </p:nvSpPr>
        <p:spPr>
          <a:xfrm>
            <a:off x="1754832" y="116632"/>
            <a:ext cx="8229601" cy="1143001"/>
          </a:xfrm>
          <a:prstGeom prst="rect">
            <a:avLst/>
          </a:prstGeom>
        </p:spPr>
        <p:txBody>
          <a:bodyPr/>
          <a:lstStyle>
            <a:lvl1pPr>
              <a:defRPr sz="3600">
                <a:solidFill>
                  <a:srgbClr val="C00000"/>
                </a:solidFill>
                <a:latin typeface="Times New Roman"/>
                <a:ea typeface="Times New Roman"/>
                <a:cs typeface="Times New Roman"/>
                <a:sym typeface="Times New Roman"/>
              </a:defRPr>
            </a:lvl1pPr>
          </a:lstStyle>
          <a:p>
            <a:r>
              <a:t>Revised Bloom’s Taxonomy</a:t>
            </a:r>
          </a:p>
        </p:txBody>
      </p:sp>
      <p:sp>
        <p:nvSpPr>
          <p:cNvPr id="123" name="Straight Connector 3"/>
          <p:cNvSpPr/>
          <p:nvPr/>
        </p:nvSpPr>
        <p:spPr>
          <a:xfrm>
            <a:off x="2751138" y="1052736"/>
            <a:ext cx="7017271" cy="1"/>
          </a:xfrm>
          <a:prstGeom prst="line">
            <a:avLst/>
          </a:prstGeom>
          <a:ln w="19050">
            <a:solidFill>
              <a:schemeClr val="accent6"/>
            </a:solidFill>
            <a:miter/>
          </a:ln>
        </p:spPr>
        <p:txBody>
          <a:bodyPr lIns="45719" rIns="45719"/>
          <a:lstStyle/>
          <a:p>
            <a:endParaRPr/>
          </a:p>
        </p:txBody>
      </p:sp>
      <p:sp>
        <p:nvSpPr>
          <p:cNvPr id="124" name="TextBox 2"/>
          <p:cNvSpPr txBox="1"/>
          <p:nvPr/>
        </p:nvSpPr>
        <p:spPr>
          <a:xfrm>
            <a:off x="367168" y="1622427"/>
            <a:ext cx="9571544" cy="488233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gn="just">
              <a:defRPr>
                <a:latin typeface="Times New Roman"/>
                <a:ea typeface="Times New Roman"/>
                <a:cs typeface="Times New Roman"/>
                <a:sym typeface="Times New Roman"/>
              </a:defRPr>
            </a:pPr>
            <a:r>
              <a:t>Bloom's Taxonomy is a framework for categorizing educational goals, It is widely used by educators to create learning objectives, assessments, and activities that encourage higher-order thinking. The taxonomy is typically represented as a hierarchical model with six levels:</a:t>
            </a:r>
          </a:p>
          <a:p>
            <a:pPr algn="just">
              <a:defRPr>
                <a:latin typeface="Times New Roman"/>
                <a:ea typeface="Times New Roman"/>
                <a:cs typeface="Times New Roman"/>
                <a:sym typeface="Times New Roman"/>
              </a:defRPr>
            </a:pPr>
            <a:endParaRPr/>
          </a:p>
          <a:p>
            <a:pPr algn="just">
              <a:buSzPct val="100000"/>
              <a:buChar char="•"/>
              <a:defRPr b="1">
                <a:latin typeface="Times New Roman"/>
                <a:ea typeface="Times New Roman"/>
                <a:cs typeface="Times New Roman"/>
                <a:sym typeface="Times New Roman"/>
              </a:defRPr>
            </a:pPr>
            <a:r>
              <a:t>Remembering</a:t>
            </a:r>
            <a:r>
              <a:rPr b="0"/>
              <a:t>: Recalling facts and basic concepts.</a:t>
            </a:r>
          </a:p>
          <a:p>
            <a:pPr algn="just">
              <a:buSzPct val="100000"/>
              <a:buChar char="•"/>
              <a:defRPr>
                <a:latin typeface="Times New Roman"/>
                <a:ea typeface="Times New Roman"/>
                <a:cs typeface="Times New Roman"/>
                <a:sym typeface="Times New Roman"/>
              </a:defRPr>
            </a:pPr>
            <a:r>
              <a:t>Example: Define, list, memorize, repeat, state.</a:t>
            </a:r>
          </a:p>
          <a:p>
            <a:pPr algn="just">
              <a:buSzPct val="100000"/>
              <a:buChar char="•"/>
              <a:defRPr b="1">
                <a:latin typeface="Times New Roman"/>
                <a:ea typeface="Times New Roman"/>
                <a:cs typeface="Times New Roman"/>
                <a:sym typeface="Times New Roman"/>
              </a:defRPr>
            </a:pPr>
            <a:r>
              <a:t>Understanding</a:t>
            </a:r>
            <a:r>
              <a:rPr b="0"/>
              <a:t>: Explaining ideas or concepts.</a:t>
            </a:r>
          </a:p>
          <a:p>
            <a:pPr algn="just">
              <a:buSzPct val="100000"/>
              <a:buChar char="•"/>
              <a:defRPr>
                <a:latin typeface="Times New Roman"/>
                <a:ea typeface="Times New Roman"/>
                <a:cs typeface="Times New Roman"/>
                <a:sym typeface="Times New Roman"/>
              </a:defRPr>
            </a:pPr>
            <a:r>
              <a:t>Example: Describe, explain, interpret, summarize, classify.</a:t>
            </a:r>
          </a:p>
          <a:p>
            <a:pPr algn="just">
              <a:buSzPct val="100000"/>
              <a:buChar char="•"/>
              <a:defRPr b="1">
                <a:latin typeface="Times New Roman"/>
                <a:ea typeface="Times New Roman"/>
                <a:cs typeface="Times New Roman"/>
                <a:sym typeface="Times New Roman"/>
              </a:defRPr>
            </a:pPr>
            <a:r>
              <a:t>Applying</a:t>
            </a:r>
            <a:r>
              <a:rPr b="0"/>
              <a:t>: Using information in new situations.</a:t>
            </a:r>
          </a:p>
          <a:p>
            <a:pPr algn="just">
              <a:buSzPct val="100000"/>
              <a:buChar char="•"/>
              <a:defRPr>
                <a:latin typeface="Times New Roman"/>
                <a:ea typeface="Times New Roman"/>
                <a:cs typeface="Times New Roman"/>
                <a:sym typeface="Times New Roman"/>
              </a:defRPr>
            </a:pPr>
            <a:r>
              <a:t>Example: Use, execute, implement, demonstrate, solve.</a:t>
            </a:r>
          </a:p>
          <a:p>
            <a:pPr algn="just">
              <a:buSzPct val="100000"/>
              <a:buChar char="•"/>
              <a:defRPr b="1">
                <a:latin typeface="Times New Roman"/>
                <a:ea typeface="Times New Roman"/>
                <a:cs typeface="Times New Roman"/>
                <a:sym typeface="Times New Roman"/>
              </a:defRPr>
            </a:pPr>
            <a:r>
              <a:t>Analyzing</a:t>
            </a:r>
            <a:r>
              <a:rPr b="0"/>
              <a:t>: Breaking information into parts to explore understandings and relationships.</a:t>
            </a:r>
          </a:p>
          <a:p>
            <a:pPr algn="just">
              <a:buSzPct val="100000"/>
              <a:buChar char="•"/>
              <a:defRPr>
                <a:latin typeface="Times New Roman"/>
                <a:ea typeface="Times New Roman"/>
                <a:cs typeface="Times New Roman"/>
                <a:sym typeface="Times New Roman"/>
              </a:defRPr>
            </a:pPr>
            <a:r>
              <a:t>Example: Compare, contrast, examine, test, differentiate.</a:t>
            </a:r>
          </a:p>
          <a:p>
            <a:pPr algn="just">
              <a:buSzPct val="100000"/>
              <a:buChar char="•"/>
              <a:defRPr b="1">
                <a:latin typeface="Times New Roman"/>
                <a:ea typeface="Times New Roman"/>
                <a:cs typeface="Times New Roman"/>
                <a:sym typeface="Times New Roman"/>
              </a:defRPr>
            </a:pPr>
            <a:r>
              <a:t>Evaluating</a:t>
            </a:r>
            <a:r>
              <a:rPr b="0"/>
              <a:t>: Justifying a decision or course of action.</a:t>
            </a:r>
          </a:p>
          <a:p>
            <a:pPr algn="just">
              <a:buSzPct val="100000"/>
              <a:buChar char="•"/>
              <a:defRPr>
                <a:latin typeface="Times New Roman"/>
                <a:ea typeface="Times New Roman"/>
                <a:cs typeface="Times New Roman"/>
                <a:sym typeface="Times New Roman"/>
              </a:defRPr>
            </a:pPr>
            <a:r>
              <a:t>Example: Critique, judge, argue, support, validate.</a:t>
            </a:r>
          </a:p>
          <a:p>
            <a:pPr algn="just">
              <a:buSzPct val="100000"/>
              <a:buChar char="•"/>
              <a:defRPr b="1">
                <a:latin typeface="Times New Roman"/>
                <a:ea typeface="Times New Roman"/>
                <a:cs typeface="Times New Roman"/>
                <a:sym typeface="Times New Roman"/>
              </a:defRPr>
            </a:pPr>
            <a:r>
              <a:t>Creating</a:t>
            </a:r>
            <a:r>
              <a:rPr b="0"/>
              <a:t>: Producing new or original work.</a:t>
            </a:r>
          </a:p>
          <a:p>
            <a:pPr algn="just">
              <a:buSzPct val="100000"/>
              <a:buChar char="•"/>
              <a:defRPr>
                <a:latin typeface="Times New Roman"/>
                <a:ea typeface="Times New Roman"/>
                <a:cs typeface="Times New Roman"/>
                <a:sym typeface="Times New Roman"/>
              </a:defRPr>
            </a:pPr>
            <a:r>
              <a:t>Example: Design, construct, plan, produce, invent.</a:t>
            </a:r>
          </a:p>
          <a:p>
            <a:pPr algn="just">
              <a:defRPr>
                <a:latin typeface="Times New Roman"/>
                <a:ea typeface="Times New Roman"/>
                <a:cs typeface="Times New Roman"/>
                <a:sym typeface="Times New Roman"/>
              </a:defRPr>
            </a:pPr>
            <a:endParaRPr/>
          </a:p>
        </p:txBody>
      </p:sp>
      <p:pic>
        <p:nvPicPr>
          <p:cNvPr id="125" name="Picture 4" descr="Picture 4"/>
          <p:cNvPicPr>
            <a:picLocks noChangeAspect="1"/>
          </p:cNvPicPr>
          <p:nvPr/>
        </p:nvPicPr>
        <p:blipFill>
          <a:blip r:embed="rId2">
            <a:extLst/>
          </a:blip>
          <a:stretch>
            <a:fillRect/>
          </a:stretch>
        </p:blipFill>
        <p:spPr>
          <a:xfrm>
            <a:off x="8756822" y="4161583"/>
            <a:ext cx="3369276" cy="2486409"/>
          </a:xfrm>
          <a:prstGeom prst="rect">
            <a:avLst/>
          </a:prstGeom>
          <a:ln w="12700">
            <a:miter lim="400000"/>
          </a:ln>
        </p:spPr>
      </p:pic>
    </p:spTree>
  </p:cSld>
  <p:clrMapOvr>
    <a:masterClrMapping/>
  </p:clrMapOvr>
  <p:transition spd="med"/>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 name="Text Box 1"/>
          <p:cNvSpPr txBox="1"/>
          <p:nvPr/>
        </p:nvSpPr>
        <p:spPr>
          <a:xfrm>
            <a:off x="2026920" y="407040"/>
            <a:ext cx="8138160" cy="7062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tabLst>
                <a:tab pos="914400" algn="l"/>
                <a:tab pos="1828800" algn="l"/>
                <a:tab pos="2743200" algn="l"/>
                <a:tab pos="3657600" algn="l"/>
                <a:tab pos="4572000" algn="l"/>
                <a:tab pos="5486400" algn="l"/>
                <a:tab pos="6400800" algn="l"/>
                <a:tab pos="7315200" algn="l"/>
                <a:tab pos="8229600" algn="l"/>
                <a:tab pos="9144000" algn="l"/>
                <a:tab pos="10058400" algn="l"/>
              </a:tabLst>
              <a:defRPr sz="4800">
                <a:solidFill>
                  <a:srgbClr val="C00000"/>
                </a:solidFill>
              </a:defRPr>
            </a:lvl1pPr>
          </a:lstStyle>
          <a:p>
            <a:r>
              <a:t>Course outcome</a:t>
            </a:r>
          </a:p>
        </p:txBody>
      </p:sp>
      <p:sp>
        <p:nvSpPr>
          <p:cNvPr id="128" name="Line 2"/>
          <p:cNvSpPr/>
          <p:nvPr/>
        </p:nvSpPr>
        <p:spPr>
          <a:xfrm>
            <a:off x="2135189" y="1268414"/>
            <a:ext cx="7056436" cy="1587"/>
          </a:xfrm>
          <a:prstGeom prst="line">
            <a:avLst/>
          </a:prstGeom>
          <a:ln w="38160">
            <a:solidFill>
              <a:srgbClr val="F79646"/>
            </a:solidFill>
            <a:miter/>
          </a:ln>
          <a:effectLst>
            <a:outerShdw dist="23040" dir="5400000" rotWithShape="0">
              <a:srgbClr val="000000">
                <a:alpha val="35036"/>
              </a:srgbClr>
            </a:outerShdw>
          </a:effectLst>
        </p:spPr>
        <p:txBody>
          <a:bodyPr lIns="45719" rIns="45719"/>
          <a:lstStyle/>
          <a:p>
            <a:endParaRPr/>
          </a:p>
        </p:txBody>
      </p:sp>
      <p:sp>
        <p:nvSpPr>
          <p:cNvPr id="129" name="Rectangle 4"/>
          <p:cNvSpPr txBox="1"/>
          <p:nvPr/>
        </p:nvSpPr>
        <p:spPr>
          <a:xfrm>
            <a:off x="1446720" y="1826998"/>
            <a:ext cx="9136889" cy="304916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6799" tIns="46799" rIns="46799" bIns="46799">
            <a:spAutoFit/>
          </a:bodyPr>
          <a:lstStyle/>
          <a:p>
            <a:pPr algn="just">
              <a:tabLst>
                <a:tab pos="914400" algn="l"/>
                <a:tab pos="1828800" algn="l"/>
                <a:tab pos="2743200" algn="l"/>
                <a:tab pos="3657600" algn="l"/>
                <a:tab pos="4572000" algn="l"/>
                <a:tab pos="5486400" algn="l"/>
                <a:tab pos="6400800" algn="l"/>
                <a:tab pos="7315200" algn="l"/>
                <a:tab pos="8229600" algn="l"/>
                <a:tab pos="9144000" algn="l"/>
                <a:tab pos="10058400" algn="l"/>
              </a:tabLst>
              <a:defRPr sz="2400">
                <a:latin typeface="Times New Roman"/>
                <a:ea typeface="Times New Roman"/>
                <a:cs typeface="Times New Roman"/>
                <a:sym typeface="Times New Roman"/>
              </a:defRPr>
            </a:pPr>
            <a:r>
              <a:t>Through this course students should be able to: </a:t>
            </a:r>
          </a:p>
          <a:p>
            <a:pPr algn="just">
              <a:tabLst>
                <a:tab pos="914400" algn="l"/>
                <a:tab pos="1828800" algn="l"/>
                <a:tab pos="2743200" algn="l"/>
                <a:tab pos="3657600" algn="l"/>
                <a:tab pos="4572000" algn="l"/>
                <a:tab pos="5486400" algn="l"/>
                <a:tab pos="6400800" algn="l"/>
                <a:tab pos="7315200" algn="l"/>
                <a:tab pos="8229600" algn="l"/>
                <a:tab pos="9144000" algn="l"/>
                <a:tab pos="10058400" algn="l"/>
              </a:tabLst>
              <a:defRPr sz="2400">
                <a:latin typeface="Times New Roman"/>
                <a:ea typeface="Times New Roman"/>
                <a:cs typeface="Times New Roman"/>
                <a:sym typeface="Times New Roman"/>
              </a:defRPr>
            </a:pPr>
            <a:endParaRPr/>
          </a:p>
          <a:p>
            <a:pPr algn="just">
              <a:tabLst>
                <a:tab pos="914400" algn="l"/>
                <a:tab pos="1828800" algn="l"/>
                <a:tab pos="2743200" algn="l"/>
                <a:tab pos="3657600" algn="l"/>
                <a:tab pos="4572000" algn="l"/>
                <a:tab pos="5486400" algn="l"/>
                <a:tab pos="6400800" algn="l"/>
                <a:tab pos="7315200" algn="l"/>
                <a:tab pos="8229600" algn="l"/>
                <a:tab pos="9144000" algn="l"/>
                <a:tab pos="10058400" algn="l"/>
              </a:tabLst>
              <a:defRPr sz="2400" b="1">
                <a:latin typeface="Times New Roman"/>
                <a:ea typeface="Times New Roman"/>
                <a:cs typeface="Times New Roman"/>
                <a:sym typeface="Times New Roman"/>
              </a:defRPr>
            </a:pPr>
            <a:r>
              <a:rPr smtClean="0"/>
              <a:t>CO1</a:t>
            </a:r>
            <a:r>
              <a:rPr b="0" smtClean="0"/>
              <a:t> :: </a:t>
            </a:r>
            <a:r>
              <a:rPr lang="en-US" sz="2400" dirty="0" smtClean="0">
                <a:sym typeface="Times New Roman"/>
              </a:rPr>
              <a:t>Demonstrate Ethics across various professional domains</a:t>
            </a:r>
            <a:endParaRPr smtClean="0"/>
          </a:p>
          <a:p>
            <a:pPr algn="just">
              <a:tabLst>
                <a:tab pos="914400" algn="l"/>
                <a:tab pos="1828800" algn="l"/>
                <a:tab pos="2743200" algn="l"/>
                <a:tab pos="3657600" algn="l"/>
                <a:tab pos="4572000" algn="l"/>
                <a:tab pos="5486400" algn="l"/>
                <a:tab pos="6400800" algn="l"/>
                <a:tab pos="7315200" algn="l"/>
                <a:tab pos="8229600" algn="l"/>
                <a:tab pos="9144000" algn="l"/>
                <a:tab pos="10058400" algn="l"/>
              </a:tabLst>
              <a:defRPr sz="2400">
                <a:latin typeface="Times New Roman"/>
                <a:ea typeface="Times New Roman"/>
                <a:cs typeface="Times New Roman"/>
                <a:sym typeface="Times New Roman"/>
              </a:defRPr>
            </a:pPr>
            <a:endParaRPr/>
          </a:p>
          <a:p>
            <a:pPr algn="just">
              <a:tabLst>
                <a:tab pos="914400" algn="l"/>
                <a:tab pos="1828800" algn="l"/>
                <a:tab pos="2743200" algn="l"/>
                <a:tab pos="3657600" algn="l"/>
                <a:tab pos="4572000" algn="l"/>
                <a:tab pos="5486400" algn="l"/>
                <a:tab pos="6400800" algn="l"/>
                <a:tab pos="7315200" algn="l"/>
                <a:tab pos="8229600" algn="l"/>
                <a:tab pos="9144000" algn="l"/>
                <a:tab pos="10058400" algn="l"/>
              </a:tabLst>
              <a:defRPr sz="2400" b="1">
                <a:latin typeface="Times New Roman"/>
                <a:ea typeface="Times New Roman"/>
                <a:cs typeface="Times New Roman"/>
                <a:sym typeface="Times New Roman"/>
              </a:defRPr>
            </a:pPr>
            <a:r>
              <a:t>CO2</a:t>
            </a:r>
            <a:r>
              <a:rPr b="0"/>
              <a:t> :: </a:t>
            </a:r>
            <a:r>
              <a:rPr lang="en-US" sz="2400" b="1" dirty="0" smtClean="0">
                <a:sym typeface="Times New Roman"/>
              </a:rPr>
              <a:t>Apply the understanding of intellectual property concepts in practical contexts</a:t>
            </a:r>
            <a:endParaRPr b="0"/>
          </a:p>
          <a:p>
            <a:pPr algn="just">
              <a:tabLst>
                <a:tab pos="914400" algn="l"/>
                <a:tab pos="1828800" algn="l"/>
                <a:tab pos="2743200" algn="l"/>
                <a:tab pos="3657600" algn="l"/>
                <a:tab pos="4572000" algn="l"/>
                <a:tab pos="5486400" algn="l"/>
                <a:tab pos="6400800" algn="l"/>
                <a:tab pos="7315200" algn="l"/>
                <a:tab pos="8229600" algn="l"/>
                <a:tab pos="9144000" algn="l"/>
                <a:tab pos="10058400" algn="l"/>
              </a:tabLst>
              <a:defRPr sz="2400">
                <a:latin typeface="Times New Roman"/>
                <a:ea typeface="Times New Roman"/>
                <a:cs typeface="Times New Roman"/>
                <a:sym typeface="Times New Roman"/>
              </a:defRPr>
            </a:pPr>
            <a:endParaRPr/>
          </a:p>
          <a:p>
            <a:pPr algn="just">
              <a:tabLst>
                <a:tab pos="914400" algn="l"/>
                <a:tab pos="1828800" algn="l"/>
                <a:tab pos="2743200" algn="l"/>
                <a:tab pos="3657600" algn="l"/>
                <a:tab pos="4572000" algn="l"/>
                <a:tab pos="5486400" algn="l"/>
                <a:tab pos="6400800" algn="l"/>
                <a:tab pos="7315200" algn="l"/>
                <a:tab pos="8229600" algn="l"/>
                <a:tab pos="9144000" algn="l"/>
                <a:tab pos="10058400" algn="l"/>
              </a:tabLst>
              <a:defRPr sz="2400" b="1">
                <a:latin typeface="Times New Roman"/>
                <a:ea typeface="Times New Roman"/>
                <a:cs typeface="Times New Roman"/>
                <a:sym typeface="Times New Roman"/>
              </a:defRPr>
            </a:pPr>
            <a:r>
              <a:rPr/>
              <a:t>CO3</a:t>
            </a:r>
            <a:r>
              <a:rPr b="0"/>
              <a:t> </a:t>
            </a:r>
            <a:r>
              <a:rPr b="0" smtClean="0"/>
              <a:t>:: </a:t>
            </a:r>
            <a:r>
              <a:rPr lang="en-US" sz="2400" b="1" dirty="0" smtClean="0">
                <a:sym typeface="Times New Roman"/>
              </a:rPr>
              <a:t>Analyze the benefits available under startup India initiative</a:t>
            </a:r>
            <a:endParaRPr b="0"/>
          </a:p>
        </p:txBody>
      </p:sp>
    </p:spTree>
  </p:cSld>
  <p:clrMapOvr>
    <a:masterClrMapping/>
  </p:clrMapOvr>
  <p:transition spd="med"/>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 name="Text Box 1"/>
          <p:cNvSpPr txBox="1"/>
          <p:nvPr/>
        </p:nvSpPr>
        <p:spPr>
          <a:xfrm>
            <a:off x="2026920" y="407040"/>
            <a:ext cx="8138160" cy="7062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tabLst>
                <a:tab pos="914400" algn="l"/>
                <a:tab pos="1828800" algn="l"/>
                <a:tab pos="2743200" algn="l"/>
                <a:tab pos="3657600" algn="l"/>
                <a:tab pos="4572000" algn="l"/>
                <a:tab pos="5486400" algn="l"/>
                <a:tab pos="6400800" algn="l"/>
                <a:tab pos="7315200" algn="l"/>
                <a:tab pos="8229600" algn="l"/>
                <a:tab pos="9144000" algn="l"/>
                <a:tab pos="10058400" algn="l"/>
              </a:tabLst>
              <a:defRPr sz="4800">
                <a:solidFill>
                  <a:srgbClr val="C00000"/>
                </a:solidFill>
              </a:defRPr>
            </a:lvl1pPr>
          </a:lstStyle>
          <a:p>
            <a:r>
              <a:t>Course outcome</a:t>
            </a:r>
          </a:p>
        </p:txBody>
      </p:sp>
      <p:sp>
        <p:nvSpPr>
          <p:cNvPr id="132" name="Line 2"/>
          <p:cNvSpPr/>
          <p:nvPr/>
        </p:nvSpPr>
        <p:spPr>
          <a:xfrm>
            <a:off x="2135189" y="1268414"/>
            <a:ext cx="7056436" cy="1587"/>
          </a:xfrm>
          <a:prstGeom prst="line">
            <a:avLst/>
          </a:prstGeom>
          <a:ln w="38160">
            <a:solidFill>
              <a:srgbClr val="F79646"/>
            </a:solidFill>
            <a:miter/>
          </a:ln>
          <a:effectLst>
            <a:outerShdw dist="23040" dir="5400000" rotWithShape="0">
              <a:srgbClr val="000000">
                <a:alpha val="35036"/>
              </a:srgbClr>
            </a:outerShdw>
          </a:effectLst>
        </p:spPr>
        <p:txBody>
          <a:bodyPr lIns="45719" rIns="45719"/>
          <a:lstStyle/>
          <a:p>
            <a:endParaRPr/>
          </a:p>
        </p:txBody>
      </p:sp>
      <p:sp>
        <p:nvSpPr>
          <p:cNvPr id="133" name="Rectangle 4"/>
          <p:cNvSpPr txBox="1"/>
          <p:nvPr/>
        </p:nvSpPr>
        <p:spPr>
          <a:xfrm>
            <a:off x="1702093" y="1958805"/>
            <a:ext cx="8955659" cy="31667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6799" tIns="46799" rIns="46799" bIns="46799">
            <a:spAutoFit/>
          </a:bodyPr>
          <a:lstStyle/>
          <a:p>
            <a:pPr algn="just">
              <a:tabLst>
                <a:tab pos="914400" algn="l"/>
                <a:tab pos="1828800" algn="l"/>
                <a:tab pos="2743200" algn="l"/>
                <a:tab pos="3657600" algn="l"/>
                <a:tab pos="4572000" algn="l"/>
                <a:tab pos="5486400" algn="l"/>
                <a:tab pos="6400800" algn="l"/>
                <a:tab pos="7315200" algn="l"/>
                <a:tab pos="8229600" algn="l"/>
                <a:tab pos="9144000" algn="l"/>
                <a:tab pos="10058400" algn="l"/>
              </a:tabLst>
              <a:defRPr sz="2400">
                <a:latin typeface="Times New Roman"/>
                <a:ea typeface="Times New Roman"/>
                <a:cs typeface="Times New Roman"/>
                <a:sym typeface="Times New Roman"/>
              </a:defRPr>
            </a:pPr>
            <a:r>
              <a:t>Through this course students should be able to: </a:t>
            </a:r>
          </a:p>
          <a:p>
            <a:pPr algn="just">
              <a:tabLst>
                <a:tab pos="914400" algn="l"/>
                <a:tab pos="1828800" algn="l"/>
                <a:tab pos="2743200" algn="l"/>
                <a:tab pos="3657600" algn="l"/>
                <a:tab pos="4572000" algn="l"/>
                <a:tab pos="5486400" algn="l"/>
                <a:tab pos="6400800" algn="l"/>
                <a:tab pos="7315200" algn="l"/>
                <a:tab pos="8229600" algn="l"/>
                <a:tab pos="9144000" algn="l"/>
                <a:tab pos="10058400" algn="l"/>
              </a:tabLst>
              <a:defRPr sz="2400" b="1">
                <a:latin typeface="Times New Roman"/>
                <a:ea typeface="Times New Roman"/>
                <a:cs typeface="Times New Roman"/>
                <a:sym typeface="Times New Roman"/>
              </a:defRPr>
            </a:pPr>
            <a:r>
              <a:t>CO4</a:t>
            </a:r>
            <a:r>
              <a:rPr b="0"/>
              <a:t> :: </a:t>
            </a:r>
            <a:r>
              <a:rPr lang="en-US" sz="2400" b="1" dirty="0" smtClean="0">
                <a:sym typeface="Times New Roman"/>
              </a:rPr>
              <a:t>Explain comprehensive business plan for an IT startup</a:t>
            </a:r>
            <a:endParaRPr b="0"/>
          </a:p>
          <a:p>
            <a:pPr algn="just">
              <a:tabLst>
                <a:tab pos="914400" algn="l"/>
                <a:tab pos="1828800" algn="l"/>
                <a:tab pos="2743200" algn="l"/>
                <a:tab pos="3657600" algn="l"/>
                <a:tab pos="4572000" algn="l"/>
                <a:tab pos="5486400" algn="l"/>
                <a:tab pos="6400800" algn="l"/>
                <a:tab pos="7315200" algn="l"/>
                <a:tab pos="8229600" algn="l"/>
                <a:tab pos="9144000" algn="l"/>
                <a:tab pos="10058400" algn="l"/>
              </a:tabLst>
              <a:defRPr sz="2400" b="1">
                <a:latin typeface="Times New Roman"/>
                <a:ea typeface="Times New Roman"/>
                <a:cs typeface="Times New Roman"/>
                <a:sym typeface="Times New Roman"/>
              </a:defRPr>
            </a:pPr>
            <a:endParaRPr/>
          </a:p>
          <a:p>
            <a:pPr algn="just">
              <a:tabLst>
                <a:tab pos="914400" algn="l"/>
                <a:tab pos="1828800" algn="l"/>
                <a:tab pos="2743200" algn="l"/>
                <a:tab pos="3657600" algn="l"/>
                <a:tab pos="4572000" algn="l"/>
                <a:tab pos="5486400" algn="l"/>
                <a:tab pos="6400800" algn="l"/>
                <a:tab pos="7315200" algn="l"/>
                <a:tab pos="8229600" algn="l"/>
                <a:tab pos="9144000" algn="l"/>
                <a:tab pos="10058400" algn="l"/>
              </a:tabLst>
              <a:defRPr sz="2400" b="1">
                <a:latin typeface="Times New Roman"/>
                <a:ea typeface="Times New Roman"/>
                <a:cs typeface="Times New Roman"/>
                <a:sym typeface="Times New Roman"/>
              </a:defRPr>
            </a:pPr>
            <a:r>
              <a:t>CO5</a:t>
            </a:r>
            <a:r>
              <a:rPr b="0"/>
              <a:t> :: </a:t>
            </a:r>
            <a:r>
              <a:rPr lang="en-US" sz="2400" b="1" dirty="0" smtClean="0">
                <a:sym typeface="Times New Roman"/>
              </a:rPr>
              <a:t>Classify latest trends to contribute effectively to dynamic landscape of IT industry</a:t>
            </a:r>
            <a:endParaRPr b="0"/>
          </a:p>
          <a:p>
            <a:pPr algn="just">
              <a:tabLst>
                <a:tab pos="914400" algn="l"/>
                <a:tab pos="1828800" algn="l"/>
                <a:tab pos="2743200" algn="l"/>
                <a:tab pos="3657600" algn="l"/>
                <a:tab pos="4572000" algn="l"/>
                <a:tab pos="5486400" algn="l"/>
                <a:tab pos="6400800" algn="l"/>
                <a:tab pos="7315200" algn="l"/>
                <a:tab pos="8229600" algn="l"/>
                <a:tab pos="9144000" algn="l"/>
                <a:tab pos="10058400" algn="l"/>
              </a:tabLst>
              <a:defRPr sz="2400">
                <a:latin typeface="Times New Roman"/>
                <a:ea typeface="Times New Roman"/>
                <a:cs typeface="Times New Roman"/>
                <a:sym typeface="Times New Roman"/>
              </a:defRPr>
            </a:pPr>
            <a:endParaRPr/>
          </a:p>
          <a:p>
            <a:pPr algn="just">
              <a:tabLst>
                <a:tab pos="914400" algn="l"/>
                <a:tab pos="1828800" algn="l"/>
                <a:tab pos="2743200" algn="l"/>
                <a:tab pos="3657600" algn="l"/>
                <a:tab pos="4572000" algn="l"/>
                <a:tab pos="5486400" algn="l"/>
                <a:tab pos="6400800" algn="l"/>
                <a:tab pos="7315200" algn="l"/>
                <a:tab pos="8229600" algn="l"/>
                <a:tab pos="9144000" algn="l"/>
                <a:tab pos="10058400" algn="l"/>
              </a:tabLst>
              <a:defRPr sz="2400" b="1">
                <a:latin typeface="Times New Roman"/>
                <a:ea typeface="Times New Roman"/>
                <a:cs typeface="Times New Roman"/>
                <a:sym typeface="Times New Roman"/>
              </a:defRPr>
            </a:pPr>
            <a:r>
              <a:t>CO6</a:t>
            </a:r>
            <a:r>
              <a:rPr b="0"/>
              <a:t> :: </a:t>
            </a:r>
            <a:r>
              <a:rPr lang="en-US" sz="2400" b="1" dirty="0" smtClean="0">
                <a:sym typeface="Times New Roman"/>
              </a:rPr>
              <a:t>: Examine various cyber laws to address emergency digital threats </a:t>
            </a:r>
            <a:endParaRPr b="0"/>
          </a:p>
        </p:txBody>
      </p:sp>
    </p:spTree>
  </p:cSld>
  <p:clrMapOvr>
    <a:masterClrMapping/>
  </p:clrMapOvr>
  <p:transition spd="med"/>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 Box 1"/>
          <p:cNvSpPr txBox="1"/>
          <p:nvPr/>
        </p:nvSpPr>
        <p:spPr>
          <a:xfrm>
            <a:off x="2026920" y="519182"/>
            <a:ext cx="8138160" cy="6539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lgn="ctr">
              <a:tabLst>
                <a:tab pos="914400" algn="l"/>
                <a:tab pos="1828800" algn="l"/>
                <a:tab pos="2743200" algn="l"/>
                <a:tab pos="3657600" algn="l"/>
                <a:tab pos="4572000" algn="l"/>
                <a:tab pos="5486400" algn="l"/>
                <a:tab pos="6400800" algn="l"/>
                <a:tab pos="7315200" algn="l"/>
                <a:tab pos="8229600" algn="l"/>
                <a:tab pos="9144000" algn="l"/>
                <a:tab pos="10058400" algn="l"/>
              </a:tabLst>
              <a:defRPr sz="4400">
                <a:solidFill>
                  <a:srgbClr val="FF0000"/>
                </a:solidFill>
              </a:defRPr>
            </a:lvl1pPr>
          </a:lstStyle>
          <a:p>
            <a:r>
              <a:t>Program Outcomes</a:t>
            </a:r>
          </a:p>
        </p:txBody>
      </p:sp>
      <p:sp>
        <p:nvSpPr>
          <p:cNvPr id="136" name="Text Box 2"/>
          <p:cNvSpPr txBox="1"/>
          <p:nvPr/>
        </p:nvSpPr>
        <p:spPr>
          <a:xfrm>
            <a:off x="993071" y="1351006"/>
            <a:ext cx="10337663" cy="522081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marL="341313" indent="-339726">
              <a:lnSpc>
                <a:spcPct val="107000"/>
              </a:lnSpc>
              <a:spcBef>
                <a:spcPts val="800"/>
              </a:spcBef>
              <a:tabLst>
                <a:tab pos="457200" algn="l"/>
                <a:tab pos="914400" algn="l"/>
                <a:tab pos="1828800" algn="l"/>
                <a:tab pos="2743200" algn="l"/>
                <a:tab pos="3657600" algn="l"/>
                <a:tab pos="4572000" algn="l"/>
                <a:tab pos="5486400" algn="l"/>
                <a:tab pos="6400800" algn="l"/>
                <a:tab pos="7315200" algn="l"/>
                <a:tab pos="8229600" algn="l"/>
                <a:tab pos="9144000" algn="l"/>
                <a:tab pos="10058400" algn="l"/>
              </a:tabLst>
              <a:defRPr b="1">
                <a:latin typeface="Times New Roman"/>
                <a:ea typeface="Times New Roman"/>
                <a:cs typeface="Times New Roman"/>
                <a:sym typeface="Times New Roman"/>
              </a:defRPr>
            </a:pPr>
            <a:r>
              <a:t>PO1 </a:t>
            </a:r>
            <a:br/>
            <a:r>
              <a:t> </a:t>
            </a:r>
            <a:r>
              <a:rPr b="0"/>
              <a:t>Engineering knowledge: Apply the knowledge of mathematics, science, engineering fundamentals, and an engineering specialization to the solution of complex engineering problems. </a:t>
            </a:r>
            <a:endParaRPr sz="3200"/>
          </a:p>
          <a:p>
            <a:pPr marL="341313" indent="-339726">
              <a:lnSpc>
                <a:spcPct val="107000"/>
              </a:lnSpc>
              <a:spcBef>
                <a:spcPts val="800"/>
              </a:spcBef>
              <a:tabLst>
                <a:tab pos="457200" algn="l"/>
                <a:tab pos="914400" algn="l"/>
                <a:tab pos="1828800" algn="l"/>
                <a:tab pos="2743200" algn="l"/>
                <a:tab pos="3657600" algn="l"/>
                <a:tab pos="4572000" algn="l"/>
                <a:tab pos="5486400" algn="l"/>
                <a:tab pos="6400800" algn="l"/>
                <a:tab pos="7315200" algn="l"/>
                <a:tab pos="8229600" algn="l"/>
                <a:tab pos="9144000" algn="l"/>
                <a:tab pos="10058400" algn="l"/>
              </a:tabLst>
              <a:defRPr b="1">
                <a:latin typeface="Times New Roman"/>
                <a:ea typeface="Times New Roman"/>
                <a:cs typeface="Times New Roman"/>
                <a:sym typeface="Times New Roman"/>
              </a:defRPr>
            </a:pPr>
            <a:r>
              <a:t>PO2</a:t>
            </a:r>
            <a:br/>
            <a:r>
              <a:t> </a:t>
            </a:r>
            <a:r>
              <a:rPr b="0"/>
              <a:t>Problem analysis::Identify, formulate, research literature, and analyze complex engineering problems reaching substantiated conclusions using first principles of mathematics, natural sciences, and engineering sciences.</a:t>
            </a:r>
            <a:r>
              <a:t> </a:t>
            </a:r>
            <a:endParaRPr sz="3200"/>
          </a:p>
          <a:p>
            <a:pPr marL="341313" indent="-339726">
              <a:lnSpc>
                <a:spcPct val="107000"/>
              </a:lnSpc>
              <a:spcBef>
                <a:spcPts val="800"/>
              </a:spcBef>
              <a:tabLst>
                <a:tab pos="457200" algn="l"/>
                <a:tab pos="914400" algn="l"/>
                <a:tab pos="1828800" algn="l"/>
                <a:tab pos="2743200" algn="l"/>
                <a:tab pos="3657600" algn="l"/>
                <a:tab pos="4572000" algn="l"/>
                <a:tab pos="5486400" algn="l"/>
                <a:tab pos="6400800" algn="l"/>
                <a:tab pos="7315200" algn="l"/>
                <a:tab pos="8229600" algn="l"/>
                <a:tab pos="9144000" algn="l"/>
                <a:tab pos="10058400" algn="l"/>
              </a:tabLst>
              <a:defRPr b="1">
                <a:latin typeface="Times New Roman"/>
                <a:ea typeface="Times New Roman"/>
                <a:cs typeface="Times New Roman"/>
                <a:sym typeface="Times New Roman"/>
              </a:defRPr>
            </a:pPr>
            <a:r>
              <a:t>PO3</a:t>
            </a:r>
            <a:br/>
            <a:r>
              <a:t> </a:t>
            </a:r>
            <a:r>
              <a:rPr b="0"/>
              <a:t>Design/development of solutions::Design solutions for complex engineering problems and design system components or processes that meet the specified needs with appropriate consideration for the public health and safety, and the cultural, societal, and environmental considerations. </a:t>
            </a:r>
            <a:endParaRPr sz="3200"/>
          </a:p>
          <a:p>
            <a:pPr marL="341313" indent="-339726">
              <a:lnSpc>
                <a:spcPct val="107000"/>
              </a:lnSpc>
              <a:spcBef>
                <a:spcPts val="800"/>
              </a:spcBef>
              <a:tabLst>
                <a:tab pos="457200" algn="l"/>
                <a:tab pos="914400" algn="l"/>
                <a:tab pos="1828800" algn="l"/>
                <a:tab pos="2743200" algn="l"/>
                <a:tab pos="3657600" algn="l"/>
                <a:tab pos="4572000" algn="l"/>
                <a:tab pos="5486400" algn="l"/>
                <a:tab pos="6400800" algn="l"/>
                <a:tab pos="7315200" algn="l"/>
                <a:tab pos="8229600" algn="l"/>
                <a:tab pos="9144000" algn="l"/>
                <a:tab pos="10058400" algn="l"/>
              </a:tabLst>
              <a:defRPr b="1">
                <a:latin typeface="Times New Roman"/>
                <a:ea typeface="Times New Roman"/>
                <a:cs typeface="Times New Roman"/>
                <a:sym typeface="Times New Roman"/>
              </a:defRPr>
            </a:pPr>
            <a:r>
              <a:t>PO4</a:t>
            </a:r>
            <a:br/>
            <a:r>
              <a:t> </a:t>
            </a:r>
            <a:r>
              <a:rPr b="0"/>
              <a:t>Conduct investigations of complex problems::Use research-based knowledge and research methods including design of experiments, analysis and interpretation of data, and synthesis of the information to provide valid conclusions. </a:t>
            </a:r>
            <a:endParaRPr sz="3200"/>
          </a:p>
        </p:txBody>
      </p:sp>
    </p:spTree>
  </p:cSld>
  <p:clrMapOvr>
    <a:masterClrMapping/>
  </p:clrMapOvr>
  <p:transition spd="med"/>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 name="Text Box 1"/>
          <p:cNvSpPr txBox="1"/>
          <p:nvPr/>
        </p:nvSpPr>
        <p:spPr>
          <a:xfrm>
            <a:off x="2284867" y="389007"/>
            <a:ext cx="7795260" cy="65391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lgn="ctr">
              <a:tabLst>
                <a:tab pos="914400" algn="l"/>
                <a:tab pos="1828800" algn="l"/>
                <a:tab pos="2743200" algn="l"/>
                <a:tab pos="3657600" algn="l"/>
                <a:tab pos="4572000" algn="l"/>
                <a:tab pos="5486400" algn="l"/>
                <a:tab pos="6400800" algn="l"/>
                <a:tab pos="7315200" algn="l"/>
                <a:tab pos="8229600" algn="l"/>
                <a:tab pos="9144000" algn="l"/>
                <a:tab pos="10058400" algn="l"/>
              </a:tabLst>
              <a:defRPr sz="4400">
                <a:solidFill>
                  <a:srgbClr val="FF0000"/>
                </a:solidFill>
              </a:defRPr>
            </a:lvl1pPr>
          </a:lstStyle>
          <a:p>
            <a:r>
              <a:t>Program Outcomes</a:t>
            </a:r>
          </a:p>
        </p:txBody>
      </p:sp>
      <p:sp>
        <p:nvSpPr>
          <p:cNvPr id="139" name="Text Box 2"/>
          <p:cNvSpPr txBox="1"/>
          <p:nvPr/>
        </p:nvSpPr>
        <p:spPr>
          <a:xfrm>
            <a:off x="918930" y="1338649"/>
            <a:ext cx="10527133" cy="566317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marL="341313" indent="-339726">
              <a:lnSpc>
                <a:spcPct val="107000"/>
              </a:lnSpc>
              <a:spcBef>
                <a:spcPts val="800"/>
              </a:spcBef>
              <a:tabLst>
                <a:tab pos="457200" algn="l"/>
                <a:tab pos="914400" algn="l"/>
                <a:tab pos="1828800" algn="l"/>
                <a:tab pos="2743200" algn="l"/>
                <a:tab pos="3657600" algn="l"/>
                <a:tab pos="4572000" algn="l"/>
                <a:tab pos="5486400" algn="l"/>
                <a:tab pos="6400800" algn="l"/>
                <a:tab pos="7315200" algn="l"/>
                <a:tab pos="8229600" algn="l"/>
                <a:tab pos="9144000" algn="l"/>
                <a:tab pos="10058400" algn="l"/>
              </a:tabLst>
              <a:defRPr sz="1600" b="1">
                <a:latin typeface="Times New Roman"/>
                <a:ea typeface="Times New Roman"/>
                <a:cs typeface="Times New Roman"/>
                <a:sym typeface="Times New Roman"/>
              </a:defRPr>
            </a:pPr>
            <a:r>
              <a:t>PO5</a:t>
            </a:r>
            <a:br/>
            <a:r>
              <a:t> </a:t>
            </a:r>
            <a:r>
              <a:rPr b="0"/>
              <a:t>Modern tool usage::Create, select, and apply appropriate techniques, resources, and modern engineering and IT tools including prediction and modeling to complex engineering activities with an understanding of the limitations.</a:t>
            </a:r>
            <a:endParaRPr sz="3200"/>
          </a:p>
          <a:p>
            <a:pPr marL="341313" indent="-339726">
              <a:lnSpc>
                <a:spcPct val="107000"/>
              </a:lnSpc>
              <a:spcBef>
                <a:spcPts val="800"/>
              </a:spcBef>
              <a:tabLst>
                <a:tab pos="457200" algn="l"/>
                <a:tab pos="914400" algn="l"/>
                <a:tab pos="1828800" algn="l"/>
                <a:tab pos="2743200" algn="l"/>
                <a:tab pos="3657600" algn="l"/>
                <a:tab pos="4572000" algn="l"/>
                <a:tab pos="5486400" algn="l"/>
                <a:tab pos="6400800" algn="l"/>
                <a:tab pos="7315200" algn="l"/>
                <a:tab pos="8229600" algn="l"/>
                <a:tab pos="9144000" algn="l"/>
                <a:tab pos="10058400" algn="l"/>
              </a:tabLst>
              <a:defRPr sz="1600" b="1">
                <a:latin typeface="Times New Roman"/>
                <a:ea typeface="Times New Roman"/>
                <a:cs typeface="Times New Roman"/>
                <a:sym typeface="Times New Roman"/>
              </a:defRPr>
            </a:pPr>
            <a:r>
              <a:t> PO6</a:t>
            </a:r>
            <a:br/>
            <a:r>
              <a:t> </a:t>
            </a:r>
            <a:r>
              <a:rPr b="0"/>
              <a:t>The engineer and society::Apply reasoning informed by the contextual knowledge to assess societal, health, safety, legal and cultural issues and the consequent responsibilities relevant to the professional engineering practice. </a:t>
            </a:r>
            <a:endParaRPr sz="3200"/>
          </a:p>
          <a:p>
            <a:pPr marL="341313" indent="-339726">
              <a:lnSpc>
                <a:spcPct val="107000"/>
              </a:lnSpc>
              <a:spcBef>
                <a:spcPts val="800"/>
              </a:spcBef>
              <a:tabLst>
                <a:tab pos="457200" algn="l"/>
                <a:tab pos="914400" algn="l"/>
                <a:tab pos="1828800" algn="l"/>
                <a:tab pos="2743200" algn="l"/>
                <a:tab pos="3657600" algn="l"/>
                <a:tab pos="4572000" algn="l"/>
                <a:tab pos="5486400" algn="l"/>
                <a:tab pos="6400800" algn="l"/>
                <a:tab pos="7315200" algn="l"/>
                <a:tab pos="8229600" algn="l"/>
                <a:tab pos="9144000" algn="l"/>
                <a:tab pos="10058400" algn="l"/>
              </a:tabLst>
              <a:defRPr sz="1600" b="1">
                <a:latin typeface="Times New Roman"/>
                <a:ea typeface="Times New Roman"/>
                <a:cs typeface="Times New Roman"/>
                <a:sym typeface="Times New Roman"/>
              </a:defRPr>
            </a:pPr>
            <a:r>
              <a:t>PO7</a:t>
            </a:r>
            <a:br/>
            <a:r>
              <a:t> </a:t>
            </a:r>
            <a:r>
              <a:rPr b="0"/>
              <a:t>Environment and sustainability::Understand the impact of the professional engineering solutions in societal and environmental contexts, and demonstrate the knowledge of, and need for sustainable development. </a:t>
            </a:r>
            <a:endParaRPr sz="3200"/>
          </a:p>
          <a:p>
            <a:pPr marL="341313" indent="-339726">
              <a:lnSpc>
                <a:spcPct val="107000"/>
              </a:lnSpc>
              <a:spcBef>
                <a:spcPts val="800"/>
              </a:spcBef>
              <a:tabLst>
                <a:tab pos="457200" algn="l"/>
                <a:tab pos="914400" algn="l"/>
                <a:tab pos="1828800" algn="l"/>
                <a:tab pos="2743200" algn="l"/>
                <a:tab pos="3657600" algn="l"/>
                <a:tab pos="4572000" algn="l"/>
                <a:tab pos="5486400" algn="l"/>
                <a:tab pos="6400800" algn="l"/>
                <a:tab pos="7315200" algn="l"/>
                <a:tab pos="8229600" algn="l"/>
                <a:tab pos="9144000" algn="l"/>
                <a:tab pos="10058400" algn="l"/>
              </a:tabLst>
              <a:defRPr sz="1600" b="1">
                <a:latin typeface="Times New Roman"/>
                <a:ea typeface="Times New Roman"/>
                <a:cs typeface="Times New Roman"/>
                <a:sym typeface="Times New Roman"/>
              </a:defRPr>
            </a:pPr>
            <a:r>
              <a:t>PO8</a:t>
            </a:r>
            <a:br/>
            <a:r>
              <a:t> </a:t>
            </a:r>
            <a:r>
              <a:rPr b="0"/>
              <a:t>Ethics::Apply ethical principles and commit to professional ethics and responsibilities and norms of the engineering practice. </a:t>
            </a:r>
            <a:endParaRPr sz="3200"/>
          </a:p>
          <a:p>
            <a:pPr marL="341313" indent="-339726">
              <a:lnSpc>
                <a:spcPct val="107000"/>
              </a:lnSpc>
              <a:spcBef>
                <a:spcPts val="800"/>
              </a:spcBef>
              <a:tabLst>
                <a:tab pos="457200" algn="l"/>
                <a:tab pos="914400" algn="l"/>
                <a:tab pos="1828800" algn="l"/>
                <a:tab pos="2743200" algn="l"/>
                <a:tab pos="3657600" algn="l"/>
                <a:tab pos="4572000" algn="l"/>
                <a:tab pos="5486400" algn="l"/>
                <a:tab pos="6400800" algn="l"/>
                <a:tab pos="7315200" algn="l"/>
                <a:tab pos="8229600" algn="l"/>
                <a:tab pos="9144000" algn="l"/>
                <a:tab pos="10058400" algn="l"/>
              </a:tabLst>
              <a:defRPr sz="1600" b="1">
                <a:latin typeface="Times New Roman"/>
                <a:ea typeface="Times New Roman"/>
                <a:cs typeface="Times New Roman"/>
                <a:sym typeface="Times New Roman"/>
              </a:defRPr>
            </a:pPr>
            <a:r>
              <a:t>PO9</a:t>
            </a:r>
            <a:br/>
            <a:r>
              <a:t> </a:t>
            </a:r>
            <a:r>
              <a:rPr b="0"/>
              <a:t>Individual and team work::Function effectively as an individual, and as a member or leader in diverse teams, and in multidisciplinary settings. </a:t>
            </a:r>
            <a:endParaRPr sz="3200"/>
          </a:p>
          <a:p>
            <a:pPr marL="341313" indent="-339726">
              <a:lnSpc>
                <a:spcPct val="107000"/>
              </a:lnSpc>
              <a:spcBef>
                <a:spcPts val="800"/>
              </a:spcBef>
              <a:tabLst>
                <a:tab pos="457200" algn="l"/>
                <a:tab pos="914400" algn="l"/>
                <a:tab pos="1828800" algn="l"/>
                <a:tab pos="2743200" algn="l"/>
                <a:tab pos="3657600" algn="l"/>
                <a:tab pos="4572000" algn="l"/>
                <a:tab pos="5486400" algn="l"/>
                <a:tab pos="6400800" algn="l"/>
                <a:tab pos="7315200" algn="l"/>
                <a:tab pos="8229600" algn="l"/>
                <a:tab pos="9144000" algn="l"/>
                <a:tab pos="10058400" algn="l"/>
              </a:tabLst>
              <a:defRPr sz="1600">
                <a:latin typeface="Times New Roman"/>
                <a:ea typeface="Times New Roman"/>
                <a:cs typeface="Times New Roman"/>
                <a:sym typeface="Times New Roman"/>
              </a:defRPr>
            </a:pPr>
            <a:endParaRPr/>
          </a:p>
          <a:p>
            <a:pPr marL="341313" indent="-339726">
              <a:spcBef>
                <a:spcPts val="400"/>
              </a:spcBef>
              <a:tabLst>
                <a:tab pos="457200" algn="l"/>
                <a:tab pos="914400" algn="l"/>
                <a:tab pos="1828800" algn="l"/>
                <a:tab pos="2743200" algn="l"/>
                <a:tab pos="3657600" algn="l"/>
                <a:tab pos="4572000" algn="l"/>
                <a:tab pos="5486400" algn="l"/>
                <a:tab pos="6400800" algn="l"/>
                <a:tab pos="7315200" algn="l"/>
                <a:tab pos="8229600" algn="l"/>
                <a:tab pos="9144000" algn="l"/>
                <a:tab pos="10058400" algn="l"/>
              </a:tabLst>
              <a:defRPr sz="1600" b="1">
                <a:latin typeface="Times New Roman"/>
                <a:ea typeface="Times New Roman"/>
                <a:cs typeface="Times New Roman"/>
                <a:sym typeface="Times New Roman"/>
              </a:defRPr>
            </a:pPr>
            <a:endParaRPr/>
          </a:p>
          <a:p>
            <a:pPr marL="341313" indent="-339726">
              <a:spcBef>
                <a:spcPts val="400"/>
              </a:spcBef>
              <a:tabLst>
                <a:tab pos="457200" algn="l"/>
                <a:tab pos="914400" algn="l"/>
                <a:tab pos="1828800" algn="l"/>
                <a:tab pos="2743200" algn="l"/>
                <a:tab pos="3657600" algn="l"/>
                <a:tab pos="4572000" algn="l"/>
                <a:tab pos="5486400" algn="l"/>
                <a:tab pos="6400800" algn="l"/>
                <a:tab pos="7315200" algn="l"/>
                <a:tab pos="8229600" algn="l"/>
                <a:tab pos="9144000" algn="l"/>
                <a:tab pos="10058400" algn="l"/>
              </a:tabLst>
              <a:defRPr sz="1600" b="1">
                <a:latin typeface="Times New Roman"/>
                <a:ea typeface="Times New Roman"/>
                <a:cs typeface="Times New Roman"/>
                <a:sym typeface="Times New Roman"/>
              </a:defRPr>
            </a:pPr>
            <a:endParaRPr/>
          </a:p>
          <a:p>
            <a:pPr marL="341313" indent="-339726">
              <a:spcBef>
                <a:spcPts val="400"/>
              </a:spcBef>
              <a:tabLst>
                <a:tab pos="457200" algn="l"/>
                <a:tab pos="914400" algn="l"/>
                <a:tab pos="1828800" algn="l"/>
                <a:tab pos="2743200" algn="l"/>
                <a:tab pos="3657600" algn="l"/>
                <a:tab pos="4572000" algn="l"/>
                <a:tab pos="5486400" algn="l"/>
                <a:tab pos="6400800" algn="l"/>
                <a:tab pos="7315200" algn="l"/>
                <a:tab pos="8229600" algn="l"/>
                <a:tab pos="9144000" algn="l"/>
                <a:tab pos="10058400" algn="l"/>
              </a:tabLst>
              <a:defRPr sz="1600" b="1">
                <a:latin typeface="Times New Roman"/>
                <a:ea typeface="Times New Roman"/>
                <a:cs typeface="Times New Roman"/>
                <a:sym typeface="Times New Roman"/>
              </a:defRPr>
            </a:pPr>
            <a:endParaRPr/>
          </a:p>
        </p:txBody>
      </p:sp>
    </p:spTree>
  </p:cSld>
  <p:clrMapOvr>
    <a:masterClrMapping/>
  </p:clrMapOvr>
  <p:transition spd="med"/>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 name="Text Box 1"/>
          <p:cNvSpPr txBox="1"/>
          <p:nvPr/>
        </p:nvSpPr>
        <p:spPr>
          <a:xfrm>
            <a:off x="2026920" y="519182"/>
            <a:ext cx="8138160" cy="6539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lgn="ctr">
              <a:tabLst>
                <a:tab pos="914400" algn="l"/>
                <a:tab pos="1828800" algn="l"/>
                <a:tab pos="2743200" algn="l"/>
                <a:tab pos="3657600" algn="l"/>
                <a:tab pos="4572000" algn="l"/>
                <a:tab pos="5486400" algn="l"/>
                <a:tab pos="6400800" algn="l"/>
                <a:tab pos="7315200" algn="l"/>
                <a:tab pos="8229600" algn="l"/>
                <a:tab pos="9144000" algn="l"/>
                <a:tab pos="10058400" algn="l"/>
              </a:tabLst>
              <a:defRPr sz="4400">
                <a:solidFill>
                  <a:srgbClr val="FF0000"/>
                </a:solidFill>
              </a:defRPr>
            </a:lvl1pPr>
          </a:lstStyle>
          <a:p>
            <a:r>
              <a:t>Program Outcomes</a:t>
            </a:r>
          </a:p>
        </p:txBody>
      </p:sp>
      <p:sp>
        <p:nvSpPr>
          <p:cNvPr id="142" name="Text Box 2"/>
          <p:cNvSpPr txBox="1"/>
          <p:nvPr/>
        </p:nvSpPr>
        <p:spPr>
          <a:xfrm>
            <a:off x="1223731" y="1723768"/>
            <a:ext cx="10205858" cy="426514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marL="341313" indent="-341313">
              <a:lnSpc>
                <a:spcPct val="107000"/>
              </a:lnSpc>
              <a:spcBef>
                <a:spcPts val="800"/>
              </a:spcBef>
              <a:tabLst>
                <a:tab pos="457200" algn="l"/>
                <a:tab pos="914400" algn="l"/>
                <a:tab pos="1828800" algn="l"/>
                <a:tab pos="2743200" algn="l"/>
                <a:tab pos="3657600" algn="l"/>
                <a:tab pos="4572000" algn="l"/>
                <a:tab pos="5486400" algn="l"/>
                <a:tab pos="6400800" algn="l"/>
                <a:tab pos="7315200" algn="l"/>
                <a:tab pos="8229600" algn="l"/>
                <a:tab pos="9144000" algn="l"/>
                <a:tab pos="10058400" algn="l"/>
              </a:tabLst>
              <a:defRPr b="1">
                <a:latin typeface="Times New Roman"/>
                <a:ea typeface="Times New Roman"/>
                <a:cs typeface="Times New Roman"/>
                <a:sym typeface="Times New Roman"/>
              </a:defRPr>
            </a:pPr>
            <a:r>
              <a:t>PO10</a:t>
            </a:r>
            <a:br/>
            <a:r>
              <a:t> </a:t>
            </a:r>
            <a:r>
              <a:rPr b="0"/>
              <a:t>Communication::Communicate effectively on complex engineering activities with the engineering community and with society at large, such as, being able to comprehend and write effective reports and design documentation, make effective presentations, and give and receive clear instructions. </a:t>
            </a:r>
            <a:endParaRPr sz="3200"/>
          </a:p>
          <a:p>
            <a:pPr marL="341313" indent="-341313">
              <a:lnSpc>
                <a:spcPct val="107000"/>
              </a:lnSpc>
              <a:spcBef>
                <a:spcPts val="800"/>
              </a:spcBef>
              <a:tabLst>
                <a:tab pos="457200" algn="l"/>
                <a:tab pos="914400" algn="l"/>
                <a:tab pos="1828800" algn="l"/>
                <a:tab pos="2743200" algn="l"/>
                <a:tab pos="3657600" algn="l"/>
                <a:tab pos="4572000" algn="l"/>
                <a:tab pos="5486400" algn="l"/>
                <a:tab pos="6400800" algn="l"/>
                <a:tab pos="7315200" algn="l"/>
                <a:tab pos="8229600" algn="l"/>
                <a:tab pos="9144000" algn="l"/>
                <a:tab pos="10058400" algn="l"/>
              </a:tabLst>
              <a:defRPr b="1">
                <a:latin typeface="Times New Roman"/>
                <a:ea typeface="Times New Roman"/>
                <a:cs typeface="Times New Roman"/>
                <a:sym typeface="Times New Roman"/>
              </a:defRPr>
            </a:pPr>
            <a:r>
              <a:t>PO11</a:t>
            </a:r>
            <a:br/>
            <a:r>
              <a:t> </a:t>
            </a:r>
            <a:r>
              <a:rPr b="0"/>
              <a:t>Project management and finance::Demonstrate knowledge and understanding of the engineering, management principles and apply the same to one’s own work, as a member or a leader in a team, manage projects efficiently in respective disciplines and multidisciplinary environments after consideration of economic and financial factors.</a:t>
            </a:r>
            <a:r>
              <a:t> </a:t>
            </a:r>
            <a:endParaRPr sz="3200"/>
          </a:p>
          <a:p>
            <a:pPr marL="341313" indent="-341313">
              <a:lnSpc>
                <a:spcPct val="107000"/>
              </a:lnSpc>
              <a:spcBef>
                <a:spcPts val="800"/>
              </a:spcBef>
              <a:tabLst>
                <a:tab pos="457200" algn="l"/>
                <a:tab pos="914400" algn="l"/>
                <a:tab pos="1828800" algn="l"/>
                <a:tab pos="2743200" algn="l"/>
                <a:tab pos="3657600" algn="l"/>
                <a:tab pos="4572000" algn="l"/>
                <a:tab pos="5486400" algn="l"/>
                <a:tab pos="6400800" algn="l"/>
                <a:tab pos="7315200" algn="l"/>
                <a:tab pos="8229600" algn="l"/>
                <a:tab pos="9144000" algn="l"/>
                <a:tab pos="10058400" algn="l"/>
              </a:tabLst>
              <a:defRPr b="1">
                <a:latin typeface="Times New Roman"/>
                <a:ea typeface="Times New Roman"/>
                <a:cs typeface="Times New Roman"/>
                <a:sym typeface="Times New Roman"/>
              </a:defRPr>
            </a:pPr>
            <a:r>
              <a:t>PO12</a:t>
            </a:r>
            <a:br/>
            <a:r>
              <a:t> </a:t>
            </a:r>
            <a:r>
              <a:rPr b="0"/>
              <a:t>Life-long learning::Recognize the need for, and have the preparation and ability to engage in independent and life-long learning in the broadest context of technological change.</a:t>
            </a:r>
            <a:endParaRPr sz="3200"/>
          </a:p>
        </p:txBody>
      </p:sp>
    </p:spTree>
  </p:cSld>
  <p:clrMapOvr>
    <a:masterClrMapping/>
  </p:clrMapOvr>
  <p:transition spd="med"/>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52464" y="1857364"/>
            <a:ext cx="10144196" cy="4524315"/>
          </a:xfrm>
          <a:prstGeom prst="rect">
            <a:avLst/>
          </a:prstGeom>
        </p:spPr>
        <p:txBody>
          <a:bodyPr wrap="square">
            <a:spAutoFit/>
          </a:bodyPr>
          <a:lstStyle/>
          <a:p>
            <a:pPr algn="just"/>
            <a:r>
              <a:rPr lang="en-US" sz="3200" dirty="0" smtClean="0">
                <a:latin typeface="Times New Roman" panose="02020603050405020304" pitchFamily="18" charset="0"/>
                <a:ea typeface="Verdana" panose="020B0604030504040204" pitchFamily="34" charset="0"/>
                <a:cs typeface="Times New Roman" panose="02020603050405020304" pitchFamily="18" charset="0"/>
              </a:rPr>
              <a:t>PSO1: Apply acquired skills in software engineering, networking, security, databases, intelligent systems, cloud computing and operating systems to adapt and deploy innovative software solutions for diverse applications.</a:t>
            </a:r>
            <a:endParaRPr lang="en-IN" sz="3200" dirty="0" smtClean="0">
              <a:latin typeface="Times New Roman" panose="02020603050405020304" pitchFamily="18" charset="0"/>
              <a:ea typeface="Verdana" panose="020B0604030504040204" pitchFamily="34" charset="0"/>
              <a:cs typeface="Times New Roman" panose="02020603050405020304" pitchFamily="18" charset="0"/>
            </a:endParaRPr>
          </a:p>
          <a:p>
            <a:pPr algn="just"/>
            <a:r>
              <a:rPr lang="en-US" sz="3200" dirty="0" smtClean="0">
                <a:latin typeface="Times New Roman" panose="02020603050405020304" pitchFamily="18" charset="0"/>
                <a:ea typeface="Verdana" panose="020B0604030504040204" pitchFamily="34" charset="0"/>
                <a:cs typeface="Times New Roman" panose="02020603050405020304" pitchFamily="18" charset="0"/>
              </a:rPr>
              <a:t> </a:t>
            </a:r>
            <a:endParaRPr lang="en-IN" sz="3200" dirty="0" smtClean="0">
              <a:latin typeface="Times New Roman" panose="02020603050405020304" pitchFamily="18" charset="0"/>
              <a:ea typeface="Verdana" panose="020B0604030504040204" pitchFamily="34" charset="0"/>
              <a:cs typeface="Times New Roman" panose="02020603050405020304" pitchFamily="18" charset="0"/>
            </a:endParaRPr>
          </a:p>
          <a:p>
            <a:pPr algn="just"/>
            <a:r>
              <a:rPr lang="en-US" sz="3200" dirty="0" smtClean="0">
                <a:latin typeface="Times New Roman" panose="02020603050405020304" pitchFamily="18" charset="0"/>
                <a:ea typeface="Verdana" panose="020B0604030504040204" pitchFamily="34" charset="0"/>
                <a:cs typeface="Times New Roman" panose="02020603050405020304" pitchFamily="18" charset="0"/>
              </a:rPr>
              <a:t>PSO2: Apply diverse IT skills to design, develop, and evaluate innovative solutions for business environments, considering risks, and utilizing interdisciplinary knowledge for efficient real-time projects benefiting society.</a:t>
            </a:r>
            <a:endParaRPr lang="en-IN" sz="3200" dirty="0">
              <a:latin typeface="Times New Roman" panose="02020603050405020304" pitchFamily="18" charset="0"/>
              <a:ea typeface="Verdana" panose="020B0604030504040204" pitchFamily="34" charset="0"/>
              <a:cs typeface="Times New Roman" panose="02020603050405020304" pitchFamily="18" charset="0"/>
            </a:endParaRPr>
          </a:p>
        </p:txBody>
      </p:sp>
      <p:sp>
        <p:nvSpPr>
          <p:cNvPr id="3" name="Rectangle 2"/>
          <p:cNvSpPr/>
          <p:nvPr/>
        </p:nvSpPr>
        <p:spPr>
          <a:xfrm>
            <a:off x="3024166" y="785794"/>
            <a:ext cx="7143800" cy="769441"/>
          </a:xfrm>
          <a:prstGeom prst="rect">
            <a:avLst/>
          </a:prstGeom>
        </p:spPr>
        <p:txBody>
          <a:bodyPr wrap="square">
            <a:spAutoFit/>
          </a:bodyPr>
          <a:lstStyle/>
          <a:p>
            <a:pPr algn="ct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dirty="0" smtClean="0">
                <a:solidFill>
                  <a:srgbClr val="FF0000"/>
                </a:solidFill>
              </a:rPr>
              <a:t>Program Specific Outcomes</a:t>
            </a:r>
            <a:endParaRPr lang="en-US" sz="4400" dirty="0">
              <a:solidFill>
                <a:srgbClr val="FF0000"/>
              </a:solidFill>
            </a:endParaRPr>
          </a:p>
        </p:txBody>
      </p:sp>
    </p:spTree>
  </p:cSld>
  <p:clrMapOvr>
    <a:masterClrMapping/>
  </p:clrMapOvr>
  <p:transition spd="med"/>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 name="Text Box 1"/>
          <p:cNvSpPr txBox="1"/>
          <p:nvPr/>
        </p:nvSpPr>
        <p:spPr>
          <a:xfrm>
            <a:off x="1798320" y="379978"/>
            <a:ext cx="8366760" cy="7640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lgn="ctr">
              <a:tabLst>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sz="4800">
                <a:solidFill>
                  <a:srgbClr val="C00000"/>
                </a:solidFill>
                <a:latin typeface="Times New Roman"/>
                <a:ea typeface="Times New Roman"/>
                <a:cs typeface="Times New Roman"/>
                <a:sym typeface="Times New Roman"/>
              </a:defRPr>
            </a:lvl1pPr>
          </a:lstStyle>
          <a:p>
            <a:r>
              <a:t>Skill Attainment </a:t>
            </a:r>
          </a:p>
        </p:txBody>
      </p:sp>
      <p:sp>
        <p:nvSpPr>
          <p:cNvPr id="145" name="Line 2"/>
          <p:cNvSpPr/>
          <p:nvPr/>
        </p:nvSpPr>
        <p:spPr>
          <a:xfrm>
            <a:off x="2286000" y="1195389"/>
            <a:ext cx="7772400" cy="1587"/>
          </a:xfrm>
          <a:prstGeom prst="line">
            <a:avLst/>
          </a:prstGeom>
          <a:ln w="38160">
            <a:solidFill>
              <a:srgbClr val="F79646"/>
            </a:solidFill>
            <a:miter/>
          </a:ln>
          <a:effectLst>
            <a:outerShdw dist="23040" dir="5400000" rotWithShape="0">
              <a:srgbClr val="000000">
                <a:alpha val="35036"/>
              </a:srgbClr>
            </a:outerShdw>
          </a:effectLst>
        </p:spPr>
        <p:txBody>
          <a:bodyPr lIns="45719" rIns="45719"/>
          <a:lstStyle/>
          <a:p>
            <a:endParaRPr/>
          </a:p>
        </p:txBody>
      </p:sp>
      <p:sp>
        <p:nvSpPr>
          <p:cNvPr id="146" name="Text Box 3"/>
          <p:cNvSpPr txBox="1"/>
          <p:nvPr/>
        </p:nvSpPr>
        <p:spPr>
          <a:xfrm>
            <a:off x="1892300" y="1671638"/>
            <a:ext cx="8550276" cy="547329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nSpc>
                <a:spcPct val="150000"/>
              </a:lnSpc>
            </a:pPr>
            <a:r>
              <a:rPr lang="en-IN" sz="3600" dirty="0" smtClean="0">
                <a:latin typeface="Times New Roman" pitchFamily="18" charset="0"/>
                <a:cs typeface="Times New Roman" pitchFamily="18" charset="0"/>
              </a:rPr>
              <a:t>Logical Thinking </a:t>
            </a:r>
          </a:p>
          <a:p>
            <a:pPr>
              <a:lnSpc>
                <a:spcPct val="150000"/>
              </a:lnSpc>
            </a:pPr>
            <a:r>
              <a:rPr lang="en-IN" sz="3600" dirty="0" smtClean="0">
                <a:latin typeface="Times New Roman" pitchFamily="18" charset="0"/>
                <a:cs typeface="Times New Roman" pitchFamily="18" charset="0"/>
              </a:rPr>
              <a:t>Technical Competence</a:t>
            </a:r>
          </a:p>
          <a:p>
            <a:pPr>
              <a:lnSpc>
                <a:spcPct val="150000"/>
              </a:lnSpc>
            </a:pPr>
            <a:r>
              <a:rPr lang="en-IN" sz="3600" dirty="0" smtClean="0">
                <a:latin typeface="Times New Roman" pitchFamily="18" charset="0"/>
                <a:cs typeface="Times New Roman" pitchFamily="18" charset="0"/>
              </a:rPr>
              <a:t>Publication</a:t>
            </a:r>
          </a:p>
          <a:p>
            <a:pPr>
              <a:lnSpc>
                <a:spcPct val="150000"/>
              </a:lnSpc>
            </a:pPr>
            <a:r>
              <a:rPr lang="en-IN" sz="3600" dirty="0" smtClean="0">
                <a:latin typeface="Times New Roman" pitchFamily="18" charset="0"/>
                <a:cs typeface="Times New Roman" pitchFamily="18" charset="0"/>
              </a:rPr>
              <a:t>Patent/ Copyright</a:t>
            </a:r>
          </a:p>
          <a:p>
            <a:pPr>
              <a:lnSpc>
                <a:spcPct val="150000"/>
              </a:lnSpc>
            </a:pPr>
            <a:r>
              <a:rPr lang="en-IN" sz="3600" dirty="0" smtClean="0">
                <a:latin typeface="Times New Roman" pitchFamily="18" charset="0"/>
                <a:cs typeface="Times New Roman" pitchFamily="18" charset="0"/>
              </a:rPr>
              <a:t>Interpersonal Skills</a:t>
            </a:r>
          </a:p>
          <a:p>
            <a:pPr marL="342900" indent="-342900" algn="just">
              <a:spcBef>
                <a:spcPts val="700"/>
              </a:spcBef>
              <a:buSzPct val="100000"/>
              <a:tabLst>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sz="2400">
                <a:latin typeface="Times New Roman"/>
                <a:ea typeface="Times New Roman"/>
                <a:cs typeface="Times New Roman"/>
                <a:sym typeface="Times New Roman"/>
              </a:defRPr>
            </a:pPr>
            <a:endParaRPr sz="4400">
              <a:latin typeface="Times New Roman" pitchFamily="18" charset="0"/>
              <a:ea typeface="Arial"/>
              <a:cs typeface="Times New Roman" pitchFamily="18" charset="0"/>
              <a:sym typeface="Arial"/>
            </a:endParaRPr>
          </a:p>
          <a:p>
            <a:pPr marL="342900" indent="-342900" algn="just">
              <a:spcBef>
                <a:spcPts val="700"/>
              </a:spcBef>
              <a:tabLst>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sz="2400">
                <a:latin typeface="Times New Roman"/>
                <a:ea typeface="Times New Roman"/>
                <a:cs typeface="Times New Roman"/>
                <a:sym typeface="Times New Roman"/>
              </a:defRPr>
            </a:pPr>
            <a:endParaRPr/>
          </a:p>
        </p:txBody>
      </p:sp>
    </p:spTree>
  </p:cSld>
  <p:clrMapOvr>
    <a:masterClrMapping/>
  </p:clrMapOvr>
  <p:transition spd="med"/>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2398" y="1785926"/>
            <a:ext cx="11072890" cy="3983142"/>
          </a:xfrm>
          <a:prstGeom prst="rect">
            <a:avLst/>
          </a:prstGeom>
        </p:spPr>
        <p:txBody>
          <a:bodyPr wrap="square">
            <a:spAutoFit/>
          </a:bodyPr>
          <a:lstStyle/>
          <a:p>
            <a:pPr marL="90170" marR="151130" indent="-78105" algn="just">
              <a:lnSpc>
                <a:spcPct val="100499"/>
              </a:lnSpc>
              <a:spcBef>
                <a:spcPts val="85"/>
              </a:spcBef>
              <a:tabLst>
                <a:tab pos="3088005" algn="l"/>
              </a:tabLst>
            </a:pPr>
            <a:r>
              <a:rPr lang="en-US" b="1" u="heavy" spc="-5" dirty="0" smtClean="0">
                <a:solidFill>
                  <a:srgbClr val="FF0000"/>
                </a:solidFill>
                <a:uFill>
                  <a:solidFill>
                    <a:srgbClr val="FF0000"/>
                  </a:solidFill>
                </a:uFill>
                <a:latin typeface="Times New Roman" panose="02020603050405020304" pitchFamily="18" charset="0"/>
                <a:cs typeface="Times New Roman" panose="02020603050405020304" pitchFamily="18" charset="0"/>
              </a:rPr>
              <a:t>Unit</a:t>
            </a:r>
            <a:r>
              <a:rPr lang="en-US" b="1" u="heavy" spc="10" dirty="0" smtClean="0">
                <a:solidFill>
                  <a:srgbClr val="FF0000"/>
                </a:solidFill>
                <a:uFill>
                  <a:solidFill>
                    <a:srgbClr val="FF0000"/>
                  </a:solidFill>
                </a:uFill>
                <a:latin typeface="Times New Roman" panose="02020603050405020304" pitchFamily="18" charset="0"/>
                <a:cs typeface="Times New Roman" panose="02020603050405020304" pitchFamily="18" charset="0"/>
              </a:rPr>
              <a:t> </a:t>
            </a:r>
            <a:r>
              <a:rPr lang="en-US" b="1" u="heavy" spc="-5" dirty="0" smtClean="0">
                <a:solidFill>
                  <a:srgbClr val="FF0000"/>
                </a:solidFill>
                <a:uFill>
                  <a:solidFill>
                    <a:srgbClr val="FF0000"/>
                  </a:solidFill>
                </a:uFill>
                <a:latin typeface="Times New Roman" panose="02020603050405020304" pitchFamily="18" charset="0"/>
                <a:cs typeface="Times New Roman" panose="02020603050405020304" pitchFamily="18" charset="0"/>
              </a:rPr>
              <a:t>1</a:t>
            </a:r>
            <a:r>
              <a:rPr lang="en-US" b="1" u="heavy" spc="-10" dirty="0" smtClean="0">
                <a:solidFill>
                  <a:srgbClr val="FF0000"/>
                </a:solidFill>
                <a:uFill>
                  <a:solidFill>
                    <a:srgbClr val="FF0000"/>
                  </a:solidFill>
                </a:uFill>
                <a:latin typeface="Times New Roman" panose="02020603050405020304" pitchFamily="18" charset="0"/>
                <a:cs typeface="Times New Roman" panose="02020603050405020304" pitchFamily="18" charset="0"/>
              </a:rPr>
              <a:t>: ETHICS</a:t>
            </a:r>
            <a:r>
              <a:rPr lang="en-US" dirty="0" smtClean="0"/>
              <a:t> </a:t>
            </a:r>
          </a:p>
          <a:p>
            <a:pPr marL="90170" marR="151130" indent="-78105" algn="just">
              <a:lnSpc>
                <a:spcPct val="100499"/>
              </a:lnSpc>
              <a:spcBef>
                <a:spcPts val="85"/>
              </a:spcBef>
              <a:tabLst>
                <a:tab pos="3088005" algn="l"/>
              </a:tabLst>
            </a:pPr>
            <a:r>
              <a:rPr lang="en-US" b="1" spc="-5" dirty="0" smtClean="0">
                <a:latin typeface="Times New Roman" panose="02020603050405020304" pitchFamily="18" charset="0"/>
                <a:cs typeface="Times New Roman" panose="02020603050405020304" pitchFamily="18" charset="0"/>
              </a:rPr>
              <a:t>  Definition of ethics, Importance of integrity, Ethics in business world, improving corporate ethics, Creating an ethical work environment, Ethical decision making, Ethics in information technology, Ethical behavior of IT professional, Common ethical issues for IT users, Supporting the ethical practices of IT users</a:t>
            </a:r>
          </a:p>
          <a:p>
            <a:pPr algn="just">
              <a:spcBef>
                <a:spcPts val="40"/>
              </a:spcBef>
            </a:pPr>
            <a:endParaRPr lang="en-US" dirty="0" smtClean="0">
              <a:latin typeface="Times New Roman" panose="02020603050405020304" pitchFamily="18" charset="0"/>
              <a:cs typeface="Times New Roman" panose="02020603050405020304" pitchFamily="18" charset="0"/>
            </a:endParaRPr>
          </a:p>
          <a:p>
            <a:pPr marL="90170" marR="5080" indent="-43180" algn="just">
              <a:tabLst>
                <a:tab pos="845185" algn="l"/>
              </a:tabLst>
            </a:pPr>
            <a:r>
              <a:rPr lang="en-US" b="1" u="heavy" spc="-5" dirty="0" smtClean="0">
                <a:solidFill>
                  <a:srgbClr val="FF0000"/>
                </a:solidFill>
                <a:uFill>
                  <a:solidFill>
                    <a:srgbClr val="FF0000"/>
                  </a:solidFill>
                </a:uFill>
                <a:latin typeface="Times New Roman" panose="02020603050405020304" pitchFamily="18" charset="0"/>
                <a:cs typeface="Times New Roman" panose="02020603050405020304" pitchFamily="18" charset="0"/>
              </a:rPr>
              <a:t>Unit 2: INTELLECTUAL PROPERTIES </a:t>
            </a:r>
          </a:p>
          <a:p>
            <a:pPr marL="90170" marR="5080" indent="-43180" algn="just">
              <a:tabLst>
                <a:tab pos="845185" algn="l"/>
              </a:tabLst>
            </a:pPr>
            <a:r>
              <a:rPr lang="en-US" b="1" spc="-5" dirty="0" smtClean="0">
                <a:solidFill>
                  <a:schemeClr val="bg1"/>
                </a:solidFill>
                <a:uFill>
                  <a:solidFill>
                    <a:srgbClr val="FF0000"/>
                  </a:solidFill>
                </a:uFill>
                <a:latin typeface="Times New Roman" panose="02020603050405020304" pitchFamily="18" charset="0"/>
                <a:cs typeface="Times New Roman" panose="02020603050405020304" pitchFamily="18" charset="0"/>
              </a:rPr>
              <a:t> </a:t>
            </a:r>
            <a:r>
              <a:rPr lang="en-US" b="1" spc="-5" dirty="0" smtClean="0">
                <a:latin typeface="Times New Roman" panose="02020603050405020304" pitchFamily="18" charset="0"/>
                <a:cs typeface="Times New Roman" panose="02020603050405020304" pitchFamily="18" charset="0"/>
              </a:rPr>
              <a:t>Different kinds of marks (brand names, logos, signatures, symbols, well known marks, certification marks and service marks), Patents, Importance of Patent Information in Business Development, Concept of Intellectual Property, Copyrights</a:t>
            </a:r>
            <a:r>
              <a:rPr lang="en-US" dirty="0" smtClean="0"/>
              <a:t>, </a:t>
            </a:r>
            <a:r>
              <a:rPr lang="en-US" b="1" spc="-5" dirty="0" smtClean="0">
                <a:latin typeface="Times New Roman" panose="02020603050405020304" pitchFamily="18" charset="0"/>
                <a:cs typeface="Times New Roman" panose="02020603050405020304" pitchFamily="18" charset="0"/>
              </a:rPr>
              <a:t>Trademarks</a:t>
            </a:r>
          </a:p>
          <a:p>
            <a:pPr marL="90170" marR="5080" indent="-43180" algn="just">
              <a:tabLst>
                <a:tab pos="845185" algn="l"/>
              </a:tabLst>
            </a:pPr>
            <a:endParaRPr lang="en-US" b="1" spc="-5" dirty="0" smtClean="0">
              <a:latin typeface="Times New Roman" panose="02020603050405020304" pitchFamily="18" charset="0"/>
              <a:cs typeface="Times New Roman" panose="02020603050405020304" pitchFamily="18" charset="0"/>
            </a:endParaRPr>
          </a:p>
          <a:p>
            <a:pPr marL="90170" marR="5080" indent="-43180" algn="just">
              <a:tabLst>
                <a:tab pos="845185" algn="l"/>
              </a:tabLst>
            </a:pPr>
            <a:r>
              <a:rPr lang="en-US" b="1" u="heavy" spc="-5" dirty="0" smtClean="0">
                <a:solidFill>
                  <a:srgbClr val="FF0000"/>
                </a:solidFill>
                <a:uFill>
                  <a:solidFill>
                    <a:srgbClr val="FF0000"/>
                  </a:solidFill>
                </a:uFill>
                <a:latin typeface="Times New Roman" panose="02020603050405020304" pitchFamily="18" charset="0"/>
                <a:cs typeface="Times New Roman" panose="02020603050405020304" pitchFamily="18" charset="0"/>
              </a:rPr>
              <a:t>Unit 3: GOVERNMENT FUNDING AND SCHEMES FOR STARTUPS</a:t>
            </a:r>
          </a:p>
          <a:p>
            <a:pPr marL="90170" marR="5080" indent="-43180" algn="just">
              <a:tabLst>
                <a:tab pos="845185" algn="l"/>
              </a:tabLst>
            </a:pPr>
            <a:r>
              <a:rPr lang="en-US" b="1" spc="-5" dirty="0" smtClean="0">
                <a:solidFill>
                  <a:schemeClr val="bg1"/>
                </a:solidFill>
                <a:uFill>
                  <a:solidFill>
                    <a:srgbClr val="FF0000"/>
                  </a:solidFill>
                </a:uFill>
                <a:latin typeface="Times New Roman" panose="02020603050405020304" pitchFamily="18" charset="0"/>
                <a:cs typeface="Times New Roman" panose="02020603050405020304" pitchFamily="18" charset="0"/>
              </a:rPr>
              <a:t> </a:t>
            </a:r>
            <a:r>
              <a:rPr lang="en-US" b="1" spc="-5" dirty="0" smtClean="0">
                <a:latin typeface="Times New Roman" panose="02020603050405020304" pitchFamily="18" charset="0"/>
                <a:cs typeface="Times New Roman" panose="02020603050405020304" pitchFamily="18" charset="0"/>
              </a:rPr>
              <a:t>what are Startups, Startup India benefits, Resources, bank loan for start up business, Start-up India, 10000 startups -A NASSCOM Initiative, Export promotion schemes: Software Technology Parks (STPs), Special Economic Zones (SEZ) Scheme, Laws for Startups</a:t>
            </a:r>
          </a:p>
        </p:txBody>
      </p:sp>
      <p:sp>
        <p:nvSpPr>
          <p:cNvPr id="3" name="Rectangle 2"/>
          <p:cNvSpPr/>
          <p:nvPr/>
        </p:nvSpPr>
        <p:spPr>
          <a:xfrm>
            <a:off x="1666844" y="642918"/>
            <a:ext cx="7929618" cy="769441"/>
          </a:xfrm>
          <a:prstGeom prst="rect">
            <a:avLst/>
          </a:prstGeom>
        </p:spPr>
        <p:txBody>
          <a:bodyPr wrap="square">
            <a:spAutoFit/>
          </a:bodyPr>
          <a:lstStyle/>
          <a:p>
            <a:pPr algn="ct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dirty="0" smtClean="0">
                <a:solidFill>
                  <a:srgbClr val="FF0000"/>
                </a:solidFill>
              </a:rPr>
              <a:t>Course Contents</a:t>
            </a:r>
          </a:p>
        </p:txBody>
      </p:sp>
    </p:spTree>
  </p:cSld>
  <p:clrMapOvr>
    <a:masterClrMapping/>
  </p:clrMapOvr>
  <p:transition spd="med"/>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09588" y="1500174"/>
            <a:ext cx="10429948" cy="4549964"/>
          </a:xfrm>
          <a:prstGeom prst="rect">
            <a:avLst/>
          </a:prstGeom>
        </p:spPr>
        <p:txBody>
          <a:bodyPr wrap="square">
            <a:spAutoFit/>
          </a:bodyPr>
          <a:lstStyle/>
          <a:p>
            <a:pPr marL="90170" marR="151130" indent="-78105" algn="just">
              <a:lnSpc>
                <a:spcPct val="100499"/>
              </a:lnSpc>
              <a:spcBef>
                <a:spcPts val="85"/>
              </a:spcBef>
              <a:tabLst>
                <a:tab pos="3088005" algn="l"/>
              </a:tabLst>
            </a:pPr>
            <a:r>
              <a:rPr lang="en-US" b="1" u="heavy" spc="-5" dirty="0" smtClean="0">
                <a:solidFill>
                  <a:srgbClr val="FF0000"/>
                </a:solidFill>
                <a:uFill>
                  <a:solidFill>
                    <a:srgbClr val="FF0000"/>
                  </a:solidFill>
                </a:uFill>
                <a:latin typeface="Times New Roman" panose="02020603050405020304" pitchFamily="18" charset="0"/>
                <a:cs typeface="Times New Roman" panose="02020603050405020304" pitchFamily="18" charset="0"/>
              </a:rPr>
              <a:t>Unit</a:t>
            </a:r>
            <a:r>
              <a:rPr lang="en-US" b="1" u="heavy" spc="10" dirty="0" smtClean="0">
                <a:solidFill>
                  <a:srgbClr val="FF0000"/>
                </a:solidFill>
                <a:uFill>
                  <a:solidFill>
                    <a:srgbClr val="FF0000"/>
                  </a:solidFill>
                </a:uFill>
                <a:latin typeface="Times New Roman" panose="02020603050405020304" pitchFamily="18" charset="0"/>
                <a:cs typeface="Times New Roman" panose="02020603050405020304" pitchFamily="18" charset="0"/>
              </a:rPr>
              <a:t> </a:t>
            </a:r>
            <a:r>
              <a:rPr lang="en-US" b="1" u="heavy" spc="-5" dirty="0" smtClean="0">
                <a:solidFill>
                  <a:srgbClr val="FF0000"/>
                </a:solidFill>
                <a:uFill>
                  <a:solidFill>
                    <a:srgbClr val="FF0000"/>
                  </a:solidFill>
                </a:uFill>
                <a:latin typeface="Times New Roman" panose="02020603050405020304" pitchFamily="18" charset="0"/>
                <a:cs typeface="Times New Roman" panose="02020603050405020304" pitchFamily="18" charset="0"/>
              </a:rPr>
              <a:t>4</a:t>
            </a:r>
            <a:r>
              <a:rPr lang="en-US" b="1" u="heavy" spc="-10" dirty="0" smtClean="0">
                <a:solidFill>
                  <a:srgbClr val="FF0000"/>
                </a:solidFill>
                <a:uFill>
                  <a:solidFill>
                    <a:srgbClr val="FF0000"/>
                  </a:solidFill>
                </a:uFill>
                <a:latin typeface="Times New Roman" panose="02020603050405020304" pitchFamily="18" charset="0"/>
                <a:cs typeface="Times New Roman" panose="02020603050405020304" pitchFamily="18" charset="0"/>
              </a:rPr>
              <a:t>: STARTUP IN IT</a:t>
            </a:r>
            <a:r>
              <a:rPr lang="en-US" dirty="0" smtClean="0"/>
              <a:t> </a:t>
            </a:r>
          </a:p>
          <a:p>
            <a:pPr marL="90170" marR="151130" indent="-78105" algn="just">
              <a:lnSpc>
                <a:spcPct val="100499"/>
              </a:lnSpc>
              <a:spcBef>
                <a:spcPts val="85"/>
              </a:spcBef>
              <a:tabLst>
                <a:tab pos="3088005" algn="l"/>
              </a:tabLst>
            </a:pPr>
            <a:r>
              <a:rPr lang="en-US" b="1" spc="-5" dirty="0" smtClean="0">
                <a:latin typeface="Times New Roman" panose="02020603050405020304" pitchFamily="18" charset="0"/>
                <a:cs typeface="Times New Roman" panose="02020603050405020304" pitchFamily="18" charset="0"/>
              </a:rPr>
              <a:t> Planning of startup business in IT sector-Executive summary, General company Description, Products and services, Marketing plan, Operational plan, Management and organization, Personal Financial Statement, Startup Expenses and Capitalization, Financial Plan, Appendices, Refining the Plan, Examples of Successful Start-ups</a:t>
            </a:r>
          </a:p>
          <a:p>
            <a:pPr marL="90170" marR="151130" indent="-78105" algn="just">
              <a:lnSpc>
                <a:spcPct val="100499"/>
              </a:lnSpc>
              <a:spcBef>
                <a:spcPts val="85"/>
              </a:spcBef>
              <a:tabLst>
                <a:tab pos="3088005" algn="l"/>
              </a:tabLst>
            </a:pPr>
            <a:endParaRPr lang="en-US" dirty="0" smtClean="0">
              <a:latin typeface="Times New Roman" panose="02020603050405020304" pitchFamily="18" charset="0"/>
              <a:cs typeface="Times New Roman" panose="02020603050405020304" pitchFamily="18" charset="0"/>
            </a:endParaRPr>
          </a:p>
          <a:p>
            <a:pPr marL="90170" marR="5080" indent="-43180" algn="just">
              <a:tabLst>
                <a:tab pos="845185" algn="l"/>
              </a:tabLst>
            </a:pPr>
            <a:r>
              <a:rPr lang="en-US" b="1" u="heavy" spc="-5" dirty="0" smtClean="0">
                <a:solidFill>
                  <a:srgbClr val="FF0000"/>
                </a:solidFill>
                <a:uFill>
                  <a:solidFill>
                    <a:srgbClr val="FF0000"/>
                  </a:solidFill>
                </a:uFill>
                <a:latin typeface="Times New Roman" panose="02020603050405020304" pitchFamily="18" charset="0"/>
                <a:cs typeface="Times New Roman" panose="02020603050405020304" pitchFamily="18" charset="0"/>
              </a:rPr>
              <a:t>Unit 5: COMPANIES</a:t>
            </a:r>
          </a:p>
          <a:p>
            <a:pPr marL="90170" marR="5080" indent="-43180" algn="just">
              <a:tabLst>
                <a:tab pos="845185" algn="l"/>
              </a:tabLst>
            </a:pPr>
            <a:r>
              <a:rPr lang="en-US" b="1" spc="-5" dirty="0" smtClean="0">
                <a:solidFill>
                  <a:schemeClr val="bg1"/>
                </a:solidFill>
                <a:uFill>
                  <a:solidFill>
                    <a:srgbClr val="FF0000"/>
                  </a:solidFill>
                </a:uFill>
                <a:latin typeface="Times New Roman" panose="02020603050405020304" pitchFamily="18" charset="0"/>
                <a:cs typeface="Times New Roman" panose="02020603050405020304" pitchFamily="18" charset="0"/>
              </a:rPr>
              <a:t> </a:t>
            </a:r>
            <a:r>
              <a:rPr lang="en-US" b="1" spc="-5" dirty="0" smtClean="0">
                <a:latin typeface="Times New Roman" panose="02020603050405020304" pitchFamily="18" charset="0"/>
                <a:cs typeface="Times New Roman" panose="02020603050405020304" pitchFamily="18" charset="0"/>
              </a:rPr>
              <a:t>Introduction to IT and ITES industry (Product based, Services based), Introduction to NASSCOM, STPI, Overview on latest IT projects with global impact, Case study of an IT industry (Product based and Services based), Recent technology advancement, Current affairs related with the IT industry, Diversity in the Workforce</a:t>
            </a:r>
          </a:p>
          <a:p>
            <a:pPr marL="90170" marR="5080" indent="-43180" algn="just">
              <a:tabLst>
                <a:tab pos="845185" algn="l"/>
              </a:tabLst>
            </a:pPr>
            <a:endParaRPr lang="en-US" b="1" spc="-5" dirty="0" smtClean="0">
              <a:latin typeface="Times New Roman" panose="02020603050405020304" pitchFamily="18" charset="0"/>
              <a:cs typeface="Times New Roman" panose="02020603050405020304" pitchFamily="18" charset="0"/>
            </a:endParaRPr>
          </a:p>
          <a:p>
            <a:pPr marL="90170" marR="5080" indent="-43180" algn="just">
              <a:tabLst>
                <a:tab pos="845185" algn="l"/>
              </a:tabLst>
            </a:pPr>
            <a:r>
              <a:rPr lang="en-US" b="1" u="heavy" spc="-5" dirty="0" smtClean="0">
                <a:solidFill>
                  <a:srgbClr val="FF0000"/>
                </a:solidFill>
                <a:uFill>
                  <a:solidFill>
                    <a:srgbClr val="FF0000"/>
                  </a:solidFill>
                </a:uFill>
                <a:latin typeface="Times New Roman" panose="02020603050405020304" pitchFamily="18" charset="0"/>
                <a:cs typeface="Times New Roman" panose="02020603050405020304" pitchFamily="18" charset="0"/>
              </a:rPr>
              <a:t>Unit 6: LEGAL, ETHICAL AND PROFESSIONAL ISSUES IN INFORMATION SECURITY</a:t>
            </a:r>
          </a:p>
          <a:p>
            <a:pPr marL="90170" marR="5080" indent="-43180" algn="just">
              <a:tabLst>
                <a:tab pos="845185" algn="l"/>
              </a:tabLst>
            </a:pPr>
            <a:r>
              <a:rPr lang="en-US" b="1" spc="-5" dirty="0" smtClean="0">
                <a:solidFill>
                  <a:schemeClr val="bg1"/>
                </a:solidFill>
                <a:uFill>
                  <a:solidFill>
                    <a:srgbClr val="FF0000"/>
                  </a:solidFill>
                </a:uFill>
                <a:latin typeface="Times New Roman" panose="02020603050405020304" pitchFamily="18" charset="0"/>
                <a:cs typeface="Times New Roman" panose="02020603050405020304" pitchFamily="18" charset="0"/>
              </a:rPr>
              <a:t> </a:t>
            </a:r>
            <a:r>
              <a:rPr lang="en-US" b="1" spc="-5" dirty="0" smtClean="0">
                <a:latin typeface="Times New Roman" panose="02020603050405020304" pitchFamily="18" charset="0"/>
                <a:cs typeface="Times New Roman" panose="02020603050405020304" pitchFamily="18" charset="0"/>
              </a:rPr>
              <a:t>Introduction, Law and Ethics in Information Security, Organizational Liability and the Need for Counsel, Policy Versus Law, Cyber Crime, Cyber-crime on the rise, Cyber law of India, Need for cyber law in India</a:t>
            </a:r>
          </a:p>
        </p:txBody>
      </p:sp>
      <p:sp>
        <p:nvSpPr>
          <p:cNvPr id="3" name="Rectangle 2"/>
          <p:cNvSpPr/>
          <p:nvPr/>
        </p:nvSpPr>
        <p:spPr>
          <a:xfrm>
            <a:off x="1666844" y="642918"/>
            <a:ext cx="7929618" cy="769441"/>
          </a:xfrm>
          <a:prstGeom prst="rect">
            <a:avLst/>
          </a:prstGeom>
        </p:spPr>
        <p:txBody>
          <a:bodyPr wrap="square">
            <a:spAutoFit/>
          </a:bodyPr>
          <a:lstStyle/>
          <a:p>
            <a:pPr algn="ct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dirty="0" smtClean="0">
                <a:solidFill>
                  <a:srgbClr val="FF0000"/>
                </a:solidFill>
              </a:rPr>
              <a:t>Course Contents</a:t>
            </a:r>
          </a:p>
        </p:txBody>
      </p:sp>
    </p:spTree>
  </p:cSld>
  <p:clrMapOvr>
    <a:masterClrMapping/>
  </p:clrMapOvr>
  <p:transition spd="med"/>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666844" y="642918"/>
            <a:ext cx="7929618" cy="769441"/>
          </a:xfrm>
          <a:prstGeom prst="rect">
            <a:avLst/>
          </a:prstGeom>
        </p:spPr>
        <p:txBody>
          <a:bodyPr wrap="square">
            <a:spAutoFit/>
          </a:bodyPr>
          <a:lstStyle/>
          <a:p>
            <a:pPr algn="ct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dirty="0" smtClean="0">
                <a:solidFill>
                  <a:srgbClr val="FF0000"/>
                </a:solidFill>
              </a:rPr>
              <a:t>Course Assessment Model</a:t>
            </a:r>
          </a:p>
        </p:txBody>
      </p:sp>
      <p:sp>
        <p:nvSpPr>
          <p:cNvPr id="7" name="object 5"/>
          <p:cNvSpPr txBox="1"/>
          <p:nvPr/>
        </p:nvSpPr>
        <p:spPr>
          <a:xfrm>
            <a:off x="1595406" y="1571612"/>
            <a:ext cx="9072626" cy="3613169"/>
          </a:xfrm>
          <a:prstGeom prst="rect">
            <a:avLst/>
          </a:prstGeom>
        </p:spPr>
        <p:txBody>
          <a:bodyPr vert="horz" wrap="square" lIns="0" tIns="12065" rIns="0" bIns="0" rtlCol="0">
            <a:spAutoFit/>
          </a:bodyPr>
          <a:lstStyle/>
          <a:p>
            <a:pPr marL="739775" indent="-727710" algn="ctr">
              <a:spcBef>
                <a:spcPts val="95"/>
              </a:spcBef>
              <a:tabLst>
                <a:tab pos="739775" algn="l"/>
                <a:tab pos="740410" algn="l"/>
              </a:tabLst>
            </a:pPr>
            <a:r>
              <a:rPr lang="en-US" sz="3400" b="1" spc="-5" dirty="0" smtClean="0">
                <a:latin typeface="Times New Roman" panose="02020603050405020304" pitchFamily="18" charset="0"/>
                <a:cs typeface="Times New Roman" panose="02020603050405020304" pitchFamily="18" charset="0"/>
              </a:rPr>
              <a:t>Marks Breakup</a:t>
            </a:r>
          </a:p>
          <a:p>
            <a:pPr marL="739775" indent="-727710">
              <a:spcBef>
                <a:spcPts val="95"/>
              </a:spcBef>
              <a:tabLst>
                <a:tab pos="739775" algn="l"/>
                <a:tab pos="740410" algn="l"/>
              </a:tabLst>
            </a:pPr>
            <a:r>
              <a:rPr lang="en-US" sz="3400" spc="-5" dirty="0" smtClean="0">
                <a:latin typeface="Times New Roman" panose="02020603050405020304" pitchFamily="18" charset="0"/>
                <a:cs typeface="Times New Roman" panose="02020603050405020304" pitchFamily="18" charset="0"/>
              </a:rPr>
              <a:t>Attendance                                                    5</a:t>
            </a:r>
          </a:p>
          <a:p>
            <a:pPr marL="739775" indent="-727710">
              <a:spcBef>
                <a:spcPts val="95"/>
              </a:spcBef>
              <a:tabLst>
                <a:tab pos="739775" algn="l"/>
                <a:tab pos="740410" algn="l"/>
              </a:tabLst>
            </a:pPr>
            <a:r>
              <a:rPr lang="en-US" sz="3400" spc="-5" dirty="0" smtClean="0">
                <a:latin typeface="Times New Roman" panose="02020603050405020304" pitchFamily="18" charset="0"/>
                <a:cs typeface="Times New Roman" panose="02020603050405020304" pitchFamily="18" charset="0"/>
              </a:rPr>
              <a:t>CA                                                               25</a:t>
            </a:r>
          </a:p>
          <a:p>
            <a:pPr marL="739775" indent="-727710">
              <a:lnSpc>
                <a:spcPct val="100000"/>
              </a:lnSpc>
              <a:spcBef>
                <a:spcPts val="95"/>
              </a:spcBef>
              <a:tabLst>
                <a:tab pos="739775" algn="l"/>
                <a:tab pos="740410" algn="l"/>
              </a:tabLst>
            </a:pPr>
            <a:r>
              <a:rPr sz="3400" spc="-5" smtClean="0">
                <a:latin typeface="Times New Roman" panose="02020603050405020304" pitchFamily="18" charset="0"/>
                <a:cs typeface="Times New Roman" panose="02020603050405020304" pitchFamily="18" charset="0"/>
              </a:rPr>
              <a:t>MTE</a:t>
            </a:r>
            <a:r>
              <a:rPr lang="en-US" sz="3400" spc="-5" dirty="0" smtClean="0">
                <a:latin typeface="Times New Roman" panose="02020603050405020304" pitchFamily="18" charset="0"/>
                <a:cs typeface="Times New Roman" panose="02020603050405020304" pitchFamily="18" charset="0"/>
              </a:rPr>
              <a:t>                                                            20</a:t>
            </a:r>
            <a:endParaRPr sz="3400" dirty="0">
              <a:latin typeface="Times New Roman" panose="02020603050405020304" pitchFamily="18" charset="0"/>
              <a:cs typeface="Times New Roman" panose="02020603050405020304" pitchFamily="18" charset="0"/>
            </a:endParaRPr>
          </a:p>
          <a:p>
            <a:pPr marL="869315" indent="-857250">
              <a:lnSpc>
                <a:spcPct val="100000"/>
              </a:lnSpc>
              <a:tabLst>
                <a:tab pos="869315" algn="l"/>
                <a:tab pos="869950" algn="l"/>
              </a:tabLst>
            </a:pPr>
            <a:r>
              <a:rPr sz="3400" spc="-5" smtClean="0">
                <a:latin typeface="Times New Roman" panose="02020603050405020304" pitchFamily="18" charset="0"/>
                <a:cs typeface="Times New Roman" panose="02020603050405020304" pitchFamily="18" charset="0"/>
              </a:rPr>
              <a:t>ETE</a:t>
            </a:r>
            <a:r>
              <a:rPr lang="en-US" sz="3400" spc="-5" dirty="0" smtClean="0">
                <a:latin typeface="Times New Roman" panose="02020603050405020304" pitchFamily="18" charset="0"/>
                <a:cs typeface="Times New Roman" panose="02020603050405020304" pitchFamily="18" charset="0"/>
              </a:rPr>
              <a:t>                                                             50</a:t>
            </a:r>
            <a:endParaRPr sz="3400" dirty="0">
              <a:latin typeface="Times New Roman" panose="02020603050405020304" pitchFamily="18" charset="0"/>
              <a:cs typeface="Times New Roman" panose="02020603050405020304" pitchFamily="18" charset="0"/>
            </a:endParaRPr>
          </a:p>
          <a:p>
            <a:pPr marL="948690">
              <a:lnSpc>
                <a:spcPct val="100000"/>
              </a:lnSpc>
              <a:spcBef>
                <a:spcPts val="3265"/>
              </a:spcBef>
            </a:pPr>
            <a:r>
              <a:rPr sz="3400" b="1" spc="-5" smtClean="0">
                <a:latin typeface="Times New Roman" panose="02020603050405020304" pitchFamily="18" charset="0"/>
                <a:cs typeface="Times New Roman" panose="02020603050405020304" pitchFamily="18" charset="0"/>
              </a:rPr>
              <a:t>Total</a:t>
            </a:r>
            <a:r>
              <a:rPr lang="en-US" sz="3400" b="1" spc="-5" dirty="0" smtClean="0">
                <a:latin typeface="Times New Roman" panose="02020603050405020304" pitchFamily="18" charset="0"/>
                <a:cs typeface="Times New Roman" panose="02020603050405020304" pitchFamily="18" charset="0"/>
              </a:rPr>
              <a:t>                                                 100</a:t>
            </a:r>
            <a:endParaRPr sz="3400" dirty="0">
              <a:latin typeface="Times New Roman" panose="02020603050405020304" pitchFamily="18" charset="0"/>
              <a:cs typeface="Times New Roman" panose="02020603050405020304" pitchFamily="18" charset="0"/>
            </a:endParaRPr>
          </a:p>
        </p:txBody>
      </p:sp>
    </p:spTree>
  </p:cSld>
  <p:clrMapOvr>
    <a:masterClrMapping/>
  </p:clrMapOvr>
  <p:transition spd="med"/>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3"/>
          <p:cNvSpPr txBox="1"/>
          <p:nvPr/>
        </p:nvSpPr>
        <p:spPr>
          <a:xfrm>
            <a:off x="535940" y="1528318"/>
            <a:ext cx="10274968" cy="2827056"/>
          </a:xfrm>
          <a:prstGeom prst="rect">
            <a:avLst/>
          </a:prstGeom>
        </p:spPr>
        <p:txBody>
          <a:bodyPr vert="horz" wrap="square" lIns="0" tIns="13335" rIns="0" bIns="0" rtlCol="0">
            <a:spAutoFit/>
          </a:bodyPr>
          <a:lstStyle/>
          <a:p>
            <a:pPr marL="355600" indent="-342900">
              <a:spcBef>
                <a:spcPts val="105"/>
              </a:spcBef>
              <a:tabLst>
                <a:tab pos="354965" algn="l"/>
                <a:tab pos="355600" algn="l"/>
                <a:tab pos="1841500" algn="l"/>
              </a:tabLst>
            </a:pPr>
            <a:r>
              <a:rPr sz="2600" spc="-5" smtClean="0">
                <a:latin typeface="Times New Roman" panose="02020603050405020304" pitchFamily="18" charset="0"/>
                <a:cs typeface="Times New Roman" panose="02020603050405020304" pitchFamily="18" charset="0"/>
              </a:rPr>
              <a:t>AT1:</a:t>
            </a:r>
            <a:r>
              <a:rPr lang="en-US" sz="2600" spc="-5" dirty="0" smtClean="0">
                <a:latin typeface="Times New Roman" panose="02020603050405020304" pitchFamily="18" charset="0"/>
                <a:cs typeface="Times New Roman" panose="02020603050405020304" pitchFamily="18" charset="0"/>
              </a:rPr>
              <a:t>Case Based Assignment</a:t>
            </a:r>
            <a:r>
              <a:rPr lang="en-US" sz="2600" dirty="0" smtClean="0">
                <a:latin typeface="Times New Roman" panose="02020603050405020304" pitchFamily="18" charset="0"/>
                <a:cs typeface="Times New Roman" panose="02020603050405020304" pitchFamily="18" charset="0"/>
              </a:rPr>
              <a:t> (IPR)                   Lecture</a:t>
            </a:r>
            <a:r>
              <a:rPr lang="en-US" sz="2600" spc="-85" dirty="0" smtClean="0">
                <a:latin typeface="Times New Roman" panose="02020603050405020304" pitchFamily="18" charset="0"/>
                <a:cs typeface="Times New Roman" panose="02020603050405020304" pitchFamily="18" charset="0"/>
              </a:rPr>
              <a:t> </a:t>
            </a:r>
            <a:r>
              <a:rPr lang="en-US" sz="2600" dirty="0" smtClean="0">
                <a:latin typeface="Times New Roman" panose="02020603050405020304" pitchFamily="18" charset="0"/>
                <a:cs typeface="Times New Roman" panose="02020603050405020304" pitchFamily="18" charset="0"/>
              </a:rPr>
              <a:t>06</a:t>
            </a:r>
            <a:endParaRPr sz="2600" dirty="0">
              <a:latin typeface="Times New Roman" panose="02020603050405020304" pitchFamily="18" charset="0"/>
              <a:cs typeface="Times New Roman" panose="02020603050405020304" pitchFamily="18" charset="0"/>
            </a:endParaRPr>
          </a:p>
          <a:p>
            <a:pPr marL="927100">
              <a:lnSpc>
                <a:spcPct val="100000"/>
              </a:lnSpc>
            </a:pPr>
            <a:r>
              <a:rPr sz="2600" spc="-5" dirty="0">
                <a:latin typeface="Times New Roman" panose="02020603050405020304" pitchFamily="18" charset="0"/>
                <a:cs typeface="Times New Roman" panose="02020603050405020304" pitchFamily="18" charset="0"/>
              </a:rPr>
              <a:t>(Before</a:t>
            </a:r>
            <a:r>
              <a:rPr sz="2600" spc="-90" dirty="0">
                <a:latin typeface="Times New Roman" panose="02020603050405020304" pitchFamily="18" charset="0"/>
                <a:cs typeface="Times New Roman" panose="02020603050405020304" pitchFamily="18" charset="0"/>
              </a:rPr>
              <a:t> </a:t>
            </a:r>
            <a:r>
              <a:rPr sz="2600">
                <a:latin typeface="Times New Roman" panose="02020603050405020304" pitchFamily="18" charset="0"/>
                <a:cs typeface="Times New Roman" panose="02020603050405020304" pitchFamily="18" charset="0"/>
              </a:rPr>
              <a:t>MTE</a:t>
            </a:r>
            <a:r>
              <a:rPr sz="2600" smtClean="0">
                <a:latin typeface="Times New Roman" panose="02020603050405020304" pitchFamily="18" charset="0"/>
                <a:cs typeface="Times New Roman" panose="02020603050405020304" pitchFamily="18" charset="0"/>
              </a:rPr>
              <a:t>)</a:t>
            </a:r>
            <a:endParaRPr lang="en-US" sz="2600" dirty="0" smtClean="0">
              <a:latin typeface="Times New Roman" panose="02020603050405020304" pitchFamily="18" charset="0"/>
              <a:cs typeface="Times New Roman" panose="02020603050405020304" pitchFamily="18" charset="0"/>
            </a:endParaRPr>
          </a:p>
          <a:p>
            <a:pPr marL="927100">
              <a:lnSpc>
                <a:spcPct val="100000"/>
              </a:lnSpc>
            </a:pPr>
            <a:endParaRPr lang="en-US" sz="2600" dirty="0" smtClean="0">
              <a:latin typeface="Times New Roman" panose="02020603050405020304" pitchFamily="18" charset="0"/>
              <a:cs typeface="Times New Roman" panose="02020603050405020304" pitchFamily="18" charset="0"/>
            </a:endParaRPr>
          </a:p>
          <a:p>
            <a:pPr marL="927100">
              <a:lnSpc>
                <a:spcPct val="100000"/>
              </a:lnSpc>
            </a:pPr>
            <a:endParaRPr lang="en-US" sz="2600" dirty="0" smtClean="0">
              <a:latin typeface="Times New Roman" panose="02020603050405020304" pitchFamily="18" charset="0"/>
              <a:cs typeface="Times New Roman" panose="02020603050405020304" pitchFamily="18" charset="0"/>
            </a:endParaRPr>
          </a:p>
          <a:p>
            <a:pPr marL="355600" indent="-342900">
              <a:spcBef>
                <a:spcPts val="105"/>
              </a:spcBef>
              <a:tabLst>
                <a:tab pos="354965" algn="l"/>
                <a:tab pos="355600" algn="l"/>
                <a:tab pos="1841500" algn="l"/>
              </a:tabLst>
            </a:pPr>
            <a:r>
              <a:rPr lang="en-US" sz="2600" spc="-5" dirty="0" smtClean="0">
                <a:latin typeface="Times New Roman" panose="02020603050405020304" pitchFamily="18" charset="0"/>
                <a:cs typeface="Times New Roman" panose="02020603050405020304" pitchFamily="18" charset="0"/>
              </a:rPr>
              <a:t>AT2:</a:t>
            </a:r>
            <a:r>
              <a:rPr lang="en-US" sz="2600" dirty="0" smtClean="0">
                <a:latin typeface="Times New Roman" panose="02020603050405020304" pitchFamily="18" charset="0"/>
                <a:cs typeface="Times New Roman" panose="02020603050405020304" pitchFamily="18" charset="0"/>
              </a:rPr>
              <a:t>Test2(MCQ based)                                     Lecture</a:t>
            </a:r>
            <a:r>
              <a:rPr lang="en-US" sz="2600" spc="-95" dirty="0" smtClean="0">
                <a:latin typeface="Times New Roman" panose="02020603050405020304" pitchFamily="18" charset="0"/>
                <a:cs typeface="Times New Roman" panose="02020603050405020304" pitchFamily="18" charset="0"/>
              </a:rPr>
              <a:t> </a:t>
            </a:r>
            <a:r>
              <a:rPr lang="en-US" sz="2600" dirty="0" smtClean="0">
                <a:latin typeface="Times New Roman" panose="02020603050405020304" pitchFamily="18" charset="0"/>
                <a:cs typeface="Times New Roman" panose="02020603050405020304" pitchFamily="18" charset="0"/>
              </a:rPr>
              <a:t>18</a:t>
            </a:r>
          </a:p>
          <a:p>
            <a:pPr marL="927100">
              <a:lnSpc>
                <a:spcPct val="100000"/>
              </a:lnSpc>
            </a:pPr>
            <a:r>
              <a:rPr lang="en-US" sz="2600" spc="-5" dirty="0" smtClean="0">
                <a:latin typeface="Times New Roman" panose="02020603050405020304" pitchFamily="18" charset="0"/>
                <a:cs typeface="Times New Roman" panose="02020603050405020304" pitchFamily="18" charset="0"/>
              </a:rPr>
              <a:t>(After</a:t>
            </a:r>
            <a:r>
              <a:rPr lang="en-US" sz="2600" spc="-90" dirty="0" smtClean="0">
                <a:latin typeface="Times New Roman" panose="02020603050405020304" pitchFamily="18" charset="0"/>
                <a:cs typeface="Times New Roman" panose="02020603050405020304" pitchFamily="18" charset="0"/>
              </a:rPr>
              <a:t> </a:t>
            </a:r>
            <a:r>
              <a:rPr lang="en-US" sz="2600" dirty="0" smtClean="0">
                <a:latin typeface="Times New Roman" panose="02020603050405020304" pitchFamily="18" charset="0"/>
                <a:cs typeface="Times New Roman" panose="02020603050405020304" pitchFamily="18" charset="0"/>
              </a:rPr>
              <a:t>MTE)</a:t>
            </a:r>
          </a:p>
          <a:p>
            <a:pPr marL="927100">
              <a:lnSpc>
                <a:spcPct val="100000"/>
              </a:lnSpc>
            </a:pPr>
            <a:endParaRPr sz="2600" dirty="0">
              <a:latin typeface="Times New Roman" panose="02020603050405020304" pitchFamily="18" charset="0"/>
              <a:cs typeface="Times New Roman" panose="02020603050405020304" pitchFamily="18" charset="0"/>
            </a:endParaRPr>
          </a:p>
        </p:txBody>
      </p:sp>
      <p:sp>
        <p:nvSpPr>
          <p:cNvPr id="3" name="Rectangle 2"/>
          <p:cNvSpPr/>
          <p:nvPr/>
        </p:nvSpPr>
        <p:spPr>
          <a:xfrm>
            <a:off x="1666844" y="642918"/>
            <a:ext cx="7929618" cy="769441"/>
          </a:xfrm>
          <a:prstGeom prst="rect">
            <a:avLst/>
          </a:prstGeom>
        </p:spPr>
        <p:txBody>
          <a:bodyPr wrap="square">
            <a:spAutoFit/>
          </a:bodyPr>
          <a:lstStyle/>
          <a:p>
            <a:pPr algn="ct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dirty="0" smtClean="0">
                <a:solidFill>
                  <a:srgbClr val="FF0000"/>
                </a:solidFill>
              </a:rPr>
              <a:t>Details of Academic Tasks</a:t>
            </a:r>
          </a:p>
        </p:txBody>
      </p:sp>
      <p:sp>
        <p:nvSpPr>
          <p:cNvPr id="4" name="Rectangle 3"/>
          <p:cNvSpPr/>
          <p:nvPr/>
        </p:nvSpPr>
        <p:spPr>
          <a:xfrm>
            <a:off x="1381092" y="5286388"/>
            <a:ext cx="9429816" cy="646331"/>
          </a:xfrm>
          <a:prstGeom prst="rect">
            <a:avLst/>
          </a:prstGeom>
        </p:spPr>
        <p:txBody>
          <a:bodyPr wrap="square">
            <a:spAutoFit/>
          </a:bodyPr>
          <a:lstStyle/>
          <a:p>
            <a:r>
              <a:rPr lang="en-US" sz="3600" b="1" dirty="0" smtClean="0">
                <a:solidFill>
                  <a:srgbClr val="FF0000"/>
                </a:solidFill>
                <a:latin typeface="Times New Roman" pitchFamily="18" charset="0"/>
                <a:cs typeface="Times New Roman" pitchFamily="18" charset="0"/>
              </a:rPr>
              <a:t>Note: No MOOC Certification is Applicable</a:t>
            </a:r>
            <a:endParaRPr lang="en-US" sz="3600" b="1" dirty="0">
              <a:solidFill>
                <a:srgbClr val="FF0000"/>
              </a:solidFill>
              <a:latin typeface="Times New Roman" pitchFamily="18" charset="0"/>
              <a:cs typeface="Times New Roman" pitchFamily="18" charset="0"/>
            </a:endParaRPr>
          </a:p>
        </p:txBody>
      </p:sp>
    </p:spTree>
  </p:cSld>
  <p:clrMapOvr>
    <a:masterClrMapping/>
  </p:clrMapOvr>
  <p:transition spd="med"/>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66844" y="642918"/>
            <a:ext cx="7929618" cy="769441"/>
          </a:xfrm>
          <a:prstGeom prst="rect">
            <a:avLst/>
          </a:prstGeom>
        </p:spPr>
        <p:txBody>
          <a:bodyPr wrap="square">
            <a:spAutoFit/>
          </a:bodyPr>
          <a:lstStyle/>
          <a:p>
            <a:pPr algn="ct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dirty="0" smtClean="0">
                <a:solidFill>
                  <a:srgbClr val="FF0000"/>
                </a:solidFill>
              </a:rPr>
              <a:t>AT1 –IPR Rubrics</a:t>
            </a:r>
          </a:p>
        </p:txBody>
      </p:sp>
      <p:sp>
        <p:nvSpPr>
          <p:cNvPr id="3" name="Rectangle 2"/>
          <p:cNvSpPr/>
          <p:nvPr/>
        </p:nvSpPr>
        <p:spPr>
          <a:xfrm>
            <a:off x="380960" y="1500174"/>
            <a:ext cx="11811040" cy="4893647"/>
          </a:xfrm>
          <a:prstGeom prst="rect">
            <a:avLst/>
          </a:prstGeom>
        </p:spPr>
        <p:txBody>
          <a:bodyPr wrap="square">
            <a:spAutoFit/>
          </a:bodyPr>
          <a:lstStyle/>
          <a:p>
            <a:pPr algn="just"/>
            <a:r>
              <a:rPr lang="en-US" sz="2400" dirty="0" smtClean="0">
                <a:latin typeface="Times New Roman" pitchFamily="18" charset="0"/>
                <a:cs typeface="Times New Roman" pitchFamily="18" charset="0"/>
              </a:rPr>
              <a:t>Identification of Problem Statement and formulation of Objectives- 15 Marks</a:t>
            </a:r>
          </a:p>
          <a:p>
            <a:pPr algn="just"/>
            <a:endParaRPr lang="en-US" sz="2400" dirty="0" smtClean="0">
              <a:latin typeface="Times New Roman" pitchFamily="18" charset="0"/>
              <a:cs typeface="Times New Roman" pitchFamily="18" charset="0"/>
            </a:endParaRPr>
          </a:p>
          <a:p>
            <a:pPr algn="just"/>
            <a:r>
              <a:rPr lang="en-US" sz="2400" dirty="0" smtClean="0">
                <a:latin typeface="Times New Roman" pitchFamily="18" charset="0"/>
                <a:cs typeface="Times New Roman" pitchFamily="18" charset="0"/>
              </a:rPr>
              <a:t>Analysis of Existing Case Studies (Study of Literature) - 15 Marks</a:t>
            </a:r>
          </a:p>
          <a:p>
            <a:pPr algn="just"/>
            <a:endParaRPr lang="en-US" sz="2400" dirty="0" smtClean="0">
              <a:latin typeface="Times New Roman" pitchFamily="18" charset="0"/>
              <a:cs typeface="Times New Roman" pitchFamily="18" charset="0"/>
            </a:endParaRPr>
          </a:p>
          <a:p>
            <a:pPr algn="just"/>
            <a:r>
              <a:rPr lang="en-US" sz="2400" dirty="0" smtClean="0">
                <a:latin typeface="Times New Roman" pitchFamily="18" charset="0"/>
                <a:cs typeface="Times New Roman" pitchFamily="18" charset="0"/>
              </a:rPr>
              <a:t>Originality and Innovation- 20 Marks</a:t>
            </a:r>
          </a:p>
          <a:p>
            <a:pPr algn="just"/>
            <a:endParaRPr lang="en-US" sz="2400" dirty="0" smtClean="0">
              <a:latin typeface="Times New Roman" pitchFamily="18" charset="0"/>
              <a:cs typeface="Times New Roman" pitchFamily="18" charset="0"/>
            </a:endParaRPr>
          </a:p>
          <a:p>
            <a:pPr algn="just"/>
            <a:r>
              <a:rPr lang="en-US" sz="2400" dirty="0" smtClean="0">
                <a:latin typeface="Times New Roman" pitchFamily="18" charset="0"/>
                <a:cs typeface="Times New Roman" pitchFamily="18" charset="0"/>
              </a:rPr>
              <a:t>Use of Relevant Terminology (Problem Solution) - 15 Marks</a:t>
            </a:r>
          </a:p>
          <a:p>
            <a:pPr algn="just"/>
            <a:endParaRPr lang="en-US" sz="2400" dirty="0" smtClean="0">
              <a:latin typeface="Times New Roman" pitchFamily="18" charset="0"/>
              <a:cs typeface="Times New Roman" pitchFamily="18" charset="0"/>
            </a:endParaRPr>
          </a:p>
          <a:p>
            <a:pPr algn="just"/>
            <a:r>
              <a:rPr lang="en-US" sz="2400" dirty="0" smtClean="0">
                <a:latin typeface="Times New Roman" pitchFamily="18" charset="0"/>
                <a:cs typeface="Times New Roman" pitchFamily="18" charset="0"/>
              </a:rPr>
              <a:t>Clarity and Organization (Documentation)- 20 Marks</a:t>
            </a:r>
          </a:p>
          <a:p>
            <a:pPr algn="just"/>
            <a:endParaRPr lang="en-US" sz="2400" dirty="0" smtClean="0">
              <a:latin typeface="Times New Roman" pitchFamily="18" charset="0"/>
              <a:cs typeface="Times New Roman" pitchFamily="18" charset="0"/>
            </a:endParaRPr>
          </a:p>
          <a:p>
            <a:pPr algn="just"/>
            <a:r>
              <a:rPr lang="en-US" sz="2400" dirty="0" smtClean="0">
                <a:latin typeface="Times New Roman" pitchFamily="18" charset="0"/>
                <a:cs typeface="Times New Roman" pitchFamily="18" charset="0"/>
              </a:rPr>
              <a:t>Presentation Skills- 15 Marks</a:t>
            </a:r>
          </a:p>
          <a:p>
            <a:pPr algn="just"/>
            <a:endParaRPr lang="en-US" sz="2400" dirty="0" smtClean="0">
              <a:latin typeface="Times New Roman" pitchFamily="18" charset="0"/>
              <a:cs typeface="Times New Roman" pitchFamily="18" charset="0"/>
            </a:endParaRPr>
          </a:p>
          <a:p>
            <a:pPr algn="just"/>
            <a:r>
              <a:rPr lang="en-US" sz="2400" b="1" dirty="0" smtClean="0">
                <a:solidFill>
                  <a:srgbClr val="FF0000"/>
                </a:solidFill>
              </a:rPr>
              <a:t>These marks will be prorated with the marks obtained by the student out of 30 marks.</a:t>
            </a:r>
            <a:endParaRPr lang="en-US" sz="2400" b="1" dirty="0">
              <a:solidFill>
                <a:srgbClr val="FF0000"/>
              </a:solidFill>
              <a:latin typeface="Times New Roman" pitchFamily="18" charset="0"/>
              <a:cs typeface="Times New Roman" pitchFamily="18" charset="0"/>
            </a:endParaRPr>
          </a:p>
        </p:txBody>
      </p:sp>
    </p:spTree>
  </p:cSld>
  <p:clrMapOvr>
    <a:masterClrMapping/>
  </p:clrMapOvr>
  <p:transition spd="med"/>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857232"/>
            <a:ext cx="11882478" cy="769441"/>
          </a:xfrm>
          <a:prstGeom prst="rect">
            <a:avLst/>
          </a:prstGeom>
        </p:spPr>
        <p:txBody>
          <a:bodyPr wrap="square">
            <a:spAutoFit/>
          </a:bodyPr>
          <a:lstStyle/>
          <a:p>
            <a:pPr algn="ct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dirty="0" smtClean="0">
                <a:solidFill>
                  <a:srgbClr val="FF0000"/>
                </a:solidFill>
              </a:rPr>
              <a:t>Text Book/ Reference Book</a:t>
            </a:r>
          </a:p>
        </p:txBody>
      </p:sp>
      <p:sp>
        <p:nvSpPr>
          <p:cNvPr id="3" name="Rectangle 2"/>
          <p:cNvSpPr/>
          <p:nvPr/>
        </p:nvSpPr>
        <p:spPr>
          <a:xfrm>
            <a:off x="595274" y="2285992"/>
            <a:ext cx="6096000" cy="1651734"/>
          </a:xfrm>
          <a:prstGeom prst="rect">
            <a:avLst/>
          </a:prstGeom>
        </p:spPr>
        <p:txBody>
          <a:bodyPr>
            <a:spAutoFit/>
          </a:bodyPr>
          <a:lstStyle/>
          <a:p>
            <a:pPr marL="12700">
              <a:tabLst>
                <a:tab pos="354965" algn="l"/>
                <a:tab pos="355600" algn="l"/>
              </a:tabLst>
            </a:pPr>
            <a:r>
              <a:rPr lang="en-US" sz="2400" dirty="0" smtClean="0">
                <a:latin typeface="Times New Roman" panose="02020603050405020304" pitchFamily="18" charset="0"/>
                <a:cs typeface="Times New Roman" panose="02020603050405020304" pitchFamily="18" charset="0"/>
              </a:rPr>
              <a:t>Text</a:t>
            </a:r>
            <a:r>
              <a:rPr lang="en-US" sz="2400" spc="-70" dirty="0" smtClean="0">
                <a:latin typeface="Times New Roman" panose="02020603050405020304" pitchFamily="18" charset="0"/>
                <a:cs typeface="Times New Roman" panose="02020603050405020304" pitchFamily="18" charset="0"/>
              </a:rPr>
              <a:t> </a:t>
            </a:r>
            <a:r>
              <a:rPr lang="en-US" sz="2400" spc="-5" dirty="0" smtClean="0">
                <a:latin typeface="Times New Roman" panose="02020603050405020304" pitchFamily="18" charset="0"/>
                <a:cs typeface="Times New Roman" panose="02020603050405020304" pitchFamily="18" charset="0"/>
              </a:rPr>
              <a:t>Book</a:t>
            </a:r>
            <a:endParaRPr lang="en-US" sz="2400" dirty="0" smtClean="0">
              <a:latin typeface="Times New Roman" panose="02020603050405020304" pitchFamily="18" charset="0"/>
              <a:cs typeface="Times New Roman" panose="02020603050405020304" pitchFamily="18" charset="0"/>
            </a:endParaRPr>
          </a:p>
          <a:p>
            <a:pPr marL="756285" marR="5080" lvl="1" indent="-287020">
              <a:spcBef>
                <a:spcPts val="580"/>
              </a:spcBef>
              <a:buFont typeface="Arial MT"/>
              <a:buChar char="•"/>
              <a:tabLst>
                <a:tab pos="756285" algn="l"/>
                <a:tab pos="756920" algn="l"/>
              </a:tabLst>
            </a:pPr>
            <a:r>
              <a:rPr lang="en-US" sz="2400" dirty="0" smtClean="0"/>
              <a:t>ETHICS 101</a:t>
            </a:r>
            <a:endParaRPr lang="en-US" sz="2400" dirty="0" smtClean="0">
              <a:latin typeface="Times New Roman" panose="02020603050405020304" pitchFamily="18" charset="0"/>
              <a:cs typeface="Times New Roman" panose="02020603050405020304" pitchFamily="18" charset="0"/>
            </a:endParaRPr>
          </a:p>
          <a:p>
            <a:pPr marL="1155700" marR="620395" lvl="2" indent="-228600">
              <a:spcBef>
                <a:spcPts val="495"/>
              </a:spcBef>
              <a:buChar char="•"/>
              <a:tabLst>
                <a:tab pos="1155700" algn="l"/>
                <a:tab pos="1156335" algn="l"/>
              </a:tabLst>
            </a:pPr>
            <a:r>
              <a:rPr lang="en-US" sz="2000" spc="-5" dirty="0" smtClean="0">
                <a:latin typeface="Times New Roman" panose="02020603050405020304" pitchFamily="18" charset="0"/>
                <a:cs typeface="Times New Roman" panose="02020603050405020304" pitchFamily="18" charset="0"/>
              </a:rPr>
              <a:t>Author: </a:t>
            </a:r>
            <a:r>
              <a:rPr lang="en-US" sz="2000" dirty="0" smtClean="0"/>
              <a:t>JOHN .C MAXWELL</a:t>
            </a:r>
          </a:p>
          <a:p>
            <a:pPr marL="1155700" marR="620395" lvl="2" indent="-228600">
              <a:spcBef>
                <a:spcPts val="495"/>
              </a:spcBef>
              <a:buChar char="•"/>
              <a:tabLst>
                <a:tab pos="1155700" algn="l"/>
                <a:tab pos="1156335" algn="l"/>
              </a:tabLst>
            </a:pPr>
            <a:r>
              <a:rPr lang="en-US" sz="2000" dirty="0" smtClean="0">
                <a:latin typeface="Times New Roman" panose="02020603050405020304" pitchFamily="18" charset="0"/>
                <a:cs typeface="Times New Roman" panose="02020603050405020304" pitchFamily="18" charset="0"/>
              </a:rPr>
              <a:t>Publisher: </a:t>
            </a:r>
            <a:r>
              <a:rPr lang="en-US" sz="2000" dirty="0" smtClean="0"/>
              <a:t>Hachette India</a:t>
            </a:r>
            <a:endParaRPr lang="en-US" sz="2000" dirty="0">
              <a:latin typeface="Times New Roman" panose="02020603050405020304" pitchFamily="18" charset="0"/>
              <a:cs typeface="Times New Roman" panose="02020603050405020304" pitchFamily="18" charset="0"/>
            </a:endParaRPr>
          </a:p>
        </p:txBody>
      </p:sp>
      <p:pic>
        <p:nvPicPr>
          <p:cNvPr id="5" name="Picture 2" descr="C:\Users\Admin\Desktop\Ethics.jpg"/>
          <p:cNvPicPr>
            <a:picLocks noChangeAspect="1" noChangeArrowheads="1"/>
          </p:cNvPicPr>
          <p:nvPr/>
        </p:nvPicPr>
        <p:blipFill>
          <a:blip r:embed="rId2"/>
          <a:srcRect/>
          <a:stretch>
            <a:fillRect/>
          </a:stretch>
        </p:blipFill>
        <p:spPr bwMode="auto">
          <a:xfrm>
            <a:off x="8524892" y="1714488"/>
            <a:ext cx="2182839" cy="3302017"/>
          </a:xfrm>
          <a:prstGeom prst="rect">
            <a:avLst/>
          </a:prstGeom>
          <a:noFill/>
        </p:spPr>
      </p:pic>
    </p:spTree>
  </p:cSld>
  <p:clrMapOvr>
    <a:masterClrMapping/>
  </p:clrMapOvr>
  <p:transition spd="med"/>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 name="Text Box 2"/>
          <p:cNvSpPr txBox="1"/>
          <p:nvPr/>
        </p:nvSpPr>
        <p:spPr>
          <a:xfrm>
            <a:off x="1135914" y="1893929"/>
            <a:ext cx="10135115" cy="452431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marL="514350" indent="-514350">
              <a:buSzPct val="100000"/>
              <a:buAutoNum type="arabicPeriod"/>
              <a:tabLst>
                <a:tab pos="914400" algn="l"/>
                <a:tab pos="1828800" algn="l"/>
                <a:tab pos="2743200" algn="l"/>
                <a:tab pos="3657600" algn="l"/>
                <a:tab pos="4572000" algn="l"/>
                <a:tab pos="5486400" algn="l"/>
                <a:tab pos="6400800" algn="l"/>
                <a:tab pos="7315200" algn="l"/>
                <a:tab pos="8229600" algn="l"/>
                <a:tab pos="9144000" algn="l"/>
                <a:tab pos="10058400" algn="l"/>
              </a:tabLst>
              <a:defRPr sz="3200">
                <a:latin typeface="Times New Roman"/>
                <a:ea typeface="Times New Roman"/>
                <a:cs typeface="Times New Roman"/>
                <a:sym typeface="Times New Roman"/>
              </a:defRPr>
            </a:pPr>
            <a:r>
              <a:rPr lang="en-US" dirty="0" smtClean="0"/>
              <a:t>Introduction to Intellectual Property</a:t>
            </a:r>
            <a:r>
              <a:rPr smtClean="0"/>
              <a:t> </a:t>
            </a:r>
            <a:r>
              <a:rPr/>
              <a:t>- </a:t>
            </a:r>
            <a:r>
              <a:rPr lang="en-US" u="sng" dirty="0" smtClean="0"/>
              <a:t>https://www.coursera.org/learn/introduction-intellectual-property</a:t>
            </a:r>
            <a:r>
              <a:rPr smtClean="0"/>
              <a:t>.</a:t>
            </a:r>
            <a:endParaRPr/>
          </a:p>
          <a:p>
            <a:pPr marL="514350" indent="-514350">
              <a:buSzPct val="100000"/>
              <a:buAutoNum type="arabicPeriod"/>
              <a:tabLst>
                <a:tab pos="914400" algn="l"/>
                <a:tab pos="1828800" algn="l"/>
                <a:tab pos="2743200" algn="l"/>
                <a:tab pos="3657600" algn="l"/>
                <a:tab pos="4572000" algn="l"/>
                <a:tab pos="5486400" algn="l"/>
                <a:tab pos="6400800" algn="l"/>
                <a:tab pos="7315200" algn="l"/>
                <a:tab pos="8229600" algn="l"/>
                <a:tab pos="9144000" algn="l"/>
                <a:tab pos="10058400" algn="l"/>
              </a:tabLst>
              <a:defRPr sz="3200">
                <a:latin typeface="Times New Roman"/>
                <a:ea typeface="Times New Roman"/>
                <a:cs typeface="Times New Roman"/>
                <a:sym typeface="Times New Roman"/>
              </a:defRPr>
            </a:pPr>
            <a:endParaRPr/>
          </a:p>
          <a:p>
            <a:pPr marL="514350" indent="-514350">
              <a:buSzPct val="100000"/>
              <a:buAutoNum type="arabicPeriod" startAt="3"/>
              <a:tabLst>
                <a:tab pos="914400" algn="l"/>
                <a:tab pos="1828800" algn="l"/>
                <a:tab pos="2743200" algn="l"/>
                <a:tab pos="3657600" algn="l"/>
                <a:tab pos="4572000" algn="l"/>
                <a:tab pos="5486400" algn="l"/>
                <a:tab pos="6400800" algn="l"/>
                <a:tab pos="7315200" algn="l"/>
                <a:tab pos="8229600" algn="l"/>
                <a:tab pos="9144000" algn="l"/>
                <a:tab pos="10058400" algn="l"/>
              </a:tabLst>
              <a:defRPr sz="3200">
                <a:latin typeface="Times New Roman"/>
                <a:ea typeface="Times New Roman"/>
                <a:cs typeface="Times New Roman"/>
                <a:sym typeface="Times New Roman"/>
              </a:defRPr>
            </a:pPr>
            <a:endParaRPr/>
          </a:p>
          <a:p>
            <a:pPr marL="514350" indent="-514350">
              <a:buSzPct val="100000"/>
              <a:buFontTx/>
              <a:buAutoNum type="arabicPeriod" startAt="2"/>
              <a:tabLst>
                <a:tab pos="914400" algn="l"/>
                <a:tab pos="1828800" algn="l"/>
                <a:tab pos="2743200" algn="l"/>
                <a:tab pos="3657600" algn="l"/>
                <a:tab pos="4572000" algn="l"/>
                <a:tab pos="5486400" algn="l"/>
                <a:tab pos="6400800" algn="l"/>
                <a:tab pos="7315200" algn="l"/>
                <a:tab pos="8229600" algn="l"/>
                <a:tab pos="9144000" algn="l"/>
                <a:tab pos="10058400" algn="l"/>
              </a:tabLst>
              <a:defRPr sz="3200">
                <a:latin typeface="Times New Roman"/>
                <a:ea typeface="Times New Roman"/>
                <a:cs typeface="Times New Roman"/>
                <a:sym typeface="Times New Roman"/>
              </a:defRPr>
            </a:pPr>
            <a:r>
              <a:rPr lang="en-US" sz="3200" dirty="0" smtClean="0">
                <a:latin typeface="Times New Roman"/>
                <a:ea typeface="Times New Roman"/>
                <a:cs typeface="Times New Roman"/>
                <a:sym typeface="Times New Roman"/>
              </a:rPr>
              <a:t>Startup Entrepreneurship Specialization</a:t>
            </a:r>
          </a:p>
          <a:p>
            <a:pPr marL="514350" indent="-514350">
              <a:buSzPct val="100000"/>
              <a:tabLst>
                <a:tab pos="914400" algn="l"/>
                <a:tab pos="1828800" algn="l"/>
                <a:tab pos="2743200" algn="l"/>
                <a:tab pos="3657600" algn="l"/>
                <a:tab pos="4572000" algn="l"/>
                <a:tab pos="5486400" algn="l"/>
                <a:tab pos="6400800" algn="l"/>
                <a:tab pos="7315200" algn="l"/>
                <a:tab pos="8229600" algn="l"/>
                <a:tab pos="9144000" algn="l"/>
                <a:tab pos="10058400" algn="l"/>
              </a:tabLst>
              <a:defRPr sz="3200">
                <a:latin typeface="Times New Roman"/>
                <a:ea typeface="Times New Roman"/>
                <a:cs typeface="Times New Roman"/>
                <a:sym typeface="Times New Roman"/>
              </a:defRPr>
            </a:pPr>
            <a:r>
              <a:rPr lang="en-US" u="sng" dirty="0" smtClean="0"/>
              <a:t>  </a:t>
            </a:r>
            <a:r>
              <a:rPr u="sng" smtClean="0"/>
              <a:t>https</a:t>
            </a:r>
            <a:r>
              <a:rPr u="sng"/>
              <a:t>://</a:t>
            </a:r>
            <a:r>
              <a:rPr u="sng" smtClean="0"/>
              <a:t>www.djangoproject</a:t>
            </a:r>
            <a:r>
              <a:rPr lang="en-US" u="sng" dirty="0" smtClean="0"/>
              <a:t>https://www.coursera.org/specializations/startup-entrepreneurship</a:t>
            </a:r>
            <a:r>
              <a:rPr u="sng" smtClean="0"/>
              <a:t>.com</a:t>
            </a:r>
            <a:r>
              <a:t>/.</a:t>
            </a:r>
          </a:p>
        </p:txBody>
      </p:sp>
      <p:sp>
        <p:nvSpPr>
          <p:cNvPr id="267" name="Text Box 1"/>
          <p:cNvSpPr txBox="1"/>
          <p:nvPr/>
        </p:nvSpPr>
        <p:spPr>
          <a:xfrm>
            <a:off x="2687080" y="631504"/>
            <a:ext cx="8138161" cy="83099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tabLst>
                <a:tab pos="914400" algn="l"/>
                <a:tab pos="1828800" algn="l"/>
                <a:tab pos="2743200" algn="l"/>
                <a:tab pos="3657600" algn="l"/>
                <a:tab pos="4572000" algn="l"/>
                <a:tab pos="5486400" algn="l"/>
                <a:tab pos="6400800" algn="l"/>
                <a:tab pos="7315200" algn="l"/>
                <a:tab pos="8229600" algn="l"/>
                <a:tab pos="9144000" algn="l"/>
                <a:tab pos="10058400" algn="l"/>
              </a:tabLst>
              <a:defRPr sz="4800">
                <a:solidFill>
                  <a:srgbClr val="C00000"/>
                </a:solidFill>
              </a:defRPr>
            </a:lvl1pPr>
          </a:lstStyle>
          <a:p>
            <a:r>
              <a:rPr>
                <a:solidFill>
                  <a:srgbClr val="FF0000"/>
                </a:solidFill>
              </a:rPr>
              <a:t>Online Education Resources</a:t>
            </a:r>
          </a:p>
        </p:txBody>
      </p:sp>
    </p:spTree>
  </p:cSld>
  <p:clrMapOvr>
    <a:masterClrMapping/>
  </p:clrMapOvr>
  <p:transition spd="med"/>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 name="Text Box 1"/>
          <p:cNvSpPr txBox="1"/>
          <p:nvPr/>
        </p:nvSpPr>
        <p:spPr>
          <a:xfrm>
            <a:off x="2687080" y="631504"/>
            <a:ext cx="8138161" cy="83099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tabLst>
                <a:tab pos="914400" algn="l"/>
                <a:tab pos="1828800" algn="l"/>
                <a:tab pos="2743200" algn="l"/>
                <a:tab pos="3657600" algn="l"/>
                <a:tab pos="4572000" algn="l"/>
                <a:tab pos="5486400" algn="l"/>
                <a:tab pos="6400800" algn="l"/>
                <a:tab pos="7315200" algn="l"/>
                <a:tab pos="8229600" algn="l"/>
                <a:tab pos="9144000" algn="l"/>
                <a:tab pos="10058400" algn="l"/>
              </a:tabLst>
              <a:defRPr sz="4800">
                <a:solidFill>
                  <a:srgbClr val="C00000"/>
                </a:solidFill>
              </a:defRPr>
            </a:lvl1pPr>
          </a:lstStyle>
          <a:p>
            <a:r>
              <a:rPr lang="en-US" dirty="0" smtClean="0">
                <a:solidFill>
                  <a:srgbClr val="FF0000"/>
                </a:solidFill>
              </a:rPr>
              <a:t>Unit-1: Ethics</a:t>
            </a:r>
            <a:endParaRPr>
              <a:solidFill>
                <a:srgbClr val="FF0000"/>
              </a:solidFill>
            </a:endParaRPr>
          </a:p>
        </p:txBody>
      </p:sp>
      <p:grpSp>
        <p:nvGrpSpPr>
          <p:cNvPr id="4" name="object 4"/>
          <p:cNvGrpSpPr/>
          <p:nvPr/>
        </p:nvGrpSpPr>
        <p:grpSpPr>
          <a:xfrm>
            <a:off x="714350" y="1714488"/>
            <a:ext cx="10596624" cy="4531371"/>
            <a:chOff x="2121408" y="1714488"/>
            <a:chExt cx="4386580" cy="4531371"/>
          </a:xfrm>
        </p:grpSpPr>
        <p:pic>
          <p:nvPicPr>
            <p:cNvPr id="5" name="object 5"/>
            <p:cNvPicPr/>
            <p:nvPr/>
          </p:nvPicPr>
          <p:blipFill>
            <a:blip r:embed="rId2" cstate="print"/>
            <a:stretch>
              <a:fillRect/>
            </a:stretch>
          </p:blipFill>
          <p:spPr>
            <a:xfrm>
              <a:off x="2204961" y="1857364"/>
              <a:ext cx="4212336" cy="4371033"/>
            </a:xfrm>
            <a:prstGeom prst="rect">
              <a:avLst/>
            </a:prstGeom>
          </p:spPr>
        </p:pic>
        <p:sp>
          <p:nvSpPr>
            <p:cNvPr id="6" name="object 6"/>
            <p:cNvSpPr/>
            <p:nvPr/>
          </p:nvSpPr>
          <p:spPr>
            <a:xfrm>
              <a:off x="2121408" y="1714488"/>
              <a:ext cx="4386580" cy="4531371"/>
            </a:xfrm>
            <a:custGeom>
              <a:avLst/>
              <a:gdLst/>
              <a:ahLst/>
              <a:cxnLst/>
              <a:rect l="l" t="t" r="r" b="b"/>
              <a:pathLst>
                <a:path w="4386580" h="3058160">
                  <a:moveTo>
                    <a:pt x="4315333" y="71120"/>
                  </a:moveTo>
                  <a:lnTo>
                    <a:pt x="4297680" y="71120"/>
                  </a:lnTo>
                  <a:lnTo>
                    <a:pt x="4297680" y="88900"/>
                  </a:lnTo>
                  <a:lnTo>
                    <a:pt x="4297680" y="2969260"/>
                  </a:lnTo>
                  <a:lnTo>
                    <a:pt x="88392" y="2969260"/>
                  </a:lnTo>
                  <a:lnTo>
                    <a:pt x="88392" y="88900"/>
                  </a:lnTo>
                  <a:lnTo>
                    <a:pt x="4297680" y="88900"/>
                  </a:lnTo>
                  <a:lnTo>
                    <a:pt x="4297680" y="71120"/>
                  </a:lnTo>
                  <a:lnTo>
                    <a:pt x="70739" y="71120"/>
                  </a:lnTo>
                  <a:lnTo>
                    <a:pt x="70739" y="88900"/>
                  </a:lnTo>
                  <a:lnTo>
                    <a:pt x="70739" y="2969260"/>
                  </a:lnTo>
                  <a:lnTo>
                    <a:pt x="70739" y="2987040"/>
                  </a:lnTo>
                  <a:lnTo>
                    <a:pt x="4315333" y="2987040"/>
                  </a:lnTo>
                  <a:lnTo>
                    <a:pt x="4315333" y="2969272"/>
                  </a:lnTo>
                  <a:lnTo>
                    <a:pt x="4315333" y="88900"/>
                  </a:lnTo>
                  <a:lnTo>
                    <a:pt x="4315333" y="71120"/>
                  </a:lnTo>
                  <a:close/>
                </a:path>
                <a:path w="4386580" h="3058160">
                  <a:moveTo>
                    <a:pt x="4386072" y="53594"/>
                  </a:moveTo>
                  <a:lnTo>
                    <a:pt x="4332986" y="53594"/>
                  </a:lnTo>
                  <a:lnTo>
                    <a:pt x="4332986" y="3004616"/>
                  </a:lnTo>
                  <a:lnTo>
                    <a:pt x="4386072" y="3004616"/>
                  </a:lnTo>
                  <a:lnTo>
                    <a:pt x="4386072" y="53594"/>
                  </a:lnTo>
                  <a:close/>
                </a:path>
                <a:path w="4386580" h="3058160">
                  <a:moveTo>
                    <a:pt x="4386072" y="0"/>
                  </a:moveTo>
                  <a:lnTo>
                    <a:pt x="0" y="0"/>
                  </a:lnTo>
                  <a:lnTo>
                    <a:pt x="0" y="53340"/>
                  </a:lnTo>
                  <a:lnTo>
                    <a:pt x="0" y="3004820"/>
                  </a:lnTo>
                  <a:lnTo>
                    <a:pt x="0" y="3058160"/>
                  </a:lnTo>
                  <a:lnTo>
                    <a:pt x="4386072" y="3058160"/>
                  </a:lnTo>
                  <a:lnTo>
                    <a:pt x="4386072" y="3004820"/>
                  </a:lnTo>
                  <a:lnTo>
                    <a:pt x="53086" y="3004820"/>
                  </a:lnTo>
                  <a:lnTo>
                    <a:pt x="53086" y="53340"/>
                  </a:lnTo>
                  <a:lnTo>
                    <a:pt x="4386072" y="53340"/>
                  </a:lnTo>
                  <a:lnTo>
                    <a:pt x="4386072" y="0"/>
                  </a:lnTo>
                  <a:close/>
                </a:path>
              </a:pathLst>
            </a:custGeom>
            <a:solidFill>
              <a:srgbClr val="000000"/>
            </a:solidFill>
          </p:spPr>
          <p:txBody>
            <a:bodyPr wrap="square" lIns="0" tIns="0" rIns="0" bIns="0" rtlCol="0"/>
            <a:lstStyle/>
            <a:p>
              <a:endParaRPr/>
            </a:p>
          </p:txBody>
        </p:sp>
      </p:grpSp>
    </p:spTree>
  </p:cSld>
  <p:clrMapOvr>
    <a:masterClrMapping/>
  </p:clrMapOvr>
  <p:transition spd="med"/>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 name="Text Box 1"/>
          <p:cNvSpPr txBox="1"/>
          <p:nvPr/>
        </p:nvSpPr>
        <p:spPr>
          <a:xfrm>
            <a:off x="2687080" y="631504"/>
            <a:ext cx="8138161" cy="83099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tabLst>
                <a:tab pos="914400" algn="l"/>
                <a:tab pos="1828800" algn="l"/>
                <a:tab pos="2743200" algn="l"/>
                <a:tab pos="3657600" algn="l"/>
                <a:tab pos="4572000" algn="l"/>
                <a:tab pos="5486400" algn="l"/>
                <a:tab pos="6400800" algn="l"/>
                <a:tab pos="7315200" algn="l"/>
                <a:tab pos="8229600" algn="l"/>
                <a:tab pos="9144000" algn="l"/>
                <a:tab pos="10058400" algn="l"/>
              </a:tabLst>
              <a:defRPr sz="4800">
                <a:solidFill>
                  <a:srgbClr val="C00000"/>
                </a:solidFill>
              </a:defRPr>
            </a:lvl1pPr>
          </a:lstStyle>
          <a:p>
            <a:r>
              <a:rPr lang="en-US" dirty="0" smtClean="0">
                <a:solidFill>
                  <a:srgbClr val="FF0000"/>
                </a:solidFill>
              </a:rPr>
              <a:t>Unit-2: Intellectual Properties</a:t>
            </a:r>
            <a:endParaRPr>
              <a:solidFill>
                <a:srgbClr val="FF0000"/>
              </a:solidFill>
            </a:endParaRPr>
          </a:p>
        </p:txBody>
      </p:sp>
      <p:grpSp>
        <p:nvGrpSpPr>
          <p:cNvPr id="7" name="object 4"/>
          <p:cNvGrpSpPr/>
          <p:nvPr/>
        </p:nvGrpSpPr>
        <p:grpSpPr>
          <a:xfrm>
            <a:off x="573023" y="1524000"/>
            <a:ext cx="10309323" cy="2597150"/>
            <a:chOff x="573023" y="1545589"/>
            <a:chExt cx="7998459" cy="2597150"/>
          </a:xfrm>
        </p:grpSpPr>
        <p:pic>
          <p:nvPicPr>
            <p:cNvPr id="8" name="object 5"/>
            <p:cNvPicPr/>
            <p:nvPr/>
          </p:nvPicPr>
          <p:blipFill>
            <a:blip r:embed="rId2" cstate="print"/>
            <a:stretch>
              <a:fillRect/>
            </a:stretch>
          </p:blipFill>
          <p:spPr>
            <a:xfrm>
              <a:off x="658367" y="1630679"/>
              <a:ext cx="7824216" cy="2423160"/>
            </a:xfrm>
            <a:prstGeom prst="rect">
              <a:avLst/>
            </a:prstGeom>
          </p:spPr>
        </p:pic>
        <p:sp>
          <p:nvSpPr>
            <p:cNvPr id="9" name="object 6"/>
            <p:cNvSpPr/>
            <p:nvPr/>
          </p:nvSpPr>
          <p:spPr>
            <a:xfrm>
              <a:off x="573024" y="1545589"/>
              <a:ext cx="7998459" cy="2597150"/>
            </a:xfrm>
            <a:custGeom>
              <a:avLst/>
              <a:gdLst/>
              <a:ahLst/>
              <a:cxnLst/>
              <a:rect l="l" t="t" r="r" b="b"/>
              <a:pathLst>
                <a:path w="7998459" h="2597150">
                  <a:moveTo>
                    <a:pt x="7927213" y="71120"/>
                  </a:moveTo>
                  <a:lnTo>
                    <a:pt x="70713" y="71120"/>
                  </a:lnTo>
                  <a:lnTo>
                    <a:pt x="70713" y="87630"/>
                  </a:lnTo>
                  <a:lnTo>
                    <a:pt x="70713" y="2508250"/>
                  </a:lnTo>
                  <a:lnTo>
                    <a:pt x="70713" y="2526030"/>
                  </a:lnTo>
                  <a:lnTo>
                    <a:pt x="7927213" y="2526030"/>
                  </a:lnTo>
                  <a:lnTo>
                    <a:pt x="7927213" y="2508250"/>
                  </a:lnTo>
                  <a:lnTo>
                    <a:pt x="7927213" y="88138"/>
                  </a:lnTo>
                  <a:lnTo>
                    <a:pt x="7909560" y="88138"/>
                  </a:lnTo>
                  <a:lnTo>
                    <a:pt x="7909560" y="2508250"/>
                  </a:lnTo>
                  <a:lnTo>
                    <a:pt x="88392" y="2508250"/>
                  </a:lnTo>
                  <a:lnTo>
                    <a:pt x="88392" y="87630"/>
                  </a:lnTo>
                  <a:lnTo>
                    <a:pt x="7927213" y="87630"/>
                  </a:lnTo>
                  <a:lnTo>
                    <a:pt x="7927213" y="71120"/>
                  </a:lnTo>
                  <a:close/>
                </a:path>
                <a:path w="7998459" h="2597150">
                  <a:moveTo>
                    <a:pt x="7997952" y="0"/>
                  </a:moveTo>
                  <a:lnTo>
                    <a:pt x="0" y="0"/>
                  </a:lnTo>
                  <a:lnTo>
                    <a:pt x="0" y="53340"/>
                  </a:lnTo>
                  <a:lnTo>
                    <a:pt x="0" y="2543810"/>
                  </a:lnTo>
                  <a:lnTo>
                    <a:pt x="0" y="2597150"/>
                  </a:lnTo>
                  <a:lnTo>
                    <a:pt x="7997952" y="2597150"/>
                  </a:lnTo>
                  <a:lnTo>
                    <a:pt x="7997952" y="2543810"/>
                  </a:lnTo>
                  <a:lnTo>
                    <a:pt x="53035" y="2543810"/>
                  </a:lnTo>
                  <a:lnTo>
                    <a:pt x="53035" y="53340"/>
                  </a:lnTo>
                  <a:lnTo>
                    <a:pt x="7944866" y="53340"/>
                  </a:lnTo>
                  <a:lnTo>
                    <a:pt x="7944866" y="2543556"/>
                  </a:lnTo>
                  <a:lnTo>
                    <a:pt x="7997952" y="2543556"/>
                  </a:lnTo>
                  <a:lnTo>
                    <a:pt x="7997952" y="53340"/>
                  </a:lnTo>
                  <a:lnTo>
                    <a:pt x="7997952" y="52832"/>
                  </a:lnTo>
                  <a:lnTo>
                    <a:pt x="7997952" y="0"/>
                  </a:lnTo>
                  <a:close/>
                </a:path>
              </a:pathLst>
            </a:custGeom>
            <a:solidFill>
              <a:srgbClr val="000000"/>
            </a:solidFill>
          </p:spPr>
          <p:txBody>
            <a:bodyPr wrap="square" lIns="0" tIns="0" rIns="0" bIns="0" rtlCol="0"/>
            <a:lstStyle/>
            <a:p>
              <a:endParaRPr/>
            </a:p>
          </p:txBody>
        </p:sp>
      </p:grpSp>
      <p:grpSp>
        <p:nvGrpSpPr>
          <p:cNvPr id="10" name="object 7"/>
          <p:cNvGrpSpPr/>
          <p:nvPr/>
        </p:nvGrpSpPr>
        <p:grpSpPr>
          <a:xfrm>
            <a:off x="3054095" y="4458970"/>
            <a:ext cx="5256483" cy="1978660"/>
            <a:chOff x="3054095" y="4458970"/>
            <a:chExt cx="3035935" cy="1978660"/>
          </a:xfrm>
        </p:grpSpPr>
        <p:pic>
          <p:nvPicPr>
            <p:cNvPr id="11" name="object 8"/>
            <p:cNvPicPr/>
            <p:nvPr/>
          </p:nvPicPr>
          <p:blipFill>
            <a:blip r:embed="rId3" cstate="print"/>
            <a:stretch>
              <a:fillRect/>
            </a:stretch>
          </p:blipFill>
          <p:spPr>
            <a:xfrm>
              <a:off x="3139439" y="4544504"/>
              <a:ext cx="2862072" cy="1804479"/>
            </a:xfrm>
            <a:prstGeom prst="rect">
              <a:avLst/>
            </a:prstGeom>
          </p:spPr>
        </p:pic>
        <p:sp>
          <p:nvSpPr>
            <p:cNvPr id="12" name="object 9"/>
            <p:cNvSpPr/>
            <p:nvPr/>
          </p:nvSpPr>
          <p:spPr>
            <a:xfrm>
              <a:off x="3054096" y="4458969"/>
              <a:ext cx="3035935" cy="1978660"/>
            </a:xfrm>
            <a:custGeom>
              <a:avLst/>
              <a:gdLst/>
              <a:ahLst/>
              <a:cxnLst/>
              <a:rect l="l" t="t" r="r" b="b"/>
              <a:pathLst>
                <a:path w="3035935" h="1978660">
                  <a:moveTo>
                    <a:pt x="2965069" y="71120"/>
                  </a:moveTo>
                  <a:lnTo>
                    <a:pt x="2947416" y="71120"/>
                  </a:lnTo>
                  <a:lnTo>
                    <a:pt x="2947416" y="88900"/>
                  </a:lnTo>
                  <a:lnTo>
                    <a:pt x="2947416" y="1889760"/>
                  </a:lnTo>
                  <a:lnTo>
                    <a:pt x="88392" y="1889760"/>
                  </a:lnTo>
                  <a:lnTo>
                    <a:pt x="88392" y="88900"/>
                  </a:lnTo>
                  <a:lnTo>
                    <a:pt x="2947416" y="88900"/>
                  </a:lnTo>
                  <a:lnTo>
                    <a:pt x="2947416" y="71120"/>
                  </a:lnTo>
                  <a:lnTo>
                    <a:pt x="70739" y="71120"/>
                  </a:lnTo>
                  <a:lnTo>
                    <a:pt x="70739" y="88900"/>
                  </a:lnTo>
                  <a:lnTo>
                    <a:pt x="70739" y="1889760"/>
                  </a:lnTo>
                  <a:lnTo>
                    <a:pt x="70739" y="1907540"/>
                  </a:lnTo>
                  <a:lnTo>
                    <a:pt x="2965069" y="1907540"/>
                  </a:lnTo>
                  <a:lnTo>
                    <a:pt x="2965069" y="1890026"/>
                  </a:lnTo>
                  <a:lnTo>
                    <a:pt x="2965069" y="1889760"/>
                  </a:lnTo>
                  <a:lnTo>
                    <a:pt x="2965069" y="88900"/>
                  </a:lnTo>
                  <a:lnTo>
                    <a:pt x="2965069" y="88646"/>
                  </a:lnTo>
                  <a:lnTo>
                    <a:pt x="2965069" y="71120"/>
                  </a:lnTo>
                  <a:close/>
                </a:path>
                <a:path w="3035935" h="1978660">
                  <a:moveTo>
                    <a:pt x="3035808" y="0"/>
                  </a:moveTo>
                  <a:lnTo>
                    <a:pt x="2982722" y="0"/>
                  </a:lnTo>
                  <a:lnTo>
                    <a:pt x="2982722" y="53340"/>
                  </a:lnTo>
                  <a:lnTo>
                    <a:pt x="2982722" y="1925320"/>
                  </a:lnTo>
                  <a:lnTo>
                    <a:pt x="53086" y="1925320"/>
                  </a:lnTo>
                  <a:lnTo>
                    <a:pt x="53086" y="53340"/>
                  </a:lnTo>
                  <a:lnTo>
                    <a:pt x="2982722" y="53340"/>
                  </a:lnTo>
                  <a:lnTo>
                    <a:pt x="2982722" y="0"/>
                  </a:lnTo>
                  <a:lnTo>
                    <a:pt x="0" y="0"/>
                  </a:lnTo>
                  <a:lnTo>
                    <a:pt x="0" y="53340"/>
                  </a:lnTo>
                  <a:lnTo>
                    <a:pt x="0" y="1925320"/>
                  </a:lnTo>
                  <a:lnTo>
                    <a:pt x="0" y="1978660"/>
                  </a:lnTo>
                  <a:lnTo>
                    <a:pt x="3035808" y="1978660"/>
                  </a:lnTo>
                  <a:lnTo>
                    <a:pt x="3035808" y="1925370"/>
                  </a:lnTo>
                  <a:lnTo>
                    <a:pt x="3035808" y="53340"/>
                  </a:lnTo>
                  <a:lnTo>
                    <a:pt x="3035808" y="0"/>
                  </a:lnTo>
                  <a:close/>
                </a:path>
              </a:pathLst>
            </a:custGeom>
            <a:solidFill>
              <a:srgbClr val="000000"/>
            </a:solidFill>
          </p:spPr>
          <p:txBody>
            <a:bodyPr wrap="square" lIns="0" tIns="0" rIns="0" bIns="0" rtlCol="0"/>
            <a:lstStyle/>
            <a:p>
              <a:endParaRPr/>
            </a:p>
          </p:txBody>
        </p:sp>
      </p:grpSp>
    </p:spTree>
  </p:cSld>
  <p:clrMapOvr>
    <a:masterClrMapping/>
  </p:clrMapOvr>
  <p:transition spd="med"/>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 name="Text Box 1"/>
          <p:cNvSpPr txBox="1"/>
          <p:nvPr/>
        </p:nvSpPr>
        <p:spPr>
          <a:xfrm>
            <a:off x="881026" y="631504"/>
            <a:ext cx="10858576" cy="156966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nchor="ctr">
            <a:spAutoFit/>
          </a:bodyPr>
          <a:lstStyle>
            <a:lvl1pPr>
              <a:tabLst>
                <a:tab pos="914400" algn="l"/>
                <a:tab pos="1828800" algn="l"/>
                <a:tab pos="2743200" algn="l"/>
                <a:tab pos="3657600" algn="l"/>
                <a:tab pos="4572000" algn="l"/>
                <a:tab pos="5486400" algn="l"/>
                <a:tab pos="6400800" algn="l"/>
                <a:tab pos="7315200" algn="l"/>
                <a:tab pos="8229600" algn="l"/>
                <a:tab pos="9144000" algn="l"/>
                <a:tab pos="10058400" algn="l"/>
              </a:tabLst>
              <a:defRPr sz="4800">
                <a:solidFill>
                  <a:srgbClr val="C00000"/>
                </a:solidFill>
              </a:defRPr>
            </a:lvl1pPr>
          </a:lstStyle>
          <a:p>
            <a:r>
              <a:rPr lang="en-US" dirty="0" smtClean="0">
                <a:solidFill>
                  <a:srgbClr val="FF0000"/>
                </a:solidFill>
              </a:rPr>
              <a:t>Unit-3: Government Funding and Schemes for Startup</a:t>
            </a:r>
            <a:endParaRPr>
              <a:solidFill>
                <a:srgbClr val="FF0000"/>
              </a:solidFill>
            </a:endParaRPr>
          </a:p>
        </p:txBody>
      </p:sp>
      <p:pic>
        <p:nvPicPr>
          <p:cNvPr id="2050" name="Picture 2"/>
          <p:cNvPicPr>
            <a:picLocks noChangeAspect="1" noChangeArrowheads="1"/>
          </p:cNvPicPr>
          <p:nvPr/>
        </p:nvPicPr>
        <p:blipFill>
          <a:blip r:embed="rId2"/>
          <a:srcRect/>
          <a:stretch>
            <a:fillRect/>
          </a:stretch>
        </p:blipFill>
        <p:spPr bwMode="auto">
          <a:xfrm>
            <a:off x="1095340" y="2071678"/>
            <a:ext cx="10383838" cy="4629150"/>
          </a:xfrm>
          <a:prstGeom prst="rect">
            <a:avLst/>
          </a:prstGeom>
          <a:noFill/>
          <a:ln w="9525">
            <a:noFill/>
            <a:miter lim="800000"/>
            <a:headEnd/>
            <a:tailEnd/>
          </a:ln>
          <a:effectLst/>
        </p:spPr>
      </p:pic>
    </p:spTree>
  </p:cSld>
  <p:clrMapOvr>
    <a:masterClrMapping/>
  </p:clrMapOvr>
  <p:transition spd="med"/>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 name="Text Box 1"/>
          <p:cNvSpPr txBox="1"/>
          <p:nvPr/>
        </p:nvSpPr>
        <p:spPr>
          <a:xfrm>
            <a:off x="881026" y="631504"/>
            <a:ext cx="10858576" cy="83099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nchor="ctr">
            <a:spAutoFit/>
          </a:bodyPr>
          <a:lstStyle>
            <a:lvl1pPr>
              <a:tabLst>
                <a:tab pos="914400" algn="l"/>
                <a:tab pos="1828800" algn="l"/>
                <a:tab pos="2743200" algn="l"/>
                <a:tab pos="3657600" algn="l"/>
                <a:tab pos="4572000" algn="l"/>
                <a:tab pos="5486400" algn="l"/>
                <a:tab pos="6400800" algn="l"/>
                <a:tab pos="7315200" algn="l"/>
                <a:tab pos="8229600" algn="l"/>
                <a:tab pos="9144000" algn="l"/>
                <a:tab pos="10058400" algn="l"/>
              </a:tabLst>
              <a:defRPr sz="4800">
                <a:solidFill>
                  <a:srgbClr val="C00000"/>
                </a:solidFill>
              </a:defRPr>
            </a:lvl1pPr>
          </a:lstStyle>
          <a:p>
            <a:r>
              <a:rPr lang="en-US" dirty="0" smtClean="0">
                <a:solidFill>
                  <a:srgbClr val="FF0000"/>
                </a:solidFill>
              </a:rPr>
              <a:t>Unit-4: Startup in IT</a:t>
            </a:r>
            <a:endParaRPr>
              <a:solidFill>
                <a:srgbClr val="FF0000"/>
              </a:solidFill>
            </a:endParaRPr>
          </a:p>
        </p:txBody>
      </p:sp>
      <p:pic>
        <p:nvPicPr>
          <p:cNvPr id="3074" name="Picture 2"/>
          <p:cNvPicPr>
            <a:picLocks noChangeAspect="1" noChangeArrowheads="1"/>
          </p:cNvPicPr>
          <p:nvPr/>
        </p:nvPicPr>
        <p:blipFill>
          <a:blip r:embed="rId2"/>
          <a:srcRect/>
          <a:stretch>
            <a:fillRect/>
          </a:stretch>
        </p:blipFill>
        <p:spPr bwMode="auto">
          <a:xfrm>
            <a:off x="952464" y="2000240"/>
            <a:ext cx="10212388" cy="4581525"/>
          </a:xfrm>
          <a:prstGeom prst="rect">
            <a:avLst/>
          </a:prstGeom>
          <a:noFill/>
          <a:ln w="9525">
            <a:noFill/>
            <a:miter lim="800000"/>
            <a:headEnd/>
            <a:tailEnd/>
          </a:ln>
          <a:effectLst/>
        </p:spPr>
      </p:pic>
    </p:spTree>
  </p:cSld>
  <p:clrMapOvr>
    <a:masterClrMapping/>
  </p:clrMapOvr>
  <p:transition spd="med"/>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 name="Text Box 1"/>
          <p:cNvSpPr txBox="1"/>
          <p:nvPr/>
        </p:nvSpPr>
        <p:spPr>
          <a:xfrm>
            <a:off x="881026" y="631504"/>
            <a:ext cx="10858576" cy="83099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nchor="ctr">
            <a:spAutoFit/>
          </a:bodyPr>
          <a:lstStyle>
            <a:lvl1pPr>
              <a:tabLst>
                <a:tab pos="914400" algn="l"/>
                <a:tab pos="1828800" algn="l"/>
                <a:tab pos="2743200" algn="l"/>
                <a:tab pos="3657600" algn="l"/>
                <a:tab pos="4572000" algn="l"/>
                <a:tab pos="5486400" algn="l"/>
                <a:tab pos="6400800" algn="l"/>
                <a:tab pos="7315200" algn="l"/>
                <a:tab pos="8229600" algn="l"/>
                <a:tab pos="9144000" algn="l"/>
                <a:tab pos="10058400" algn="l"/>
              </a:tabLst>
              <a:defRPr sz="4800">
                <a:solidFill>
                  <a:srgbClr val="C00000"/>
                </a:solidFill>
              </a:defRPr>
            </a:lvl1pPr>
          </a:lstStyle>
          <a:p>
            <a:r>
              <a:rPr lang="en-US" dirty="0" smtClean="0">
                <a:solidFill>
                  <a:srgbClr val="FF0000"/>
                </a:solidFill>
              </a:rPr>
              <a:t>Unit-5: Companies</a:t>
            </a:r>
            <a:endParaRPr>
              <a:solidFill>
                <a:srgbClr val="FF0000"/>
              </a:solidFill>
            </a:endParaRPr>
          </a:p>
        </p:txBody>
      </p:sp>
      <p:pic>
        <p:nvPicPr>
          <p:cNvPr id="4098" name="Picture 2"/>
          <p:cNvPicPr>
            <a:picLocks noChangeAspect="1" noChangeArrowheads="1"/>
          </p:cNvPicPr>
          <p:nvPr/>
        </p:nvPicPr>
        <p:blipFill>
          <a:blip r:embed="rId2"/>
          <a:srcRect/>
          <a:stretch>
            <a:fillRect/>
          </a:stretch>
        </p:blipFill>
        <p:spPr bwMode="auto">
          <a:xfrm>
            <a:off x="1095340" y="1857364"/>
            <a:ext cx="10088562" cy="4448175"/>
          </a:xfrm>
          <a:prstGeom prst="rect">
            <a:avLst/>
          </a:prstGeom>
          <a:noFill/>
          <a:ln w="9525">
            <a:noFill/>
            <a:miter lim="800000"/>
            <a:headEnd/>
            <a:tailEnd/>
          </a:ln>
          <a:effectLst/>
        </p:spPr>
      </p:pic>
    </p:spTree>
  </p:cSld>
  <p:clrMapOvr>
    <a:masterClrMapping/>
  </p:clrMapOvr>
  <p:transition spd="med"/>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 name="Text Box 1"/>
          <p:cNvSpPr txBox="1"/>
          <p:nvPr/>
        </p:nvSpPr>
        <p:spPr>
          <a:xfrm>
            <a:off x="881026" y="631504"/>
            <a:ext cx="10858576" cy="156966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nchor="ctr">
            <a:spAutoFit/>
          </a:bodyPr>
          <a:lstStyle>
            <a:lvl1pPr>
              <a:tabLst>
                <a:tab pos="914400" algn="l"/>
                <a:tab pos="1828800" algn="l"/>
                <a:tab pos="2743200" algn="l"/>
                <a:tab pos="3657600" algn="l"/>
                <a:tab pos="4572000" algn="l"/>
                <a:tab pos="5486400" algn="l"/>
                <a:tab pos="6400800" algn="l"/>
                <a:tab pos="7315200" algn="l"/>
                <a:tab pos="8229600" algn="l"/>
                <a:tab pos="9144000" algn="l"/>
                <a:tab pos="10058400" algn="l"/>
              </a:tabLst>
              <a:defRPr sz="4800">
                <a:solidFill>
                  <a:srgbClr val="C00000"/>
                </a:solidFill>
              </a:defRPr>
            </a:lvl1pPr>
          </a:lstStyle>
          <a:p>
            <a:r>
              <a:rPr lang="en-US" dirty="0" smtClean="0">
                <a:solidFill>
                  <a:srgbClr val="FF0000"/>
                </a:solidFill>
              </a:rPr>
              <a:t>Unit-6: Legal, Ethical and Professional Issues in Information Security </a:t>
            </a:r>
            <a:endParaRPr>
              <a:solidFill>
                <a:srgbClr val="FF0000"/>
              </a:solidFill>
            </a:endParaRPr>
          </a:p>
        </p:txBody>
      </p:sp>
      <p:pic>
        <p:nvPicPr>
          <p:cNvPr id="5122" name="Picture 2"/>
          <p:cNvPicPr>
            <a:picLocks noChangeAspect="1" noChangeArrowheads="1"/>
          </p:cNvPicPr>
          <p:nvPr/>
        </p:nvPicPr>
        <p:blipFill>
          <a:blip r:embed="rId2"/>
          <a:srcRect/>
          <a:stretch>
            <a:fillRect/>
          </a:stretch>
        </p:blipFill>
        <p:spPr bwMode="auto">
          <a:xfrm>
            <a:off x="1023902" y="2071678"/>
            <a:ext cx="10193338" cy="4505325"/>
          </a:xfrm>
          <a:prstGeom prst="rect">
            <a:avLst/>
          </a:prstGeom>
          <a:noFill/>
          <a:ln w="9525">
            <a:noFill/>
            <a:miter lim="800000"/>
            <a:headEnd/>
            <a:tailEnd/>
          </a:ln>
          <a:effectLst/>
        </p:spPr>
      </p:pic>
    </p:spTree>
  </p:cSld>
  <p:clrMapOvr>
    <a:masterClrMapping/>
  </p:clrMapOvr>
  <p:transition spd="med"/>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 name="Text Box 1"/>
          <p:cNvSpPr txBox="1"/>
          <p:nvPr/>
        </p:nvSpPr>
        <p:spPr>
          <a:xfrm>
            <a:off x="2253933" y="4058153"/>
            <a:ext cx="7063421" cy="6463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lgn="r">
              <a:tabLst>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sz="3600">
                <a:solidFill>
                  <a:srgbClr val="C00000"/>
                </a:solidFill>
                <a:latin typeface="Times New Roman"/>
                <a:ea typeface="Times New Roman"/>
                <a:cs typeface="Times New Roman"/>
                <a:sym typeface="Times New Roman"/>
              </a:defRPr>
            </a:lvl1pPr>
          </a:lstStyle>
          <a:p>
            <a:r>
              <a:t>Next Class</a:t>
            </a:r>
            <a:r>
              <a:rPr/>
              <a:t>: </a:t>
            </a:r>
            <a:r>
              <a:rPr lang="en-US" dirty="0" smtClean="0"/>
              <a:t>Ethics</a:t>
            </a:r>
            <a:endParaRPr/>
          </a:p>
        </p:txBody>
      </p:sp>
      <p:sp>
        <p:nvSpPr>
          <p:cNvPr id="270" name="Line 2"/>
          <p:cNvSpPr/>
          <p:nvPr/>
        </p:nvSpPr>
        <p:spPr>
          <a:xfrm>
            <a:off x="2279650" y="4076699"/>
            <a:ext cx="7056438" cy="1591"/>
          </a:xfrm>
          <a:prstGeom prst="line">
            <a:avLst/>
          </a:prstGeom>
          <a:ln w="38160">
            <a:solidFill>
              <a:srgbClr val="F79646"/>
            </a:solidFill>
            <a:miter/>
          </a:ln>
          <a:effectLst>
            <a:outerShdw dist="23040" dir="5400000" rotWithShape="0">
              <a:srgbClr val="000000">
                <a:alpha val="35036"/>
              </a:srgbClr>
            </a:outerShdw>
          </a:effectLst>
        </p:spPr>
        <p:txBody>
          <a:bodyPr lIns="45719" rIns="45719"/>
          <a:lstStyle/>
          <a:p>
            <a:endParaRPr/>
          </a:p>
        </p:txBody>
      </p:sp>
      <p:pic>
        <p:nvPicPr>
          <p:cNvPr id="271" name="Picture 3" descr="Picture 3"/>
          <p:cNvPicPr>
            <a:picLocks noChangeAspect="1"/>
          </p:cNvPicPr>
          <p:nvPr/>
        </p:nvPicPr>
        <p:blipFill>
          <a:blip r:embed="rId2" cstate="print">
            <a:extLst/>
          </a:blip>
          <a:stretch>
            <a:fillRect/>
          </a:stretch>
        </p:blipFill>
        <p:spPr>
          <a:xfrm>
            <a:off x="2279650" y="636589"/>
            <a:ext cx="1808165" cy="3297238"/>
          </a:xfrm>
          <a:prstGeom prst="rect">
            <a:avLst/>
          </a:prstGeom>
          <a:ln w="12700">
            <a:miter lim="400000"/>
          </a:ln>
        </p:spPr>
      </p:pic>
    </p:spTree>
  </p:cSld>
  <p:clrMapOvr>
    <a:masterClrMapping/>
  </p:clrMapOvr>
  <p:transition spd="med"/>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5B9BD5"/>
      </a:accent1>
      <a:accent2>
        <a:srgbClr val="ED7D31"/>
      </a:accent2>
      <a:accent3>
        <a:srgbClr val="A5A5A5"/>
      </a:accent3>
      <a:accent4>
        <a:srgbClr val="FFC000"/>
      </a:accent4>
      <a:accent5>
        <a:srgbClr val="4472C4"/>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5B9BD5"/>
      </a:accent1>
      <a:accent2>
        <a:srgbClr val="ED7D31"/>
      </a:accent2>
      <a:accent3>
        <a:srgbClr val="A5A5A5"/>
      </a:accent3>
      <a:accent4>
        <a:srgbClr val="FFC000"/>
      </a:accent4>
      <a:accent5>
        <a:srgbClr val="4472C4"/>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421</TotalTime>
  <Words>978</Words>
  <PresentationFormat>Custom</PresentationFormat>
  <Paragraphs>137</Paragraphs>
  <Slides>26</Slides>
  <Notes>0</Notes>
  <HiddenSlides>0</HiddenSlides>
  <MMClips>0</MMClip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Office Theme</vt:lpstr>
      <vt:lpstr>Slide 1</vt:lpstr>
      <vt:lpstr>Course Details</vt:lpstr>
      <vt:lpstr>Vision</vt:lpstr>
      <vt:lpstr>Mission</vt:lpstr>
      <vt:lpstr>Revised Bloom’s Taxonomy</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dc:creator>
  <cp:lastModifiedBy>Admin</cp:lastModifiedBy>
  <cp:revision>6</cp:revision>
  <dcterms:modified xsi:type="dcterms:W3CDTF">2025-01-12T16:28:08Z</dcterms:modified>
</cp:coreProperties>
</file>