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917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nopiracy.org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0431" y="3818759"/>
            <a:ext cx="5416350" cy="3012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03375" y="3714115"/>
            <a:ext cx="54654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Ethical</a:t>
            </a:r>
            <a:r>
              <a:rPr sz="2800" spc="-6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Behavior</a:t>
            </a:r>
            <a:r>
              <a:rPr sz="2800" spc="1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of</a:t>
            </a:r>
            <a:r>
              <a:rPr sz="2800" spc="-4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9973"/>
                </a:solidFill>
                <a:latin typeface="Arial MT"/>
                <a:cs typeface="Arial MT"/>
              </a:rPr>
              <a:t>Professional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984885"/>
          </a:xfrm>
        </p:spPr>
        <p:txBody>
          <a:bodyPr/>
          <a:lstStyle/>
          <a:p>
            <a:pPr algn="ctr"/>
            <a:r>
              <a:rPr lang="pt-B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 ICS  IN  INFORMATION       TECHNOLOGY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34950"/>
            <a:ext cx="8153400" cy="1015663"/>
          </a:xfrm>
        </p:spPr>
        <p:txBody>
          <a:bodyPr/>
          <a:lstStyle/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examples that raise public concern about the ethical use of information technology: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2484775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Ethical concerns in technology's workplace use.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Copyright violation harms music and films.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 smtClean="0"/>
              <a:t>Spam emails enable low-cost marketing.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 smtClean="0"/>
              <a:t>Hacking, plagiarism, and tracking persist. ​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365" y="145745"/>
            <a:ext cx="2270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Profession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859358"/>
            <a:ext cx="868235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6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7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calling</a:t>
            </a:r>
            <a:r>
              <a:rPr sz="3200" spc="7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that</a:t>
            </a:r>
            <a:r>
              <a:rPr sz="3200" spc="6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requires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specialized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often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long</a:t>
            </a:r>
            <a:r>
              <a:rPr sz="3200" spc="6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intensive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academic preparation.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591509"/>
            <a:ext cx="23190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Professional</a:t>
            </a:r>
            <a:r>
              <a:rPr sz="32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" y="97535"/>
            <a:ext cx="7086600" cy="521334"/>
          </a:xfrm>
          <a:custGeom>
            <a:avLst/>
            <a:gdLst/>
            <a:ahLst/>
            <a:cxnLst/>
            <a:rect l="l" t="t" r="r" b="b"/>
            <a:pathLst>
              <a:path w="7086600" h="521334">
                <a:moveTo>
                  <a:pt x="7086600" y="0"/>
                </a:moveTo>
                <a:lnTo>
                  <a:pt x="0" y="0"/>
                </a:lnTo>
                <a:lnTo>
                  <a:pt x="0" y="521207"/>
                </a:lnTo>
                <a:lnTo>
                  <a:pt x="7086600" y="521207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16770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C00000"/>
                </a:solidFill>
                <a:latin typeface="Comic Sans MS"/>
                <a:cs typeface="Comic Sans MS"/>
              </a:rPr>
              <a:t>Professional</a:t>
            </a:r>
            <a:r>
              <a:rPr sz="2800" b="1" spc="-9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omic Sans MS"/>
                <a:cs typeface="Comic Sans MS"/>
              </a:rPr>
              <a:t>Employee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" y="993647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4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One</a:t>
            </a:r>
            <a:r>
              <a:rPr spc="-5" dirty="0"/>
              <a:t>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engaged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performance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work</a:t>
            </a:r>
            <a:r>
              <a:rPr spc="-10" dirty="0"/>
              <a:t> </a:t>
            </a:r>
            <a:r>
              <a:rPr spc="-50" dirty="0"/>
              <a:t>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Specialized</a:t>
            </a:r>
            <a:r>
              <a:rPr spc="-80" dirty="0"/>
              <a:t> </a:t>
            </a:r>
            <a:r>
              <a:rPr dirty="0"/>
              <a:t>intellectual</a:t>
            </a:r>
            <a:r>
              <a:rPr spc="-65" dirty="0"/>
              <a:t> </a:t>
            </a:r>
            <a:r>
              <a:rPr spc="-10" dirty="0"/>
              <a:t>instruction.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Exercise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discretion</a:t>
            </a:r>
            <a:r>
              <a:rPr spc="-9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judgement.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976" y="256031"/>
            <a:ext cx="5507990" cy="6026150"/>
            <a:chOff x="188976" y="256031"/>
            <a:chExt cx="5507990" cy="6026150"/>
          </a:xfrm>
        </p:grpSpPr>
        <p:sp>
          <p:nvSpPr>
            <p:cNvPr id="3" name="object 3"/>
            <p:cNvSpPr/>
            <p:nvPr/>
          </p:nvSpPr>
          <p:spPr>
            <a:xfrm>
              <a:off x="252984" y="320039"/>
              <a:ext cx="5379720" cy="5897880"/>
            </a:xfrm>
            <a:custGeom>
              <a:avLst/>
              <a:gdLst/>
              <a:ahLst/>
              <a:cxnLst/>
              <a:rect l="l" t="t" r="r" b="b"/>
              <a:pathLst>
                <a:path w="5379720" h="5897880">
                  <a:moveTo>
                    <a:pt x="5379720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5379720" y="5897880"/>
                  </a:lnTo>
                  <a:lnTo>
                    <a:pt x="53797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8976" y="256031"/>
              <a:ext cx="5507990" cy="6026150"/>
            </a:xfrm>
            <a:custGeom>
              <a:avLst/>
              <a:gdLst/>
              <a:ahLst/>
              <a:cxnLst/>
              <a:rect l="l" t="t" r="r" b="b"/>
              <a:pathLst>
                <a:path w="5507990" h="6026150">
                  <a:moveTo>
                    <a:pt x="5443728" y="0"/>
                  </a:moveTo>
                  <a:lnTo>
                    <a:pt x="64008" y="0"/>
                  </a:lnTo>
                  <a:lnTo>
                    <a:pt x="39090" y="5036"/>
                  </a:lnTo>
                  <a:lnTo>
                    <a:pt x="18745" y="18764"/>
                  </a:lnTo>
                  <a:lnTo>
                    <a:pt x="5029" y="39112"/>
                  </a:lnTo>
                  <a:lnTo>
                    <a:pt x="0" y="64008"/>
                  </a:lnTo>
                  <a:lnTo>
                    <a:pt x="0" y="5961888"/>
                  </a:lnTo>
                  <a:lnTo>
                    <a:pt x="5029" y="5986800"/>
                  </a:lnTo>
                  <a:lnTo>
                    <a:pt x="18745" y="6007146"/>
                  </a:lnTo>
                  <a:lnTo>
                    <a:pt x="39090" y="6020865"/>
                  </a:lnTo>
                  <a:lnTo>
                    <a:pt x="64008" y="6025896"/>
                  </a:lnTo>
                  <a:lnTo>
                    <a:pt x="5443728" y="6025896"/>
                  </a:lnTo>
                  <a:lnTo>
                    <a:pt x="5468623" y="6020865"/>
                  </a:lnTo>
                  <a:lnTo>
                    <a:pt x="5488971" y="6007146"/>
                  </a:lnTo>
                  <a:lnTo>
                    <a:pt x="5493595" y="6000292"/>
                  </a:lnTo>
                  <a:lnTo>
                    <a:pt x="64008" y="6000292"/>
                  </a:lnTo>
                  <a:lnTo>
                    <a:pt x="49059" y="5997274"/>
                  </a:lnTo>
                  <a:lnTo>
                    <a:pt x="36852" y="5989043"/>
                  </a:lnTo>
                  <a:lnTo>
                    <a:pt x="28621" y="5976836"/>
                  </a:lnTo>
                  <a:lnTo>
                    <a:pt x="25603" y="5961888"/>
                  </a:lnTo>
                  <a:lnTo>
                    <a:pt x="25603" y="64008"/>
                  </a:lnTo>
                  <a:lnTo>
                    <a:pt x="28621" y="49067"/>
                  </a:lnTo>
                  <a:lnTo>
                    <a:pt x="36852" y="36877"/>
                  </a:lnTo>
                  <a:lnTo>
                    <a:pt x="49059" y="28664"/>
                  </a:lnTo>
                  <a:lnTo>
                    <a:pt x="64008" y="25653"/>
                  </a:lnTo>
                  <a:lnTo>
                    <a:pt x="5493620" y="25653"/>
                  </a:lnTo>
                  <a:lnTo>
                    <a:pt x="5488971" y="18764"/>
                  </a:lnTo>
                  <a:lnTo>
                    <a:pt x="5468623" y="5036"/>
                  </a:lnTo>
                  <a:lnTo>
                    <a:pt x="5443728" y="0"/>
                  </a:lnTo>
                  <a:close/>
                </a:path>
                <a:path w="5507990" h="6026150">
                  <a:moveTo>
                    <a:pt x="5493620" y="25653"/>
                  </a:moveTo>
                  <a:lnTo>
                    <a:pt x="5443728" y="25653"/>
                  </a:lnTo>
                  <a:lnTo>
                    <a:pt x="5458668" y="28664"/>
                  </a:lnTo>
                  <a:lnTo>
                    <a:pt x="5470858" y="36877"/>
                  </a:lnTo>
                  <a:lnTo>
                    <a:pt x="5479071" y="49067"/>
                  </a:lnTo>
                  <a:lnTo>
                    <a:pt x="5482082" y="64008"/>
                  </a:lnTo>
                  <a:lnTo>
                    <a:pt x="5482082" y="5961888"/>
                  </a:lnTo>
                  <a:lnTo>
                    <a:pt x="5479071" y="5976836"/>
                  </a:lnTo>
                  <a:lnTo>
                    <a:pt x="5470858" y="5989043"/>
                  </a:lnTo>
                  <a:lnTo>
                    <a:pt x="5458668" y="5997274"/>
                  </a:lnTo>
                  <a:lnTo>
                    <a:pt x="5443728" y="6000292"/>
                  </a:lnTo>
                  <a:lnTo>
                    <a:pt x="5493595" y="6000292"/>
                  </a:lnTo>
                  <a:lnTo>
                    <a:pt x="5502699" y="5986800"/>
                  </a:lnTo>
                  <a:lnTo>
                    <a:pt x="5507736" y="5961888"/>
                  </a:lnTo>
                  <a:lnTo>
                    <a:pt x="5507736" y="64008"/>
                  </a:lnTo>
                  <a:lnTo>
                    <a:pt x="5502699" y="39112"/>
                  </a:lnTo>
                  <a:lnTo>
                    <a:pt x="5493620" y="25653"/>
                  </a:lnTo>
                  <a:close/>
                </a:path>
                <a:path w="5507990" h="6026150">
                  <a:moveTo>
                    <a:pt x="5450840" y="51181"/>
                  </a:moveTo>
                  <a:lnTo>
                    <a:pt x="56934" y="51181"/>
                  </a:lnTo>
                  <a:lnTo>
                    <a:pt x="51206" y="56896"/>
                  </a:lnTo>
                  <a:lnTo>
                    <a:pt x="51206" y="5968961"/>
                  </a:lnTo>
                  <a:lnTo>
                    <a:pt x="56934" y="5974689"/>
                  </a:lnTo>
                  <a:lnTo>
                    <a:pt x="5450840" y="5974689"/>
                  </a:lnTo>
                  <a:lnTo>
                    <a:pt x="5456555" y="5968961"/>
                  </a:lnTo>
                  <a:lnTo>
                    <a:pt x="5456555" y="5897880"/>
                  </a:lnTo>
                  <a:lnTo>
                    <a:pt x="128016" y="5897880"/>
                  </a:lnTo>
                  <a:lnTo>
                    <a:pt x="128016" y="128016"/>
                  </a:lnTo>
                  <a:lnTo>
                    <a:pt x="5456555" y="128016"/>
                  </a:lnTo>
                  <a:lnTo>
                    <a:pt x="5456555" y="56896"/>
                  </a:lnTo>
                  <a:lnTo>
                    <a:pt x="5450840" y="51181"/>
                  </a:lnTo>
                  <a:close/>
                </a:path>
                <a:path w="5507990" h="6026150">
                  <a:moveTo>
                    <a:pt x="5456555" y="128016"/>
                  </a:moveTo>
                  <a:lnTo>
                    <a:pt x="5379720" y="128016"/>
                  </a:lnTo>
                  <a:lnTo>
                    <a:pt x="5379720" y="5897880"/>
                  </a:lnTo>
                  <a:lnTo>
                    <a:pt x="5456555" y="5897880"/>
                  </a:lnTo>
                  <a:lnTo>
                    <a:pt x="5456555" y="128016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5045" y="2147138"/>
            <a:ext cx="45021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Professionals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such</a:t>
            </a:r>
            <a:r>
              <a:rPr sz="2000" spc="1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doctors,</a:t>
            </a:r>
            <a:r>
              <a:rPr sz="2000" b="1" spc="15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lawyers,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b="1" spc="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accountants</a:t>
            </a:r>
            <a:r>
              <a:rPr sz="2000" b="1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require</a:t>
            </a:r>
            <a:r>
              <a:rPr sz="2000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advanced</a:t>
            </a:r>
            <a:r>
              <a:rPr sz="2000" spc="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training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experience;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they</a:t>
            </a:r>
            <a:r>
              <a:rPr sz="2000" spc="254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must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exercise </a:t>
            </a:r>
            <a:r>
              <a:rPr sz="1800" b="1" dirty="0">
                <a:solidFill>
                  <a:srgbClr val="374151"/>
                </a:solidFill>
                <a:latin typeface="Times New Roman"/>
                <a:cs typeface="Times New Roman"/>
              </a:rPr>
              <a:t>Carefulness</a:t>
            </a:r>
            <a:r>
              <a:rPr sz="1800" b="1" spc="30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judgment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course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their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 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1310639"/>
            <a:ext cx="3029712" cy="1862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3319271"/>
            <a:ext cx="3029712" cy="152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9676" y="4986528"/>
            <a:ext cx="2051766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1" y="24383"/>
            <a:ext cx="7086600" cy="1198245"/>
          </a:xfrm>
          <a:custGeom>
            <a:avLst/>
            <a:gdLst/>
            <a:ahLst/>
            <a:cxnLst/>
            <a:rect l="l" t="t" r="r" b="b"/>
            <a:pathLst>
              <a:path w="7086600" h="1198245">
                <a:moveTo>
                  <a:pt x="7086600" y="0"/>
                </a:moveTo>
                <a:lnTo>
                  <a:pt x="0" y="0"/>
                </a:lnTo>
                <a:lnTo>
                  <a:pt x="0" y="1197863"/>
                </a:lnTo>
                <a:lnTo>
                  <a:pt x="7086600" y="1197863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002155" marR="5080" indent="-274320">
              <a:lnSpc>
                <a:spcPts val="4300"/>
              </a:lnSpc>
              <a:spcBef>
                <a:spcPts val="220"/>
              </a:spcBef>
            </a:pP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Are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IT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Workers Professionals?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" y="130759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923" y="1641852"/>
            <a:ext cx="3248025" cy="26600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Specialized</a:t>
            </a:r>
            <a:r>
              <a:rPr sz="24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Ethical</a:t>
            </a:r>
            <a:r>
              <a:rPr sz="2400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Behaviour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Accountability</a:t>
            </a:r>
            <a:endParaRPr sz="2400">
              <a:latin typeface="Times New Roman"/>
              <a:cs typeface="Times New Roman"/>
            </a:endParaRPr>
          </a:p>
          <a:p>
            <a:pPr marL="12700" marR="963930" indent="344170">
              <a:lnSpc>
                <a:spcPct val="12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Commitment</a:t>
            </a:r>
            <a:r>
              <a:rPr sz="24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Continuous Learning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9000" y="2590798"/>
            <a:ext cx="5715000" cy="4145279"/>
            <a:chOff x="3429000" y="2590798"/>
            <a:chExt cx="5715000" cy="414527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7824" y="4717385"/>
              <a:ext cx="4303776" cy="1683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590798"/>
              <a:ext cx="5715000" cy="414527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326" y="129616"/>
            <a:ext cx="6082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Ethical</a:t>
            </a:r>
            <a:r>
              <a:rPr spc="-15" dirty="0"/>
              <a:t> </a:t>
            </a:r>
            <a:r>
              <a:rPr dirty="0"/>
              <a:t>Issues</a:t>
            </a:r>
            <a:r>
              <a:rPr spc="-6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76072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284" y="876173"/>
            <a:ext cx="3446779" cy="286766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Privacy</a:t>
            </a:r>
            <a:r>
              <a:rPr sz="2400" spc="2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Times New Roman"/>
                <a:cs typeface="Times New Roman"/>
              </a:rPr>
              <a:t>Concern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5" dirty="0">
                <a:solidFill>
                  <a:srgbClr val="3333CC"/>
                </a:solidFill>
                <a:latin typeface="Times New Roman"/>
                <a:cs typeface="Times New Roman"/>
              </a:rPr>
              <a:t>Cybersecurity</a:t>
            </a:r>
            <a:r>
              <a:rPr sz="2400" spc="3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Misuse</a:t>
            </a:r>
            <a:r>
              <a:rPr sz="2400" spc="2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4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2400" spc="2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Resource</a:t>
            </a:r>
            <a:endParaRPr sz="2400">
              <a:latin typeface="Times New Roman"/>
              <a:cs typeface="Times New Roman"/>
            </a:endParaRPr>
          </a:p>
          <a:p>
            <a:pPr marL="369570" marR="808990" indent="-357505">
              <a:lnSpc>
                <a:spcPts val="4490"/>
              </a:lnSpc>
              <a:spcBef>
                <a:spcPts val="195"/>
              </a:spcBef>
              <a:buChar char="•"/>
              <a:tabLst>
                <a:tab pos="369570" algn="l"/>
                <a:tab pos="405765" algn="l"/>
              </a:tabLst>
            </a:pP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80" dirty="0">
                <a:solidFill>
                  <a:srgbClr val="3333CC"/>
                </a:solidFill>
                <a:latin typeface="Times New Roman"/>
                <a:cs typeface="Times New Roman"/>
              </a:rPr>
              <a:t>Surveillance</a:t>
            </a:r>
            <a:r>
              <a:rPr sz="2400" spc="25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Monitoring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2971798"/>
            <a:ext cx="5529072" cy="3770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568" y="716737"/>
            <a:ext cx="74587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Business</a:t>
            </a:r>
            <a:r>
              <a:rPr sz="3600" b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Software</a:t>
            </a:r>
            <a:r>
              <a:rPr sz="3600" b="1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Alliance</a:t>
            </a:r>
            <a:r>
              <a:rPr sz="3600" b="1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omic Sans MS"/>
                <a:cs typeface="Comic Sans MS"/>
              </a:rPr>
              <a:t>(BSA)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01164"/>
            <a:ext cx="36772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Business</a:t>
            </a:r>
            <a:r>
              <a:rPr sz="2000" spc="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r>
              <a:rPr sz="2000" spc="1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Alliance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2005660"/>
            <a:ext cx="10528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(BSA)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represents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223" y="2005660"/>
            <a:ext cx="21507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marR="5080" indent="-18415" algn="r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515620" algn="l"/>
                <a:tab pos="960755" algn="l"/>
                <a:tab pos="988060" algn="l"/>
                <a:tab pos="1460500" algn="l"/>
                <a:tab pos="1756410" algn="l"/>
              </a:tabLst>
            </a:pPr>
            <a:r>
              <a:rPr sz="2000" spc="-5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trade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group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that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world’s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largest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hardware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921000"/>
            <a:ext cx="1872614" cy="1061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manufacturers.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84455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Its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268" y="3957269"/>
            <a:ext cx="13481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unauthorized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558" y="4262754"/>
            <a:ext cx="15627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286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produced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4564" y="3652773"/>
            <a:ext cx="1831339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 marR="5080" indent="-299085" algn="r">
              <a:lnSpc>
                <a:spcPct val="100000"/>
              </a:lnSpc>
              <a:spcBef>
                <a:spcPts val="90"/>
              </a:spcBef>
              <a:tabLst>
                <a:tab pos="414655" algn="l"/>
                <a:tab pos="847725" algn="l"/>
                <a:tab pos="1506220" algn="l"/>
                <a:tab pos="160401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stop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copying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8268" y="4262754"/>
            <a:ext cx="100965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488" y="1905050"/>
            <a:ext cx="4230623" cy="40323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17116"/>
            <a:ext cx="8077834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889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More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than</a:t>
            </a:r>
            <a:r>
              <a:rPr sz="3000" spc="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100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lawyers</a:t>
            </a:r>
            <a:r>
              <a:rPr sz="3000" spc="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investigators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prosecute</a:t>
            </a:r>
            <a:r>
              <a:rPr sz="3000" spc="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thousands</a:t>
            </a:r>
            <a:r>
              <a:rPr sz="3000" spc="5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5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piracy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each</a:t>
            </a:r>
            <a:r>
              <a:rPr sz="30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3333CC"/>
              </a:buClr>
              <a:buFont typeface="Times New Roman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investigations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usually</a:t>
            </a:r>
            <a:r>
              <a:rPr sz="3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triggered</a:t>
            </a:r>
            <a:r>
              <a:rPr sz="3000" spc="2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calls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hotline,</a:t>
            </a:r>
            <a:r>
              <a:rPr sz="3000" spc="22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reports</a:t>
            </a:r>
            <a:r>
              <a:rPr sz="3000" spc="2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sent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3333CC"/>
                </a:solidFill>
                <a:latin typeface="Times New Roman"/>
                <a:cs typeface="Times New Roman"/>
              </a:rPr>
              <a:t>Web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site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  <a:hlinkClick r:id="rId2"/>
              </a:rPr>
              <a:t>(www.nopiracy.org),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61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referrals</a:t>
            </a:r>
            <a:r>
              <a:rPr sz="3000" spc="60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from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member</a:t>
            </a:r>
            <a:r>
              <a:rPr sz="30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companies.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15823"/>
            <a:ext cx="7086600" cy="878205"/>
            <a:chOff x="0" y="115823"/>
            <a:chExt cx="7086600" cy="878205"/>
          </a:xfrm>
        </p:grpSpPr>
        <p:sp>
          <p:nvSpPr>
            <p:cNvPr id="5" name="object 5"/>
            <p:cNvSpPr/>
            <p:nvPr/>
          </p:nvSpPr>
          <p:spPr>
            <a:xfrm>
              <a:off x="0" y="115823"/>
              <a:ext cx="7086600" cy="829310"/>
            </a:xfrm>
            <a:custGeom>
              <a:avLst/>
              <a:gdLst/>
              <a:ahLst/>
              <a:cxnLst/>
              <a:rect l="l" t="t" r="r" b="b"/>
              <a:pathLst>
                <a:path w="7086600" h="829310">
                  <a:moveTo>
                    <a:pt x="7086600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086600" y="829055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47927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19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4830" y="129616"/>
            <a:ext cx="6395720" cy="413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Supporting</a:t>
            </a:r>
            <a:r>
              <a:rPr sz="2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sz="2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Practices Of</a:t>
            </a:r>
            <a:r>
              <a:rPr sz="24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2400">
              <a:latin typeface="Arial Black"/>
              <a:cs typeface="Arial Black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Black"/>
                <a:cs typeface="Arial Black"/>
              </a:rPr>
              <a:t>Users</a:t>
            </a:r>
            <a:endParaRPr sz="2400">
              <a:latin typeface="Arial Black"/>
              <a:cs typeface="Arial Black"/>
            </a:endParaRPr>
          </a:p>
          <a:p>
            <a:pPr marL="529590" indent="-393065">
              <a:lnSpc>
                <a:spcPct val="100000"/>
              </a:lnSpc>
              <a:spcBef>
                <a:spcPts val="18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Education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Awareness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90"/>
              </a:spcBef>
              <a:buChar char="•"/>
              <a:tabLst>
                <a:tab pos="529590" algn="l"/>
              </a:tabLst>
            </a:pP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Clear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Policies</a:t>
            </a:r>
            <a:r>
              <a:rPr sz="2400" spc="26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610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Access</a:t>
            </a:r>
            <a:r>
              <a:rPr sz="2400" spc="19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Control</a:t>
            </a:r>
            <a:r>
              <a:rPr sz="2400" spc="24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18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Security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Ethical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Use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45" dirty="0">
                <a:solidFill>
                  <a:srgbClr val="3333CC"/>
                </a:solidFill>
                <a:latin typeface="Arial MT"/>
                <a:cs typeface="Arial MT"/>
              </a:rPr>
              <a:t>Of</a:t>
            </a:r>
            <a:r>
              <a:rPr sz="2400" spc="2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AI</a:t>
            </a:r>
            <a:r>
              <a:rPr sz="2400" spc="204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Automation</a:t>
            </a:r>
            <a:endParaRPr sz="2400">
              <a:latin typeface="Arial MT"/>
              <a:cs typeface="Arial MT"/>
            </a:endParaRPr>
          </a:p>
          <a:p>
            <a:pPr marL="530225" marR="1479550" indent="-393700">
              <a:lnSpc>
                <a:spcPct val="135100"/>
              </a:lnSpc>
              <a:spcBef>
                <a:spcPts val="600"/>
              </a:spcBef>
              <a:buChar char="•"/>
              <a:tabLst>
                <a:tab pos="530225" algn="l"/>
                <a:tab pos="333121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Collaboration</a:t>
            </a:r>
            <a:r>
              <a:rPr sz="2400" spc="25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2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community Involvement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3779520"/>
            <a:ext cx="6096000" cy="2877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/>
              <a:t>Supporting</a:t>
            </a:r>
            <a:r>
              <a:rPr spc="1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Ethical</a:t>
            </a:r>
            <a:r>
              <a:rPr spc="10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8275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1124711"/>
            <a:ext cx="8540496" cy="5221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9029" y="2575258"/>
            <a:ext cx="5388610" cy="1080135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605"/>
              </a:spcBef>
              <a:buFont typeface="Wingdings"/>
              <a:buChar char=""/>
              <a:tabLst>
                <a:tab pos="356870" algn="l"/>
              </a:tabLst>
            </a:pP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Women</a:t>
            </a:r>
            <a:r>
              <a:rPr sz="2200" spc="-35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99"/>
                </a:solidFill>
                <a:latin typeface="Arial MT"/>
                <a:cs typeface="Arial MT"/>
              </a:rPr>
              <a:t>Empowerment</a:t>
            </a:r>
            <a:endParaRPr sz="22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1510"/>
              </a:spcBef>
              <a:buFont typeface="Wingdings"/>
              <a:buChar char=""/>
              <a:tabLst>
                <a:tab pos="356870" algn="l"/>
              </a:tabLst>
            </a:pP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Ethical</a:t>
            </a:r>
            <a:r>
              <a:rPr sz="2200" spc="-60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Aspects</a:t>
            </a:r>
            <a:r>
              <a:rPr sz="2200" spc="-75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of</a:t>
            </a:r>
            <a:r>
              <a:rPr sz="2200" spc="-50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52599"/>
                </a:solidFill>
                <a:latin typeface="Arial MT"/>
                <a:cs typeface="Arial MT"/>
              </a:rPr>
              <a:t>Engineering</a:t>
            </a:r>
            <a:r>
              <a:rPr sz="2200" spc="-60" dirty="0">
                <a:solidFill>
                  <a:srgbClr val="25259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52599"/>
                </a:solidFill>
                <a:latin typeface="Arial MT"/>
                <a:cs typeface="Arial MT"/>
              </a:rPr>
              <a:t>Practices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82879"/>
            <a:ext cx="7086600" cy="506095"/>
            <a:chOff x="0" y="182879"/>
            <a:chExt cx="7086600" cy="506095"/>
          </a:xfrm>
        </p:grpSpPr>
        <p:sp>
          <p:nvSpPr>
            <p:cNvPr id="4" name="object 4"/>
            <p:cNvSpPr/>
            <p:nvPr/>
          </p:nvSpPr>
          <p:spPr>
            <a:xfrm>
              <a:off x="0" y="643128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20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82879"/>
              <a:ext cx="7086600" cy="460375"/>
            </a:xfrm>
            <a:custGeom>
              <a:avLst/>
              <a:gdLst/>
              <a:ahLst/>
              <a:cxnLst/>
              <a:rect l="l" t="t" r="r" b="b"/>
              <a:pathLst>
                <a:path w="7086600" h="460375">
                  <a:moveTo>
                    <a:pt x="7086600" y="0"/>
                  </a:moveTo>
                  <a:lnTo>
                    <a:pt x="0" y="0"/>
                  </a:lnTo>
                  <a:lnTo>
                    <a:pt x="0" y="460248"/>
                  </a:lnTo>
                  <a:lnTo>
                    <a:pt x="7086600" y="460248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18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20" dirty="0"/>
              <a:t> </a:t>
            </a:r>
            <a:r>
              <a:rPr spc="-10" dirty="0"/>
              <a:t>TOPIC: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408" y="2389632"/>
            <a:ext cx="1917192" cy="1801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267</Words>
  <Application>Microsoft Office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CSE332 Industrial Ethics and Legal Issues</vt:lpstr>
      <vt:lpstr>ETH ICS  IN  INFORMATION       TECHNOLOGY</vt:lpstr>
      <vt:lpstr>Profession</vt:lpstr>
      <vt:lpstr>Professional Employee</vt:lpstr>
      <vt:lpstr>Slide 5</vt:lpstr>
      <vt:lpstr>Are IT Workers Professionals?</vt:lpstr>
      <vt:lpstr>Common Ethical Issues For IT Users</vt:lpstr>
      <vt:lpstr>Business Software Alliance (BSA)</vt:lpstr>
      <vt:lpstr>Slide 9</vt:lpstr>
      <vt:lpstr>Slide 10</vt:lpstr>
      <vt:lpstr>Supporting the Ethical Practices</vt:lpstr>
      <vt:lpstr>NEXT TOPIC: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Admin</cp:lastModifiedBy>
  <cp:revision>1</cp:revision>
  <dcterms:created xsi:type="dcterms:W3CDTF">2025-01-19T10:10:46Z</dcterms:created>
  <dcterms:modified xsi:type="dcterms:W3CDTF">2025-01-19T10:19:43Z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