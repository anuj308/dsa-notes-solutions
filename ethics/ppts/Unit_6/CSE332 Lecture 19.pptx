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3F14940-3756-4CA4-9F01-AAA6B0AD5B4D}" type="datetimeFigureOut">
              <a:rPr lang="en-US" smtClean="0"/>
              <a:pPr/>
              <a:t>3/21/2025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3292B8-AD08-4045-B22C-EFE03A08F62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13292B8-AD08-4045-B22C-EFE03A08F62B}"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a:extLst>
              <a:ext uri="{FF2B5EF4-FFF2-40B4-BE49-F238E27FC236}"/>
            </a:extLst>
          </p:cNvPr>
          <p:cNvSpPr>
            <a:spLocks noGrp="1"/>
          </p:cNvSpPr>
          <p:nvPr>
            <p:ph type="dt" sz="half" idx="10"/>
          </p:nvPr>
        </p:nvSpPr>
        <p:spPr/>
        <p:txBody>
          <a:bodyPr/>
          <a:lstStyle>
            <a:lvl1pPr>
              <a:defRPr/>
            </a:lvl1pPr>
          </a:lstStyle>
          <a:p>
            <a:fld id="{502955EC-E1CF-4581-92F6-408021F19544}" type="datetimeFigureOut">
              <a:rPr lang="en-US" smtClean="0"/>
              <a:pPr/>
              <a:t>3/21/2025</a:t>
            </a:fld>
            <a:endParaRPr lang="en-US"/>
          </a:p>
        </p:txBody>
      </p:sp>
      <p:sp>
        <p:nvSpPr>
          <p:cNvPr id="5" name="Footer Placeholder 4">
            <a:extLst>
              <a:ext uri="{FF2B5EF4-FFF2-40B4-BE49-F238E27FC236}"/>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extLst>
          </p:cNvPr>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extLst>
          </p:cNvPr>
          <p:cNvSpPr>
            <a:spLocks noGrp="1"/>
          </p:cNvSpPr>
          <p:nvPr>
            <p:ph type="dt" sz="half" idx="10"/>
          </p:nvPr>
        </p:nvSpPr>
        <p:spPr/>
        <p:txBody>
          <a:bodyPr/>
          <a:lstStyle>
            <a:lvl1pPr>
              <a:defRPr/>
            </a:lvl1pPr>
          </a:lstStyle>
          <a:p>
            <a:fld id="{502955EC-E1CF-4581-92F6-408021F19544}" type="datetimeFigureOut">
              <a:rPr lang="en-US" smtClean="0"/>
              <a:pPr/>
              <a:t>3/21/2025</a:t>
            </a:fld>
            <a:endParaRPr lang="en-US"/>
          </a:p>
        </p:txBody>
      </p:sp>
      <p:sp>
        <p:nvSpPr>
          <p:cNvPr id="5" name="Footer Placeholder 4">
            <a:extLst>
              <a:ext uri="{FF2B5EF4-FFF2-40B4-BE49-F238E27FC236}"/>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extLst>
          </p:cNvPr>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a:extLst>
              <a:ext uri="{FF2B5EF4-FFF2-40B4-BE49-F238E27FC236}"/>
            </a:extLst>
          </p:cNvPr>
          <p:cNvSpPr>
            <a:spLocks noGrp="1"/>
          </p:cNvSpPr>
          <p:nvPr>
            <p:ph type="dt" sz="half" idx="10"/>
          </p:nvPr>
        </p:nvSpPr>
        <p:spPr/>
        <p:txBody>
          <a:bodyPr/>
          <a:lstStyle>
            <a:lvl1pPr>
              <a:defRPr/>
            </a:lvl1pPr>
          </a:lstStyle>
          <a:p>
            <a:fld id="{502955EC-E1CF-4581-92F6-408021F19544}" type="datetimeFigureOut">
              <a:rPr lang="en-US" smtClean="0"/>
              <a:pPr/>
              <a:t>3/21/2025</a:t>
            </a:fld>
            <a:endParaRPr lang="en-US"/>
          </a:p>
        </p:txBody>
      </p:sp>
      <p:sp>
        <p:nvSpPr>
          <p:cNvPr id="5" name="Footer Placeholder 4">
            <a:extLst>
              <a:ext uri="{FF2B5EF4-FFF2-40B4-BE49-F238E27FC236}"/>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extLst>
          </p:cNvPr>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a:extLst>
              <a:ext uri="{FF2B5EF4-FFF2-40B4-BE49-F238E27FC236}"/>
            </a:extLst>
          </p:cNvPr>
          <p:cNvSpPr>
            <a:spLocks noGrp="1"/>
          </p:cNvSpPr>
          <p:nvPr>
            <p:ph type="dt" sz="half" idx="10"/>
          </p:nvPr>
        </p:nvSpPr>
        <p:spPr/>
        <p:txBody>
          <a:bodyPr/>
          <a:lstStyle>
            <a:lvl1pPr>
              <a:defRPr/>
            </a:lvl1pPr>
          </a:lstStyle>
          <a:p>
            <a:fld id="{502955EC-E1CF-4581-92F6-408021F19544}" type="datetimeFigureOut">
              <a:rPr lang="en-US" smtClean="0"/>
              <a:pPr/>
              <a:t>3/21/2025</a:t>
            </a:fld>
            <a:endParaRPr lang="en-US"/>
          </a:p>
        </p:txBody>
      </p:sp>
      <p:sp>
        <p:nvSpPr>
          <p:cNvPr id="6" name="Footer Placeholder 4">
            <a:extLst>
              <a:ext uri="{FF2B5EF4-FFF2-40B4-BE49-F238E27FC236}"/>
            </a:extLst>
          </p:cNvPr>
          <p:cNvSpPr>
            <a:spLocks noGrp="1"/>
          </p:cNvSpPr>
          <p:nvPr>
            <p:ph type="ftr" sz="quarter" idx="11"/>
          </p:nvPr>
        </p:nvSpPr>
        <p:spPr/>
        <p:txBody>
          <a:bodyPr/>
          <a:lstStyle>
            <a:lvl1pPr>
              <a:defRPr/>
            </a:lvl1pPr>
          </a:lstStyle>
          <a:p>
            <a:endParaRPr lang="en-US"/>
          </a:p>
        </p:txBody>
      </p:sp>
      <p:sp>
        <p:nvSpPr>
          <p:cNvPr id="7" name="Slide Number Placeholder 5">
            <a:extLst>
              <a:ext uri="{FF2B5EF4-FFF2-40B4-BE49-F238E27FC236}"/>
            </a:extLst>
          </p:cNvPr>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a:extLst>
              <a:ext uri="{FF2B5EF4-FFF2-40B4-BE49-F238E27FC236}"/>
            </a:extLst>
          </p:cNvPr>
          <p:cNvSpPr>
            <a:spLocks noGrp="1"/>
          </p:cNvSpPr>
          <p:nvPr>
            <p:ph type="dt" sz="half" idx="10"/>
          </p:nvPr>
        </p:nvSpPr>
        <p:spPr/>
        <p:txBody>
          <a:bodyPr/>
          <a:lstStyle>
            <a:lvl1pPr>
              <a:defRPr/>
            </a:lvl1pPr>
          </a:lstStyle>
          <a:p>
            <a:fld id="{502955EC-E1CF-4581-92F6-408021F19544}" type="datetimeFigureOut">
              <a:rPr lang="en-US" smtClean="0"/>
              <a:pPr/>
              <a:t>3/21/2025</a:t>
            </a:fld>
            <a:endParaRPr lang="en-US"/>
          </a:p>
        </p:txBody>
      </p:sp>
      <p:sp>
        <p:nvSpPr>
          <p:cNvPr id="8" name="Footer Placeholder 4">
            <a:extLst>
              <a:ext uri="{FF2B5EF4-FFF2-40B4-BE49-F238E27FC236}"/>
            </a:extLst>
          </p:cNvPr>
          <p:cNvSpPr>
            <a:spLocks noGrp="1"/>
          </p:cNvSpPr>
          <p:nvPr>
            <p:ph type="ftr" sz="quarter" idx="11"/>
          </p:nvPr>
        </p:nvSpPr>
        <p:spPr/>
        <p:txBody>
          <a:bodyPr/>
          <a:lstStyle>
            <a:lvl1pPr>
              <a:defRPr/>
            </a:lvl1pPr>
          </a:lstStyle>
          <a:p>
            <a:endParaRPr lang="en-US"/>
          </a:p>
        </p:txBody>
      </p:sp>
      <p:sp>
        <p:nvSpPr>
          <p:cNvPr id="9" name="Slide Number Placeholder 5">
            <a:extLst>
              <a:ext uri="{FF2B5EF4-FFF2-40B4-BE49-F238E27FC236}"/>
            </a:extLst>
          </p:cNvPr>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a:extLst>
              <a:ext uri="{FF2B5EF4-FFF2-40B4-BE49-F238E27FC236}"/>
            </a:extLst>
          </p:cNvPr>
          <p:cNvSpPr>
            <a:spLocks noGrp="1"/>
          </p:cNvSpPr>
          <p:nvPr>
            <p:ph type="dt" sz="half" idx="10"/>
          </p:nvPr>
        </p:nvSpPr>
        <p:spPr/>
        <p:txBody>
          <a:bodyPr/>
          <a:lstStyle>
            <a:lvl1pPr>
              <a:defRPr/>
            </a:lvl1pPr>
          </a:lstStyle>
          <a:p>
            <a:fld id="{502955EC-E1CF-4581-92F6-408021F19544}" type="datetimeFigureOut">
              <a:rPr lang="en-US" smtClean="0"/>
              <a:pPr/>
              <a:t>3/21/2025</a:t>
            </a:fld>
            <a:endParaRPr lang="en-US"/>
          </a:p>
        </p:txBody>
      </p:sp>
      <p:sp>
        <p:nvSpPr>
          <p:cNvPr id="4" name="Footer Placeholder 4">
            <a:extLst>
              <a:ext uri="{FF2B5EF4-FFF2-40B4-BE49-F238E27FC236}"/>
            </a:extLst>
          </p:cNvPr>
          <p:cNvSpPr>
            <a:spLocks noGrp="1"/>
          </p:cNvSpPr>
          <p:nvPr>
            <p:ph type="ftr" sz="quarter" idx="11"/>
          </p:nvPr>
        </p:nvSpPr>
        <p:spPr/>
        <p:txBody>
          <a:bodyPr/>
          <a:lstStyle>
            <a:lvl1pPr>
              <a:defRPr/>
            </a:lvl1pPr>
          </a:lstStyle>
          <a:p>
            <a:endParaRPr lang="en-US"/>
          </a:p>
        </p:txBody>
      </p:sp>
      <p:sp>
        <p:nvSpPr>
          <p:cNvPr id="5" name="Slide Number Placeholder 5">
            <a:extLst>
              <a:ext uri="{FF2B5EF4-FFF2-40B4-BE49-F238E27FC236}"/>
            </a:extLst>
          </p:cNvPr>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extLst>
          </p:cNvPr>
          <p:cNvSpPr>
            <a:spLocks noGrp="1"/>
          </p:cNvSpPr>
          <p:nvPr>
            <p:ph type="dt" sz="half" idx="10"/>
          </p:nvPr>
        </p:nvSpPr>
        <p:spPr/>
        <p:txBody>
          <a:bodyPr/>
          <a:lstStyle>
            <a:lvl1pPr>
              <a:defRPr/>
            </a:lvl1pPr>
          </a:lstStyle>
          <a:p>
            <a:fld id="{502955EC-E1CF-4581-92F6-408021F19544}" type="datetimeFigureOut">
              <a:rPr lang="en-US" smtClean="0"/>
              <a:pPr/>
              <a:t>3/21/2025</a:t>
            </a:fld>
            <a:endParaRPr lang="en-US"/>
          </a:p>
        </p:txBody>
      </p:sp>
      <p:sp>
        <p:nvSpPr>
          <p:cNvPr id="3" name="Footer Placeholder 4">
            <a:extLst>
              <a:ext uri="{FF2B5EF4-FFF2-40B4-BE49-F238E27FC236}"/>
            </a:extLst>
          </p:cNvPr>
          <p:cNvSpPr>
            <a:spLocks noGrp="1"/>
          </p:cNvSpPr>
          <p:nvPr>
            <p:ph type="ftr" sz="quarter" idx="11"/>
          </p:nvPr>
        </p:nvSpPr>
        <p:spPr/>
        <p:txBody>
          <a:bodyPr/>
          <a:lstStyle>
            <a:lvl1pPr>
              <a:defRPr/>
            </a:lvl1pPr>
          </a:lstStyle>
          <a:p>
            <a:endParaRPr lang="en-US"/>
          </a:p>
        </p:txBody>
      </p:sp>
      <p:sp>
        <p:nvSpPr>
          <p:cNvPr id="4" name="Slide Number Placeholder 5">
            <a:extLst>
              <a:ext uri="{FF2B5EF4-FFF2-40B4-BE49-F238E27FC236}"/>
            </a:extLst>
          </p:cNvPr>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a:extLst>
              <a:ext uri="{FF2B5EF4-FFF2-40B4-BE49-F238E27FC236}"/>
            </a:extLst>
          </p:cNvPr>
          <p:cNvSpPr>
            <a:spLocks noGrp="1"/>
          </p:cNvSpPr>
          <p:nvPr>
            <p:ph type="dt" sz="half" idx="10"/>
          </p:nvPr>
        </p:nvSpPr>
        <p:spPr/>
        <p:txBody>
          <a:bodyPr/>
          <a:lstStyle>
            <a:lvl1pPr>
              <a:defRPr/>
            </a:lvl1pPr>
          </a:lstStyle>
          <a:p>
            <a:fld id="{502955EC-E1CF-4581-92F6-408021F19544}" type="datetimeFigureOut">
              <a:rPr lang="en-US" smtClean="0"/>
              <a:pPr/>
              <a:t>3/21/2025</a:t>
            </a:fld>
            <a:endParaRPr lang="en-US"/>
          </a:p>
        </p:txBody>
      </p:sp>
      <p:sp>
        <p:nvSpPr>
          <p:cNvPr id="6" name="Footer Placeholder 4">
            <a:extLst>
              <a:ext uri="{FF2B5EF4-FFF2-40B4-BE49-F238E27FC236}"/>
            </a:extLst>
          </p:cNvPr>
          <p:cNvSpPr>
            <a:spLocks noGrp="1"/>
          </p:cNvSpPr>
          <p:nvPr>
            <p:ph type="ftr" sz="quarter" idx="11"/>
          </p:nvPr>
        </p:nvSpPr>
        <p:spPr/>
        <p:txBody>
          <a:bodyPr/>
          <a:lstStyle>
            <a:lvl1pPr>
              <a:defRPr/>
            </a:lvl1pPr>
          </a:lstStyle>
          <a:p>
            <a:endParaRPr lang="en-US"/>
          </a:p>
        </p:txBody>
      </p:sp>
      <p:sp>
        <p:nvSpPr>
          <p:cNvPr id="7" name="Slide Number Placeholder 5">
            <a:extLst>
              <a:ext uri="{FF2B5EF4-FFF2-40B4-BE49-F238E27FC236}"/>
            </a:extLst>
          </p:cNvPr>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a:extLst>
              <a:ext uri="{FF2B5EF4-FFF2-40B4-BE49-F238E27FC236}"/>
            </a:extLst>
          </p:cNvPr>
          <p:cNvSpPr>
            <a:spLocks noGrp="1"/>
          </p:cNvSpPr>
          <p:nvPr>
            <p:ph type="dt" sz="half" idx="10"/>
          </p:nvPr>
        </p:nvSpPr>
        <p:spPr/>
        <p:txBody>
          <a:bodyPr/>
          <a:lstStyle>
            <a:lvl1pPr>
              <a:defRPr/>
            </a:lvl1pPr>
          </a:lstStyle>
          <a:p>
            <a:fld id="{502955EC-E1CF-4581-92F6-408021F19544}" type="datetimeFigureOut">
              <a:rPr lang="en-US" smtClean="0"/>
              <a:pPr/>
              <a:t>3/21/2025</a:t>
            </a:fld>
            <a:endParaRPr lang="en-US"/>
          </a:p>
        </p:txBody>
      </p:sp>
      <p:sp>
        <p:nvSpPr>
          <p:cNvPr id="6" name="Footer Placeholder 4">
            <a:extLst>
              <a:ext uri="{FF2B5EF4-FFF2-40B4-BE49-F238E27FC236}"/>
            </a:extLst>
          </p:cNvPr>
          <p:cNvSpPr>
            <a:spLocks noGrp="1"/>
          </p:cNvSpPr>
          <p:nvPr>
            <p:ph type="ftr" sz="quarter" idx="11"/>
          </p:nvPr>
        </p:nvSpPr>
        <p:spPr/>
        <p:txBody>
          <a:bodyPr/>
          <a:lstStyle>
            <a:lvl1pPr>
              <a:defRPr/>
            </a:lvl1pPr>
          </a:lstStyle>
          <a:p>
            <a:endParaRPr lang="en-US"/>
          </a:p>
        </p:txBody>
      </p:sp>
      <p:sp>
        <p:nvSpPr>
          <p:cNvPr id="7" name="Slide Number Placeholder 5">
            <a:extLst>
              <a:ext uri="{FF2B5EF4-FFF2-40B4-BE49-F238E27FC236}"/>
            </a:extLst>
          </p:cNvPr>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extLst>
          </p:cNvPr>
          <p:cNvSpPr>
            <a:spLocks noGrp="1"/>
          </p:cNvSpPr>
          <p:nvPr>
            <p:ph type="dt" sz="half" idx="10"/>
          </p:nvPr>
        </p:nvSpPr>
        <p:spPr/>
        <p:txBody>
          <a:bodyPr/>
          <a:lstStyle>
            <a:lvl1pPr>
              <a:defRPr/>
            </a:lvl1pPr>
          </a:lstStyle>
          <a:p>
            <a:fld id="{502955EC-E1CF-4581-92F6-408021F19544}" type="datetimeFigureOut">
              <a:rPr lang="en-US" smtClean="0"/>
              <a:pPr/>
              <a:t>3/21/2025</a:t>
            </a:fld>
            <a:endParaRPr lang="en-US"/>
          </a:p>
        </p:txBody>
      </p:sp>
      <p:sp>
        <p:nvSpPr>
          <p:cNvPr id="5" name="Footer Placeholder 4">
            <a:extLst>
              <a:ext uri="{FF2B5EF4-FFF2-40B4-BE49-F238E27FC236}"/>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extLst>
          </p:cNvPr>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extLst>
          </p:cNvPr>
          <p:cNvSpPr>
            <a:spLocks noGrp="1"/>
          </p:cNvSpPr>
          <p:nvPr>
            <p:ph type="dt" sz="half" idx="10"/>
          </p:nvPr>
        </p:nvSpPr>
        <p:spPr/>
        <p:txBody>
          <a:bodyPr/>
          <a:lstStyle>
            <a:lvl1pPr>
              <a:defRPr/>
            </a:lvl1pPr>
          </a:lstStyle>
          <a:p>
            <a:fld id="{502955EC-E1CF-4581-92F6-408021F19544}" type="datetimeFigureOut">
              <a:rPr lang="en-US" smtClean="0"/>
              <a:pPr/>
              <a:t>3/21/2025</a:t>
            </a:fld>
            <a:endParaRPr lang="en-US"/>
          </a:p>
        </p:txBody>
      </p:sp>
      <p:sp>
        <p:nvSpPr>
          <p:cNvPr id="5" name="Footer Placeholder 4">
            <a:extLst>
              <a:ext uri="{FF2B5EF4-FFF2-40B4-BE49-F238E27FC236}"/>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extLst>
          </p:cNvPr>
          <p:cNvSpPr>
            <a:spLocks noGrp="1"/>
          </p:cNvSpPr>
          <p:nvPr>
            <p:ph type="sldNum" sz="quarter" idx="12"/>
          </p:nvPr>
        </p:nvSpPr>
        <p:spPr/>
        <p:txBody>
          <a:bodyPr/>
          <a:lstStyle>
            <a:lvl1pPr>
              <a:defRPr/>
            </a:lvl1pPr>
          </a:lstStyle>
          <a:p>
            <a:fld id="{054273CA-6182-44B2-83F2-6D74C36D5E7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516C4A6-2473-4FA1-85E1-BD19E077875B}"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16C4A6-2473-4FA1-85E1-BD19E077875B}"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516C4A6-2473-4FA1-85E1-BD19E077875B}"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516C4A6-2473-4FA1-85E1-BD19E077875B}" type="datetimeFigureOut">
              <a:rPr lang="en-US" smtClean="0"/>
              <a:pPr/>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516C4A6-2473-4FA1-85E1-BD19E077875B}" type="datetimeFigureOut">
              <a:rPr lang="en-US" smtClean="0"/>
              <a:pPr/>
              <a:t>3/21/2025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516C4A6-2473-4FA1-85E1-BD19E077875B}" type="datetimeFigureOut">
              <a:rPr lang="en-US" smtClean="0"/>
              <a:pPr/>
              <a:t>3/21/2025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16C4A6-2473-4FA1-85E1-BD19E077875B}" type="datetimeFigureOut">
              <a:rPr lang="en-US" smtClean="0"/>
              <a:pPr/>
              <a:t>3/21/2025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516C4A6-2473-4FA1-85E1-BD19E077875B}" type="datetimeFigureOut">
              <a:rPr lang="en-US" smtClean="0"/>
              <a:pPr/>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516C4A6-2473-4FA1-85E1-BD19E077875B}" type="datetimeFigureOut">
              <a:rPr lang="en-US" smtClean="0"/>
              <a:pPr/>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16C4A6-2473-4FA1-85E1-BD19E077875B}"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16C4A6-2473-4FA1-85E1-BD19E077875B}"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0E1AE9-6328-405C-A674-BBCEE800A5A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403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4403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dirty="0" smtClean="0"/>
          </a:p>
        </p:txBody>
      </p:sp>
      <p:sp>
        <p:nvSpPr>
          <p:cNvPr id="4" name="Date Placeholder 3">
            <a:extLst>
              <a:ext uri="{FF2B5EF4-FFF2-40B4-BE49-F238E27FC236}"/>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fld id="{502955EC-E1CF-4581-92F6-408021F19544}" type="datetimeFigureOut">
              <a:rPr lang="en-US" smtClean="0"/>
              <a:pPr/>
              <a:t>3/21/2025</a:t>
            </a:fld>
            <a:endParaRPr lang="en-US"/>
          </a:p>
        </p:txBody>
      </p:sp>
      <p:sp>
        <p:nvSpPr>
          <p:cNvPr id="5" name="Footer Placeholder 4">
            <a:extLst>
              <a:ext uri="{FF2B5EF4-FFF2-40B4-BE49-F238E27FC236}"/>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endParaRPr lang="en-US"/>
          </a:p>
        </p:txBody>
      </p:sp>
      <p:sp>
        <p:nvSpPr>
          <p:cNvPr id="6" name="Slide Number Placeholder 5">
            <a:extLst>
              <a:ext uri="{FF2B5EF4-FFF2-40B4-BE49-F238E27FC236}"/>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itchFamily="34" charset="0"/>
              </a:defRPr>
            </a:lvl1pPr>
          </a:lstStyle>
          <a:p>
            <a:fld id="{054273CA-6182-44B2-83F2-6D74C36D5E74}" type="slidenum">
              <a:rPr lang="en-US" smtClean="0"/>
              <a:pPr/>
              <a:t>‹#›</a:t>
            </a:fld>
            <a:endParaRPr lang="en-US"/>
          </a:p>
        </p:txBody>
      </p:sp>
      <p:sp>
        <p:nvSpPr>
          <p:cNvPr id="8" name="Rectangle 7"/>
          <p:cNvSpPr/>
          <p:nvPr/>
        </p:nvSpPr>
        <p:spPr>
          <a:xfrm>
            <a:off x="6858016" y="285728"/>
            <a:ext cx="1857388" cy="714380"/>
          </a:xfrm>
          <a:prstGeom prst="rect">
            <a:avLst/>
          </a:prstGeom>
          <a:blipFill dpi="0" rotWithShape="1">
            <a:blip r:embed="rId13"/>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28596" y="285728"/>
            <a:ext cx="2071702" cy="785818"/>
          </a:xfrm>
          <a:prstGeom prst="rect">
            <a:avLst/>
          </a:prstGeom>
          <a:blipFill>
            <a:blip r:embed="rId14" cstate="prin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16C4A6-2473-4FA1-85E1-BD19E077875B}" type="datetimeFigureOut">
              <a:rPr lang="en-US" smtClean="0"/>
              <a:pPr/>
              <a:t>3/21/2025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0E1AE9-6328-405C-A674-BBCEE800A5AC}" type="slidenum">
              <a:rPr lang="en-US" smtClean="0"/>
              <a:pPr/>
              <a:t>‹#›</a:t>
            </a:fld>
            <a:endParaRPr lang="en-US"/>
          </a:p>
        </p:txBody>
      </p:sp>
      <p:sp>
        <p:nvSpPr>
          <p:cNvPr id="7" name="Rectangle 6"/>
          <p:cNvSpPr/>
          <p:nvPr/>
        </p:nvSpPr>
        <p:spPr>
          <a:xfrm>
            <a:off x="500034" y="142852"/>
            <a:ext cx="1857388" cy="928694"/>
          </a:xfrm>
          <a:prstGeom prst="rect">
            <a:avLst/>
          </a:prstGeom>
          <a:blipFill>
            <a:blip r:embed="rId13"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00892" y="142852"/>
            <a:ext cx="1714512" cy="642942"/>
          </a:xfrm>
          <a:prstGeom prst="rect">
            <a:avLst/>
          </a:prstGeom>
          <a:blipFill>
            <a:blip r:embed="rId1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1285860"/>
            <a:ext cx="8229600" cy="1143000"/>
          </a:xfrm>
        </p:spPr>
        <p:txBody>
          <a:bodyPr/>
          <a:lstStyle/>
          <a:p>
            <a:r>
              <a:rPr lang="en-US" dirty="0" smtClean="0"/>
              <a:t>Unit 5</a:t>
            </a:r>
            <a:endParaRPr lang="en-US" dirty="0"/>
          </a:p>
        </p:txBody>
      </p:sp>
      <p:sp>
        <p:nvSpPr>
          <p:cNvPr id="3" name="Content Placeholder 2"/>
          <p:cNvSpPr>
            <a:spLocks noGrp="1"/>
          </p:cNvSpPr>
          <p:nvPr>
            <p:ph idx="1"/>
          </p:nvPr>
        </p:nvSpPr>
        <p:spPr>
          <a:xfrm>
            <a:off x="457200" y="2571744"/>
            <a:ext cx="8229600" cy="3554419"/>
          </a:xfrm>
        </p:spPr>
        <p:txBody>
          <a:bodyPr/>
          <a:lstStyle/>
          <a:p>
            <a:r>
              <a:rPr lang="en-US" dirty="0" smtClean="0"/>
              <a:t>Case study of an IT industry (Product based and Services based)</a:t>
            </a:r>
          </a:p>
          <a:p>
            <a:r>
              <a:rPr lang="en-US" dirty="0" smtClean="0"/>
              <a:t>Recent technology advancement</a:t>
            </a:r>
          </a:p>
          <a:p>
            <a:r>
              <a:rPr lang="en-US" dirty="0" smtClean="0"/>
              <a:t>Current affairs related with the IT industry</a:t>
            </a:r>
          </a:p>
          <a:p>
            <a:r>
              <a:rPr lang="en-US" dirty="0" smtClean="0"/>
              <a:t>Diversity in the Workforce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571612"/>
            <a:ext cx="8229600" cy="4983203"/>
          </a:xfrm>
        </p:spPr>
        <p:txBody>
          <a:bodyPr>
            <a:normAutofit/>
          </a:bodyPr>
          <a:lstStyle/>
          <a:p>
            <a:pPr>
              <a:buNone/>
            </a:pPr>
            <a:r>
              <a:rPr lang="en-US" b="1" dirty="0" smtClean="0"/>
              <a:t>1. Product-based IT Companies:</a:t>
            </a:r>
          </a:p>
          <a:p>
            <a:r>
              <a:rPr lang="en-US" b="1" dirty="0" smtClean="0"/>
              <a:t>Example: Microsoft</a:t>
            </a:r>
            <a:endParaRPr lang="en-US" dirty="0" smtClean="0"/>
          </a:p>
          <a:p>
            <a:r>
              <a:rPr lang="en-US" b="1" dirty="0" smtClean="0"/>
              <a:t>What They Do:</a:t>
            </a:r>
            <a:r>
              <a:rPr lang="en-US" dirty="0" smtClean="0"/>
              <a:t> They create and sell products like software (e.g., Windows, Microsoft Office) and hardware (e.g., Surface laptops, Xbox).</a:t>
            </a:r>
          </a:p>
          <a:p>
            <a:r>
              <a:rPr lang="en-US" b="1" dirty="0" smtClean="0"/>
              <a:t>How They Make Money:</a:t>
            </a:r>
            <a:r>
              <a:rPr lang="en-US" dirty="0" smtClean="0"/>
              <a:t> By selling their products, either as one-time purchases or through subscriptions (like Office 365).</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Advantages:</a:t>
            </a:r>
            <a:endParaRPr lang="en-US" dirty="0" smtClean="0"/>
          </a:p>
          <a:p>
            <a:pPr lvl="1"/>
            <a:r>
              <a:rPr lang="en-US" b="1" dirty="0" smtClean="0"/>
              <a:t>Big Reach:</a:t>
            </a:r>
            <a:r>
              <a:rPr lang="en-US" dirty="0" smtClean="0"/>
              <a:t> Products can be sold worldwide to many people.</a:t>
            </a:r>
          </a:p>
          <a:p>
            <a:pPr lvl="1"/>
            <a:r>
              <a:rPr lang="en-US" b="1" dirty="0" smtClean="0"/>
              <a:t>Steady Income:</a:t>
            </a:r>
            <a:r>
              <a:rPr lang="en-US" dirty="0" smtClean="0"/>
              <a:t> Subscription models (like Office 365) bring in regular payments.</a:t>
            </a:r>
          </a:p>
          <a:p>
            <a:r>
              <a:rPr lang="en-US" b="1" dirty="0" smtClean="0"/>
              <a:t>Challenges:</a:t>
            </a:r>
            <a:endParaRPr lang="en-US" dirty="0" smtClean="0"/>
          </a:p>
          <a:p>
            <a:pPr lvl="1"/>
            <a:r>
              <a:rPr lang="en-US" dirty="0" smtClean="0"/>
              <a:t>They have to keep updating and improving their products to stay competitive.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buNone/>
            </a:pPr>
            <a:r>
              <a:rPr lang="en-US" b="1" dirty="0" smtClean="0"/>
              <a:t>2. Service-based IT Companies:</a:t>
            </a:r>
          </a:p>
          <a:p>
            <a:r>
              <a:rPr lang="en-US" b="1" dirty="0" smtClean="0"/>
              <a:t>Example: Accenture</a:t>
            </a:r>
            <a:endParaRPr lang="en-US" dirty="0" smtClean="0"/>
          </a:p>
          <a:p>
            <a:r>
              <a:rPr lang="en-US" b="1" dirty="0" smtClean="0"/>
              <a:t>What They Do:</a:t>
            </a:r>
            <a:r>
              <a:rPr lang="en-US" dirty="0" smtClean="0"/>
              <a:t> They provide services like consulting, IT support, and helping companies improve their technology (e.g., cloud services, custom software development).</a:t>
            </a:r>
          </a:p>
          <a:p>
            <a:r>
              <a:rPr lang="en-US" b="1" dirty="0" smtClean="0"/>
              <a:t>How They Make Money:</a:t>
            </a:r>
            <a:r>
              <a:rPr lang="en-US" dirty="0" smtClean="0"/>
              <a:t> By charging clients for services, often based on the project or ongoing contracts.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Advantages:</a:t>
            </a:r>
            <a:endParaRPr lang="en-US" dirty="0" smtClean="0"/>
          </a:p>
          <a:p>
            <a:pPr lvl="1"/>
            <a:r>
              <a:rPr lang="en-US" b="1" dirty="0" smtClean="0"/>
              <a:t>Long-Term Relationships:</a:t>
            </a:r>
            <a:r>
              <a:rPr lang="en-US" dirty="0" smtClean="0"/>
              <a:t> They work closely with clients and can get repeat business.</a:t>
            </a:r>
          </a:p>
          <a:p>
            <a:pPr lvl="1"/>
            <a:r>
              <a:rPr lang="en-US" b="1" dirty="0" smtClean="0"/>
              <a:t>Tailored Solutions:</a:t>
            </a:r>
            <a:r>
              <a:rPr lang="en-US" dirty="0" smtClean="0"/>
              <a:t> They customize services to meet the client’s specific needs.</a:t>
            </a:r>
          </a:p>
          <a:p>
            <a:r>
              <a:rPr lang="en-US" b="1" dirty="0" smtClean="0"/>
              <a:t>Challenges:</a:t>
            </a:r>
            <a:endParaRPr lang="en-US" dirty="0" smtClean="0"/>
          </a:p>
          <a:p>
            <a:pPr lvl="1"/>
            <a:r>
              <a:rPr lang="en-US" dirty="0" smtClean="0"/>
              <a:t>They rely heavily on skilled workers and need to manage costs carefully.</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928662" y="1857364"/>
            <a:ext cx="7215238" cy="3286148"/>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428736"/>
            <a:ext cx="8229600" cy="4525963"/>
          </a:xfrm>
        </p:spPr>
        <p:txBody>
          <a:bodyPr>
            <a:normAutofit fontScale="92500"/>
          </a:bodyPr>
          <a:lstStyle/>
          <a:p>
            <a:pPr>
              <a:buNone/>
            </a:pPr>
            <a:r>
              <a:rPr lang="en-US" b="1" dirty="0" smtClean="0"/>
              <a:t>Product-based IT Companies:</a:t>
            </a:r>
          </a:p>
          <a:p>
            <a:r>
              <a:rPr lang="en-US" b="1" dirty="0" smtClean="0"/>
              <a:t>Apple</a:t>
            </a:r>
            <a:endParaRPr lang="en-US" dirty="0" smtClean="0"/>
          </a:p>
          <a:p>
            <a:pPr lvl="1"/>
            <a:r>
              <a:rPr lang="en-US" b="1" dirty="0" smtClean="0"/>
              <a:t>What They Do:</a:t>
            </a:r>
            <a:r>
              <a:rPr lang="en-US" dirty="0" smtClean="0"/>
              <a:t> Apple makes and sells products like </a:t>
            </a:r>
            <a:r>
              <a:rPr lang="en-US" dirty="0" err="1" smtClean="0"/>
              <a:t>iPhones</a:t>
            </a:r>
            <a:r>
              <a:rPr lang="en-US" dirty="0" smtClean="0"/>
              <a:t>, </a:t>
            </a:r>
            <a:r>
              <a:rPr lang="en-US" dirty="0" err="1" smtClean="0"/>
              <a:t>MacBooks</a:t>
            </a:r>
            <a:r>
              <a:rPr lang="en-US" dirty="0" smtClean="0"/>
              <a:t>, </a:t>
            </a:r>
            <a:r>
              <a:rPr lang="en-US" dirty="0" err="1" smtClean="0"/>
              <a:t>iPads</a:t>
            </a:r>
            <a:r>
              <a:rPr lang="en-US" dirty="0" smtClean="0"/>
              <a:t>, and software like </a:t>
            </a:r>
            <a:r>
              <a:rPr lang="en-US" dirty="0" err="1" smtClean="0"/>
              <a:t>iOS</a:t>
            </a:r>
            <a:r>
              <a:rPr lang="en-US" dirty="0" smtClean="0"/>
              <a:t>.</a:t>
            </a:r>
          </a:p>
          <a:p>
            <a:pPr lvl="1"/>
            <a:r>
              <a:rPr lang="en-US" b="1" dirty="0" smtClean="0"/>
              <a:t>How They Make Money:</a:t>
            </a:r>
            <a:r>
              <a:rPr lang="en-US" dirty="0" smtClean="0"/>
              <a:t> By selling their devices and software. They also earn from their App Store and subscription services like </a:t>
            </a:r>
            <a:r>
              <a:rPr lang="en-US" dirty="0" err="1" smtClean="0"/>
              <a:t>iCloud</a:t>
            </a:r>
            <a:r>
              <a:rPr lang="en-US" dirty="0" smtClean="0"/>
              <a:t> and Apple Music.</a:t>
            </a:r>
          </a:p>
          <a:p>
            <a:pPr lvl="1"/>
            <a:r>
              <a:rPr lang="en-US" b="1" dirty="0" smtClean="0"/>
              <a:t>Example of Products:</a:t>
            </a:r>
            <a:r>
              <a:rPr lang="en-US" dirty="0" smtClean="0"/>
              <a:t> </a:t>
            </a:r>
            <a:r>
              <a:rPr lang="en-US" dirty="0" err="1" smtClean="0"/>
              <a:t>iPhone</a:t>
            </a:r>
            <a:r>
              <a:rPr lang="en-US" dirty="0" smtClean="0"/>
              <a:t>, </a:t>
            </a:r>
            <a:r>
              <a:rPr lang="en-US" dirty="0" err="1" smtClean="0"/>
              <a:t>MacBook</a:t>
            </a:r>
            <a:r>
              <a:rPr lang="en-US" dirty="0" smtClean="0"/>
              <a:t>, Apple Watch, </a:t>
            </a:r>
            <a:r>
              <a:rPr lang="en-US" dirty="0" err="1" smtClean="0"/>
              <a:t>iPad</a:t>
            </a:r>
            <a:r>
              <a:rPr lang="en-US" dirty="0" smtClean="0"/>
              <a:t>, and software like </a:t>
            </a:r>
            <a:r>
              <a:rPr lang="en-US" dirty="0" err="1" smtClean="0"/>
              <a:t>iOS</a:t>
            </a:r>
            <a:r>
              <a:rPr lang="en-US" dirty="0" smtClean="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1714488"/>
            <a:ext cx="8229600" cy="4525963"/>
          </a:xfrm>
        </p:spPr>
        <p:txBody>
          <a:bodyPr>
            <a:normAutofit/>
          </a:bodyPr>
          <a:lstStyle/>
          <a:p>
            <a:r>
              <a:rPr lang="en-US" b="1" dirty="0" smtClean="0"/>
              <a:t>Adobe</a:t>
            </a:r>
            <a:endParaRPr lang="en-US" dirty="0" smtClean="0"/>
          </a:p>
          <a:p>
            <a:pPr lvl="1"/>
            <a:r>
              <a:rPr lang="en-US" b="1" dirty="0" smtClean="0"/>
              <a:t>What They Do:</a:t>
            </a:r>
            <a:r>
              <a:rPr lang="en-US" dirty="0" smtClean="0"/>
              <a:t> Adobe creates software products used for creative and design purposes (e.g., Photoshop, Illustrator, Premiere Pro).</a:t>
            </a:r>
          </a:p>
          <a:p>
            <a:pPr lvl="1"/>
            <a:r>
              <a:rPr lang="en-US" b="1" dirty="0" smtClean="0"/>
              <a:t>How They Make Money:</a:t>
            </a:r>
            <a:r>
              <a:rPr lang="en-US" dirty="0" smtClean="0"/>
              <a:t> Adobe sells its software (now mostly through subscription services like Adobe Creative Cloud).</a:t>
            </a:r>
          </a:p>
          <a:p>
            <a:pPr lvl="1"/>
            <a:r>
              <a:rPr lang="en-US" b="1" dirty="0" smtClean="0"/>
              <a:t>Example of Products:</a:t>
            </a:r>
            <a:r>
              <a:rPr lang="en-US" dirty="0" smtClean="0"/>
              <a:t> Photoshop, Acrobat Reader, Adobe Premiere Pro.</a:t>
            </a:r>
          </a:p>
          <a:p>
            <a:endParaRPr lang="en-US" dirty="0" smtClean="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1500174"/>
            <a:ext cx="8229600" cy="4525963"/>
          </a:xfrm>
        </p:spPr>
        <p:txBody>
          <a:bodyPr/>
          <a:lstStyle/>
          <a:p>
            <a:r>
              <a:rPr lang="en-US" b="1" dirty="0" smtClean="0"/>
              <a:t>Sony</a:t>
            </a:r>
            <a:endParaRPr lang="en-US" dirty="0" smtClean="0"/>
          </a:p>
          <a:p>
            <a:pPr lvl="1"/>
            <a:r>
              <a:rPr lang="en-US" b="1" dirty="0" smtClean="0"/>
              <a:t>What They Do:</a:t>
            </a:r>
            <a:r>
              <a:rPr lang="en-US" dirty="0" smtClean="0"/>
              <a:t> Sony develops electronic products like PlayStation consoles and also produces entertainment content (movies, music).</a:t>
            </a:r>
          </a:p>
          <a:p>
            <a:pPr lvl="1"/>
            <a:r>
              <a:rPr lang="en-US" b="1" dirty="0" smtClean="0"/>
              <a:t>How They Make Money:</a:t>
            </a:r>
            <a:r>
              <a:rPr lang="en-US" dirty="0" smtClean="0"/>
              <a:t> Through sales of gaming consoles, media content, and consumer electronics.</a:t>
            </a:r>
          </a:p>
          <a:p>
            <a:pPr lvl="1"/>
            <a:r>
              <a:rPr lang="en-US" b="1" dirty="0" smtClean="0"/>
              <a:t>Example of Products:</a:t>
            </a:r>
            <a:r>
              <a:rPr lang="en-US" dirty="0" smtClean="0"/>
              <a:t> PlayStation gaming consoles, </a:t>
            </a:r>
            <a:r>
              <a:rPr lang="en-US" dirty="0" err="1" smtClean="0"/>
              <a:t>Xperia</a:t>
            </a:r>
            <a:r>
              <a:rPr lang="en-US" dirty="0" smtClean="0"/>
              <a:t> phones, Sony </a:t>
            </a:r>
            <a:r>
              <a:rPr lang="en-US" dirty="0" err="1" smtClean="0"/>
              <a:t>Bravia</a:t>
            </a:r>
            <a:r>
              <a:rPr lang="en-US" dirty="0" smtClean="0"/>
              <a:t> TVs.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571612"/>
            <a:ext cx="8229600" cy="4525963"/>
          </a:xfrm>
        </p:spPr>
        <p:txBody>
          <a:bodyPr>
            <a:normAutofit lnSpcReduction="10000"/>
          </a:bodyPr>
          <a:lstStyle/>
          <a:p>
            <a:pPr>
              <a:buNone/>
            </a:pPr>
            <a:r>
              <a:rPr lang="en-US" b="1" dirty="0" smtClean="0"/>
              <a:t>Service-based IT Companies:</a:t>
            </a:r>
          </a:p>
          <a:p>
            <a:r>
              <a:rPr lang="en-US" b="1" dirty="0" smtClean="0"/>
              <a:t>Tata Consultancy Services (TCS)</a:t>
            </a:r>
            <a:endParaRPr lang="en-US" dirty="0" smtClean="0"/>
          </a:p>
          <a:p>
            <a:pPr lvl="1"/>
            <a:r>
              <a:rPr lang="en-US" b="1" dirty="0" smtClean="0"/>
              <a:t>What They Do:</a:t>
            </a:r>
            <a:r>
              <a:rPr lang="en-US" dirty="0" smtClean="0"/>
              <a:t> TCS provides IT services like software development, consulting, cloud services, and IT support to businesses across the world.</a:t>
            </a:r>
          </a:p>
          <a:p>
            <a:pPr lvl="1"/>
            <a:r>
              <a:rPr lang="en-US" b="1" dirty="0" smtClean="0"/>
              <a:t>How They Make Money:</a:t>
            </a:r>
            <a:r>
              <a:rPr lang="en-US" dirty="0" smtClean="0"/>
              <a:t> By offering IT consulting and development services to businesses.</a:t>
            </a:r>
          </a:p>
          <a:p>
            <a:pPr lvl="1"/>
            <a:r>
              <a:rPr lang="en-US" b="1" dirty="0" smtClean="0"/>
              <a:t>Example of Services:</a:t>
            </a:r>
            <a:r>
              <a:rPr lang="en-US" dirty="0" smtClean="0"/>
              <a:t> Custom software development, cloud migration, IT infrastructure management.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1571612"/>
            <a:ext cx="8229600" cy="4525963"/>
          </a:xfrm>
        </p:spPr>
        <p:txBody>
          <a:bodyPr>
            <a:normAutofit/>
          </a:bodyPr>
          <a:lstStyle/>
          <a:p>
            <a:r>
              <a:rPr lang="en-US" b="1" dirty="0" smtClean="0"/>
              <a:t>Infosys</a:t>
            </a:r>
            <a:endParaRPr lang="en-US" dirty="0" smtClean="0"/>
          </a:p>
          <a:p>
            <a:pPr lvl="1"/>
            <a:r>
              <a:rPr lang="en-US" b="1" dirty="0" smtClean="0"/>
              <a:t>What They Do:</a:t>
            </a:r>
            <a:r>
              <a:rPr lang="en-US" dirty="0" smtClean="0"/>
              <a:t> Infosys helps companies by providing IT consulting, software development, and business process outsourcing services.</a:t>
            </a:r>
          </a:p>
          <a:p>
            <a:pPr lvl="1"/>
            <a:r>
              <a:rPr lang="en-US" b="1" dirty="0" smtClean="0"/>
              <a:t>How They Make Money:</a:t>
            </a:r>
            <a:r>
              <a:rPr lang="en-US" dirty="0" smtClean="0"/>
              <a:t> Charging businesses for technology services like software development, IT infrastructure, and consulting.</a:t>
            </a:r>
          </a:p>
          <a:p>
            <a:pPr lvl="1"/>
            <a:r>
              <a:rPr lang="en-US" b="1" dirty="0" smtClean="0"/>
              <a:t>Example of Services:</a:t>
            </a:r>
            <a:r>
              <a:rPr lang="en-US" dirty="0" smtClean="0"/>
              <a:t> Digital transformation, IT outsourcing, enterprise software solutions.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1714488"/>
            <a:ext cx="8229600" cy="4525963"/>
          </a:xfrm>
        </p:spPr>
        <p:txBody>
          <a:bodyPr>
            <a:normAutofit lnSpcReduction="10000"/>
          </a:bodyPr>
          <a:lstStyle/>
          <a:p>
            <a:r>
              <a:rPr lang="en-US" b="1" dirty="0" smtClean="0"/>
              <a:t>Accenture</a:t>
            </a:r>
            <a:endParaRPr lang="en-US" dirty="0" smtClean="0"/>
          </a:p>
          <a:p>
            <a:pPr lvl="1"/>
            <a:r>
              <a:rPr lang="en-US" b="1" dirty="0" smtClean="0"/>
              <a:t>What They Do:</a:t>
            </a:r>
            <a:r>
              <a:rPr lang="en-US" dirty="0" smtClean="0"/>
              <a:t> Accenture provides consulting, technology services, and business solutions to help companies improve their performance and implement new technologies.</a:t>
            </a:r>
          </a:p>
          <a:p>
            <a:pPr lvl="1"/>
            <a:r>
              <a:rPr lang="en-US" b="1" dirty="0" smtClean="0"/>
              <a:t>How They Make Money:</a:t>
            </a:r>
            <a:r>
              <a:rPr lang="en-US" dirty="0" smtClean="0"/>
              <a:t> By charging clients for consulting services, custom IT solutions, and technology implementation.</a:t>
            </a:r>
          </a:p>
          <a:p>
            <a:pPr lvl="1"/>
            <a:r>
              <a:rPr lang="en-US" b="1" dirty="0" smtClean="0"/>
              <a:t>Example of Services:</a:t>
            </a:r>
            <a:r>
              <a:rPr lang="en-US" dirty="0" smtClean="0"/>
              <a:t> IT strategy, management consulting, and cloud solutions.</a:t>
            </a:r>
          </a:p>
          <a:p>
            <a:endParaRPr lang="en-US" dirty="0" smtClean="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357298"/>
            <a:ext cx="8229600" cy="5911873"/>
          </a:xfrm>
        </p:spPr>
        <p:txBody>
          <a:bodyPr>
            <a:normAutofit/>
          </a:bodyPr>
          <a:lstStyle/>
          <a:p>
            <a:r>
              <a:rPr lang="en-US" sz="2400" b="1" dirty="0" smtClean="0"/>
              <a:t>Hybrid Examples (Companies that do both products and services):</a:t>
            </a:r>
          </a:p>
          <a:p>
            <a:r>
              <a:rPr lang="en-US" sz="2400" b="1" dirty="0" smtClean="0"/>
              <a:t>Microsoft</a:t>
            </a:r>
            <a:endParaRPr lang="en-US" sz="2400" dirty="0" smtClean="0"/>
          </a:p>
          <a:p>
            <a:pPr lvl="1"/>
            <a:r>
              <a:rPr lang="en-US" sz="2400" b="1" dirty="0" smtClean="0"/>
              <a:t>What They Do:</a:t>
            </a:r>
            <a:r>
              <a:rPr lang="en-US" sz="2400" dirty="0" smtClean="0"/>
              <a:t> Microsoft not only sells products like Windows OS and Surface devices but also offers services like Azure cloud and Microsoft 365 (subscriptions).</a:t>
            </a:r>
          </a:p>
          <a:p>
            <a:pPr lvl="1"/>
            <a:r>
              <a:rPr lang="en-US" sz="2400" b="1" dirty="0" smtClean="0"/>
              <a:t>How They Make Money:</a:t>
            </a:r>
            <a:r>
              <a:rPr lang="en-US" sz="2400" dirty="0" smtClean="0"/>
              <a:t> By selling software (like Windows), hardware (like Surface), and services (like cloud storage and business solutions).</a:t>
            </a:r>
          </a:p>
          <a:p>
            <a:pPr lvl="1"/>
            <a:r>
              <a:rPr lang="en-US" sz="2400" b="1" dirty="0" smtClean="0"/>
              <a:t>Example of Products:</a:t>
            </a:r>
            <a:r>
              <a:rPr lang="en-US" sz="2400" dirty="0" smtClean="0"/>
              <a:t> Windows, Xbox, Surface devices.</a:t>
            </a:r>
          </a:p>
          <a:p>
            <a:pPr lvl="1"/>
            <a:r>
              <a:rPr lang="en-US" sz="2400" b="1" dirty="0" smtClean="0"/>
              <a:t>Example of Services:</a:t>
            </a:r>
            <a:r>
              <a:rPr lang="en-US" sz="2400" dirty="0" smtClean="0"/>
              <a:t> Microsoft Azure (cloud computing), Microsoft 365 (subscription for office tools).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b="1" dirty="0" smtClean="0"/>
              <a:t>Amazon</a:t>
            </a:r>
            <a:endParaRPr lang="en-US" dirty="0" smtClean="0"/>
          </a:p>
          <a:p>
            <a:pPr lvl="1"/>
            <a:r>
              <a:rPr lang="en-US" b="1" dirty="0" smtClean="0"/>
              <a:t>What They Do:</a:t>
            </a:r>
            <a:r>
              <a:rPr lang="en-US" dirty="0" smtClean="0"/>
              <a:t> Amazon sells products like books, electronics, and other goods (through its marketplace), but also provides services like Amazon Web Services (AWS).</a:t>
            </a:r>
          </a:p>
          <a:p>
            <a:pPr lvl="1"/>
            <a:r>
              <a:rPr lang="en-US" b="1" dirty="0" smtClean="0"/>
              <a:t>How They Make Money:</a:t>
            </a:r>
            <a:r>
              <a:rPr lang="en-US" dirty="0" smtClean="0"/>
              <a:t> From product sales, subscriptions (like Amazon Prime), and cloud services (AWS).</a:t>
            </a:r>
          </a:p>
          <a:p>
            <a:pPr lvl="1"/>
            <a:r>
              <a:rPr lang="en-US" b="1" dirty="0" smtClean="0"/>
              <a:t>Example of Products:</a:t>
            </a:r>
            <a:r>
              <a:rPr lang="en-US" dirty="0" smtClean="0"/>
              <a:t> Electronics, books, Amazon Echo.</a:t>
            </a:r>
          </a:p>
          <a:p>
            <a:pPr lvl="1"/>
            <a:r>
              <a:rPr lang="en-US" b="1" dirty="0" smtClean="0"/>
              <a:t>Example of Services:</a:t>
            </a:r>
            <a:r>
              <a:rPr lang="en-US" dirty="0" smtClean="0"/>
              <a:t> Amazon Web Services (cloud computing), Amazon Prime (subscription service).</a:t>
            </a:r>
          </a:p>
          <a:p>
            <a:endParaRPr lang="en-US" dirty="0" smtClean="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smtClean="0"/>
              <a:t>Recent Technology Advancements</a:t>
            </a:r>
          </a:p>
          <a:p>
            <a:r>
              <a:rPr lang="en-US" b="1" dirty="0" smtClean="0"/>
              <a:t>Quantum Computing:</a:t>
            </a:r>
            <a:endParaRPr lang="en-US" dirty="0" smtClean="0"/>
          </a:p>
          <a:p>
            <a:pPr lvl="1"/>
            <a:r>
              <a:rPr lang="en-US" dirty="0" smtClean="0"/>
              <a:t> a new type of computing that can solve complex problems much faster than today’s computers.</a:t>
            </a:r>
          </a:p>
          <a:p>
            <a:pPr lvl="1"/>
            <a:r>
              <a:rPr lang="en-US" b="1" dirty="0" smtClean="0"/>
              <a:t>Example:</a:t>
            </a:r>
            <a:r>
              <a:rPr lang="en-US" dirty="0" smtClean="0"/>
              <a:t> Amazon introduced a new chip called </a:t>
            </a:r>
            <a:r>
              <a:rPr lang="en-US" b="1" dirty="0" smtClean="0"/>
              <a:t>Ocelot</a:t>
            </a:r>
            <a:r>
              <a:rPr lang="en-US" dirty="0" smtClean="0"/>
              <a:t>, which helps make quantum computers more powerful and efficient.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smtClean="0"/>
              <a:t>AI and Machine Learning:</a:t>
            </a:r>
            <a:endParaRPr lang="en-US" dirty="0" smtClean="0"/>
          </a:p>
          <a:p>
            <a:pPr lvl="1">
              <a:buNone/>
            </a:pPr>
            <a:r>
              <a:rPr lang="en-US" dirty="0" smtClean="0"/>
              <a:t>      AI (Artificial Intelligence) is getting better at understanding and doing tasks that usually need human intelligence, like recognizing voices or images.</a:t>
            </a:r>
          </a:p>
          <a:p>
            <a:pPr lvl="1"/>
            <a:r>
              <a:rPr lang="en-US" b="1" dirty="0" smtClean="0"/>
              <a:t>Example:</a:t>
            </a:r>
            <a:r>
              <a:rPr lang="en-US" dirty="0" smtClean="0"/>
              <a:t> AI is now used for things like predicting what you might want to buy online or helping doctors with medical diagnoses.</a:t>
            </a:r>
          </a:p>
          <a:p>
            <a:endParaRPr lang="en-US" dirty="0" smtClean="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Mixed Reality (AR/VR):</a:t>
            </a:r>
            <a:endParaRPr lang="en-US" dirty="0" smtClean="0"/>
          </a:p>
          <a:p>
            <a:pPr lvl="1"/>
            <a:r>
              <a:rPr lang="en-US" b="1" dirty="0" smtClean="0"/>
              <a:t>What is it?</a:t>
            </a:r>
            <a:r>
              <a:rPr lang="en-US" dirty="0" smtClean="0"/>
              <a:t> Augmented Reality (AR) and Virtual Reality (VR) are changing how we interact with the world by mixing digital images with the real world or creating entire digital worlds.</a:t>
            </a:r>
          </a:p>
          <a:p>
            <a:pPr lvl="1"/>
            <a:r>
              <a:rPr lang="en-US" b="1" dirty="0" smtClean="0"/>
              <a:t>Example:</a:t>
            </a:r>
            <a:r>
              <a:rPr lang="en-US" dirty="0" smtClean="0"/>
              <a:t> </a:t>
            </a:r>
            <a:r>
              <a:rPr lang="en-US" b="1" dirty="0" smtClean="0"/>
              <a:t>Apple’s Vision Pro</a:t>
            </a:r>
            <a:r>
              <a:rPr lang="en-US" dirty="0" smtClean="0"/>
              <a:t> is a new device that uses AR/VR to give you a more immersive experience.</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85860"/>
            <a:ext cx="8229600" cy="4840303"/>
          </a:xfrm>
        </p:spPr>
        <p:txBody>
          <a:bodyPr>
            <a:normAutofit fontScale="77500" lnSpcReduction="20000"/>
          </a:bodyPr>
          <a:lstStyle/>
          <a:p>
            <a:pPr>
              <a:buNone/>
            </a:pPr>
            <a:r>
              <a:rPr lang="en-US" b="1" dirty="0" smtClean="0"/>
              <a:t>Current Affairs in the IT Industry</a:t>
            </a:r>
          </a:p>
          <a:p>
            <a:pPr>
              <a:buNone/>
            </a:pPr>
            <a:endParaRPr lang="en-US" b="1" dirty="0" smtClean="0"/>
          </a:p>
          <a:p>
            <a:r>
              <a:rPr lang="en-US" b="1" dirty="0" smtClean="0"/>
              <a:t>Amazon and Quantum Computing:</a:t>
            </a:r>
            <a:endParaRPr lang="en-US" dirty="0" smtClean="0"/>
          </a:p>
          <a:p>
            <a:pPr lvl="1"/>
            <a:r>
              <a:rPr lang="en-US" dirty="0" smtClean="0"/>
              <a:t>Amazon is making big moves in the world of quantum computing, competing with companies like Google and Microsoft. This could change how we solve big problems in the future, like curing diseases or managing climate change.</a:t>
            </a:r>
          </a:p>
          <a:p>
            <a:pPr lvl="1"/>
            <a:endParaRPr lang="en-US" dirty="0"/>
          </a:p>
          <a:p>
            <a:pPr lvl="1"/>
            <a:endParaRPr lang="en-US" dirty="0" smtClean="0"/>
          </a:p>
          <a:p>
            <a:r>
              <a:rPr lang="en-US" b="1" dirty="0" smtClean="0"/>
              <a:t>Tech Industry Diversity:</a:t>
            </a:r>
            <a:endParaRPr lang="en-US" dirty="0" smtClean="0"/>
          </a:p>
          <a:p>
            <a:pPr lvl="1"/>
            <a:r>
              <a:rPr lang="en-US" dirty="0" smtClean="0"/>
              <a:t>The tech industry is still struggling with </a:t>
            </a:r>
            <a:r>
              <a:rPr lang="en-US" b="1" dirty="0" smtClean="0"/>
              <a:t>diversity</a:t>
            </a:r>
            <a:r>
              <a:rPr lang="en-US" dirty="0" smtClean="0"/>
              <a:t>—there are fewer women and people from minority groups in tech jobs.</a:t>
            </a:r>
          </a:p>
          <a:p>
            <a:pPr lvl="1"/>
            <a:r>
              <a:rPr lang="en-US" dirty="0" smtClean="0"/>
              <a:t>For example, women make up only about </a:t>
            </a:r>
            <a:r>
              <a:rPr lang="en-US" b="1" dirty="0" smtClean="0"/>
              <a:t>28%</a:t>
            </a:r>
            <a:r>
              <a:rPr lang="en-US" dirty="0" smtClean="0"/>
              <a:t> of all tech jobs, and minorities like Black and Hispanic people are still underrepresented in tech, especially in leadership roles.</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00174"/>
            <a:ext cx="8229600" cy="4625989"/>
          </a:xfrm>
        </p:spPr>
        <p:txBody>
          <a:bodyPr>
            <a:normAutofit fontScale="70000" lnSpcReduction="20000"/>
          </a:bodyPr>
          <a:lstStyle/>
          <a:p>
            <a:pPr>
              <a:buNone/>
            </a:pPr>
            <a:r>
              <a:rPr lang="en-US" b="1" dirty="0" smtClean="0"/>
              <a:t>Diversity in the Workforce</a:t>
            </a:r>
          </a:p>
          <a:p>
            <a:pPr>
              <a:buNone/>
            </a:pPr>
            <a:endParaRPr lang="en-US" b="1" dirty="0"/>
          </a:p>
          <a:p>
            <a:pPr>
              <a:buNone/>
            </a:pPr>
            <a:endParaRPr lang="en-US" b="1" dirty="0" smtClean="0"/>
          </a:p>
          <a:p>
            <a:r>
              <a:rPr lang="en-US" b="1" dirty="0" smtClean="0"/>
              <a:t>Gender Diversity:</a:t>
            </a:r>
            <a:endParaRPr lang="en-US" dirty="0" smtClean="0"/>
          </a:p>
          <a:p>
            <a:pPr lvl="1"/>
            <a:r>
              <a:rPr lang="en-US" dirty="0" smtClean="0"/>
              <a:t>There are fewer women in tech jobs compared to men. Women make up about </a:t>
            </a:r>
            <a:r>
              <a:rPr lang="en-US" b="1" dirty="0" smtClean="0"/>
              <a:t>28%</a:t>
            </a:r>
            <a:r>
              <a:rPr lang="en-US" dirty="0" smtClean="0"/>
              <a:t> of tech workers, even though they make up almost half of the overall workforce.</a:t>
            </a:r>
          </a:p>
          <a:p>
            <a:r>
              <a:rPr lang="en-US" b="1" dirty="0" smtClean="0"/>
              <a:t>Ethnic Diversity:</a:t>
            </a:r>
            <a:endParaRPr lang="en-US" dirty="0" smtClean="0"/>
          </a:p>
          <a:p>
            <a:pPr lvl="1"/>
            <a:r>
              <a:rPr lang="en-US" dirty="0" smtClean="0"/>
              <a:t>The tech industry also struggles with ethnic diversity. For example, </a:t>
            </a:r>
            <a:r>
              <a:rPr lang="en-US" b="1" dirty="0" smtClean="0"/>
              <a:t>White Americans</a:t>
            </a:r>
            <a:r>
              <a:rPr lang="en-US" dirty="0" smtClean="0"/>
              <a:t> hold most tech jobs (about </a:t>
            </a:r>
            <a:r>
              <a:rPr lang="en-US" b="1" dirty="0" smtClean="0"/>
              <a:t>62%</a:t>
            </a:r>
            <a:r>
              <a:rPr lang="en-US" dirty="0" smtClean="0"/>
              <a:t>), while </a:t>
            </a:r>
            <a:r>
              <a:rPr lang="en-US" b="1" dirty="0" smtClean="0"/>
              <a:t>Black</a:t>
            </a:r>
            <a:r>
              <a:rPr lang="en-US" dirty="0" smtClean="0"/>
              <a:t> and </a:t>
            </a:r>
            <a:r>
              <a:rPr lang="en-US" b="1" dirty="0" smtClean="0"/>
              <a:t>Hispanic</a:t>
            </a:r>
            <a:r>
              <a:rPr lang="en-US" dirty="0" smtClean="0"/>
              <a:t> Americans are much less represented.</a:t>
            </a:r>
          </a:p>
          <a:p>
            <a:r>
              <a:rPr lang="en-US" b="1" dirty="0" smtClean="0"/>
              <a:t>Efforts to Improve:</a:t>
            </a:r>
            <a:endParaRPr lang="en-US" dirty="0" smtClean="0"/>
          </a:p>
          <a:p>
            <a:pPr lvl="1"/>
            <a:r>
              <a:rPr lang="en-US" dirty="0" smtClean="0"/>
              <a:t>There are ongoing efforts to make the tech industry more inclusive by hiring more women and people of color. But it’s still a work in progress, especially in higher-level positions.</a:t>
            </a:r>
          </a:p>
          <a:p>
            <a:endParaRPr lang="en-US" dirty="0"/>
          </a:p>
        </p:txBody>
      </p:sp>
    </p:spTree>
  </p:cSld>
  <p:clrMapOvr>
    <a:masterClrMapping/>
  </p:clrMapOvr>
</p:sld>
</file>

<file path=ppt/theme/theme1.xml><?xml version="1.0" encoding="utf-8"?>
<a:theme xmlns:a="http://schemas.openxmlformats.org/drawingml/2006/main" name="7 zero lecture pp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unit 3.5</Template>
  <TotalTime>29</TotalTime>
  <Words>1160</Words>
  <Application>Microsoft Office PowerPoint</Application>
  <PresentationFormat>On-screen Show (4:3)</PresentationFormat>
  <Paragraphs>89</Paragraphs>
  <Slides>19</Slides>
  <Notes>1</Notes>
  <HiddenSlides>0</HiddenSlides>
  <MMClips>0</MMClip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7 zero lecture ppt</vt:lpstr>
      <vt:lpstr>Custom Design</vt:lpstr>
      <vt:lpstr>Unit 5</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Grizli777</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dc:title>
  <dc:creator>LENOVO</dc:creator>
  <cp:lastModifiedBy>Admin</cp:lastModifiedBy>
  <cp:revision>2</cp:revision>
  <dcterms:created xsi:type="dcterms:W3CDTF">2025-03-06T09:53:38Z</dcterms:created>
  <dcterms:modified xsi:type="dcterms:W3CDTF">2025-03-21T11:18:53Z</dcterms:modified>
</cp:coreProperties>
</file>