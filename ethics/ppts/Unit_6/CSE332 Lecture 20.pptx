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3" r:id="rId18"/>
    <p:sldId id="274" r:id="rId19"/>
    <p:sldId id="272" r:id="rId20"/>
  </p:sldIdLst>
  <p:sldSz cx="12192000" cy="6858000"/>
  <p:notesSz cx="6858000" cy="9144000"/>
  <p:defaultTextStyle>
    <a:defPPr marL="0" marR="0" lvl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</a:defRPr>
    </a:defPPr>
    <a:lvl1pPr marL="0" marR="0" lvl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1pPr>
    <a:lvl2pPr marL="0" marR="0" lvl="1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2pPr>
    <a:lvl3pPr marL="0" marR="0" lvl="2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3pPr>
    <a:lvl4pPr marL="0" marR="0" lvl="3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4pPr>
    <a:lvl5pPr marL="0" marR="0" lvl="4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5pPr>
    <a:lvl6pPr marL="0" marR="0" lvl="5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6pPr>
    <a:lvl7pPr marL="0" marR="0" lvl="6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7pPr>
    <a:lvl8pPr marL="0" marR="0" lvl="7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8pPr>
    <a:lvl9pPr marL="0" marR="0" lvl="8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 dirty="0"/>
              <a:t/>
            </a:r>
            <a:br>
              <a:rPr dirty="0"/>
            </a:br>
            <a:r>
              <a:rPr lang="en-US" dirty="0" smtClean="0"/>
              <a:t>INDUSTRY ETHICS AND LEGAL ISSUES</a:t>
            </a:r>
            <a:endParaRPr dirty="0"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323609" y="3840307"/>
            <a:ext cx="7544783" cy="183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Verdana,Bold"/>
              </a:rPr>
              <a:t>Ethical and Professional issues in Information Security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4661" y="707611"/>
            <a:ext cx="75376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b="1" dirty="0"/>
              <a:t>Law and Ethics in Information Security</a:t>
            </a:r>
            <a:endParaRPr lang="en-US" sz="3600" b="1" dirty="0"/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874171" y="1460090"/>
            <a:ext cx="10338619" cy="502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lnSpc>
                <a:spcPct val="150000"/>
              </a:lnSpc>
            </a:pPr>
            <a:r>
              <a:rPr lang="en-US" altLang="en-US" smtClean="0"/>
              <a:t>Laws: </a:t>
            </a:r>
            <a:r>
              <a:rPr lang="en-US" altLang="en-US" smtClean="0">
                <a:solidFill>
                  <a:srgbClr val="006600"/>
                </a:solidFill>
              </a:rPr>
              <a:t>Rules adopted and enforced by governments to codify expected behavior in modern society</a:t>
            </a:r>
          </a:p>
          <a:p>
            <a:pPr algn="just" hangingPunct="1">
              <a:lnSpc>
                <a:spcPct val="150000"/>
              </a:lnSpc>
            </a:pPr>
            <a:r>
              <a:rPr lang="en-US" altLang="en-US" smtClean="0"/>
              <a:t>Ethics:  </a:t>
            </a:r>
            <a:r>
              <a:rPr lang="en-US" altLang="en-US" smtClean="0">
                <a:solidFill>
                  <a:srgbClr val="006600"/>
                </a:solidFill>
              </a:rPr>
              <a:t>Relatively fixed moral attitudes or customs of a societal group</a:t>
            </a:r>
            <a:r>
              <a:rPr lang="en-US" altLang="en-US" smtClean="0"/>
              <a:t> (based on cultural mores) </a:t>
            </a:r>
          </a:p>
          <a:p>
            <a:pPr algn="just" hangingPunct="1">
              <a:lnSpc>
                <a:spcPct val="150000"/>
              </a:lnSpc>
            </a:pPr>
            <a:r>
              <a:rPr lang="en-US" altLang="en-US" smtClean="0">
                <a:solidFill>
                  <a:srgbClr val="993300"/>
                </a:solidFill>
              </a:rPr>
              <a:t>The key difference between law and ethics is that law carries the sanction of a governing authority and ethics do not</a:t>
            </a:r>
            <a:endParaRPr lang="en-US" altLang="en-US" dirty="0" smtClean="0">
              <a:solidFill>
                <a:srgbClr val="99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78358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533400"/>
            <a:ext cx="12506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/>
              <a:t>Law and Ethics in Information Security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61883" y="1379025"/>
            <a:ext cx="7571303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 and ethics guide cybersecurity practices.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Laws ensure data protection and privacy.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Ethics focus on responsible security decisions.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 laws prevent hacking and misuse.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rights balance security and access.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ensures trust and legal safety.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6243" y="1523348"/>
            <a:ext cx="102108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Data </a:t>
            </a:r>
            <a:r>
              <a:rPr lang="en-US" sz="2400" b="1" dirty="0"/>
              <a:t>Protection</a:t>
            </a:r>
            <a:r>
              <a:rPr lang="en-US" sz="2400" dirty="0"/>
              <a:t> – Ensures confidentiality and integrity of information.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Privacy Regulations</a:t>
            </a:r>
            <a:r>
              <a:rPr lang="en-US" sz="2400" dirty="0"/>
              <a:t> – Safeguards personal and sensitive user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Cybercrime Prevention</a:t>
            </a:r>
            <a:r>
              <a:rPr lang="en-US" sz="2400" dirty="0"/>
              <a:t> – Criminalizes hacking, fraud, and cyber threats.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Compliance Standards</a:t>
            </a:r>
            <a:r>
              <a:rPr lang="en-US" sz="2400" dirty="0"/>
              <a:t> – Organizations must follow legal frameworks.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Intellectual Property Protection</a:t>
            </a:r>
            <a:r>
              <a:rPr lang="en-US" sz="2400" dirty="0"/>
              <a:t> – Secures software, patents, and copyrights.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Accountability</a:t>
            </a:r>
            <a:r>
              <a:rPr lang="en-US" sz="2400" dirty="0"/>
              <a:t> – Holds individuals and organizations responsible.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2464" y="781353"/>
            <a:ext cx="7667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Features of Law and Ethics in Information Security</a:t>
            </a:r>
          </a:p>
        </p:txBody>
      </p:sp>
    </p:spTree>
    <p:extLst>
      <p:ext uri="{BB962C8B-B14F-4D97-AF65-F5344CB8AC3E}">
        <p14:creationId xmlns:p14="http://schemas.microsoft.com/office/powerpoint/2010/main" xmlns="" val="25390764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98195" y="737108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Types of Laws in Information Security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1323" y="1321883"/>
            <a:ext cx="109479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Protection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Regulate data collection, storage, and processing.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GDPR, CCPA, HIPAA)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Cybercrime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Prevent hacking, fraud, and identity theft.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CFAA, UK Computer Misuse Act)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Intellectual Property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Protect software, trademarks, and copyrights.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Copyright Act, Patent Laws)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and Regulatory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 businesses follow security standards.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ISO 27001, PCI DSS, SOX)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Surveillance and Privacy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Balance national security with individual privacy.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FISA, ECPA, PRISM regulations)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and Liability Laws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Govern security obligations in business agreements.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NDA, SLAs in cybersecurity contracts)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7183875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0492" y="690962"/>
            <a:ext cx="837567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3200" b="1" dirty="0"/>
              <a:t>Types of Ethics in Information </a:t>
            </a:r>
            <a:r>
              <a:rPr lang="en-US" sz="3200" b="1" dirty="0" smtClean="0"/>
              <a:t>Security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6192" y="1275735"/>
            <a:ext cx="11046543" cy="481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Ensures responsible handling of user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Hacking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Differentiates ethical hacking (white-hat) from malicious hacking (black-hat).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Security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Manages bias, transparency, and accountability in security AI.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Defines security responsibilities of organizations.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Whistleblowing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Protects individuals reporting security violations.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Professional Ethics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Guides IT professionals on ethical security practices. </a:t>
            </a:r>
            <a:r>
              <a:rPr kumimoji="0" lang="en-US" altLang="en-US" sz="18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ISC² Code of Ethics)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0066128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1610" y="780597"/>
            <a:ext cx="791125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800" b="1" dirty="0"/>
              <a:t>Examples of Law and Ethics in Information Security</a:t>
            </a: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45691" y="1682685"/>
            <a:ext cx="10411825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Facebook-Cambridge </a:t>
            </a:r>
            <a:r>
              <a:rPr kumimoji="0" lang="en-US" altLang="en-US" sz="1800" b="1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</a:t>
            </a: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Scandal (Privacy Ethics &amp; Data Protection Laws Violation)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WannaCry</a:t>
            </a: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Ransomware Attack (Cybercrime &amp; Compliance Failure)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 vs. FBI Encryption Case (Privacy vs. Surveillance Ethics)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AI Bias in Hiring (AI and Security Ethics Concern)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Edward Snowden NSA Leaks (Whistleblowing &amp; Government Surveillance Ethics)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Sony Pictures Hack (Intellectual Property &amp; Cybercrime Violation) </a:t>
            </a:r>
          </a:p>
        </p:txBody>
      </p:sp>
    </p:spTree>
    <p:extLst>
      <p:ext uri="{BB962C8B-B14F-4D97-AF65-F5344CB8AC3E}">
        <p14:creationId xmlns:p14="http://schemas.microsoft.com/office/powerpoint/2010/main" xmlns="" val="35660086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031" y="884686"/>
            <a:ext cx="1120877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800" b="1" dirty="0"/>
              <a:t>Advantages and Disadvantages of Law and Ethics in Information Security</a:t>
            </a: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7031" y="1407904"/>
            <a:ext cx="1007806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 dirty="0"/>
              <a:t>Advantages: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Protection</a:t>
            </a:r>
            <a:r>
              <a:rPr lang="en-US" sz="2000" dirty="0"/>
              <a:t> – Ensures confidentiality and prevents unauthorized access.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Privacy Assurance</a:t>
            </a:r>
            <a:r>
              <a:rPr lang="en-US" sz="2000" dirty="0"/>
              <a:t> – Strengthens user trust in organizations.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Cybercrime Prevention</a:t>
            </a:r>
            <a:r>
              <a:rPr lang="en-US" sz="2000" dirty="0"/>
              <a:t> – Reduces risks of hacking and fraud.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Legal Compliance</a:t>
            </a:r>
            <a:r>
              <a:rPr lang="en-US" sz="2000" dirty="0"/>
              <a:t> – Avoids lawsuits and regulatory penalties.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Corporate Accountability</a:t>
            </a:r>
            <a:r>
              <a:rPr lang="en-US" sz="2000" dirty="0"/>
              <a:t> – Holds businesses responsible for security breaches.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Ethical Decision-Making</a:t>
            </a:r>
            <a:r>
              <a:rPr lang="en-US" sz="2000" dirty="0"/>
              <a:t> – Encourages responsible cybersecurity practices.</a:t>
            </a:r>
          </a:p>
        </p:txBody>
      </p:sp>
    </p:spTree>
    <p:extLst>
      <p:ext uri="{BB962C8B-B14F-4D97-AF65-F5344CB8AC3E}">
        <p14:creationId xmlns:p14="http://schemas.microsoft.com/office/powerpoint/2010/main" xmlns="" val="206220092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4515" y="658957"/>
            <a:ext cx="1085973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/>
              <a:t>Disadvantages: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Compliance Costs</a:t>
            </a:r>
            <a:r>
              <a:rPr lang="en-US" sz="2400" dirty="0"/>
              <a:t> – Implementing security laws can be expensive.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Restrictive Policies</a:t>
            </a:r>
            <a:r>
              <a:rPr lang="en-US" sz="2400" dirty="0"/>
              <a:t> – May limit innovation and data access.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Legal Complexity</a:t>
            </a:r>
            <a:r>
              <a:rPr lang="en-US" sz="2400" dirty="0"/>
              <a:t> – Varying global regulations make compliance challenging.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Privacy vs. Security Conflict</a:t>
            </a:r>
            <a:r>
              <a:rPr lang="en-US" sz="2400" dirty="0"/>
              <a:t> – Government surveillance may compromise individual rights.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Slow Legal Updates</a:t>
            </a:r>
            <a:r>
              <a:rPr lang="en-US" sz="2400" dirty="0"/>
              <a:t> – Laws may not keep pace with new cyber threats.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Enforcement Challenges</a:t>
            </a:r>
            <a:r>
              <a:rPr lang="en-US" sz="2400" dirty="0"/>
              <a:t> – Difficult to track and penalize cybercriminals globally</a:t>
            </a:r>
          </a:p>
        </p:txBody>
      </p:sp>
    </p:spTree>
    <p:extLst>
      <p:ext uri="{BB962C8B-B14F-4D97-AF65-F5344CB8AC3E}">
        <p14:creationId xmlns:p14="http://schemas.microsoft.com/office/powerpoint/2010/main" xmlns="" val="24191793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1273105"/>
            <a:ext cx="10081120" cy="133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Organizations face significant legal and ethical responsibilities regarding information security</a:t>
            </a:r>
            <a:r>
              <a:rPr lang="en-US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Failure to comply with security laws and ethical standards can result in legal penalties, financial losses, and reputational damage</a:t>
            </a:r>
            <a:r>
              <a:rPr lang="en-US" dirty="0" smtClean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7226" y="688233"/>
            <a:ext cx="6639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Organizational Liability and the Need for Counsel</a:t>
            </a:r>
          </a:p>
        </p:txBody>
      </p:sp>
      <p:pic>
        <p:nvPicPr>
          <p:cNvPr id="6146" name="Picture 2" descr="How to Prevent Personal Liability for In-House Counsel During Financial Distr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93178" y="2611931"/>
            <a:ext cx="42672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67438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249" y="624462"/>
            <a:ext cx="716022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Organizational Liability in Information Security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3005" y="1086125"/>
            <a:ext cx="1009281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Organizations can be held liable for: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Breaches</a:t>
            </a:r>
            <a:r>
              <a:rPr lang="en-US" sz="2000" dirty="0"/>
              <a:t> – If customer or employee data is compromised due to negligence.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Non-Compliance with Regulations</a:t>
            </a:r>
            <a:r>
              <a:rPr lang="en-US" sz="2000" dirty="0"/>
              <a:t> – Violating laws like GDPR, HIPAA, or PCI DSS can result in heavy fines.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Cybersecurity Negligence</a:t>
            </a:r>
            <a:r>
              <a:rPr lang="en-US" sz="2000" dirty="0"/>
              <a:t> – Failure to implement security measures can lead to legal action.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Intellectual Property Violations</a:t>
            </a:r>
            <a:r>
              <a:rPr lang="en-US" sz="2000" dirty="0"/>
              <a:t> – Unauthorized use of copyrighted or patented technology.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Insider Threats and Employee Misconduct</a:t>
            </a:r>
            <a:r>
              <a:rPr lang="en-US" sz="2000" dirty="0"/>
              <a:t> – Misuse of company data by employees leading to legal liability.</a:t>
            </a:r>
          </a:p>
        </p:txBody>
      </p:sp>
    </p:spTree>
    <p:extLst>
      <p:ext uri="{BB962C8B-B14F-4D97-AF65-F5344CB8AC3E}">
        <p14:creationId xmlns:p14="http://schemas.microsoft.com/office/powerpoint/2010/main" xmlns="" val="28978612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65181" y="796103"/>
            <a:ext cx="5240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Need for Legal Counsel in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522" y="1257768"/>
            <a:ext cx="1081548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Organizations require legal counsel to: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Ensure Compliance</a:t>
            </a:r>
            <a:r>
              <a:rPr lang="en-US" sz="2000" dirty="0"/>
              <a:t> – Guide businesses on adhering to global cybersecurity regulations.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Manage Data Protection Policies</a:t>
            </a:r>
            <a:r>
              <a:rPr lang="en-US" sz="2000" dirty="0"/>
              <a:t> – Develop legal policies for handling customer and employee data.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Handle Cybersecurity Incidents</a:t>
            </a:r>
            <a:r>
              <a:rPr lang="en-US" sz="2000" dirty="0"/>
              <a:t> – Provide legal defense in case of breaches or cyberattacks.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Draft Contracts and Agreements</a:t>
            </a:r>
            <a:r>
              <a:rPr lang="en-US" sz="2000" dirty="0"/>
              <a:t> – Ensure secure and legally binding terms in business deals.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Risk Assessment and Mitigation</a:t>
            </a:r>
            <a:r>
              <a:rPr lang="en-US" sz="2000" dirty="0"/>
              <a:t> – Identify potential legal risks and prevent liabilities.</a:t>
            </a:r>
          </a:p>
        </p:txBody>
      </p:sp>
    </p:spTree>
    <p:extLst>
      <p:ext uri="{BB962C8B-B14F-4D97-AF65-F5344CB8AC3E}">
        <p14:creationId xmlns:p14="http://schemas.microsoft.com/office/powerpoint/2010/main" xmlns="" val="2902787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27239" y="908325"/>
            <a:ext cx="101075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Examples of Organizational Ethics and Liability in Information Security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40710" y="1759825"/>
            <a:ext cx="10463121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Facebook-Cambridge </a:t>
            </a:r>
            <a:r>
              <a:rPr kumimoji="0" lang="en-US" altLang="en-US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Scandal (Ethical and Legal Violations in Data Privacy)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Equifax Data Breach (Failure to Ensure Ethical Cybersecurity Practices)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Uber Data Breach Cover-Up (Lack of Transparency and Ethical Conduct)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Wells Fargo Fake Accounts Scandal (Unethical Employee Behavior and Corporate Accountability)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Yahoo Data Breach (Corporate Negligence in Cybersecurity and Legal Repercussions)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939609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1162" y="1570726"/>
            <a:ext cx="7922362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happens without ethical employee conduct?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unethical behavior harm organizations?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legal risks arise from misconduct?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customer trust easily lost?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organizations face penalties for employees?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non-compliance affect reputation?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7120" y="766606"/>
            <a:ext cx="55964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Answer the following questions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01770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0270" y="1203896"/>
            <a:ext cx="90161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1</a:t>
            </a:r>
            <a:r>
              <a:rPr lang="en-US" b="1" dirty="0"/>
              <a:t>. Definition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Internal guidelines set by organizations to govern behavior.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Legally enforceable rules established by governments.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Purpose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Ensures consistency, security, and ethical conduct within an organization.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Maintains order, protects rights, and enforces justice in society.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3. Enforcement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Policy</a:t>
            </a:r>
            <a:r>
              <a:rPr lang="en-US" dirty="0"/>
              <a:t> – Enforced internally by management or HR departments.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Law</a:t>
            </a:r>
            <a:r>
              <a:rPr lang="en-US" dirty="0"/>
              <a:t> – Enforced by government authorities and courts.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3101" y="751856"/>
            <a:ext cx="3199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Policy Versus Law</a:t>
            </a:r>
          </a:p>
        </p:txBody>
      </p:sp>
    </p:spTree>
    <p:extLst>
      <p:ext uri="{BB962C8B-B14F-4D97-AF65-F5344CB8AC3E}">
        <p14:creationId xmlns:p14="http://schemas.microsoft.com/office/powerpoint/2010/main" xmlns="" val="204288669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018" y="649972"/>
            <a:ext cx="101075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/>
              <a:t>4. Consequences of Violation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Can lead to warnings, termination, or internal penalties.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Can result in legal action, fines, or imprisonment.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5. Flexibility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Can be modified by the organization as needed.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Requires legal procedures or legislative approval to change.</a:t>
            </a:r>
          </a:p>
          <a:p>
            <a:pPr algn="just">
              <a:lnSpc>
                <a:spcPct val="200000"/>
              </a:lnSpc>
            </a:pPr>
            <a:r>
              <a:rPr lang="en-US" sz="2000" b="1" dirty="0"/>
              <a:t>6. Scope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Policy</a:t>
            </a:r>
            <a:r>
              <a:rPr lang="en-US" sz="2000" dirty="0"/>
              <a:t> – Applies only within an organization or institution.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Law</a:t>
            </a:r>
            <a:r>
              <a:rPr lang="en-US" sz="2000" dirty="0"/>
              <a:t> – Applies to everyone within a jurisdiction.</a:t>
            </a:r>
          </a:p>
        </p:txBody>
      </p:sp>
    </p:spTree>
    <p:extLst>
      <p:ext uri="{BB962C8B-B14F-4D97-AF65-F5344CB8AC3E}">
        <p14:creationId xmlns:p14="http://schemas.microsoft.com/office/powerpoint/2010/main" xmlns="" val="14503885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50727" y="722360"/>
            <a:ext cx="41601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Policies in Information Security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7703" y="1418499"/>
            <a:ext cx="101681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Acceptable Use Policy (AUP)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Defines proper use of company systems and networks.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Management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Sets rules for creating and maintaining secure passwords.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Backup and Recovery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Outlines procedures for data protection and restoration.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Response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Establishes steps to follow during cybersecurity incidents.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Bring Your Own Device (BYOD)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Regulates the use of personal devices for work.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Policy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Determines user roles and permissions for system access. </a:t>
            </a:r>
          </a:p>
        </p:txBody>
      </p:sp>
    </p:spTree>
    <p:extLst>
      <p:ext uri="{BB962C8B-B14F-4D97-AF65-F5344CB8AC3E}">
        <p14:creationId xmlns:p14="http://schemas.microsoft.com/office/powerpoint/2010/main" xmlns="" val="345301693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284" y="1375863"/>
            <a:ext cx="10594258" cy="431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General Data Protection Regulation (GDPR)</a:t>
            </a:r>
            <a:r>
              <a:rPr lang="en-US" sz="2000" dirty="0" smtClean="0"/>
              <a:t> – Protects personal data of EU citizens.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Health </a:t>
            </a:r>
            <a:r>
              <a:rPr lang="en-US" sz="2000" b="1" dirty="0"/>
              <a:t>Insurance Portability and Accountability Act (HIPAA</a:t>
            </a:r>
            <a:r>
              <a:rPr lang="en-US" sz="2000" b="1" dirty="0" smtClean="0"/>
              <a:t>)</a:t>
            </a:r>
            <a:r>
              <a:rPr lang="en-US" sz="2000" dirty="0" smtClean="0"/>
              <a:t> – Ensures security of healthcare information.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Computer Fraud and Abuse Act (CFAA)</a:t>
            </a:r>
            <a:r>
              <a:rPr lang="en-US" sz="2000" dirty="0" smtClean="0"/>
              <a:t> – Criminalizes unauthorized computer access.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Cybersecurity Information Sharing Act (CISA)</a:t>
            </a:r>
            <a:r>
              <a:rPr lang="en-US" sz="2000" dirty="0" smtClean="0"/>
              <a:t> – Encourages data sharing for cybersecurity.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Digital Millennium Copyright Act (DMCA)</a:t>
            </a:r>
            <a:r>
              <a:rPr lang="en-US" sz="2000" dirty="0" smtClean="0"/>
              <a:t> – Protects digital content and intellectual property.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California Consumer Privacy Act (CCPA)</a:t>
            </a:r>
            <a:r>
              <a:rPr lang="en-US" sz="2000" dirty="0" smtClean="0"/>
              <a:t> – Regulates data privacy rights for California residents.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257807" y="574876"/>
            <a:ext cx="3833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Laws in Information Security</a:t>
            </a:r>
          </a:p>
        </p:txBody>
      </p:sp>
    </p:spTree>
    <p:extLst>
      <p:ext uri="{BB962C8B-B14F-4D97-AF65-F5344CB8AC3E}">
        <p14:creationId xmlns:p14="http://schemas.microsoft.com/office/powerpoint/2010/main" xmlns="" val="240533419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5477" y="742174"/>
            <a:ext cx="6345007" cy="595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Differences Between Policy and Law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13818336"/>
              </p:ext>
            </p:extLst>
          </p:nvPr>
        </p:nvGraphicFramePr>
        <p:xfrm>
          <a:off x="559793" y="1338106"/>
          <a:ext cx="10899705" cy="5063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3235">
                  <a:extLst>
                    <a:ext uri="{9D8B030D-6E8A-4147-A177-3AD203B41FA5}">
                      <a16:colId xmlns:a16="http://schemas.microsoft.com/office/drawing/2014/main" xmlns="" val="1598014569"/>
                    </a:ext>
                  </a:extLst>
                </a:gridCol>
                <a:gridCol w="3633235">
                  <a:extLst>
                    <a:ext uri="{9D8B030D-6E8A-4147-A177-3AD203B41FA5}">
                      <a16:colId xmlns:a16="http://schemas.microsoft.com/office/drawing/2014/main" xmlns="" val="1387864632"/>
                    </a:ext>
                  </a:extLst>
                </a:gridCol>
                <a:gridCol w="3633235">
                  <a:extLst>
                    <a:ext uri="{9D8B030D-6E8A-4147-A177-3AD203B41FA5}">
                      <a16:colId xmlns:a16="http://schemas.microsoft.com/office/drawing/2014/main" xmlns="" val="2772129666"/>
                    </a:ext>
                  </a:extLst>
                </a:gridCol>
              </a:tblGrid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Criteria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Policy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Law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17355558"/>
                  </a:ext>
                </a:extLst>
              </a:tr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Nature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Internal organizational rule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Government-enforced legal rule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813712671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Objective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Guides employees’ actions and decisions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Maintains societal order and justice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868066220"/>
                  </a:ext>
                </a:extLst>
              </a:tr>
              <a:tr h="3271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Authority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Created by an organization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Created by legislative bodies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56798041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Applicability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Limited to a specific organization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Applies to all individuals and entities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8768359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Modification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be updated internally as needed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Requires a legal process to change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110904265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Enforcement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Managed by HR or internal teams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Enforced by courts and legal agencies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97451804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Consequences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Can result in warnings or termination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Can lead to fines, penalties, or jail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557143603"/>
                  </a:ext>
                </a:extLst>
              </a:tr>
              <a:tr h="6378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Company cybersecurity policy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Data privacy law (e.g., GDPR, HIPAA)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336683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4286481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1389</Words>
  <Application>Microsoft Office PowerPoint</Application>
  <PresentationFormat>Custom</PresentationFormat>
  <Paragraphs>147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12</cp:revision>
  <dcterms:modified xsi:type="dcterms:W3CDTF">2025-03-21T11:20:50Z</dcterms:modified>
</cp:coreProperties>
</file>