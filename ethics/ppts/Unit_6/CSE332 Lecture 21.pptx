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56994" y="2149551"/>
            <a:ext cx="5430011" cy="7703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50975" y="3896995"/>
            <a:ext cx="5006340" cy="1000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1449"/>
            <a:ext cx="9144000" cy="9372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42544"/>
            <a:ext cx="6927850" cy="844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133678"/>
            <a:ext cx="7019925" cy="370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7446" rIns="0" bIns="0" rtlCol="0">
            <a:spAutoFit/>
          </a:bodyPr>
          <a:lstStyle/>
          <a:p>
            <a:pPr marL="1753235">
              <a:lnSpc>
                <a:spcPct val="100000"/>
              </a:lnSpc>
              <a:spcBef>
                <a:spcPts val="110"/>
              </a:spcBef>
            </a:pPr>
            <a:r>
              <a:rPr sz="4000" b="0" spc="105" dirty="0">
                <a:latin typeface="Microsoft Sans Serif"/>
                <a:cs typeface="Microsoft Sans Serif"/>
              </a:rPr>
              <a:t>CSE332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099" y="3124200"/>
            <a:ext cx="8305800" cy="124521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Unit</a:t>
            </a:r>
            <a:r>
              <a:rPr sz="4000" spc="-45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lang="en-IN" sz="4000" spc="-45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6</a:t>
            </a:r>
            <a:r>
              <a:rPr sz="4000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:-</a:t>
            </a:r>
            <a:r>
              <a:rPr sz="4000" spc="-55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lang="en-IN" sz="4000" spc="-55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Ethical and Professional issues in 	               Information Security</a:t>
            </a:r>
            <a:endParaRPr sz="4000" dirty="0">
              <a:solidFill>
                <a:schemeClr val="accent1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-10212" y="1752600"/>
            <a:ext cx="8686800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4400" spc="-55" dirty="0">
                <a:solidFill>
                  <a:schemeClr val="tx2">
                    <a:lumMod val="50000"/>
                  </a:schemeClr>
                </a:solidFill>
                <a:latin typeface="Calibri"/>
                <a:cs typeface="Calibri"/>
              </a:rPr>
              <a:t>Ethical and Professional issues in        Information Security</a:t>
            </a:r>
            <a:endParaRPr b="0" spc="-20" dirty="0">
              <a:solidFill>
                <a:schemeClr val="tx2">
                  <a:lumMod val="5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1295400" y="3581400"/>
            <a:ext cx="6705600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0"/>
              </a:spcBef>
            </a:pPr>
            <a:r>
              <a:rPr lang="en-IN" spc="-10" dirty="0">
                <a:solidFill>
                  <a:schemeClr val="accent1">
                    <a:lumMod val="75000"/>
                  </a:schemeClr>
                </a:solidFill>
              </a:rPr>
              <a:t>Cyber Crime ,Cyber-crime on the rise, Need for cyber law in India</a:t>
            </a:r>
            <a:endParaRPr spc="-1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C1A7CA-EEEF-3F3B-985C-CBCB57CEE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76200"/>
            <a:ext cx="6927850" cy="677108"/>
          </a:xfrm>
        </p:spPr>
        <p:txBody>
          <a:bodyPr/>
          <a:lstStyle/>
          <a:p>
            <a:r>
              <a:rPr lang="en-US" sz="4400" dirty="0"/>
              <a:t>Cyber crime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09FA703-F614-9C1D-092A-94BAE1D3C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133678"/>
            <a:ext cx="7921956" cy="43088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Cybercrime refers to any illegal activity that involves computers, networks, or digital devices.</a:t>
            </a:r>
          </a:p>
          <a:p>
            <a:r>
              <a:rPr lang="en-US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These crimes are committed using technology to steal, manipulate, or destroy data, systems, or personal information.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Cybercrimes can target individuals, businesses, or even governments, leading to financial losses, security breaches, and privacy violations.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326206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69B91C-02D0-5071-B4F2-857A75EF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0"/>
            <a:ext cx="6927850" cy="534564"/>
          </a:xfrm>
        </p:spPr>
        <p:txBody>
          <a:bodyPr/>
          <a:lstStyle/>
          <a:p>
            <a:r>
              <a:rPr lang="en-IN" dirty="0"/>
              <a:t>Types of Cyber Crimes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234833E-9317-60CE-EDCE-BA876CCA5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133678"/>
            <a:ext cx="8226756" cy="560153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Cyber Fraud - </a:t>
            </a:r>
            <a:r>
              <a:rPr lang="en-US" sz="2800" dirty="0"/>
              <a:t>Any fraudulent activity conducted online to deceive individuals or businesses for financial gain.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Hacking &amp; Data Breaches</a:t>
            </a:r>
            <a:r>
              <a:rPr lang="en-US" sz="2800" dirty="0"/>
              <a:t> - Gaining unauthorized access to computer systems or networks to steal, modify, or delete data.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Cyberbullying &amp; Harassment</a:t>
            </a:r>
            <a:r>
              <a:rPr lang="en-US" sz="2800" dirty="0"/>
              <a:t> - The use of digital platforms to harass, threaten, or abuse someone. This includes sending offensive messages, spreading false rumors, or sharing private photos without consent.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283136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CD3186-DA5A-DD07-DD50-B6A73277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3003E15-6F27-EA68-0A34-4E6D01779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133678"/>
            <a:ext cx="8150556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Intellectual Property Theft - </a:t>
            </a:r>
            <a:r>
              <a:rPr lang="en-US" sz="2800" dirty="0"/>
              <a:t>The unauthorized use, reproduction, or distribution of copyrighted material, trademarks, or patented content.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Cyber Terrorism</a:t>
            </a:r>
            <a:r>
              <a:rPr lang="en-US" sz="2800" dirty="0"/>
              <a:t> - The use of cyber attacks to disrupt critical infrastructures, government systems, or spread fear among the public.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951514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1D5028-7CA6-7F4B-BF1F-32E781A7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0"/>
            <a:ext cx="6927850" cy="534564"/>
          </a:xfrm>
        </p:spPr>
        <p:txBody>
          <a:bodyPr/>
          <a:lstStyle/>
          <a:p>
            <a:r>
              <a:rPr lang="en-IN" dirty="0"/>
              <a:t>Cyber-Crime on the Rise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02FB30E-0E5C-8CF5-A828-E41E2AFF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133678"/>
            <a:ext cx="8302956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Cybercrime has been increasing at an alarming rate worldwide. 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With the rapid growth of digital transactions, cloud computing, and social media.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Cybercriminals have found new ways to exploit individuals, businesses, and governments.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The rise in cybercrime can be attributed to greater internet penetration, lack of cybersecurity awareness, and evolving hacking techniques.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2783014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DF2B26-5EFC-4EFF-3B35-5C407AE81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42544"/>
            <a:ext cx="6927850" cy="1354217"/>
          </a:xfrm>
        </p:spPr>
        <p:txBody>
          <a:bodyPr/>
          <a:lstStyle/>
          <a:p>
            <a:r>
              <a:rPr lang="en-US" dirty="0"/>
              <a:t>Statistics and Reports on Rising Cybercrime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37FE3FF-7E2C-057B-3640-76DD5C1C5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447800"/>
            <a:ext cx="8763000" cy="473975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Cybercrime is expected to cost the world $10.5 trillion annually by 2025 (Cybersecurity Ventures report).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cyberattack occurs every 39 seconds worldwide.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2023, more than 800 million ransomware attacks were reported globally.</a:t>
            </a:r>
          </a:p>
          <a:p>
            <a:pPr>
              <a:buNone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Over </a:t>
            </a:r>
            <a:r>
              <a:rPr lang="en-US" sz="2800" b="1" dirty="0"/>
              <a:t>50,000 cybercrime cases</a:t>
            </a:r>
            <a:r>
              <a:rPr lang="en-US" sz="2800" dirty="0"/>
              <a:t> were registered in India in 2023 (NCRB Data).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4230561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641392-69D4-494E-A922-7D3DD0CA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42544"/>
            <a:ext cx="6927850" cy="1354217"/>
          </a:xfrm>
        </p:spPr>
        <p:txBody>
          <a:bodyPr/>
          <a:lstStyle/>
          <a:p>
            <a:r>
              <a:rPr lang="en-US" dirty="0"/>
              <a:t>Major Reasons Behind the Rise in Cybercrime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21FEA68-AC66-9ABD-47C0-51D9FDFF9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0117"/>
            <a:ext cx="8458200" cy="307776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2800" dirty="0"/>
              <a:t>Increased Digital Dependence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Lack of Cybersecurity Awareness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Advanced Hacking Techniques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Rise of Mobile &amp; IoT Devices</a:t>
            </a:r>
            <a:r>
              <a:rPr lang="en-IN" sz="2800" dirty="0"/>
              <a:t> (</a:t>
            </a:r>
            <a:r>
              <a:rPr lang="en-US" sz="2800" b="1" dirty="0"/>
              <a:t>43% of cyberattacks</a:t>
            </a:r>
            <a:r>
              <a:rPr lang="en-US" sz="2800" dirty="0"/>
              <a:t> are now directed at mobile devices.</a:t>
            </a:r>
            <a:r>
              <a:rPr lang="en-IN" sz="28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Financial Motivation</a:t>
            </a:r>
          </a:p>
        </p:txBody>
      </p:sp>
    </p:spTree>
    <p:extLst>
      <p:ext uri="{BB962C8B-B14F-4D97-AF65-F5344CB8AC3E}">
        <p14:creationId xmlns:p14="http://schemas.microsoft.com/office/powerpoint/2010/main" xmlns="" val="3310800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FF7BB6-35DE-B875-1732-79F42777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B49CE08-6A75-61E9-F63D-82431ADC7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E3DAFF0-8668-B581-F34F-4854B6AEF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3887" y="1133678"/>
            <a:ext cx="8095844" cy="459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30030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F00385-211B-8769-2759-B4B539576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0"/>
            <a:ext cx="6927850" cy="534564"/>
          </a:xfrm>
        </p:spPr>
        <p:txBody>
          <a:bodyPr/>
          <a:lstStyle/>
          <a:p>
            <a:r>
              <a:rPr lang="en-US" dirty="0"/>
              <a:t>Need for Cyber Law in India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F0325BC-239E-383F-8F48-0CE269DC9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981200"/>
            <a:ext cx="8379156" cy="999137"/>
          </a:xfrm>
        </p:spPr>
        <p:txBody>
          <a:bodyPr/>
          <a:lstStyle/>
          <a:p>
            <a:r>
              <a:rPr lang="en-US" sz="2400" dirty="0"/>
              <a:t>Cyber law refers to the legal framework that governs </a:t>
            </a:r>
            <a:r>
              <a:rPr lang="en-US" sz="2400" b="1" dirty="0"/>
              <a:t>cybercrime, digital transactions, data protection, and online activities.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It defines the rights, responsibilities, and punishments related to crimes committed in cyberspace.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2922260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E706B9-AEA9-1EDF-D493-E8AF53A1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42544"/>
            <a:ext cx="6927850" cy="677108"/>
          </a:xfrm>
        </p:spPr>
        <p:txBody>
          <a:bodyPr/>
          <a:lstStyle/>
          <a:p>
            <a:r>
              <a:rPr lang="en-IN" dirty="0"/>
              <a:t>Objectives of Cyber Law: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33BCE0-39F0-CF16-6AF6-9814F3145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133678"/>
            <a:ext cx="7019925" cy="4431983"/>
          </a:xfrm>
        </p:spPr>
        <p:txBody>
          <a:bodyPr/>
          <a:lstStyle/>
          <a:p>
            <a:r>
              <a:rPr lang="en-US" sz="2400" dirty="0"/>
              <a:t>✅ Prevent cybercrimes and punish offenders.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✅ Protect individuals, businesses, and government entities from cyber threats.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✅ Establish guidelines for e-commerce, digital payments, and IT security.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✅ Safeguard data privacy and prevent unauthorized access.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✅ Regulate electronic evidence in legal matters.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1150801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50DB1F-6256-B3F3-EF9D-DD3054510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0"/>
            <a:ext cx="6927850" cy="534564"/>
          </a:xfrm>
        </p:spPr>
        <p:txBody>
          <a:bodyPr/>
          <a:lstStyle/>
          <a:p>
            <a:r>
              <a:rPr lang="en-US" dirty="0"/>
              <a:t>Key Cyber Laws in India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AD81B6C-2871-9655-3568-A40C18620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133678"/>
            <a:ext cx="8074356" cy="4431983"/>
          </a:xfrm>
        </p:spPr>
        <p:txBody>
          <a:bodyPr/>
          <a:lstStyle/>
          <a:p>
            <a:r>
              <a:rPr lang="en-US" b="1" dirty="0"/>
              <a:t>Information Technology (IT) Act, 2000</a:t>
            </a:r>
          </a:p>
          <a:p>
            <a:endParaRPr lang="en-US" b="1" dirty="0"/>
          </a:p>
          <a:p>
            <a:r>
              <a:rPr lang="en-IN" sz="2800" dirty="0"/>
              <a:t>🔹 India’s primary cyber law that governs cybercrimes, digital transactions, and electronic evidence.</a:t>
            </a:r>
          </a:p>
          <a:p>
            <a:endParaRPr lang="en-IN" sz="2800" dirty="0"/>
          </a:p>
          <a:p>
            <a:r>
              <a:rPr lang="en-IN" sz="2800" dirty="0"/>
              <a:t>🔹 Covers: Hacking, identity theft, phishing, cyberstalking, and data protection.</a:t>
            </a:r>
          </a:p>
          <a:p>
            <a:endParaRPr lang="en-IN" sz="2800" dirty="0"/>
          </a:p>
          <a:p>
            <a:r>
              <a:rPr lang="en-IN" sz="2800" dirty="0"/>
              <a:t>🔹 Punishments: Up to 10 years of imprisonment and fines for serious cyber offenses.</a:t>
            </a:r>
          </a:p>
        </p:txBody>
      </p:sp>
    </p:spTree>
    <p:extLst>
      <p:ext uri="{BB962C8B-B14F-4D97-AF65-F5344CB8AC3E}">
        <p14:creationId xmlns:p14="http://schemas.microsoft.com/office/powerpoint/2010/main" xmlns="" val="1770750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D3490D-546B-478D-55EC-A379FC44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8" y="-142543"/>
            <a:ext cx="7388861" cy="1209344"/>
          </a:xfrm>
        </p:spPr>
        <p:txBody>
          <a:bodyPr/>
          <a:lstStyle/>
          <a:p>
            <a:r>
              <a:rPr lang="en-IN" dirty="0"/>
              <a:t>Indian Penal Code (IPC) – Sections Related to Cybercrime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909EFB8-5AC8-9154-3EEB-0CC7175AF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692" y="1524000"/>
            <a:ext cx="7881108" cy="3016210"/>
          </a:xfrm>
        </p:spPr>
        <p:txBody>
          <a:bodyPr/>
          <a:lstStyle/>
          <a:p>
            <a:r>
              <a:rPr lang="en-IN" sz="2800" dirty="0"/>
              <a:t>🔹 </a:t>
            </a:r>
            <a:r>
              <a:rPr lang="en-IN" sz="2800" b="1" dirty="0"/>
              <a:t>Section 419 &amp; 420:</a:t>
            </a:r>
            <a:r>
              <a:rPr lang="en-IN" sz="2800" dirty="0"/>
              <a:t> Punishment for cheating and online fraud.</a:t>
            </a:r>
          </a:p>
          <a:p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🔹 </a:t>
            </a:r>
            <a:r>
              <a:rPr lang="en-IN" sz="2800" b="1" dirty="0"/>
              <a:t>Section 500:</a:t>
            </a:r>
            <a:r>
              <a:rPr lang="en-IN" sz="2800" dirty="0"/>
              <a:t> Punishment for cyber defamation.</a:t>
            </a:r>
          </a:p>
          <a:p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🔹 </a:t>
            </a:r>
            <a:r>
              <a:rPr lang="en-IN" sz="2800" b="1" dirty="0"/>
              <a:t>Section 354D:</a:t>
            </a:r>
            <a:r>
              <a:rPr lang="en-IN" sz="2800" dirty="0"/>
              <a:t> Covers cyberstalking and online harassment.</a:t>
            </a:r>
          </a:p>
        </p:txBody>
      </p:sp>
    </p:spTree>
    <p:extLst>
      <p:ext uri="{BB962C8B-B14F-4D97-AF65-F5344CB8AC3E}">
        <p14:creationId xmlns:p14="http://schemas.microsoft.com/office/powerpoint/2010/main" xmlns="" val="3258891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EA834D-86C0-B5EC-6B4C-B540083E4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42544"/>
            <a:ext cx="6927850" cy="1354217"/>
          </a:xfrm>
        </p:spPr>
        <p:txBody>
          <a:bodyPr/>
          <a:lstStyle/>
          <a:p>
            <a:r>
              <a:rPr lang="en-IN" dirty="0"/>
              <a:t>Digital Personal Data Protection (DPDP) Act, 2023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A5CAF79-2DCF-E44F-E393-985CC91CC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905000"/>
            <a:ext cx="7019925" cy="2585323"/>
          </a:xfrm>
        </p:spPr>
        <p:txBody>
          <a:bodyPr/>
          <a:lstStyle/>
          <a:p>
            <a:r>
              <a:rPr lang="en-US" sz="2800" dirty="0"/>
              <a:t>🔹 Protects </a:t>
            </a:r>
            <a:r>
              <a:rPr lang="en-US" sz="2800" b="1" dirty="0"/>
              <a:t>personal data privacy</a:t>
            </a:r>
            <a:r>
              <a:rPr lang="en-US" sz="2800" dirty="0"/>
              <a:t> and regulates how companies collect and use user information.</a:t>
            </a:r>
          </a:p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🔹 Ensures strict penalties for </a:t>
            </a:r>
            <a:r>
              <a:rPr lang="en-US" sz="2800" b="1" dirty="0"/>
              <a:t>data breaches and misuse of private data.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1216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A224D1-4D1D-57BC-3EB3-BBC2F17FC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42544"/>
            <a:ext cx="6927850" cy="1354217"/>
          </a:xfrm>
        </p:spPr>
        <p:txBody>
          <a:bodyPr/>
          <a:lstStyle/>
          <a:p>
            <a:r>
              <a:rPr lang="en-US" b="1" dirty="0"/>
              <a:t>National Cyber Security Policy, 2013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7D02C13-0E6E-5C7B-42FB-977FB0757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905000"/>
            <a:ext cx="8382000" cy="2215991"/>
          </a:xfrm>
        </p:spPr>
        <p:txBody>
          <a:bodyPr/>
          <a:lstStyle/>
          <a:p>
            <a:r>
              <a:rPr lang="en-US" sz="2800" dirty="0"/>
              <a:t>🔹 Strengthens India’s cybersecurity infrastructure.</a:t>
            </a:r>
          </a:p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🔹 Focuses on protecting </a:t>
            </a:r>
            <a:r>
              <a:rPr lang="en-US" sz="2800" b="1" dirty="0"/>
              <a:t>critical sectors like banking, defense, and telecom.</a:t>
            </a: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3002284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78FB6F-4D1A-A2CE-33A9-4DC47CC0E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42544"/>
            <a:ext cx="6927850" cy="1354217"/>
          </a:xfrm>
        </p:spPr>
        <p:txBody>
          <a:bodyPr/>
          <a:lstStyle/>
          <a:p>
            <a:r>
              <a:rPr lang="en-US" dirty="0"/>
              <a:t>Challenges in Implementing Cyber Laws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42DA8CB-8F02-7DE5-0CDA-173E674C6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074356" cy="5170646"/>
          </a:xfrm>
        </p:spPr>
        <p:txBody>
          <a:bodyPr/>
          <a:lstStyle/>
          <a:p>
            <a:r>
              <a:rPr lang="en-US" sz="2800" dirty="0"/>
              <a:t>⚠ </a:t>
            </a:r>
            <a:r>
              <a:rPr lang="en-US" sz="2800" b="1" dirty="0"/>
              <a:t>Lack of Awareness</a:t>
            </a:r>
            <a:r>
              <a:rPr lang="en-US" sz="2800" dirty="0"/>
              <a:t> – Many people are unaware of cyber laws and their rights.</a:t>
            </a:r>
          </a:p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⚠ </a:t>
            </a:r>
            <a:r>
              <a:rPr lang="en-US" sz="2800" b="1" dirty="0"/>
              <a:t>Jurisdiction Issues</a:t>
            </a:r>
            <a:r>
              <a:rPr lang="en-US" sz="2800" dirty="0"/>
              <a:t> – Cybercrimes often involve multiple countries, making enforcement difficult.</a:t>
            </a:r>
          </a:p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⚠ </a:t>
            </a:r>
            <a:r>
              <a:rPr lang="en-US" sz="2800" b="1" dirty="0"/>
              <a:t>Slow Legal Proceedings</a:t>
            </a:r>
            <a:r>
              <a:rPr lang="en-US" sz="2800" dirty="0"/>
              <a:t> – Cybercrime cases take time to resolve due to technical complexities.</a:t>
            </a:r>
          </a:p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⚠ </a:t>
            </a:r>
            <a:r>
              <a:rPr lang="en-US" sz="2800" b="1" dirty="0"/>
              <a:t>Cybercriminals Using Advanced Technologies</a:t>
            </a:r>
            <a:r>
              <a:rPr lang="en-US" sz="2800" dirty="0"/>
              <a:t> – AI-powered malware and the </a:t>
            </a:r>
            <a:r>
              <a:rPr lang="en-US" sz="2800" b="1" dirty="0"/>
              <a:t>dark web</a:t>
            </a:r>
            <a:r>
              <a:rPr lang="en-US" sz="2800" dirty="0"/>
              <a:t> make it harder to track criminals.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3532834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577</Words>
  <Application>Microsoft Office PowerPoint</Application>
  <PresentationFormat>On-screen Show (4:3)</PresentationFormat>
  <Paragraphs>74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CSE332</vt:lpstr>
      <vt:lpstr>Ethical and Professional issues in        Information Security</vt:lpstr>
      <vt:lpstr>Cyber crime</vt:lpstr>
      <vt:lpstr>Types of Cyber Crimes</vt:lpstr>
      <vt:lpstr>Slide 5</vt:lpstr>
      <vt:lpstr>Cyber-Crime on the Rise</vt:lpstr>
      <vt:lpstr>Statistics and Reports on Rising Cybercrime</vt:lpstr>
      <vt:lpstr>Major Reasons Behind the Rise in Cybercrime</vt:lpstr>
      <vt:lpstr>Slide 9</vt:lpstr>
      <vt:lpstr>Need for Cyber Law in India</vt:lpstr>
      <vt:lpstr>Objectives of Cyber Law:</vt:lpstr>
      <vt:lpstr>Key Cyber Laws in India</vt:lpstr>
      <vt:lpstr>Indian Penal Code (IPC) – Sections Related to Cybercrime</vt:lpstr>
      <vt:lpstr>Digital Personal Data Protection (DPDP) Act, 2023</vt:lpstr>
      <vt:lpstr>National Cyber Security Policy, 2013</vt:lpstr>
      <vt:lpstr>Challenges in Implementing Cyber Laws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</dc:title>
  <dc:creator>Admin</dc:creator>
  <cp:lastModifiedBy>Admin</cp:lastModifiedBy>
  <cp:revision>7</cp:revision>
  <dcterms:created xsi:type="dcterms:W3CDTF">2025-03-17T04:27:12Z</dcterms:created>
  <dcterms:modified xsi:type="dcterms:W3CDTF">2025-04-02T05:34:29Z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2025-03-17T00:00:00Z</vt:filetime>
  </property>
  <property fmtid="{D5CDD505-2E9C-101B-9397-08002B2CF9AE}" pid="5" name="Producer">
    <vt:lpwstr>www.ilovepdf.com</vt:lpwstr>
  </property>
</Properties>
</file>