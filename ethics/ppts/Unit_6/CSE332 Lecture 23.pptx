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57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 marL="0" marR="0" lvl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</a:defRPr>
    </a:defPPr>
    <a:lvl1pPr marL="0" marR="0" lvl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1pPr>
    <a:lvl2pPr marL="0" marR="0" lvl="1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2pPr>
    <a:lvl3pPr marL="0" marR="0" lvl="2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3pPr>
    <a:lvl4pPr marL="0" marR="0" lvl="3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4pPr>
    <a:lvl5pPr marL="0" marR="0" lvl="4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5pPr>
    <a:lvl6pPr marL="0" marR="0" lvl="5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6pPr>
    <a:lvl7pPr marL="0" marR="0" lvl="6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7pPr>
    <a:lvl8pPr marL="0" marR="0" lvl="7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8pPr>
    <a:lvl9pPr marL="0" marR="0" lvl="8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1618095634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 smtClean="0"/>
              <a:t>CSE332</a:t>
            </a:r>
            <a:r>
              <a:rPr dirty="0"/>
              <a:t/>
            </a:r>
            <a:br>
              <a:rPr dirty="0"/>
            </a:br>
            <a:r>
              <a:rPr lang="en-US" dirty="0" smtClean="0"/>
              <a:t>INDUSTRY ETHICS AND LEGAL ISSUES</a:t>
            </a:r>
            <a:endParaRPr dirty="0"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701965" y="3840307"/>
            <a:ext cx="104740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0070C0"/>
                </a:solidFill>
                <a:latin typeface="Verdana,Bold"/>
              </a:rPr>
              <a:t>Hands on tools for</a:t>
            </a:r>
          </a:p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0070C0"/>
                </a:solidFill>
                <a:latin typeface="Verdana,Bold"/>
              </a:rPr>
              <a:t>cyber security), </a:t>
            </a:r>
            <a:r>
              <a:rPr lang="en-US" sz="4000" b="1" dirty="0" smtClean="0">
                <a:solidFill>
                  <a:srgbClr val="0070C0"/>
                </a:solidFill>
                <a:latin typeface="Verdana,Bold"/>
              </a:rPr>
              <a:t>case </a:t>
            </a:r>
            <a:r>
              <a:rPr lang="en-US" sz="4000" b="1" dirty="0">
                <a:solidFill>
                  <a:srgbClr val="0070C0"/>
                </a:solidFill>
                <a:latin typeface="Verdana,Bold"/>
              </a:rPr>
              <a:t>studies on</a:t>
            </a:r>
          </a:p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0070C0"/>
                </a:solidFill>
                <a:latin typeface="Verdana,Bold"/>
              </a:rPr>
              <a:t>cyber crimes)</a:t>
            </a:r>
            <a:endParaRPr lang="en-US" sz="4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05207" y="498410"/>
            <a:ext cx="8182048" cy="8104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The Growing Importance of Cybersecurity</a:t>
            </a:r>
            <a:endParaRPr lang="en-US" sz="3600" b="1" dirty="0"/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874171" y="1460090"/>
            <a:ext cx="10338619" cy="502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just" hangingPunct="1">
              <a:lnSpc>
                <a:spcPct val="150000"/>
              </a:lnSpc>
            </a:pPr>
            <a:endParaRPr lang="en-US" altLang="en-US" dirty="0" smtClean="0">
              <a:solidFill>
                <a:srgbClr val="9933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739" y="4045411"/>
            <a:ext cx="7474344" cy="27312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05207" y="1277693"/>
            <a:ext cx="8471876" cy="2585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lvl="0" indent="-3429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Cybersecurity is more critical than ever.</a:t>
            </a:r>
          </a:p>
          <a:p>
            <a:pPr marL="342900" lvl="0" indent="-3429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By 2025, global damage from cybercrime is expected to reach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$10.5 trillion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Ransomware attacks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rose by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13% in 2023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An estimated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68% of business leaders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feel their cybersecurity risks are increasing.</a:t>
            </a:r>
          </a:p>
          <a:p>
            <a:pPr marL="285750" lvl="0" indent="-285750" algn="ctr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Learn how to stay secure.</a:t>
            </a:r>
          </a:p>
        </p:txBody>
      </p:sp>
    </p:spTree>
    <p:extLst>
      <p:ext uri="{BB962C8B-B14F-4D97-AF65-F5344CB8AC3E}">
        <p14:creationId xmlns:p14="http://schemas.microsoft.com/office/powerpoint/2010/main" xmlns="" val="101783586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" y="533400"/>
            <a:ext cx="12506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0070C0"/>
                </a:solidFill>
              </a:rPr>
              <a:t>Essential Cybersecurity Tools for Protection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745374" y="910602"/>
            <a:ext cx="8295861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these essential tools to enhance your cybersecurity:</a:t>
            </a:r>
          </a:p>
          <a:p>
            <a:pPr marL="742950" marR="0" lvl="1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Firewalls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a first line of defense.</a:t>
            </a:r>
          </a:p>
          <a:p>
            <a:pPr marL="742950" marR="0" lvl="1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VPNs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protect data in transit by encrypting connections.</a:t>
            </a:r>
          </a:p>
          <a:p>
            <a:pPr marL="742950" marR="0" lvl="1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Anti-virus software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prevents known threats.</a:t>
            </a:r>
          </a:p>
          <a:p>
            <a:pPr marL="742950" marR="0" lvl="1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Intrusion Detection Systems (IDS)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real-time threat monitoring.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20073" y="587436"/>
            <a:ext cx="12506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dirty="0" smtClean="0">
                <a:solidFill>
                  <a:srgbClr val="0070C0"/>
                </a:solidFill>
              </a:rPr>
              <a:t>Cybersecurity Tools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939338" y="1484709"/>
            <a:ext cx="760182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1. Network Security Tools:</a:t>
            </a:r>
          </a:p>
          <a:p>
            <a:r>
              <a:rPr lang="en-IN" sz="2000" dirty="0"/>
              <a:t>   - </a:t>
            </a:r>
            <a:r>
              <a:rPr lang="en-IN" sz="2000" b="1" dirty="0"/>
              <a:t>Wireshark, </a:t>
            </a:r>
            <a:r>
              <a:rPr lang="en-IN" sz="2000" b="1" dirty="0" err="1"/>
              <a:t>Nmap</a:t>
            </a:r>
            <a:r>
              <a:rPr lang="en-IN" sz="2000" b="1" dirty="0"/>
              <a:t>, Snort, </a:t>
            </a:r>
            <a:r>
              <a:rPr lang="en-IN" sz="2000" b="1" dirty="0" err="1"/>
              <a:t>Tcpdump</a:t>
            </a:r>
            <a:endParaRPr lang="en-IN" sz="2000" b="1" dirty="0"/>
          </a:p>
          <a:p>
            <a:endParaRPr lang="en-IN" sz="2000" dirty="0"/>
          </a:p>
          <a:p>
            <a:r>
              <a:rPr lang="en-IN" sz="2000" dirty="0"/>
              <a:t>2. Endpoint Security Tools:</a:t>
            </a:r>
          </a:p>
          <a:p>
            <a:r>
              <a:rPr lang="en-IN" sz="2000" dirty="0"/>
              <a:t>   - </a:t>
            </a:r>
            <a:r>
              <a:rPr lang="en-IN" sz="2000" b="1" dirty="0" err="1"/>
              <a:t>CrowdStrike</a:t>
            </a:r>
            <a:r>
              <a:rPr lang="en-IN" sz="2000" b="1" dirty="0"/>
              <a:t> Falcon, Symantec, Bitdefender </a:t>
            </a:r>
            <a:r>
              <a:rPr lang="en-IN" sz="2000" b="1" dirty="0" err="1"/>
              <a:t>GravityZone</a:t>
            </a:r>
            <a:endParaRPr lang="en-IN" sz="2000" b="1" dirty="0"/>
          </a:p>
          <a:p>
            <a:endParaRPr lang="en-IN" sz="2000" dirty="0"/>
          </a:p>
          <a:p>
            <a:r>
              <a:rPr lang="en-IN" sz="2000" dirty="0"/>
              <a:t>3. Penetration Testing Tools:</a:t>
            </a:r>
          </a:p>
          <a:p>
            <a:r>
              <a:rPr lang="en-IN" sz="2000" dirty="0"/>
              <a:t>   - </a:t>
            </a:r>
            <a:r>
              <a:rPr lang="en-IN" sz="2000" b="1" dirty="0" err="1"/>
              <a:t>Metasploit</a:t>
            </a:r>
            <a:r>
              <a:rPr lang="en-IN" sz="2000" b="1" dirty="0"/>
              <a:t>, Burp Suite, Nessus, Kali Linux</a:t>
            </a:r>
          </a:p>
          <a:p>
            <a:endParaRPr lang="en-IN" sz="2000" dirty="0"/>
          </a:p>
          <a:p>
            <a:r>
              <a:rPr lang="en-IN" sz="2000" dirty="0"/>
              <a:t>4. Forensics &amp; Investigation Tools:</a:t>
            </a:r>
          </a:p>
          <a:p>
            <a:r>
              <a:rPr lang="en-IN" sz="2000" dirty="0"/>
              <a:t>   - </a:t>
            </a:r>
            <a:r>
              <a:rPr lang="en-IN" sz="2000" b="1" dirty="0"/>
              <a:t>Autopsy, FTK Imager, Volatility</a:t>
            </a:r>
          </a:p>
          <a:p>
            <a:endParaRPr lang="en-IN" sz="2000" dirty="0"/>
          </a:p>
          <a:p>
            <a:r>
              <a:rPr lang="en-IN" sz="2000" dirty="0"/>
              <a:t>5. SIEM Tools:</a:t>
            </a:r>
          </a:p>
          <a:p>
            <a:r>
              <a:rPr lang="en-IN" sz="2000" dirty="0"/>
              <a:t>   - </a:t>
            </a:r>
            <a:r>
              <a:rPr lang="en-IN" sz="2000" b="1" dirty="0" err="1"/>
              <a:t>Splunk</a:t>
            </a:r>
            <a:r>
              <a:rPr lang="en-IN" sz="2000" b="1" dirty="0"/>
              <a:t>, IBM </a:t>
            </a:r>
            <a:r>
              <a:rPr lang="en-IN" sz="2000" b="1" dirty="0" err="1"/>
              <a:t>QRadar</a:t>
            </a:r>
            <a:r>
              <a:rPr lang="en-IN" sz="2000" b="1" dirty="0"/>
              <a:t>, ELK Stack</a:t>
            </a:r>
          </a:p>
        </p:txBody>
      </p:sp>
      <p:sp>
        <p:nvSpPr>
          <p:cNvPr id="2" name="Rectangle 1"/>
          <p:cNvSpPr/>
          <p:nvPr/>
        </p:nvSpPr>
        <p:spPr>
          <a:xfrm>
            <a:off x="1597891" y="1311564"/>
            <a:ext cx="9688945" cy="4978400"/>
          </a:xfrm>
          <a:prstGeom prst="rect">
            <a:avLst/>
          </a:prstGeom>
          <a:noFill/>
          <a:ln w="28575" cap="flat">
            <a:solidFill>
              <a:srgbClr val="FFC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96589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491" y="1634184"/>
            <a:ext cx="10158062" cy="320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Employ advanced tools for robust defense</a:t>
            </a:r>
            <a:r>
              <a:rPr lang="en-US" sz="2400" dirty="0" smtClean="0"/>
              <a:t>:</a:t>
            </a:r>
            <a:endParaRPr lang="en-US" sz="2400" dirty="0"/>
          </a:p>
          <a:p>
            <a:pPr marL="3429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 smtClean="0"/>
              <a:t>Endpoint Detection and Response (EDR)</a:t>
            </a:r>
            <a:r>
              <a:rPr lang="en-US" sz="2000" dirty="0" smtClean="0"/>
              <a:t> identifies and responds to endpoint threats.</a:t>
            </a:r>
          </a:p>
          <a:p>
            <a:pPr marL="3429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 smtClean="0"/>
              <a:t>Vulnerability scanners</a:t>
            </a:r>
            <a:r>
              <a:rPr lang="en-US" sz="2000" dirty="0" smtClean="0"/>
              <a:t> detect system weak points.</a:t>
            </a:r>
          </a:p>
          <a:p>
            <a:pPr marL="3429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 smtClean="0"/>
              <a:t>Encryption tools</a:t>
            </a:r>
            <a:r>
              <a:rPr lang="en-US" sz="2000" dirty="0" smtClean="0"/>
              <a:t> secure sensitive data.</a:t>
            </a:r>
          </a:p>
          <a:p>
            <a:pPr marL="3429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 smtClean="0"/>
              <a:t>Security Information and Event Management (SIEM)</a:t>
            </a:r>
            <a:r>
              <a:rPr lang="en-US" sz="2000" dirty="0" smtClean="0"/>
              <a:t> offers holistic monitoring.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2222844" y="568917"/>
            <a:ext cx="7377597" cy="7528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hangingPunct="1">
              <a:lnSpc>
                <a:spcPts val="5550"/>
              </a:lnSpc>
            </a:pPr>
            <a:r>
              <a:rPr lang="en-US" sz="3600" b="1" kern="1200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Advanced Tools for Proactive Defense</a:t>
            </a:r>
            <a:endParaRPr lang="en-US" sz="3600" b="1" kern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907648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6886" y="744083"/>
            <a:ext cx="11343170" cy="7528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Case Study 1: Colonial Pipeline Ransomware Attack (2021)</a:t>
            </a:r>
            <a:endParaRPr lang="en-US" sz="3600" b="1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366981" y="1496918"/>
            <a:ext cx="872836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Colonial Pipeline attack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disrupted the U.S. fuel supply.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Hackers received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$4.4 million Bitcoin payment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case highlights the importance of: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Multi-Factor Authentication (MFA)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Network segmentation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Take steps now to ensure you are secure.</a:t>
            </a:r>
          </a:p>
        </p:txBody>
      </p:sp>
    </p:spTree>
    <p:extLst>
      <p:ext uri="{BB962C8B-B14F-4D97-AF65-F5344CB8AC3E}">
        <p14:creationId xmlns:p14="http://schemas.microsoft.com/office/powerpoint/2010/main" xmlns="" val="271838752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5855" y="690962"/>
            <a:ext cx="10123053" cy="13747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6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Case Study 2: Email Phishing Against a Fortune 500 Company</a:t>
            </a:r>
            <a:endParaRPr lang="en-US" sz="3600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17522" y="2143403"/>
            <a:ext cx="802655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 attack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led to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$100 million loss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wire fraud.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attack vector involved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deceptive emails impersonating executives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prevent email scams, implement: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 training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SPF, DKIM, and DMARC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email authentication protocols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 rotWithShape="1">
          <a:blip r:embed="rId2"/>
          <a:srcRect t="31305"/>
          <a:stretch/>
        </p:blipFill>
        <p:spPr>
          <a:xfrm>
            <a:off x="9236363" y="1990436"/>
            <a:ext cx="2706255" cy="372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0661289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2618" y="780597"/>
            <a:ext cx="8600247" cy="8104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Case Study 3: Data Breach at Equifax (2017)</a:t>
            </a:r>
            <a:endParaRPr lang="en-US" sz="3600" b="1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45691" y="3067679"/>
            <a:ext cx="473206" cy="560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1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37673" y="1858375"/>
            <a:ext cx="842410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Equifax data breach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compromised personal data of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147 million people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Cause: An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unpatched vulnerability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Struts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software.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case illustrates the critical need for: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Timely software updates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patch management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824" y="2623126"/>
            <a:ext cx="3645157" cy="407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6600861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031" y="884686"/>
            <a:ext cx="11208774" cy="8104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6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Best Practices for Cybersecurity Resilience</a:t>
            </a:r>
            <a:endParaRPr lang="en-US" sz="36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440873" y="1889126"/>
            <a:ext cx="7180171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software updates and patch management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Multi-Factor Authentication (MFA)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employee cybersecurity awareness training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strong, unique passwords and a password manager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 critical data regularly and securely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Utilize firewalls, antivirus, and endpoint protection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regular vulnerability assessments and penetration testing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Enforce least privilege access controls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network segmentation and monitoring tools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 a robust incident response and recovery plan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696" y="1889125"/>
            <a:ext cx="3490304" cy="48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6220092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4515" y="658957"/>
            <a:ext cx="10859730" cy="752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6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Emerging Trends in Cybersecurity Tools</a:t>
            </a:r>
            <a:endParaRPr lang="en-US" sz="36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61167" y="1690255"/>
            <a:ext cx="9901106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Stay ahead with emerging tools. AI-powered threat detection offers predictive analytics. </a:t>
            </a:r>
            <a:endParaRPr lang="en-US" dirty="0" smtClean="0">
              <a:solidFill>
                <a:schemeClr val="tx1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Secure </a:t>
            </a:r>
            <a:r>
              <a:rPr lang="en-US" dirty="0">
                <a:solidFill>
                  <a:schemeClr val="tx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Access Service Edge (SASE) enhances network security. </a:t>
            </a:r>
            <a:endParaRPr lang="en-US" dirty="0" smtClean="0">
              <a:solidFill>
                <a:schemeClr val="tx1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Password less </a:t>
            </a:r>
            <a:r>
              <a:rPr lang="en-US" dirty="0">
                <a:solidFill>
                  <a:schemeClr val="tx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authentication uses biometrics. Cloud-focused tools protect multi-cloud environments.</a:t>
            </a:r>
          </a:p>
          <a:p>
            <a:pPr marL="342900" marR="0" indent="-3429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ea typeface="Tahoma" panose="020B0604030504040204" pitchFamily="34" charset="0"/>
              <a:cs typeface="Tahoma" panose="020B0604030504040204" pitchFamily="34" charset="0"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80" y="3091606"/>
            <a:ext cx="9693480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1917933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094" y="1799578"/>
            <a:ext cx="10081120" cy="25545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213F"/>
                </a:solidFill>
                <a:latin typeface="Arial Nova" panose="020B0504020202020204" pitchFamily="34" charset="0"/>
                <a:ea typeface="Roboto" pitchFamily="34" charset="-122"/>
                <a:cs typeface="Roboto" pitchFamily="34" charset="-120"/>
              </a:rPr>
              <a:t>Cybersecurity is continuous, not a one-time fix. Combine tools, processes, and trained people. </a:t>
            </a:r>
            <a:endParaRPr lang="en-US" sz="2000" b="1" dirty="0" smtClean="0">
              <a:solidFill>
                <a:srgbClr val="15213F"/>
              </a:solidFill>
              <a:latin typeface="Arial Nova" panose="020B0504020202020204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15213F"/>
                </a:solidFill>
                <a:latin typeface="Arial Nova" panose="020B0504020202020204" pitchFamily="34" charset="0"/>
                <a:ea typeface="Roboto" pitchFamily="34" charset="-122"/>
                <a:cs typeface="Roboto" pitchFamily="34" charset="-120"/>
              </a:rPr>
              <a:t>Adopt </a:t>
            </a:r>
            <a:r>
              <a:rPr lang="en-US" sz="2000" b="1" dirty="0">
                <a:solidFill>
                  <a:srgbClr val="15213F"/>
                </a:solidFill>
                <a:latin typeface="Arial Nova" panose="020B0504020202020204" pitchFamily="34" charset="0"/>
                <a:ea typeface="Roboto" pitchFamily="34" charset="-122"/>
                <a:cs typeface="Roboto" pitchFamily="34" charset="-120"/>
              </a:rPr>
              <a:t>new tools, upgrade existing systems, and educate your team to stay ahead.</a:t>
            </a:r>
            <a:endParaRPr lang="en-US" sz="2000" b="1" dirty="0">
              <a:latin typeface="Arial Nova" panose="020B05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36436" y="688233"/>
            <a:ext cx="8848437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Conclusion: Staying Ahead in Cybersecurity</a:t>
            </a:r>
            <a:endParaRPr lang="en-US" sz="3600" b="1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496291" y="5163127"/>
            <a:ext cx="9485745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8674386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552</Words>
  <Application>Microsoft Office PowerPoint</Application>
  <PresentationFormat>Custom</PresentationFormat>
  <Paragraphs>76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22</cp:revision>
  <dcterms:modified xsi:type="dcterms:W3CDTF">2025-04-17T09:22:40Z</dcterms:modified>
</cp:coreProperties>
</file>