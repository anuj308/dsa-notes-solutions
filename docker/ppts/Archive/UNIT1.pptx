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6" r:id="rId3"/>
    <p:sldId id="281" r:id="rId4"/>
    <p:sldId id="280" r:id="rId5"/>
    <p:sldId id="279" r:id="rId6"/>
    <p:sldId id="278" r:id="rId7"/>
    <p:sldId id="293" r:id="rId8"/>
    <p:sldId id="292" r:id="rId9"/>
    <p:sldId id="336" r:id="rId10"/>
    <p:sldId id="337" r:id="rId11"/>
    <p:sldId id="338" r:id="rId12"/>
    <p:sldId id="339" r:id="rId13"/>
    <p:sldId id="340" r:id="rId14"/>
    <p:sldId id="341" r:id="rId15"/>
    <p:sldId id="342" r:id="rId16"/>
    <p:sldId id="343" r:id="rId17"/>
    <p:sldId id="344" r:id="rId18"/>
    <p:sldId id="345" r:id="rId19"/>
    <p:sldId id="346" r:id="rId20"/>
    <p:sldId id="347" r:id="rId21"/>
    <p:sldId id="294" r:id="rId22"/>
    <p:sldId id="348" r:id="rId23"/>
    <p:sldId id="349" r:id="rId24"/>
    <p:sldId id="350" r:id="rId25"/>
    <p:sldId id="295" r:id="rId26"/>
    <p:sldId id="296" r:id="rId27"/>
    <p:sldId id="297" r:id="rId28"/>
    <p:sldId id="299" r:id="rId29"/>
    <p:sldId id="298" r:id="rId30"/>
    <p:sldId id="300" r:id="rId31"/>
    <p:sldId id="301" r:id="rId32"/>
    <p:sldId id="307" r:id="rId33"/>
    <p:sldId id="351" r:id="rId34"/>
    <p:sldId id="352" r:id="rId35"/>
    <p:sldId id="353" r:id="rId36"/>
    <p:sldId id="302" r:id="rId37"/>
    <p:sldId id="303" r:id="rId38"/>
    <p:sldId id="304" r:id="rId39"/>
    <p:sldId id="305" r:id="rId40"/>
    <p:sldId id="306" r:id="rId41"/>
    <p:sldId id="308" r:id="rId42"/>
    <p:sldId id="310" r:id="rId43"/>
    <p:sldId id="309" r:id="rId44"/>
    <p:sldId id="311" r:id="rId45"/>
    <p:sldId id="312" r:id="rId46"/>
    <p:sldId id="313" r:id="rId47"/>
    <p:sldId id="314" r:id="rId48"/>
    <p:sldId id="315" r:id="rId49"/>
    <p:sldId id="317" r:id="rId50"/>
    <p:sldId id="319" r:id="rId52"/>
    <p:sldId id="320" r:id="rId53"/>
    <p:sldId id="318" r:id="rId54"/>
    <p:sldId id="321" r:id="rId55"/>
    <p:sldId id="322" r:id="rId56"/>
    <p:sldId id="277" r:id="rId57"/>
    <p:sldId id="275" r:id="rId58"/>
    <p:sldId id="285" r:id="rId59"/>
    <p:sldId id="287" r:id="rId60"/>
    <p:sldId id="274" r:id="rId61"/>
    <p:sldId id="282" r:id="rId62"/>
    <p:sldId id="284" r:id="rId63"/>
    <p:sldId id="323" r:id="rId64"/>
    <p:sldId id="324"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normAutofit/>
          </a:bodyPr>
          <a:p>
            <a:r>
              <a:rPr lang="en-US" sz="4400"/>
              <a:t>UNIT -1</a:t>
            </a:r>
            <a:r>
              <a:rPr lang="en-US"/>
              <a:t> </a:t>
            </a:r>
            <a:br>
              <a:rPr lang="en-US"/>
            </a:br>
            <a:r>
              <a:rPr lang="en-US"/>
              <a:t>INT 332</a:t>
            </a:r>
            <a:br>
              <a:rPr lang="en-US"/>
            </a:br>
            <a:r>
              <a:rPr lang="en-US" sz="2000"/>
              <a:t>DEVOPS VIRTUALIZATION AND CONFIGURATION MANAGEMENT</a:t>
            </a:r>
            <a:endParaRPr lang="en-US" sz="2000"/>
          </a:p>
        </p:txBody>
      </p:sp>
      <p:sp>
        <p:nvSpPr>
          <p:cNvPr id="3" name="Subtitle 2"/>
          <p:cNvSpPr>
            <a:spLocks noGrp="1"/>
          </p:cNvSpPr>
          <p:nvPr>
            <p:ph type="subTitle" idx="1"/>
          </p:nvPr>
        </p:nvSpPr>
        <p:spPr>
          <a:xfrm>
            <a:off x="7423785" y="4243705"/>
            <a:ext cx="3244215" cy="1346200"/>
          </a:xfrm>
        </p:spPr>
        <p:txBody>
          <a:bodyPr>
            <a:normAutofit/>
          </a:bodyPr>
          <a:p>
            <a:r>
              <a:rPr lang="en-US"/>
              <a:t>By : Divya Thakur</a:t>
            </a:r>
            <a:endParaRPr lang="en-US"/>
          </a:p>
          <a:p>
            <a:r>
              <a:rPr lang="en-US"/>
              <a:t>28300</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20725"/>
          </a:xfrm>
        </p:spPr>
        <p:txBody>
          <a:bodyPr>
            <a:normAutofit fontScale="90000"/>
          </a:bodyPr>
          <a:p>
            <a:r>
              <a:rPr lang="en-US"/>
              <a:t>Syllabus</a:t>
            </a:r>
            <a:endParaRPr lang="en-US"/>
          </a:p>
        </p:txBody>
      </p:sp>
      <p:sp>
        <p:nvSpPr>
          <p:cNvPr id="3" name="Content Placeholder 2"/>
          <p:cNvSpPr>
            <a:spLocks noGrp="1"/>
          </p:cNvSpPr>
          <p:nvPr>
            <p:ph idx="1"/>
          </p:nvPr>
        </p:nvSpPr>
        <p:spPr>
          <a:xfrm>
            <a:off x="838200" y="1256665"/>
            <a:ext cx="10515600" cy="4920615"/>
          </a:xfrm>
        </p:spPr>
        <p:txBody>
          <a:bodyPr>
            <a:normAutofit lnSpcReduction="10000"/>
          </a:bodyPr>
          <a:p>
            <a:r>
              <a:rPr lang="en-US" b="1"/>
              <a:t>Introduction to Docker. :</a:t>
            </a:r>
            <a:endParaRPr lang="en-US" b="1"/>
          </a:p>
          <a:p>
            <a:pPr marL="0" indent="0">
              <a:buNone/>
            </a:pPr>
            <a:r>
              <a:rPr lang="en-US"/>
              <a:t>Introduction to Docker hub</a:t>
            </a:r>
            <a:endParaRPr lang="en-US"/>
          </a:p>
          <a:p>
            <a:pPr marL="0" indent="0">
              <a:buNone/>
            </a:pPr>
            <a:r>
              <a:rPr lang="en-US"/>
              <a:t>Docker Architecture</a:t>
            </a:r>
            <a:endParaRPr lang="en-US"/>
          </a:p>
          <a:p>
            <a:pPr marL="0" indent="0">
              <a:buNone/>
            </a:pPr>
            <a:r>
              <a:rPr lang="en-US"/>
              <a:t>Docker life cycle</a:t>
            </a:r>
            <a:endParaRPr lang="en-US"/>
          </a:p>
          <a:p>
            <a:pPr marL="0" indent="0">
              <a:buNone/>
            </a:pPr>
            <a:r>
              <a:rPr lang="en-US"/>
              <a:t>Concept of Hyper-V</a:t>
            </a:r>
            <a:endParaRPr lang="en-US"/>
          </a:p>
          <a:p>
            <a:pPr marL="0" indent="0">
              <a:buNone/>
            </a:pPr>
            <a:endParaRPr lang="en-US"/>
          </a:p>
          <a:p>
            <a:r>
              <a:rPr lang="en-US" b="1"/>
              <a:t>Installation of Docker. :</a:t>
            </a:r>
            <a:r>
              <a:rPr lang="en-US"/>
              <a:t> </a:t>
            </a:r>
            <a:endParaRPr lang="en-US"/>
          </a:p>
          <a:p>
            <a:pPr marL="0" indent="0">
              <a:buNone/>
            </a:pPr>
            <a:r>
              <a:rPr lang="en-US"/>
              <a:t>Installing Docker on Windows/Linux</a:t>
            </a:r>
            <a:endParaRPr lang="en-US"/>
          </a:p>
          <a:p>
            <a:pPr marL="0" indent="0">
              <a:buNone/>
            </a:pPr>
            <a:r>
              <a:rPr lang="en-US"/>
              <a:t>Concept of Hyper-V</a:t>
            </a:r>
            <a:endParaRPr lang="en-US"/>
          </a:p>
          <a:p>
            <a:pPr marL="0" indent="0">
              <a:buNone/>
            </a:pPr>
            <a:r>
              <a:rPr lang="en-US"/>
              <a:t>Basic Docker commands.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4 at 5.56.41 PM"/>
          <p:cNvPicPr>
            <a:picLocks noChangeAspect="1"/>
          </p:cNvPicPr>
          <p:nvPr/>
        </p:nvPicPr>
        <p:blipFill>
          <a:blip r:embed="rId1"/>
          <a:stretch>
            <a:fillRect/>
          </a:stretch>
        </p:blipFill>
        <p:spPr>
          <a:xfrm>
            <a:off x="837565" y="390525"/>
            <a:ext cx="7951470" cy="37039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12140"/>
          </a:xfrm>
        </p:spPr>
        <p:txBody>
          <a:bodyPr>
            <a:normAutofit fontScale="90000"/>
          </a:bodyPr>
          <a:p>
            <a:r>
              <a:rPr lang="en-US"/>
              <a:t>Need of Docker</a:t>
            </a:r>
            <a:endParaRPr lang="en-US"/>
          </a:p>
        </p:txBody>
      </p:sp>
      <p:pic>
        <p:nvPicPr>
          <p:cNvPr id="4" name="Picture 3" descr="Screenshot 2025-01-14 at 5.58.27 PM"/>
          <p:cNvPicPr>
            <a:picLocks noChangeAspect="1"/>
          </p:cNvPicPr>
          <p:nvPr/>
        </p:nvPicPr>
        <p:blipFill>
          <a:blip r:embed="rId1"/>
          <a:stretch>
            <a:fillRect/>
          </a:stretch>
        </p:blipFill>
        <p:spPr>
          <a:xfrm>
            <a:off x="2407285" y="1096645"/>
            <a:ext cx="6795135" cy="51981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4 at 6.05.12 PM"/>
          <p:cNvPicPr>
            <a:picLocks noChangeAspect="1"/>
          </p:cNvPicPr>
          <p:nvPr/>
        </p:nvPicPr>
        <p:blipFill>
          <a:blip r:embed="rId1"/>
          <a:stretch>
            <a:fillRect/>
          </a:stretch>
        </p:blipFill>
        <p:spPr>
          <a:xfrm>
            <a:off x="1763395" y="777875"/>
            <a:ext cx="8083550" cy="52425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96235" y="2399665"/>
            <a:ext cx="5951220" cy="1325880"/>
          </a:xfrm>
        </p:spPr>
        <p:txBody>
          <a:bodyPr/>
          <a:p>
            <a:r>
              <a:rPr lang="en-US"/>
              <a:t>Architecture of Docker</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p:blipFill>
        <p:spPr>
          <a:xfrm>
            <a:off x="33655" y="109220"/>
            <a:ext cx="12058650" cy="65754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a:t>
            </a:r>
            <a:endParaRPr lang="en-US"/>
          </a:p>
        </p:txBody>
      </p:sp>
      <p:sp>
        <p:nvSpPr>
          <p:cNvPr id="3" name="Content Placeholder 2"/>
          <p:cNvSpPr>
            <a:spLocks noGrp="1"/>
          </p:cNvSpPr>
          <p:nvPr>
            <p:ph idx="1"/>
          </p:nvPr>
        </p:nvSpPr>
        <p:spPr/>
        <p:txBody>
          <a:bodyPr>
            <a:normAutofit fontScale="60000"/>
          </a:bodyPr>
          <a:p>
            <a:r>
              <a:rPr lang="en-US"/>
              <a:t>Docker Client:</a:t>
            </a:r>
            <a:endParaRPr lang="en-US"/>
          </a:p>
          <a:p>
            <a:r>
              <a:rPr lang="en-US"/>
              <a:t>Client (Where commands are executed)</a:t>
            </a:r>
            <a:endParaRPr lang="en-US"/>
          </a:p>
          <a:p>
            <a:endParaRPr lang="en-US"/>
          </a:p>
          <a:p>
            <a:r>
              <a:rPr lang="en-US"/>
              <a:t>On the left side, we see the Docker Client. This is where users interact with Docker using commands.</a:t>
            </a:r>
            <a:endParaRPr lang="en-US"/>
          </a:p>
          <a:p>
            <a:endParaRPr lang="en-US"/>
          </a:p>
          <a:p>
            <a:r>
              <a:rPr lang="en-US"/>
              <a:t>Examples shown in the image:</a:t>
            </a:r>
            <a:endParaRPr lang="en-US"/>
          </a:p>
          <a:p>
            <a:endParaRPr lang="en-US"/>
          </a:p>
          <a:p>
            <a:r>
              <a:rPr lang="en-US"/>
              <a:t>1️ docker run</a:t>
            </a:r>
            <a:endParaRPr lang="en-US"/>
          </a:p>
          <a:p>
            <a:r>
              <a:rPr lang="en-US"/>
              <a:t>Creates and starts a container from an image.</a:t>
            </a:r>
            <a:endParaRPr lang="en-US"/>
          </a:p>
          <a:p>
            <a:endParaRPr lang="en-US"/>
          </a:p>
          <a:p>
            <a:r>
              <a:rPr lang="en-US"/>
              <a:t>If the image is not available locally, Docker pulls it from the registry first. </a:t>
            </a:r>
            <a:endParaRPr lang="en-US"/>
          </a:p>
          <a:p>
            <a:r>
              <a:rPr lang="en-US"/>
              <a:t>docker run nginx</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2...</a:t>
            </a:r>
            <a:endParaRPr lang="en-US"/>
          </a:p>
        </p:txBody>
      </p:sp>
      <p:sp>
        <p:nvSpPr>
          <p:cNvPr id="3" name="Content Placeholder 2"/>
          <p:cNvSpPr>
            <a:spLocks noGrp="1"/>
          </p:cNvSpPr>
          <p:nvPr>
            <p:ph idx="1"/>
          </p:nvPr>
        </p:nvSpPr>
        <p:spPr/>
        <p:txBody>
          <a:bodyPr/>
          <a:p>
            <a:r>
              <a:rPr lang="en-US"/>
              <a:t>docker build</a:t>
            </a:r>
            <a:endParaRPr lang="en-US"/>
          </a:p>
          <a:p>
            <a:endParaRPr lang="en-US"/>
          </a:p>
          <a:p>
            <a:r>
              <a:rPr lang="en-US"/>
              <a:t>Builds a Docker image from a Dockerfile.</a:t>
            </a:r>
            <a:endParaRPr lang="en-US"/>
          </a:p>
          <a:p>
            <a:endParaRPr lang="en-US"/>
          </a:p>
          <a:p>
            <a:r>
              <a:rPr lang="en-US"/>
              <a:t>The built image is stored in the local image repository.</a:t>
            </a:r>
            <a:endParaRPr lang="en-US"/>
          </a:p>
          <a:p>
            <a:endParaRPr lang="en-US"/>
          </a:p>
          <a:p>
            <a:r>
              <a:rPr lang="en-US"/>
              <a:t>Example: docker build -t myapp .</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3</a:t>
            </a:r>
            <a:endParaRPr lang="en-US"/>
          </a:p>
        </p:txBody>
      </p:sp>
      <p:sp>
        <p:nvSpPr>
          <p:cNvPr id="3" name="Content Placeholder 2"/>
          <p:cNvSpPr>
            <a:spLocks noGrp="1"/>
          </p:cNvSpPr>
          <p:nvPr>
            <p:ph idx="1"/>
          </p:nvPr>
        </p:nvSpPr>
        <p:spPr/>
        <p:txBody>
          <a:bodyPr/>
          <a:p>
            <a:r>
              <a:rPr lang="en-US"/>
              <a:t>docker pull</a:t>
            </a:r>
            <a:endParaRPr lang="en-US"/>
          </a:p>
          <a:p>
            <a:endParaRPr lang="en-US"/>
          </a:p>
          <a:p>
            <a:r>
              <a:rPr lang="en-US"/>
              <a:t>Downloads an image from a Docker registry (like Docker Hub).</a:t>
            </a:r>
            <a:endParaRPr lang="en-US"/>
          </a:p>
          <a:p>
            <a:endParaRPr lang="en-US"/>
          </a:p>
          <a:p>
            <a:r>
              <a:rPr lang="en-US"/>
              <a:t>Example: docker pull redis</a:t>
            </a:r>
            <a:endParaRPr lang="en-US"/>
          </a:p>
          <a:p>
            <a:r>
              <a:rPr lang="en-US"/>
              <a:t>All these commands are sent to the Docker daemon.</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4</a:t>
            </a:r>
            <a:endParaRPr lang="en-US"/>
          </a:p>
        </p:txBody>
      </p:sp>
      <p:sp>
        <p:nvSpPr>
          <p:cNvPr id="3" name="Content Placeholder 2"/>
          <p:cNvSpPr>
            <a:spLocks noGrp="1"/>
          </p:cNvSpPr>
          <p:nvPr>
            <p:ph idx="1"/>
          </p:nvPr>
        </p:nvSpPr>
        <p:spPr/>
        <p:txBody>
          <a:bodyPr>
            <a:normAutofit lnSpcReduction="10000"/>
          </a:bodyPr>
          <a:p>
            <a:r>
              <a:rPr lang="en-US"/>
              <a:t>Docker Host (Where Docker actually runs)</a:t>
            </a:r>
            <a:endParaRPr lang="en-US"/>
          </a:p>
          <a:p>
            <a:endParaRPr lang="en-US"/>
          </a:p>
          <a:p>
            <a:r>
              <a:rPr lang="en-US"/>
              <a:t>The Docker Host is the machine where Docker Engine runs.</a:t>
            </a:r>
            <a:endParaRPr lang="en-US"/>
          </a:p>
          <a:p>
            <a:endParaRPr lang="en-US"/>
          </a:p>
          <a:p>
            <a:r>
              <a:rPr lang="en-US"/>
              <a:t>It contains:</a:t>
            </a:r>
            <a:endParaRPr lang="en-US"/>
          </a:p>
          <a:p>
            <a:endParaRPr lang="en-US"/>
          </a:p>
          <a:p>
            <a:r>
              <a:rPr lang="en-US"/>
              <a:t>🧠 Docker Daemon (dockerd)</a:t>
            </a:r>
            <a:endParaRPr lang="en-US"/>
          </a:p>
          <a:p>
            <a:endParaRPr lang="en-US"/>
          </a:p>
          <a:p>
            <a:r>
              <a:rPr lang="en-US"/>
              <a:t>This is the core component.</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5</a:t>
            </a:r>
            <a:endParaRPr lang="en-US"/>
          </a:p>
        </p:txBody>
      </p:sp>
      <p:sp>
        <p:nvSpPr>
          <p:cNvPr id="3" name="Content Placeholder 2"/>
          <p:cNvSpPr>
            <a:spLocks noGrp="1"/>
          </p:cNvSpPr>
          <p:nvPr>
            <p:ph idx="1"/>
          </p:nvPr>
        </p:nvSpPr>
        <p:spPr/>
        <p:txBody>
          <a:bodyPr>
            <a:normAutofit fontScale="90000"/>
          </a:bodyPr>
          <a:p>
            <a:r>
              <a:rPr lang="en-US"/>
              <a:t>Responsibilities:</a:t>
            </a:r>
            <a:endParaRPr lang="en-US"/>
          </a:p>
          <a:p>
            <a:r>
              <a:rPr lang="en-US"/>
              <a:t>Builds images</a:t>
            </a:r>
            <a:endParaRPr lang="en-US"/>
          </a:p>
          <a:p>
            <a:r>
              <a:rPr lang="en-US"/>
              <a:t>Runs containers</a:t>
            </a:r>
            <a:endParaRPr lang="en-US"/>
          </a:p>
          <a:p>
            <a:r>
              <a:rPr lang="en-US"/>
              <a:t>Manages networks</a:t>
            </a:r>
            <a:endParaRPr lang="en-US"/>
          </a:p>
          <a:p>
            <a:r>
              <a:rPr lang="en-US"/>
              <a:t>Manages storage</a:t>
            </a:r>
            <a:endParaRPr lang="en-US"/>
          </a:p>
          <a:p>
            <a:endParaRPr lang="en-US"/>
          </a:p>
          <a:p>
            <a:r>
              <a:rPr lang="en-US"/>
              <a:t>Communicates with registries</a:t>
            </a:r>
            <a:endParaRPr lang="en-US"/>
          </a:p>
          <a:p>
            <a:endParaRPr lang="en-US"/>
          </a:p>
          <a:p>
            <a:r>
              <a:rPr lang="en-US"/>
              <a:t>The client sends commands → Docker daemon executes them.</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6</a:t>
            </a:r>
            <a:endParaRPr lang="en-US"/>
          </a:p>
        </p:txBody>
      </p:sp>
      <p:sp>
        <p:nvSpPr>
          <p:cNvPr id="3" name="Content Placeholder 2"/>
          <p:cNvSpPr>
            <a:spLocks noGrp="1"/>
          </p:cNvSpPr>
          <p:nvPr>
            <p:ph idx="1"/>
          </p:nvPr>
        </p:nvSpPr>
        <p:spPr/>
        <p:txBody>
          <a:bodyPr>
            <a:normAutofit fontScale="60000"/>
          </a:bodyPr>
          <a:p>
            <a:r>
              <a:rPr lang="en-US"/>
              <a:t>Docker Images</a:t>
            </a:r>
            <a:endParaRPr lang="en-US"/>
          </a:p>
          <a:p>
            <a:r>
              <a:rPr lang="en-US"/>
              <a:t>Inside the Docker host we see the Images section.</a:t>
            </a:r>
            <a:endParaRPr lang="en-US"/>
          </a:p>
          <a:p>
            <a:r>
              <a:rPr lang="en-US"/>
              <a:t>Examples shown:</a:t>
            </a:r>
            <a:endParaRPr lang="en-US"/>
          </a:p>
          <a:p>
            <a:r>
              <a:rPr lang="en-US"/>
              <a:t>Python</a:t>
            </a:r>
            <a:endParaRPr lang="en-US"/>
          </a:p>
          <a:p>
            <a:endParaRPr lang="en-US"/>
          </a:p>
          <a:p>
            <a:r>
              <a:rPr lang="en-US"/>
              <a:t>Redis</a:t>
            </a:r>
            <a:endParaRPr lang="en-US"/>
          </a:p>
          <a:p>
            <a:endParaRPr lang="en-US"/>
          </a:p>
          <a:p>
            <a:r>
              <a:rPr lang="en-US"/>
              <a:t>Alpine</a:t>
            </a:r>
            <a:endParaRPr lang="en-US"/>
          </a:p>
          <a:p>
            <a:endParaRPr lang="en-US"/>
          </a:p>
          <a:p>
            <a:r>
              <a:rPr lang="en-US"/>
              <a:t>What is an Image?</a:t>
            </a:r>
            <a:endParaRPr lang="en-US"/>
          </a:p>
          <a:p>
            <a:r>
              <a:rPr lang="en-US"/>
              <a:t>An image is a template used to create containers.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7</a:t>
            </a:r>
            <a:endParaRPr lang="en-US"/>
          </a:p>
        </p:txBody>
      </p:sp>
      <p:sp>
        <p:nvSpPr>
          <p:cNvPr id="3" name="Content Placeholder 2"/>
          <p:cNvSpPr>
            <a:spLocks noGrp="1"/>
          </p:cNvSpPr>
          <p:nvPr>
            <p:ph idx="1"/>
          </p:nvPr>
        </p:nvSpPr>
        <p:spPr/>
        <p:txBody>
          <a:bodyPr>
            <a:normAutofit fontScale="60000"/>
          </a:bodyPr>
          <a:p>
            <a:r>
              <a:rPr lang="en-US"/>
              <a:t>What is an Image?</a:t>
            </a:r>
            <a:endParaRPr lang="en-US"/>
          </a:p>
          <a:p>
            <a:r>
              <a:rPr lang="en-US"/>
              <a:t>An image is a template used to create containers.</a:t>
            </a:r>
            <a:endParaRPr lang="en-US"/>
          </a:p>
          <a:p>
            <a:r>
              <a:rPr lang="en-US"/>
              <a:t>Characteristics:</a:t>
            </a:r>
            <a:endParaRPr lang="en-US"/>
          </a:p>
          <a:p>
            <a:r>
              <a:rPr lang="en-US"/>
              <a:t>Read-only</a:t>
            </a:r>
            <a:endParaRPr lang="en-US"/>
          </a:p>
          <a:p>
            <a:r>
              <a:rPr lang="en-US"/>
              <a:t>Contains application + dependencies</a:t>
            </a:r>
            <a:endParaRPr lang="en-US"/>
          </a:p>
          <a:p>
            <a:r>
              <a:rPr lang="en-US"/>
              <a:t>Can be reused multiple times</a:t>
            </a:r>
            <a:endParaRPr lang="en-US"/>
          </a:p>
          <a:p>
            <a:r>
              <a:rPr lang="en-US"/>
              <a:t>Example:</a:t>
            </a:r>
            <a:endParaRPr lang="en-US"/>
          </a:p>
          <a:p>
            <a:r>
              <a:rPr lang="en-US"/>
              <a:t>An image might contain:</a:t>
            </a:r>
            <a:endParaRPr lang="en-US"/>
          </a:p>
          <a:p>
            <a:r>
              <a:rPr lang="en-US"/>
              <a:t>Python runtime</a:t>
            </a:r>
            <a:endParaRPr lang="en-US"/>
          </a:p>
          <a:p>
            <a:r>
              <a:rPr lang="en-US"/>
              <a:t>Application code</a:t>
            </a:r>
            <a:endParaRPr lang="en-US"/>
          </a:p>
          <a:p>
            <a:r>
              <a:rPr lang="en-US"/>
              <a:t>Libraries</a:t>
            </a:r>
            <a:endParaRPr lang="en-US"/>
          </a:p>
          <a:p>
            <a:r>
              <a:rPr lang="en-US"/>
              <a:t>Environment variables</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8</a:t>
            </a:r>
            <a:endParaRPr lang="en-US"/>
          </a:p>
        </p:txBody>
      </p:sp>
      <p:sp>
        <p:nvSpPr>
          <p:cNvPr id="3" name="Content Placeholder 2"/>
          <p:cNvSpPr>
            <a:spLocks noGrp="1"/>
          </p:cNvSpPr>
          <p:nvPr>
            <p:ph idx="1"/>
          </p:nvPr>
        </p:nvSpPr>
        <p:spPr/>
        <p:txBody>
          <a:bodyPr>
            <a:normAutofit fontScale="50000"/>
          </a:bodyPr>
          <a:p>
            <a:r>
              <a:rPr lang="en-US"/>
              <a:t>Containers</a:t>
            </a:r>
            <a:endParaRPr lang="en-US"/>
          </a:p>
          <a:p>
            <a:r>
              <a:rPr lang="en-US"/>
              <a:t>Containers are running instances of images.</a:t>
            </a:r>
            <a:endParaRPr lang="en-US"/>
          </a:p>
          <a:p>
            <a:r>
              <a:rPr lang="en-US"/>
              <a:t>Example:</a:t>
            </a:r>
            <a:endParaRPr lang="en-US"/>
          </a:p>
          <a:p>
            <a:r>
              <a:rPr lang="en-US"/>
              <a:t>Image → Python App</a:t>
            </a:r>
            <a:endParaRPr lang="en-US"/>
          </a:p>
          <a:p>
            <a:r>
              <a:rPr lang="en-US"/>
              <a:t>Container → Running Python Application</a:t>
            </a:r>
            <a:endParaRPr lang="en-US"/>
          </a:p>
          <a:p>
            <a:r>
              <a:rPr lang="en-US"/>
              <a:t>Multiple containers can be created from one image.</a:t>
            </a:r>
            <a:endParaRPr lang="en-US"/>
          </a:p>
          <a:p>
            <a:endParaRPr lang="en-US"/>
          </a:p>
          <a:p>
            <a:r>
              <a:rPr lang="en-US"/>
              <a:t>Example:</a:t>
            </a:r>
            <a:endParaRPr lang="en-US"/>
          </a:p>
          <a:p>
            <a:endParaRPr lang="en-US"/>
          </a:p>
          <a:p>
            <a:r>
              <a:rPr lang="en-US"/>
              <a:t>Redis Image</a:t>
            </a:r>
            <a:endParaRPr lang="en-US"/>
          </a:p>
          <a:p>
            <a:r>
              <a:rPr lang="en-US"/>
              <a:t>   ├── Container 1</a:t>
            </a:r>
            <a:endParaRPr lang="en-US"/>
          </a:p>
          <a:p>
            <a:r>
              <a:rPr lang="en-US"/>
              <a:t>   ├── Container 2</a:t>
            </a:r>
            <a:endParaRPr lang="en-US"/>
          </a:p>
          <a:p>
            <a:r>
              <a:rPr lang="en-US"/>
              <a:t>   └── Container 3</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9</a:t>
            </a:r>
            <a:endParaRPr lang="en-US"/>
          </a:p>
        </p:txBody>
      </p:sp>
      <p:sp>
        <p:nvSpPr>
          <p:cNvPr id="3" name="Content Placeholder 2"/>
          <p:cNvSpPr>
            <a:spLocks noGrp="1"/>
          </p:cNvSpPr>
          <p:nvPr>
            <p:ph idx="1"/>
          </p:nvPr>
        </p:nvSpPr>
        <p:spPr/>
        <p:txBody>
          <a:bodyPr/>
          <a:p>
            <a:r>
              <a:rPr lang="en-US"/>
              <a:t>Containers are:</a:t>
            </a:r>
            <a:endParaRPr lang="en-US"/>
          </a:p>
          <a:p>
            <a:r>
              <a:rPr lang="en-US"/>
              <a:t>Lightweight</a:t>
            </a:r>
            <a:endParaRPr lang="en-US"/>
          </a:p>
          <a:p>
            <a:r>
              <a:rPr lang="en-US"/>
              <a:t>Isolated</a:t>
            </a:r>
            <a:endParaRPr lang="en-US"/>
          </a:p>
          <a:p>
            <a:r>
              <a:rPr lang="en-US"/>
              <a:t>Fast to start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10</a:t>
            </a:r>
            <a:endParaRPr lang="en-US"/>
          </a:p>
        </p:txBody>
      </p:sp>
      <p:sp>
        <p:nvSpPr>
          <p:cNvPr id="3" name="Content Placeholder 2"/>
          <p:cNvSpPr>
            <a:spLocks noGrp="1"/>
          </p:cNvSpPr>
          <p:nvPr>
            <p:ph idx="1"/>
          </p:nvPr>
        </p:nvSpPr>
        <p:spPr/>
        <p:txBody>
          <a:bodyPr>
            <a:normAutofit fontScale="80000"/>
          </a:bodyPr>
          <a:p>
            <a:r>
              <a:rPr lang="en-US"/>
              <a:t>Registry (Where images are stored)</a:t>
            </a:r>
            <a:endParaRPr lang="en-US"/>
          </a:p>
          <a:p>
            <a:endParaRPr lang="en-US"/>
          </a:p>
          <a:p>
            <a:r>
              <a:rPr lang="en-US"/>
              <a:t>On the right side, we see the Registry.</a:t>
            </a:r>
            <a:endParaRPr lang="en-US"/>
          </a:p>
          <a:p>
            <a:endParaRPr lang="en-US"/>
          </a:p>
          <a:p>
            <a:r>
              <a:rPr lang="en-US"/>
              <a:t>This is where Docker images are stored.</a:t>
            </a:r>
            <a:endParaRPr lang="en-US"/>
          </a:p>
          <a:p>
            <a:endParaRPr lang="en-US"/>
          </a:p>
          <a:p>
            <a:r>
              <a:rPr lang="en-US"/>
              <a:t>Examples shown:</a:t>
            </a:r>
            <a:endParaRPr lang="en-US"/>
          </a:p>
          <a:p>
            <a:r>
              <a:rPr lang="en-US"/>
              <a:t>Nginx</a:t>
            </a:r>
            <a:endParaRPr lang="en-US"/>
          </a:p>
          <a:p>
            <a:r>
              <a:rPr lang="en-US"/>
              <a:t>Ubuntu</a:t>
            </a:r>
            <a:endParaRPr lang="en-US"/>
          </a:p>
          <a:p>
            <a:r>
              <a:rPr lang="en-US"/>
              <a:t>PostgreSQL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11</a:t>
            </a:r>
            <a:endParaRPr lang="en-US"/>
          </a:p>
        </p:txBody>
      </p:sp>
      <p:sp>
        <p:nvSpPr>
          <p:cNvPr id="3" name="Content Placeholder 2"/>
          <p:cNvSpPr>
            <a:spLocks noGrp="1"/>
          </p:cNvSpPr>
          <p:nvPr>
            <p:ph idx="1"/>
          </p:nvPr>
        </p:nvSpPr>
        <p:spPr/>
        <p:txBody>
          <a:bodyPr>
            <a:normAutofit fontScale="60000"/>
          </a:bodyPr>
          <a:p>
            <a:r>
              <a:rPr lang="en-US"/>
              <a:t>The most common registry is:</a:t>
            </a:r>
            <a:endParaRPr lang="en-US"/>
          </a:p>
          <a:p>
            <a:endParaRPr lang="en-US"/>
          </a:p>
          <a:p>
            <a:r>
              <a:rPr lang="en-US"/>
              <a:t>Docker Hub</a:t>
            </a:r>
            <a:endParaRPr lang="en-US"/>
          </a:p>
          <a:p>
            <a:endParaRPr lang="en-US"/>
          </a:p>
          <a:p>
            <a:r>
              <a:rPr lang="en-US"/>
              <a:t>Example:</a:t>
            </a:r>
            <a:endParaRPr lang="en-US"/>
          </a:p>
          <a:p>
            <a:endParaRPr lang="en-US"/>
          </a:p>
          <a:p>
            <a:r>
              <a:rPr lang="en-US"/>
              <a:t>docker pull nginx</a:t>
            </a:r>
            <a:endParaRPr lang="en-US"/>
          </a:p>
          <a:p>
            <a:endParaRPr lang="en-US"/>
          </a:p>
          <a:p>
            <a:r>
              <a:rPr lang="en-US"/>
              <a:t>Flow:</a:t>
            </a:r>
            <a:endParaRPr lang="en-US"/>
          </a:p>
          <a:p>
            <a:endParaRPr lang="en-US"/>
          </a:p>
          <a:p>
            <a:r>
              <a:rPr lang="en-US"/>
              <a:t>Registry → Image → Docker Host → Container</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12</a:t>
            </a:r>
            <a:endParaRPr lang="en-US"/>
          </a:p>
        </p:txBody>
      </p:sp>
      <p:sp>
        <p:nvSpPr>
          <p:cNvPr id="3" name="Content Placeholder 2"/>
          <p:cNvSpPr>
            <a:spLocks noGrp="1"/>
          </p:cNvSpPr>
          <p:nvPr>
            <p:ph idx="1"/>
          </p:nvPr>
        </p:nvSpPr>
        <p:spPr/>
        <p:txBody>
          <a:bodyPr/>
          <a:p>
            <a:endParaRPr lang="en-US"/>
          </a:p>
        </p:txBody>
      </p:sp>
      <p:pic>
        <p:nvPicPr>
          <p:cNvPr id="4" name="Picture 3" descr="ChatGPT Image Mar 4, 2026, 05_12_02 PM"/>
          <p:cNvPicPr>
            <a:picLocks noChangeAspect="1"/>
          </p:cNvPicPr>
          <p:nvPr/>
        </p:nvPicPr>
        <p:blipFill>
          <a:blip r:embed="rId1"/>
          <a:stretch>
            <a:fillRect/>
          </a:stretch>
        </p:blipFill>
        <p:spPr>
          <a:xfrm>
            <a:off x="635000" y="1359535"/>
            <a:ext cx="8526145" cy="52844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965835"/>
            <a:ext cx="10515600" cy="5130165"/>
          </a:xfrm>
        </p:spPr>
        <p:txBody>
          <a:bodyPr>
            <a:normAutofit lnSpcReduction="10000"/>
          </a:bodyPr>
          <a:p>
            <a:r>
              <a:rPr lang="en-US"/>
              <a:t>Docker uses a client-server architecture. </a:t>
            </a:r>
            <a:endParaRPr lang="en-US"/>
          </a:p>
          <a:p>
            <a:r>
              <a:rPr lang="en-US"/>
              <a:t>The Docker client talks to the Docker daemon, which does the heavy lifting of building, running, and distributing your Docker containers.</a:t>
            </a:r>
            <a:endParaRPr lang="en-US"/>
          </a:p>
          <a:p>
            <a:r>
              <a:rPr lang="en-US"/>
              <a:t>The Docker client and daemon communicate using a REST API, over UNIX sockets or a network interface.</a:t>
            </a:r>
            <a:endParaRPr lang="en-US"/>
          </a:p>
          <a:p>
            <a:r>
              <a:rPr lang="en-US"/>
              <a:t>Main Components :</a:t>
            </a:r>
            <a:endParaRPr lang="en-US"/>
          </a:p>
          <a:p>
            <a:pPr lvl="1"/>
            <a:r>
              <a:rPr lang="en-US"/>
              <a:t>The Docker daemon</a:t>
            </a:r>
            <a:endParaRPr lang="en-US"/>
          </a:p>
          <a:p>
            <a:pPr lvl="1"/>
            <a:r>
              <a:rPr lang="en-US"/>
              <a:t>The Docker client</a:t>
            </a:r>
            <a:endParaRPr lang="en-US"/>
          </a:p>
          <a:p>
            <a:pPr lvl="1"/>
            <a:r>
              <a:rPr lang="en-US"/>
              <a:t>Docker Host</a:t>
            </a:r>
            <a:endParaRPr lang="en-US"/>
          </a:p>
          <a:p>
            <a:pPr lvl="1"/>
            <a:r>
              <a:rPr lang="en-US"/>
              <a:t>Docker Desktop</a:t>
            </a:r>
            <a:endParaRPr lang="en-US"/>
          </a:p>
          <a:p>
            <a:pPr lvl="1"/>
            <a:r>
              <a:rPr lang="en-US"/>
              <a:t>Docker registries</a:t>
            </a:r>
            <a:endParaRPr lang="en-US"/>
          </a:p>
          <a:p>
            <a:pPr lvl="1"/>
            <a:r>
              <a:rPr lang="en-US"/>
              <a:t>Docker objects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a:t>
            </a:r>
            <a:endParaRPr lang="en-US"/>
          </a:p>
        </p:txBody>
      </p:sp>
      <p:sp>
        <p:nvSpPr>
          <p:cNvPr id="3" name="Content Placeholder 2"/>
          <p:cNvSpPr>
            <a:spLocks noGrp="1"/>
          </p:cNvSpPr>
          <p:nvPr>
            <p:ph idx="1"/>
          </p:nvPr>
        </p:nvSpPr>
        <p:spPr/>
        <p:txBody>
          <a:bodyPr>
            <a:normAutofit lnSpcReduction="20000"/>
          </a:bodyPr>
          <a:p>
            <a:r>
              <a:rPr lang="en-US"/>
              <a:t>REST API = Representational State Transfer Application Programming Interface</a:t>
            </a:r>
            <a:endParaRPr lang="en-US"/>
          </a:p>
          <a:p>
            <a:endParaRPr lang="en-US"/>
          </a:p>
          <a:p>
            <a:r>
              <a:rPr lang="en-US"/>
              <a:t>📌 Meaning:</a:t>
            </a:r>
            <a:endParaRPr lang="en-US"/>
          </a:p>
          <a:p>
            <a:r>
              <a:rPr lang="en-US"/>
              <a:t>A REST API is a way for applications to communicate over the internet using HTTP methods like:</a:t>
            </a:r>
            <a:endParaRPr lang="en-US"/>
          </a:p>
          <a:p>
            <a:r>
              <a:rPr lang="en-US"/>
              <a:t>GET</a:t>
            </a:r>
            <a:endParaRPr lang="en-US"/>
          </a:p>
          <a:p>
            <a:r>
              <a:rPr lang="en-US"/>
              <a:t>POST</a:t>
            </a:r>
            <a:endParaRPr lang="en-US"/>
          </a:p>
          <a:p>
            <a:r>
              <a:rPr lang="en-US"/>
              <a:t>PUT</a:t>
            </a:r>
            <a:endParaRPr lang="en-US"/>
          </a:p>
          <a:p>
            <a:r>
              <a:rPr lang="en-US"/>
              <a:t>DELETE</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a:t>
            </a:r>
            <a:endParaRPr lang="en-US"/>
          </a:p>
        </p:txBody>
      </p:sp>
      <p:sp>
        <p:nvSpPr>
          <p:cNvPr id="3" name="Content Placeholder 2"/>
          <p:cNvSpPr>
            <a:spLocks noGrp="1"/>
          </p:cNvSpPr>
          <p:nvPr>
            <p:ph idx="1"/>
          </p:nvPr>
        </p:nvSpPr>
        <p:spPr/>
        <p:txBody>
          <a:bodyPr/>
          <a:p>
            <a:r>
              <a:rPr lang="en-US"/>
              <a:t>| HTTP Method | CRUD Operation | Purpose              |</a:t>
            </a:r>
            <a:endParaRPr lang="en-US"/>
          </a:p>
          <a:p>
            <a:r>
              <a:rPr lang="en-US"/>
              <a:t>| ----------- | -------------- | -------------------- |</a:t>
            </a:r>
            <a:endParaRPr lang="en-US"/>
          </a:p>
          <a:p>
            <a:r>
              <a:rPr lang="en-US"/>
              <a:t>| GET         | Read           | Retrieve data        |</a:t>
            </a:r>
            <a:endParaRPr lang="en-US"/>
          </a:p>
          <a:p>
            <a:r>
              <a:rPr lang="en-US"/>
              <a:t>| POST        | Create         | Add new data         |</a:t>
            </a:r>
            <a:endParaRPr lang="en-US"/>
          </a:p>
          <a:p>
            <a:r>
              <a:rPr lang="en-US"/>
              <a:t>| PUT         | Update         | Modify existing data |</a:t>
            </a:r>
            <a:endParaRPr lang="en-US"/>
          </a:p>
          <a:p>
            <a:r>
              <a:rPr lang="en-US"/>
              <a:t>| DELETE      | Delete         | Remove data          |</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a:t>
            </a:r>
            <a:endParaRPr lang="en-US"/>
          </a:p>
        </p:txBody>
      </p:sp>
      <p:sp>
        <p:nvSpPr>
          <p:cNvPr id="3" name="Content Placeholder 2"/>
          <p:cNvSpPr>
            <a:spLocks noGrp="1"/>
          </p:cNvSpPr>
          <p:nvPr>
            <p:ph idx="1"/>
          </p:nvPr>
        </p:nvSpPr>
        <p:spPr/>
        <p:txBody>
          <a:bodyPr/>
          <a:p>
            <a:r>
              <a:rPr lang="en-US"/>
              <a:t>| Action           | HTTP Request        |</a:t>
            </a:r>
            <a:endParaRPr lang="en-US"/>
          </a:p>
          <a:p>
            <a:r>
              <a:rPr lang="en-US"/>
              <a:t>| ---------------- | ------------------- |</a:t>
            </a:r>
            <a:endParaRPr lang="en-US"/>
          </a:p>
          <a:p>
            <a:r>
              <a:rPr lang="en-US"/>
              <a:t>| Get all products | GET /products       |</a:t>
            </a:r>
            <a:endParaRPr lang="en-US"/>
          </a:p>
          <a:p>
            <a:r>
              <a:rPr lang="en-US"/>
              <a:t>| Get one product  | GET /products/1    |</a:t>
            </a:r>
            <a:endParaRPr lang="en-US"/>
          </a:p>
          <a:p>
            <a:r>
              <a:rPr lang="en-US"/>
              <a:t>| Add product      | POST /products      |</a:t>
            </a:r>
            <a:endParaRPr lang="en-US"/>
          </a:p>
          <a:p>
            <a:r>
              <a:rPr lang="en-US"/>
              <a:t>| Update product   | PUT /products/10    |</a:t>
            </a:r>
            <a:endParaRPr lang="en-US"/>
          </a:p>
          <a:p>
            <a:r>
              <a:rPr lang="en-US"/>
              <a:t>| Delete product all   | DELETE /products/all |</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Docker daemon</a:t>
            </a:r>
            <a:endParaRPr lang="en-US"/>
          </a:p>
        </p:txBody>
      </p:sp>
      <p:sp>
        <p:nvSpPr>
          <p:cNvPr id="3" name="Content Placeholder 2"/>
          <p:cNvSpPr>
            <a:spLocks noGrp="1"/>
          </p:cNvSpPr>
          <p:nvPr>
            <p:ph idx="1"/>
          </p:nvPr>
        </p:nvSpPr>
        <p:spPr/>
        <p:txBody>
          <a:bodyPr/>
          <a:p>
            <a:r>
              <a:rPr lang="en-US"/>
              <a:t>The Docker daemon listens for Docker API requests.</a:t>
            </a:r>
            <a:endParaRPr lang="en-US"/>
          </a:p>
          <a:p>
            <a:r>
              <a:rPr lang="en-US"/>
              <a:t>Manages Docker objects such as images, containers, networks, and volumes. </a:t>
            </a:r>
            <a:endParaRPr lang="en-US"/>
          </a:p>
          <a:p>
            <a:r>
              <a:rPr lang="en-US"/>
              <a:t>A daemon can also communicate with other daemons to manage Docker services.</a:t>
            </a:r>
            <a:endParaRPr lang="en-US"/>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Docker client</a:t>
            </a:r>
            <a:endParaRPr lang="en-US"/>
          </a:p>
        </p:txBody>
      </p:sp>
      <p:sp>
        <p:nvSpPr>
          <p:cNvPr id="3" name="Content Placeholder 2"/>
          <p:cNvSpPr>
            <a:spLocks noGrp="1"/>
          </p:cNvSpPr>
          <p:nvPr>
            <p:ph idx="1"/>
          </p:nvPr>
        </p:nvSpPr>
        <p:spPr/>
        <p:txBody>
          <a:bodyPr>
            <a:normAutofit lnSpcReduction="10000"/>
          </a:bodyPr>
          <a:p>
            <a:r>
              <a:rPr lang="en-US"/>
              <a:t>The Docker client is away that many Docker users interact with Docker. </a:t>
            </a:r>
            <a:endParaRPr lang="en-US"/>
          </a:p>
          <a:p>
            <a:r>
              <a:rPr lang="en-US"/>
              <a:t>The docker command uses the Docker API.</a:t>
            </a:r>
            <a:endParaRPr lang="en-US"/>
          </a:p>
          <a:p>
            <a:r>
              <a:rPr lang="en-US"/>
              <a:t>When a docker client runs any docker command on the docker terminal then the terminal sends instructions to the daemon.</a:t>
            </a:r>
            <a:endParaRPr lang="en-US"/>
          </a:p>
          <a:p>
            <a:r>
              <a:rPr lang="en-US"/>
              <a:t>The main objective of the docker client is to provide a way to direct the pull of images from the docker registry and run them on the docker host. </a:t>
            </a:r>
            <a:endParaRPr lang="en-US"/>
          </a:p>
          <a:p>
            <a:r>
              <a:rPr lang="en-US"/>
              <a:t>The common commands which are used by clients are docker build, docker pull, and docker run.</a:t>
            </a:r>
            <a:endParaRPr 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Host</a:t>
            </a:r>
            <a:endParaRPr lang="en-US"/>
          </a:p>
        </p:txBody>
      </p:sp>
      <p:sp>
        <p:nvSpPr>
          <p:cNvPr id="3" name="Content Placeholder 2"/>
          <p:cNvSpPr>
            <a:spLocks noGrp="1"/>
          </p:cNvSpPr>
          <p:nvPr>
            <p:ph idx="1"/>
          </p:nvPr>
        </p:nvSpPr>
        <p:spPr/>
        <p:txBody>
          <a:bodyPr/>
          <a:p>
            <a:r>
              <a:rPr lang="en-US"/>
              <a:t>A Docker host is a type of machine that is responsible for running more than one container. </a:t>
            </a:r>
            <a:endParaRPr lang="en-US"/>
          </a:p>
          <a:p>
            <a:r>
              <a:rPr lang="en-US"/>
              <a:t>It comprises the Docker daemon, Images, Containers, Networks, and Storage.</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Docker Desktop</a:t>
            </a:r>
            <a:endParaRPr lang="en-US"/>
          </a:p>
        </p:txBody>
      </p:sp>
      <p:sp>
        <p:nvSpPr>
          <p:cNvPr id="3" name="Content Placeholder 2"/>
          <p:cNvSpPr>
            <a:spLocks noGrp="1"/>
          </p:cNvSpPr>
          <p:nvPr>
            <p:ph idx="1"/>
          </p:nvPr>
        </p:nvSpPr>
        <p:spPr/>
        <p:txBody>
          <a:bodyPr/>
          <a:p>
            <a:r>
              <a:rPr lang="en-US"/>
              <a:t>Docker Desktop is an easy-to-install application for your Mac, Windows or Linux environment that enables you to build and share containerized applications and microservices. </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registries</a:t>
            </a:r>
            <a:endParaRPr lang="en-US"/>
          </a:p>
        </p:txBody>
      </p:sp>
      <p:sp>
        <p:nvSpPr>
          <p:cNvPr id="3" name="Content Placeholder 2"/>
          <p:cNvSpPr>
            <a:spLocks noGrp="1"/>
          </p:cNvSpPr>
          <p:nvPr>
            <p:ph idx="1"/>
          </p:nvPr>
        </p:nvSpPr>
        <p:spPr>
          <a:xfrm>
            <a:off x="838200" y="1825625"/>
            <a:ext cx="10515600" cy="2983865"/>
          </a:xfrm>
        </p:spPr>
        <p:txBody>
          <a:bodyPr/>
          <a:p>
            <a:r>
              <a:rPr lang="en-US"/>
              <a:t>All the docker images are stored in the docker registry. </a:t>
            </a:r>
            <a:endParaRPr lang="en-US"/>
          </a:p>
          <a:p>
            <a:r>
              <a:rPr lang="en-US"/>
              <a:t>Docker Hub is a public registry that anyone can use.</a:t>
            </a:r>
            <a:endParaRPr lang="en-US"/>
          </a:p>
          <a:p>
            <a:r>
              <a:rPr lang="en-US"/>
              <a:t>Witth docker pull or docker run commands, Docker pulls the required images from your configured registry.</a:t>
            </a:r>
            <a:endParaRPr lang="en-US"/>
          </a:p>
          <a:p>
            <a:r>
              <a:rPr lang="en-US"/>
              <a:t>With docker push command, Docker pushes your image to your configured registry.</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Objects</a:t>
            </a:r>
            <a:endParaRPr lang="en-US"/>
          </a:p>
        </p:txBody>
      </p:sp>
      <p:pic>
        <p:nvPicPr>
          <p:cNvPr id="4" name="Picture 3" descr="Screenshot 2025-01-14 at 11.38.09 PM"/>
          <p:cNvPicPr>
            <a:picLocks noChangeAspect="1"/>
          </p:cNvPicPr>
          <p:nvPr/>
        </p:nvPicPr>
        <p:blipFill>
          <a:blip r:embed="rId1"/>
          <a:stretch>
            <a:fillRect/>
          </a:stretch>
        </p:blipFill>
        <p:spPr>
          <a:xfrm>
            <a:off x="2042795" y="1691005"/>
            <a:ext cx="6938645" cy="42430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37895"/>
          </a:xfrm>
        </p:spPr>
        <p:txBody>
          <a:bodyPr/>
          <a:p>
            <a:r>
              <a:rPr lang="en-US">
                <a:sym typeface="+mn-ea"/>
              </a:rPr>
              <a:t>Docker Storage</a:t>
            </a:r>
            <a:endParaRPr lang="en-US"/>
          </a:p>
        </p:txBody>
      </p:sp>
      <p:sp>
        <p:nvSpPr>
          <p:cNvPr id="3" name="Content Placeholder 2"/>
          <p:cNvSpPr>
            <a:spLocks noGrp="1"/>
          </p:cNvSpPr>
          <p:nvPr>
            <p:ph idx="1"/>
          </p:nvPr>
        </p:nvSpPr>
        <p:spPr>
          <a:xfrm>
            <a:off x="838200" y="1886585"/>
            <a:ext cx="10515600" cy="3721735"/>
          </a:xfrm>
        </p:spPr>
        <p:txBody>
          <a:bodyPr>
            <a:normAutofit lnSpcReduction="10000"/>
          </a:bodyPr>
          <a:p>
            <a:r>
              <a:rPr lang="en-US"/>
              <a:t>We can store data within the writable layer of the container but it requires a storage driver. </a:t>
            </a:r>
            <a:endParaRPr lang="en-US"/>
          </a:p>
          <a:p>
            <a:r>
              <a:rPr lang="en-US"/>
              <a:t>Storage driver controls and manages the images and containers on our docker host. </a:t>
            </a:r>
            <a:endParaRPr lang="en-US"/>
          </a:p>
          <a:p>
            <a:r>
              <a:rPr lang="en-US"/>
              <a:t>Types of Docker Storage :</a:t>
            </a:r>
            <a:endParaRPr lang="en-US"/>
          </a:p>
          <a:p>
            <a:pPr lvl="1"/>
            <a:r>
              <a:rPr lang="en-US"/>
              <a:t>Data Volumes</a:t>
            </a:r>
            <a:endParaRPr lang="en-US"/>
          </a:p>
          <a:p>
            <a:pPr lvl="1"/>
            <a:r>
              <a:rPr lang="en-US"/>
              <a:t>Volume Container</a:t>
            </a:r>
            <a:endParaRPr lang="en-US"/>
          </a:p>
          <a:p>
            <a:pPr lvl="1"/>
            <a:r>
              <a:rPr lang="en-US"/>
              <a:t>Directory Mounts</a:t>
            </a:r>
            <a:endParaRPr lang="en-US"/>
          </a:p>
          <a:p>
            <a:pPr lvl="1"/>
            <a:r>
              <a:rPr lang="en-US"/>
              <a:t>Storage Plugins</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Docker Networking</a:t>
            </a:r>
            <a:endParaRPr lang="en-US"/>
          </a:p>
        </p:txBody>
      </p:sp>
      <p:sp>
        <p:nvSpPr>
          <p:cNvPr id="3" name="Content Placeholder 2"/>
          <p:cNvSpPr>
            <a:spLocks noGrp="1"/>
          </p:cNvSpPr>
          <p:nvPr>
            <p:ph idx="1"/>
          </p:nvPr>
        </p:nvSpPr>
        <p:spPr>
          <a:xfrm>
            <a:off x="838200" y="1945640"/>
            <a:ext cx="10515600" cy="4002405"/>
          </a:xfrm>
        </p:spPr>
        <p:txBody>
          <a:bodyPr>
            <a:normAutofit lnSpcReduction="20000"/>
          </a:bodyPr>
          <a:p>
            <a:r>
              <a:rPr lang="en-US"/>
              <a:t>Docker networking provides complete isolation for docker containers. </a:t>
            </a:r>
            <a:endParaRPr lang="en-US"/>
          </a:p>
          <a:p>
            <a:r>
              <a:rPr lang="en-US"/>
              <a:t>It means a user can link a docker container to many networks.</a:t>
            </a:r>
            <a:endParaRPr lang="en-US"/>
          </a:p>
          <a:p>
            <a:r>
              <a:rPr lang="en-US"/>
              <a:t>Types of Docker Network :</a:t>
            </a:r>
            <a:endParaRPr lang="en-US"/>
          </a:p>
          <a:p>
            <a:r>
              <a:rPr lang="en-US"/>
              <a:t>Bridge </a:t>
            </a:r>
            <a:endParaRPr lang="en-US"/>
          </a:p>
          <a:p>
            <a:r>
              <a:rPr lang="en-US"/>
              <a:t>Host</a:t>
            </a:r>
            <a:endParaRPr lang="en-US"/>
          </a:p>
          <a:p>
            <a:r>
              <a:rPr lang="en-US"/>
              <a:t>Overlay</a:t>
            </a:r>
            <a:endParaRPr lang="en-US"/>
          </a:p>
          <a:p>
            <a:r>
              <a:rPr lang="en-US"/>
              <a:t>None</a:t>
            </a:r>
            <a:endParaRPr lang="en-US"/>
          </a:p>
          <a:p>
            <a:r>
              <a:rPr lang="en-US"/>
              <a:t>macvlan</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3</a:t>
            </a:r>
            <a:endParaRPr lang="en-US"/>
          </a:p>
        </p:txBody>
      </p:sp>
      <p:sp>
        <p:nvSpPr>
          <p:cNvPr id="3" name="Content Placeholder 2"/>
          <p:cNvSpPr>
            <a:spLocks noGrp="1"/>
          </p:cNvSpPr>
          <p:nvPr>
            <p:ph idx="1"/>
          </p:nvPr>
        </p:nvSpPr>
        <p:spPr/>
        <p:txBody>
          <a:bodyPr>
            <a:normAutofit lnSpcReduction="10000"/>
          </a:bodyPr>
          <a:p>
            <a:r>
              <a:rPr lang="en-US"/>
              <a:t>Macvlan = MAC Virtual LAN</a:t>
            </a:r>
            <a:endParaRPr lang="en-US"/>
          </a:p>
          <a:p>
            <a:endParaRPr lang="en-US"/>
          </a:p>
          <a:p>
            <a:r>
              <a:rPr lang="en-US"/>
              <a:t>It is a networking feature in Linux and Docker where:</a:t>
            </a:r>
            <a:endParaRPr lang="en-US"/>
          </a:p>
          <a:p>
            <a:endParaRPr lang="en-US"/>
          </a:p>
          <a:p>
            <a:r>
              <a:rPr lang="en-US"/>
              <a:t>Each container gets its own unique MAC address</a:t>
            </a:r>
            <a:endParaRPr lang="en-US"/>
          </a:p>
          <a:p>
            <a:endParaRPr lang="en-US"/>
          </a:p>
          <a:p>
            <a:r>
              <a:rPr lang="en-US"/>
              <a:t>Each container gets an IP address from the physical network</a:t>
            </a:r>
            <a:endParaRPr lang="en-US"/>
          </a:p>
          <a:p>
            <a:endParaRPr lang="en-US"/>
          </a:p>
          <a:p>
            <a:r>
              <a:rPr lang="en-US"/>
              <a:t>Containers behave like separate physical machines on the LAN</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t>Normally Docker containers run behind NAT (bridge network).</a:t>
            </a:r>
            <a:endParaRPr lang="en-US"/>
          </a:p>
          <a:p>
            <a:endParaRPr lang="en-US"/>
          </a:p>
          <a:p>
            <a:r>
              <a:rPr lang="en-US"/>
              <a:t>Default Docker network:</a:t>
            </a:r>
            <a:endParaRPr lang="en-US"/>
          </a:p>
          <a:p>
            <a:endParaRPr lang="en-US"/>
          </a:p>
          <a:p>
            <a:r>
              <a:rPr lang="en-US"/>
              <a:t>Container → Docker bridge → Host → Network</a:t>
            </a:r>
            <a:endParaRPr lang="en-US"/>
          </a:p>
          <a:p>
            <a:endParaRPr lang="en-US"/>
          </a:p>
          <a:p>
            <a:r>
              <a:rPr lang="en-US"/>
              <a:t>With Macvlan:</a:t>
            </a:r>
            <a:endParaRPr lang="en-US"/>
          </a:p>
          <a:p>
            <a:endParaRPr lang="en-US"/>
          </a:p>
          <a:p>
            <a:r>
              <a:rPr lang="en-US"/>
              <a:t>Container → Directly connected to physical network</a:t>
            </a:r>
            <a:endParaRPr lang="en-US"/>
          </a:p>
          <a:p>
            <a:r>
              <a:rPr lang="en-US"/>
              <a:t>Network Address Translation</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Docker 4</a:t>
            </a:r>
            <a:endParaRPr lang="en-US"/>
          </a:p>
        </p:txBody>
      </p:sp>
      <p:sp>
        <p:nvSpPr>
          <p:cNvPr id="3" name="Content Placeholder 2"/>
          <p:cNvSpPr>
            <a:spLocks noGrp="1"/>
          </p:cNvSpPr>
          <p:nvPr>
            <p:ph idx="1"/>
          </p:nvPr>
        </p:nvSpPr>
        <p:spPr/>
        <p:txBody>
          <a:bodyPr>
            <a:normAutofit fontScale="50000"/>
          </a:bodyPr>
          <a:p>
            <a:r>
              <a:rPr lang="en-US"/>
              <a:t>| Architecture Type                   | Description                                                    | Example                           |</a:t>
            </a:r>
            <a:endParaRPr lang="en-US"/>
          </a:p>
          <a:p>
            <a:r>
              <a:rPr lang="en-US"/>
              <a:t>| ----------------------------------- | -------------------------------------------------------------- | --------------------------------- |</a:t>
            </a:r>
            <a:endParaRPr lang="en-US"/>
          </a:p>
          <a:p>
            <a:r>
              <a:rPr lang="en-US"/>
              <a:t>| Monolithic Architecture             | Entire application is built as a single unit                   | Traditional Java/PHP applications |</a:t>
            </a:r>
            <a:endParaRPr lang="en-US"/>
          </a:p>
          <a:p>
            <a:r>
              <a:rPr lang="en-US"/>
              <a:t>| Microservices Architecture          | Application is divided into small independent services         | Netflix, Amazon                   |</a:t>
            </a:r>
            <a:endParaRPr lang="en-US"/>
          </a:p>
          <a:p>
            <a:r>
              <a:rPr lang="en-US"/>
              <a:t>| Client–Server Architecture          | Client requests services and server provides them              | Web applications                  |</a:t>
            </a:r>
            <a:endParaRPr lang="en-US"/>
          </a:p>
          <a:p>
            <a:r>
              <a:rPr lang="en-US"/>
              <a:t>| Layered Architecture                | Application divided into layers (presentation, business, data) | Enterprise applications           |</a:t>
            </a:r>
            <a:endParaRPr lang="en-US"/>
          </a:p>
          <a:p>
            <a:r>
              <a:rPr lang="en-US"/>
              <a:t>| Event-Driven Architecture           | Services communicate through events/messages                   | Kafka systems                     |</a:t>
            </a:r>
            <a:endParaRPr lang="en-US"/>
          </a:p>
          <a:p>
            <a:r>
              <a:rPr lang="en-US"/>
              <a:t>| Serverless Architecture             | Application runs without managing servers                      | AWS Lambda                        |</a:t>
            </a:r>
            <a:endParaRPr lang="en-US"/>
          </a:p>
          <a:p>
            <a:r>
              <a:rPr lang="en-US"/>
              <a:t>| Peer-to-Peer Architecture           | Devices communicate directly without central server            | BitTorrent                        |</a:t>
            </a:r>
            <a:endParaRPr lang="en-US"/>
          </a:p>
          <a:p>
            <a:r>
              <a:rPr lang="en-US"/>
              <a:t>| Service-Oriented Architecture (SOA) | Services communicate through enterprise service bus            | Enterprise systems                |</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14 at 7.13.44 PM"/>
          <p:cNvPicPr>
            <a:picLocks noChangeAspect="1"/>
          </p:cNvPicPr>
          <p:nvPr/>
        </p:nvPicPr>
        <p:blipFill>
          <a:blip r:embed="rId1"/>
          <a:stretch>
            <a:fillRect/>
          </a:stretch>
        </p:blipFill>
        <p:spPr>
          <a:xfrm>
            <a:off x="1343025" y="1061085"/>
            <a:ext cx="9552305" cy="465010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4 at 7.22.06 PM"/>
          <p:cNvPicPr>
            <a:picLocks noChangeAspect="1"/>
          </p:cNvPicPr>
          <p:nvPr/>
        </p:nvPicPr>
        <p:blipFill>
          <a:blip r:embed="rId1"/>
          <a:stretch>
            <a:fillRect/>
          </a:stretch>
        </p:blipFill>
        <p:spPr>
          <a:xfrm>
            <a:off x="1278890" y="970280"/>
            <a:ext cx="9196705" cy="507555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4 at 7.21.41 PM"/>
          <p:cNvPicPr>
            <a:picLocks noChangeAspect="1"/>
          </p:cNvPicPr>
          <p:nvPr/>
        </p:nvPicPr>
        <p:blipFill>
          <a:blip r:embed="rId1"/>
          <a:stretch>
            <a:fillRect/>
          </a:stretch>
        </p:blipFill>
        <p:spPr>
          <a:xfrm>
            <a:off x="1728470" y="554990"/>
            <a:ext cx="8576945" cy="590486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14 at 7.25.00 PM"/>
          <p:cNvPicPr>
            <a:picLocks noChangeAspect="1"/>
          </p:cNvPicPr>
          <p:nvPr/>
        </p:nvPicPr>
        <p:blipFill>
          <a:blip r:embed="rId1"/>
          <a:stretch>
            <a:fillRect/>
          </a:stretch>
        </p:blipFill>
        <p:spPr>
          <a:xfrm>
            <a:off x="1924685" y="879475"/>
            <a:ext cx="8463915" cy="53543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14 at 7.26.22 PM"/>
          <p:cNvPicPr>
            <a:picLocks noChangeAspect="1"/>
          </p:cNvPicPr>
          <p:nvPr/>
        </p:nvPicPr>
        <p:blipFill>
          <a:blip r:embed="rId1"/>
          <a:stretch>
            <a:fillRect/>
          </a:stretch>
        </p:blipFill>
        <p:spPr>
          <a:xfrm>
            <a:off x="1508760" y="999490"/>
            <a:ext cx="8920480" cy="517271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45490"/>
          </a:xfrm>
        </p:spPr>
        <p:txBody>
          <a:bodyPr/>
          <a:p>
            <a:r>
              <a:rPr lang="en-US" sz="3200"/>
              <a:t>Docker Container Lifecycle Management</a:t>
            </a:r>
            <a:endParaRPr lang="en-US" sz="3200"/>
          </a:p>
        </p:txBody>
      </p:sp>
      <p:sp>
        <p:nvSpPr>
          <p:cNvPr id="3" name="Content Placeholder 2"/>
          <p:cNvSpPr>
            <a:spLocks noGrp="1"/>
          </p:cNvSpPr>
          <p:nvPr>
            <p:ph idx="1"/>
          </p:nvPr>
        </p:nvSpPr>
        <p:spPr>
          <a:xfrm>
            <a:off x="838200" y="1412875"/>
            <a:ext cx="10515600" cy="4764405"/>
          </a:xfrm>
        </p:spPr>
        <p:txBody>
          <a:bodyPr/>
          <a:p>
            <a:r>
              <a:rPr lang="en-US"/>
              <a:t>The lifecycle of a docker container consists of five states:</a:t>
            </a:r>
            <a:endParaRPr lang="en-US"/>
          </a:p>
          <a:p>
            <a:r>
              <a:rPr lang="en-US"/>
              <a:t>Created state</a:t>
            </a:r>
            <a:endParaRPr lang="en-US"/>
          </a:p>
          <a:p>
            <a:r>
              <a:rPr lang="en-US"/>
              <a:t>Running state</a:t>
            </a:r>
            <a:endParaRPr lang="en-US"/>
          </a:p>
          <a:p>
            <a:r>
              <a:rPr lang="en-US"/>
              <a:t>Paused state/unpaused state</a:t>
            </a:r>
            <a:endParaRPr lang="en-US"/>
          </a:p>
          <a:p>
            <a:r>
              <a:rPr lang="en-US"/>
              <a:t>Stopped state</a:t>
            </a:r>
            <a:endParaRPr lang="en-US"/>
          </a:p>
          <a:p>
            <a:r>
              <a:rPr lang="en-US"/>
              <a:t>Killed/Deleted state</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15 at 12.00.50 AM"/>
          <p:cNvPicPr>
            <a:picLocks noChangeAspect="1"/>
          </p:cNvPicPr>
          <p:nvPr/>
        </p:nvPicPr>
        <p:blipFill>
          <a:blip r:embed="rId1"/>
          <a:stretch>
            <a:fillRect/>
          </a:stretch>
        </p:blipFill>
        <p:spPr>
          <a:xfrm>
            <a:off x="1105535" y="803910"/>
            <a:ext cx="10246995" cy="51650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582420"/>
            <a:ext cx="10515600" cy="2828290"/>
          </a:xfrm>
        </p:spPr>
        <p:txBody>
          <a:bodyPr>
            <a:normAutofit lnSpcReduction="20000"/>
          </a:bodyPr>
          <a:p>
            <a:pPr marL="0" indent="0">
              <a:buNone/>
            </a:pPr>
            <a:r>
              <a:rPr lang="en-US" b="1"/>
              <a:t>1. Created state:</a:t>
            </a:r>
            <a:endParaRPr lang="en-US" b="1"/>
          </a:p>
          <a:p>
            <a:pPr lvl="1"/>
            <a:r>
              <a:rPr lang="en-US"/>
              <a:t>Using the </a:t>
            </a:r>
            <a:r>
              <a:rPr lang="en-US" b="1"/>
              <a:t>docker create</a:t>
            </a:r>
            <a:r>
              <a:rPr lang="en-US"/>
              <a:t> command will create a new Docker container with the specified docker image.</a:t>
            </a:r>
            <a:endParaRPr lang="en-US"/>
          </a:p>
          <a:p>
            <a:pPr lvl="1"/>
            <a:r>
              <a:rPr lang="en-US"/>
              <a:t>$ docker create --name &lt;container name&gt; &lt;image name&gt;</a:t>
            </a:r>
            <a:endParaRPr lang="en-US"/>
          </a:p>
          <a:p>
            <a:pPr marL="0" indent="0">
              <a:buNone/>
            </a:pPr>
            <a:r>
              <a:rPr lang="en-US" b="1"/>
              <a:t>  Start Container:</a:t>
            </a:r>
            <a:endParaRPr lang="en-US" b="1"/>
          </a:p>
          <a:p>
            <a:pPr lvl="1"/>
            <a:r>
              <a:rPr lang="en-US"/>
              <a:t>To start a stopped container, we can use the docker start command.</a:t>
            </a:r>
            <a:endParaRPr lang="en-US"/>
          </a:p>
          <a:p>
            <a:pPr lvl="1"/>
            <a:r>
              <a:rPr lang="en-US"/>
              <a:t>$ docker start &lt;container name&gt;</a:t>
            </a:r>
            <a:endParaRPr lang="en-US"/>
          </a:p>
          <a:p>
            <a:pPr marL="0" indent="0">
              <a:buNone/>
            </a:pPr>
            <a:endParaRPr lang="en-US"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353820"/>
            <a:ext cx="10515600" cy="4823460"/>
          </a:xfrm>
        </p:spPr>
        <p:txBody>
          <a:bodyPr>
            <a:normAutofit lnSpcReduction="20000"/>
          </a:bodyPr>
          <a:p>
            <a:pPr marL="0" indent="0">
              <a:buNone/>
            </a:pPr>
            <a:r>
              <a:rPr lang="en-US" sz="2800" b="1">
                <a:sym typeface="+mn-ea"/>
              </a:rPr>
              <a:t>2. Running State:</a:t>
            </a:r>
            <a:endParaRPr lang="en-US" sz="2800" b="1">
              <a:sym typeface="+mn-ea"/>
            </a:endParaRPr>
          </a:p>
          <a:p>
            <a:pPr lvl="1"/>
            <a:r>
              <a:rPr lang="en-US" sz="2800">
                <a:sym typeface="+mn-ea"/>
              </a:rPr>
              <a:t>The docker run command will do the work of both “docker create” and “docker start” command. </a:t>
            </a:r>
            <a:endParaRPr lang="en-US" sz="2800"/>
          </a:p>
          <a:p>
            <a:pPr lvl="1"/>
            <a:r>
              <a:rPr lang="en-US" sz="2800">
                <a:sym typeface="+mn-ea"/>
              </a:rPr>
              <a:t>This command will create a new container and run the image in the newly created container.</a:t>
            </a:r>
            <a:endParaRPr lang="en-US" sz="2800"/>
          </a:p>
          <a:p>
            <a:pPr marL="2286000" lvl="5" indent="457200">
              <a:buNone/>
            </a:pPr>
            <a:r>
              <a:rPr lang="en-US" sz="2800" b="1">
                <a:sym typeface="+mn-ea"/>
              </a:rPr>
              <a:t>docker run &lt;container-id&gt;</a:t>
            </a:r>
            <a:endParaRPr lang="en-US" sz="2800" b="1"/>
          </a:p>
          <a:p>
            <a:pPr marL="3200400" lvl="7" indent="457200">
              <a:buNone/>
            </a:pPr>
            <a:r>
              <a:rPr lang="en-US" sz="2800" b="1">
                <a:sym typeface="+mn-ea"/>
              </a:rPr>
              <a:t>or</a:t>
            </a:r>
            <a:endParaRPr lang="en-US" sz="2800" b="1"/>
          </a:p>
          <a:p>
            <a:pPr marL="2286000" lvl="5" indent="457200">
              <a:buNone/>
            </a:pPr>
            <a:r>
              <a:rPr lang="en-US" sz="2800" b="1">
                <a:sym typeface="+mn-ea"/>
              </a:rPr>
              <a:t>docker run &lt;container-name&gt;</a:t>
            </a:r>
            <a:endParaRPr lang="en-US" sz="2800" b="1">
              <a:sym typeface="+mn-ea"/>
            </a:endParaRPr>
          </a:p>
          <a:p>
            <a:pPr marL="3200400" lvl="7" indent="457200">
              <a:buNone/>
            </a:pPr>
            <a:r>
              <a:rPr lang="en-US" sz="2800" b="1">
                <a:sym typeface="+mn-ea"/>
              </a:rPr>
              <a:t>or</a:t>
            </a:r>
            <a:endParaRPr lang="en-US" sz="2800" b="1">
              <a:sym typeface="+mn-ea"/>
            </a:endParaRPr>
          </a:p>
          <a:p>
            <a:pPr marL="0" lvl="5" indent="457200">
              <a:buNone/>
            </a:pPr>
            <a:r>
              <a:rPr lang="en-US" sz="2800" b="1">
                <a:sym typeface="+mn-ea"/>
              </a:rPr>
              <a:t>$ docker run -it --name &lt;container name&gt; &lt;image name&gt;</a:t>
            </a:r>
            <a:endParaRPr lang="en-US" sz="2800" b="1">
              <a:sym typeface="+mn-ea"/>
            </a:endParaRPr>
          </a:p>
          <a:p>
            <a:pPr marL="0" lvl="5" indent="457200">
              <a:buNone/>
            </a:pPr>
            <a:r>
              <a:rPr lang="en-US" sz="2800" b="1">
                <a:sym typeface="+mn-ea"/>
              </a:rPr>
              <a:t>interactive terminal node</a:t>
            </a:r>
            <a:endParaRPr lang="en-US" sz="2800" b="1"/>
          </a:p>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244600"/>
            <a:ext cx="10515600" cy="4932680"/>
          </a:xfrm>
        </p:spPr>
        <p:txBody>
          <a:bodyPr/>
          <a:p>
            <a:pPr marL="0" indent="0">
              <a:buNone/>
            </a:pPr>
            <a:r>
              <a:rPr lang="en-US" b="1"/>
              <a:t>3. Paused state :</a:t>
            </a:r>
            <a:endParaRPr lang="en-US" b="1"/>
          </a:p>
          <a:p>
            <a:r>
              <a:rPr lang="en-US"/>
              <a:t>The current executing command in the docker container is paused. </a:t>
            </a:r>
            <a:endParaRPr lang="en-US"/>
          </a:p>
          <a:p>
            <a:r>
              <a:rPr lang="en-US"/>
              <a:t>Use the docker pause command to pause a running container.</a:t>
            </a:r>
            <a:endParaRPr lang="en-US"/>
          </a:p>
          <a:p>
            <a:endParaRPr lang="en-US"/>
          </a:p>
          <a:p>
            <a:r>
              <a:rPr lang="en-US" b="1"/>
              <a:t>$docker pause container &lt;container-id or container-name&gt;</a:t>
            </a:r>
            <a:endParaRPr lang="en-US" b="1"/>
          </a:p>
          <a:p>
            <a:endParaRPr lang="en-US" b="1"/>
          </a:p>
          <a:p>
            <a:r>
              <a:rPr lang="en-US" b="1"/>
              <a:t>Note: docker pause pauses all the processes in the container. It sends the SIGSTOP signal to pause the processes in the container.</a:t>
            </a:r>
            <a:endParaRPr lang="en-US" b="1"/>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a:bodyPr>
          <a:p>
            <a:pPr marL="0" indent="0">
              <a:buNone/>
            </a:pPr>
            <a:r>
              <a:rPr lang="en-US" b="1"/>
              <a:t>4. Unpaused state</a:t>
            </a:r>
            <a:endParaRPr lang="en-US" b="1"/>
          </a:p>
          <a:p>
            <a:r>
              <a:rPr lang="en-US"/>
              <a:t>In the unpaused state, the paused container resumes executing the commands once it is unpaused.</a:t>
            </a:r>
            <a:endParaRPr lang="en-US"/>
          </a:p>
          <a:p>
            <a:pPr marL="0" indent="0">
              <a:buNone/>
            </a:pPr>
            <a:endParaRPr lang="en-US">
              <a:sym typeface="+mn-ea"/>
            </a:endParaRPr>
          </a:p>
          <a:p>
            <a:pPr marL="0" indent="457200">
              <a:buNone/>
            </a:pPr>
            <a:r>
              <a:rPr lang="en-US">
                <a:sym typeface="+mn-ea"/>
              </a:rPr>
              <a:t>$docker unpause &lt;container-id or container-name&gt;</a:t>
            </a:r>
            <a:endParaRPr lang="en-US"/>
          </a:p>
          <a:p>
            <a:pPr marL="0" indent="0">
              <a:buNone/>
            </a:pPr>
            <a:endParaRPr lang="en-US"/>
          </a:p>
          <a:p>
            <a:pPr marL="0" indent="0">
              <a:buNone/>
            </a:pPr>
            <a:r>
              <a:rPr lang="en-US"/>
              <a:t>Docker sends the SIGCONT signal to resume the process.</a:t>
            </a:r>
            <a:endParaRPr lang="en-US"/>
          </a:p>
          <a:p>
            <a:pPr marL="0" indent="0">
              <a:buNone/>
            </a:pPr>
            <a:endParaRPr lang="en-US"/>
          </a:p>
          <a:p>
            <a:pPr marL="0" indent="0">
              <a:buNone/>
            </a:pPr>
            <a:endParaRPr lang="en-US"/>
          </a:p>
          <a:p>
            <a:pPr marL="0" indent="0">
              <a:buNone/>
            </a:pPr>
            <a:endParaRPr lang="en-US"/>
          </a:p>
          <a:p>
            <a:pPr marL="0" indent="0">
              <a:buNone/>
            </a:pP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510665"/>
            <a:ext cx="10515600" cy="4666615"/>
          </a:xfrm>
        </p:spPr>
        <p:txBody>
          <a:bodyPr>
            <a:normAutofit/>
          </a:bodyPr>
          <a:p>
            <a:pPr marL="0" indent="0">
              <a:buNone/>
            </a:pPr>
            <a:r>
              <a:rPr lang="en-US" b="1"/>
              <a:t>5. Stopped State:</a:t>
            </a:r>
            <a:endParaRPr lang="en-US" b="1"/>
          </a:p>
          <a:p>
            <a:r>
              <a:rPr lang="en-US"/>
              <a:t>In the stopped state, the container’s main process is shutdown gracefully. </a:t>
            </a:r>
            <a:endParaRPr lang="en-US"/>
          </a:p>
          <a:p>
            <a:r>
              <a:rPr lang="en-US"/>
              <a:t>Docker sends SIGTERM for graceful shutdown</a:t>
            </a:r>
            <a:endParaRPr lang="en-US"/>
          </a:p>
          <a:p>
            <a:pPr marL="457200" lvl="1" indent="457200">
              <a:buNone/>
            </a:pPr>
            <a:endParaRPr lang="en-US"/>
          </a:p>
          <a:p>
            <a:pPr marL="457200" lvl="1" indent="457200">
              <a:buNone/>
            </a:pPr>
            <a:r>
              <a:rPr lang="en-US"/>
              <a:t>$docker stop &lt;container-id or container-name&gt;</a:t>
            </a:r>
            <a:endParaRPr lang="en-US"/>
          </a:p>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b="1"/>
              <a:t>6.Kill State:</a:t>
            </a:r>
            <a:endParaRPr lang="en-US" b="1"/>
          </a:p>
          <a:p>
            <a:r>
              <a:rPr lang="en-US"/>
              <a:t>In the killed state, the container’s main processes are shutdown abruptly. </a:t>
            </a:r>
            <a:endParaRPr lang="en-US"/>
          </a:p>
          <a:p>
            <a:r>
              <a:rPr lang="en-US"/>
              <a:t>Docker sends a SIGKILL signal to kill the container’s main process.</a:t>
            </a:r>
            <a:endParaRPr lang="en-US"/>
          </a:p>
          <a:p>
            <a:pPr marL="457200" lvl="1" indent="457200">
              <a:buNone/>
            </a:pPr>
            <a:r>
              <a:rPr lang="en-US"/>
              <a:t>      </a:t>
            </a:r>
            <a:endParaRPr lang="en-US"/>
          </a:p>
          <a:p>
            <a:pPr marL="457200" lvl="1" indent="457200">
              <a:buNone/>
            </a:pPr>
            <a:r>
              <a:rPr lang="en-US"/>
              <a:t>      </a:t>
            </a:r>
            <a:r>
              <a:rPr lang="en-US" b="1"/>
              <a:t>$docker kill &lt;container-id or container-name&gt;</a:t>
            </a:r>
            <a:endParaRPr lang="en-US" b="1"/>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Concept of Hyper-Visor</a:t>
            </a:r>
            <a:endParaRPr lang="en-US"/>
          </a:p>
        </p:txBody>
      </p:sp>
      <p:sp>
        <p:nvSpPr>
          <p:cNvPr id="3" name="Content Placeholder 2"/>
          <p:cNvSpPr>
            <a:spLocks noGrp="1"/>
          </p:cNvSpPr>
          <p:nvPr>
            <p:ph idx="1"/>
          </p:nvPr>
        </p:nvSpPr>
        <p:spPr/>
        <p:txBody>
          <a:bodyPr/>
          <a:p>
            <a:r>
              <a:rPr lang="en-US"/>
              <a:t>A hypervisor is a system software that acts as an intermediary between computer hardware and virtual machines.</a:t>
            </a:r>
            <a:endParaRPr lang="en-US"/>
          </a:p>
          <a:p>
            <a:r>
              <a:rPr lang="en-US"/>
              <a:t>The hypervisor allocates the resources to VM’s.</a:t>
            </a:r>
            <a:endParaRPr lang="en-US"/>
          </a:p>
          <a:p>
            <a:r>
              <a:rPr lang="en-US"/>
              <a:t>Known as virtual machine manager.</a:t>
            </a:r>
            <a:endParaRPr lang="en-US"/>
          </a:p>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Modules of HV: </a:t>
            </a:r>
            <a:endParaRPr lang="en-US"/>
          </a:p>
        </p:txBody>
      </p:sp>
      <p:pic>
        <p:nvPicPr>
          <p:cNvPr id="5" name="Picture 4" descr="Screenshot 2025-01-15 at 1.34.42 AM"/>
          <p:cNvPicPr>
            <a:picLocks noChangeAspect="1"/>
          </p:cNvPicPr>
          <p:nvPr/>
        </p:nvPicPr>
        <p:blipFill>
          <a:blip r:embed="rId1"/>
          <a:stretch>
            <a:fillRect/>
          </a:stretch>
        </p:blipFill>
        <p:spPr>
          <a:xfrm>
            <a:off x="3619500" y="2049780"/>
            <a:ext cx="4953000" cy="389572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5 at 1.38.56 AM"/>
          <p:cNvPicPr>
            <a:picLocks noChangeAspect="1"/>
          </p:cNvPicPr>
          <p:nvPr/>
        </p:nvPicPr>
        <p:blipFill>
          <a:blip r:embed="rId1"/>
          <a:stretch>
            <a:fillRect/>
          </a:stretch>
        </p:blipFill>
        <p:spPr>
          <a:xfrm>
            <a:off x="2562225" y="123825"/>
            <a:ext cx="7067550" cy="661035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Hypervisors </a:t>
            </a:r>
            <a:endParaRPr lang="en-US"/>
          </a:p>
        </p:txBody>
      </p:sp>
      <p:sp>
        <p:nvSpPr>
          <p:cNvPr id="3" name="Content Placeholder 2"/>
          <p:cNvSpPr>
            <a:spLocks noGrp="1"/>
          </p:cNvSpPr>
          <p:nvPr>
            <p:ph idx="1"/>
          </p:nvPr>
        </p:nvSpPr>
        <p:spPr/>
        <p:txBody>
          <a:bodyPr/>
          <a:p>
            <a:r>
              <a:rPr lang="en-US"/>
              <a:t>Two types:</a:t>
            </a:r>
            <a:endParaRPr lang="en-US"/>
          </a:p>
          <a:p>
            <a:r>
              <a:rPr lang="en-US"/>
              <a:t>Type 1 : bare metal hypervisor</a:t>
            </a:r>
            <a:endParaRPr lang="en-US"/>
          </a:p>
          <a:p>
            <a:pPr marL="914400" lvl="2" indent="457200">
              <a:buNone/>
            </a:pPr>
            <a:r>
              <a:rPr lang="en-US"/>
              <a:t>: Installed and Directly runs on physical host.</a:t>
            </a:r>
            <a:endParaRPr lang="en-US"/>
          </a:p>
          <a:p>
            <a:pPr marL="914400" lvl="2" indent="457200">
              <a:buNone/>
            </a:pPr>
            <a:r>
              <a:rPr lang="en-US"/>
              <a:t>: Direct access to resources.</a:t>
            </a:r>
            <a:endParaRPr lang="en-US"/>
          </a:p>
          <a:p>
            <a:pPr marL="914400" lvl="2" indent="457200">
              <a:buNone/>
            </a:pPr>
            <a:r>
              <a:rPr lang="en-US"/>
              <a:t>:  Eg :VMware ESXi, Citrix Hypervisor and Microsoft Hyper-V      </a:t>
            </a:r>
            <a:endParaRPr lang="en-US"/>
          </a:p>
          <a:p>
            <a:r>
              <a:rPr lang="en-US"/>
              <a:t>Type 2 : hosted or embedded hypervisor</a:t>
            </a:r>
            <a:endParaRPr lang="en-US"/>
          </a:p>
          <a:p>
            <a:pPr marL="914400" lvl="2" indent="457200">
              <a:buNone/>
            </a:pPr>
            <a:r>
              <a:rPr lang="en-US"/>
              <a:t>: Installed and requires an OS to run on a physical host.</a:t>
            </a:r>
            <a:endParaRPr lang="en-US"/>
          </a:p>
          <a:p>
            <a:pPr marL="914400" lvl="2" indent="457200">
              <a:buNone/>
            </a:pPr>
            <a:r>
              <a:rPr lang="en-US"/>
              <a:t>: Indirect access to resources .</a:t>
            </a:r>
            <a:endParaRPr lang="en-US"/>
          </a:p>
          <a:p>
            <a:pPr marL="914400" lvl="2" indent="457200">
              <a:buNone/>
            </a:pPr>
            <a:r>
              <a:rPr lang="en-US"/>
              <a:t>: Eg : VMware Workstation Player, VMware Workstation Pro and VirtualBox</a:t>
            </a:r>
            <a:endParaRPr lang="en-US"/>
          </a:p>
          <a:p>
            <a:endParaRPr lang="en-US"/>
          </a:p>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Hypervisors vs containers </a:t>
            </a:r>
            <a:endParaRPr lang="en-US"/>
          </a:p>
        </p:txBody>
      </p:sp>
      <p:sp>
        <p:nvSpPr>
          <p:cNvPr id="3" name="Content Placeholder 2"/>
          <p:cNvSpPr>
            <a:spLocks noGrp="1"/>
          </p:cNvSpPr>
          <p:nvPr>
            <p:ph idx="1"/>
          </p:nvPr>
        </p:nvSpPr>
        <p:spPr/>
        <p:txBody>
          <a:bodyPr/>
          <a:p>
            <a:r>
              <a:rPr lang="en-US"/>
              <a:t>Hypervisors are used to create and run virtual machines (VMs), which each have their own complete operating systems, securely isolated from the others.</a:t>
            </a:r>
            <a:endParaRPr lang="en-US"/>
          </a:p>
          <a:p>
            <a:pPr marL="3657600" lvl="8" indent="457200">
              <a:buNone/>
            </a:pPr>
            <a:r>
              <a:rPr lang="en-US" sz="3200" b="1"/>
              <a:t>whereas </a:t>
            </a:r>
            <a:endParaRPr lang="en-US" sz="3200" b="1"/>
          </a:p>
          <a:p>
            <a:r>
              <a:rPr lang="en-US"/>
              <a:t>Containers package up just an app and its related services. This makes them more lightweight and portable than VMs, so they are often used for fast and flexible application development and movement.</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5 at 2.01.59 AM"/>
          <p:cNvPicPr>
            <a:picLocks noChangeAspect="1"/>
          </p:cNvPicPr>
          <p:nvPr/>
        </p:nvPicPr>
        <p:blipFill>
          <a:blip r:embed="rId1"/>
          <a:stretch>
            <a:fillRect/>
          </a:stretch>
        </p:blipFill>
        <p:spPr>
          <a:xfrm>
            <a:off x="1689100" y="921385"/>
            <a:ext cx="8522335" cy="54025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14 at 6.10.21 PM"/>
          <p:cNvPicPr>
            <a:picLocks noChangeAspect="1"/>
          </p:cNvPicPr>
          <p:nvPr/>
        </p:nvPicPr>
        <p:blipFill>
          <a:blip r:embed="rId1"/>
          <a:stretch>
            <a:fillRect/>
          </a:stretch>
        </p:blipFill>
        <p:spPr>
          <a:xfrm>
            <a:off x="423545" y="574040"/>
            <a:ext cx="5302250" cy="3214370"/>
          </a:xfrm>
          <a:prstGeom prst="rect">
            <a:avLst/>
          </a:prstGeom>
        </p:spPr>
      </p:pic>
      <p:sp>
        <p:nvSpPr>
          <p:cNvPr id="6" name="Content Placeholder 5"/>
          <p:cNvSpPr>
            <a:spLocks noGrp="1"/>
          </p:cNvSpPr>
          <p:nvPr>
            <p:ph idx="1"/>
          </p:nvPr>
        </p:nvSpPr>
        <p:spPr>
          <a:xfrm>
            <a:off x="838200" y="5131435"/>
            <a:ext cx="10515600" cy="1094740"/>
          </a:xfrm>
        </p:spPr>
        <p:txBody>
          <a:bodyPr/>
          <a:p>
            <a:r>
              <a:rPr lang="en-US">
                <a:sym typeface="+mn-ea"/>
              </a:rPr>
              <a:t> Link for installation : </a:t>
            </a:r>
            <a:endParaRPr lang="en-US">
              <a:sym typeface="+mn-ea"/>
            </a:endParaRPr>
          </a:p>
          <a:p>
            <a:pPr marL="0" indent="0">
              <a:buNone/>
            </a:pPr>
            <a:r>
              <a:rPr lang="en-US">
                <a:sym typeface="+mn-ea"/>
              </a:rPr>
              <a:t>	https://www.docker.com/products/docker-desktop/</a:t>
            </a:r>
            <a:endParaRPr lang="en-US"/>
          </a:p>
          <a:p>
            <a:endParaRPr lang="en-US"/>
          </a:p>
        </p:txBody>
      </p:sp>
      <p:pic>
        <p:nvPicPr>
          <p:cNvPr id="7" name="Picture 6" descr="Screenshot 2025-01-14 at 6.40.08 PM"/>
          <p:cNvPicPr>
            <a:picLocks noChangeAspect="1"/>
          </p:cNvPicPr>
          <p:nvPr/>
        </p:nvPicPr>
        <p:blipFill>
          <a:blip r:embed="rId2"/>
          <a:stretch>
            <a:fillRect/>
          </a:stretch>
        </p:blipFill>
        <p:spPr>
          <a:xfrm>
            <a:off x="5905500" y="574040"/>
            <a:ext cx="5623560" cy="321437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14 at 6.31.34 PM"/>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86790"/>
          </a:xfrm>
        </p:spPr>
        <p:txBody>
          <a:bodyPr>
            <a:normAutofit fontScale="90000"/>
          </a:bodyPr>
          <a:p>
            <a:r>
              <a:rPr lang="en-US"/>
              <a:t>Commands  to check the docker installation</a:t>
            </a:r>
            <a:endParaRPr lang="en-US"/>
          </a:p>
        </p:txBody>
      </p:sp>
      <p:sp>
        <p:nvSpPr>
          <p:cNvPr id="3" name="Content Placeholder 2"/>
          <p:cNvSpPr>
            <a:spLocks noGrp="1"/>
          </p:cNvSpPr>
          <p:nvPr>
            <p:ph idx="1"/>
          </p:nvPr>
        </p:nvSpPr>
        <p:spPr>
          <a:xfrm>
            <a:off x="838200" y="1765935"/>
            <a:ext cx="10515600" cy="4411345"/>
          </a:xfrm>
        </p:spPr>
        <p:txBody>
          <a:bodyPr/>
          <a:p>
            <a:r>
              <a:rPr lang="en-US"/>
              <a:t>To check the installation:</a:t>
            </a:r>
            <a:endParaRPr lang="en-US"/>
          </a:p>
          <a:p>
            <a:pPr marL="0" indent="0">
              <a:buNone/>
            </a:pPr>
            <a:r>
              <a:rPr lang="en-US"/>
              <a:t>                               docker</a:t>
            </a:r>
            <a:endParaRPr lang="en-US"/>
          </a:p>
          <a:p>
            <a:r>
              <a:rPr lang="en-US"/>
              <a:t>To check version :</a:t>
            </a:r>
            <a:endParaRPr lang="en-US"/>
          </a:p>
          <a:p>
            <a:pPr marL="0" indent="457200">
              <a:buNone/>
            </a:pPr>
            <a:r>
              <a:rPr lang="en-US"/>
              <a:t>                         docker -v </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14 at 7.15.20 PM"/>
          <p:cNvPicPr>
            <a:picLocks noChangeAspect="1"/>
          </p:cNvPicPr>
          <p:nvPr/>
        </p:nvPicPr>
        <p:blipFill>
          <a:blip r:embed="rId1"/>
          <a:stretch>
            <a:fillRect/>
          </a:stretch>
        </p:blipFill>
        <p:spPr>
          <a:xfrm>
            <a:off x="-83185" y="0"/>
            <a:ext cx="12275185"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2155"/>
          </a:xfrm>
        </p:spPr>
        <p:txBody>
          <a:bodyPr>
            <a:normAutofit fontScale="90000"/>
          </a:bodyPr>
          <a:p>
            <a:r>
              <a:rPr lang="en-US"/>
              <a:t>The Docker platform</a:t>
            </a:r>
            <a:endParaRPr lang="en-US"/>
          </a:p>
        </p:txBody>
      </p:sp>
      <p:sp>
        <p:nvSpPr>
          <p:cNvPr id="3" name="Content Placeholder 2"/>
          <p:cNvSpPr>
            <a:spLocks noGrp="1"/>
          </p:cNvSpPr>
          <p:nvPr>
            <p:ph idx="1"/>
          </p:nvPr>
        </p:nvSpPr>
        <p:spPr>
          <a:xfrm>
            <a:off x="838200" y="1499235"/>
            <a:ext cx="10515600" cy="4678045"/>
          </a:xfrm>
        </p:spPr>
        <p:txBody>
          <a:bodyPr/>
          <a:p>
            <a:r>
              <a:rPr lang="en-US"/>
              <a:t>Ability to package and run an application in a loosely isolated environment called a container.</a:t>
            </a:r>
            <a:endParaRPr lang="en-US"/>
          </a:p>
          <a:p>
            <a:pPr marL="0" indent="0">
              <a:buNone/>
            </a:pPr>
            <a:endParaRPr lang="en-US"/>
          </a:p>
          <a:p>
            <a:r>
              <a:rPr lang="en-US"/>
              <a:t>The isolation and security lets you run many containers simultaneously on a given host.</a:t>
            </a:r>
            <a:endParaRPr lang="en-US"/>
          </a:p>
          <a:p>
            <a:pPr marL="0" indent="0">
              <a:buNone/>
            </a:pPr>
            <a:endParaRPr lang="en-US"/>
          </a:p>
          <a:p>
            <a:r>
              <a:rPr lang="en-US"/>
              <a:t>Containers are lightweight and contain everything needed to run the application</a:t>
            </a:r>
            <a:endParaRPr lang="en-US"/>
          </a:p>
          <a:p>
            <a:pPr marL="0" indent="0">
              <a:buNone/>
            </a:pP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sz="3200" b="1">
                <a:sym typeface="+mn-ea"/>
              </a:rPr>
              <a:t>Docker provides tooling and a platform to manage the lifecycle of your containers:</a:t>
            </a:r>
            <a:endParaRPr lang="en-US" sz="3200" b="1"/>
          </a:p>
        </p:txBody>
      </p:sp>
      <p:sp>
        <p:nvSpPr>
          <p:cNvPr id="3" name="Content Placeholder 2"/>
          <p:cNvSpPr>
            <a:spLocks noGrp="1"/>
          </p:cNvSpPr>
          <p:nvPr>
            <p:ph idx="1"/>
          </p:nvPr>
        </p:nvSpPr>
        <p:spPr>
          <a:xfrm>
            <a:off x="838200" y="1898015"/>
            <a:ext cx="10515600" cy="4279265"/>
          </a:xfrm>
        </p:spPr>
        <p:txBody>
          <a:bodyPr/>
          <a:p>
            <a:r>
              <a:rPr lang="en-US"/>
              <a:t>Develop your application and its supporting components using containers.</a:t>
            </a:r>
            <a:endParaRPr lang="en-US"/>
          </a:p>
          <a:p>
            <a:r>
              <a:rPr lang="en-US"/>
              <a:t>The container becomes the unit for distributing and testing your application.</a:t>
            </a:r>
            <a:endParaRPr lang="en-US"/>
          </a:p>
          <a:p>
            <a:r>
              <a:rPr lang="en-US"/>
              <a:t>When you're ready, deploy your application into your production environment, as a container or an orchestrated service. </a:t>
            </a:r>
            <a:endParaRPr lang="en-US"/>
          </a:p>
          <a:p>
            <a:r>
              <a:rPr lang="en-US"/>
              <a:t>This works the same whether your production environment is a local data center, a cloud provider, or a hybrid of the two.</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2825"/>
            <a:ext cx="10515600" cy="647700"/>
          </a:xfrm>
        </p:spPr>
        <p:txBody>
          <a:bodyPr>
            <a:normAutofit fontScale="90000"/>
          </a:bodyPr>
          <a:p>
            <a:r>
              <a:rPr lang="en-US"/>
              <a:t>Uses of Docker</a:t>
            </a:r>
            <a:endParaRPr lang="en-US"/>
          </a:p>
        </p:txBody>
      </p:sp>
      <p:sp>
        <p:nvSpPr>
          <p:cNvPr id="3" name="Content Placeholder 2"/>
          <p:cNvSpPr>
            <a:spLocks noGrp="1"/>
          </p:cNvSpPr>
          <p:nvPr>
            <p:ph idx="1"/>
          </p:nvPr>
        </p:nvSpPr>
        <p:spPr>
          <a:xfrm>
            <a:off x="838200" y="2854325"/>
            <a:ext cx="10515600" cy="3322955"/>
          </a:xfrm>
        </p:spPr>
        <p:txBody>
          <a:bodyPr/>
          <a:p>
            <a:r>
              <a:rPr lang="en-US"/>
              <a:t>Fast, consistent delivery of your applications.</a:t>
            </a:r>
            <a:endParaRPr lang="en-US"/>
          </a:p>
          <a:p>
            <a:r>
              <a:rPr lang="en-US"/>
              <a:t>Responsive deployment and scaling</a:t>
            </a:r>
            <a:endParaRPr lang="en-US"/>
          </a:p>
          <a:p>
            <a:r>
              <a:rPr lang="en-US"/>
              <a:t>Running more workloads on the same hardware</a:t>
            </a: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77570"/>
          </a:xfrm>
        </p:spPr>
        <p:txBody>
          <a:bodyPr/>
          <a:p>
            <a:r>
              <a:rPr lang="en-US"/>
              <a:t>Docker Hub:</a:t>
            </a:r>
            <a:endParaRPr lang="en-US"/>
          </a:p>
        </p:txBody>
      </p:sp>
      <p:sp>
        <p:nvSpPr>
          <p:cNvPr id="3" name="Content Placeholder 2"/>
          <p:cNvSpPr>
            <a:spLocks noGrp="1"/>
          </p:cNvSpPr>
          <p:nvPr>
            <p:ph idx="1"/>
          </p:nvPr>
        </p:nvSpPr>
        <p:spPr>
          <a:xfrm>
            <a:off x="838200" y="2273935"/>
            <a:ext cx="10515600" cy="3346450"/>
          </a:xfrm>
        </p:spPr>
        <p:txBody>
          <a:bodyPr/>
          <a:p>
            <a:r>
              <a:rPr lang="en-US"/>
              <a:t>Docker Hub is a repository service and a cloud-based service.</a:t>
            </a:r>
            <a:endParaRPr lang="en-US"/>
          </a:p>
          <a:p>
            <a:r>
              <a:rPr lang="en-US"/>
              <a:t>Manage the sharing and storage of Docker images.</a:t>
            </a:r>
            <a:endParaRPr lang="en-US"/>
          </a:p>
          <a:p>
            <a:r>
              <a:rPr lang="en-US"/>
              <a:t>Contains the Push and Pull process for container images.</a:t>
            </a:r>
            <a:endParaRPr lang="en-US"/>
          </a:p>
          <a:p>
            <a:r>
              <a:rPr lang="en-US"/>
              <a:t>Can push your images as private or public.</a:t>
            </a:r>
            <a:endParaRPr lang="en-US"/>
          </a:p>
          <a:p>
            <a:r>
              <a:rPr lang="en-US"/>
              <a:t>Efficient Image Management</a:t>
            </a:r>
            <a:endParaRPr lang="en-US"/>
          </a:p>
          <a:p>
            <a:endParaRPr lang="en-US"/>
          </a:p>
          <a:p>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17245"/>
          </a:xfrm>
        </p:spPr>
        <p:txBody>
          <a:bodyPr>
            <a:normAutofit/>
          </a:bodyPr>
          <a:p>
            <a:r>
              <a:rPr lang="en-US"/>
              <a:t>Docker hub Working </a:t>
            </a:r>
            <a:endParaRPr lang="en-US"/>
          </a:p>
        </p:txBody>
      </p:sp>
      <p:pic>
        <p:nvPicPr>
          <p:cNvPr id="4" name="Picture 3" descr="Screenshot 2025-01-15 at 2.17.44 AM"/>
          <p:cNvPicPr>
            <a:picLocks noChangeAspect="1"/>
          </p:cNvPicPr>
          <p:nvPr/>
        </p:nvPicPr>
        <p:blipFill>
          <a:blip r:embed="rId1"/>
          <a:stretch>
            <a:fillRect/>
          </a:stretch>
        </p:blipFill>
        <p:spPr>
          <a:xfrm>
            <a:off x="1156970" y="1433195"/>
            <a:ext cx="9585325" cy="51428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11403</Words>
  <Application>WPS Presentation</Application>
  <PresentationFormat>Widescreen</PresentationFormat>
  <Paragraphs>427</Paragraphs>
  <Slides>62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62</vt:i4>
      </vt:variant>
    </vt:vector>
  </HeadingPairs>
  <TitlesOfParts>
    <vt:vector size="74" baseType="lpstr">
      <vt:lpstr>Arial</vt:lpstr>
      <vt:lpstr>SimSun</vt:lpstr>
      <vt:lpstr>Wingdings</vt:lpstr>
      <vt:lpstr>Calibri Light</vt:lpstr>
      <vt:lpstr>Helvetica Neue</vt:lpstr>
      <vt:lpstr>Calibri</vt:lpstr>
      <vt:lpstr>Microsoft YaHei</vt:lpstr>
      <vt:lpstr>汉仪旗黑</vt:lpstr>
      <vt:lpstr>Arial Unicode MS</vt:lpstr>
      <vt:lpstr>Apple Color Emoji</vt:lpstr>
      <vt:lpstr>宋体-简</vt:lpstr>
      <vt:lpstr>Office Theme</vt:lpstr>
      <vt:lpstr>UNIT -1  INT 332 DEVOPS VIRTUALIZATION AND CONFIGURATION MANAGEMENT</vt:lpstr>
      <vt:lpstr>Syllabus</vt:lpstr>
      <vt:lpstr>PowerPoint 演示文稿</vt:lpstr>
      <vt:lpstr>Need of Docker</vt:lpstr>
      <vt:lpstr>PowerPoint 演示文稿</vt:lpstr>
      <vt:lpstr>Architecture of Docker</vt:lpstr>
      <vt:lpstr>PowerPoint 演示文稿</vt:lpstr>
      <vt:lpstr>Docker</vt:lpstr>
      <vt:lpstr>Docker 2...</vt:lpstr>
      <vt:lpstr>Docker 3</vt:lpstr>
      <vt:lpstr>Docker 4</vt:lpstr>
      <vt:lpstr>Docker 5</vt:lpstr>
      <vt:lpstr>Docker 6</vt:lpstr>
      <vt:lpstr>Docker 7</vt:lpstr>
      <vt:lpstr>Docker 8</vt:lpstr>
      <vt:lpstr>Docker 9</vt:lpstr>
      <vt:lpstr>Docker 10</vt:lpstr>
      <vt:lpstr>Docker 11</vt:lpstr>
      <vt:lpstr>Docker 12</vt:lpstr>
      <vt:lpstr>PowerPoint 演示文稿</vt:lpstr>
      <vt:lpstr>1</vt:lpstr>
      <vt:lpstr>2</vt:lpstr>
      <vt:lpstr>3</vt:lpstr>
      <vt:lpstr>The Docker daemon</vt:lpstr>
      <vt:lpstr>The Docker client</vt:lpstr>
      <vt:lpstr>Docker Host</vt:lpstr>
      <vt:lpstr>Docker Desktop</vt:lpstr>
      <vt:lpstr>Docker registries</vt:lpstr>
      <vt:lpstr>Docker Objects</vt:lpstr>
      <vt:lpstr>Docker Storage</vt:lpstr>
      <vt:lpstr>Docker Networking</vt:lpstr>
      <vt:lpstr>Docker 3</vt:lpstr>
      <vt:lpstr>PowerPoint 演示文稿</vt:lpstr>
      <vt:lpstr>Docker 4</vt:lpstr>
      <vt:lpstr>PowerPoint 演示文稿</vt:lpstr>
      <vt:lpstr>PowerPoint 演示文稿</vt:lpstr>
      <vt:lpstr>PowerPoint 演示文稿</vt:lpstr>
      <vt:lpstr>PowerPoint 演示文稿</vt:lpstr>
      <vt:lpstr>PowerPoint 演示文稿</vt:lpstr>
      <vt:lpstr>Docker Container Lifecycle Management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Concept of Hyper-Visor</vt:lpstr>
      <vt:lpstr>Modules of HV: </vt:lpstr>
      <vt:lpstr>PowerPoint 演示文稿</vt:lpstr>
      <vt:lpstr>Types of Hypervisors </vt:lpstr>
      <vt:lpstr>Hypervisors vs containers </vt:lpstr>
      <vt:lpstr>PowerPoint 演示文稿</vt:lpstr>
      <vt:lpstr>PowerPoint 演示文稿</vt:lpstr>
      <vt:lpstr>PowerPoint 演示文稿</vt:lpstr>
      <vt:lpstr>Commands  to check the docker installation</vt:lpstr>
      <vt:lpstr>PowerPoint 演示文稿</vt:lpstr>
      <vt:lpstr>The Docker platform</vt:lpstr>
      <vt:lpstr>Docker provides tooling and a platform to manage the lifecycle of your containers:</vt:lpstr>
      <vt:lpstr>Uses of Docker</vt:lpstr>
      <vt:lpstr>Docker Hub:</vt:lpstr>
      <vt:lpstr>Docker hub Working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INT 332 DEVOPS VIRTUALIZATION AND CONFIGURATION MANAGEMENT</dc:title>
  <dc:creator>divya</dc:creator>
  <cp:lastModifiedBy>tiyassarkar</cp:lastModifiedBy>
  <cp:revision>30</cp:revision>
  <dcterms:created xsi:type="dcterms:W3CDTF">2026-03-10T02:15:17Z</dcterms:created>
  <dcterms:modified xsi:type="dcterms:W3CDTF">2026-03-10T02:15:17Z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718E3E6CB557BC8BB5418667F4F5E088_41</vt:lpwstr>
  </property>
  <property fmtid="{D5CDD505-2E9C-101B-9397-08002B2CF9AE}" pid="3" name="KSOProductBuildVer">
    <vt:lpwstr>1033-5.0.0.7908</vt:lpwstr>
  </property>
</Properties>
</file>