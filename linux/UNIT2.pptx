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4029" r:id="rId2"/>
    <p:sldId id="4030" r:id="rId3"/>
    <p:sldId id="4056" r:id="rId4"/>
    <p:sldId id="4094" r:id="rId5"/>
    <p:sldId id="4095" r:id="rId6"/>
    <p:sldId id="4096" r:id="rId7"/>
    <p:sldId id="4097" r:id="rId8"/>
    <p:sldId id="4098" r:id="rId9"/>
    <p:sldId id="4099" r:id="rId10"/>
    <p:sldId id="4100" r:id="rId11"/>
    <p:sldId id="4101" r:id="rId12"/>
    <p:sldId id="4102" r:id="rId13"/>
    <p:sldId id="4103" r:id="rId14"/>
    <p:sldId id="4104" r:id="rId15"/>
    <p:sldId id="4105" r:id="rId16"/>
    <p:sldId id="4106" r:id="rId17"/>
    <p:sldId id="4107" r:id="rId18"/>
    <p:sldId id="4108" r:id="rId19"/>
    <p:sldId id="4110" r:id="rId20"/>
    <p:sldId id="4111" r:id="rId21"/>
    <p:sldId id="4112" r:id="rId22"/>
    <p:sldId id="4113" r:id="rId23"/>
    <p:sldId id="4114" r:id="rId24"/>
    <p:sldId id="4115" r:id="rId25"/>
    <p:sldId id="4116" r:id="rId26"/>
    <p:sldId id="4120" r:id="rId27"/>
    <p:sldId id="4121" r:id="rId28"/>
    <p:sldId id="4117" r:id="rId29"/>
    <p:sldId id="4118" r:id="rId30"/>
    <p:sldId id="411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03BD"/>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34659-0ED1-4E51-86A0-9BBF4E66109E}" type="datetimeFigureOut">
              <a:rPr lang="en-US" smtClean="0"/>
              <a:t>8/11/2026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35501-1542-45B6-9AF4-9929E24FB64D}" type="slidenum">
              <a:rPr lang="en-US" smtClean="0"/>
              <a:t>‹#›</a:t>
            </a:fld>
            <a:endParaRPr lang="en-US"/>
          </a:p>
        </p:txBody>
      </p:sp>
    </p:spTree>
    <p:extLst>
      <p:ext uri="{BB962C8B-B14F-4D97-AF65-F5344CB8AC3E}">
        <p14:creationId xmlns:p14="http://schemas.microsoft.com/office/powerpoint/2010/main" val="360957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454A-B50B-99CF-5F2C-9914471B25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E906C5-4742-264F-78E1-18B014E03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A54A67-BCE4-0B38-9F85-498463408FE3}"/>
              </a:ext>
            </a:extLst>
          </p:cNvPr>
          <p:cNvSpPr>
            <a:spLocks noGrp="1"/>
          </p:cNvSpPr>
          <p:nvPr>
            <p:ph type="dt" sz="half" idx="10"/>
          </p:nvPr>
        </p:nvSpPr>
        <p:spPr/>
        <p:txBody>
          <a:bodyPr/>
          <a:lstStyle/>
          <a:p>
            <a:fld id="{DA35C035-66C3-4887-AFB5-741198C05989}" type="datetime1">
              <a:rPr lang="en-IN" smtClean="0"/>
              <a:t>11-08-2026</a:t>
            </a:fld>
            <a:endParaRPr lang="en-IN"/>
          </a:p>
        </p:txBody>
      </p:sp>
      <p:sp>
        <p:nvSpPr>
          <p:cNvPr id="5" name="Footer Placeholder 4">
            <a:extLst>
              <a:ext uri="{FF2B5EF4-FFF2-40B4-BE49-F238E27FC236}">
                <a16:creationId xmlns:a16="http://schemas.microsoft.com/office/drawing/2014/main" id="{77E1F8AC-443C-1ECA-AB44-6EBF6FD03635}"/>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72ADF0F3-AEC5-C9B9-7171-1B6A033D088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674846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43DA-CBC5-58B5-65B8-9D38B353F9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6B5CF5-59AF-DD83-C89A-DF31B5195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84E04A-0F9D-BFA3-1170-4193E83A918B}"/>
              </a:ext>
            </a:extLst>
          </p:cNvPr>
          <p:cNvSpPr>
            <a:spLocks noGrp="1"/>
          </p:cNvSpPr>
          <p:nvPr>
            <p:ph type="dt" sz="half" idx="10"/>
          </p:nvPr>
        </p:nvSpPr>
        <p:spPr/>
        <p:txBody>
          <a:bodyPr/>
          <a:lstStyle/>
          <a:p>
            <a:fld id="{21A5DD95-F8C8-4514-86FA-F689F6E88E95}" type="datetime1">
              <a:rPr lang="en-IN" smtClean="0"/>
              <a:t>11-08-2026</a:t>
            </a:fld>
            <a:endParaRPr lang="en-IN"/>
          </a:p>
        </p:txBody>
      </p:sp>
      <p:sp>
        <p:nvSpPr>
          <p:cNvPr id="5" name="Footer Placeholder 4">
            <a:extLst>
              <a:ext uri="{FF2B5EF4-FFF2-40B4-BE49-F238E27FC236}">
                <a16:creationId xmlns:a16="http://schemas.microsoft.com/office/drawing/2014/main" id="{D9E989B7-C73D-98DA-3AF0-70E1DF6AB947}"/>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0EC4C7C3-2C9F-8A2C-CC92-9224B93D4E61}"/>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245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F116C-C79E-55DD-9F00-FFDBCF607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4E630C-B948-FAC9-6274-CA2DCE44C2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03E107-FDF9-7A65-56F5-E97F0661FA39}"/>
              </a:ext>
            </a:extLst>
          </p:cNvPr>
          <p:cNvSpPr>
            <a:spLocks noGrp="1"/>
          </p:cNvSpPr>
          <p:nvPr>
            <p:ph type="dt" sz="half" idx="10"/>
          </p:nvPr>
        </p:nvSpPr>
        <p:spPr/>
        <p:txBody>
          <a:bodyPr/>
          <a:lstStyle/>
          <a:p>
            <a:fld id="{ECF81670-6007-4C62-8F59-41E1CC4F9BDC}" type="datetime1">
              <a:rPr lang="en-IN" smtClean="0"/>
              <a:t>11-08-2026</a:t>
            </a:fld>
            <a:endParaRPr lang="en-IN"/>
          </a:p>
        </p:txBody>
      </p:sp>
      <p:sp>
        <p:nvSpPr>
          <p:cNvPr id="5" name="Footer Placeholder 4">
            <a:extLst>
              <a:ext uri="{FF2B5EF4-FFF2-40B4-BE49-F238E27FC236}">
                <a16:creationId xmlns:a16="http://schemas.microsoft.com/office/drawing/2014/main" id="{3B65382A-4979-C9DC-A38D-71EEC2F21C7D}"/>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4354B501-66BB-E071-2D45-786A50329E6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750733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DFD8-0D14-BAF4-B9E1-9E8435A7ED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64BAE9-DB1F-171F-6D48-3F467841FF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8CAD39-A292-B30E-5E61-53E6C13EC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CF5A39-F187-8FE8-5DEB-F71006593467}"/>
              </a:ext>
            </a:extLst>
          </p:cNvPr>
          <p:cNvSpPr>
            <a:spLocks noGrp="1"/>
          </p:cNvSpPr>
          <p:nvPr>
            <p:ph type="dt" sz="half" idx="10"/>
          </p:nvPr>
        </p:nvSpPr>
        <p:spPr/>
        <p:txBody>
          <a:bodyPr/>
          <a:lstStyle/>
          <a:p>
            <a:fld id="{3A0E668A-9FCB-47AB-ACD6-07FD44555D1C}" type="datetime1">
              <a:rPr lang="en-IN" smtClean="0"/>
              <a:t>11-08-2026</a:t>
            </a:fld>
            <a:endParaRPr lang="en-IN"/>
          </a:p>
        </p:txBody>
      </p:sp>
      <p:sp>
        <p:nvSpPr>
          <p:cNvPr id="6" name="Footer Placeholder 5">
            <a:extLst>
              <a:ext uri="{FF2B5EF4-FFF2-40B4-BE49-F238E27FC236}">
                <a16:creationId xmlns:a16="http://schemas.microsoft.com/office/drawing/2014/main" id="{36E0DC70-1010-1A04-FE7B-7DB3E6713E45}"/>
              </a:ext>
            </a:extLst>
          </p:cNvPr>
          <p:cNvSpPr>
            <a:spLocks noGrp="1"/>
          </p:cNvSpPr>
          <p:nvPr>
            <p:ph type="ftr" sz="quarter" idx="11"/>
          </p:nvPr>
        </p:nvSpPr>
        <p:spPr/>
        <p:txBody>
          <a:bodyPr/>
          <a:lstStyle/>
          <a:p>
            <a:r>
              <a:rPr lang="en-IN"/>
              <a:t>1/15</a:t>
            </a:r>
          </a:p>
        </p:txBody>
      </p:sp>
      <p:sp>
        <p:nvSpPr>
          <p:cNvPr id="7" name="Slide Number Placeholder 6">
            <a:extLst>
              <a:ext uri="{FF2B5EF4-FFF2-40B4-BE49-F238E27FC236}">
                <a16:creationId xmlns:a16="http://schemas.microsoft.com/office/drawing/2014/main" id="{3AE68834-3EFD-4C90-DC78-7AB1AA3B02EE}"/>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582013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3B6E-AAAA-C190-F84C-C7A9E54BFE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9E850B-3436-7B73-9CAF-6857749DD1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440929-494D-74D0-7921-2D938A372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3974FE-72C9-137E-0265-73F50D8D7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C57EA2-CA11-4B56-861E-239081BE50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3161D1-E209-E17B-7F43-1EA7214E3B65}"/>
              </a:ext>
            </a:extLst>
          </p:cNvPr>
          <p:cNvSpPr>
            <a:spLocks noGrp="1"/>
          </p:cNvSpPr>
          <p:nvPr>
            <p:ph type="dt" sz="half" idx="10"/>
          </p:nvPr>
        </p:nvSpPr>
        <p:spPr/>
        <p:txBody>
          <a:bodyPr/>
          <a:lstStyle/>
          <a:p>
            <a:fld id="{53EC513F-6A83-4B3A-BB09-049F4E61F634}" type="datetime1">
              <a:rPr lang="en-IN" smtClean="0"/>
              <a:t>11-08-2026</a:t>
            </a:fld>
            <a:endParaRPr lang="en-IN"/>
          </a:p>
        </p:txBody>
      </p:sp>
      <p:sp>
        <p:nvSpPr>
          <p:cNvPr id="8" name="Footer Placeholder 7">
            <a:extLst>
              <a:ext uri="{FF2B5EF4-FFF2-40B4-BE49-F238E27FC236}">
                <a16:creationId xmlns:a16="http://schemas.microsoft.com/office/drawing/2014/main" id="{053D1B75-14EF-E88A-5B4F-ECF203D09371}"/>
              </a:ext>
            </a:extLst>
          </p:cNvPr>
          <p:cNvSpPr>
            <a:spLocks noGrp="1"/>
          </p:cNvSpPr>
          <p:nvPr>
            <p:ph type="ftr" sz="quarter" idx="11"/>
          </p:nvPr>
        </p:nvSpPr>
        <p:spPr/>
        <p:txBody>
          <a:bodyPr/>
          <a:lstStyle/>
          <a:p>
            <a:r>
              <a:rPr lang="en-IN"/>
              <a:t>1/15</a:t>
            </a:r>
          </a:p>
        </p:txBody>
      </p:sp>
      <p:sp>
        <p:nvSpPr>
          <p:cNvPr id="9" name="Slide Number Placeholder 8">
            <a:extLst>
              <a:ext uri="{FF2B5EF4-FFF2-40B4-BE49-F238E27FC236}">
                <a16:creationId xmlns:a16="http://schemas.microsoft.com/office/drawing/2014/main" id="{079406F7-C76D-E3CE-11A0-2DF7C798A3C0}"/>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582817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6511-9AF4-26A2-B0E0-2904E16E7D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C37283-2B3B-38B3-2541-367195BBA1C2}"/>
              </a:ext>
            </a:extLst>
          </p:cNvPr>
          <p:cNvSpPr>
            <a:spLocks noGrp="1"/>
          </p:cNvSpPr>
          <p:nvPr>
            <p:ph type="dt" sz="half" idx="10"/>
          </p:nvPr>
        </p:nvSpPr>
        <p:spPr/>
        <p:txBody>
          <a:bodyPr/>
          <a:lstStyle/>
          <a:p>
            <a:fld id="{E799FEFD-3C69-4305-A7B6-834AA69834DB}" type="datetime1">
              <a:rPr lang="en-IN" smtClean="0"/>
              <a:t>11-08-2026</a:t>
            </a:fld>
            <a:endParaRPr lang="en-IN"/>
          </a:p>
        </p:txBody>
      </p:sp>
      <p:sp>
        <p:nvSpPr>
          <p:cNvPr id="4" name="Footer Placeholder 3">
            <a:extLst>
              <a:ext uri="{FF2B5EF4-FFF2-40B4-BE49-F238E27FC236}">
                <a16:creationId xmlns:a16="http://schemas.microsoft.com/office/drawing/2014/main" id="{361109F2-D873-FF79-0EAD-7BB606B35B12}"/>
              </a:ext>
            </a:extLst>
          </p:cNvPr>
          <p:cNvSpPr>
            <a:spLocks noGrp="1"/>
          </p:cNvSpPr>
          <p:nvPr>
            <p:ph type="ftr" sz="quarter" idx="11"/>
          </p:nvPr>
        </p:nvSpPr>
        <p:spPr/>
        <p:txBody>
          <a:bodyPr/>
          <a:lstStyle/>
          <a:p>
            <a:r>
              <a:rPr lang="en-IN"/>
              <a:t>1/15</a:t>
            </a:r>
          </a:p>
        </p:txBody>
      </p:sp>
      <p:sp>
        <p:nvSpPr>
          <p:cNvPr id="5" name="Slide Number Placeholder 4">
            <a:extLst>
              <a:ext uri="{FF2B5EF4-FFF2-40B4-BE49-F238E27FC236}">
                <a16:creationId xmlns:a16="http://schemas.microsoft.com/office/drawing/2014/main" id="{8E1DAC8C-10EC-B45D-546A-403F5F417D47}"/>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182505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1B28-282D-9541-5396-99E0DEE598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9FACF6-3696-BA79-A674-7B2FB7D6C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8AE520-B0BD-9957-B156-89F4DEFC7A44}"/>
              </a:ext>
            </a:extLst>
          </p:cNvPr>
          <p:cNvSpPr>
            <a:spLocks noGrp="1"/>
          </p:cNvSpPr>
          <p:nvPr>
            <p:ph type="dt" sz="half" idx="10"/>
          </p:nvPr>
        </p:nvSpPr>
        <p:spPr/>
        <p:txBody>
          <a:bodyPr/>
          <a:lstStyle/>
          <a:p>
            <a:fld id="{78CAC8DF-4781-438A-A2D9-AAF8FD8F57EF}" type="datetime1">
              <a:rPr lang="en-IN" smtClean="0"/>
              <a:t>11-08-2026</a:t>
            </a:fld>
            <a:endParaRPr lang="en-IN"/>
          </a:p>
        </p:txBody>
      </p:sp>
      <p:sp>
        <p:nvSpPr>
          <p:cNvPr id="5" name="Footer Placeholder 4">
            <a:extLst>
              <a:ext uri="{FF2B5EF4-FFF2-40B4-BE49-F238E27FC236}">
                <a16:creationId xmlns:a16="http://schemas.microsoft.com/office/drawing/2014/main" id="{E78C5B5D-0A2A-D9E7-19E8-E963CF0D8E6F}"/>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F7985D3D-8D58-9A45-B29D-22587F406C0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6355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B756CC-275B-5F05-BC12-BB1376D4041B}"/>
              </a:ext>
            </a:extLst>
          </p:cNvPr>
          <p:cNvSpPr>
            <a:spLocks noGrp="1"/>
          </p:cNvSpPr>
          <p:nvPr>
            <p:ph type="dt" sz="half" idx="10"/>
          </p:nvPr>
        </p:nvSpPr>
        <p:spPr/>
        <p:txBody>
          <a:bodyPr/>
          <a:lstStyle/>
          <a:p>
            <a:fld id="{2D72B8A8-40AC-4BD4-B073-C21DF81FB59C}" type="datetime1">
              <a:rPr lang="en-IN" smtClean="0"/>
              <a:t>11-08-2026</a:t>
            </a:fld>
            <a:endParaRPr lang="en-IN"/>
          </a:p>
        </p:txBody>
      </p:sp>
      <p:sp>
        <p:nvSpPr>
          <p:cNvPr id="3" name="Footer Placeholder 2">
            <a:extLst>
              <a:ext uri="{FF2B5EF4-FFF2-40B4-BE49-F238E27FC236}">
                <a16:creationId xmlns:a16="http://schemas.microsoft.com/office/drawing/2014/main" id="{A64A5A5C-6A14-6463-9263-E1C97FDEBED3}"/>
              </a:ext>
            </a:extLst>
          </p:cNvPr>
          <p:cNvSpPr>
            <a:spLocks noGrp="1"/>
          </p:cNvSpPr>
          <p:nvPr>
            <p:ph type="ftr" sz="quarter" idx="11"/>
          </p:nvPr>
        </p:nvSpPr>
        <p:spPr/>
        <p:txBody>
          <a:bodyPr/>
          <a:lstStyle/>
          <a:p>
            <a:r>
              <a:rPr lang="en-IN"/>
              <a:t>1/15</a:t>
            </a:r>
          </a:p>
        </p:txBody>
      </p:sp>
      <p:sp>
        <p:nvSpPr>
          <p:cNvPr id="4" name="Slide Number Placeholder 3">
            <a:extLst>
              <a:ext uri="{FF2B5EF4-FFF2-40B4-BE49-F238E27FC236}">
                <a16:creationId xmlns:a16="http://schemas.microsoft.com/office/drawing/2014/main" id="{9728AB0B-4F9E-B3E8-F5BE-48D1A7FC09CD}"/>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613060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790F-A78E-F728-A554-7D4A7AF1C4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6C0024-81A1-24AC-3552-CA9CEA7E4F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68CF34-E943-6E55-F9DC-69271DB3A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B6FBF-46A8-C3B9-7C32-FF6F9D37EA35}"/>
              </a:ext>
            </a:extLst>
          </p:cNvPr>
          <p:cNvSpPr>
            <a:spLocks noGrp="1"/>
          </p:cNvSpPr>
          <p:nvPr>
            <p:ph type="dt" sz="half" idx="10"/>
          </p:nvPr>
        </p:nvSpPr>
        <p:spPr/>
        <p:txBody>
          <a:bodyPr/>
          <a:lstStyle/>
          <a:p>
            <a:fld id="{25279324-6718-4C38-A249-E09CAC183CDE}" type="datetime1">
              <a:rPr lang="en-IN" smtClean="0"/>
              <a:t>11-08-2026</a:t>
            </a:fld>
            <a:endParaRPr lang="en-IN"/>
          </a:p>
        </p:txBody>
      </p:sp>
      <p:sp>
        <p:nvSpPr>
          <p:cNvPr id="6" name="Footer Placeholder 5">
            <a:extLst>
              <a:ext uri="{FF2B5EF4-FFF2-40B4-BE49-F238E27FC236}">
                <a16:creationId xmlns:a16="http://schemas.microsoft.com/office/drawing/2014/main" id="{5A84E712-4476-5F97-67B0-BBB596A0CC17}"/>
              </a:ext>
            </a:extLst>
          </p:cNvPr>
          <p:cNvSpPr>
            <a:spLocks noGrp="1"/>
          </p:cNvSpPr>
          <p:nvPr>
            <p:ph type="ftr" sz="quarter" idx="11"/>
          </p:nvPr>
        </p:nvSpPr>
        <p:spPr/>
        <p:txBody>
          <a:bodyPr/>
          <a:lstStyle/>
          <a:p>
            <a:r>
              <a:rPr lang="en-IN"/>
              <a:t>1/15</a:t>
            </a:r>
          </a:p>
        </p:txBody>
      </p:sp>
      <p:sp>
        <p:nvSpPr>
          <p:cNvPr id="7" name="Slide Number Placeholder 6">
            <a:extLst>
              <a:ext uri="{FF2B5EF4-FFF2-40B4-BE49-F238E27FC236}">
                <a16:creationId xmlns:a16="http://schemas.microsoft.com/office/drawing/2014/main" id="{B30A3B25-9720-6577-0395-9103E775740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72320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83F6F-8F6C-7195-27A7-50671BA45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FE7027-CB64-2D79-C450-A50A1A1A5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CA3577A-646B-877F-ACC8-447532FEA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ABA6D9-4ADB-E95F-6717-B7292C01F6B7}"/>
              </a:ext>
            </a:extLst>
          </p:cNvPr>
          <p:cNvSpPr>
            <a:spLocks noGrp="1"/>
          </p:cNvSpPr>
          <p:nvPr>
            <p:ph type="dt" sz="half" idx="10"/>
          </p:nvPr>
        </p:nvSpPr>
        <p:spPr/>
        <p:txBody>
          <a:bodyPr/>
          <a:lstStyle/>
          <a:p>
            <a:fld id="{E59F1BC8-94F8-45FC-B95B-8E7D82B4A049}" type="datetime1">
              <a:rPr lang="en-IN" smtClean="0"/>
              <a:t>11-08-2026</a:t>
            </a:fld>
            <a:endParaRPr lang="en-IN"/>
          </a:p>
        </p:txBody>
      </p:sp>
      <p:sp>
        <p:nvSpPr>
          <p:cNvPr id="6" name="Footer Placeholder 5">
            <a:extLst>
              <a:ext uri="{FF2B5EF4-FFF2-40B4-BE49-F238E27FC236}">
                <a16:creationId xmlns:a16="http://schemas.microsoft.com/office/drawing/2014/main" id="{6660814B-405F-B37D-4F5F-B70E8488DE97}"/>
              </a:ext>
            </a:extLst>
          </p:cNvPr>
          <p:cNvSpPr>
            <a:spLocks noGrp="1"/>
          </p:cNvSpPr>
          <p:nvPr>
            <p:ph type="ftr" sz="quarter" idx="11"/>
          </p:nvPr>
        </p:nvSpPr>
        <p:spPr/>
        <p:txBody>
          <a:bodyPr/>
          <a:lstStyle/>
          <a:p>
            <a:r>
              <a:rPr lang="en-IN"/>
              <a:t>1/15</a:t>
            </a:r>
          </a:p>
        </p:txBody>
      </p:sp>
      <p:sp>
        <p:nvSpPr>
          <p:cNvPr id="7" name="Slide Number Placeholder 6">
            <a:extLst>
              <a:ext uri="{FF2B5EF4-FFF2-40B4-BE49-F238E27FC236}">
                <a16:creationId xmlns:a16="http://schemas.microsoft.com/office/drawing/2014/main" id="{0CD74CF4-2834-8D90-41B2-3FFB1D4BB5A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30224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C2A8B3-3C5F-769E-BE44-7FCB772A83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DCE24B-7910-B2E8-C9C8-E2F93AFB81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0D1D4F-E585-8CF2-AC0F-F3EA4F0C4BE5}"/>
              </a:ext>
            </a:extLst>
          </p:cNvPr>
          <p:cNvSpPr>
            <a:spLocks noGrp="1"/>
          </p:cNvSpPr>
          <p:nvPr>
            <p:ph type="dt" sz="half" idx="10"/>
          </p:nvPr>
        </p:nvSpPr>
        <p:spPr/>
        <p:txBody>
          <a:bodyPr/>
          <a:lstStyle/>
          <a:p>
            <a:fld id="{C05F1F87-1041-451E-898C-31740E1620AA}" type="datetime1">
              <a:rPr lang="en-IN" smtClean="0"/>
              <a:t>11-08-2026</a:t>
            </a:fld>
            <a:endParaRPr lang="en-IN"/>
          </a:p>
        </p:txBody>
      </p:sp>
      <p:sp>
        <p:nvSpPr>
          <p:cNvPr id="5" name="Footer Placeholder 4">
            <a:extLst>
              <a:ext uri="{FF2B5EF4-FFF2-40B4-BE49-F238E27FC236}">
                <a16:creationId xmlns:a16="http://schemas.microsoft.com/office/drawing/2014/main" id="{B91C96A0-30C4-BF0C-B817-DF0BA33BBDAB}"/>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75C19994-D6D6-8277-D64E-72F4CB96CB0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549937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1765631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8891486"/>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9BC712-3CD6-D18D-1483-CAFF2130A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7F309-DEC2-2A35-6A1B-36732AEA34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0BBC8F-5AA1-6A5F-813E-EC818CB3A0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74D95-0A6A-4FF0-A602-FE349279ABDC}" type="datetime1">
              <a:rPr lang="en-IN" smtClean="0"/>
              <a:t>11-08-2026</a:t>
            </a:fld>
            <a:endParaRPr lang="en-IN"/>
          </a:p>
        </p:txBody>
      </p:sp>
      <p:sp>
        <p:nvSpPr>
          <p:cNvPr id="5" name="Footer Placeholder 4">
            <a:extLst>
              <a:ext uri="{FF2B5EF4-FFF2-40B4-BE49-F238E27FC236}">
                <a16:creationId xmlns:a16="http://schemas.microsoft.com/office/drawing/2014/main" id="{ECD0EE63-802B-29AB-6E8E-2336CA6B49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1/15</a:t>
            </a:r>
          </a:p>
        </p:txBody>
      </p:sp>
      <p:sp>
        <p:nvSpPr>
          <p:cNvPr id="6" name="Slide Number Placeholder 5">
            <a:extLst>
              <a:ext uri="{FF2B5EF4-FFF2-40B4-BE49-F238E27FC236}">
                <a16:creationId xmlns:a16="http://schemas.microsoft.com/office/drawing/2014/main" id="{FF485C65-30CE-BE4C-6597-F76452533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05F464-475C-44AD-B39D-86A1D68B524E}"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userDrawn="1"/>
        </p:nvPicPr>
        <p:blipFill>
          <a:blip r:embed="rId15"/>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userDrawn="1"/>
        </p:nvPicPr>
        <p:blipFill>
          <a:blip r:embed="rId16"/>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39611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FCA6B7-70B1-BDD1-B4CE-53131AAE07C5}"/>
              </a:ext>
            </a:extLst>
          </p:cNvPr>
          <p:cNvSpPr txBox="1">
            <a:spLocks/>
          </p:cNvSpPr>
          <p:nvPr/>
        </p:nvSpPr>
        <p:spPr>
          <a:xfrm>
            <a:off x="692150" y="-209862"/>
            <a:ext cx="10807700" cy="914400"/>
          </a:xfrm>
          <a:prstGeom prst="rect">
            <a:avLst/>
          </a:prstGeom>
        </p:spPr>
        <p:txBody>
          <a:bodyPr wrap="square"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2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Google Shape;90;p1">
            <a:extLst>
              <a:ext uri="{FF2B5EF4-FFF2-40B4-BE49-F238E27FC236}">
                <a16:creationId xmlns:a16="http://schemas.microsoft.com/office/drawing/2014/main" id="{DB6C3FD7-20D1-A4B6-C20A-F5181ABFDDE8}"/>
              </a:ext>
            </a:extLst>
          </p:cNvPr>
          <p:cNvSpPr txBox="1">
            <a:spLocks/>
          </p:cNvSpPr>
          <p:nvPr/>
        </p:nvSpPr>
        <p:spPr>
          <a:xfrm>
            <a:off x="612068" y="1676400"/>
            <a:ext cx="10987791" cy="2696082"/>
          </a:xfrm>
          <a:prstGeom prst="rect">
            <a:avLst/>
          </a:prstGeom>
          <a:solidFill>
            <a:srgbClr val="EBF1DE"/>
          </a:solidFill>
          <a:ln>
            <a:noFill/>
          </a:ln>
        </p:spPr>
        <p:txBody>
          <a:bodyPr spcFirstLastPara="1" wrap="square" lIns="91425" tIns="45700" rIns="91425" bIns="4570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algn="ctr">
              <a:spcBef>
                <a:spcPts val="0"/>
              </a:spcBef>
              <a:buSzPts val="4000"/>
              <a:buFont typeface="Arial" panose="020B0604020202020204" pitchFamily="34" charset="0"/>
              <a:buNone/>
            </a:pPr>
            <a:endParaRPr lang="en-US" sz="4000" b="1" dirty="0">
              <a:latin typeface="Times New Roman"/>
              <a:ea typeface="Times New Roman"/>
              <a:cs typeface="Times New Roman"/>
              <a:sym typeface="Times New Roman"/>
            </a:endParaRPr>
          </a:p>
          <a:p>
            <a:pPr marL="342900" algn="ctr">
              <a:spcBef>
                <a:spcPts val="0"/>
              </a:spcBef>
              <a:buSzPts val="4000"/>
              <a:buFont typeface="Arial" panose="020B0604020202020204" pitchFamily="34" charset="0"/>
              <a:buNone/>
            </a:pPr>
            <a:r>
              <a:rPr lang="en-US" sz="4000" b="1" dirty="0">
                <a:latin typeface="Times New Roman"/>
                <a:cs typeface="Times New Roman"/>
                <a:sym typeface="Times New Roman"/>
              </a:rPr>
              <a:t>CSV 493</a:t>
            </a:r>
          </a:p>
          <a:p>
            <a:pPr marL="342900" algn="ctr">
              <a:spcBef>
                <a:spcPts val="0"/>
              </a:spcBef>
              <a:buSzPts val="4000"/>
              <a:buNone/>
            </a:pPr>
            <a:r>
              <a:rPr lang="en-IN" sz="4000" dirty="0"/>
              <a:t>LINUX SYSTEM ADMINSTRATION</a:t>
            </a:r>
            <a:endParaRPr lang="en-US" sz="4000" b="1" dirty="0">
              <a:latin typeface="Times New Roman"/>
              <a:ea typeface="Times New Roman"/>
              <a:cs typeface="Times New Roman"/>
              <a:sym typeface="Times New Roman"/>
            </a:endParaRPr>
          </a:p>
          <a:p>
            <a:pPr marL="342900" algn="ctr">
              <a:spcBef>
                <a:spcPts val="0"/>
              </a:spcBef>
              <a:buSzPts val="4000"/>
              <a:buFont typeface="Arial" panose="020B0604020202020204" pitchFamily="34" charset="0"/>
              <a:buNone/>
            </a:pPr>
            <a:endParaRPr lang="en-US" sz="4000" b="1" dirty="0">
              <a:latin typeface="Times New Roman"/>
              <a:ea typeface="Times New Roman"/>
              <a:cs typeface="Times New Roman"/>
              <a:sym typeface="Times New Roman"/>
            </a:endParaRPr>
          </a:p>
          <a:p>
            <a:pPr marL="342900" algn="ctr">
              <a:spcBef>
                <a:spcPts val="0"/>
              </a:spcBef>
              <a:buSzPts val="4000"/>
              <a:buFont typeface="Arial" panose="020B0604020202020204" pitchFamily="34" charset="0"/>
              <a:buNone/>
            </a:pPr>
            <a:endParaRPr lang="en-US" dirty="0"/>
          </a:p>
        </p:txBody>
      </p:sp>
    </p:spTree>
    <p:extLst>
      <p:ext uri="{BB962C8B-B14F-4D97-AF65-F5344CB8AC3E}">
        <p14:creationId xmlns:p14="http://schemas.microsoft.com/office/powerpoint/2010/main" val="4268242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99E2CF4-02CF-D2E4-DD49-ED513860CE6D}"/>
              </a:ext>
            </a:extLst>
          </p:cNvPr>
          <p:cNvSpPr txBox="1"/>
          <p:nvPr/>
        </p:nvSpPr>
        <p:spPr>
          <a:xfrm>
            <a:off x="314633" y="1138395"/>
            <a:ext cx="11877367" cy="3816429"/>
          </a:xfrm>
          <a:prstGeom prst="rect">
            <a:avLst/>
          </a:prstGeom>
          <a:noFill/>
        </p:spPr>
        <p:txBody>
          <a:bodyPr wrap="square">
            <a:spAutoFit/>
          </a:bodyPr>
          <a:lstStyle/>
          <a:p>
            <a:pPr>
              <a:buNone/>
            </a:pPr>
            <a:r>
              <a:rPr lang="en-IN" sz="2200" b="1" dirty="0">
                <a:solidFill>
                  <a:srgbClr val="000000"/>
                </a:solidFill>
                <a:effectLst/>
                <a:latin typeface="Times New Roman" panose="02020603050405020304" pitchFamily="18" charset="0"/>
                <a:cs typeface="Times New Roman" panose="02020603050405020304" pitchFamily="18" charset="0"/>
              </a:rPr>
              <a:t>Controlling Access to Files with Linux File System Permissions</a:t>
            </a:r>
            <a:r>
              <a:rPr lang="en-IN" sz="2200" dirty="0">
                <a:solidFill>
                  <a:srgbClr val="000000"/>
                </a:solidFill>
                <a:effectLst/>
                <a:latin typeface="Times New Roman" panose="02020603050405020304" pitchFamily="18" charset="0"/>
                <a:cs typeface="Times New Roman" panose="02020603050405020304" pitchFamily="18" charset="0"/>
              </a:rPr>
              <a:t> : Linux File System Permissions, </a:t>
            </a:r>
            <a:endParaRPr lang="en-IN" sz="2200" dirty="0">
              <a:latin typeface="Times New Roman" panose="02020603050405020304" pitchFamily="18" charset="0"/>
              <a:cs typeface="Times New Roman" panose="02020603050405020304" pitchFamily="18" charset="0"/>
            </a:endParaRPr>
          </a:p>
          <a:p>
            <a:pPr>
              <a:buNone/>
            </a:pPr>
            <a:r>
              <a:rPr lang="en-IN" sz="2200" dirty="0">
                <a:solidFill>
                  <a:srgbClr val="000000"/>
                </a:solidFill>
                <a:effectLst/>
                <a:latin typeface="Times New Roman" panose="02020603050405020304" pitchFamily="18" charset="0"/>
                <a:cs typeface="Times New Roman" panose="02020603050405020304" pitchFamily="18" charset="0"/>
              </a:rPr>
              <a:t>Managing File System Permissions from the Command Line, Managing Default Permissions and File </a:t>
            </a:r>
            <a:endParaRPr lang="en-IN" sz="2200" dirty="0">
              <a:latin typeface="Times New Roman" panose="02020603050405020304" pitchFamily="18" charset="0"/>
              <a:cs typeface="Times New Roman" panose="02020603050405020304" pitchFamily="18" charset="0"/>
            </a:endParaRPr>
          </a:p>
          <a:p>
            <a:pPr>
              <a:buNone/>
            </a:pPr>
            <a:r>
              <a:rPr lang="en-IN" sz="2200" dirty="0">
                <a:solidFill>
                  <a:srgbClr val="000000"/>
                </a:solidFill>
                <a:effectLst/>
                <a:latin typeface="Times New Roman" panose="02020603050405020304" pitchFamily="18" charset="0"/>
                <a:cs typeface="Times New Roman" panose="02020603050405020304" pitchFamily="18" charset="0"/>
              </a:rPr>
              <a:t>Access </a:t>
            </a:r>
            <a:endParaRPr lang="en-IN" sz="2200" dirty="0">
              <a:latin typeface="Times New Roman" panose="02020603050405020304" pitchFamily="18" charset="0"/>
              <a:cs typeface="Times New Roman" panose="02020603050405020304" pitchFamily="18" charset="0"/>
            </a:endParaRPr>
          </a:p>
          <a:p>
            <a:pPr>
              <a:buNone/>
            </a:pPr>
            <a:r>
              <a:rPr lang="en-IN" sz="2200" b="1" dirty="0">
                <a:solidFill>
                  <a:srgbClr val="000000"/>
                </a:solidFill>
                <a:effectLst/>
                <a:latin typeface="Times New Roman" panose="02020603050405020304" pitchFamily="18" charset="0"/>
                <a:cs typeface="Times New Roman" panose="02020603050405020304" pitchFamily="18" charset="0"/>
              </a:rPr>
              <a:t>Monitoring and Managing Linux Processes</a:t>
            </a:r>
            <a:r>
              <a:rPr lang="en-IN" sz="2200" dirty="0">
                <a:solidFill>
                  <a:srgbClr val="000000"/>
                </a:solidFill>
                <a:effectLst/>
                <a:latin typeface="Times New Roman" panose="02020603050405020304" pitchFamily="18" charset="0"/>
                <a:cs typeface="Times New Roman" panose="02020603050405020304" pitchFamily="18" charset="0"/>
              </a:rPr>
              <a:t> : Processes, Controlling Jobs, Killing Processes, </a:t>
            </a:r>
            <a:endParaRPr lang="en-IN" sz="2200" dirty="0">
              <a:latin typeface="Times New Roman" panose="02020603050405020304" pitchFamily="18" charset="0"/>
              <a:cs typeface="Times New Roman" panose="02020603050405020304" pitchFamily="18" charset="0"/>
            </a:endParaRPr>
          </a:p>
          <a:p>
            <a:pPr>
              <a:buNone/>
            </a:pPr>
            <a:r>
              <a:rPr lang="en-IN" sz="2200" dirty="0">
                <a:solidFill>
                  <a:srgbClr val="000000"/>
                </a:solidFill>
                <a:effectLst/>
                <a:latin typeface="Times New Roman" panose="02020603050405020304" pitchFamily="18" charset="0"/>
                <a:cs typeface="Times New Roman" panose="02020603050405020304" pitchFamily="18" charset="0"/>
              </a:rPr>
              <a:t>Monitoring Process Activity </a:t>
            </a:r>
            <a:endParaRPr lang="en-IN" sz="2200" dirty="0">
              <a:latin typeface="Times New Roman" panose="02020603050405020304" pitchFamily="18" charset="0"/>
              <a:cs typeface="Times New Roman" panose="02020603050405020304" pitchFamily="18" charset="0"/>
            </a:endParaRPr>
          </a:p>
          <a:p>
            <a:pPr>
              <a:buNone/>
            </a:pPr>
            <a:r>
              <a:rPr lang="en-IN" sz="2200" b="1" dirty="0">
                <a:solidFill>
                  <a:srgbClr val="000000"/>
                </a:solidFill>
                <a:effectLst/>
                <a:latin typeface="Times New Roman" panose="02020603050405020304" pitchFamily="18" charset="0"/>
                <a:cs typeface="Times New Roman" panose="02020603050405020304" pitchFamily="18" charset="0"/>
              </a:rPr>
              <a:t>Controlling Services and Daemons</a:t>
            </a:r>
            <a:r>
              <a:rPr lang="en-IN" sz="2200" dirty="0">
                <a:solidFill>
                  <a:srgbClr val="000000"/>
                </a:solidFill>
                <a:effectLst/>
                <a:latin typeface="Times New Roman" panose="02020603050405020304" pitchFamily="18" charset="0"/>
                <a:cs typeface="Times New Roman" panose="02020603050405020304" pitchFamily="18" charset="0"/>
              </a:rPr>
              <a:t> : Identifying Automatically Started System Processes, </a:t>
            </a:r>
            <a:endParaRPr lang="en-IN" sz="2200" dirty="0">
              <a:latin typeface="Times New Roman" panose="02020603050405020304" pitchFamily="18" charset="0"/>
              <a:cs typeface="Times New Roman" panose="02020603050405020304" pitchFamily="18" charset="0"/>
            </a:endParaRPr>
          </a:p>
          <a:p>
            <a:pPr>
              <a:buNone/>
            </a:pPr>
            <a:r>
              <a:rPr lang="en-IN" sz="2200" dirty="0">
                <a:solidFill>
                  <a:srgbClr val="000000"/>
                </a:solidFill>
                <a:effectLst/>
                <a:latin typeface="Times New Roman" panose="02020603050405020304" pitchFamily="18" charset="0"/>
                <a:cs typeface="Times New Roman" panose="02020603050405020304" pitchFamily="18" charset="0"/>
              </a:rPr>
              <a:t>Controlling System Services </a:t>
            </a:r>
            <a:endParaRPr lang="en-IN" sz="2200" dirty="0">
              <a:latin typeface="Times New Roman" panose="02020603050405020304" pitchFamily="18" charset="0"/>
              <a:cs typeface="Times New Roman" panose="02020603050405020304" pitchFamily="18" charset="0"/>
            </a:endParaRPr>
          </a:p>
          <a:p>
            <a:pPr>
              <a:buNone/>
            </a:pPr>
            <a:r>
              <a:rPr lang="en-IN" sz="2200" b="1" dirty="0">
                <a:solidFill>
                  <a:srgbClr val="000000"/>
                </a:solidFill>
                <a:effectLst/>
                <a:latin typeface="Times New Roman" panose="02020603050405020304" pitchFamily="18" charset="0"/>
                <a:cs typeface="Times New Roman" panose="02020603050405020304" pitchFamily="18" charset="0"/>
              </a:rPr>
              <a:t>Configuring and Securing OpenSSH Service</a:t>
            </a:r>
            <a:r>
              <a:rPr lang="en-IN" sz="2200" dirty="0">
                <a:solidFill>
                  <a:srgbClr val="000000"/>
                </a:solidFill>
                <a:effectLst/>
                <a:latin typeface="Times New Roman" panose="02020603050405020304" pitchFamily="18" charset="0"/>
                <a:cs typeface="Times New Roman" panose="02020603050405020304" pitchFamily="18" charset="0"/>
              </a:rPr>
              <a:t> : Accessing the Remote Command Line with SSH, </a:t>
            </a:r>
            <a:endParaRPr lang="en-IN" sz="2200" dirty="0">
              <a:latin typeface="Times New Roman" panose="02020603050405020304" pitchFamily="18" charset="0"/>
              <a:cs typeface="Times New Roman" panose="02020603050405020304" pitchFamily="18" charset="0"/>
            </a:endParaRPr>
          </a:p>
          <a:p>
            <a:pPr>
              <a:buNone/>
            </a:pPr>
            <a:r>
              <a:rPr lang="en-IN" sz="2200" dirty="0">
                <a:solidFill>
                  <a:srgbClr val="000000"/>
                </a:solidFill>
                <a:effectLst/>
                <a:latin typeface="Times New Roman" panose="02020603050405020304" pitchFamily="18" charset="0"/>
                <a:cs typeface="Times New Roman" panose="02020603050405020304" pitchFamily="18" charset="0"/>
              </a:rPr>
              <a:t>Configuring SSH Key-based Authentication, Customizing SSH Service Configuration </a:t>
            </a:r>
            <a:endParaRPr lang="en-IN" sz="2200" dirty="0">
              <a:latin typeface="Times New Roman" panose="02020603050405020304" pitchFamily="18" charset="0"/>
              <a:cs typeface="Times New Roman" panose="02020603050405020304" pitchFamily="18" charset="0"/>
            </a:endParaRPr>
          </a:p>
          <a:p>
            <a:pPr>
              <a:buNone/>
            </a:pPr>
            <a:r>
              <a:rPr lang="en-IN" sz="2200" b="1" dirty="0" err="1">
                <a:solidFill>
                  <a:srgbClr val="000000"/>
                </a:solidFill>
                <a:effectLst/>
                <a:latin typeface="Times New Roman" panose="02020603050405020304" pitchFamily="18" charset="0"/>
                <a:cs typeface="Times New Roman" panose="02020603050405020304" pitchFamily="18" charset="0"/>
              </a:rPr>
              <a:t>Analyzing</a:t>
            </a:r>
            <a:r>
              <a:rPr lang="en-IN" sz="2200" b="1" dirty="0">
                <a:solidFill>
                  <a:srgbClr val="000000"/>
                </a:solidFill>
                <a:effectLst/>
                <a:latin typeface="Times New Roman" panose="02020603050405020304" pitchFamily="18" charset="0"/>
                <a:cs typeface="Times New Roman" panose="02020603050405020304" pitchFamily="18" charset="0"/>
              </a:rPr>
              <a:t> and Storing Logs</a:t>
            </a:r>
            <a:r>
              <a:rPr lang="en-IN" sz="2200" dirty="0">
                <a:solidFill>
                  <a:srgbClr val="000000"/>
                </a:solidFill>
                <a:effectLst/>
                <a:latin typeface="Times New Roman" panose="02020603050405020304" pitchFamily="18" charset="0"/>
                <a:cs typeface="Times New Roman" panose="02020603050405020304" pitchFamily="18" charset="0"/>
              </a:rPr>
              <a:t> : System Log Architecture, Reviewing Sys log Files, Reviewing </a:t>
            </a:r>
            <a:r>
              <a:rPr lang="en-IN" sz="2200" dirty="0" err="1">
                <a:solidFill>
                  <a:srgbClr val="000000"/>
                </a:solidFill>
                <a:effectLst/>
                <a:latin typeface="Times New Roman" panose="02020603050405020304" pitchFamily="18" charset="0"/>
                <a:cs typeface="Times New Roman" panose="02020603050405020304" pitchFamily="18" charset="0"/>
              </a:rPr>
              <a:t>systemd</a:t>
            </a:r>
            <a:r>
              <a:rPr lang="en-IN" sz="2200" dirty="0">
                <a:solidFill>
                  <a:srgbClr val="000000"/>
                </a:solidFill>
                <a:effectLst/>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buNone/>
            </a:pPr>
            <a:r>
              <a:rPr lang="en-IN" sz="2200" dirty="0">
                <a:solidFill>
                  <a:srgbClr val="000000"/>
                </a:solidFill>
                <a:effectLst/>
                <a:latin typeface="Times New Roman" panose="02020603050405020304" pitchFamily="18" charset="0"/>
                <a:cs typeface="Times New Roman" panose="02020603050405020304" pitchFamily="18" charset="0"/>
              </a:rPr>
              <a:t>Journal Entries, Preserving the </a:t>
            </a:r>
            <a:r>
              <a:rPr lang="en-IN" sz="2200" dirty="0" err="1">
                <a:solidFill>
                  <a:srgbClr val="000000"/>
                </a:solidFill>
                <a:effectLst/>
                <a:latin typeface="Times New Roman" panose="02020603050405020304" pitchFamily="18" charset="0"/>
                <a:cs typeface="Times New Roman" panose="02020603050405020304" pitchFamily="18" charset="0"/>
              </a:rPr>
              <a:t>systemd</a:t>
            </a:r>
            <a:r>
              <a:rPr lang="en-IN" sz="2200" dirty="0">
                <a:solidFill>
                  <a:srgbClr val="000000"/>
                </a:solidFill>
                <a:effectLst/>
                <a:latin typeface="Times New Roman" panose="02020603050405020304" pitchFamily="18" charset="0"/>
                <a:cs typeface="Times New Roman" panose="02020603050405020304" pitchFamily="18" charset="0"/>
              </a:rPr>
              <a:t> Journal, Maintaining Accurate Time</a:t>
            </a:r>
            <a:endParaRPr lang="en-IN"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F9C6982-ADFA-ECD3-E7DD-42BC64DAB7ED}"/>
              </a:ext>
            </a:extLst>
          </p:cNvPr>
          <p:cNvSpPr txBox="1"/>
          <p:nvPr/>
        </p:nvSpPr>
        <p:spPr>
          <a:xfrm>
            <a:off x="973394" y="769063"/>
            <a:ext cx="928459" cy="369332"/>
          </a:xfrm>
          <a:prstGeom prst="rect">
            <a:avLst/>
          </a:prstGeom>
          <a:noFill/>
        </p:spPr>
        <p:txBody>
          <a:bodyPr wrap="none" rtlCol="0">
            <a:spAutoFit/>
          </a:bodyPr>
          <a:lstStyle/>
          <a:p>
            <a:r>
              <a:rPr lang="en-IN" b="1" dirty="0"/>
              <a:t>Unit - II</a:t>
            </a:r>
          </a:p>
        </p:txBody>
      </p:sp>
    </p:spTree>
    <p:extLst>
      <p:ext uri="{BB962C8B-B14F-4D97-AF65-F5344CB8AC3E}">
        <p14:creationId xmlns:p14="http://schemas.microsoft.com/office/powerpoint/2010/main" val="311575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A43A-297A-35AA-E028-68EA59FC1D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61A89B-7E35-2CB9-9F38-19732ABBE067}"/>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17805DE-6804-2626-DB42-37868A5E4D9F}"/>
              </a:ext>
            </a:extLst>
          </p:cNvPr>
          <p:cNvSpPr txBox="1"/>
          <p:nvPr/>
        </p:nvSpPr>
        <p:spPr>
          <a:xfrm>
            <a:off x="137652" y="1573161"/>
            <a:ext cx="11518489" cy="2308324"/>
          </a:xfrm>
          <a:prstGeom prst="rect">
            <a:avLst/>
          </a:prstGeom>
          <a:noFill/>
        </p:spPr>
        <p:txBody>
          <a:bodyPr wrap="square">
            <a:spAutoFit/>
          </a:bodyPr>
          <a:lstStyle/>
          <a:p>
            <a:pPr>
              <a:buNone/>
            </a:pPr>
            <a:r>
              <a:rPr lang="en-IN" sz="2400" dirty="0">
                <a:solidFill>
                  <a:srgbClr val="000000"/>
                </a:solidFill>
                <a:effectLst/>
                <a:latin typeface="Times New Roman" panose="02020603050405020304" pitchFamily="18" charset="0"/>
                <a:cs typeface="Times New Roman" panose="02020603050405020304" pitchFamily="18" charset="0"/>
              </a:rPr>
              <a:t>File permissions control access to files. The Linux file permissions system is simple but flexible, which makes it easy to understand and apply, yet still able to handle most normal permission cases easily.</a:t>
            </a:r>
          </a:p>
          <a:p>
            <a:pPr>
              <a:buNone/>
            </a:pPr>
            <a:endParaRPr lang="en-IN" sz="2400" dirty="0">
              <a:solidFill>
                <a:srgbClr val="000000"/>
              </a:solidFill>
              <a:latin typeface="Times New Roman" panose="02020603050405020304" pitchFamily="18" charset="0"/>
              <a:cs typeface="Times New Roman" panose="02020603050405020304" pitchFamily="18" charset="0"/>
            </a:endParaRPr>
          </a:p>
          <a:p>
            <a:pPr>
              <a:buNone/>
            </a:pPr>
            <a:endParaRPr lang="en-IN" sz="2400" dirty="0">
              <a:solidFill>
                <a:srgbClr val="000000"/>
              </a:solidFill>
              <a:latin typeface="Times New Roman" panose="02020603050405020304" pitchFamily="18" charset="0"/>
              <a:cs typeface="Times New Roman" panose="02020603050405020304" pitchFamily="18" charset="0"/>
            </a:endParaRPr>
          </a:p>
          <a:p>
            <a:pPr>
              <a:buNone/>
            </a:pP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CCD63B1-EC5B-E6C8-9EF8-8D2253ACA459}"/>
              </a:ext>
            </a:extLst>
          </p:cNvPr>
          <p:cNvSpPr txBox="1"/>
          <p:nvPr/>
        </p:nvSpPr>
        <p:spPr>
          <a:xfrm>
            <a:off x="137652" y="4727413"/>
            <a:ext cx="11218606" cy="830997"/>
          </a:xfrm>
          <a:prstGeom prst="rect">
            <a:avLst/>
          </a:prstGeom>
          <a:noFill/>
        </p:spPr>
        <p:txBody>
          <a:bodyPr wrap="square">
            <a:spAutoFit/>
          </a:bodyPr>
          <a:lstStyle/>
          <a:p>
            <a:pPr>
              <a:buNone/>
            </a:pPr>
            <a:r>
              <a:rPr lang="en-IN" sz="2400" dirty="0">
                <a:solidFill>
                  <a:srgbClr val="000000"/>
                </a:solidFill>
                <a:effectLst/>
                <a:latin typeface="Times New Roman" panose="02020603050405020304" pitchFamily="18" charset="0"/>
                <a:cs typeface="Times New Roman" panose="02020603050405020304" pitchFamily="18" charset="0"/>
              </a:rPr>
              <a:t>The most specific permissions take precedence. User permissions override group permissions, which override other permissions</a:t>
            </a:r>
            <a:endParaRPr lang="en-IN"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71C86FB-1D1B-A1D1-0E19-7CD5DF95BBAA}"/>
              </a:ext>
            </a:extLst>
          </p:cNvPr>
          <p:cNvSpPr txBox="1"/>
          <p:nvPr/>
        </p:nvSpPr>
        <p:spPr>
          <a:xfrm>
            <a:off x="117986" y="3001778"/>
            <a:ext cx="10795819" cy="1200329"/>
          </a:xfrm>
          <a:prstGeom prst="rect">
            <a:avLst/>
          </a:prstGeom>
          <a:noFill/>
        </p:spPr>
        <p:txBody>
          <a:bodyPr wrap="square">
            <a:spAutoFit/>
          </a:bodyPr>
          <a:lstStyle/>
          <a:p>
            <a:pPr>
              <a:buNone/>
            </a:pPr>
            <a:r>
              <a:rPr lang="en-IN" sz="2400" dirty="0">
                <a:solidFill>
                  <a:srgbClr val="000000"/>
                </a:solidFill>
                <a:effectLst/>
                <a:latin typeface="Times New Roman" panose="02020603050405020304" pitchFamily="18" charset="0"/>
                <a:cs typeface="Times New Roman" panose="02020603050405020304" pitchFamily="18" charset="0"/>
              </a:rPr>
              <a:t>Files have three categories of user to which permissions apply. The file is owned by a user, normally the one who created the file. The file is also owned by a single group, usually the primary group of the user who created the file, but this can be changed.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3578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1440C-75F9-B2DF-B054-11E09D7B32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CED007-B09E-B88F-F662-A3486E4D4EC4}"/>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EC4AAAB-208F-388D-E42F-15ECF8EE68C0}"/>
              </a:ext>
            </a:extLst>
          </p:cNvPr>
          <p:cNvSpPr txBox="1"/>
          <p:nvPr/>
        </p:nvSpPr>
        <p:spPr>
          <a:xfrm>
            <a:off x="137652" y="1573161"/>
            <a:ext cx="11518489" cy="36933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Effects of Permissions on Files and Directories</a:t>
            </a:r>
            <a:endParaRPr lang="en-IN" sz="24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FE32219-CA05-9762-E0C4-F73AF4C7E606}"/>
              </a:ext>
            </a:extLst>
          </p:cNvPr>
          <p:cNvGraphicFramePr>
            <a:graphicFrameLocks noGrp="1"/>
          </p:cNvGraphicFramePr>
          <p:nvPr>
            <p:extLst>
              <p:ext uri="{D42A27DB-BD31-4B8C-83A1-F6EECF244321}">
                <p14:modId xmlns:p14="http://schemas.microsoft.com/office/powerpoint/2010/main" val="3022721892"/>
              </p:ext>
            </p:extLst>
          </p:nvPr>
        </p:nvGraphicFramePr>
        <p:xfrm>
          <a:off x="838200" y="2035334"/>
          <a:ext cx="10515600" cy="3108960"/>
        </p:xfrm>
        <a:graphic>
          <a:graphicData uri="http://schemas.openxmlformats.org/drawingml/2006/table">
            <a:tbl>
              <a:tblPr>
                <a:tableStyleId>{00A15C55-8517-42AA-B614-E9B94910E393}</a:tableStyleId>
              </a:tblPr>
              <a:tblGrid>
                <a:gridCol w="1590368">
                  <a:extLst>
                    <a:ext uri="{9D8B030D-6E8A-4147-A177-3AD203B41FA5}">
                      <a16:colId xmlns:a16="http://schemas.microsoft.com/office/drawing/2014/main" val="3417268138"/>
                    </a:ext>
                  </a:extLst>
                </a:gridCol>
                <a:gridCol w="4119716">
                  <a:extLst>
                    <a:ext uri="{9D8B030D-6E8A-4147-A177-3AD203B41FA5}">
                      <a16:colId xmlns:a16="http://schemas.microsoft.com/office/drawing/2014/main" val="140849050"/>
                    </a:ext>
                  </a:extLst>
                </a:gridCol>
                <a:gridCol w="4805516">
                  <a:extLst>
                    <a:ext uri="{9D8B030D-6E8A-4147-A177-3AD203B41FA5}">
                      <a16:colId xmlns:a16="http://schemas.microsoft.com/office/drawing/2014/main" val="1170847680"/>
                    </a:ext>
                  </a:extLst>
                </a:gridCol>
              </a:tblGrid>
              <a:tr h="0">
                <a:tc>
                  <a:txBody>
                    <a:bodyPr/>
                    <a:lstStyle/>
                    <a:p>
                      <a:pPr>
                        <a:buNone/>
                      </a:pPr>
                      <a:r>
                        <a:rPr lang="en-IN" b="1"/>
                        <a:t>Permission</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t>Effect on Files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t>Effect on Directories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40827412"/>
                  </a:ext>
                </a:extLst>
              </a:tr>
              <a:tr h="0">
                <a:tc>
                  <a:txBody>
                    <a:bodyPr/>
                    <a:lstStyle/>
                    <a:p>
                      <a:pPr>
                        <a:buNone/>
                      </a:pPr>
                      <a:r>
                        <a:rPr lang="en-IN" b="1"/>
                        <a:t>r (Read)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Contents of the file can be read.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Contents of the directory (the file names) can be listed.</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89167318"/>
                  </a:ext>
                </a:extLst>
              </a:tr>
              <a:tr h="0">
                <a:tc>
                  <a:txBody>
                    <a:bodyPr/>
                    <a:lstStyle/>
                    <a:p>
                      <a:pPr>
                        <a:buNone/>
                      </a:pPr>
                      <a:r>
                        <a:rPr lang="en-IN" b="1"/>
                        <a:t>w (Write)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Contents of the file can be changed.</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t>Files in the directory can be created, deleted, or renamed (provided the user also has execute (x) permission on the directory).</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09848637"/>
                  </a:ext>
                </a:extLst>
              </a:tr>
              <a:tr h="0">
                <a:tc>
                  <a:txBody>
                    <a:bodyPr/>
                    <a:lstStyle/>
                    <a:p>
                      <a:pPr>
                        <a:buNone/>
                      </a:pPr>
                      <a:r>
                        <a:rPr lang="en-IN" b="1"/>
                        <a:t>x (Execute)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File can be executed as a command or program.</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Directory can be accessed. You can cd into the directory, access its files, and retrieve information about them (subject to the files' own permissions).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9786166"/>
                  </a:ext>
                </a:extLst>
              </a:tr>
            </a:tbl>
          </a:graphicData>
        </a:graphic>
      </p:graphicFrame>
    </p:spTree>
    <p:extLst>
      <p:ext uri="{BB962C8B-B14F-4D97-AF65-F5344CB8AC3E}">
        <p14:creationId xmlns:p14="http://schemas.microsoft.com/office/powerpoint/2010/main" val="2890890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AF76-6B26-610B-F8EA-B084CA0F3B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E64AA7-133F-0E99-A115-70AA6465ACD0}"/>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5B329B2-CE3F-AF1A-65B8-41E50F61C7D1}"/>
              </a:ext>
            </a:extLst>
          </p:cNvPr>
          <p:cNvSpPr txBox="1"/>
          <p:nvPr/>
        </p:nvSpPr>
        <p:spPr>
          <a:xfrm>
            <a:off x="137652" y="1573161"/>
            <a:ext cx="11518489"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VIEWING FILE AND DIRECTORY PERMISSIONS AND OWNERSHIP</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937A732-05B0-82DF-40CF-00CD93A0289B}"/>
              </a:ext>
            </a:extLst>
          </p:cNvPr>
          <p:cNvPicPr>
            <a:picLocks noChangeAspect="1"/>
          </p:cNvPicPr>
          <p:nvPr/>
        </p:nvPicPr>
        <p:blipFill>
          <a:blip r:embed="rId2"/>
          <a:stretch>
            <a:fillRect/>
          </a:stretch>
        </p:blipFill>
        <p:spPr>
          <a:xfrm>
            <a:off x="1928225" y="2727448"/>
            <a:ext cx="6153892" cy="596931"/>
          </a:xfrm>
          <a:prstGeom prst="rect">
            <a:avLst/>
          </a:prstGeom>
        </p:spPr>
      </p:pic>
      <p:sp>
        <p:nvSpPr>
          <p:cNvPr id="10" name="TextBox 9">
            <a:extLst>
              <a:ext uri="{FF2B5EF4-FFF2-40B4-BE49-F238E27FC236}">
                <a16:creationId xmlns:a16="http://schemas.microsoft.com/office/drawing/2014/main" id="{1BFEA6F4-6343-C73F-00EA-D8A3433DD091}"/>
              </a:ext>
            </a:extLst>
          </p:cNvPr>
          <p:cNvSpPr txBox="1"/>
          <p:nvPr/>
        </p:nvSpPr>
        <p:spPr>
          <a:xfrm>
            <a:off x="501446" y="3533622"/>
            <a:ext cx="10107560" cy="369332"/>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The </a:t>
            </a:r>
            <a:r>
              <a:rPr lang="en-IN" b="1" dirty="0">
                <a:solidFill>
                  <a:srgbClr val="000000"/>
                </a:solidFill>
                <a:effectLst/>
                <a:latin typeface="Times New Roman" panose="02020603050405020304" pitchFamily="18" charset="0"/>
                <a:cs typeface="Times New Roman" panose="02020603050405020304" pitchFamily="18" charset="0"/>
              </a:rPr>
              <a:t>-l</a:t>
            </a:r>
            <a:r>
              <a:rPr lang="en-IN" dirty="0">
                <a:solidFill>
                  <a:srgbClr val="000000"/>
                </a:solidFill>
                <a:effectLst/>
                <a:latin typeface="Times New Roman" panose="02020603050405020304" pitchFamily="18" charset="0"/>
                <a:cs typeface="Times New Roman" panose="02020603050405020304" pitchFamily="18" charset="0"/>
              </a:rPr>
              <a:t> option of the </a:t>
            </a:r>
            <a:r>
              <a:rPr lang="en-IN" b="1" dirty="0">
                <a:solidFill>
                  <a:srgbClr val="000000"/>
                </a:solidFill>
                <a:effectLst/>
                <a:latin typeface="Times New Roman" panose="02020603050405020304" pitchFamily="18" charset="0"/>
                <a:cs typeface="Times New Roman" panose="02020603050405020304" pitchFamily="18" charset="0"/>
              </a:rPr>
              <a:t>ls</a:t>
            </a:r>
            <a:r>
              <a:rPr lang="en-IN" dirty="0">
                <a:solidFill>
                  <a:srgbClr val="000000"/>
                </a:solidFill>
                <a:effectLst/>
                <a:latin typeface="Times New Roman" panose="02020603050405020304" pitchFamily="18" charset="0"/>
                <a:cs typeface="Times New Roman" panose="02020603050405020304" pitchFamily="18" charset="0"/>
              </a:rPr>
              <a:t> command shows more detailed information about file permissions and ownership</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9BFBE9B-EE56-2563-6D91-A7B167337A5C}"/>
              </a:ext>
            </a:extLst>
          </p:cNvPr>
          <p:cNvPicPr>
            <a:picLocks noChangeAspect="1"/>
          </p:cNvPicPr>
          <p:nvPr/>
        </p:nvPicPr>
        <p:blipFill>
          <a:blip r:embed="rId3"/>
          <a:stretch>
            <a:fillRect/>
          </a:stretch>
        </p:blipFill>
        <p:spPr>
          <a:xfrm>
            <a:off x="1928225" y="4308180"/>
            <a:ext cx="6153892" cy="647733"/>
          </a:xfrm>
          <a:prstGeom prst="rect">
            <a:avLst/>
          </a:prstGeom>
        </p:spPr>
      </p:pic>
      <p:sp>
        <p:nvSpPr>
          <p:cNvPr id="14" name="TextBox 13">
            <a:extLst>
              <a:ext uri="{FF2B5EF4-FFF2-40B4-BE49-F238E27FC236}">
                <a16:creationId xmlns:a16="http://schemas.microsoft.com/office/drawing/2014/main" id="{C7DE51BA-7FB5-9A0E-2E88-6EDC8A9EE30A}"/>
              </a:ext>
            </a:extLst>
          </p:cNvPr>
          <p:cNvSpPr txBox="1"/>
          <p:nvPr/>
        </p:nvSpPr>
        <p:spPr>
          <a:xfrm>
            <a:off x="501446" y="5155529"/>
            <a:ext cx="9409470" cy="1200329"/>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The first character of the long listing is the file type. You interpret it like this: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effectLst/>
                <a:latin typeface="Times New Roman" panose="02020603050405020304" pitchFamily="18" charset="0"/>
                <a:cs typeface="Times New Roman" panose="02020603050405020304" pitchFamily="18" charset="0"/>
              </a:rPr>
              <a:t>-</a:t>
            </a:r>
            <a:r>
              <a:rPr lang="en-IN" dirty="0">
                <a:solidFill>
                  <a:srgbClr val="000000"/>
                </a:solidFill>
                <a:effectLst/>
                <a:latin typeface="Times New Roman" panose="02020603050405020304" pitchFamily="18" charset="0"/>
                <a:cs typeface="Times New Roman" panose="02020603050405020304" pitchFamily="18" charset="0"/>
              </a:rPr>
              <a:t> is a regular file.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effectLst/>
                <a:latin typeface="Times New Roman" panose="02020603050405020304" pitchFamily="18" charset="0"/>
                <a:cs typeface="Times New Roman" panose="02020603050405020304" pitchFamily="18" charset="0"/>
              </a:rPr>
              <a:t>d</a:t>
            </a:r>
            <a:r>
              <a:rPr lang="en-IN" dirty="0">
                <a:solidFill>
                  <a:srgbClr val="000000"/>
                </a:solidFill>
                <a:effectLst/>
                <a:latin typeface="Times New Roman" panose="02020603050405020304" pitchFamily="18" charset="0"/>
                <a:cs typeface="Times New Roman" panose="02020603050405020304" pitchFamily="18" charset="0"/>
              </a:rPr>
              <a:t> is a directory.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effectLst/>
                <a:latin typeface="Times New Roman" panose="02020603050405020304" pitchFamily="18" charset="0"/>
                <a:cs typeface="Times New Roman" panose="02020603050405020304" pitchFamily="18" charset="0"/>
              </a:rPr>
              <a:t>l</a:t>
            </a:r>
            <a:r>
              <a:rPr lang="en-IN" dirty="0">
                <a:solidFill>
                  <a:srgbClr val="000000"/>
                </a:solidFill>
                <a:effectLst/>
                <a:latin typeface="Times New Roman" panose="02020603050405020304" pitchFamily="18" charset="0"/>
                <a:cs typeface="Times New Roman" panose="02020603050405020304" pitchFamily="18" charset="0"/>
              </a:rPr>
              <a:t> is a soft link.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889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AA6-A2AF-8058-BAD2-49F3E1A709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62A780-4523-9C4A-8310-D9418999E980}"/>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D5F1B72-D468-534C-5D6C-770C99EC626B}"/>
              </a:ext>
            </a:extLst>
          </p:cNvPr>
          <p:cNvSpPr txBox="1"/>
          <p:nvPr/>
        </p:nvSpPr>
        <p:spPr>
          <a:xfrm>
            <a:off x="137652" y="1573161"/>
            <a:ext cx="11518489"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VIEWING FILE AND DIRECTORY PERMISSIONS AND OWNERSHIP</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25B62A5-A0BA-55D8-0CF2-28EBA735DE16}"/>
              </a:ext>
            </a:extLst>
          </p:cNvPr>
          <p:cNvPicPr>
            <a:picLocks noChangeAspect="1"/>
          </p:cNvPicPr>
          <p:nvPr/>
        </p:nvPicPr>
        <p:blipFill>
          <a:blip r:embed="rId2"/>
          <a:stretch>
            <a:fillRect/>
          </a:stretch>
        </p:blipFill>
        <p:spPr>
          <a:xfrm>
            <a:off x="1928225" y="2281047"/>
            <a:ext cx="6153892" cy="596931"/>
          </a:xfrm>
          <a:prstGeom prst="rect">
            <a:avLst/>
          </a:prstGeom>
        </p:spPr>
      </p:pic>
      <p:sp>
        <p:nvSpPr>
          <p:cNvPr id="10" name="TextBox 9">
            <a:extLst>
              <a:ext uri="{FF2B5EF4-FFF2-40B4-BE49-F238E27FC236}">
                <a16:creationId xmlns:a16="http://schemas.microsoft.com/office/drawing/2014/main" id="{57BFA40F-0675-D8D4-4D24-35E80AE87C43}"/>
              </a:ext>
            </a:extLst>
          </p:cNvPr>
          <p:cNvSpPr txBox="1"/>
          <p:nvPr/>
        </p:nvSpPr>
        <p:spPr>
          <a:xfrm>
            <a:off x="501446" y="3077594"/>
            <a:ext cx="10107560" cy="369332"/>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The </a:t>
            </a:r>
            <a:r>
              <a:rPr lang="en-IN" b="1" dirty="0">
                <a:solidFill>
                  <a:srgbClr val="000000"/>
                </a:solidFill>
                <a:effectLst/>
                <a:latin typeface="Times New Roman" panose="02020603050405020304" pitchFamily="18" charset="0"/>
                <a:cs typeface="Times New Roman" panose="02020603050405020304" pitchFamily="18" charset="0"/>
              </a:rPr>
              <a:t>-l</a:t>
            </a:r>
            <a:r>
              <a:rPr lang="en-IN" dirty="0">
                <a:solidFill>
                  <a:srgbClr val="000000"/>
                </a:solidFill>
                <a:effectLst/>
                <a:latin typeface="Times New Roman" panose="02020603050405020304" pitchFamily="18" charset="0"/>
                <a:cs typeface="Times New Roman" panose="02020603050405020304" pitchFamily="18" charset="0"/>
              </a:rPr>
              <a:t> option of the </a:t>
            </a:r>
            <a:r>
              <a:rPr lang="en-IN" b="1" dirty="0">
                <a:solidFill>
                  <a:srgbClr val="000000"/>
                </a:solidFill>
                <a:effectLst/>
                <a:latin typeface="Times New Roman" panose="02020603050405020304" pitchFamily="18" charset="0"/>
                <a:cs typeface="Times New Roman" panose="02020603050405020304" pitchFamily="18" charset="0"/>
              </a:rPr>
              <a:t>ls</a:t>
            </a:r>
            <a:r>
              <a:rPr lang="en-IN" dirty="0">
                <a:solidFill>
                  <a:srgbClr val="000000"/>
                </a:solidFill>
                <a:effectLst/>
                <a:latin typeface="Times New Roman" panose="02020603050405020304" pitchFamily="18" charset="0"/>
                <a:cs typeface="Times New Roman" panose="02020603050405020304" pitchFamily="18" charset="0"/>
              </a:rPr>
              <a:t> command shows more detailed information about file permissions and ownership</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FBFCEC8-DB33-BD7B-A20E-7D09FD649BA9}"/>
              </a:ext>
            </a:extLst>
          </p:cNvPr>
          <p:cNvPicPr>
            <a:picLocks noChangeAspect="1"/>
          </p:cNvPicPr>
          <p:nvPr/>
        </p:nvPicPr>
        <p:blipFill>
          <a:blip r:embed="rId3"/>
          <a:stretch>
            <a:fillRect/>
          </a:stretch>
        </p:blipFill>
        <p:spPr>
          <a:xfrm>
            <a:off x="1928225" y="3816567"/>
            <a:ext cx="6153892" cy="647733"/>
          </a:xfrm>
          <a:prstGeom prst="rect">
            <a:avLst/>
          </a:prstGeom>
        </p:spPr>
      </p:pic>
      <p:sp>
        <p:nvSpPr>
          <p:cNvPr id="14" name="TextBox 13">
            <a:extLst>
              <a:ext uri="{FF2B5EF4-FFF2-40B4-BE49-F238E27FC236}">
                <a16:creationId xmlns:a16="http://schemas.microsoft.com/office/drawing/2014/main" id="{F25EA0D4-795C-9217-E2B5-94212219E089}"/>
              </a:ext>
            </a:extLst>
          </p:cNvPr>
          <p:cNvSpPr txBox="1"/>
          <p:nvPr/>
        </p:nvSpPr>
        <p:spPr>
          <a:xfrm>
            <a:off x="501446" y="4833941"/>
            <a:ext cx="9409470" cy="1200329"/>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The first character of the long listing is the file type. You interpret it like this: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effectLst/>
                <a:latin typeface="Times New Roman" panose="02020603050405020304" pitchFamily="18" charset="0"/>
                <a:cs typeface="Times New Roman" panose="02020603050405020304" pitchFamily="18" charset="0"/>
              </a:rPr>
              <a:t>-</a:t>
            </a:r>
            <a:r>
              <a:rPr lang="en-IN" dirty="0">
                <a:solidFill>
                  <a:srgbClr val="000000"/>
                </a:solidFill>
                <a:effectLst/>
                <a:latin typeface="Times New Roman" panose="02020603050405020304" pitchFamily="18" charset="0"/>
                <a:cs typeface="Times New Roman" panose="02020603050405020304" pitchFamily="18" charset="0"/>
              </a:rPr>
              <a:t> is a regular file.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effectLst/>
                <a:latin typeface="Times New Roman" panose="02020603050405020304" pitchFamily="18" charset="0"/>
                <a:cs typeface="Times New Roman" panose="02020603050405020304" pitchFamily="18" charset="0"/>
              </a:rPr>
              <a:t>d</a:t>
            </a:r>
            <a:r>
              <a:rPr lang="en-IN" dirty="0">
                <a:solidFill>
                  <a:srgbClr val="000000"/>
                </a:solidFill>
                <a:effectLst/>
                <a:latin typeface="Times New Roman" panose="02020603050405020304" pitchFamily="18" charset="0"/>
                <a:cs typeface="Times New Roman" panose="02020603050405020304" pitchFamily="18" charset="0"/>
              </a:rPr>
              <a:t> is a directory.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effectLst/>
                <a:latin typeface="Times New Roman" panose="02020603050405020304" pitchFamily="18" charset="0"/>
                <a:cs typeface="Times New Roman" panose="02020603050405020304" pitchFamily="18" charset="0"/>
              </a:rPr>
              <a:t>l</a:t>
            </a:r>
            <a:r>
              <a:rPr lang="en-IN" dirty="0">
                <a:solidFill>
                  <a:srgbClr val="000000"/>
                </a:solidFill>
                <a:effectLst/>
                <a:latin typeface="Times New Roman" panose="02020603050405020304" pitchFamily="18" charset="0"/>
                <a:cs typeface="Times New Roman" panose="02020603050405020304" pitchFamily="18" charset="0"/>
              </a:rPr>
              <a:t> is a soft link.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08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8CC9-C67D-B005-6FCD-1DEB02CBC1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B5DD70-AF85-E04A-9C04-64EF3C062752}"/>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18AB93D-1C99-AA40-22E4-132C7B8FE773}"/>
              </a:ext>
            </a:extLst>
          </p:cNvPr>
          <p:cNvSpPr txBox="1"/>
          <p:nvPr/>
        </p:nvSpPr>
        <p:spPr>
          <a:xfrm>
            <a:off x="137652" y="1573161"/>
            <a:ext cx="11518489"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VIEWING FILE AND DIRECTORY PERMISSIONS AND OWNERSHIP</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7503C3C-F4C0-28BE-BA85-497CC50AFF8A}"/>
              </a:ext>
            </a:extLst>
          </p:cNvPr>
          <p:cNvSpPr txBox="1"/>
          <p:nvPr/>
        </p:nvSpPr>
        <p:spPr>
          <a:xfrm>
            <a:off x="1622322" y="2399900"/>
            <a:ext cx="6096000" cy="1015663"/>
          </a:xfrm>
          <a:prstGeom prst="rect">
            <a:avLst/>
          </a:prstGeom>
          <a:noFill/>
        </p:spPr>
        <p:txBody>
          <a:bodyPr wrap="square">
            <a:spAutoFit/>
          </a:bodyPr>
          <a:lstStyle/>
          <a:p>
            <a:r>
              <a:rPr lang="en-IN" sz="2000" b="1" dirty="0">
                <a:solidFill>
                  <a:srgbClr val="000000"/>
                </a:solidFill>
                <a:effectLst/>
                <a:latin typeface="Times New Roman" panose="02020603050405020304" pitchFamily="18" charset="0"/>
                <a:cs typeface="Times New Roman" panose="02020603050405020304" pitchFamily="18" charset="0"/>
              </a:rPr>
              <a:t>Changing Permissions with the Symbolic Method</a:t>
            </a:r>
          </a:p>
          <a:p>
            <a:endParaRPr lang="en-IN" sz="2000" b="1" dirty="0">
              <a:solidFill>
                <a:srgbClr val="000000"/>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7E3BC68-AB58-4E7A-41C6-B873F5BCB0B5}"/>
              </a:ext>
            </a:extLst>
          </p:cNvPr>
          <p:cNvPicPr>
            <a:picLocks noChangeAspect="1"/>
          </p:cNvPicPr>
          <p:nvPr/>
        </p:nvPicPr>
        <p:blipFill>
          <a:blip r:embed="rId2"/>
          <a:stretch>
            <a:fillRect/>
          </a:stretch>
        </p:blipFill>
        <p:spPr>
          <a:xfrm>
            <a:off x="2019754" y="3062393"/>
            <a:ext cx="4475892" cy="595133"/>
          </a:xfrm>
          <a:prstGeom prst="rect">
            <a:avLst/>
          </a:prstGeom>
        </p:spPr>
      </p:pic>
      <p:sp>
        <p:nvSpPr>
          <p:cNvPr id="11" name="TextBox 10">
            <a:extLst>
              <a:ext uri="{FF2B5EF4-FFF2-40B4-BE49-F238E27FC236}">
                <a16:creationId xmlns:a16="http://schemas.microsoft.com/office/drawing/2014/main" id="{CB09A03D-9FC3-B325-830B-AF1B6339BB46}"/>
              </a:ext>
            </a:extLst>
          </p:cNvPr>
          <p:cNvSpPr txBox="1"/>
          <p:nvPr/>
        </p:nvSpPr>
        <p:spPr>
          <a:xfrm>
            <a:off x="1848465" y="4178101"/>
            <a:ext cx="6096000" cy="1200329"/>
          </a:xfrm>
          <a:prstGeom prst="rect">
            <a:avLst/>
          </a:prstGeom>
          <a:noFill/>
        </p:spPr>
        <p:txBody>
          <a:bodyPr wrap="square">
            <a:spAutoFit/>
          </a:bodyPr>
          <a:lstStyle/>
          <a:p>
            <a:pPr>
              <a:buNone/>
            </a:pPr>
            <a:r>
              <a:rPr lang="en-IN" sz="2400" dirty="0">
                <a:solidFill>
                  <a:srgbClr val="000000"/>
                </a:solidFill>
                <a:effectLst/>
                <a:latin typeface="Times New Roman" panose="02020603050405020304" pitchFamily="18" charset="0"/>
                <a:cs typeface="Times New Roman" panose="02020603050405020304" pitchFamily="18" charset="0"/>
              </a:rPr>
              <a:t>• Who is u, g, o, a (for user, group, other, all) </a:t>
            </a:r>
            <a:endParaRPr lang="en-IN" sz="2400" dirty="0">
              <a:latin typeface="Times New Roman" panose="02020603050405020304" pitchFamily="18" charset="0"/>
              <a:cs typeface="Times New Roman" panose="02020603050405020304" pitchFamily="18" charset="0"/>
            </a:endParaRPr>
          </a:p>
          <a:p>
            <a:pPr>
              <a:buNone/>
            </a:pPr>
            <a:r>
              <a:rPr lang="en-IN" sz="2400" dirty="0">
                <a:solidFill>
                  <a:srgbClr val="000000"/>
                </a:solidFill>
                <a:effectLst/>
                <a:latin typeface="Times New Roman" panose="02020603050405020304" pitchFamily="18" charset="0"/>
                <a:cs typeface="Times New Roman" panose="02020603050405020304" pitchFamily="18" charset="0"/>
              </a:rPr>
              <a:t>• What is +, -, = (for add, remove, set exactly) </a:t>
            </a:r>
            <a:endParaRPr lang="en-IN" sz="2400" dirty="0">
              <a:latin typeface="Times New Roman" panose="02020603050405020304" pitchFamily="18" charset="0"/>
              <a:cs typeface="Times New Roman" panose="02020603050405020304" pitchFamily="18" charset="0"/>
            </a:endParaRPr>
          </a:p>
          <a:p>
            <a:pPr>
              <a:buNone/>
            </a:pPr>
            <a:r>
              <a:rPr lang="en-IN" sz="2400" dirty="0">
                <a:solidFill>
                  <a:srgbClr val="000000"/>
                </a:solidFill>
                <a:effectLst/>
                <a:latin typeface="Times New Roman" panose="02020603050405020304" pitchFamily="18" charset="0"/>
                <a:cs typeface="Times New Roman" panose="02020603050405020304" pitchFamily="18" charset="0"/>
              </a:rPr>
              <a:t>• Which is r, w, x (for read, write, execute)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8735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A7B9-7F8B-A4BB-6CC6-7242D3D696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B431C3-0934-368C-EB3F-BA44D3124E75}"/>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F0BC60-70F1-4A57-9A9E-D31C9E2CD868}"/>
              </a:ext>
            </a:extLst>
          </p:cNvPr>
          <p:cNvSpPr txBox="1"/>
          <p:nvPr/>
        </p:nvSpPr>
        <p:spPr>
          <a:xfrm>
            <a:off x="211395" y="1598608"/>
            <a:ext cx="11518489" cy="64633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VIEWING FILE AND DIRECTORY PERMISSIONS AND</a:t>
            </a:r>
          </a:p>
          <a:p>
            <a:r>
              <a:rPr lang="en-IN" b="1" dirty="0">
                <a:latin typeface="Times New Roman" panose="02020603050405020304" pitchFamily="18" charset="0"/>
                <a:cs typeface="Times New Roman" panose="02020603050405020304" pitchFamily="18" charset="0"/>
              </a:rPr>
              <a:t> OWNERSHIP</a:t>
            </a: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822D234-74E9-B7DA-CF23-F8E922B74BF4}"/>
              </a:ext>
            </a:extLst>
          </p:cNvPr>
          <p:cNvPicPr>
            <a:picLocks noChangeAspect="1"/>
          </p:cNvPicPr>
          <p:nvPr/>
        </p:nvPicPr>
        <p:blipFill>
          <a:blip r:embed="rId2">
            <a:extLst>
              <a:ext uri="{28A0092B-C50C-407E-A947-70E740481C1C}">
                <a14:useLocalDpi xmlns:a14="http://schemas.microsoft.com/office/drawing/2010/main" val="0"/>
              </a:ext>
            </a:extLst>
          </a:blip>
          <a:srcRect l="23459" t="14701" r="23971" b="10588"/>
          <a:stretch>
            <a:fillRect/>
          </a:stretch>
        </p:blipFill>
        <p:spPr>
          <a:xfrm>
            <a:off x="137652" y="2244939"/>
            <a:ext cx="6538452" cy="3805084"/>
          </a:xfrm>
          <a:prstGeom prst="rect">
            <a:avLst/>
          </a:prstGeom>
        </p:spPr>
      </p:pic>
      <p:sp>
        <p:nvSpPr>
          <p:cNvPr id="12" name="TextBox 11">
            <a:extLst>
              <a:ext uri="{FF2B5EF4-FFF2-40B4-BE49-F238E27FC236}">
                <a16:creationId xmlns:a16="http://schemas.microsoft.com/office/drawing/2014/main" id="{101E3755-418F-C1BC-2E05-D879A13C1AD8}"/>
              </a:ext>
            </a:extLst>
          </p:cNvPr>
          <p:cNvSpPr txBox="1"/>
          <p:nvPr/>
        </p:nvSpPr>
        <p:spPr>
          <a:xfrm>
            <a:off x="7708490" y="2694659"/>
            <a:ext cx="4345858" cy="3139321"/>
          </a:xfrm>
          <a:prstGeom prst="rect">
            <a:avLst/>
          </a:prstGeom>
          <a:noFill/>
        </p:spPr>
        <p:txBody>
          <a:bodyPr wrap="square">
            <a:spAutoFit/>
          </a:bodyPr>
          <a:lstStyle/>
          <a:p>
            <a:r>
              <a:rPr lang="en-IN" dirty="0" err="1">
                <a:latin typeface="Times New Roman" panose="02020603050405020304" pitchFamily="18" charset="0"/>
                <a:cs typeface="Times New Roman" panose="02020603050405020304" pitchFamily="18" charset="0"/>
              </a:rPr>
              <a:t>chmod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u+x</a:t>
            </a:r>
            <a:r>
              <a:rPr lang="en-IN" dirty="0">
                <a:latin typeface="Times New Roman" panose="02020603050405020304" pitchFamily="18" charset="0"/>
                <a:cs typeface="Times New Roman" panose="02020603050405020304" pitchFamily="18" charset="0"/>
              </a:rPr>
              <a:t> file1</a:t>
            </a:r>
          </a:p>
          <a:p>
            <a:r>
              <a:rPr lang="en-IN" dirty="0">
                <a:latin typeface="Times New Roman" panose="02020603050405020304" pitchFamily="18" charset="0"/>
                <a:cs typeface="Times New Roman" panose="02020603050405020304" pitchFamily="18" charset="0"/>
              </a:rPr>
              <a:t>Only </a:t>
            </a:r>
            <a:r>
              <a:rPr lang="en-IN" b="1" dirty="0">
                <a:latin typeface="Times New Roman" panose="02020603050405020304" pitchFamily="18" charset="0"/>
                <a:cs typeface="Times New Roman" panose="02020603050405020304" pitchFamily="18" charset="0"/>
              </a:rPr>
              <a:t>Akshansh</a:t>
            </a:r>
            <a:r>
              <a:rPr lang="en-IN" dirty="0">
                <a:latin typeface="Times New Roman" panose="02020603050405020304" pitchFamily="18" charset="0"/>
                <a:cs typeface="Times New Roman" panose="02020603050405020304" pitchFamily="18" charset="0"/>
              </a:rPr>
              <a:t> is affected.</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chmod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g+x</a:t>
            </a:r>
            <a:r>
              <a:rPr lang="en-IN" dirty="0">
                <a:latin typeface="Times New Roman" panose="02020603050405020304" pitchFamily="18" charset="0"/>
                <a:cs typeface="Times New Roman" panose="02020603050405020304" pitchFamily="18" charset="0"/>
              </a:rPr>
              <a:t> file1</a:t>
            </a:r>
          </a:p>
          <a:p>
            <a:r>
              <a:rPr lang="en-IN" dirty="0">
                <a:latin typeface="Times New Roman" panose="02020603050405020304" pitchFamily="18" charset="0"/>
                <a:cs typeface="Times New Roman" panose="02020603050405020304" pitchFamily="18" charset="0"/>
              </a:rPr>
              <a:t>Only the </a:t>
            </a:r>
            <a:r>
              <a:rPr lang="en-IN" b="1" dirty="0">
                <a:latin typeface="Times New Roman" panose="02020603050405020304" pitchFamily="18" charset="0"/>
                <a:cs typeface="Times New Roman" panose="02020603050405020304" pitchFamily="18" charset="0"/>
              </a:rPr>
              <a:t>Linux Students</a:t>
            </a:r>
            <a:r>
              <a:rPr lang="en-IN" dirty="0">
                <a:latin typeface="Times New Roman" panose="02020603050405020304" pitchFamily="18" charset="0"/>
                <a:cs typeface="Times New Roman" panose="02020603050405020304" pitchFamily="18" charset="0"/>
              </a:rPr>
              <a:t> group is affected.</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chmod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o+x</a:t>
            </a:r>
            <a:r>
              <a:rPr lang="en-IN" dirty="0">
                <a:latin typeface="Times New Roman" panose="02020603050405020304" pitchFamily="18" charset="0"/>
                <a:cs typeface="Times New Roman" panose="02020603050405020304" pitchFamily="18" charset="0"/>
              </a:rPr>
              <a:t> file1</a:t>
            </a:r>
          </a:p>
          <a:p>
            <a:r>
              <a:rPr lang="en-IN" dirty="0">
                <a:latin typeface="Times New Roman" panose="02020603050405020304" pitchFamily="18" charset="0"/>
                <a:cs typeface="Times New Roman" panose="02020603050405020304" pitchFamily="18" charset="0"/>
              </a:rPr>
              <a:t>Only everyone else is affected</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598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81D22-AC51-EC7A-75A7-47A9C5B18A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028D52-A531-0D94-5A11-78150F81E6AA}"/>
              </a:ext>
            </a:extLst>
          </p:cNvPr>
          <p:cNvSpPr txBox="1"/>
          <p:nvPr/>
        </p:nvSpPr>
        <p:spPr>
          <a:xfrm>
            <a:off x="3421626" y="581835"/>
            <a:ext cx="7059561"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Managing Files permission Numerically</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9667E5F-7741-F264-59C3-6A845E80C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207" y="1254356"/>
            <a:ext cx="4572000" cy="4714568"/>
          </a:xfrm>
          <a:prstGeom prst="rect">
            <a:avLst/>
          </a:prstGeom>
        </p:spPr>
      </p:pic>
      <p:graphicFrame>
        <p:nvGraphicFramePr>
          <p:cNvPr id="10" name="Table 9">
            <a:extLst>
              <a:ext uri="{FF2B5EF4-FFF2-40B4-BE49-F238E27FC236}">
                <a16:creationId xmlns:a16="http://schemas.microsoft.com/office/drawing/2014/main" id="{C2F5C09E-B687-4473-2031-C8B01F13BEB7}"/>
              </a:ext>
            </a:extLst>
          </p:cNvPr>
          <p:cNvGraphicFramePr>
            <a:graphicFrameLocks noGrp="1"/>
          </p:cNvGraphicFramePr>
          <p:nvPr>
            <p:extLst>
              <p:ext uri="{D42A27DB-BD31-4B8C-83A1-F6EECF244321}">
                <p14:modId xmlns:p14="http://schemas.microsoft.com/office/powerpoint/2010/main" val="2247404498"/>
              </p:ext>
            </p:extLst>
          </p:nvPr>
        </p:nvGraphicFramePr>
        <p:xfrm>
          <a:off x="5388076" y="1254356"/>
          <a:ext cx="5965722" cy="4930137"/>
        </p:xfrm>
        <a:graphic>
          <a:graphicData uri="http://schemas.openxmlformats.org/drawingml/2006/table">
            <a:tbl>
              <a:tblPr/>
              <a:tblGrid>
                <a:gridCol w="1988574">
                  <a:extLst>
                    <a:ext uri="{9D8B030D-6E8A-4147-A177-3AD203B41FA5}">
                      <a16:colId xmlns:a16="http://schemas.microsoft.com/office/drawing/2014/main" val="2579449420"/>
                    </a:ext>
                  </a:extLst>
                </a:gridCol>
                <a:gridCol w="1988574">
                  <a:extLst>
                    <a:ext uri="{9D8B030D-6E8A-4147-A177-3AD203B41FA5}">
                      <a16:colId xmlns:a16="http://schemas.microsoft.com/office/drawing/2014/main" val="2122295354"/>
                    </a:ext>
                  </a:extLst>
                </a:gridCol>
                <a:gridCol w="1988574">
                  <a:extLst>
                    <a:ext uri="{9D8B030D-6E8A-4147-A177-3AD203B41FA5}">
                      <a16:colId xmlns:a16="http://schemas.microsoft.com/office/drawing/2014/main" val="1496475552"/>
                    </a:ext>
                  </a:extLst>
                </a:gridCol>
              </a:tblGrid>
              <a:tr h="547793">
                <a:tc>
                  <a:txBody>
                    <a:bodyPr/>
                    <a:lstStyle/>
                    <a:p>
                      <a:pPr>
                        <a:buNone/>
                      </a:pPr>
                      <a:r>
                        <a:rPr lang="en-IN" b="1">
                          <a:latin typeface="Times New Roman" panose="02020603050405020304" pitchFamily="18" charset="0"/>
                          <a:cs typeface="Times New Roman" panose="02020603050405020304" pitchFamily="18" charset="0"/>
                        </a:rPr>
                        <a:t>Permission</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Calculation</a:t>
                      </a:r>
                    </a:p>
                  </a:txBody>
                  <a:tcPr anchor="ctr">
                    <a:lnL>
                      <a:noFill/>
                    </a:lnL>
                    <a:lnR>
                      <a:noFill/>
                    </a:lnR>
                    <a:lnT>
                      <a:noFill/>
                    </a:lnT>
                    <a:lnB>
                      <a:noFill/>
                    </a:lnB>
                    <a:noFill/>
                  </a:tcPr>
                </a:tc>
                <a:tc>
                  <a:txBody>
                    <a:bodyPr/>
                    <a:lstStyle/>
                    <a:p>
                      <a:pPr algn="r">
                        <a:buNone/>
                      </a:pPr>
                      <a:r>
                        <a:rPr lang="en-IN" b="1" dirty="0">
                          <a:latin typeface="Times New Roman" panose="02020603050405020304" pitchFamily="18" charset="0"/>
                          <a:cs typeface="Times New Roman" panose="02020603050405020304" pitchFamily="18" charset="0"/>
                        </a:rPr>
                        <a:t>Number</a:t>
                      </a:r>
                    </a:p>
                  </a:txBody>
                  <a:tcPr anchor="ctr">
                    <a:lnL>
                      <a:noFill/>
                    </a:lnL>
                    <a:lnR>
                      <a:noFill/>
                    </a:lnR>
                    <a:lnT>
                      <a:noFill/>
                    </a:lnT>
                    <a:lnB>
                      <a:noFill/>
                    </a:lnB>
                    <a:noFill/>
                  </a:tcPr>
                </a:tc>
                <a:extLst>
                  <a:ext uri="{0D108BD9-81ED-4DB2-BD59-A6C34878D82A}">
                    <a16:rowId xmlns:a16="http://schemas.microsoft.com/office/drawing/2014/main" val="2777259940"/>
                  </a:ext>
                </a:extLst>
              </a:tr>
              <a:tr h="547793">
                <a:tc>
                  <a:txBody>
                    <a:bodyPr/>
                    <a:lstStyle/>
                    <a:p>
                      <a:pPr>
                        <a:buNone/>
                      </a:pPr>
                      <a:r>
                        <a:rPr lang="en-IN">
                          <a:latin typeface="Times New Roman" panose="02020603050405020304" pitchFamily="18" charset="0"/>
                          <a:cs typeface="Times New Roman" panose="02020603050405020304" pitchFamily="18" charset="0"/>
                        </a:rPr>
                        <a:t>---</a:t>
                      </a:r>
                    </a:p>
                  </a:txBody>
                  <a:tcPr anchor="ctr">
                    <a:lnL>
                      <a:noFill/>
                    </a:lnL>
                    <a:lnR>
                      <a:noFill/>
                    </a:lnR>
                    <a:lnT>
                      <a:noFill/>
                    </a:lnT>
                    <a:lnB>
                      <a:noFill/>
                    </a:lnB>
                    <a:noFill/>
                  </a:tcPr>
                </a:tc>
                <a:tc>
                  <a:txBody>
                    <a:bodyPr/>
                    <a:lstStyle/>
                    <a:p>
                      <a:pPr algn="r">
                        <a:buNone/>
                      </a:pPr>
                      <a:r>
                        <a:rPr lang="en-IN" dirty="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0</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375126402"/>
                  </a:ext>
                </a:extLst>
              </a:tr>
              <a:tr h="547793">
                <a:tc>
                  <a:txBody>
                    <a:bodyPr/>
                    <a:lstStyle/>
                    <a:p>
                      <a:pPr>
                        <a:buNone/>
                      </a:pPr>
                      <a:r>
                        <a:rPr lang="en-IN">
                          <a:latin typeface="Times New Roman" panose="02020603050405020304" pitchFamily="18" charset="0"/>
                          <a:cs typeface="Times New Roman" panose="02020603050405020304" pitchFamily="18" charset="0"/>
                        </a:rPr>
                        <a:t>--x</a:t>
                      </a:r>
                    </a:p>
                  </a:txBody>
                  <a:tcPr anchor="ctr">
                    <a:lnL>
                      <a:noFill/>
                    </a:lnL>
                    <a:lnR>
                      <a:noFill/>
                    </a:lnR>
                    <a:lnT>
                      <a:noFill/>
                    </a:lnT>
                    <a:lnB>
                      <a:noFill/>
                    </a:lnB>
                    <a:noFill/>
                  </a:tcPr>
                </a:tc>
                <a:tc>
                  <a:txBody>
                    <a:bodyPr/>
                    <a:lstStyle/>
                    <a:p>
                      <a:pPr algn="r">
                        <a:buNone/>
                      </a:pPr>
                      <a:r>
                        <a:rPr lang="en-IN">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1</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617949671"/>
                  </a:ext>
                </a:extLst>
              </a:tr>
              <a:tr h="547793">
                <a:tc>
                  <a:txBody>
                    <a:bodyPr/>
                    <a:lstStyle/>
                    <a:p>
                      <a:pPr>
                        <a:buNone/>
                      </a:pPr>
                      <a:r>
                        <a:rPr lang="en-IN">
                          <a:latin typeface="Times New Roman" panose="02020603050405020304" pitchFamily="18" charset="0"/>
                          <a:cs typeface="Times New Roman" panose="02020603050405020304" pitchFamily="18" charset="0"/>
                        </a:rPr>
                        <a:t>-w-</a:t>
                      </a:r>
                    </a:p>
                  </a:txBody>
                  <a:tcPr anchor="ctr">
                    <a:lnL>
                      <a:noFill/>
                    </a:lnL>
                    <a:lnR>
                      <a:noFill/>
                    </a:lnR>
                    <a:lnT>
                      <a:noFill/>
                    </a:lnT>
                    <a:lnB>
                      <a:noFill/>
                    </a:lnB>
                    <a:noFill/>
                  </a:tcPr>
                </a:tc>
                <a:tc>
                  <a:txBody>
                    <a:bodyPr/>
                    <a:lstStyle/>
                    <a:p>
                      <a:pPr algn="r">
                        <a:buNone/>
                      </a:pPr>
                      <a:r>
                        <a:rPr lang="en-IN">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2</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736680803"/>
                  </a:ext>
                </a:extLst>
              </a:tr>
              <a:tr h="547793">
                <a:tc>
                  <a:txBody>
                    <a:bodyPr/>
                    <a:lstStyle/>
                    <a:p>
                      <a:pPr>
                        <a:buNone/>
                      </a:pPr>
                      <a:r>
                        <a:rPr lang="en-IN">
                          <a:latin typeface="Times New Roman" panose="02020603050405020304" pitchFamily="18" charset="0"/>
                          <a:cs typeface="Times New Roman" panose="02020603050405020304" pitchFamily="18" charset="0"/>
                        </a:rPr>
                        <a:t>-wx</a:t>
                      </a:r>
                    </a:p>
                  </a:txBody>
                  <a:tcPr anchor="ctr">
                    <a:lnL>
                      <a:noFill/>
                    </a:lnL>
                    <a:lnR>
                      <a:noFill/>
                    </a:lnR>
                    <a:lnT>
                      <a:noFill/>
                    </a:lnT>
                    <a:lnB>
                      <a:noFill/>
                    </a:lnB>
                    <a:noFill/>
                  </a:tcPr>
                </a:tc>
                <a:tc>
                  <a:txBody>
                    <a:bodyPr/>
                    <a:lstStyle/>
                    <a:p>
                      <a:pPr algn="r">
                        <a:buNone/>
                      </a:pPr>
                      <a:r>
                        <a:rPr lang="en-IN">
                          <a:latin typeface="Times New Roman" panose="02020603050405020304" pitchFamily="18" charset="0"/>
                          <a:cs typeface="Times New Roman" panose="02020603050405020304" pitchFamily="18" charset="0"/>
                        </a:rPr>
                        <a:t>2 + 1</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3</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819918706"/>
                  </a:ext>
                </a:extLst>
              </a:tr>
              <a:tr h="547793">
                <a:tc>
                  <a:txBody>
                    <a:bodyPr/>
                    <a:lstStyle/>
                    <a:p>
                      <a:pPr>
                        <a:buNone/>
                      </a:pPr>
                      <a:r>
                        <a:rPr lang="en-IN">
                          <a:latin typeface="Times New Roman" panose="02020603050405020304" pitchFamily="18" charset="0"/>
                          <a:cs typeface="Times New Roman" panose="02020603050405020304" pitchFamily="18" charset="0"/>
                        </a:rPr>
                        <a:t>r--</a:t>
                      </a:r>
                    </a:p>
                  </a:txBody>
                  <a:tcPr anchor="ctr">
                    <a:lnL>
                      <a:noFill/>
                    </a:lnL>
                    <a:lnR>
                      <a:noFill/>
                    </a:lnR>
                    <a:lnT>
                      <a:noFill/>
                    </a:lnT>
                    <a:lnB>
                      <a:noFill/>
                    </a:lnB>
                    <a:noFill/>
                  </a:tcPr>
                </a:tc>
                <a:tc>
                  <a:txBody>
                    <a:bodyPr/>
                    <a:lstStyle/>
                    <a:p>
                      <a:pPr algn="r">
                        <a:buNone/>
                      </a:pPr>
                      <a:r>
                        <a:rPr lang="en-IN" dirty="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4</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2924183518"/>
                  </a:ext>
                </a:extLst>
              </a:tr>
              <a:tr h="547793">
                <a:tc>
                  <a:txBody>
                    <a:bodyPr/>
                    <a:lstStyle/>
                    <a:p>
                      <a:pPr>
                        <a:buNone/>
                      </a:pPr>
                      <a:r>
                        <a:rPr lang="en-IN">
                          <a:latin typeface="Times New Roman" panose="02020603050405020304" pitchFamily="18" charset="0"/>
                          <a:cs typeface="Times New Roman" panose="02020603050405020304" pitchFamily="18" charset="0"/>
                        </a:rPr>
                        <a:t>r-x</a:t>
                      </a:r>
                    </a:p>
                  </a:txBody>
                  <a:tcPr anchor="ctr">
                    <a:lnL>
                      <a:noFill/>
                    </a:lnL>
                    <a:lnR>
                      <a:noFill/>
                    </a:lnR>
                    <a:lnT>
                      <a:noFill/>
                    </a:lnT>
                    <a:lnB>
                      <a:noFill/>
                    </a:lnB>
                    <a:noFill/>
                  </a:tcPr>
                </a:tc>
                <a:tc>
                  <a:txBody>
                    <a:bodyPr/>
                    <a:lstStyle/>
                    <a:p>
                      <a:pPr algn="r">
                        <a:buNone/>
                      </a:pPr>
                      <a:r>
                        <a:rPr lang="en-IN">
                          <a:latin typeface="Times New Roman" panose="02020603050405020304" pitchFamily="18" charset="0"/>
                          <a:cs typeface="Times New Roman" panose="02020603050405020304" pitchFamily="18" charset="0"/>
                        </a:rPr>
                        <a:t>4 + 1</a:t>
                      </a:r>
                    </a:p>
                  </a:txBody>
                  <a:tcPr anchor="ctr">
                    <a:lnL>
                      <a:noFill/>
                    </a:lnL>
                    <a:lnR>
                      <a:noFill/>
                    </a:lnR>
                    <a:lnT>
                      <a:noFill/>
                    </a:lnT>
                    <a:lnB>
                      <a:noFill/>
                    </a:lnB>
                    <a:noFill/>
                  </a:tcPr>
                </a:tc>
                <a:tc>
                  <a:txBody>
                    <a:bodyPr/>
                    <a:lstStyle/>
                    <a:p>
                      <a:pPr algn="r">
                        <a:buNone/>
                      </a:pPr>
                      <a:r>
                        <a:rPr lang="en-IN" b="1"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367970022"/>
                  </a:ext>
                </a:extLst>
              </a:tr>
              <a:tr h="547793">
                <a:tc>
                  <a:txBody>
                    <a:bodyPr/>
                    <a:lstStyle/>
                    <a:p>
                      <a:pPr>
                        <a:buNone/>
                      </a:pPr>
                      <a:r>
                        <a:rPr lang="en-IN">
                          <a:latin typeface="Times New Roman" panose="02020603050405020304" pitchFamily="18" charset="0"/>
                          <a:cs typeface="Times New Roman" panose="02020603050405020304" pitchFamily="18" charset="0"/>
                        </a:rPr>
                        <a:t>rw-</a:t>
                      </a:r>
                    </a:p>
                  </a:txBody>
                  <a:tcPr anchor="ctr">
                    <a:lnL>
                      <a:noFill/>
                    </a:lnL>
                    <a:lnR>
                      <a:noFill/>
                    </a:lnR>
                    <a:lnT>
                      <a:noFill/>
                    </a:lnT>
                    <a:lnB>
                      <a:noFill/>
                    </a:lnB>
                    <a:noFill/>
                  </a:tcPr>
                </a:tc>
                <a:tc>
                  <a:txBody>
                    <a:bodyPr/>
                    <a:lstStyle/>
                    <a:p>
                      <a:pPr algn="r">
                        <a:buNone/>
                      </a:pPr>
                      <a:r>
                        <a:rPr lang="en-IN">
                          <a:latin typeface="Times New Roman" panose="02020603050405020304" pitchFamily="18" charset="0"/>
                          <a:cs typeface="Times New Roman" panose="02020603050405020304" pitchFamily="18" charset="0"/>
                        </a:rPr>
                        <a:t>4 + 2</a:t>
                      </a:r>
                    </a:p>
                  </a:txBody>
                  <a:tcPr anchor="ctr">
                    <a:lnL>
                      <a:noFill/>
                    </a:lnL>
                    <a:lnR>
                      <a:noFill/>
                    </a:lnR>
                    <a:lnT>
                      <a:noFill/>
                    </a:lnT>
                    <a:lnB>
                      <a:noFill/>
                    </a:lnB>
                    <a:noFill/>
                  </a:tcPr>
                </a:tc>
                <a:tc>
                  <a:txBody>
                    <a:bodyPr/>
                    <a:lstStyle/>
                    <a:p>
                      <a:pPr algn="r">
                        <a:buNone/>
                      </a:pPr>
                      <a:r>
                        <a:rPr lang="en-IN" b="1">
                          <a:latin typeface="Times New Roman" panose="02020603050405020304" pitchFamily="18" charset="0"/>
                          <a:cs typeface="Times New Roman" panose="02020603050405020304" pitchFamily="18" charset="0"/>
                        </a:rPr>
                        <a:t>6</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2867301986"/>
                  </a:ext>
                </a:extLst>
              </a:tr>
              <a:tr h="547793">
                <a:tc>
                  <a:txBody>
                    <a:bodyPr/>
                    <a:lstStyle/>
                    <a:p>
                      <a:pPr>
                        <a:buNone/>
                      </a:pPr>
                      <a:r>
                        <a:rPr lang="en-IN">
                          <a:latin typeface="Times New Roman" panose="02020603050405020304" pitchFamily="18" charset="0"/>
                          <a:cs typeface="Times New Roman" panose="02020603050405020304" pitchFamily="18" charset="0"/>
                        </a:rPr>
                        <a:t>rwx</a:t>
                      </a:r>
                    </a:p>
                  </a:txBody>
                  <a:tcPr anchor="ctr">
                    <a:lnL>
                      <a:noFill/>
                    </a:lnL>
                    <a:lnR>
                      <a:noFill/>
                    </a:lnR>
                    <a:lnT>
                      <a:noFill/>
                    </a:lnT>
                    <a:lnB>
                      <a:noFill/>
                    </a:lnB>
                    <a:noFill/>
                  </a:tcPr>
                </a:tc>
                <a:tc>
                  <a:txBody>
                    <a:bodyPr/>
                    <a:lstStyle/>
                    <a:p>
                      <a:pPr algn="r">
                        <a:buNone/>
                      </a:pPr>
                      <a:r>
                        <a:rPr lang="en-IN">
                          <a:latin typeface="Times New Roman" panose="02020603050405020304" pitchFamily="18" charset="0"/>
                          <a:cs typeface="Times New Roman" panose="02020603050405020304" pitchFamily="18" charset="0"/>
                        </a:rPr>
                        <a:t>4 + 2 + 1</a:t>
                      </a:r>
                    </a:p>
                  </a:txBody>
                  <a:tcPr anchor="ctr">
                    <a:lnL>
                      <a:noFill/>
                    </a:lnL>
                    <a:lnR>
                      <a:noFill/>
                    </a:lnR>
                    <a:lnT>
                      <a:noFill/>
                    </a:lnT>
                    <a:lnB>
                      <a:noFill/>
                    </a:lnB>
                    <a:noFill/>
                  </a:tcPr>
                </a:tc>
                <a:tc>
                  <a:txBody>
                    <a:bodyPr/>
                    <a:lstStyle/>
                    <a:p>
                      <a:pPr algn="r">
                        <a:buNone/>
                      </a:pPr>
                      <a:r>
                        <a:rPr lang="en-IN" b="1"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039224161"/>
                  </a:ext>
                </a:extLst>
              </a:tr>
            </a:tbl>
          </a:graphicData>
        </a:graphic>
      </p:graphicFrame>
    </p:spTree>
    <p:extLst>
      <p:ext uri="{BB962C8B-B14F-4D97-AF65-F5344CB8AC3E}">
        <p14:creationId xmlns:p14="http://schemas.microsoft.com/office/powerpoint/2010/main" val="1317257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039A5-09F7-C810-2C99-5F8EC82C86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1DA26B-AA7C-E9F4-2FE8-DCF75A62ECC8}"/>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72D6701-2AFF-6263-9D60-B9F0CC0BEB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306" y="1455174"/>
            <a:ext cx="7504307" cy="4506359"/>
          </a:xfrm>
          <a:prstGeom prst="rect">
            <a:avLst/>
          </a:prstGeom>
        </p:spPr>
      </p:pic>
    </p:spTree>
    <p:extLst>
      <p:ext uri="{BB962C8B-B14F-4D97-AF65-F5344CB8AC3E}">
        <p14:creationId xmlns:p14="http://schemas.microsoft.com/office/powerpoint/2010/main" val="3568212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6DA4-FE74-CDFD-08E0-A498EB0E09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BE19E9-B07A-00A0-FF50-2B91CDAA160C}"/>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C15244D-A26D-F85E-A8A4-D911A4646FE9}"/>
              </a:ext>
            </a:extLst>
          </p:cNvPr>
          <p:cNvPicPr>
            <a:picLocks noChangeAspect="1"/>
          </p:cNvPicPr>
          <p:nvPr/>
        </p:nvPicPr>
        <p:blipFill>
          <a:blip r:embed="rId2">
            <a:extLst>
              <a:ext uri="{28A0092B-C50C-407E-A947-70E740481C1C}">
                <a14:useLocalDpi xmlns:a14="http://schemas.microsoft.com/office/drawing/2010/main" val="0"/>
              </a:ext>
            </a:extLst>
          </a:blip>
          <a:srcRect l="4007" t="8877" r="4351" b="11761"/>
          <a:stretch>
            <a:fillRect/>
          </a:stretch>
        </p:blipFill>
        <p:spPr>
          <a:xfrm>
            <a:off x="2153264" y="1740310"/>
            <a:ext cx="7855975" cy="3795251"/>
          </a:xfrm>
          <a:prstGeom prst="rect">
            <a:avLst/>
          </a:prstGeom>
        </p:spPr>
      </p:pic>
    </p:spTree>
    <p:extLst>
      <p:ext uri="{BB962C8B-B14F-4D97-AF65-F5344CB8AC3E}">
        <p14:creationId xmlns:p14="http://schemas.microsoft.com/office/powerpoint/2010/main" val="3991903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F0CFA-BBD3-7319-0533-78C1814148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8540A2-75ED-9872-30C4-702272B9C1A3}"/>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1B2F93-4F1F-8D1B-3989-480C605809DE}"/>
              </a:ext>
            </a:extLst>
          </p:cNvPr>
          <p:cNvPicPr>
            <a:picLocks noChangeAspect="1"/>
          </p:cNvPicPr>
          <p:nvPr/>
        </p:nvPicPr>
        <p:blipFill>
          <a:blip r:embed="rId2">
            <a:extLst>
              <a:ext uri="{28A0092B-C50C-407E-A947-70E740481C1C}">
                <a14:useLocalDpi xmlns:a14="http://schemas.microsoft.com/office/drawing/2010/main" val="0"/>
              </a:ext>
            </a:extLst>
          </a:blip>
          <a:srcRect l="2294" t="10385" r="1223" b="7789"/>
          <a:stretch>
            <a:fillRect/>
          </a:stretch>
        </p:blipFill>
        <p:spPr>
          <a:xfrm>
            <a:off x="737419" y="1750141"/>
            <a:ext cx="6204156" cy="4493343"/>
          </a:xfrm>
          <a:prstGeom prst="rect">
            <a:avLst/>
          </a:prstGeom>
        </p:spPr>
      </p:pic>
      <p:sp>
        <p:nvSpPr>
          <p:cNvPr id="6" name="TextBox 5">
            <a:extLst>
              <a:ext uri="{FF2B5EF4-FFF2-40B4-BE49-F238E27FC236}">
                <a16:creationId xmlns:a16="http://schemas.microsoft.com/office/drawing/2014/main" id="{D2906DBD-1843-8551-7FF2-6ECB8D54F18E}"/>
              </a:ext>
            </a:extLst>
          </p:cNvPr>
          <p:cNvSpPr txBox="1"/>
          <p:nvPr/>
        </p:nvSpPr>
        <p:spPr>
          <a:xfrm>
            <a:off x="6990735" y="2351209"/>
            <a:ext cx="6096000" cy="923330"/>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Recursive — (-R)</a:t>
            </a:r>
          </a:p>
          <a:p>
            <a:r>
              <a:rPr lang="en-IN" dirty="0">
                <a:latin typeface="Times New Roman" panose="02020603050405020304" pitchFamily="18" charset="0"/>
                <a:cs typeface="Times New Roman" panose="02020603050405020304" pitchFamily="18" charset="0"/>
              </a:rPr>
              <a:t>change ownership of the directory AND everything</a:t>
            </a:r>
          </a:p>
          <a:p>
            <a:r>
              <a:rPr lang="en-IN" dirty="0">
                <a:latin typeface="Times New Roman" panose="02020603050405020304" pitchFamily="18" charset="0"/>
                <a:cs typeface="Times New Roman" panose="02020603050405020304" pitchFamily="18" charset="0"/>
              </a:rPr>
              <a:t> inside it.</a:t>
            </a:r>
          </a:p>
        </p:txBody>
      </p:sp>
    </p:spTree>
    <p:extLst>
      <p:ext uri="{BB962C8B-B14F-4D97-AF65-F5344CB8AC3E}">
        <p14:creationId xmlns:p14="http://schemas.microsoft.com/office/powerpoint/2010/main" val="155795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89F7-F9FB-ADB1-7737-2D5F7A6A56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950CB5-3D9D-E8D8-CD60-B908005E9E14}"/>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948D220-794E-3816-9052-13E1EF3B2EDF}"/>
              </a:ext>
            </a:extLst>
          </p:cNvPr>
          <p:cNvSpPr txBox="1"/>
          <p:nvPr/>
        </p:nvSpPr>
        <p:spPr>
          <a:xfrm>
            <a:off x="1897626" y="1454308"/>
            <a:ext cx="6096000" cy="409342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Cross-Group File Access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There are two teams on the Ubuntu server: A,B</a:t>
            </a:r>
          </a:p>
          <a:p>
            <a:r>
              <a:rPr lang="en-IN" sz="2000" dirty="0">
                <a:latin typeface="Times New Roman" panose="02020603050405020304" pitchFamily="18" charset="0"/>
                <a:cs typeface="Times New Roman" panose="02020603050405020304" pitchFamily="18" charset="0"/>
              </a:rPr>
              <a:t>Task 1 — Create Users</a:t>
            </a:r>
          </a:p>
          <a:p>
            <a:r>
              <a:rPr lang="en-IN" sz="2000" dirty="0">
                <a:latin typeface="Times New Roman" panose="02020603050405020304" pitchFamily="18" charset="0"/>
                <a:cs typeface="Times New Roman" panose="02020603050405020304" pitchFamily="18" charset="0"/>
              </a:rPr>
              <a:t>Task 2 — Create Groups</a:t>
            </a:r>
          </a:p>
          <a:p>
            <a:r>
              <a:rPr lang="en-IN" sz="2000" dirty="0">
                <a:latin typeface="Times New Roman" panose="02020603050405020304" pitchFamily="18" charset="0"/>
                <a:cs typeface="Times New Roman" panose="02020603050405020304" pitchFamily="18" charset="0"/>
              </a:rPr>
              <a:t>Task 3 — Assign Users</a:t>
            </a:r>
          </a:p>
          <a:p>
            <a:r>
              <a:rPr lang="en-IN" sz="2000" dirty="0">
                <a:latin typeface="Times New Roman" panose="02020603050405020304" pitchFamily="18" charset="0"/>
                <a:cs typeface="Times New Roman" panose="02020603050405020304" pitchFamily="18" charset="0"/>
              </a:rPr>
              <a:t>Task 4 — Create Project File</a:t>
            </a:r>
          </a:p>
          <a:p>
            <a:r>
              <a:rPr lang="en-IN" sz="2000" dirty="0">
                <a:latin typeface="Times New Roman" panose="02020603050405020304" pitchFamily="18" charset="0"/>
                <a:cs typeface="Times New Roman" panose="02020603050405020304" pitchFamily="18" charset="0"/>
              </a:rPr>
              <a:t>Task 5 — Configure Ownership</a:t>
            </a:r>
          </a:p>
          <a:p>
            <a:r>
              <a:rPr lang="en-IN" sz="2000" dirty="0">
                <a:latin typeface="Times New Roman" panose="02020603050405020304" pitchFamily="18" charset="0"/>
                <a:cs typeface="Times New Roman" panose="02020603050405020304" pitchFamily="18" charset="0"/>
              </a:rPr>
              <a:t>Task 6 — Restrict the File</a:t>
            </a:r>
          </a:p>
          <a:p>
            <a:r>
              <a:rPr lang="en-IN" sz="2000" dirty="0">
                <a:latin typeface="Times New Roman" panose="02020603050405020304" pitchFamily="18" charset="0"/>
                <a:cs typeface="Times New Roman" panose="02020603050405020304" pitchFamily="18" charset="0"/>
              </a:rPr>
              <a:t>Task 7 — Test A ‘s Access</a:t>
            </a:r>
          </a:p>
          <a:p>
            <a:r>
              <a:rPr lang="en-IN" sz="2000" dirty="0">
                <a:latin typeface="Times New Roman" panose="02020603050405020304" pitchFamily="18" charset="0"/>
                <a:cs typeface="Times New Roman" panose="02020603050405020304" pitchFamily="18" charset="0"/>
              </a:rPr>
              <a:t>Task 8 — Give A’s Access Through Group Membership</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786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E35B-114E-FD65-78D3-CCF86D5A66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078407-A750-2B4C-7183-060F74A1B303}"/>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5F6AC98-8792-213D-2141-7D8BD3824D81}"/>
              </a:ext>
            </a:extLst>
          </p:cNvPr>
          <p:cNvSpPr txBox="1"/>
          <p:nvPr/>
        </p:nvSpPr>
        <p:spPr>
          <a:xfrm>
            <a:off x="570272" y="1454308"/>
            <a:ext cx="6096000" cy="369332"/>
          </a:xfrm>
          <a:prstGeom prst="rect">
            <a:avLst/>
          </a:prstGeom>
          <a:noFill/>
        </p:spPr>
        <p:txBody>
          <a:bodyPr wrap="square">
            <a:spAutoFit/>
          </a:bodyPr>
          <a:lstStyle/>
          <a:p>
            <a:r>
              <a:rPr lang="en-IN" b="1" dirty="0"/>
              <a:t>MANAGING DEFAULT PERMISSIONS AND FILE ACCESS</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0C50DB5-F60D-7507-31DD-95D75B5B80BA}"/>
              </a:ext>
            </a:extLst>
          </p:cNvPr>
          <p:cNvPicPr>
            <a:picLocks noChangeAspect="1"/>
          </p:cNvPicPr>
          <p:nvPr/>
        </p:nvPicPr>
        <p:blipFill>
          <a:blip r:embed="rId2"/>
          <a:stretch>
            <a:fillRect/>
          </a:stretch>
        </p:blipFill>
        <p:spPr>
          <a:xfrm>
            <a:off x="2625214" y="3170161"/>
            <a:ext cx="6219378" cy="2602109"/>
          </a:xfrm>
          <a:prstGeom prst="rect">
            <a:avLst/>
          </a:prstGeom>
        </p:spPr>
      </p:pic>
      <p:sp>
        <p:nvSpPr>
          <p:cNvPr id="7" name="TextBox 6">
            <a:extLst>
              <a:ext uri="{FF2B5EF4-FFF2-40B4-BE49-F238E27FC236}">
                <a16:creationId xmlns:a16="http://schemas.microsoft.com/office/drawing/2014/main" id="{257BFD73-3C98-2BC3-C0CB-9D74B816FC3A}"/>
              </a:ext>
            </a:extLst>
          </p:cNvPr>
          <p:cNvSpPr txBox="1"/>
          <p:nvPr/>
        </p:nvSpPr>
        <p:spPr>
          <a:xfrm>
            <a:off x="235974" y="2204513"/>
            <a:ext cx="10353368" cy="584775"/>
          </a:xfrm>
          <a:prstGeom prst="rect">
            <a:avLst/>
          </a:prstGeom>
          <a:noFill/>
        </p:spPr>
        <p:txBody>
          <a:bodyPr wrap="square">
            <a:spAutoFit/>
          </a:bodyPr>
          <a:lstStyle/>
          <a:p>
            <a:pPr>
              <a:buNone/>
            </a:pPr>
            <a:r>
              <a:rPr lang="en-IN" sz="1600" dirty="0">
                <a:solidFill>
                  <a:srgbClr val="000000"/>
                </a:solidFill>
                <a:effectLst/>
                <a:latin typeface="Times New Roman" panose="02020603050405020304" pitchFamily="18" charset="0"/>
                <a:cs typeface="Times New Roman" panose="02020603050405020304" pitchFamily="18" charset="0"/>
              </a:rPr>
              <a:t>Special permissions constitute a fourth permission type in addition to the basic user, group, and other types. As the name implies, these permissions provide additional access-related features over and above what the basic permission types allow</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989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3A82-E521-C50F-568F-52F9637A24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897EC3-3706-2940-FD55-50FB0DF1710C}"/>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06AB9F7-FB34-B843-2B6A-8BEC0159C361}"/>
              </a:ext>
            </a:extLst>
          </p:cNvPr>
          <p:cNvSpPr txBox="1"/>
          <p:nvPr/>
        </p:nvSpPr>
        <p:spPr>
          <a:xfrm>
            <a:off x="570272" y="1454308"/>
            <a:ext cx="6096000" cy="369332"/>
          </a:xfrm>
          <a:prstGeom prst="rect">
            <a:avLst/>
          </a:prstGeom>
          <a:noFill/>
        </p:spPr>
        <p:txBody>
          <a:bodyPr wrap="square">
            <a:spAutoFit/>
          </a:bodyPr>
          <a:lstStyle/>
          <a:p>
            <a:r>
              <a:rPr lang="en-IN" b="1" dirty="0"/>
              <a:t>MANAGING DEFAULT PERMISSIONS AND FILE ACCESS</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79CB2AF-65E0-119F-9B8E-8A61D0759CD7}"/>
              </a:ext>
            </a:extLst>
          </p:cNvPr>
          <p:cNvPicPr>
            <a:picLocks noChangeAspect="1"/>
          </p:cNvPicPr>
          <p:nvPr/>
        </p:nvPicPr>
        <p:blipFill>
          <a:blip r:embed="rId2">
            <a:extLst>
              <a:ext uri="{28A0092B-C50C-407E-A947-70E740481C1C}">
                <a14:useLocalDpi xmlns:a14="http://schemas.microsoft.com/office/drawing/2010/main" val="0"/>
              </a:ext>
            </a:extLst>
          </a:blip>
          <a:srcRect l="17256" t="12141" r="13405" b="15006"/>
          <a:stretch>
            <a:fillRect/>
          </a:stretch>
        </p:blipFill>
        <p:spPr>
          <a:xfrm>
            <a:off x="727587" y="2432861"/>
            <a:ext cx="4424517" cy="2831691"/>
          </a:xfrm>
          <a:prstGeom prst="rect">
            <a:avLst/>
          </a:prstGeom>
        </p:spPr>
      </p:pic>
      <p:sp>
        <p:nvSpPr>
          <p:cNvPr id="12" name="TextBox 11">
            <a:extLst>
              <a:ext uri="{FF2B5EF4-FFF2-40B4-BE49-F238E27FC236}">
                <a16:creationId xmlns:a16="http://schemas.microsoft.com/office/drawing/2014/main" id="{1BDA6A1B-9EF4-5370-42B8-755EA3610C9C}"/>
              </a:ext>
            </a:extLst>
          </p:cNvPr>
          <p:cNvSpPr txBox="1"/>
          <p:nvPr/>
        </p:nvSpPr>
        <p:spPr>
          <a:xfrm>
            <a:off x="294968" y="1823640"/>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SETUID = Run an executable with the permissions of its owner</a:t>
            </a:r>
          </a:p>
        </p:txBody>
      </p:sp>
      <p:sp>
        <p:nvSpPr>
          <p:cNvPr id="14" name="TextBox 13">
            <a:extLst>
              <a:ext uri="{FF2B5EF4-FFF2-40B4-BE49-F238E27FC236}">
                <a16:creationId xmlns:a16="http://schemas.microsoft.com/office/drawing/2014/main" id="{C9C84265-C289-1963-FBE5-F54C436E71D5}"/>
              </a:ext>
            </a:extLst>
          </p:cNvPr>
          <p:cNvSpPr txBox="1"/>
          <p:nvPr/>
        </p:nvSpPr>
        <p:spPr>
          <a:xfrm>
            <a:off x="6833420" y="1563492"/>
            <a:ext cx="4630993" cy="4770537"/>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WITHOUT SETUID</a:t>
            </a:r>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Admin owns the program</a:t>
            </a: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change-password</a:t>
            </a:r>
          </a:p>
          <a:p>
            <a:pPr>
              <a:buNone/>
            </a:pPr>
            <a:r>
              <a:rPr lang="en-IN" sz="1600" dirty="0">
                <a:latin typeface="Times New Roman" panose="02020603050405020304" pitchFamily="18" charset="0"/>
                <a:cs typeface="Times New Roman" panose="02020603050405020304" pitchFamily="18" charset="0"/>
              </a:rPr>
              <a:t>       │</a:t>
            </a:r>
          </a:p>
          <a:p>
            <a:pPr>
              <a:buNone/>
            </a:pPr>
            <a:r>
              <a:rPr lang="en-IN" sz="1600" dirty="0">
                <a:latin typeface="Times New Roman" panose="02020603050405020304" pitchFamily="18" charset="0"/>
                <a:cs typeface="Times New Roman" panose="02020603050405020304" pitchFamily="18" charset="0"/>
              </a:rPr>
              <a:t>       </a:t>
            </a:r>
          </a:p>
          <a:p>
            <a:pPr>
              <a:buNone/>
            </a:pPr>
            <a:r>
              <a:rPr lang="en-IN" sz="1600" dirty="0">
                <a:latin typeface="Times New Roman" panose="02020603050405020304" pitchFamily="18" charset="0"/>
                <a:cs typeface="Times New Roman" panose="02020603050405020304" pitchFamily="18" charset="0"/>
              </a:rPr>
              <a:t>Owner = Admin</a:t>
            </a:r>
          </a:p>
          <a:p>
            <a:pPr>
              <a:buNone/>
            </a:pPr>
            <a:r>
              <a:rPr lang="en-IN" sz="1600" dirty="0">
                <a:latin typeface="Times New Roman" panose="02020603050405020304" pitchFamily="18" charset="0"/>
                <a:cs typeface="Times New Roman" panose="02020603050405020304" pitchFamily="18" charset="0"/>
              </a:rPr>
              <a:t>Now </a:t>
            </a:r>
            <a:r>
              <a:rPr lang="en-IN" sz="1600" b="1" dirty="0">
                <a:latin typeface="Times New Roman" panose="02020603050405020304" pitchFamily="18" charset="0"/>
                <a:cs typeface="Times New Roman" panose="02020603050405020304" pitchFamily="18" charset="0"/>
              </a:rPr>
              <a:t>User</a:t>
            </a:r>
            <a:r>
              <a:rPr lang="en-IN" sz="1600" dirty="0">
                <a:latin typeface="Times New Roman" panose="02020603050405020304" pitchFamily="18" charset="0"/>
                <a:cs typeface="Times New Roman" panose="02020603050405020304" pitchFamily="18" charset="0"/>
              </a:rPr>
              <a:t> wants to use it:</a:t>
            </a:r>
          </a:p>
          <a:p>
            <a:pPr>
              <a:buNone/>
            </a:pPr>
            <a:r>
              <a:rPr lang="en-IN" sz="1600" dirty="0">
                <a:latin typeface="Times New Roman" panose="02020603050405020304" pitchFamily="18" charset="0"/>
                <a:cs typeface="Times New Roman" panose="02020603050405020304" pitchFamily="18" charset="0"/>
              </a:rPr>
              <a:t>    User</a:t>
            </a:r>
          </a:p>
          <a:p>
            <a:pPr>
              <a:buNone/>
            </a:pPr>
            <a:r>
              <a:rPr lang="en-IN" sz="1600" dirty="0">
                <a:latin typeface="Times New Roman" panose="02020603050405020304" pitchFamily="18" charset="0"/>
                <a:cs typeface="Times New Roman" panose="02020603050405020304" pitchFamily="18" charset="0"/>
              </a:rPr>
              <a:t>      │</a:t>
            </a:r>
          </a:p>
          <a:p>
            <a:pPr>
              <a:buNone/>
            </a:pPr>
            <a:r>
              <a:rPr lang="en-IN" sz="1600" dirty="0">
                <a:latin typeface="Times New Roman" panose="02020603050405020304" pitchFamily="18" charset="0"/>
                <a:cs typeface="Times New Roman" panose="02020603050405020304" pitchFamily="18" charset="0"/>
              </a:rPr>
              <a:t>      │ runs</a:t>
            </a:r>
          </a:p>
          <a:p>
            <a:pPr>
              <a:buNone/>
            </a:pPr>
            <a:r>
              <a:rPr lang="en-IN" sz="1600" dirty="0">
                <a:latin typeface="Times New Roman" panose="02020603050405020304" pitchFamily="18" charset="0"/>
                <a:cs typeface="Times New Roman" panose="02020603050405020304" pitchFamily="18" charset="0"/>
              </a:rPr>
              <a:t>      </a:t>
            </a:r>
          </a:p>
          <a:p>
            <a:pPr>
              <a:buNone/>
            </a:pPr>
            <a:r>
              <a:rPr lang="en-IN" sz="1600" dirty="0">
                <a:latin typeface="Times New Roman" panose="02020603050405020304" pitchFamily="18" charset="0"/>
                <a:cs typeface="Times New Roman" panose="02020603050405020304" pitchFamily="18" charset="0"/>
              </a:rPr>
              <a:t>change-password</a:t>
            </a:r>
          </a:p>
          <a:p>
            <a:pPr>
              <a:buNone/>
            </a:pPr>
            <a:r>
              <a:rPr lang="en-IN" sz="1600" dirty="0">
                <a:latin typeface="Times New Roman" panose="02020603050405020304" pitchFamily="18" charset="0"/>
                <a:cs typeface="Times New Roman" panose="02020603050405020304" pitchFamily="18" charset="0"/>
              </a:rPr>
              <a:t>Normally, the program runs using </a:t>
            </a:r>
            <a:r>
              <a:rPr lang="en-IN" sz="1600" b="1" dirty="0">
                <a:latin typeface="Times New Roman" panose="02020603050405020304" pitchFamily="18" charset="0"/>
                <a:cs typeface="Times New Roman" panose="02020603050405020304" pitchFamily="18" charset="0"/>
              </a:rPr>
              <a:t>User permissions</a:t>
            </a:r>
            <a:r>
              <a:rPr lang="en-IN" sz="1600" dirty="0">
                <a:latin typeface="Times New Roman" panose="02020603050405020304" pitchFamily="18" charset="0"/>
                <a:cs typeface="Times New Roman" panose="02020603050405020304" pitchFamily="18" charset="0"/>
              </a:rPr>
              <a:t>.</a:t>
            </a:r>
          </a:p>
          <a:p>
            <a:pPr>
              <a:buNone/>
            </a:pPr>
            <a:r>
              <a:rPr lang="en-IN" sz="1600" b="1" dirty="0">
                <a:latin typeface="Times New Roman" panose="02020603050405020304" pitchFamily="18" charset="0"/>
                <a:cs typeface="Times New Roman" panose="02020603050405020304" pitchFamily="18" charset="0"/>
              </a:rPr>
              <a:t>The problem</a:t>
            </a:r>
          </a:p>
          <a:p>
            <a:pPr>
              <a:buNone/>
            </a:pPr>
            <a:r>
              <a:rPr lang="en-IN" sz="1600" dirty="0">
                <a:latin typeface="Times New Roman" panose="02020603050405020304" pitchFamily="18" charset="0"/>
                <a:cs typeface="Times New Roman" panose="02020603050405020304" pitchFamily="18" charset="0"/>
              </a:rPr>
              <a:t>User may not have permission to change certain protected information.</a:t>
            </a:r>
          </a:p>
          <a:p>
            <a:pPr>
              <a:buNone/>
            </a:pPr>
            <a:r>
              <a:rPr lang="en-IN" sz="1600" dirty="0">
                <a:latin typeface="Times New Roman" panose="02020603050405020304" pitchFamily="18" charset="0"/>
                <a:cs typeface="Times New Roman" panose="02020603050405020304" pitchFamily="18" charset="0"/>
              </a:rPr>
              <a:t>So how can an ordinary user safely use a program that needs special privileges?</a:t>
            </a:r>
          </a:p>
          <a:p>
            <a:pPr>
              <a:buNone/>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SETUID solves this problem.</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487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7BAC-8694-7EF6-F92E-AD7555FDC8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02E276-D71B-8A43-E176-62AC5F27BFE8}"/>
              </a:ext>
            </a:extLst>
          </p:cNvPr>
          <p:cNvSpPr txBox="1"/>
          <p:nvPr/>
        </p:nvSpPr>
        <p:spPr>
          <a:xfrm>
            <a:off x="3460955" y="807977"/>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33A4A2-3935-B1DD-2A3B-4D4042F1A280}"/>
              </a:ext>
            </a:extLst>
          </p:cNvPr>
          <p:cNvSpPr txBox="1"/>
          <p:nvPr/>
        </p:nvSpPr>
        <p:spPr>
          <a:xfrm>
            <a:off x="570272" y="1454308"/>
            <a:ext cx="6096000" cy="369332"/>
          </a:xfrm>
          <a:prstGeom prst="rect">
            <a:avLst/>
          </a:prstGeom>
          <a:noFill/>
        </p:spPr>
        <p:txBody>
          <a:bodyPr wrap="square">
            <a:spAutoFit/>
          </a:bodyPr>
          <a:lstStyle/>
          <a:p>
            <a:r>
              <a:rPr lang="en-IN" b="1" dirty="0"/>
              <a:t>MANAGING DEFAULT PERMISSIONS AND FILE ACCESS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4707C5F-8FD1-B958-C021-7B7490870242}"/>
              </a:ext>
            </a:extLst>
          </p:cNvPr>
          <p:cNvPicPr>
            <a:picLocks noChangeAspect="1"/>
          </p:cNvPicPr>
          <p:nvPr/>
        </p:nvPicPr>
        <p:blipFill>
          <a:blip r:embed="rId2">
            <a:extLst>
              <a:ext uri="{28A0092B-C50C-407E-A947-70E740481C1C}">
                <a14:useLocalDpi xmlns:a14="http://schemas.microsoft.com/office/drawing/2010/main" val="0"/>
              </a:ext>
            </a:extLst>
          </a:blip>
          <a:srcRect t="3856" b="5339"/>
          <a:stretch>
            <a:fillRect/>
          </a:stretch>
        </p:blipFill>
        <p:spPr>
          <a:xfrm>
            <a:off x="264544" y="2300748"/>
            <a:ext cx="4936721" cy="2581803"/>
          </a:xfrm>
          <a:prstGeom prst="rect">
            <a:avLst/>
          </a:prstGeom>
        </p:spPr>
      </p:pic>
      <p:sp>
        <p:nvSpPr>
          <p:cNvPr id="10" name="TextBox 9">
            <a:extLst>
              <a:ext uri="{FF2B5EF4-FFF2-40B4-BE49-F238E27FC236}">
                <a16:creationId xmlns:a16="http://schemas.microsoft.com/office/drawing/2014/main" id="{486270EA-0CC8-F2E3-575B-C33835AF6ABD}"/>
              </a:ext>
            </a:extLst>
          </p:cNvPr>
          <p:cNvSpPr txBox="1"/>
          <p:nvPr/>
        </p:nvSpPr>
        <p:spPr>
          <a:xfrm>
            <a:off x="894735" y="1931416"/>
            <a:ext cx="6096000" cy="369332"/>
          </a:xfrm>
          <a:prstGeom prst="rect">
            <a:avLst/>
          </a:prstGeom>
          <a:noFill/>
        </p:spPr>
        <p:txBody>
          <a:bodyPr wrap="square">
            <a:spAutoFit/>
          </a:bodyPr>
          <a:lstStyle/>
          <a:p>
            <a:r>
              <a:rPr lang="en-IN" dirty="0"/>
              <a:t>SETGID : “STAY WITH THE GROUP”</a:t>
            </a:r>
          </a:p>
        </p:txBody>
      </p:sp>
      <p:sp>
        <p:nvSpPr>
          <p:cNvPr id="13" name="TextBox 12">
            <a:extLst>
              <a:ext uri="{FF2B5EF4-FFF2-40B4-BE49-F238E27FC236}">
                <a16:creationId xmlns:a16="http://schemas.microsoft.com/office/drawing/2014/main" id="{D3A4E145-B0A8-931E-E266-CE033640C18B}"/>
              </a:ext>
            </a:extLst>
          </p:cNvPr>
          <p:cNvSpPr txBox="1"/>
          <p:nvPr/>
        </p:nvSpPr>
        <p:spPr>
          <a:xfrm>
            <a:off x="5692877" y="1931416"/>
            <a:ext cx="6499123" cy="4278094"/>
          </a:xfrm>
          <a:prstGeom prst="rect">
            <a:avLst/>
          </a:prstGeom>
          <a:noFill/>
        </p:spPr>
        <p:txBody>
          <a:bodyPr wrap="square">
            <a:spAutoFit/>
          </a:bodyPr>
          <a:lstStyle/>
          <a:p>
            <a:pPr>
              <a:buNone/>
            </a:pPr>
            <a:r>
              <a:rPr lang="en-IN" sz="1600" dirty="0">
                <a:latin typeface="Times New Roman" panose="02020603050405020304" pitchFamily="18" charset="0"/>
                <a:cs typeface="Times New Roman" panose="02020603050405020304" pitchFamily="18" charset="0"/>
              </a:rPr>
              <a:t>Imagine a college project team.</a:t>
            </a:r>
            <a:r>
              <a:rPr lang="en-IN" sz="1600" b="1" dirty="0">
                <a:latin typeface="Times New Roman" panose="02020603050405020304" pitchFamily="18" charset="0"/>
                <a:cs typeface="Times New Roman" panose="02020603050405020304" pitchFamily="18" charset="0"/>
              </a:rPr>
              <a:t>U1,U2,U3</a:t>
            </a: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They all belong to the same </a:t>
            </a:r>
            <a:r>
              <a:rPr lang="en-IN" sz="1600" dirty="0" err="1">
                <a:latin typeface="Times New Roman" panose="02020603050405020304" pitchFamily="18" charset="0"/>
                <a:cs typeface="Times New Roman" panose="02020603050405020304" pitchFamily="18" charset="0"/>
              </a:rPr>
              <a:t>team:</a:t>
            </a:r>
            <a:r>
              <a:rPr lang="en-IN" sz="1600" b="1" dirty="0" err="1">
                <a:latin typeface="Times New Roman" panose="02020603050405020304" pitchFamily="18" charset="0"/>
                <a:cs typeface="Times New Roman" panose="02020603050405020304" pitchFamily="18" charset="0"/>
              </a:rPr>
              <a:t>AI-Team</a:t>
            </a: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They have a shared folder:</a:t>
            </a:r>
          </a:p>
          <a:p>
            <a:pPr>
              <a:buNone/>
            </a:pPr>
            <a:r>
              <a:rPr lang="en-IN" sz="1600" dirty="0">
                <a:latin typeface="Times New Roman" panose="02020603050405020304" pitchFamily="18" charset="0"/>
                <a:cs typeface="Times New Roman" panose="02020603050405020304" pitchFamily="18" charset="0"/>
              </a:rPr>
              <a:t>PROJECT/</a:t>
            </a:r>
          </a:p>
          <a:p>
            <a:pPr>
              <a:buNone/>
            </a:pPr>
            <a:r>
              <a:rPr lang="en-IN" sz="1600" dirty="0">
                <a:latin typeface="Times New Roman" panose="02020603050405020304" pitchFamily="18" charset="0"/>
                <a:cs typeface="Times New Roman" panose="02020603050405020304" pitchFamily="18" charset="0"/>
              </a:rPr>
              <a:t>The folder belongs to:</a:t>
            </a:r>
          </a:p>
          <a:p>
            <a:pPr>
              <a:buNone/>
            </a:pPr>
            <a:r>
              <a:rPr lang="en-IN" sz="1600" dirty="0">
                <a:latin typeface="Times New Roman" panose="02020603050405020304" pitchFamily="18" charset="0"/>
                <a:cs typeface="Times New Roman" panose="02020603050405020304" pitchFamily="18" charset="0"/>
              </a:rPr>
              <a:t>Group = AI-Team</a:t>
            </a:r>
          </a:p>
          <a:p>
            <a:pPr>
              <a:buNone/>
            </a:pPr>
            <a:r>
              <a:rPr lang="en-IN" sz="1600" b="1" dirty="0">
                <a:latin typeface="Times New Roman" panose="02020603050405020304" pitchFamily="18" charset="0"/>
                <a:cs typeface="Times New Roman" panose="02020603050405020304" pitchFamily="18" charset="0"/>
              </a:rPr>
              <a:t>The problem</a:t>
            </a:r>
          </a:p>
          <a:p>
            <a:pPr>
              <a:buNone/>
            </a:pPr>
            <a:r>
              <a:rPr lang="en-IN" sz="1600" dirty="0">
                <a:latin typeface="Times New Roman" panose="02020603050405020304" pitchFamily="18" charset="0"/>
                <a:cs typeface="Times New Roman" panose="02020603050405020304" pitchFamily="18" charset="0"/>
              </a:rPr>
              <a:t>U1 creates:</a:t>
            </a:r>
          </a:p>
          <a:p>
            <a:pPr>
              <a:buNone/>
            </a:pPr>
            <a:r>
              <a:rPr lang="en-IN" sz="1600" dirty="0">
                <a:latin typeface="Times New Roman" panose="02020603050405020304" pitchFamily="18" charset="0"/>
                <a:cs typeface="Times New Roman" panose="02020603050405020304" pitchFamily="18" charset="0"/>
              </a:rPr>
              <a:t>report.txt</a:t>
            </a:r>
          </a:p>
          <a:p>
            <a:pPr>
              <a:buNone/>
            </a:pPr>
            <a:r>
              <a:rPr lang="en-IN" sz="1600" dirty="0">
                <a:latin typeface="Times New Roman" panose="02020603050405020304" pitchFamily="18" charset="0"/>
                <a:cs typeface="Times New Roman" panose="02020603050405020304" pitchFamily="18" charset="0"/>
              </a:rPr>
              <a:t>Who should the file belong to?</a:t>
            </a:r>
          </a:p>
          <a:p>
            <a:pPr>
              <a:buNone/>
            </a:pPr>
            <a:r>
              <a:rPr lang="en-IN" sz="1600" dirty="0">
                <a:latin typeface="Times New Roman" panose="02020603050405020304" pitchFamily="18" charset="0"/>
                <a:cs typeface="Times New Roman" panose="02020603050405020304" pitchFamily="18" charset="0"/>
              </a:rPr>
              <a:t>We want:</a:t>
            </a:r>
          </a:p>
          <a:p>
            <a:pPr>
              <a:buNone/>
            </a:pPr>
            <a:r>
              <a:rPr lang="en-IN" sz="1600" dirty="0">
                <a:latin typeface="Times New Roman" panose="02020603050405020304" pitchFamily="18" charset="0"/>
                <a:cs typeface="Times New Roman" panose="02020603050405020304" pitchFamily="18" charset="0"/>
              </a:rPr>
              <a:t>Owner = U1</a:t>
            </a:r>
          </a:p>
          <a:p>
            <a:pPr>
              <a:buNone/>
            </a:pPr>
            <a:r>
              <a:rPr lang="en-IN" sz="1600" dirty="0">
                <a:latin typeface="Times New Roman" panose="02020603050405020304" pitchFamily="18" charset="0"/>
                <a:cs typeface="Times New Roman" panose="02020603050405020304" pitchFamily="18" charset="0"/>
              </a:rPr>
              <a:t>Group = AI-Team</a:t>
            </a:r>
          </a:p>
          <a:p>
            <a:pPr>
              <a:buNone/>
            </a:pPr>
            <a:r>
              <a:rPr lang="en-IN" sz="1600" dirty="0" err="1">
                <a:latin typeface="Times New Roman" panose="02020603050405020304" pitchFamily="18" charset="0"/>
                <a:cs typeface="Times New Roman" panose="02020603050405020304" pitchFamily="18" charset="0"/>
              </a:rPr>
              <a:t>Why?Because</a:t>
            </a:r>
            <a:r>
              <a:rPr lang="en-IN" sz="1600" dirty="0">
                <a:latin typeface="Times New Roman" panose="02020603050405020304" pitchFamily="18" charset="0"/>
                <a:cs typeface="Times New Roman" panose="02020603050405020304" pitchFamily="18" charset="0"/>
              </a:rPr>
              <a:t> U2 and U2 are also members of </a:t>
            </a:r>
            <a:r>
              <a:rPr lang="en-IN" sz="1600" b="1" dirty="0">
                <a:latin typeface="Times New Roman" panose="02020603050405020304" pitchFamily="18" charset="0"/>
                <a:cs typeface="Times New Roman" panose="02020603050405020304" pitchFamily="18" charset="0"/>
              </a:rPr>
              <a:t>AI-Team</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SETGID helps us do this automatically.</a:t>
            </a:r>
            <a:endParaRPr lang="en-IN" sz="1600" dirty="0">
              <a:latin typeface="Times New Roman" panose="02020603050405020304" pitchFamily="18" charset="0"/>
              <a:cs typeface="Times New Roman" panose="02020603050405020304" pitchFamily="18" charset="0"/>
            </a:endParaRPr>
          </a:p>
          <a:p>
            <a:pPr>
              <a:buNone/>
            </a:pP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2762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5554-172C-B71C-0CA8-621502F1FF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B9129C-B2C4-7312-FBD5-BC29ADFFA8F3}"/>
              </a:ext>
            </a:extLst>
          </p:cNvPr>
          <p:cNvSpPr txBox="1"/>
          <p:nvPr/>
        </p:nvSpPr>
        <p:spPr>
          <a:xfrm>
            <a:off x="3362632" y="522842"/>
            <a:ext cx="7059561"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CONTROLLING ACCESS TO FILES</a:t>
            </a:r>
            <a:r>
              <a:rPr lang="en-IN" sz="2000" b="1" dirty="0">
                <a:solidFill>
                  <a:srgbClr val="FFFFFF"/>
                </a:solidFill>
                <a:effectLst/>
                <a:latin typeface="Times New Roman" panose="02020603050405020304" pitchFamily="18" charset="0"/>
                <a:cs typeface="Times New Roman" panose="02020603050405020304" pitchFamily="18" charset="0"/>
              </a:rPr>
              <a:t>TROLLING ACCESS TO </a:t>
            </a:r>
            <a:endParaRPr lang="en-IN" sz="2000" dirty="0">
              <a:latin typeface="Times New Roman" panose="02020603050405020304" pitchFamily="18" charset="0"/>
              <a:cs typeface="Times New Roman" panose="02020603050405020304" pitchFamily="18" charset="0"/>
            </a:endParaRPr>
          </a:p>
          <a:p>
            <a:pPr>
              <a:buNone/>
            </a:pPr>
            <a:r>
              <a:rPr lang="en-IN" sz="2000" b="1" dirty="0">
                <a:solidFill>
                  <a:srgbClr val="FFFFFF"/>
                </a:solidFill>
                <a:effectLst/>
                <a:latin typeface="Times New Roman" panose="02020603050405020304" pitchFamily="18" charset="0"/>
                <a:cs typeface="Times New Roman" panose="02020603050405020304" pitchFamily="18" charset="0"/>
              </a:rPr>
              <a:t>FILES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239303C-9F4A-DC4A-E05A-3D9825581068}"/>
              </a:ext>
            </a:extLst>
          </p:cNvPr>
          <p:cNvSpPr txBox="1"/>
          <p:nvPr/>
        </p:nvSpPr>
        <p:spPr>
          <a:xfrm>
            <a:off x="314632" y="1389776"/>
            <a:ext cx="6096000" cy="369332"/>
          </a:xfrm>
          <a:prstGeom prst="rect">
            <a:avLst/>
          </a:prstGeom>
          <a:noFill/>
        </p:spPr>
        <p:txBody>
          <a:bodyPr wrap="square">
            <a:spAutoFit/>
          </a:bodyPr>
          <a:lstStyle/>
          <a:p>
            <a:r>
              <a:rPr lang="en-IN" b="1" dirty="0"/>
              <a:t>MANAGING DEFAULT PERMISSIONS AND FILE ACCESS</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E9498DB-7CBB-37DA-329D-200025032DE5}"/>
              </a:ext>
            </a:extLst>
          </p:cNvPr>
          <p:cNvPicPr>
            <a:picLocks noChangeAspect="1"/>
          </p:cNvPicPr>
          <p:nvPr/>
        </p:nvPicPr>
        <p:blipFill>
          <a:blip r:embed="rId2"/>
          <a:srcRect b="31927"/>
          <a:stretch>
            <a:fillRect/>
          </a:stretch>
        </p:blipFill>
        <p:spPr>
          <a:xfrm>
            <a:off x="973395" y="1979711"/>
            <a:ext cx="4564763" cy="2710276"/>
          </a:xfrm>
          <a:prstGeom prst="rect">
            <a:avLst/>
          </a:prstGeom>
        </p:spPr>
      </p:pic>
      <p:sp>
        <p:nvSpPr>
          <p:cNvPr id="6" name="TextBox 5">
            <a:extLst>
              <a:ext uri="{FF2B5EF4-FFF2-40B4-BE49-F238E27FC236}">
                <a16:creationId xmlns:a16="http://schemas.microsoft.com/office/drawing/2014/main" id="{5A3040D6-3832-6F10-B43D-6DE67A271AF6}"/>
              </a:ext>
            </a:extLst>
          </p:cNvPr>
          <p:cNvSpPr txBox="1"/>
          <p:nvPr/>
        </p:nvSpPr>
        <p:spPr>
          <a:xfrm>
            <a:off x="6096000" y="1837979"/>
            <a:ext cx="5692877" cy="4524315"/>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WITHOUT STICKY BIT</a:t>
            </a:r>
          </a:p>
          <a:p>
            <a:pPr>
              <a:buNone/>
            </a:pPr>
            <a:r>
              <a:rPr lang="en-IN" dirty="0">
                <a:latin typeface="Times New Roman" panose="02020603050405020304" pitchFamily="18" charset="0"/>
                <a:cs typeface="Times New Roman" panose="02020603050405020304" pitchFamily="18" charset="0"/>
              </a:rPr>
              <a:t> Everyone has permission to use the shared folder.ie u1,u2,u3</a:t>
            </a:r>
          </a:p>
          <a:p>
            <a:pPr>
              <a:buNone/>
            </a:pPr>
            <a:r>
              <a:rPr lang="en-IN" dirty="0">
                <a:latin typeface="Times New Roman" panose="02020603050405020304" pitchFamily="18" charset="0"/>
                <a:cs typeface="Times New Roman" panose="02020603050405020304" pitchFamily="18" charset="0"/>
              </a:rPr>
              <a:t>SHARED/</a:t>
            </a:r>
          </a:p>
          <a:p>
            <a:pPr>
              <a:buNone/>
            </a:pPr>
            <a:r>
              <a:rPr lang="en-IN" dirty="0">
                <a:latin typeface="Times New Roman" panose="02020603050405020304" pitchFamily="18" charset="0"/>
                <a:cs typeface="Times New Roman" panose="02020603050405020304" pitchFamily="18" charset="0"/>
              </a:rPr>
              <a:t>│</a:t>
            </a:r>
          </a:p>
          <a:p>
            <a:pPr>
              <a:buNone/>
            </a:pPr>
            <a:r>
              <a:rPr lang="en-IN" dirty="0">
                <a:latin typeface="Times New Roman" panose="02020603050405020304" pitchFamily="18" charset="0"/>
                <a:cs typeface="Times New Roman" panose="02020603050405020304" pitchFamily="18" charset="0"/>
              </a:rPr>
              <a:t>├── u1.txt</a:t>
            </a:r>
          </a:p>
          <a:p>
            <a:pPr>
              <a:buNone/>
            </a:pPr>
            <a:r>
              <a:rPr lang="en-IN" dirty="0">
                <a:latin typeface="Times New Roman" panose="02020603050405020304" pitchFamily="18" charset="0"/>
                <a:cs typeface="Times New Roman" panose="02020603050405020304" pitchFamily="18" charset="0"/>
              </a:rPr>
              <a:t>├── u2.txt</a:t>
            </a:r>
          </a:p>
          <a:p>
            <a:pPr>
              <a:buNone/>
            </a:pPr>
            <a:r>
              <a:rPr lang="en-IN" dirty="0">
                <a:latin typeface="Times New Roman" panose="02020603050405020304" pitchFamily="18" charset="0"/>
                <a:cs typeface="Times New Roman" panose="02020603050405020304" pitchFamily="18" charset="0"/>
              </a:rPr>
              <a:t>└── u3.txt</a:t>
            </a:r>
          </a:p>
          <a:p>
            <a:pPr>
              <a:buNone/>
            </a:pPr>
            <a:r>
              <a:rPr lang="en-IN" dirty="0">
                <a:latin typeface="Times New Roman" panose="02020603050405020304" pitchFamily="18" charset="0"/>
                <a:cs typeface="Times New Roman" panose="02020603050405020304" pitchFamily="18" charset="0"/>
              </a:rPr>
              <a:t>u3 can access the shared directory.</a:t>
            </a:r>
          </a:p>
          <a:p>
            <a:pPr>
              <a:buNone/>
            </a:pPr>
            <a:r>
              <a:rPr lang="en-IN" dirty="0">
                <a:latin typeface="Times New Roman" panose="02020603050405020304" pitchFamily="18" charset="0"/>
                <a:cs typeface="Times New Roman" panose="02020603050405020304" pitchFamily="18" charset="0"/>
              </a:rPr>
              <a:t>If the directory permissions allow users to delete entries, u3 may be able to remove:</a:t>
            </a:r>
          </a:p>
          <a:p>
            <a:pPr>
              <a:buNone/>
            </a:pPr>
            <a:r>
              <a:rPr lang="en-IN" dirty="0">
                <a:latin typeface="Times New Roman" panose="02020603050405020304" pitchFamily="18" charset="0"/>
                <a:cs typeface="Times New Roman" panose="02020603050405020304" pitchFamily="18" charset="0"/>
              </a:rPr>
              <a:t>u1.txt</a:t>
            </a:r>
          </a:p>
          <a:p>
            <a:pPr>
              <a:buNone/>
            </a:pPr>
            <a:r>
              <a:rPr lang="en-IN" dirty="0">
                <a:latin typeface="Times New Roman" panose="02020603050405020304" pitchFamily="18" charset="0"/>
                <a:cs typeface="Times New Roman" panose="02020603050405020304" pitchFamily="18" charset="0"/>
              </a:rPr>
              <a:t>even though:</a:t>
            </a:r>
          </a:p>
          <a:p>
            <a:pPr>
              <a:buNone/>
            </a:pPr>
            <a:r>
              <a:rPr lang="en-IN" dirty="0">
                <a:latin typeface="Times New Roman" panose="02020603050405020304" pitchFamily="18" charset="0"/>
                <a:cs typeface="Times New Roman" panose="02020603050405020304" pitchFamily="18" charset="0"/>
              </a:rPr>
              <a:t>Owner = u1</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Command : </a:t>
            </a:r>
            <a:r>
              <a:rPr lang="en-IN" b="1" dirty="0" err="1">
                <a:latin typeface="Times New Roman" panose="02020603050405020304" pitchFamily="18" charset="0"/>
                <a:cs typeface="Times New Roman" panose="02020603050405020304" pitchFamily="18" charset="0"/>
              </a:rPr>
              <a:t>chmod</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o+t</a:t>
            </a:r>
            <a:r>
              <a:rPr lang="en-IN" b="1" dirty="0">
                <a:latin typeface="Times New Roman" panose="02020603050405020304" pitchFamily="18" charset="0"/>
                <a:cs typeface="Times New Roman" panose="02020603050405020304" pitchFamily="18" charset="0"/>
              </a:rPr>
              <a:t> SHARED</a:t>
            </a:r>
          </a:p>
        </p:txBody>
      </p:sp>
    </p:spTree>
    <p:extLst>
      <p:ext uri="{BB962C8B-B14F-4D97-AF65-F5344CB8AC3E}">
        <p14:creationId xmlns:p14="http://schemas.microsoft.com/office/powerpoint/2010/main" val="1010342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B5A6A-065B-4904-6D2C-DE08D1A12D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606DEE-E605-6332-8873-5CCF8FF090D8}"/>
              </a:ext>
            </a:extLst>
          </p:cNvPr>
          <p:cNvSpPr txBox="1"/>
          <p:nvPr/>
        </p:nvSpPr>
        <p:spPr>
          <a:xfrm>
            <a:off x="1582994" y="844436"/>
            <a:ext cx="8613057"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MONITORING AND MANAGING LINUX PROCESSES</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16A3E56-3D09-6066-8CDB-56ADF6393538}"/>
              </a:ext>
            </a:extLst>
          </p:cNvPr>
          <p:cNvSpPr txBox="1"/>
          <p:nvPr/>
        </p:nvSpPr>
        <p:spPr>
          <a:xfrm>
            <a:off x="1514167" y="1492375"/>
            <a:ext cx="10559846" cy="3416320"/>
          </a:xfrm>
          <a:prstGeom prst="rect">
            <a:avLst/>
          </a:prstGeom>
          <a:noFill/>
        </p:spPr>
        <p:txBody>
          <a:bodyPr wrap="square">
            <a:spAutoFit/>
          </a:bodyPr>
          <a:lstStyle/>
          <a:p>
            <a:r>
              <a:rPr lang="en-IN" b="1" dirty="0">
                <a:solidFill>
                  <a:schemeClr val="tx2"/>
                </a:solidFill>
                <a:effectLst/>
                <a:latin typeface="Times New Roman" panose="02020603050405020304" pitchFamily="18" charset="0"/>
                <a:cs typeface="Times New Roman" panose="02020603050405020304" pitchFamily="18" charset="0"/>
              </a:rPr>
              <a:t>DEFINITION OF A PROCESS </a:t>
            </a:r>
          </a:p>
          <a:p>
            <a:r>
              <a:rPr lang="en-IN" dirty="0">
                <a:latin typeface="Times New Roman" panose="02020603050405020304" pitchFamily="18" charset="0"/>
                <a:cs typeface="Times New Roman" panose="02020603050405020304" pitchFamily="18" charset="0"/>
              </a:rPr>
              <a:t>A process is a running instance of a launched, executable program.</a:t>
            </a:r>
          </a:p>
          <a:p>
            <a:r>
              <a:rPr lang="en-IN" dirty="0">
                <a:latin typeface="Times New Roman" panose="02020603050405020304" pitchFamily="18" charset="0"/>
                <a:cs typeface="Times New Roman" panose="02020603050405020304" pitchFamily="18" charset="0"/>
              </a:rPr>
              <a:t> A process consists of: </a:t>
            </a:r>
          </a:p>
          <a:p>
            <a:r>
              <a:rPr lang="en-IN" dirty="0">
                <a:latin typeface="Times New Roman" panose="02020603050405020304" pitchFamily="18" charset="0"/>
                <a:cs typeface="Times New Roman" panose="02020603050405020304" pitchFamily="18" charset="0"/>
              </a:rPr>
              <a:t>• An address space of allocated memory </a:t>
            </a:r>
          </a:p>
          <a:p>
            <a:r>
              <a:rPr lang="en-IN" dirty="0">
                <a:latin typeface="Times New Roman" panose="02020603050405020304" pitchFamily="18" charset="0"/>
                <a:cs typeface="Times New Roman" panose="02020603050405020304" pitchFamily="18" charset="0"/>
              </a:rPr>
              <a:t>• Security properties including ownership credentials and privileges </a:t>
            </a:r>
          </a:p>
          <a:p>
            <a:r>
              <a:rPr lang="en-IN" dirty="0">
                <a:latin typeface="Times New Roman" panose="02020603050405020304" pitchFamily="18" charset="0"/>
                <a:cs typeface="Times New Roman" panose="02020603050405020304" pitchFamily="18" charset="0"/>
              </a:rPr>
              <a:t>• One or more execution threads of program code </a:t>
            </a:r>
          </a:p>
          <a:p>
            <a:r>
              <a:rPr lang="en-IN" dirty="0">
                <a:latin typeface="Times New Roman" panose="02020603050405020304" pitchFamily="18" charset="0"/>
                <a:cs typeface="Times New Roman" panose="02020603050405020304" pitchFamily="18" charset="0"/>
              </a:rPr>
              <a:t>• Process state</a:t>
            </a:r>
          </a:p>
          <a:p>
            <a:endParaRPr lang="en-IN" dirty="0">
              <a:solidFill>
                <a:schemeClr val="tx2"/>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environment of a process includes: </a:t>
            </a:r>
          </a:p>
          <a:p>
            <a:r>
              <a:rPr lang="en-IN" dirty="0">
                <a:latin typeface="Times New Roman" panose="02020603050405020304" pitchFamily="18" charset="0"/>
                <a:cs typeface="Times New Roman" panose="02020603050405020304" pitchFamily="18" charset="0"/>
              </a:rPr>
              <a:t>• Local and global variables </a:t>
            </a:r>
          </a:p>
          <a:p>
            <a:r>
              <a:rPr lang="en-IN" dirty="0">
                <a:latin typeface="Times New Roman" panose="02020603050405020304" pitchFamily="18" charset="0"/>
                <a:cs typeface="Times New Roman" panose="02020603050405020304" pitchFamily="18" charset="0"/>
              </a:rPr>
              <a:t>• A current scheduling context </a:t>
            </a:r>
          </a:p>
          <a:p>
            <a:r>
              <a:rPr lang="en-IN" dirty="0">
                <a:latin typeface="Times New Roman" panose="02020603050405020304" pitchFamily="18" charset="0"/>
                <a:cs typeface="Times New Roman" panose="02020603050405020304" pitchFamily="18" charset="0"/>
              </a:rPr>
              <a:t>• Allocated system resources, such as file descriptors and network ports</a:t>
            </a:r>
            <a:endParaRPr lang="en-IN"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2076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94E1-651C-A813-1ED9-D92372F26B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4B5DF6-BDFF-0B8A-8FCF-B5FDFE018BF5}"/>
              </a:ext>
            </a:extLst>
          </p:cNvPr>
          <p:cNvSpPr txBox="1"/>
          <p:nvPr/>
        </p:nvSpPr>
        <p:spPr>
          <a:xfrm>
            <a:off x="1582994" y="844436"/>
            <a:ext cx="8613057"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MONITORING AND MANAGING LINUX PROCESSES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3F9E866-58FB-E1BE-F788-7FF01B029258}"/>
              </a:ext>
            </a:extLst>
          </p:cNvPr>
          <p:cNvSpPr txBox="1"/>
          <p:nvPr/>
        </p:nvSpPr>
        <p:spPr>
          <a:xfrm>
            <a:off x="698092" y="1213768"/>
            <a:ext cx="11493908" cy="3170099"/>
          </a:xfrm>
          <a:prstGeom prst="rect">
            <a:avLst/>
          </a:prstGeom>
          <a:noFill/>
        </p:spPr>
        <p:txBody>
          <a:bodyPr wrap="square">
            <a:spAutoFit/>
          </a:bodyPr>
          <a:lstStyle/>
          <a:p>
            <a:pPr algn="just">
              <a:buNone/>
            </a:pPr>
            <a:r>
              <a:rPr lang="en-IN" sz="2000" dirty="0">
                <a:solidFill>
                  <a:srgbClr val="000000"/>
                </a:solidFill>
                <a:effectLst/>
                <a:latin typeface="Times New Roman" panose="02020603050405020304" pitchFamily="18" charset="0"/>
                <a:cs typeface="Times New Roman" panose="02020603050405020304" pitchFamily="18" charset="0"/>
              </a:rPr>
              <a:t>An existing (parent) process duplicates its own address space (</a:t>
            </a:r>
            <a:r>
              <a:rPr lang="en-IN" sz="2000" b="1" dirty="0">
                <a:solidFill>
                  <a:srgbClr val="000000"/>
                </a:solidFill>
                <a:effectLst/>
                <a:latin typeface="Times New Roman" panose="02020603050405020304" pitchFamily="18" charset="0"/>
                <a:cs typeface="Times New Roman" panose="02020603050405020304" pitchFamily="18" charset="0"/>
              </a:rPr>
              <a:t>fork</a:t>
            </a:r>
            <a:r>
              <a:rPr lang="en-IN" sz="2000" dirty="0">
                <a:solidFill>
                  <a:srgbClr val="000000"/>
                </a:solidFill>
                <a:effectLst/>
                <a:latin typeface="Times New Roman" panose="02020603050405020304" pitchFamily="18" charset="0"/>
                <a:cs typeface="Times New Roman" panose="02020603050405020304" pitchFamily="18" charset="0"/>
              </a:rPr>
              <a:t>) to create a new (child) process structure. Every new process is assigned a unique process ID (PID) for tracking and security. The PID and the parent's process ID (PPID) are elements of the new process environment. Any process may create a child process.</a:t>
            </a:r>
          </a:p>
          <a:p>
            <a:pPr algn="just">
              <a:buNone/>
            </a:pPr>
            <a:endParaRPr lang="en-IN" sz="2000" dirty="0">
              <a:solidFill>
                <a:srgbClr val="000000"/>
              </a:solidFill>
              <a:effectLst/>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Through the fork routine, a child process inherits security identities, previous and current file </a:t>
            </a:r>
          </a:p>
          <a:p>
            <a:pPr algn="just"/>
            <a:r>
              <a:rPr lang="en-IN" sz="2000" dirty="0">
                <a:latin typeface="Times New Roman" panose="02020603050405020304" pitchFamily="18" charset="0"/>
                <a:cs typeface="Times New Roman" panose="02020603050405020304" pitchFamily="18" charset="0"/>
              </a:rPr>
              <a:t>descriptors, port and resource privileges, environment variables, and program code. A child </a:t>
            </a:r>
          </a:p>
          <a:p>
            <a:pPr algn="just"/>
            <a:r>
              <a:rPr lang="en-IN" sz="2000" dirty="0">
                <a:latin typeface="Times New Roman" panose="02020603050405020304" pitchFamily="18" charset="0"/>
                <a:cs typeface="Times New Roman" panose="02020603050405020304" pitchFamily="18" charset="0"/>
              </a:rPr>
              <a:t>process may then exec its own program code. Normally, a parent process sleeps while the child </a:t>
            </a:r>
          </a:p>
          <a:p>
            <a:pPr algn="just"/>
            <a:r>
              <a:rPr lang="en-IN" sz="2000" dirty="0">
                <a:latin typeface="Times New Roman" panose="02020603050405020304" pitchFamily="18" charset="0"/>
                <a:cs typeface="Times New Roman" panose="02020603050405020304" pitchFamily="18" charset="0"/>
              </a:rPr>
              <a:t>process runs, setting a request (wait) to be signalled when the child completes. Upon exit, the </a:t>
            </a:r>
          </a:p>
          <a:p>
            <a:pPr algn="just"/>
            <a:r>
              <a:rPr lang="en-IN" sz="2000" dirty="0">
                <a:latin typeface="Times New Roman" panose="02020603050405020304" pitchFamily="18" charset="0"/>
                <a:cs typeface="Times New Roman" panose="02020603050405020304" pitchFamily="18" charset="0"/>
              </a:rPr>
              <a:t>child process has already closed or discarded its resources and environment. The only remaining </a:t>
            </a:r>
          </a:p>
          <a:p>
            <a:pPr algn="just"/>
            <a:r>
              <a:rPr lang="en-IN" sz="2000" dirty="0">
                <a:latin typeface="Times New Roman" panose="02020603050405020304" pitchFamily="18" charset="0"/>
                <a:cs typeface="Times New Roman" panose="02020603050405020304" pitchFamily="18" charset="0"/>
              </a:rPr>
              <a:t>resource, called a zombie, is an entry in the process table</a:t>
            </a:r>
          </a:p>
        </p:txBody>
      </p:sp>
      <p:pic>
        <p:nvPicPr>
          <p:cNvPr id="5" name="Picture 4">
            <a:extLst>
              <a:ext uri="{FF2B5EF4-FFF2-40B4-BE49-F238E27FC236}">
                <a16:creationId xmlns:a16="http://schemas.microsoft.com/office/drawing/2014/main" id="{E303884C-2A17-6461-1D5D-D71307DA2E04}"/>
              </a:ext>
            </a:extLst>
          </p:cNvPr>
          <p:cNvPicPr>
            <a:picLocks noChangeAspect="1"/>
          </p:cNvPicPr>
          <p:nvPr/>
        </p:nvPicPr>
        <p:blipFill>
          <a:blip r:embed="rId2"/>
          <a:stretch>
            <a:fillRect/>
          </a:stretch>
        </p:blipFill>
        <p:spPr>
          <a:xfrm>
            <a:off x="2706383" y="4753199"/>
            <a:ext cx="7175036" cy="1473276"/>
          </a:xfrm>
          <a:prstGeom prst="rect">
            <a:avLst/>
          </a:prstGeom>
        </p:spPr>
      </p:pic>
    </p:spTree>
    <p:extLst>
      <p:ext uri="{BB962C8B-B14F-4D97-AF65-F5344CB8AC3E}">
        <p14:creationId xmlns:p14="http://schemas.microsoft.com/office/powerpoint/2010/main" val="2025134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A10F-20A6-80C6-9FD8-BA80D06D0D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E11EC1-8FE6-7EC4-B0C9-3BDD5250CE35}"/>
              </a:ext>
            </a:extLst>
          </p:cNvPr>
          <p:cNvSpPr txBox="1"/>
          <p:nvPr/>
        </p:nvSpPr>
        <p:spPr>
          <a:xfrm>
            <a:off x="1582994" y="844436"/>
            <a:ext cx="8613057"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MONITORING AND MANAGING LINUX PROCESSES</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D194550-AFA8-92D1-CE8B-C794637CFC05}"/>
              </a:ext>
            </a:extLst>
          </p:cNvPr>
          <p:cNvPicPr>
            <a:picLocks noChangeAspect="1"/>
          </p:cNvPicPr>
          <p:nvPr/>
        </p:nvPicPr>
        <p:blipFill>
          <a:blip r:embed="rId2"/>
          <a:stretch>
            <a:fillRect/>
          </a:stretch>
        </p:blipFill>
        <p:spPr>
          <a:xfrm>
            <a:off x="1052051" y="2654625"/>
            <a:ext cx="8200104" cy="2684291"/>
          </a:xfrm>
          <a:prstGeom prst="rect">
            <a:avLst/>
          </a:prstGeom>
        </p:spPr>
      </p:pic>
      <p:sp>
        <p:nvSpPr>
          <p:cNvPr id="10" name="TextBox 9">
            <a:extLst>
              <a:ext uri="{FF2B5EF4-FFF2-40B4-BE49-F238E27FC236}">
                <a16:creationId xmlns:a16="http://schemas.microsoft.com/office/drawing/2014/main" id="{2A9FBA4B-E70C-5CBC-4528-986EEE9A02D3}"/>
              </a:ext>
            </a:extLst>
          </p:cNvPr>
          <p:cNvSpPr txBox="1"/>
          <p:nvPr/>
        </p:nvSpPr>
        <p:spPr>
          <a:xfrm>
            <a:off x="580103" y="1669980"/>
            <a:ext cx="10471354" cy="856910"/>
          </a:xfrm>
          <a:prstGeom prst="rect">
            <a:avLst/>
          </a:prstGeom>
          <a:noFill/>
        </p:spPr>
        <p:txBody>
          <a:bodyPr wrap="square">
            <a:spAutoFit/>
          </a:bodyPr>
          <a:lstStyle/>
          <a:p>
            <a:pPr>
              <a:buNone/>
            </a:pPr>
            <a:r>
              <a:rPr lang="en-IN" sz="1600" dirty="0">
                <a:solidFill>
                  <a:srgbClr val="000000"/>
                </a:solidFill>
                <a:effectLst/>
                <a:latin typeface="Times New Roman" panose="02020603050405020304" pitchFamily="18" charset="0"/>
                <a:cs typeface="Times New Roman" panose="02020603050405020304" pitchFamily="18" charset="0"/>
              </a:rPr>
              <a:t>In a multitasking operating system, each CPU (or CPU core) can be working on one process at a single point in time. As a process runs, its immediate requirements for CPU time and resource allocation change. Processes are assigned a state, which changes as circumstances dictate.</a:t>
            </a: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7EF6107-0461-76FA-6B1D-462096AE2F7F}"/>
              </a:ext>
            </a:extLst>
          </p:cNvPr>
          <p:cNvSpPr txBox="1"/>
          <p:nvPr/>
        </p:nvSpPr>
        <p:spPr>
          <a:xfrm>
            <a:off x="580103" y="5690398"/>
            <a:ext cx="11051458" cy="584775"/>
          </a:xfrm>
          <a:prstGeom prst="rect">
            <a:avLst/>
          </a:prstGeom>
          <a:noFill/>
        </p:spPr>
        <p:txBody>
          <a:bodyPr wrap="square">
            <a:spAutoFit/>
          </a:bodyPr>
          <a:lstStyle/>
          <a:p>
            <a:r>
              <a:rPr lang="en-IN" sz="1600" u="none" strike="noStrike" dirty="0">
                <a:effectLst/>
                <a:latin typeface="Times New Roman" panose="02020603050405020304" pitchFamily="18" charset="0"/>
                <a:cs typeface="Times New Roman" panose="02020603050405020304" pitchFamily="18" charset="0"/>
              </a:rPr>
              <a:t>A </a:t>
            </a:r>
            <a:r>
              <a:rPr lang="en-IN" sz="1600" b="1" u="none" strike="noStrike" dirty="0">
                <a:effectLst/>
                <a:latin typeface="Times New Roman" panose="02020603050405020304" pitchFamily="18" charset="0"/>
                <a:cs typeface="Times New Roman" panose="02020603050405020304" pitchFamily="18" charset="0"/>
              </a:rPr>
              <a:t>zombie process </a:t>
            </a:r>
            <a:r>
              <a:rPr lang="en-IN" sz="1600" u="none" strike="noStrike" dirty="0">
                <a:effectLst/>
                <a:latin typeface="Times New Roman" panose="02020603050405020304" pitchFamily="18" charset="0"/>
                <a:cs typeface="Times New Roman" panose="02020603050405020304" pitchFamily="18" charset="0"/>
              </a:rPr>
              <a:t>is </a:t>
            </a:r>
            <a:r>
              <a:rPr lang="en-IN" sz="1600" dirty="0">
                <a:latin typeface="Times New Roman" panose="02020603050405020304" pitchFamily="18" charset="0"/>
                <a:cs typeface="Times New Roman" panose="02020603050405020304" pitchFamily="18" charset="0"/>
              </a:rPr>
              <a:t>a terminated child process that remains in the system's process table because its parent process has not yet read its exit status. It uses no CPU or memory, but holds a Process ID (PID) slot</a:t>
            </a:r>
          </a:p>
        </p:txBody>
      </p:sp>
    </p:spTree>
    <p:extLst>
      <p:ext uri="{BB962C8B-B14F-4D97-AF65-F5344CB8AC3E}">
        <p14:creationId xmlns:p14="http://schemas.microsoft.com/office/powerpoint/2010/main" val="1213495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3220AC-EDC2-29E1-6583-59AE6B6F3DD2}"/>
              </a:ext>
            </a:extLst>
          </p:cNvPr>
          <p:cNvSpPr>
            <a:spLocks noGrp="1"/>
          </p:cNvSpPr>
          <p:nvPr>
            <p:ph type="ftr" sz="quarter" idx="11"/>
          </p:nvPr>
        </p:nvSpPr>
        <p:spPr/>
        <p:txBody>
          <a:bodyPr/>
          <a:lstStyle/>
          <a:p>
            <a:r>
              <a:rPr lang="en-IN"/>
              <a:t>1/15</a:t>
            </a:r>
          </a:p>
        </p:txBody>
      </p:sp>
      <p:pic>
        <p:nvPicPr>
          <p:cNvPr id="4" name="Picture 3">
            <a:extLst>
              <a:ext uri="{FF2B5EF4-FFF2-40B4-BE49-F238E27FC236}">
                <a16:creationId xmlns:a16="http://schemas.microsoft.com/office/drawing/2014/main" id="{B3488FCB-99ED-0E10-3696-BCCE2B2B4032}"/>
              </a:ext>
            </a:extLst>
          </p:cNvPr>
          <p:cNvPicPr>
            <a:picLocks noChangeAspect="1"/>
          </p:cNvPicPr>
          <p:nvPr/>
        </p:nvPicPr>
        <p:blipFill>
          <a:blip r:embed="rId2"/>
          <a:stretch>
            <a:fillRect/>
          </a:stretch>
        </p:blipFill>
        <p:spPr>
          <a:xfrm>
            <a:off x="1652941" y="1396181"/>
            <a:ext cx="8611936" cy="4581832"/>
          </a:xfrm>
          <a:prstGeom prst="rect">
            <a:avLst/>
          </a:prstGeom>
        </p:spPr>
      </p:pic>
    </p:spTree>
    <p:extLst>
      <p:ext uri="{BB962C8B-B14F-4D97-AF65-F5344CB8AC3E}">
        <p14:creationId xmlns:p14="http://schemas.microsoft.com/office/powerpoint/2010/main" val="2661652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98A0D-2A3D-C76C-0F28-C4FC88471A7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5E9634-5BBD-F3CA-EE74-A400D26DB932}"/>
              </a:ext>
            </a:extLst>
          </p:cNvPr>
          <p:cNvSpPr>
            <a:spLocks noGrp="1"/>
          </p:cNvSpPr>
          <p:nvPr>
            <p:ph type="ftr" sz="quarter" idx="11"/>
          </p:nvPr>
        </p:nvSpPr>
        <p:spPr/>
        <p:txBody>
          <a:bodyPr/>
          <a:lstStyle/>
          <a:p>
            <a:r>
              <a:rPr lang="en-IN"/>
              <a:t>1/15</a:t>
            </a:r>
          </a:p>
        </p:txBody>
      </p:sp>
      <p:pic>
        <p:nvPicPr>
          <p:cNvPr id="5" name="Picture 4">
            <a:extLst>
              <a:ext uri="{FF2B5EF4-FFF2-40B4-BE49-F238E27FC236}">
                <a16:creationId xmlns:a16="http://schemas.microsoft.com/office/drawing/2014/main" id="{752B9F1F-949F-C548-EAE5-6FD1FCF5D18D}"/>
              </a:ext>
            </a:extLst>
          </p:cNvPr>
          <p:cNvPicPr>
            <a:picLocks noChangeAspect="1"/>
          </p:cNvPicPr>
          <p:nvPr/>
        </p:nvPicPr>
        <p:blipFill>
          <a:blip r:embed="rId2"/>
          <a:stretch>
            <a:fillRect/>
          </a:stretch>
        </p:blipFill>
        <p:spPr>
          <a:xfrm>
            <a:off x="1602659" y="1579736"/>
            <a:ext cx="8750710" cy="4319619"/>
          </a:xfrm>
          <a:prstGeom prst="rect">
            <a:avLst/>
          </a:prstGeom>
        </p:spPr>
      </p:pic>
    </p:spTree>
    <p:extLst>
      <p:ext uri="{BB962C8B-B14F-4D97-AF65-F5344CB8AC3E}">
        <p14:creationId xmlns:p14="http://schemas.microsoft.com/office/powerpoint/2010/main" val="1789785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FF0B269-B704-38F9-F2B2-A839AFF4B944}"/>
              </a:ext>
            </a:extLst>
          </p:cNvPr>
          <p:cNvSpPr>
            <a:spLocks noGrp="1"/>
          </p:cNvSpPr>
          <p:nvPr>
            <p:ph type="ftr" sz="quarter" idx="11"/>
          </p:nvPr>
        </p:nvSpPr>
        <p:spPr/>
        <p:txBody>
          <a:bodyPr/>
          <a:lstStyle/>
          <a:p>
            <a:r>
              <a:rPr lang="en-IN"/>
              <a:t>1/15</a:t>
            </a:r>
          </a:p>
        </p:txBody>
      </p:sp>
      <p:sp>
        <p:nvSpPr>
          <p:cNvPr id="4" name="TextBox 3">
            <a:extLst>
              <a:ext uri="{FF2B5EF4-FFF2-40B4-BE49-F238E27FC236}">
                <a16:creationId xmlns:a16="http://schemas.microsoft.com/office/drawing/2014/main" id="{2F0E38CC-8993-BE4A-0971-71EFB3BA975A}"/>
              </a:ext>
            </a:extLst>
          </p:cNvPr>
          <p:cNvSpPr txBox="1"/>
          <p:nvPr/>
        </p:nvSpPr>
        <p:spPr>
          <a:xfrm>
            <a:off x="698091" y="1222629"/>
            <a:ext cx="10510684" cy="1754326"/>
          </a:xfrm>
          <a:prstGeom prst="rect">
            <a:avLst/>
          </a:prstGeom>
          <a:noFill/>
        </p:spPr>
        <p:txBody>
          <a:bodyPr wrap="square">
            <a:spAutoFit/>
          </a:bodyPr>
          <a:lstStyle/>
          <a:p>
            <a:pPr algn="just"/>
            <a:r>
              <a:rPr lang="en-IN" b="1" dirty="0">
                <a:solidFill>
                  <a:srgbClr val="000000"/>
                </a:solidFill>
                <a:effectLst/>
                <a:latin typeface="Times New Roman" panose="02020603050405020304" pitchFamily="18" charset="0"/>
                <a:cs typeface="Times New Roman" panose="02020603050405020304" pitchFamily="18" charset="0"/>
              </a:rPr>
              <a:t>Why Process States are Important</a:t>
            </a:r>
          </a:p>
          <a:p>
            <a:pPr algn="just"/>
            <a:r>
              <a:rPr lang="en-IN" dirty="0">
                <a:latin typeface="Times New Roman" panose="02020603050405020304" pitchFamily="18" charset="0"/>
                <a:cs typeface="Times New Roman" panose="02020603050405020304" pitchFamily="18" charset="0"/>
              </a:rPr>
              <a:t>When troubleshooting a system, it is important to understand how the kernel communicates with processes and how processes communicate with each other. At process creation, the system assigns the process a state. The </a:t>
            </a:r>
            <a:r>
              <a:rPr lang="en-IN" b="1" dirty="0">
                <a:latin typeface="Times New Roman" panose="02020603050405020304" pitchFamily="18" charset="0"/>
                <a:cs typeface="Times New Roman" panose="02020603050405020304" pitchFamily="18" charset="0"/>
              </a:rPr>
              <a:t>S</a:t>
            </a:r>
            <a:r>
              <a:rPr lang="en-IN" dirty="0">
                <a:latin typeface="Times New Roman" panose="02020603050405020304" pitchFamily="18" charset="0"/>
                <a:cs typeface="Times New Roman" panose="02020603050405020304" pitchFamily="18" charset="0"/>
              </a:rPr>
              <a:t> column of the </a:t>
            </a:r>
            <a:r>
              <a:rPr lang="en-IN" b="1" dirty="0">
                <a:latin typeface="Times New Roman" panose="02020603050405020304" pitchFamily="18" charset="0"/>
                <a:cs typeface="Times New Roman" panose="02020603050405020304" pitchFamily="18" charset="0"/>
              </a:rPr>
              <a:t>top</a:t>
            </a:r>
            <a:r>
              <a:rPr lang="en-IN" dirty="0">
                <a:latin typeface="Times New Roman" panose="02020603050405020304" pitchFamily="18" charset="0"/>
                <a:cs typeface="Times New Roman" panose="02020603050405020304" pitchFamily="18" charset="0"/>
              </a:rPr>
              <a:t> command or the </a:t>
            </a:r>
            <a:r>
              <a:rPr lang="en-IN" b="1" dirty="0">
                <a:latin typeface="Times New Roman" panose="02020603050405020304" pitchFamily="18" charset="0"/>
                <a:cs typeface="Times New Roman" panose="02020603050405020304" pitchFamily="18" charset="0"/>
              </a:rPr>
              <a:t>STAT</a:t>
            </a:r>
            <a:r>
              <a:rPr lang="en-IN" dirty="0">
                <a:latin typeface="Times New Roman" panose="02020603050405020304" pitchFamily="18" charset="0"/>
                <a:cs typeface="Times New Roman" panose="02020603050405020304" pitchFamily="18" charset="0"/>
              </a:rPr>
              <a:t> column of the </a:t>
            </a:r>
            <a:r>
              <a:rPr lang="en-IN" b="1" dirty="0" err="1">
                <a:latin typeface="Times New Roman" panose="02020603050405020304" pitchFamily="18" charset="0"/>
                <a:cs typeface="Times New Roman" panose="02020603050405020304" pitchFamily="18" charset="0"/>
              </a:rPr>
              <a:t>ps</a:t>
            </a:r>
            <a:r>
              <a:rPr lang="en-IN" dirty="0">
                <a:latin typeface="Times New Roman" panose="02020603050405020304" pitchFamily="18" charset="0"/>
                <a:cs typeface="Times New Roman" panose="02020603050405020304" pitchFamily="18" charset="0"/>
              </a:rPr>
              <a:t> show the state of each process. On a single CPU system, only one process can run at a time. It is possible to see several processes with a state of </a:t>
            </a:r>
            <a:r>
              <a:rPr lang="en-IN" b="1" dirty="0">
                <a:latin typeface="Times New Roman" panose="02020603050405020304" pitchFamily="18" charset="0"/>
                <a:cs typeface="Times New Roman" panose="02020603050405020304" pitchFamily="18" charset="0"/>
              </a:rPr>
              <a:t>R</a:t>
            </a:r>
            <a:r>
              <a:rPr lang="en-IN" dirty="0">
                <a:latin typeface="Times New Roman" panose="02020603050405020304" pitchFamily="18" charset="0"/>
                <a:cs typeface="Times New Roman" panose="02020603050405020304" pitchFamily="18" charset="0"/>
              </a:rPr>
              <a:t>. However, not all of them will be running consecutively, some of them will be in status waiting.</a:t>
            </a:r>
          </a:p>
        </p:txBody>
      </p:sp>
      <p:pic>
        <p:nvPicPr>
          <p:cNvPr id="6" name="Picture 5">
            <a:extLst>
              <a:ext uri="{FF2B5EF4-FFF2-40B4-BE49-F238E27FC236}">
                <a16:creationId xmlns:a16="http://schemas.microsoft.com/office/drawing/2014/main" id="{A2F6C350-D892-515E-5474-A00A9341AD09}"/>
              </a:ext>
            </a:extLst>
          </p:cNvPr>
          <p:cNvPicPr>
            <a:picLocks noChangeAspect="1"/>
          </p:cNvPicPr>
          <p:nvPr/>
        </p:nvPicPr>
        <p:blipFill>
          <a:blip r:embed="rId2"/>
          <a:stretch>
            <a:fillRect/>
          </a:stretch>
        </p:blipFill>
        <p:spPr>
          <a:xfrm>
            <a:off x="1592827" y="3560954"/>
            <a:ext cx="7875638" cy="1028753"/>
          </a:xfrm>
          <a:prstGeom prst="rect">
            <a:avLst/>
          </a:prstGeom>
        </p:spPr>
      </p:pic>
      <p:sp>
        <p:nvSpPr>
          <p:cNvPr id="8" name="TextBox 7">
            <a:extLst>
              <a:ext uri="{FF2B5EF4-FFF2-40B4-BE49-F238E27FC236}">
                <a16:creationId xmlns:a16="http://schemas.microsoft.com/office/drawing/2014/main" id="{F02C30CB-7421-0B5E-368B-27428D2345E7}"/>
              </a:ext>
            </a:extLst>
          </p:cNvPr>
          <p:cNvSpPr txBox="1"/>
          <p:nvPr/>
        </p:nvSpPr>
        <p:spPr>
          <a:xfrm>
            <a:off x="-1" y="4743598"/>
            <a:ext cx="11710219" cy="923330"/>
          </a:xfrm>
          <a:prstGeom prst="rect">
            <a:avLst/>
          </a:prstGeom>
          <a:noFill/>
        </p:spPr>
        <p:txBody>
          <a:bodyPr wrap="square">
            <a:spAutoFit/>
          </a:bodyPr>
          <a:lstStyle/>
          <a:p>
            <a:r>
              <a:rPr lang="en-IN" b="0" i="0" spc="12" dirty="0">
                <a:solidFill>
                  <a:srgbClr val="273239"/>
                </a:solidFill>
                <a:effectLst/>
                <a:latin typeface="Times New Roman" panose="02020603050405020304" pitchFamily="18" charset="0"/>
                <a:cs typeface="Times New Roman" panose="02020603050405020304" pitchFamily="18" charset="0"/>
              </a:rPr>
              <a:t>The top command is a real-time system monitoring utility available on Linux systems. It presents a continuously updated view of running processes along with overall system resource usage such as CPU load, memory consumption, and system uptime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6349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9FD2CE4-5DDD-0F8C-5270-414FBB8EDBA6}"/>
              </a:ext>
            </a:extLst>
          </p:cNvPr>
          <p:cNvSpPr>
            <a:spLocks noGrp="1"/>
          </p:cNvSpPr>
          <p:nvPr>
            <p:ph type="ftr" sz="quarter" idx="11"/>
          </p:nvPr>
        </p:nvSpPr>
        <p:spPr/>
        <p:txBody>
          <a:bodyPr/>
          <a:lstStyle/>
          <a:p>
            <a:r>
              <a:rPr lang="en-IN"/>
              <a:t>1/15</a:t>
            </a:r>
          </a:p>
        </p:txBody>
      </p:sp>
      <p:sp>
        <p:nvSpPr>
          <p:cNvPr id="4" name="TextBox 3">
            <a:extLst>
              <a:ext uri="{FF2B5EF4-FFF2-40B4-BE49-F238E27FC236}">
                <a16:creationId xmlns:a16="http://schemas.microsoft.com/office/drawing/2014/main" id="{A61D7892-0D30-FCF3-338C-05F10C74DBB7}"/>
              </a:ext>
            </a:extLst>
          </p:cNvPr>
          <p:cNvSpPr txBox="1"/>
          <p:nvPr/>
        </p:nvSpPr>
        <p:spPr>
          <a:xfrm>
            <a:off x="865239" y="656634"/>
            <a:ext cx="10756490" cy="3693319"/>
          </a:xfrm>
          <a:prstGeom prst="rect">
            <a:avLst/>
          </a:prstGeom>
          <a:noFill/>
        </p:spPr>
        <p:txBody>
          <a:bodyPr wrap="square">
            <a:spAutoFit/>
          </a:bodyPr>
          <a:lstStyle/>
          <a:p>
            <a:r>
              <a:rPr lang="en-IN" b="1" dirty="0">
                <a:solidFill>
                  <a:srgbClr val="E32233"/>
                </a:solidFill>
                <a:effectLst/>
                <a:latin typeface="Times New Roman" panose="02020603050405020304" pitchFamily="18" charset="0"/>
                <a:cs typeface="Times New Roman" panose="02020603050405020304" pitchFamily="18" charset="0"/>
              </a:rPr>
              <a:t>LISTING PROCESSES</a:t>
            </a:r>
          </a:p>
          <a:p>
            <a:r>
              <a:rPr lang="en-IN" dirty="0">
                <a:latin typeface="Times New Roman" panose="02020603050405020304" pitchFamily="18" charset="0"/>
                <a:cs typeface="Times New Roman" panose="02020603050405020304" pitchFamily="18" charset="0"/>
              </a:rPr>
              <a:t>The </a:t>
            </a:r>
            <a:r>
              <a:rPr lang="en-IN" b="1" dirty="0" err="1">
                <a:latin typeface="Times New Roman" panose="02020603050405020304" pitchFamily="18" charset="0"/>
                <a:cs typeface="Times New Roman" panose="02020603050405020304" pitchFamily="18" charset="0"/>
              </a:rPr>
              <a:t>ps</a:t>
            </a:r>
            <a:r>
              <a:rPr lang="en-IN" dirty="0">
                <a:latin typeface="Times New Roman" panose="02020603050405020304" pitchFamily="18" charset="0"/>
                <a:cs typeface="Times New Roman" panose="02020603050405020304" pitchFamily="18" charset="0"/>
              </a:rPr>
              <a:t> command is used for listing current processes. It can provide detailed process information, </a:t>
            </a:r>
          </a:p>
          <a:p>
            <a:r>
              <a:rPr lang="en-IN" dirty="0">
                <a:latin typeface="Times New Roman" panose="02020603050405020304" pitchFamily="18" charset="0"/>
                <a:cs typeface="Times New Roman" panose="02020603050405020304" pitchFamily="18" charset="0"/>
              </a:rPr>
              <a:t>including: </a:t>
            </a:r>
          </a:p>
          <a:p>
            <a:r>
              <a:rPr lang="en-IN" dirty="0">
                <a:latin typeface="Times New Roman" panose="02020603050405020304" pitchFamily="18" charset="0"/>
                <a:cs typeface="Times New Roman" panose="02020603050405020304" pitchFamily="18" charset="0"/>
              </a:rPr>
              <a:t>• User identification (UID), which determines process privileges </a:t>
            </a:r>
          </a:p>
          <a:p>
            <a:r>
              <a:rPr lang="en-IN" dirty="0">
                <a:latin typeface="Times New Roman" panose="02020603050405020304" pitchFamily="18" charset="0"/>
                <a:cs typeface="Times New Roman" panose="02020603050405020304" pitchFamily="18" charset="0"/>
              </a:rPr>
              <a:t>• Unique process identification (PID) </a:t>
            </a:r>
          </a:p>
          <a:p>
            <a:r>
              <a:rPr lang="en-IN" dirty="0">
                <a:latin typeface="Times New Roman" panose="02020603050405020304" pitchFamily="18" charset="0"/>
                <a:cs typeface="Times New Roman" panose="02020603050405020304" pitchFamily="18" charset="0"/>
              </a:rPr>
              <a:t>• CPU and real time already expended </a:t>
            </a:r>
          </a:p>
          <a:p>
            <a:r>
              <a:rPr lang="en-IN" dirty="0">
                <a:latin typeface="Times New Roman" panose="02020603050405020304" pitchFamily="18" charset="0"/>
                <a:cs typeface="Times New Roman" panose="02020603050405020304" pitchFamily="18" charset="0"/>
              </a:rPr>
              <a:t>• How much memory the process has allocated in various locations </a:t>
            </a:r>
          </a:p>
          <a:p>
            <a:r>
              <a:rPr lang="en-IN" dirty="0">
                <a:latin typeface="Times New Roman" panose="02020603050405020304" pitchFamily="18" charset="0"/>
                <a:cs typeface="Times New Roman" panose="02020603050405020304" pitchFamily="18" charset="0"/>
              </a:rPr>
              <a:t>• The location of process </a:t>
            </a:r>
            <a:r>
              <a:rPr lang="en-IN" b="1" dirty="0" err="1">
                <a:latin typeface="Times New Roman" panose="02020603050405020304" pitchFamily="18" charset="0"/>
                <a:cs typeface="Times New Roman" panose="02020603050405020304" pitchFamily="18" charset="0"/>
              </a:rPr>
              <a:t>stdout</a:t>
            </a:r>
            <a:r>
              <a:rPr lang="en-IN" dirty="0">
                <a:latin typeface="Times New Roman" panose="02020603050405020304" pitchFamily="18" charset="0"/>
                <a:cs typeface="Times New Roman" panose="02020603050405020304" pitchFamily="18" charset="0"/>
              </a:rPr>
              <a:t>, known as the controlling terminal </a:t>
            </a:r>
          </a:p>
          <a:p>
            <a:r>
              <a:rPr lang="en-IN" dirty="0">
                <a:latin typeface="Times New Roman" panose="02020603050405020304" pitchFamily="18" charset="0"/>
                <a:cs typeface="Times New Roman" panose="02020603050405020304" pitchFamily="18" charset="0"/>
              </a:rPr>
              <a:t>• The current process state.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ps</a:t>
            </a:r>
            <a:r>
              <a:rPr lang="en-IN" dirty="0">
                <a:latin typeface="Times New Roman" panose="02020603050405020304" pitchFamily="18" charset="0"/>
                <a:cs typeface="Times New Roman" panose="02020603050405020304" pitchFamily="18" charset="0"/>
              </a:rPr>
              <a:t> aux command in Linux is used to display a </a:t>
            </a:r>
            <a:r>
              <a:rPr lang="en-IN" b="1" dirty="0">
                <a:latin typeface="Times New Roman" panose="02020603050405020304" pitchFamily="18" charset="0"/>
                <a:cs typeface="Times New Roman" panose="02020603050405020304" pitchFamily="18" charset="0"/>
              </a:rPr>
              <a:t>comprehensive, static snapshot of all currently running processes</a:t>
            </a:r>
            <a:r>
              <a:rPr lang="en-IN" dirty="0">
                <a:latin typeface="Times New Roman" panose="02020603050405020304" pitchFamily="18" charset="0"/>
                <a:cs typeface="Times New Roman" panose="02020603050405020304" pitchFamily="18" charset="0"/>
              </a:rPr>
              <a:t> on the system. It is one of the most widely used tools by system administrators for monitoring resource usage, troubleshooting system health, and identifying process</a:t>
            </a:r>
          </a:p>
        </p:txBody>
      </p:sp>
      <p:pic>
        <p:nvPicPr>
          <p:cNvPr id="6" name="Picture 5">
            <a:extLst>
              <a:ext uri="{FF2B5EF4-FFF2-40B4-BE49-F238E27FC236}">
                <a16:creationId xmlns:a16="http://schemas.microsoft.com/office/drawing/2014/main" id="{A0E49993-4922-721B-D6FF-427C3E240FA2}"/>
              </a:ext>
            </a:extLst>
          </p:cNvPr>
          <p:cNvPicPr>
            <a:picLocks noChangeAspect="1"/>
          </p:cNvPicPr>
          <p:nvPr/>
        </p:nvPicPr>
        <p:blipFill>
          <a:blip r:embed="rId2"/>
          <a:stretch>
            <a:fillRect/>
          </a:stretch>
        </p:blipFill>
        <p:spPr>
          <a:xfrm>
            <a:off x="1809973" y="4455276"/>
            <a:ext cx="7989648" cy="1795750"/>
          </a:xfrm>
          <a:prstGeom prst="rect">
            <a:avLst/>
          </a:prstGeom>
        </p:spPr>
      </p:pic>
    </p:spTree>
    <p:extLst>
      <p:ext uri="{BB962C8B-B14F-4D97-AF65-F5344CB8AC3E}">
        <p14:creationId xmlns:p14="http://schemas.microsoft.com/office/powerpoint/2010/main" val="382139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D2C8-EFBD-B103-C1ED-AD81D489E91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820FE0-9DE6-FC2B-802A-D5C03C55FC98}"/>
              </a:ext>
            </a:extLst>
          </p:cNvPr>
          <p:cNvSpPr>
            <a:spLocks noGrp="1"/>
          </p:cNvSpPr>
          <p:nvPr>
            <p:ph type="ftr" sz="quarter" idx="11"/>
          </p:nvPr>
        </p:nvSpPr>
        <p:spPr/>
        <p:txBody>
          <a:bodyPr/>
          <a:lstStyle/>
          <a:p>
            <a:r>
              <a:rPr lang="en-IN"/>
              <a:t>1/15</a:t>
            </a:r>
          </a:p>
        </p:txBody>
      </p:sp>
      <p:sp>
        <p:nvSpPr>
          <p:cNvPr id="8" name="TextBox 7">
            <a:extLst>
              <a:ext uri="{FF2B5EF4-FFF2-40B4-BE49-F238E27FC236}">
                <a16:creationId xmlns:a16="http://schemas.microsoft.com/office/drawing/2014/main" id="{F13A907F-2105-8CF0-C3FA-67867A5893E6}"/>
              </a:ext>
            </a:extLst>
          </p:cNvPr>
          <p:cNvSpPr txBox="1"/>
          <p:nvPr/>
        </p:nvSpPr>
        <p:spPr>
          <a:xfrm>
            <a:off x="1425677" y="1042652"/>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Controlling Jobs</a:t>
            </a:r>
          </a:p>
        </p:txBody>
      </p:sp>
      <p:sp>
        <p:nvSpPr>
          <p:cNvPr id="10" name="TextBox 9">
            <a:extLst>
              <a:ext uri="{FF2B5EF4-FFF2-40B4-BE49-F238E27FC236}">
                <a16:creationId xmlns:a16="http://schemas.microsoft.com/office/drawing/2014/main" id="{C559F8AB-D412-FA86-6251-8ABFAB3BAB27}"/>
              </a:ext>
            </a:extLst>
          </p:cNvPr>
          <p:cNvSpPr txBox="1"/>
          <p:nvPr/>
        </p:nvSpPr>
        <p:spPr>
          <a:xfrm>
            <a:off x="540774" y="1411984"/>
            <a:ext cx="11366090" cy="4524315"/>
          </a:xfrm>
          <a:prstGeom prst="rect">
            <a:avLst/>
          </a:prstGeom>
          <a:noFill/>
        </p:spPr>
        <p:txBody>
          <a:bodyPr wrap="square">
            <a:spAutoFit/>
          </a:bodyPr>
          <a:lstStyle/>
          <a:p>
            <a:r>
              <a:rPr lang="en-IN" b="1" dirty="0">
                <a:solidFill>
                  <a:schemeClr val="tx2"/>
                </a:solidFill>
                <a:effectLst/>
                <a:latin typeface="Times New Roman" panose="02020603050405020304" pitchFamily="18" charset="0"/>
                <a:cs typeface="Times New Roman" panose="02020603050405020304" pitchFamily="18" charset="0"/>
              </a:rPr>
              <a:t>DESCRIBING JOBS AND SESSIONS</a:t>
            </a:r>
          </a:p>
          <a:p>
            <a:endParaRPr lang="en-IN" b="1" dirty="0">
              <a:solidFill>
                <a:srgbClr val="E32233"/>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Job control is a feature of the shell which allows a single shell instance to run and manage multiple commands.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Types of Jobs :</a:t>
            </a:r>
          </a:p>
          <a:p>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foreground job</a:t>
            </a:r>
            <a:r>
              <a:rPr lang="en-IN" dirty="0">
                <a:latin typeface="Times New Roman" panose="02020603050405020304" pitchFamily="18" charset="0"/>
                <a:cs typeface="Times New Roman" panose="02020603050405020304" pitchFamily="18" charset="0"/>
              </a:rPr>
              <a:t> is a job that is </a:t>
            </a:r>
            <a:r>
              <a:rPr lang="en-IN" b="1" dirty="0">
                <a:latin typeface="Times New Roman" panose="02020603050405020304" pitchFamily="18" charset="0"/>
                <a:cs typeface="Times New Roman" panose="02020603050405020304" pitchFamily="18" charset="0"/>
              </a:rPr>
              <a:t>currently running in the terminal and has control of the keyboard</a:t>
            </a:r>
          </a:p>
          <a:p>
            <a:r>
              <a:rPr lang="en-IN" dirty="0">
                <a:latin typeface="Times New Roman" panose="02020603050405020304" pitchFamily="18" charset="0"/>
                <a:cs typeface="Times New Roman" panose="02020603050405020304" pitchFamily="18" charset="0"/>
              </a:rPr>
              <a:t>      Foreground = The job currently using the terminal.</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background job</a:t>
            </a:r>
            <a:r>
              <a:rPr lang="en-IN" dirty="0">
                <a:latin typeface="Times New Roman" panose="02020603050405020304" pitchFamily="18" charset="0"/>
                <a:cs typeface="Times New Roman" panose="02020603050405020304" pitchFamily="18" charset="0"/>
              </a:rPr>
              <a:t> is a job that </a:t>
            </a:r>
            <a:r>
              <a:rPr lang="en-IN" b="1" dirty="0">
                <a:latin typeface="Times New Roman" panose="02020603050405020304" pitchFamily="18" charset="0"/>
                <a:cs typeface="Times New Roman" panose="02020603050405020304" pitchFamily="18" charset="0"/>
              </a:rPr>
              <a:t>runs without controlling the keyboard</a:t>
            </a:r>
            <a:r>
              <a:rPr lang="en-IN" dirty="0">
                <a:latin typeface="Times New Roman" panose="02020603050405020304" pitchFamily="18" charset="0"/>
                <a:cs typeface="Times New Roman" panose="02020603050405020304" pitchFamily="18" charset="0"/>
              </a:rPr>
              <a:t>, allowing you to continue using the terminal for other commands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Examples </a:t>
            </a:r>
          </a:p>
          <a:p>
            <a:r>
              <a:rPr lang="en-IN" b="1" dirty="0">
                <a:latin typeface="Times New Roman" panose="02020603050405020304" pitchFamily="18" charset="0"/>
                <a:cs typeface="Times New Roman" panose="02020603050405020304" pitchFamily="18" charset="0"/>
              </a:rPr>
              <a:t>Foreground Job Example</a:t>
            </a:r>
            <a:r>
              <a:rPr lang="en-IN" dirty="0">
                <a:latin typeface="Times New Roman" panose="02020603050405020304" pitchFamily="18" charset="0"/>
                <a:cs typeface="Times New Roman" panose="02020603050405020304" pitchFamily="18" charset="0"/>
              </a:rPr>
              <a:t>: Running sleep 100 or </a:t>
            </a:r>
            <a:r>
              <a:rPr lang="en-IN" dirty="0" err="1">
                <a:latin typeface="Times New Roman" panose="02020603050405020304" pitchFamily="18" charset="0"/>
                <a:cs typeface="Times New Roman" panose="02020603050405020304" pitchFamily="18" charset="0"/>
              </a:rPr>
              <a:t>sudo</a:t>
            </a:r>
            <a:r>
              <a:rPr lang="en-IN" dirty="0">
                <a:latin typeface="Times New Roman" panose="02020603050405020304" pitchFamily="18" charset="0"/>
                <a:cs typeface="Times New Roman" panose="02020603050405020304" pitchFamily="18" charset="0"/>
              </a:rPr>
              <a:t> apt update. The terminal stays busy, shows the progress or waits, and does not let you type a new command until it is done or stopped</a:t>
            </a:r>
          </a:p>
          <a:p>
            <a:r>
              <a:rPr lang="en-IN" b="1" dirty="0">
                <a:latin typeface="Times New Roman" panose="02020603050405020304" pitchFamily="18" charset="0"/>
                <a:cs typeface="Times New Roman" panose="02020603050405020304" pitchFamily="18" charset="0"/>
              </a:rPr>
              <a:t>Background Job Example</a:t>
            </a:r>
            <a:r>
              <a:rPr lang="en-IN" dirty="0">
                <a:latin typeface="Times New Roman" panose="02020603050405020304" pitchFamily="18" charset="0"/>
                <a:cs typeface="Times New Roman" panose="02020603050405020304" pitchFamily="18" charset="0"/>
              </a:rPr>
              <a:t>: Running sleep 500 &amp;. Adding the &amp; symbol tells the system to run the sleep timer in the background, immediately returning your command prompt so you can do other work.</a:t>
            </a:r>
          </a:p>
        </p:txBody>
      </p:sp>
    </p:spTree>
    <p:extLst>
      <p:ext uri="{BB962C8B-B14F-4D97-AF65-F5344CB8AC3E}">
        <p14:creationId xmlns:p14="http://schemas.microsoft.com/office/powerpoint/2010/main" val="558586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76691-41C7-3918-837E-49D65554454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BB0AC4-6EB9-1CEC-DB8A-7BD3B6EE7D52}"/>
              </a:ext>
            </a:extLst>
          </p:cNvPr>
          <p:cNvSpPr>
            <a:spLocks noGrp="1"/>
          </p:cNvSpPr>
          <p:nvPr>
            <p:ph type="ftr" sz="quarter" idx="11"/>
          </p:nvPr>
        </p:nvSpPr>
        <p:spPr/>
        <p:txBody>
          <a:bodyPr/>
          <a:lstStyle/>
          <a:p>
            <a:r>
              <a:rPr lang="en-IN"/>
              <a:t>1/15</a:t>
            </a:r>
          </a:p>
        </p:txBody>
      </p:sp>
      <p:sp>
        <p:nvSpPr>
          <p:cNvPr id="8" name="TextBox 7">
            <a:extLst>
              <a:ext uri="{FF2B5EF4-FFF2-40B4-BE49-F238E27FC236}">
                <a16:creationId xmlns:a16="http://schemas.microsoft.com/office/drawing/2014/main" id="{7E95D9C4-A030-8F54-6AF3-D30A79635F4E}"/>
              </a:ext>
            </a:extLst>
          </p:cNvPr>
          <p:cNvSpPr txBox="1"/>
          <p:nvPr/>
        </p:nvSpPr>
        <p:spPr>
          <a:xfrm>
            <a:off x="707923" y="845574"/>
            <a:ext cx="681375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Controlling Jobs</a:t>
            </a:r>
          </a:p>
        </p:txBody>
      </p:sp>
      <p:sp>
        <p:nvSpPr>
          <p:cNvPr id="10" name="TextBox 9">
            <a:extLst>
              <a:ext uri="{FF2B5EF4-FFF2-40B4-BE49-F238E27FC236}">
                <a16:creationId xmlns:a16="http://schemas.microsoft.com/office/drawing/2014/main" id="{A9AA80EF-8B32-A0C9-7607-A86EDFD1B0EB}"/>
              </a:ext>
            </a:extLst>
          </p:cNvPr>
          <p:cNvSpPr txBox="1"/>
          <p:nvPr/>
        </p:nvSpPr>
        <p:spPr>
          <a:xfrm>
            <a:off x="540774" y="1411984"/>
            <a:ext cx="11366090" cy="64633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Cron Job</a:t>
            </a:r>
            <a:r>
              <a:rPr lang="en-IN" dirty="0">
                <a:latin typeface="Times New Roman" panose="02020603050405020304" pitchFamily="18" charset="0"/>
                <a:cs typeface="Times New Roman" panose="02020603050405020304" pitchFamily="18" charset="0"/>
              </a:rPr>
              <a:t>: Cron is a time-based job scheduling utility available in Linux and Unix-like operating systems. It runs as a background daemon process and automatically executes scheduled tasks at predefined times without user intervention</a:t>
            </a:r>
          </a:p>
        </p:txBody>
      </p:sp>
      <p:sp>
        <p:nvSpPr>
          <p:cNvPr id="4" name="TextBox 3">
            <a:extLst>
              <a:ext uri="{FF2B5EF4-FFF2-40B4-BE49-F238E27FC236}">
                <a16:creationId xmlns:a16="http://schemas.microsoft.com/office/drawing/2014/main" id="{F011B2AB-336D-597A-A24F-A3845959BF79}"/>
              </a:ext>
            </a:extLst>
          </p:cNvPr>
          <p:cNvSpPr txBox="1"/>
          <p:nvPr/>
        </p:nvSpPr>
        <p:spPr>
          <a:xfrm>
            <a:off x="540774" y="2255393"/>
            <a:ext cx="11474246" cy="902170"/>
          </a:xfrm>
          <a:prstGeom prst="rect">
            <a:avLst/>
          </a:prstGeom>
          <a:noFill/>
        </p:spPr>
        <p:txBody>
          <a:bodyPr wrap="square">
            <a:spAutoFit/>
          </a:bodyPr>
          <a:lstStyle/>
          <a:p>
            <a:pPr marL="0" marR="0" indent="0" algn="l" fontAlgn="base">
              <a:lnSpc>
                <a:spcPts val="2100"/>
              </a:lnSpc>
              <a:buNone/>
            </a:pPr>
            <a:r>
              <a:rPr lang="en-IN" sz="1800" b="1" i="0" spc="12" dirty="0">
                <a:solidFill>
                  <a:srgbClr val="273239"/>
                </a:solidFill>
                <a:effectLst/>
                <a:latin typeface="Times New Roman" panose="02020603050405020304" pitchFamily="18" charset="0"/>
                <a:cs typeface="Times New Roman" panose="02020603050405020304" pitchFamily="18" charset="0"/>
              </a:rPr>
              <a:t>Working of Cron :</a:t>
            </a:r>
          </a:p>
          <a:p>
            <a:pPr fontAlgn="base">
              <a:lnSpc>
                <a:spcPts val="2100"/>
              </a:lnSpc>
            </a:pPr>
            <a:r>
              <a:rPr lang="en-IN" dirty="0">
                <a:latin typeface="Times New Roman" panose="02020603050405020304" pitchFamily="18" charset="0"/>
                <a:cs typeface="Times New Roman" panose="02020603050405020304" pitchFamily="18" charset="0"/>
              </a:rPr>
              <a:t>Cron operates as a background service that continuously monitors scheduled jobs and executes them when their defined time matches the system time</a:t>
            </a:r>
            <a:endParaRPr lang="en-IN" sz="1800" b="1" i="0" spc="0" dirty="0">
              <a:solidFill>
                <a:srgbClr val="273239"/>
              </a:solidFill>
              <a:effectLst/>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D98C24B-DF8F-B4C3-966F-AEE93EDDFD55}"/>
              </a:ext>
            </a:extLst>
          </p:cNvPr>
          <p:cNvGraphicFramePr>
            <a:graphicFrameLocks noGrp="1"/>
          </p:cNvGraphicFramePr>
          <p:nvPr>
            <p:extLst>
              <p:ext uri="{D42A27DB-BD31-4B8C-83A1-F6EECF244321}">
                <p14:modId xmlns:p14="http://schemas.microsoft.com/office/powerpoint/2010/main" val="2782309890"/>
              </p:ext>
            </p:extLst>
          </p:nvPr>
        </p:nvGraphicFramePr>
        <p:xfrm>
          <a:off x="540774" y="3157563"/>
          <a:ext cx="10515600" cy="2743200"/>
        </p:xfrm>
        <a:graphic>
          <a:graphicData uri="http://schemas.openxmlformats.org/drawingml/2006/table">
            <a:tbl>
              <a:tblPr/>
              <a:tblGrid>
                <a:gridCol w="747252">
                  <a:extLst>
                    <a:ext uri="{9D8B030D-6E8A-4147-A177-3AD203B41FA5}">
                      <a16:colId xmlns:a16="http://schemas.microsoft.com/office/drawing/2014/main" val="2809486683"/>
                    </a:ext>
                  </a:extLst>
                </a:gridCol>
                <a:gridCol w="3254477">
                  <a:extLst>
                    <a:ext uri="{9D8B030D-6E8A-4147-A177-3AD203B41FA5}">
                      <a16:colId xmlns:a16="http://schemas.microsoft.com/office/drawing/2014/main" val="3172478232"/>
                    </a:ext>
                  </a:extLst>
                </a:gridCol>
                <a:gridCol w="3884971">
                  <a:extLst>
                    <a:ext uri="{9D8B030D-6E8A-4147-A177-3AD203B41FA5}">
                      <a16:colId xmlns:a16="http://schemas.microsoft.com/office/drawing/2014/main" val="3796317685"/>
                    </a:ext>
                  </a:extLst>
                </a:gridCol>
                <a:gridCol w="2628900">
                  <a:extLst>
                    <a:ext uri="{9D8B030D-6E8A-4147-A177-3AD203B41FA5}">
                      <a16:colId xmlns:a16="http://schemas.microsoft.com/office/drawing/2014/main" val="169316726"/>
                    </a:ext>
                  </a:extLst>
                </a:gridCol>
              </a:tblGrid>
              <a:tr h="182839">
                <a:tc>
                  <a:txBody>
                    <a:bodyPr/>
                    <a:lstStyle/>
                    <a:p>
                      <a:pPr>
                        <a:buNone/>
                      </a:pPr>
                      <a:endParaRPr lang="en-IN"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Command</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Purpose</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Example</a:t>
                      </a:r>
                    </a:p>
                  </a:txBody>
                  <a:tcPr anchor="ctr">
                    <a:lnL>
                      <a:noFill/>
                    </a:lnL>
                    <a:lnR>
                      <a:noFill/>
                    </a:lnR>
                    <a:lnT>
                      <a:noFill/>
                    </a:lnT>
                    <a:lnB>
                      <a:noFill/>
                    </a:lnB>
                    <a:noFill/>
                  </a:tcPr>
                </a:tc>
                <a:extLst>
                  <a:ext uri="{0D108BD9-81ED-4DB2-BD59-A6C34878D82A}">
                    <a16:rowId xmlns:a16="http://schemas.microsoft.com/office/drawing/2014/main" val="3680406077"/>
                  </a:ext>
                </a:extLst>
              </a:tr>
              <a:tr h="319968">
                <a:tc>
                  <a:txBody>
                    <a:bodyPr/>
                    <a:lstStyle/>
                    <a:p>
                      <a:pPr>
                        <a:buNone/>
                      </a:pPr>
                      <a:r>
                        <a:rPr lang="en-IN">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-e</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Create or edit</a:t>
                      </a:r>
                      <a:r>
                        <a:rPr lang="en-IN">
                          <a:latin typeface="Times New Roman" panose="02020603050405020304" pitchFamily="18" charset="0"/>
                          <a:cs typeface="Times New Roman" panose="02020603050405020304" pitchFamily="18" charset="0"/>
                        </a:rPr>
                        <a:t> your cron jobs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-e</a:t>
                      </a:r>
                    </a:p>
                  </a:txBody>
                  <a:tcPr anchor="ctr">
                    <a:lnL>
                      <a:noFill/>
                    </a:lnL>
                    <a:lnR>
                      <a:noFill/>
                    </a:lnR>
                    <a:lnT>
                      <a:noFill/>
                    </a:lnT>
                    <a:lnB>
                      <a:noFill/>
                    </a:lnB>
                    <a:noFill/>
                  </a:tcPr>
                </a:tc>
                <a:extLst>
                  <a:ext uri="{0D108BD9-81ED-4DB2-BD59-A6C34878D82A}">
                    <a16:rowId xmlns:a16="http://schemas.microsoft.com/office/drawing/2014/main" val="2906650707"/>
                  </a:ext>
                </a:extLst>
              </a:tr>
              <a:tr h="319968">
                <a:tc>
                  <a:txBody>
                    <a:bodyPr/>
                    <a:lstStyle/>
                    <a:p>
                      <a:pPr>
                        <a:buNone/>
                      </a:pPr>
                      <a:r>
                        <a:rPr lang="en-IN">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-l</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List/view</a:t>
                      </a:r>
                      <a:r>
                        <a:rPr lang="en-IN">
                          <a:latin typeface="Times New Roman" panose="02020603050405020304" pitchFamily="18" charset="0"/>
                          <a:cs typeface="Times New Roman" panose="02020603050405020304" pitchFamily="18" charset="0"/>
                        </a:rPr>
                        <a:t> your existing cron jobs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-l</a:t>
                      </a:r>
                    </a:p>
                  </a:txBody>
                  <a:tcPr anchor="ctr">
                    <a:lnL>
                      <a:noFill/>
                    </a:lnL>
                    <a:lnR>
                      <a:noFill/>
                    </a:lnR>
                    <a:lnT>
                      <a:noFill/>
                    </a:lnT>
                    <a:lnB>
                      <a:noFill/>
                    </a:lnB>
                    <a:noFill/>
                  </a:tcPr>
                </a:tc>
                <a:extLst>
                  <a:ext uri="{0D108BD9-81ED-4DB2-BD59-A6C34878D82A}">
                    <a16:rowId xmlns:a16="http://schemas.microsoft.com/office/drawing/2014/main" val="3787278045"/>
                  </a:ext>
                </a:extLst>
              </a:tr>
              <a:tr h="319968">
                <a:tc>
                  <a:txBody>
                    <a:bodyPr/>
                    <a:lstStyle/>
                    <a:p>
                      <a:pPr>
                        <a:buNone/>
                      </a:pPr>
                      <a:r>
                        <a:rPr lang="en-IN">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crontab -r</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Remove all</a:t>
                      </a:r>
                      <a:r>
                        <a:rPr lang="en-IN">
                          <a:latin typeface="Times New Roman" panose="02020603050405020304" pitchFamily="18" charset="0"/>
                          <a:cs typeface="Times New Roman" panose="02020603050405020304" pitchFamily="18" charset="0"/>
                        </a:rPr>
                        <a:t> cron jobs for the current user</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-r</a:t>
                      </a:r>
                    </a:p>
                  </a:txBody>
                  <a:tcPr anchor="ctr">
                    <a:lnL>
                      <a:noFill/>
                    </a:lnL>
                    <a:lnR>
                      <a:noFill/>
                    </a:lnR>
                    <a:lnT>
                      <a:noFill/>
                    </a:lnT>
                    <a:lnB>
                      <a:noFill/>
                    </a:lnB>
                    <a:noFill/>
                  </a:tcPr>
                </a:tc>
                <a:extLst>
                  <a:ext uri="{0D108BD9-81ED-4DB2-BD59-A6C34878D82A}">
                    <a16:rowId xmlns:a16="http://schemas.microsoft.com/office/drawing/2014/main" val="3303328921"/>
                  </a:ext>
                </a:extLst>
              </a:tr>
              <a:tr h="319968">
                <a:tc>
                  <a:txBody>
                    <a:bodyPr/>
                    <a:lstStyle/>
                    <a:p>
                      <a:pPr>
                        <a:buNone/>
                      </a:pPr>
                      <a:r>
                        <a:rPr lang="en-IN">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-i</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Remove all</a:t>
                      </a:r>
                      <a:r>
                        <a:rPr lang="en-IN">
                          <a:latin typeface="Times New Roman" panose="02020603050405020304" pitchFamily="18" charset="0"/>
                          <a:cs typeface="Times New Roman" panose="02020603050405020304" pitchFamily="18" charset="0"/>
                        </a:rPr>
                        <a:t> cron jobs with confirmation</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-i</a:t>
                      </a:r>
                    </a:p>
                  </a:txBody>
                  <a:tcPr anchor="ctr">
                    <a:lnL>
                      <a:noFill/>
                    </a:lnL>
                    <a:lnR>
                      <a:noFill/>
                    </a:lnR>
                    <a:lnT>
                      <a:noFill/>
                    </a:lnT>
                    <a:lnB>
                      <a:noFill/>
                    </a:lnB>
                    <a:noFill/>
                  </a:tcPr>
                </a:tc>
                <a:extLst>
                  <a:ext uri="{0D108BD9-81ED-4DB2-BD59-A6C34878D82A}">
                    <a16:rowId xmlns:a16="http://schemas.microsoft.com/office/drawing/2014/main" val="50979304"/>
                  </a:ext>
                </a:extLst>
              </a:tr>
              <a:tr h="457096">
                <a:tc>
                  <a:txBody>
                    <a:bodyPr/>
                    <a:lstStyle/>
                    <a:p>
                      <a:pPr>
                        <a:buNone/>
                      </a:pPr>
                      <a:r>
                        <a:rPr lang="en-IN">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crontab -u username -e</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Edit another user's</a:t>
                      </a:r>
                      <a:r>
                        <a:rPr lang="en-IN">
                          <a:latin typeface="Times New Roman" panose="02020603050405020304" pitchFamily="18" charset="0"/>
                          <a:cs typeface="Times New Roman" panose="02020603050405020304" pitchFamily="18" charset="0"/>
                        </a:rPr>
                        <a:t> crontab (requires appropriate privileges)</a:t>
                      </a:r>
                    </a:p>
                  </a:txBody>
                  <a:tcPr anchor="ctr">
                    <a:lnL>
                      <a:noFill/>
                    </a:lnL>
                    <a:lnR>
                      <a:noFill/>
                    </a:lnR>
                    <a:lnT>
                      <a:noFill/>
                    </a:lnT>
                    <a:lnB>
                      <a:noFill/>
                    </a:lnB>
                    <a:noFill/>
                  </a:tcPr>
                </a:tc>
                <a:tc>
                  <a:txBody>
                    <a:bodyPr/>
                    <a:lstStyle/>
                    <a:p>
                      <a:pPr>
                        <a:buNone/>
                      </a:pPr>
                      <a:r>
                        <a:rPr lang="en-IN" dirty="0" err="1">
                          <a:latin typeface="Times New Roman" panose="02020603050405020304" pitchFamily="18" charset="0"/>
                          <a:cs typeface="Times New Roman" panose="02020603050405020304" pitchFamily="18" charset="0"/>
                        </a:rPr>
                        <a:t>sudo</a:t>
                      </a:r>
                      <a:r>
                        <a:rPr lang="en-IN" dirty="0">
                          <a:latin typeface="Times New Roman" panose="02020603050405020304" pitchFamily="18" charset="0"/>
                          <a:cs typeface="Times New Roman" panose="02020603050405020304" pitchFamily="18" charset="0"/>
                        </a:rPr>
                        <a:t> crontab -username -e</a:t>
                      </a:r>
                    </a:p>
                  </a:txBody>
                  <a:tcPr anchor="ctr">
                    <a:lnL>
                      <a:noFill/>
                    </a:lnL>
                    <a:lnR>
                      <a:noFill/>
                    </a:lnR>
                    <a:lnT>
                      <a:noFill/>
                    </a:lnT>
                    <a:lnB>
                      <a:noFill/>
                    </a:lnB>
                    <a:noFill/>
                  </a:tcPr>
                </a:tc>
                <a:extLst>
                  <a:ext uri="{0D108BD9-81ED-4DB2-BD59-A6C34878D82A}">
                    <a16:rowId xmlns:a16="http://schemas.microsoft.com/office/drawing/2014/main" val="3457838597"/>
                  </a:ext>
                </a:extLst>
              </a:tr>
            </a:tbl>
          </a:graphicData>
        </a:graphic>
      </p:graphicFrame>
    </p:spTree>
    <p:extLst>
      <p:ext uri="{BB962C8B-B14F-4D97-AF65-F5344CB8AC3E}">
        <p14:creationId xmlns:p14="http://schemas.microsoft.com/office/powerpoint/2010/main" val="2782808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2BC8-8F43-51E6-B6B7-894E2309AC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3DA06A-DF89-6DEE-A497-0CDEA95C6934}"/>
              </a:ext>
            </a:extLst>
          </p:cNvPr>
          <p:cNvSpPr>
            <a:spLocks noGrp="1"/>
          </p:cNvSpPr>
          <p:nvPr>
            <p:ph type="ftr" sz="quarter" idx="11"/>
          </p:nvPr>
        </p:nvSpPr>
        <p:spPr/>
        <p:txBody>
          <a:bodyPr/>
          <a:lstStyle/>
          <a:p>
            <a:r>
              <a:rPr lang="en-IN"/>
              <a:t>1/15</a:t>
            </a:r>
          </a:p>
        </p:txBody>
      </p:sp>
      <p:sp>
        <p:nvSpPr>
          <p:cNvPr id="8" name="TextBox 7">
            <a:extLst>
              <a:ext uri="{FF2B5EF4-FFF2-40B4-BE49-F238E27FC236}">
                <a16:creationId xmlns:a16="http://schemas.microsoft.com/office/drawing/2014/main" id="{4880D6CF-59FD-3A2F-65C8-418E88B27718}"/>
              </a:ext>
            </a:extLst>
          </p:cNvPr>
          <p:cNvSpPr txBox="1"/>
          <p:nvPr/>
        </p:nvSpPr>
        <p:spPr>
          <a:xfrm>
            <a:off x="707922" y="845574"/>
            <a:ext cx="6489291" cy="572464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Creating a Cron Job demonstration :</a:t>
            </a:r>
          </a:p>
          <a:p>
            <a:endParaRPr lang="en-IN"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1 — Create a new crontab</a:t>
            </a:r>
          </a:p>
          <a:p>
            <a:r>
              <a:rPr lang="en-IN" sz="2000" dirty="0">
                <a:latin typeface="Times New Roman" panose="02020603050405020304" pitchFamily="18" charset="0"/>
                <a:cs typeface="Times New Roman" panose="02020603050405020304" pitchFamily="18" charset="0"/>
              </a:rPr>
              <a:t>crontab –e</a:t>
            </a:r>
          </a:p>
          <a:p>
            <a:r>
              <a:rPr lang="en-IN" sz="2000" dirty="0">
                <a:latin typeface="Times New Roman" panose="02020603050405020304" pitchFamily="18" charset="0"/>
                <a:cs typeface="Times New Roman" panose="02020603050405020304" pitchFamily="18" charset="0"/>
              </a:rPr>
              <a:t>Your editor will </a:t>
            </a:r>
            <a:r>
              <a:rPr lang="en-IN" sz="2000" dirty="0" err="1">
                <a:latin typeface="Times New Roman" panose="02020603050405020304" pitchFamily="18" charset="0"/>
                <a:cs typeface="Times New Roman" panose="02020603050405020304" pitchFamily="18" charset="0"/>
              </a:rPr>
              <a:t>open.At</a:t>
            </a:r>
            <a:r>
              <a:rPr lang="en-IN" sz="2000" dirty="0">
                <a:latin typeface="Times New Roman" panose="02020603050405020304" pitchFamily="18" charset="0"/>
                <a:cs typeface="Times New Roman" panose="02020603050405020304" pitchFamily="18" charset="0"/>
              </a:rPr>
              <a:t> the bottom, add </a:t>
            </a:r>
            <a:r>
              <a:rPr lang="en-IN" sz="2000" b="1" dirty="0">
                <a:latin typeface="Times New Roman" panose="02020603050405020304" pitchFamily="18" charset="0"/>
                <a:cs typeface="Times New Roman" panose="02020603050405020304" pitchFamily="18" charset="0"/>
              </a:rPr>
              <a:t>only this line</a:t>
            </a:r>
            <a:r>
              <a:rPr lang="en-IN"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 * * * echo "Cron is working" &gt;&gt; /</a:t>
            </a:r>
            <a:r>
              <a:rPr lang="en-US" sz="2000" dirty="0" err="1">
                <a:latin typeface="Times New Roman" panose="02020603050405020304" pitchFamily="18" charset="0"/>
                <a:cs typeface="Times New Roman" panose="02020603050405020304" pitchFamily="18" charset="0"/>
              </a:rPr>
              <a:t>tmp</a:t>
            </a:r>
            <a:r>
              <a:rPr lang="en-US" sz="2000" dirty="0">
                <a:latin typeface="Times New Roman" panose="02020603050405020304" pitchFamily="18" charset="0"/>
                <a:cs typeface="Times New Roman" panose="02020603050405020304" pitchFamily="18" charset="0"/>
              </a:rPr>
              <a:t>/cron_test.txt</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Step 2 - Verify the job exists</a:t>
            </a:r>
          </a:p>
          <a:p>
            <a:r>
              <a:rPr lang="en-IN" sz="2000" dirty="0">
                <a:latin typeface="Times New Roman" panose="02020603050405020304" pitchFamily="18" charset="0"/>
                <a:cs typeface="Times New Roman" panose="02020603050405020304" pitchFamily="18" charset="0"/>
              </a:rPr>
              <a:t>crontab –l</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3 -  Wait 1–2 minutes</a:t>
            </a:r>
          </a:p>
          <a:p>
            <a:r>
              <a:rPr lang="en-IN" sz="2000" dirty="0">
                <a:latin typeface="Times New Roman" panose="02020603050405020304" pitchFamily="18" charset="0"/>
                <a:cs typeface="Times New Roman" panose="02020603050405020304" pitchFamily="18" charset="0"/>
              </a:rPr>
              <a:t>Then run : cat /</a:t>
            </a:r>
            <a:r>
              <a:rPr lang="en-IN" sz="2000" dirty="0" err="1">
                <a:latin typeface="Times New Roman" panose="02020603050405020304" pitchFamily="18" charset="0"/>
                <a:cs typeface="Times New Roman" panose="02020603050405020304" pitchFamily="18" charset="0"/>
              </a:rPr>
              <a:t>tmp</a:t>
            </a:r>
            <a:r>
              <a:rPr lang="en-IN" sz="2000" dirty="0">
                <a:latin typeface="Times New Roman" panose="02020603050405020304" pitchFamily="18" charset="0"/>
                <a:cs typeface="Times New Roman" panose="02020603050405020304" pitchFamily="18" charset="0"/>
              </a:rPr>
              <a:t>/cron_test.txt </a:t>
            </a:r>
          </a:p>
          <a:p>
            <a:r>
              <a:rPr lang="en-IN" sz="2000" b="1" dirty="0" err="1">
                <a:latin typeface="Times New Roman" panose="02020603050405020304" pitchFamily="18" charset="0"/>
                <a:cs typeface="Times New Roman" panose="02020603050405020304" pitchFamily="18" charset="0"/>
              </a:rPr>
              <a:t>cron's</a:t>
            </a:r>
            <a:r>
              <a:rPr lang="en-IN" sz="2000" b="1" dirty="0">
                <a:latin typeface="Times New Roman" panose="02020603050405020304" pitchFamily="18" charset="0"/>
                <a:cs typeface="Times New Roman" panose="02020603050405020304" pitchFamily="18" charset="0"/>
              </a:rPr>
              <a:t> basic job is </a:t>
            </a:r>
            <a:r>
              <a:rPr lang="en-IN" sz="2000" b="1" dirty="0" err="1">
                <a:latin typeface="Times New Roman" panose="02020603050405020304" pitchFamily="18" charset="0"/>
                <a:cs typeface="Times New Roman" panose="02020603050405020304" pitchFamily="18" charset="0"/>
              </a:rPr>
              <a:t>simply:At</a:t>
            </a:r>
            <a:r>
              <a:rPr lang="en-IN" sz="2000" b="1" dirty="0">
                <a:latin typeface="Times New Roman" panose="02020603050405020304" pitchFamily="18" charset="0"/>
                <a:cs typeface="Times New Roman" panose="02020603050405020304" pitchFamily="18" charset="0"/>
              </a:rPr>
              <a:t> a specified time, automatically execute this command.</a:t>
            </a:r>
            <a:endParaRPr lang="en-IN" sz="2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Step 4 crontab –r </a:t>
            </a:r>
          </a:p>
          <a:p>
            <a:r>
              <a:rPr lang="en-IN" dirty="0">
                <a:latin typeface="Times New Roman" panose="02020603050405020304" pitchFamily="18" charset="0"/>
                <a:cs typeface="Times New Roman" panose="02020603050405020304" pitchFamily="18" charset="0"/>
              </a:rPr>
              <a:t>To remove job</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9C31930-3A17-F8F4-1128-3B46884E7C02}"/>
              </a:ext>
            </a:extLst>
          </p:cNvPr>
          <p:cNvPicPr>
            <a:picLocks noChangeAspect="1"/>
          </p:cNvPicPr>
          <p:nvPr/>
        </p:nvPicPr>
        <p:blipFill>
          <a:blip r:embed="rId2"/>
          <a:stretch>
            <a:fillRect/>
          </a:stretch>
        </p:blipFill>
        <p:spPr>
          <a:xfrm>
            <a:off x="7482349" y="1414541"/>
            <a:ext cx="3574026" cy="2216264"/>
          </a:xfrm>
          <a:prstGeom prst="rect">
            <a:avLst/>
          </a:prstGeom>
        </p:spPr>
      </p:pic>
      <p:cxnSp>
        <p:nvCxnSpPr>
          <p:cNvPr id="9" name="Straight Arrow Connector 8">
            <a:extLst>
              <a:ext uri="{FF2B5EF4-FFF2-40B4-BE49-F238E27FC236}">
                <a16:creationId xmlns:a16="http://schemas.microsoft.com/office/drawing/2014/main" id="{BBDFF78E-F224-6F3D-3C1A-F3BE6732FE3C}"/>
              </a:ext>
            </a:extLst>
          </p:cNvPr>
          <p:cNvCxnSpPr>
            <a:cxnSpLocks/>
          </p:cNvCxnSpPr>
          <p:nvPr/>
        </p:nvCxnSpPr>
        <p:spPr>
          <a:xfrm>
            <a:off x="6469626" y="2418735"/>
            <a:ext cx="8947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2785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B8BA6-1B70-22CE-547A-07AFB0D42FD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B76647B-1BDE-00B5-6353-79374089C3C3}"/>
              </a:ext>
            </a:extLst>
          </p:cNvPr>
          <p:cNvSpPr>
            <a:spLocks noGrp="1"/>
          </p:cNvSpPr>
          <p:nvPr>
            <p:ph type="ftr" sz="quarter" idx="11"/>
          </p:nvPr>
        </p:nvSpPr>
        <p:spPr/>
        <p:txBody>
          <a:bodyPr/>
          <a:lstStyle/>
          <a:p>
            <a:r>
              <a:rPr lang="en-IN"/>
              <a:t>1/15</a:t>
            </a:r>
          </a:p>
        </p:txBody>
      </p:sp>
      <p:sp>
        <p:nvSpPr>
          <p:cNvPr id="8" name="TextBox 7">
            <a:extLst>
              <a:ext uri="{FF2B5EF4-FFF2-40B4-BE49-F238E27FC236}">
                <a16:creationId xmlns:a16="http://schemas.microsoft.com/office/drawing/2014/main" id="{E46910D9-2E1D-5AEF-F979-C561040F827D}"/>
              </a:ext>
            </a:extLst>
          </p:cNvPr>
          <p:cNvSpPr txBox="1"/>
          <p:nvPr/>
        </p:nvSpPr>
        <p:spPr>
          <a:xfrm>
            <a:off x="1406013" y="720978"/>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KILLING PROCESSES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4D45A7C-9BDA-F273-2169-BA1AF9503703}"/>
              </a:ext>
            </a:extLst>
          </p:cNvPr>
          <p:cNvSpPr txBox="1"/>
          <p:nvPr/>
        </p:nvSpPr>
        <p:spPr>
          <a:xfrm>
            <a:off x="747251" y="1115670"/>
            <a:ext cx="11139949" cy="1754326"/>
          </a:xfrm>
          <a:prstGeom prst="rect">
            <a:avLst/>
          </a:prstGeom>
          <a:noFill/>
        </p:spPr>
        <p:txBody>
          <a:bodyPr wrap="square">
            <a:spAutoFit/>
          </a:bodyPr>
          <a:lstStyle/>
          <a:p>
            <a:r>
              <a:rPr lang="en-IN" b="1" dirty="0"/>
              <a:t>PROCESS CONTROL USING SIGNALS</a:t>
            </a:r>
          </a:p>
          <a:p>
            <a:r>
              <a:rPr lang="en-IN" dirty="0">
                <a:latin typeface="Times New Roman" panose="02020603050405020304" pitchFamily="18" charset="0"/>
                <a:cs typeface="Times New Roman" panose="02020603050405020304" pitchFamily="18" charset="0"/>
              </a:rPr>
              <a:t>A signal is a software interrupt delivered to a process. Each signal has a default action, usually one of the following: </a:t>
            </a:r>
          </a:p>
          <a:p>
            <a:r>
              <a:rPr lang="en-IN" dirty="0">
                <a:latin typeface="Times New Roman" panose="02020603050405020304" pitchFamily="18" charset="0"/>
                <a:cs typeface="Times New Roman" panose="02020603050405020304" pitchFamily="18" charset="0"/>
              </a:rPr>
              <a:t>• Term - Cause a program to terminate (exit) at once. </a:t>
            </a:r>
          </a:p>
          <a:p>
            <a:r>
              <a:rPr lang="en-IN" dirty="0">
                <a:latin typeface="Times New Roman" panose="02020603050405020304" pitchFamily="18" charset="0"/>
                <a:cs typeface="Times New Roman" panose="02020603050405020304" pitchFamily="18" charset="0"/>
              </a:rPr>
              <a:t>• Core - Cause a program to save a memory image (core dump), then terminate. </a:t>
            </a:r>
          </a:p>
          <a:p>
            <a:r>
              <a:rPr lang="en-IN" dirty="0">
                <a:latin typeface="Times New Roman" panose="02020603050405020304" pitchFamily="18" charset="0"/>
                <a:cs typeface="Times New Roman" panose="02020603050405020304" pitchFamily="18" charset="0"/>
              </a:rPr>
              <a:t>• Stop - Cause a program to stop executing (suspend) and wait to continue (resume).</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94499A0-1E0C-A13A-FDA9-38E487EE8720}"/>
              </a:ext>
            </a:extLst>
          </p:cNvPr>
          <p:cNvPicPr>
            <a:picLocks noChangeAspect="1"/>
          </p:cNvPicPr>
          <p:nvPr/>
        </p:nvPicPr>
        <p:blipFill>
          <a:blip r:embed="rId2"/>
          <a:stretch>
            <a:fillRect/>
          </a:stretch>
        </p:blipFill>
        <p:spPr>
          <a:xfrm>
            <a:off x="1779637" y="2712939"/>
            <a:ext cx="7718323" cy="3727450"/>
          </a:xfrm>
          <a:prstGeom prst="rect">
            <a:avLst/>
          </a:prstGeom>
        </p:spPr>
      </p:pic>
    </p:spTree>
    <p:extLst>
      <p:ext uri="{BB962C8B-B14F-4D97-AF65-F5344CB8AC3E}">
        <p14:creationId xmlns:p14="http://schemas.microsoft.com/office/powerpoint/2010/main" val="3890409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EFD83-837F-F6D3-090B-255D05480D5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15C9D-AC2B-6F1E-9667-D8B1D7919F3F}"/>
              </a:ext>
            </a:extLst>
          </p:cNvPr>
          <p:cNvSpPr>
            <a:spLocks noGrp="1"/>
          </p:cNvSpPr>
          <p:nvPr>
            <p:ph type="ftr" sz="quarter" idx="11"/>
          </p:nvPr>
        </p:nvSpPr>
        <p:spPr/>
        <p:txBody>
          <a:bodyPr/>
          <a:lstStyle/>
          <a:p>
            <a:r>
              <a:rPr lang="en-IN"/>
              <a:t>1/15</a:t>
            </a:r>
          </a:p>
        </p:txBody>
      </p:sp>
      <p:sp>
        <p:nvSpPr>
          <p:cNvPr id="8" name="TextBox 7">
            <a:extLst>
              <a:ext uri="{FF2B5EF4-FFF2-40B4-BE49-F238E27FC236}">
                <a16:creationId xmlns:a16="http://schemas.microsoft.com/office/drawing/2014/main" id="{35239FCB-A514-E922-15B9-56F4659C2E93}"/>
              </a:ext>
            </a:extLst>
          </p:cNvPr>
          <p:cNvSpPr txBox="1"/>
          <p:nvPr/>
        </p:nvSpPr>
        <p:spPr>
          <a:xfrm>
            <a:off x="1406013" y="720978"/>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KILLING PROCESSES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9D06F52-E086-EC66-E693-1F239793038F}"/>
              </a:ext>
            </a:extLst>
          </p:cNvPr>
          <p:cNvSpPr txBox="1"/>
          <p:nvPr/>
        </p:nvSpPr>
        <p:spPr>
          <a:xfrm>
            <a:off x="747251" y="1115670"/>
            <a:ext cx="11139949"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kill</a:t>
            </a:r>
            <a:r>
              <a:rPr lang="en-IN" dirty="0">
                <a:latin typeface="Times New Roman" panose="02020603050405020304" pitchFamily="18" charset="0"/>
                <a:cs typeface="Times New Roman" panose="02020603050405020304" pitchFamily="18" charset="0"/>
              </a:rPr>
              <a:t> command sends a signal to a process by PID number. Despite its name, the kill command </a:t>
            </a:r>
          </a:p>
          <a:p>
            <a:r>
              <a:rPr lang="en-IN" dirty="0">
                <a:latin typeface="Times New Roman" panose="02020603050405020304" pitchFamily="18" charset="0"/>
                <a:cs typeface="Times New Roman" panose="02020603050405020304" pitchFamily="18" charset="0"/>
              </a:rPr>
              <a:t>can be used for sending any signal, not just those for terminating programs. You can use the </a:t>
            </a:r>
            <a:r>
              <a:rPr lang="en-IN" b="1" dirty="0">
                <a:latin typeface="Times New Roman" panose="02020603050405020304" pitchFamily="18" charset="0"/>
                <a:cs typeface="Times New Roman" panose="02020603050405020304" pitchFamily="18" charset="0"/>
              </a:rPr>
              <a:t>kill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-l</a:t>
            </a:r>
            <a:r>
              <a:rPr lang="en-IN" dirty="0">
                <a:latin typeface="Times New Roman" panose="02020603050405020304" pitchFamily="18" charset="0"/>
                <a:cs typeface="Times New Roman" panose="02020603050405020304" pitchFamily="18" charset="0"/>
              </a:rPr>
              <a:t> command to list the names and numbers of all available signals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A0FC571-B692-AD16-D3E3-A04B85B31715}"/>
              </a:ext>
            </a:extLst>
          </p:cNvPr>
          <p:cNvPicPr>
            <a:picLocks noChangeAspect="1"/>
          </p:cNvPicPr>
          <p:nvPr/>
        </p:nvPicPr>
        <p:blipFill>
          <a:blip r:embed="rId2"/>
          <a:stretch>
            <a:fillRect/>
          </a:stretch>
        </p:blipFill>
        <p:spPr>
          <a:xfrm>
            <a:off x="1462779" y="2320867"/>
            <a:ext cx="9077402" cy="3507478"/>
          </a:xfrm>
          <a:prstGeom prst="rect">
            <a:avLst/>
          </a:prstGeom>
        </p:spPr>
      </p:pic>
    </p:spTree>
    <p:extLst>
      <p:ext uri="{BB962C8B-B14F-4D97-AF65-F5344CB8AC3E}">
        <p14:creationId xmlns:p14="http://schemas.microsoft.com/office/powerpoint/2010/main" val="914921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17A1C-EFC5-3C45-EDFE-469BDC4C608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C52DEE-C9D4-A8DD-A58D-A4041CF9BEDB}"/>
              </a:ext>
            </a:extLst>
          </p:cNvPr>
          <p:cNvSpPr>
            <a:spLocks noGrp="1"/>
          </p:cNvSpPr>
          <p:nvPr>
            <p:ph type="ftr" sz="quarter" idx="11"/>
          </p:nvPr>
        </p:nvSpPr>
        <p:spPr/>
        <p:txBody>
          <a:bodyPr/>
          <a:lstStyle/>
          <a:p>
            <a:r>
              <a:rPr lang="en-IN"/>
              <a:t>1/15</a:t>
            </a:r>
          </a:p>
        </p:txBody>
      </p:sp>
      <p:sp>
        <p:nvSpPr>
          <p:cNvPr id="8" name="TextBox 7">
            <a:extLst>
              <a:ext uri="{FF2B5EF4-FFF2-40B4-BE49-F238E27FC236}">
                <a16:creationId xmlns:a16="http://schemas.microsoft.com/office/drawing/2014/main" id="{E1ACF11B-B4E8-C8B9-6A73-209595DC22B0}"/>
              </a:ext>
            </a:extLst>
          </p:cNvPr>
          <p:cNvSpPr txBox="1"/>
          <p:nvPr/>
        </p:nvSpPr>
        <p:spPr>
          <a:xfrm>
            <a:off x="1406013" y="720978"/>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KILLING PROCESSES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7085E90-101C-2FD6-0938-45101621248E}"/>
              </a:ext>
            </a:extLst>
          </p:cNvPr>
          <p:cNvSpPr txBox="1"/>
          <p:nvPr/>
        </p:nvSpPr>
        <p:spPr>
          <a:xfrm>
            <a:off x="747251" y="1115670"/>
            <a:ext cx="11139949"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kill</a:t>
            </a:r>
            <a:r>
              <a:rPr lang="en-IN" dirty="0">
                <a:latin typeface="Times New Roman" panose="02020603050405020304" pitchFamily="18" charset="0"/>
                <a:cs typeface="Times New Roman" panose="02020603050405020304" pitchFamily="18" charset="0"/>
              </a:rPr>
              <a:t> command sends a signal to a process by PID number. Despite its name, the kill command </a:t>
            </a:r>
          </a:p>
          <a:p>
            <a:r>
              <a:rPr lang="en-IN" dirty="0">
                <a:latin typeface="Times New Roman" panose="02020603050405020304" pitchFamily="18" charset="0"/>
                <a:cs typeface="Times New Roman" panose="02020603050405020304" pitchFamily="18" charset="0"/>
              </a:rPr>
              <a:t>can be used for sending any signal, not just those for terminating programs. You can use the </a:t>
            </a:r>
            <a:r>
              <a:rPr lang="en-IN" b="1" dirty="0">
                <a:latin typeface="Times New Roman" panose="02020603050405020304" pitchFamily="18" charset="0"/>
                <a:cs typeface="Times New Roman" panose="02020603050405020304" pitchFamily="18" charset="0"/>
              </a:rPr>
              <a:t>kill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-l</a:t>
            </a:r>
            <a:r>
              <a:rPr lang="en-IN" dirty="0">
                <a:latin typeface="Times New Roman" panose="02020603050405020304" pitchFamily="18" charset="0"/>
                <a:cs typeface="Times New Roman" panose="02020603050405020304" pitchFamily="18" charset="0"/>
              </a:rPr>
              <a:t> command to list the names and numbers of all available signals</a:t>
            </a: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8EE348F-7D04-4274-EDFB-47833DD70095}"/>
              </a:ext>
            </a:extLst>
          </p:cNvPr>
          <p:cNvPicPr>
            <a:picLocks noChangeAspect="1"/>
          </p:cNvPicPr>
          <p:nvPr/>
        </p:nvPicPr>
        <p:blipFill>
          <a:blip r:embed="rId2"/>
          <a:stretch>
            <a:fillRect/>
          </a:stretch>
        </p:blipFill>
        <p:spPr>
          <a:xfrm>
            <a:off x="1012723" y="2054942"/>
            <a:ext cx="9507793" cy="4267885"/>
          </a:xfrm>
          <a:prstGeom prst="rect">
            <a:avLst/>
          </a:prstGeom>
        </p:spPr>
      </p:pic>
    </p:spTree>
    <p:extLst>
      <p:ext uri="{BB962C8B-B14F-4D97-AF65-F5344CB8AC3E}">
        <p14:creationId xmlns:p14="http://schemas.microsoft.com/office/powerpoint/2010/main" val="115930581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4266</TotalTime>
  <Words>2347</Words>
  <Application>Microsoft Office PowerPoint</Application>
  <PresentationFormat>Widescreen</PresentationFormat>
  <Paragraphs>303</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CSE211</dc:title>
  <dc:creator>lovi raj gupta</dc:creator>
  <cp:lastModifiedBy>akshansh rana</cp:lastModifiedBy>
  <cp:revision>175</cp:revision>
  <dcterms:created xsi:type="dcterms:W3CDTF">2024-12-19T08:47:23Z</dcterms:created>
  <dcterms:modified xsi:type="dcterms:W3CDTF">2026-08-12T04:46:23Z</dcterms:modified>
</cp:coreProperties>
</file>