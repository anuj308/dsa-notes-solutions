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1"/>
  </p:notesMasterIdLst>
  <p:sldIdLst>
    <p:sldId id="4029" r:id="rId2"/>
    <p:sldId id="4030" r:id="rId3"/>
    <p:sldId id="4056" r:id="rId4"/>
    <p:sldId id="4031" r:id="rId5"/>
    <p:sldId id="4032" r:id="rId6"/>
    <p:sldId id="4033" r:id="rId7"/>
    <p:sldId id="4058" r:id="rId8"/>
    <p:sldId id="4034" r:id="rId9"/>
    <p:sldId id="4089" r:id="rId10"/>
    <p:sldId id="4059" r:id="rId11"/>
    <p:sldId id="4037" r:id="rId12"/>
    <p:sldId id="4094" r:id="rId13"/>
    <p:sldId id="4095" r:id="rId14"/>
    <p:sldId id="4060" r:id="rId15"/>
    <p:sldId id="4061" r:id="rId16"/>
    <p:sldId id="4085" r:id="rId17"/>
    <p:sldId id="4096" r:id="rId18"/>
    <p:sldId id="4097" r:id="rId19"/>
    <p:sldId id="4101" r:id="rId20"/>
    <p:sldId id="4102" r:id="rId21"/>
    <p:sldId id="4103" r:id="rId22"/>
    <p:sldId id="4098" r:id="rId23"/>
    <p:sldId id="4099" r:id="rId24"/>
    <p:sldId id="4100" r:id="rId25"/>
    <p:sldId id="4104" r:id="rId26"/>
    <p:sldId id="4106" r:id="rId27"/>
    <p:sldId id="4107" r:id="rId28"/>
    <p:sldId id="4108" r:id="rId29"/>
    <p:sldId id="4109" r:id="rId30"/>
    <p:sldId id="4110" r:id="rId31"/>
    <p:sldId id="4111" r:id="rId32"/>
    <p:sldId id="4112" r:id="rId33"/>
    <p:sldId id="4113" r:id="rId34"/>
    <p:sldId id="4114" r:id="rId35"/>
    <p:sldId id="4115" r:id="rId36"/>
    <p:sldId id="4116" r:id="rId37"/>
    <p:sldId id="4117" r:id="rId38"/>
    <p:sldId id="4118" r:id="rId39"/>
    <p:sldId id="4119" r:id="rId40"/>
    <p:sldId id="4120" r:id="rId41"/>
    <p:sldId id="4121" r:id="rId42"/>
    <p:sldId id="4122" r:id="rId43"/>
    <p:sldId id="4123" r:id="rId44"/>
    <p:sldId id="4124" r:id="rId45"/>
    <p:sldId id="4125" r:id="rId46"/>
    <p:sldId id="4126" r:id="rId47"/>
    <p:sldId id="4127" r:id="rId48"/>
    <p:sldId id="4128" r:id="rId49"/>
    <p:sldId id="4129"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03BD"/>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主题样式 2 - 强调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4605" autoAdjust="0"/>
  </p:normalViewPr>
  <p:slideViewPr>
    <p:cSldViewPr snapToGrid="0">
      <p:cViewPr varScale="1">
        <p:scale>
          <a:sx n="59" d="100"/>
          <a:sy n="59" d="100"/>
        </p:scale>
        <p:origin x="96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494B691-DB99-4255-9D0E-B47EC0459C1D}" type="doc">
      <dgm:prSet loTypeId="urn:microsoft.com/office/officeart/2005/8/layout/list1" loCatId="list" qsTypeId="urn:microsoft.com/office/officeart/2005/8/quickstyle/simple1" qsCatId="simple" csTypeId="urn:microsoft.com/office/officeart/2005/8/colors/colorful2" csCatId="colorful" phldr="1"/>
      <dgm:spPr/>
      <dgm:t>
        <a:bodyPr/>
        <a:lstStyle/>
        <a:p>
          <a:endParaRPr lang="en-IN"/>
        </a:p>
      </dgm:t>
    </dgm:pt>
    <dgm:pt modelId="{3638444E-CAA3-43CA-80A6-035D394E7C9E}">
      <dgm:prSet phldrT="[Text]" phldr="0"/>
      <dgm:spPr/>
      <dgm:t>
        <a:bodyPr/>
        <a:lstStyle/>
        <a:p>
          <a:r>
            <a:rPr lang="en-IN" dirty="0"/>
            <a:t>Super User</a:t>
          </a:r>
        </a:p>
      </dgm:t>
    </dgm:pt>
    <dgm:pt modelId="{E6101A55-3ECE-4EEA-9890-4287ACEB304C}" type="parTrans" cxnId="{164A7E59-F698-4E08-BAC7-C6C11476C224}">
      <dgm:prSet/>
      <dgm:spPr/>
      <dgm:t>
        <a:bodyPr/>
        <a:lstStyle/>
        <a:p>
          <a:endParaRPr lang="en-IN"/>
        </a:p>
      </dgm:t>
    </dgm:pt>
    <dgm:pt modelId="{193D2C77-3D8B-406F-A372-E6B4D424A93E}" type="sibTrans" cxnId="{164A7E59-F698-4E08-BAC7-C6C11476C224}">
      <dgm:prSet/>
      <dgm:spPr/>
      <dgm:t>
        <a:bodyPr/>
        <a:lstStyle/>
        <a:p>
          <a:endParaRPr lang="en-IN"/>
        </a:p>
      </dgm:t>
    </dgm:pt>
    <dgm:pt modelId="{D39CE037-00E4-4BE1-A5CB-0A6C89AE246D}">
      <dgm:prSet phldrT="[Text]" phldr="0"/>
      <dgm:spPr/>
      <dgm:t>
        <a:bodyPr/>
        <a:lstStyle/>
        <a:p>
          <a:r>
            <a:rPr lang="en-IN" dirty="0"/>
            <a:t>System User</a:t>
          </a:r>
        </a:p>
      </dgm:t>
    </dgm:pt>
    <dgm:pt modelId="{7912F1F9-DAE4-40E1-A2C9-698E6A63D4CB}" type="parTrans" cxnId="{752E4BAB-643D-4136-9754-1B29FE0D8A8B}">
      <dgm:prSet/>
      <dgm:spPr/>
      <dgm:t>
        <a:bodyPr/>
        <a:lstStyle/>
        <a:p>
          <a:endParaRPr lang="en-IN"/>
        </a:p>
      </dgm:t>
    </dgm:pt>
    <dgm:pt modelId="{80CE003F-AD4B-480B-8E1C-20B81BD83D5E}" type="sibTrans" cxnId="{752E4BAB-643D-4136-9754-1B29FE0D8A8B}">
      <dgm:prSet/>
      <dgm:spPr/>
      <dgm:t>
        <a:bodyPr/>
        <a:lstStyle/>
        <a:p>
          <a:endParaRPr lang="en-IN"/>
        </a:p>
      </dgm:t>
    </dgm:pt>
    <dgm:pt modelId="{322F5C8B-14E0-426F-9435-229E914C37A4}">
      <dgm:prSet phldrT="[Text]" phldr="0"/>
      <dgm:spPr/>
      <dgm:t>
        <a:bodyPr/>
        <a:lstStyle/>
        <a:p>
          <a:r>
            <a:rPr lang="en-IN" dirty="0"/>
            <a:t>Regular User</a:t>
          </a:r>
        </a:p>
      </dgm:t>
    </dgm:pt>
    <dgm:pt modelId="{FF8E58FC-793C-46D8-8BED-B009C8AA8FD0}" type="parTrans" cxnId="{27AAF5BB-4D92-4484-8E42-89A2B20E81A5}">
      <dgm:prSet/>
      <dgm:spPr/>
      <dgm:t>
        <a:bodyPr/>
        <a:lstStyle/>
        <a:p>
          <a:endParaRPr lang="en-IN"/>
        </a:p>
      </dgm:t>
    </dgm:pt>
    <dgm:pt modelId="{5B4B6F72-3B44-4EF2-9EA2-92FFB55485AC}" type="sibTrans" cxnId="{27AAF5BB-4D92-4484-8E42-89A2B20E81A5}">
      <dgm:prSet/>
      <dgm:spPr/>
      <dgm:t>
        <a:bodyPr/>
        <a:lstStyle/>
        <a:p>
          <a:endParaRPr lang="en-IN"/>
        </a:p>
      </dgm:t>
    </dgm:pt>
    <dgm:pt modelId="{8278955B-9CE7-4FB7-862E-8DD091ED1DDB}" type="pres">
      <dgm:prSet presAssocID="{D494B691-DB99-4255-9D0E-B47EC0459C1D}" presName="linear" presStyleCnt="0">
        <dgm:presLayoutVars>
          <dgm:dir/>
          <dgm:animLvl val="lvl"/>
          <dgm:resizeHandles val="exact"/>
        </dgm:presLayoutVars>
      </dgm:prSet>
      <dgm:spPr/>
    </dgm:pt>
    <dgm:pt modelId="{682542D4-E778-4B3B-99CF-4BFB7B42DD20}" type="pres">
      <dgm:prSet presAssocID="{3638444E-CAA3-43CA-80A6-035D394E7C9E}" presName="parentLin" presStyleCnt="0"/>
      <dgm:spPr/>
    </dgm:pt>
    <dgm:pt modelId="{1C4B3E46-69DE-4C06-B00F-635ADA28AC61}" type="pres">
      <dgm:prSet presAssocID="{3638444E-CAA3-43CA-80A6-035D394E7C9E}" presName="parentLeftMargin" presStyleLbl="node1" presStyleIdx="0" presStyleCnt="3"/>
      <dgm:spPr/>
    </dgm:pt>
    <dgm:pt modelId="{27C3A377-53A0-40A7-8231-B0BBEE3F079B}" type="pres">
      <dgm:prSet presAssocID="{3638444E-CAA3-43CA-80A6-035D394E7C9E}" presName="parentText" presStyleLbl="node1" presStyleIdx="0" presStyleCnt="3">
        <dgm:presLayoutVars>
          <dgm:chMax val="0"/>
          <dgm:bulletEnabled val="1"/>
        </dgm:presLayoutVars>
      </dgm:prSet>
      <dgm:spPr/>
    </dgm:pt>
    <dgm:pt modelId="{62456C8B-168B-46E1-83A9-2EEC61B24A8E}" type="pres">
      <dgm:prSet presAssocID="{3638444E-CAA3-43CA-80A6-035D394E7C9E}" presName="negativeSpace" presStyleCnt="0"/>
      <dgm:spPr/>
    </dgm:pt>
    <dgm:pt modelId="{EDFC121E-8C5D-49B0-8926-E935FEC93237}" type="pres">
      <dgm:prSet presAssocID="{3638444E-CAA3-43CA-80A6-035D394E7C9E}" presName="childText" presStyleLbl="conFgAcc1" presStyleIdx="0" presStyleCnt="3">
        <dgm:presLayoutVars>
          <dgm:bulletEnabled val="1"/>
        </dgm:presLayoutVars>
      </dgm:prSet>
      <dgm:spPr/>
    </dgm:pt>
    <dgm:pt modelId="{5C2CF2D1-9466-44F3-8AE6-B296C8909F3D}" type="pres">
      <dgm:prSet presAssocID="{193D2C77-3D8B-406F-A372-E6B4D424A93E}" presName="spaceBetweenRectangles" presStyleCnt="0"/>
      <dgm:spPr/>
    </dgm:pt>
    <dgm:pt modelId="{3E0BC36E-F8C4-40D9-93D8-E5B50524DAFB}" type="pres">
      <dgm:prSet presAssocID="{D39CE037-00E4-4BE1-A5CB-0A6C89AE246D}" presName="parentLin" presStyleCnt="0"/>
      <dgm:spPr/>
    </dgm:pt>
    <dgm:pt modelId="{46931A4F-6239-4CE8-BAB7-09199AB43177}" type="pres">
      <dgm:prSet presAssocID="{D39CE037-00E4-4BE1-A5CB-0A6C89AE246D}" presName="parentLeftMargin" presStyleLbl="node1" presStyleIdx="0" presStyleCnt="3"/>
      <dgm:spPr/>
    </dgm:pt>
    <dgm:pt modelId="{0419A6CB-ED7E-43AD-99C5-60FCFCCB5CAD}" type="pres">
      <dgm:prSet presAssocID="{D39CE037-00E4-4BE1-A5CB-0A6C89AE246D}" presName="parentText" presStyleLbl="node1" presStyleIdx="1" presStyleCnt="3">
        <dgm:presLayoutVars>
          <dgm:chMax val="0"/>
          <dgm:bulletEnabled val="1"/>
        </dgm:presLayoutVars>
      </dgm:prSet>
      <dgm:spPr/>
    </dgm:pt>
    <dgm:pt modelId="{6BE17ED1-2CA2-4775-9AE9-861970DB8E37}" type="pres">
      <dgm:prSet presAssocID="{D39CE037-00E4-4BE1-A5CB-0A6C89AE246D}" presName="negativeSpace" presStyleCnt="0"/>
      <dgm:spPr/>
    </dgm:pt>
    <dgm:pt modelId="{DAC6991D-2492-4A51-8CFD-29D20495BE49}" type="pres">
      <dgm:prSet presAssocID="{D39CE037-00E4-4BE1-A5CB-0A6C89AE246D}" presName="childText" presStyleLbl="conFgAcc1" presStyleIdx="1" presStyleCnt="3">
        <dgm:presLayoutVars>
          <dgm:bulletEnabled val="1"/>
        </dgm:presLayoutVars>
      </dgm:prSet>
      <dgm:spPr/>
    </dgm:pt>
    <dgm:pt modelId="{2B66A3E5-1A6A-420A-839B-2EE585E89312}" type="pres">
      <dgm:prSet presAssocID="{80CE003F-AD4B-480B-8E1C-20B81BD83D5E}" presName="spaceBetweenRectangles" presStyleCnt="0"/>
      <dgm:spPr/>
    </dgm:pt>
    <dgm:pt modelId="{7E55A6CA-34D0-420E-A3AB-5BE7C7F587D9}" type="pres">
      <dgm:prSet presAssocID="{322F5C8B-14E0-426F-9435-229E914C37A4}" presName="parentLin" presStyleCnt="0"/>
      <dgm:spPr/>
    </dgm:pt>
    <dgm:pt modelId="{6C4714FF-CE2B-46C0-BBE5-AA56E6389590}" type="pres">
      <dgm:prSet presAssocID="{322F5C8B-14E0-426F-9435-229E914C37A4}" presName="parentLeftMargin" presStyleLbl="node1" presStyleIdx="1" presStyleCnt="3"/>
      <dgm:spPr/>
    </dgm:pt>
    <dgm:pt modelId="{A467BA23-AAF6-426B-95D1-12BA6F7BB585}" type="pres">
      <dgm:prSet presAssocID="{322F5C8B-14E0-426F-9435-229E914C37A4}" presName="parentText" presStyleLbl="node1" presStyleIdx="2" presStyleCnt="3">
        <dgm:presLayoutVars>
          <dgm:chMax val="0"/>
          <dgm:bulletEnabled val="1"/>
        </dgm:presLayoutVars>
      </dgm:prSet>
      <dgm:spPr/>
    </dgm:pt>
    <dgm:pt modelId="{66AABB5C-A7F9-437C-8A09-0943AD8912DC}" type="pres">
      <dgm:prSet presAssocID="{322F5C8B-14E0-426F-9435-229E914C37A4}" presName="negativeSpace" presStyleCnt="0"/>
      <dgm:spPr/>
    </dgm:pt>
    <dgm:pt modelId="{F78E8103-8A62-48F5-AF1D-89995A19D754}" type="pres">
      <dgm:prSet presAssocID="{322F5C8B-14E0-426F-9435-229E914C37A4}" presName="childText" presStyleLbl="conFgAcc1" presStyleIdx="2" presStyleCnt="3">
        <dgm:presLayoutVars>
          <dgm:bulletEnabled val="1"/>
        </dgm:presLayoutVars>
      </dgm:prSet>
      <dgm:spPr/>
    </dgm:pt>
  </dgm:ptLst>
  <dgm:cxnLst>
    <dgm:cxn modelId="{B7BD5D06-463C-4BB9-BBD2-9302EF04076F}" type="presOf" srcId="{D39CE037-00E4-4BE1-A5CB-0A6C89AE246D}" destId="{0419A6CB-ED7E-43AD-99C5-60FCFCCB5CAD}" srcOrd="1" destOrd="0" presId="urn:microsoft.com/office/officeart/2005/8/layout/list1"/>
    <dgm:cxn modelId="{164A7E59-F698-4E08-BAC7-C6C11476C224}" srcId="{D494B691-DB99-4255-9D0E-B47EC0459C1D}" destId="{3638444E-CAA3-43CA-80A6-035D394E7C9E}" srcOrd="0" destOrd="0" parTransId="{E6101A55-3ECE-4EEA-9890-4287ACEB304C}" sibTransId="{193D2C77-3D8B-406F-A372-E6B4D424A93E}"/>
    <dgm:cxn modelId="{9308C480-13CF-4133-80D9-3146F0A1F699}" type="presOf" srcId="{322F5C8B-14E0-426F-9435-229E914C37A4}" destId="{6C4714FF-CE2B-46C0-BBE5-AA56E6389590}" srcOrd="0" destOrd="0" presId="urn:microsoft.com/office/officeart/2005/8/layout/list1"/>
    <dgm:cxn modelId="{3EDE5586-C0EC-4BF5-AB2A-D48D617921AD}" type="presOf" srcId="{3638444E-CAA3-43CA-80A6-035D394E7C9E}" destId="{27C3A377-53A0-40A7-8231-B0BBEE3F079B}" srcOrd="1" destOrd="0" presId="urn:microsoft.com/office/officeart/2005/8/layout/list1"/>
    <dgm:cxn modelId="{752E4BAB-643D-4136-9754-1B29FE0D8A8B}" srcId="{D494B691-DB99-4255-9D0E-B47EC0459C1D}" destId="{D39CE037-00E4-4BE1-A5CB-0A6C89AE246D}" srcOrd="1" destOrd="0" parTransId="{7912F1F9-DAE4-40E1-A2C9-698E6A63D4CB}" sibTransId="{80CE003F-AD4B-480B-8E1C-20B81BD83D5E}"/>
    <dgm:cxn modelId="{0CAE89AC-F517-4E69-951A-BB07F5E27BAB}" type="presOf" srcId="{322F5C8B-14E0-426F-9435-229E914C37A4}" destId="{A467BA23-AAF6-426B-95D1-12BA6F7BB585}" srcOrd="1" destOrd="0" presId="urn:microsoft.com/office/officeart/2005/8/layout/list1"/>
    <dgm:cxn modelId="{27AAF5BB-4D92-4484-8E42-89A2B20E81A5}" srcId="{D494B691-DB99-4255-9D0E-B47EC0459C1D}" destId="{322F5C8B-14E0-426F-9435-229E914C37A4}" srcOrd="2" destOrd="0" parTransId="{FF8E58FC-793C-46D8-8BED-B009C8AA8FD0}" sibTransId="{5B4B6F72-3B44-4EF2-9EA2-92FFB55485AC}"/>
    <dgm:cxn modelId="{2EC225CB-2B09-4447-9CE4-2DAE874FEC1F}" type="presOf" srcId="{D39CE037-00E4-4BE1-A5CB-0A6C89AE246D}" destId="{46931A4F-6239-4CE8-BAB7-09199AB43177}" srcOrd="0" destOrd="0" presId="urn:microsoft.com/office/officeart/2005/8/layout/list1"/>
    <dgm:cxn modelId="{C1631FDF-47D7-4DA2-AFBD-9BD7F5998CE4}" type="presOf" srcId="{3638444E-CAA3-43CA-80A6-035D394E7C9E}" destId="{1C4B3E46-69DE-4C06-B00F-635ADA28AC61}" srcOrd="0" destOrd="0" presId="urn:microsoft.com/office/officeart/2005/8/layout/list1"/>
    <dgm:cxn modelId="{DADD6EF7-A2AF-4B4B-AB84-F63D91678F98}" type="presOf" srcId="{D494B691-DB99-4255-9D0E-B47EC0459C1D}" destId="{8278955B-9CE7-4FB7-862E-8DD091ED1DDB}" srcOrd="0" destOrd="0" presId="urn:microsoft.com/office/officeart/2005/8/layout/list1"/>
    <dgm:cxn modelId="{406F27EC-A0EF-4671-B4B1-0CB7ECA0DC2E}" type="presParOf" srcId="{8278955B-9CE7-4FB7-862E-8DD091ED1DDB}" destId="{682542D4-E778-4B3B-99CF-4BFB7B42DD20}" srcOrd="0" destOrd="0" presId="urn:microsoft.com/office/officeart/2005/8/layout/list1"/>
    <dgm:cxn modelId="{D07D2216-A1CF-4DAD-8359-C65FFFC00616}" type="presParOf" srcId="{682542D4-E778-4B3B-99CF-4BFB7B42DD20}" destId="{1C4B3E46-69DE-4C06-B00F-635ADA28AC61}" srcOrd="0" destOrd="0" presId="urn:microsoft.com/office/officeart/2005/8/layout/list1"/>
    <dgm:cxn modelId="{591522AC-A577-490C-AB34-36E016016B4F}" type="presParOf" srcId="{682542D4-E778-4B3B-99CF-4BFB7B42DD20}" destId="{27C3A377-53A0-40A7-8231-B0BBEE3F079B}" srcOrd="1" destOrd="0" presId="urn:microsoft.com/office/officeart/2005/8/layout/list1"/>
    <dgm:cxn modelId="{B9E747F8-BB90-4F2B-A632-FA97F8DB7571}" type="presParOf" srcId="{8278955B-9CE7-4FB7-862E-8DD091ED1DDB}" destId="{62456C8B-168B-46E1-83A9-2EEC61B24A8E}" srcOrd="1" destOrd="0" presId="urn:microsoft.com/office/officeart/2005/8/layout/list1"/>
    <dgm:cxn modelId="{57F99A87-D8CD-4E3B-8444-FAEAA5CAF64C}" type="presParOf" srcId="{8278955B-9CE7-4FB7-862E-8DD091ED1DDB}" destId="{EDFC121E-8C5D-49B0-8926-E935FEC93237}" srcOrd="2" destOrd="0" presId="urn:microsoft.com/office/officeart/2005/8/layout/list1"/>
    <dgm:cxn modelId="{D3016A08-A2B0-4693-A000-78C9B4D571D0}" type="presParOf" srcId="{8278955B-9CE7-4FB7-862E-8DD091ED1DDB}" destId="{5C2CF2D1-9466-44F3-8AE6-B296C8909F3D}" srcOrd="3" destOrd="0" presId="urn:microsoft.com/office/officeart/2005/8/layout/list1"/>
    <dgm:cxn modelId="{BD58D934-86B1-4B6C-9BEA-32042CDE3B87}" type="presParOf" srcId="{8278955B-9CE7-4FB7-862E-8DD091ED1DDB}" destId="{3E0BC36E-F8C4-40D9-93D8-E5B50524DAFB}" srcOrd="4" destOrd="0" presId="urn:microsoft.com/office/officeart/2005/8/layout/list1"/>
    <dgm:cxn modelId="{1B1B60AD-DC2D-4D7F-ACBA-790152A6F4D8}" type="presParOf" srcId="{3E0BC36E-F8C4-40D9-93D8-E5B50524DAFB}" destId="{46931A4F-6239-4CE8-BAB7-09199AB43177}" srcOrd="0" destOrd="0" presId="urn:microsoft.com/office/officeart/2005/8/layout/list1"/>
    <dgm:cxn modelId="{CC280855-0A12-475F-9F30-CE2BFCFB2927}" type="presParOf" srcId="{3E0BC36E-F8C4-40D9-93D8-E5B50524DAFB}" destId="{0419A6CB-ED7E-43AD-99C5-60FCFCCB5CAD}" srcOrd="1" destOrd="0" presId="urn:microsoft.com/office/officeart/2005/8/layout/list1"/>
    <dgm:cxn modelId="{669075A6-5B19-4EA6-B71B-AB8E70BDDE57}" type="presParOf" srcId="{8278955B-9CE7-4FB7-862E-8DD091ED1DDB}" destId="{6BE17ED1-2CA2-4775-9AE9-861970DB8E37}" srcOrd="5" destOrd="0" presId="urn:microsoft.com/office/officeart/2005/8/layout/list1"/>
    <dgm:cxn modelId="{7B66A02A-11E3-4699-8D25-83E04E0027D2}" type="presParOf" srcId="{8278955B-9CE7-4FB7-862E-8DD091ED1DDB}" destId="{DAC6991D-2492-4A51-8CFD-29D20495BE49}" srcOrd="6" destOrd="0" presId="urn:microsoft.com/office/officeart/2005/8/layout/list1"/>
    <dgm:cxn modelId="{CFB3C80A-349C-4DD1-A398-496C7A3D537C}" type="presParOf" srcId="{8278955B-9CE7-4FB7-862E-8DD091ED1DDB}" destId="{2B66A3E5-1A6A-420A-839B-2EE585E89312}" srcOrd="7" destOrd="0" presId="urn:microsoft.com/office/officeart/2005/8/layout/list1"/>
    <dgm:cxn modelId="{838FD0B8-7EFD-475C-8A0B-09B2C159BE19}" type="presParOf" srcId="{8278955B-9CE7-4FB7-862E-8DD091ED1DDB}" destId="{7E55A6CA-34D0-420E-A3AB-5BE7C7F587D9}" srcOrd="8" destOrd="0" presId="urn:microsoft.com/office/officeart/2005/8/layout/list1"/>
    <dgm:cxn modelId="{C769A929-7C90-48D3-AFF8-EA56488D54C3}" type="presParOf" srcId="{7E55A6CA-34D0-420E-A3AB-5BE7C7F587D9}" destId="{6C4714FF-CE2B-46C0-BBE5-AA56E6389590}" srcOrd="0" destOrd="0" presId="urn:microsoft.com/office/officeart/2005/8/layout/list1"/>
    <dgm:cxn modelId="{3BECDFF3-6C2A-4FEE-A935-076A7BC3E46A}" type="presParOf" srcId="{7E55A6CA-34D0-420E-A3AB-5BE7C7F587D9}" destId="{A467BA23-AAF6-426B-95D1-12BA6F7BB585}" srcOrd="1" destOrd="0" presId="urn:microsoft.com/office/officeart/2005/8/layout/list1"/>
    <dgm:cxn modelId="{91D6B068-6A0A-402C-8E2E-50CE6E2BA91D}" type="presParOf" srcId="{8278955B-9CE7-4FB7-862E-8DD091ED1DDB}" destId="{66AABB5C-A7F9-437C-8A09-0943AD8912DC}" srcOrd="9" destOrd="0" presId="urn:microsoft.com/office/officeart/2005/8/layout/list1"/>
    <dgm:cxn modelId="{62252ACA-C283-46B3-B5E6-DD42431BA2C3}" type="presParOf" srcId="{8278955B-9CE7-4FB7-862E-8DD091ED1DDB}" destId="{F78E8103-8A62-48F5-AF1D-89995A19D754}"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FC121E-8C5D-49B0-8926-E935FEC93237}">
      <dsp:nvSpPr>
        <dsp:cNvPr id="0" name=""/>
        <dsp:cNvSpPr/>
      </dsp:nvSpPr>
      <dsp:spPr>
        <a:xfrm>
          <a:off x="0" y="301164"/>
          <a:ext cx="5432362" cy="403200"/>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7C3A377-53A0-40A7-8231-B0BBEE3F079B}">
      <dsp:nvSpPr>
        <dsp:cNvPr id="0" name=""/>
        <dsp:cNvSpPr/>
      </dsp:nvSpPr>
      <dsp:spPr>
        <a:xfrm>
          <a:off x="271618" y="65004"/>
          <a:ext cx="3802653" cy="47232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3731" tIns="0" rIns="143731" bIns="0" numCol="1" spcCol="1270" anchor="ctr" anchorCtr="0">
          <a:noAutofit/>
        </a:bodyPr>
        <a:lstStyle/>
        <a:p>
          <a:pPr marL="0" lvl="0" indent="0" algn="l" defTabSz="711200">
            <a:lnSpc>
              <a:spcPct val="90000"/>
            </a:lnSpc>
            <a:spcBef>
              <a:spcPct val="0"/>
            </a:spcBef>
            <a:spcAft>
              <a:spcPct val="35000"/>
            </a:spcAft>
            <a:buNone/>
          </a:pPr>
          <a:r>
            <a:rPr lang="en-IN" sz="1600" kern="1200" dirty="0"/>
            <a:t>Super User</a:t>
          </a:r>
        </a:p>
      </dsp:txBody>
      <dsp:txXfrm>
        <a:off x="294675" y="88061"/>
        <a:ext cx="3756539" cy="426206"/>
      </dsp:txXfrm>
    </dsp:sp>
    <dsp:sp modelId="{DAC6991D-2492-4A51-8CFD-29D20495BE49}">
      <dsp:nvSpPr>
        <dsp:cNvPr id="0" name=""/>
        <dsp:cNvSpPr/>
      </dsp:nvSpPr>
      <dsp:spPr>
        <a:xfrm>
          <a:off x="0" y="1026924"/>
          <a:ext cx="5432362" cy="403200"/>
        </a:xfrm>
        <a:prstGeom prst="rect">
          <a:avLst/>
        </a:prstGeom>
        <a:solidFill>
          <a:schemeClr val="lt1">
            <a:alpha val="90000"/>
            <a:hueOff val="0"/>
            <a:satOff val="0"/>
            <a:lumOff val="0"/>
            <a:alphaOff val="0"/>
          </a:schemeClr>
        </a:solidFill>
        <a:ln w="19050" cap="flat" cmpd="sng" algn="ctr">
          <a:solidFill>
            <a:schemeClr val="accent2">
              <a:hueOff val="2340759"/>
              <a:satOff val="-2919"/>
              <a:lumOff val="686"/>
              <a:alphaOff val="0"/>
            </a:schemeClr>
          </a:solidFill>
          <a:prstDash val="solid"/>
          <a:miter lim="800000"/>
        </a:ln>
        <a:effectLst/>
      </dsp:spPr>
      <dsp:style>
        <a:lnRef idx="2">
          <a:scrgbClr r="0" g="0" b="0"/>
        </a:lnRef>
        <a:fillRef idx="1">
          <a:scrgbClr r="0" g="0" b="0"/>
        </a:fillRef>
        <a:effectRef idx="0">
          <a:scrgbClr r="0" g="0" b="0"/>
        </a:effectRef>
        <a:fontRef idx="minor"/>
      </dsp:style>
    </dsp:sp>
    <dsp:sp modelId="{0419A6CB-ED7E-43AD-99C5-60FCFCCB5CAD}">
      <dsp:nvSpPr>
        <dsp:cNvPr id="0" name=""/>
        <dsp:cNvSpPr/>
      </dsp:nvSpPr>
      <dsp:spPr>
        <a:xfrm>
          <a:off x="271618" y="790764"/>
          <a:ext cx="3802653" cy="472320"/>
        </a:xfrm>
        <a:prstGeom prst="roundRect">
          <a:avLst/>
        </a:prstGeom>
        <a:solidFill>
          <a:schemeClr val="accent2">
            <a:hueOff val="2340759"/>
            <a:satOff val="-2919"/>
            <a:lumOff val="686"/>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3731" tIns="0" rIns="143731" bIns="0" numCol="1" spcCol="1270" anchor="ctr" anchorCtr="0">
          <a:noAutofit/>
        </a:bodyPr>
        <a:lstStyle/>
        <a:p>
          <a:pPr marL="0" lvl="0" indent="0" algn="l" defTabSz="711200">
            <a:lnSpc>
              <a:spcPct val="90000"/>
            </a:lnSpc>
            <a:spcBef>
              <a:spcPct val="0"/>
            </a:spcBef>
            <a:spcAft>
              <a:spcPct val="35000"/>
            </a:spcAft>
            <a:buNone/>
          </a:pPr>
          <a:r>
            <a:rPr lang="en-IN" sz="1600" kern="1200" dirty="0"/>
            <a:t>System User</a:t>
          </a:r>
        </a:p>
      </dsp:txBody>
      <dsp:txXfrm>
        <a:off x="294675" y="813821"/>
        <a:ext cx="3756539" cy="426206"/>
      </dsp:txXfrm>
    </dsp:sp>
    <dsp:sp modelId="{F78E8103-8A62-48F5-AF1D-89995A19D754}">
      <dsp:nvSpPr>
        <dsp:cNvPr id="0" name=""/>
        <dsp:cNvSpPr/>
      </dsp:nvSpPr>
      <dsp:spPr>
        <a:xfrm>
          <a:off x="0" y="1752684"/>
          <a:ext cx="5432362" cy="403200"/>
        </a:xfrm>
        <a:prstGeom prst="rect">
          <a:avLst/>
        </a:prstGeom>
        <a:solidFill>
          <a:schemeClr val="lt1">
            <a:alpha val="90000"/>
            <a:hueOff val="0"/>
            <a:satOff val="0"/>
            <a:lumOff val="0"/>
            <a:alphaOff val="0"/>
          </a:schemeClr>
        </a:solidFill>
        <a:ln w="19050" cap="flat" cmpd="sng" algn="ctr">
          <a:solidFill>
            <a:schemeClr val="accent2">
              <a:hueOff val="4681519"/>
              <a:satOff val="-5839"/>
              <a:lumOff val="1373"/>
              <a:alphaOff val="0"/>
            </a:schemeClr>
          </a:solidFill>
          <a:prstDash val="solid"/>
          <a:miter lim="800000"/>
        </a:ln>
        <a:effectLst/>
      </dsp:spPr>
      <dsp:style>
        <a:lnRef idx="2">
          <a:scrgbClr r="0" g="0" b="0"/>
        </a:lnRef>
        <a:fillRef idx="1">
          <a:scrgbClr r="0" g="0" b="0"/>
        </a:fillRef>
        <a:effectRef idx="0">
          <a:scrgbClr r="0" g="0" b="0"/>
        </a:effectRef>
        <a:fontRef idx="minor"/>
      </dsp:style>
    </dsp:sp>
    <dsp:sp modelId="{A467BA23-AAF6-426B-95D1-12BA6F7BB585}">
      <dsp:nvSpPr>
        <dsp:cNvPr id="0" name=""/>
        <dsp:cNvSpPr/>
      </dsp:nvSpPr>
      <dsp:spPr>
        <a:xfrm>
          <a:off x="271618" y="1516524"/>
          <a:ext cx="3802653" cy="472320"/>
        </a:xfrm>
        <a:prstGeom prst="roundRect">
          <a:avLst/>
        </a:prstGeom>
        <a:solidFill>
          <a:schemeClr val="accent2">
            <a:hueOff val="4681519"/>
            <a:satOff val="-5839"/>
            <a:lumOff val="137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3731" tIns="0" rIns="143731" bIns="0" numCol="1" spcCol="1270" anchor="ctr" anchorCtr="0">
          <a:noAutofit/>
        </a:bodyPr>
        <a:lstStyle/>
        <a:p>
          <a:pPr marL="0" lvl="0" indent="0" algn="l" defTabSz="711200">
            <a:lnSpc>
              <a:spcPct val="90000"/>
            </a:lnSpc>
            <a:spcBef>
              <a:spcPct val="0"/>
            </a:spcBef>
            <a:spcAft>
              <a:spcPct val="35000"/>
            </a:spcAft>
            <a:buNone/>
          </a:pPr>
          <a:r>
            <a:rPr lang="en-IN" sz="1600" kern="1200" dirty="0"/>
            <a:t>Regular User</a:t>
          </a:r>
        </a:p>
      </dsp:txBody>
      <dsp:txXfrm>
        <a:off x="294675" y="1539581"/>
        <a:ext cx="3756539" cy="426206"/>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134659-0ED1-4E51-86A0-9BBF4E66109E}" type="datetimeFigureOut">
              <a:rPr lang="en-US" smtClean="0"/>
              <a:t>7/31/2026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F35501-1542-45B6-9AF4-9929E24FB64D}"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F35501-1542-45B6-9AF4-9929E24FB64D}" type="slidenum">
              <a:rPr lang="en-US" smtClean="0"/>
              <a:t>37</a:t>
            </a:fld>
            <a:endParaRPr lang="en-US"/>
          </a:p>
        </p:txBody>
      </p:sp>
    </p:spTree>
    <p:extLst>
      <p:ext uri="{BB962C8B-B14F-4D97-AF65-F5344CB8AC3E}">
        <p14:creationId xmlns:p14="http://schemas.microsoft.com/office/powerpoint/2010/main" val="22195954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38E55-AE60-2F87-A17C-B724CA4A9D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EF4354-1F1D-B7B6-E76E-5D40EBF884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B15A46-F368-854D-6F39-99D8641537D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DC14151-3573-1E53-0433-38708D947633}"/>
              </a:ext>
            </a:extLst>
          </p:cNvPr>
          <p:cNvSpPr>
            <a:spLocks noGrp="1"/>
          </p:cNvSpPr>
          <p:nvPr>
            <p:ph type="sldNum" sz="quarter" idx="5"/>
          </p:nvPr>
        </p:nvSpPr>
        <p:spPr/>
        <p:txBody>
          <a:bodyPr/>
          <a:lstStyle/>
          <a:p>
            <a:fld id="{16F35501-1542-45B6-9AF4-9929E24FB64D}" type="slidenum">
              <a:rPr lang="en-US" smtClean="0"/>
              <a:t>38</a:t>
            </a:fld>
            <a:endParaRPr lang="en-US"/>
          </a:p>
        </p:txBody>
      </p:sp>
    </p:spTree>
    <p:extLst>
      <p:ext uri="{BB962C8B-B14F-4D97-AF65-F5344CB8AC3E}">
        <p14:creationId xmlns:p14="http://schemas.microsoft.com/office/powerpoint/2010/main" val="32491121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EEEA1-D8CA-EB27-92C4-A7A026AB5E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2C4FC4-C6C7-1120-4161-BEC02C983B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2A7E13-60CF-E3DF-0F74-36E2A39D277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7CB4605-D5EE-E60B-D276-2549FE4A5649}"/>
              </a:ext>
            </a:extLst>
          </p:cNvPr>
          <p:cNvSpPr>
            <a:spLocks noGrp="1"/>
          </p:cNvSpPr>
          <p:nvPr>
            <p:ph type="sldNum" sz="quarter" idx="5"/>
          </p:nvPr>
        </p:nvSpPr>
        <p:spPr/>
        <p:txBody>
          <a:bodyPr/>
          <a:lstStyle/>
          <a:p>
            <a:fld id="{16F35501-1542-45B6-9AF4-9929E24FB64D}" type="slidenum">
              <a:rPr lang="en-US" smtClean="0"/>
              <a:t>39</a:t>
            </a:fld>
            <a:endParaRPr lang="en-US"/>
          </a:p>
        </p:txBody>
      </p:sp>
    </p:spTree>
    <p:extLst>
      <p:ext uri="{BB962C8B-B14F-4D97-AF65-F5344CB8AC3E}">
        <p14:creationId xmlns:p14="http://schemas.microsoft.com/office/powerpoint/2010/main" val="16637729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0476C-76B0-12D9-5B6A-BB2B73F5AD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11E33D-093A-EC34-9C49-F42EB4A2CE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0C415F-548D-A0FD-8CA4-1577C405735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71E3B99-93F3-1883-DC5D-34DA083A385C}"/>
              </a:ext>
            </a:extLst>
          </p:cNvPr>
          <p:cNvSpPr>
            <a:spLocks noGrp="1"/>
          </p:cNvSpPr>
          <p:nvPr>
            <p:ph type="sldNum" sz="quarter" idx="5"/>
          </p:nvPr>
        </p:nvSpPr>
        <p:spPr/>
        <p:txBody>
          <a:bodyPr/>
          <a:lstStyle/>
          <a:p>
            <a:fld id="{16F35501-1542-45B6-9AF4-9929E24FB64D}" type="slidenum">
              <a:rPr lang="en-US" smtClean="0"/>
              <a:t>40</a:t>
            </a:fld>
            <a:endParaRPr lang="en-US"/>
          </a:p>
        </p:txBody>
      </p:sp>
    </p:spTree>
    <p:extLst>
      <p:ext uri="{BB962C8B-B14F-4D97-AF65-F5344CB8AC3E}">
        <p14:creationId xmlns:p14="http://schemas.microsoft.com/office/powerpoint/2010/main" val="36208175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B65F4-E7DC-35FF-E565-724F6A0C6E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CD1B4-E2D8-780C-EC6F-44DA311473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99DBD8-55EB-E6B5-BB61-F55637E9EA7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E8B655F-57F6-B2EE-C69D-354337943E5A}"/>
              </a:ext>
            </a:extLst>
          </p:cNvPr>
          <p:cNvSpPr>
            <a:spLocks noGrp="1"/>
          </p:cNvSpPr>
          <p:nvPr>
            <p:ph type="sldNum" sz="quarter" idx="5"/>
          </p:nvPr>
        </p:nvSpPr>
        <p:spPr/>
        <p:txBody>
          <a:bodyPr/>
          <a:lstStyle/>
          <a:p>
            <a:fld id="{16F35501-1542-45B6-9AF4-9929E24FB64D}" type="slidenum">
              <a:rPr lang="en-US" smtClean="0"/>
              <a:t>41</a:t>
            </a:fld>
            <a:endParaRPr lang="en-US"/>
          </a:p>
        </p:txBody>
      </p:sp>
    </p:spTree>
    <p:extLst>
      <p:ext uri="{BB962C8B-B14F-4D97-AF65-F5344CB8AC3E}">
        <p14:creationId xmlns:p14="http://schemas.microsoft.com/office/powerpoint/2010/main" val="23810614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A103B-CF5A-1664-2188-1F991E6584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7556CF-32D9-D8D9-48BB-6456DB23FD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FC46F2-969F-B8A7-59A2-847A1EED61A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229D227-2637-C38F-4CFB-4F9F63DF7284}"/>
              </a:ext>
            </a:extLst>
          </p:cNvPr>
          <p:cNvSpPr>
            <a:spLocks noGrp="1"/>
          </p:cNvSpPr>
          <p:nvPr>
            <p:ph type="sldNum" sz="quarter" idx="5"/>
          </p:nvPr>
        </p:nvSpPr>
        <p:spPr/>
        <p:txBody>
          <a:bodyPr/>
          <a:lstStyle/>
          <a:p>
            <a:fld id="{16F35501-1542-45B6-9AF4-9929E24FB64D}" type="slidenum">
              <a:rPr lang="en-US" smtClean="0"/>
              <a:t>42</a:t>
            </a:fld>
            <a:endParaRPr lang="en-US"/>
          </a:p>
        </p:txBody>
      </p:sp>
    </p:spTree>
    <p:extLst>
      <p:ext uri="{BB962C8B-B14F-4D97-AF65-F5344CB8AC3E}">
        <p14:creationId xmlns:p14="http://schemas.microsoft.com/office/powerpoint/2010/main" val="36423497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C750C-2CF5-8F98-FDFE-C54CDA5B86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0CDCE8-35D3-4B71-3558-4BB035D5B6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E2A43A-4957-D37F-09B9-8A560CA099B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434B763-2F0B-1A46-0E19-CDB3348DA912}"/>
              </a:ext>
            </a:extLst>
          </p:cNvPr>
          <p:cNvSpPr>
            <a:spLocks noGrp="1"/>
          </p:cNvSpPr>
          <p:nvPr>
            <p:ph type="sldNum" sz="quarter" idx="5"/>
          </p:nvPr>
        </p:nvSpPr>
        <p:spPr/>
        <p:txBody>
          <a:bodyPr/>
          <a:lstStyle/>
          <a:p>
            <a:fld id="{16F35501-1542-45B6-9AF4-9929E24FB64D}" type="slidenum">
              <a:rPr lang="en-US" smtClean="0"/>
              <a:t>43</a:t>
            </a:fld>
            <a:endParaRPr lang="en-US"/>
          </a:p>
        </p:txBody>
      </p:sp>
    </p:spTree>
    <p:extLst>
      <p:ext uri="{BB962C8B-B14F-4D97-AF65-F5344CB8AC3E}">
        <p14:creationId xmlns:p14="http://schemas.microsoft.com/office/powerpoint/2010/main" val="41606008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1354C-1D54-3274-E416-B7E8D15E82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6925A6-4799-7145-9377-F4014FEA69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F68426-2988-FDC3-A6B7-60D5B9C5CCD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E38097C-8A72-3600-AFD8-078A3732F007}"/>
              </a:ext>
            </a:extLst>
          </p:cNvPr>
          <p:cNvSpPr>
            <a:spLocks noGrp="1"/>
          </p:cNvSpPr>
          <p:nvPr>
            <p:ph type="sldNum" sz="quarter" idx="5"/>
          </p:nvPr>
        </p:nvSpPr>
        <p:spPr/>
        <p:txBody>
          <a:bodyPr/>
          <a:lstStyle/>
          <a:p>
            <a:fld id="{16F35501-1542-45B6-9AF4-9929E24FB64D}" type="slidenum">
              <a:rPr lang="en-US" smtClean="0"/>
              <a:t>44</a:t>
            </a:fld>
            <a:endParaRPr lang="en-US"/>
          </a:p>
        </p:txBody>
      </p:sp>
    </p:spTree>
    <p:extLst>
      <p:ext uri="{BB962C8B-B14F-4D97-AF65-F5344CB8AC3E}">
        <p14:creationId xmlns:p14="http://schemas.microsoft.com/office/powerpoint/2010/main" val="19046502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E5E75-3A03-8A7D-4AFA-EF166C3691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A4E628-3778-3920-CF2C-5CA777555A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71DD01-5553-79E7-EC8F-9804E463429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F4B91D5-2FB4-B3A7-E8F1-D50680E0DE42}"/>
              </a:ext>
            </a:extLst>
          </p:cNvPr>
          <p:cNvSpPr>
            <a:spLocks noGrp="1"/>
          </p:cNvSpPr>
          <p:nvPr>
            <p:ph type="sldNum" sz="quarter" idx="5"/>
          </p:nvPr>
        </p:nvSpPr>
        <p:spPr/>
        <p:txBody>
          <a:bodyPr/>
          <a:lstStyle/>
          <a:p>
            <a:fld id="{16F35501-1542-45B6-9AF4-9929E24FB64D}" type="slidenum">
              <a:rPr lang="en-US" smtClean="0"/>
              <a:t>45</a:t>
            </a:fld>
            <a:endParaRPr lang="en-US"/>
          </a:p>
        </p:txBody>
      </p:sp>
    </p:spTree>
    <p:extLst>
      <p:ext uri="{BB962C8B-B14F-4D97-AF65-F5344CB8AC3E}">
        <p14:creationId xmlns:p14="http://schemas.microsoft.com/office/powerpoint/2010/main" val="41988677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72165-0D10-78AE-CDC9-1291E4B7CF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470E79-CA30-FCD4-F029-4BF4DDD9F3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461A19-26CA-492D-DB14-D062648AA6A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7DB5E90-CDED-EE49-C33F-B6674AE1C953}"/>
              </a:ext>
            </a:extLst>
          </p:cNvPr>
          <p:cNvSpPr>
            <a:spLocks noGrp="1"/>
          </p:cNvSpPr>
          <p:nvPr>
            <p:ph type="sldNum" sz="quarter" idx="5"/>
          </p:nvPr>
        </p:nvSpPr>
        <p:spPr/>
        <p:txBody>
          <a:bodyPr/>
          <a:lstStyle/>
          <a:p>
            <a:fld id="{16F35501-1542-45B6-9AF4-9929E24FB64D}" type="slidenum">
              <a:rPr lang="en-US" smtClean="0"/>
              <a:t>46</a:t>
            </a:fld>
            <a:endParaRPr lang="en-US"/>
          </a:p>
        </p:txBody>
      </p:sp>
    </p:spTree>
    <p:extLst>
      <p:ext uri="{BB962C8B-B14F-4D97-AF65-F5344CB8AC3E}">
        <p14:creationId xmlns:p14="http://schemas.microsoft.com/office/powerpoint/2010/main" val="9373090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8A1D0-D597-D575-8A91-47A259F804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F550E0-1234-B3C3-79FD-BCAA1710AD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2BD20C-9023-1568-3843-8736EC8CC1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CC5126C-01B7-CB13-2F71-91015E9F58A0}"/>
              </a:ext>
            </a:extLst>
          </p:cNvPr>
          <p:cNvSpPr>
            <a:spLocks noGrp="1"/>
          </p:cNvSpPr>
          <p:nvPr>
            <p:ph type="sldNum" sz="quarter" idx="5"/>
          </p:nvPr>
        </p:nvSpPr>
        <p:spPr/>
        <p:txBody>
          <a:bodyPr/>
          <a:lstStyle/>
          <a:p>
            <a:fld id="{16F35501-1542-45B6-9AF4-9929E24FB64D}" type="slidenum">
              <a:rPr lang="en-US" smtClean="0"/>
              <a:t>47</a:t>
            </a:fld>
            <a:endParaRPr lang="en-US"/>
          </a:p>
        </p:txBody>
      </p:sp>
    </p:spTree>
    <p:extLst>
      <p:ext uri="{BB962C8B-B14F-4D97-AF65-F5344CB8AC3E}">
        <p14:creationId xmlns:p14="http://schemas.microsoft.com/office/powerpoint/2010/main" val="32844774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881D9-738E-8C6C-B8A2-BE2C7FE800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E991D7-49EF-C27B-111D-BBBD069DE8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031A4C-4DEA-B513-F557-2931F288C4C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A87C7A3-0938-C2EA-00C8-20F8CA7BC537}"/>
              </a:ext>
            </a:extLst>
          </p:cNvPr>
          <p:cNvSpPr>
            <a:spLocks noGrp="1"/>
          </p:cNvSpPr>
          <p:nvPr>
            <p:ph type="sldNum" sz="quarter" idx="5"/>
          </p:nvPr>
        </p:nvSpPr>
        <p:spPr/>
        <p:txBody>
          <a:bodyPr/>
          <a:lstStyle/>
          <a:p>
            <a:fld id="{16F35501-1542-45B6-9AF4-9929E24FB64D}" type="slidenum">
              <a:rPr lang="en-US" smtClean="0"/>
              <a:t>48</a:t>
            </a:fld>
            <a:endParaRPr lang="en-US"/>
          </a:p>
        </p:txBody>
      </p:sp>
    </p:spTree>
    <p:extLst>
      <p:ext uri="{BB962C8B-B14F-4D97-AF65-F5344CB8AC3E}">
        <p14:creationId xmlns:p14="http://schemas.microsoft.com/office/powerpoint/2010/main" val="3117209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22549-1FE6-4BE1-440A-3210351475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E92900-4EB0-8E7E-299C-AF5EACDA0A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D5FF77-3D8E-4300-5D68-C630E23086A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D4B4D70-9F6B-45BB-C81C-8C3B8B7F1201}"/>
              </a:ext>
            </a:extLst>
          </p:cNvPr>
          <p:cNvSpPr>
            <a:spLocks noGrp="1"/>
          </p:cNvSpPr>
          <p:nvPr>
            <p:ph type="sldNum" sz="quarter" idx="5"/>
          </p:nvPr>
        </p:nvSpPr>
        <p:spPr/>
        <p:txBody>
          <a:bodyPr/>
          <a:lstStyle/>
          <a:p>
            <a:fld id="{16F35501-1542-45B6-9AF4-9929E24FB64D}" type="slidenum">
              <a:rPr lang="en-US" smtClean="0"/>
              <a:t>49</a:t>
            </a:fld>
            <a:endParaRPr lang="en-US"/>
          </a:p>
        </p:txBody>
      </p:sp>
    </p:spTree>
    <p:extLst>
      <p:ext uri="{BB962C8B-B14F-4D97-AF65-F5344CB8AC3E}">
        <p14:creationId xmlns:p14="http://schemas.microsoft.com/office/powerpoint/2010/main" val="5528655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81B74D95-0A6A-4FF0-A602-FE349279ABDC}" type="datetime1">
              <a:rPr lang="en-IN" smtClean="0"/>
              <a:t>31-07-2026</a:t>
            </a:fld>
            <a:endParaRPr lang="en-IN"/>
          </a:p>
        </p:txBody>
      </p:sp>
      <p:sp>
        <p:nvSpPr>
          <p:cNvPr id="5" name="Footer Placeholder 4"/>
          <p:cNvSpPr>
            <a:spLocks noGrp="1"/>
          </p:cNvSpPr>
          <p:nvPr>
            <p:ph type="ftr" sz="quarter" idx="11"/>
          </p:nvPr>
        </p:nvSpPr>
        <p:spPr/>
        <p:txBody>
          <a:bodyPr/>
          <a:lstStyle/>
          <a:p>
            <a:r>
              <a:rPr lang="en-IN"/>
              <a:t>1/15</a:t>
            </a:r>
          </a:p>
        </p:txBody>
      </p:sp>
      <p:sp>
        <p:nvSpPr>
          <p:cNvPr id="6" name="Slide Number Placeholder 5"/>
          <p:cNvSpPr>
            <a:spLocks noGrp="1"/>
          </p:cNvSpPr>
          <p:nvPr>
            <p:ph type="sldNum" sz="quarter" idx="12"/>
          </p:nvPr>
        </p:nvSpPr>
        <p:spPr/>
        <p:txBody>
          <a:bodyPr/>
          <a:lstStyle/>
          <a:p>
            <a:fld id="{1005F464-475C-44AD-B39D-86A1D68B524E}" type="slidenum">
              <a:rPr lang="en-IN" smtClean="0"/>
              <a:t>‹#›</a:t>
            </a:fld>
            <a:endParaRPr lang="en-IN"/>
          </a:p>
        </p:txBody>
      </p:sp>
    </p:spTree>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1B74D95-0A6A-4FF0-A602-FE349279ABDC}" type="datetime1">
              <a:rPr lang="en-IN" smtClean="0"/>
              <a:t>31-07-2026</a:t>
            </a:fld>
            <a:endParaRPr lang="en-IN"/>
          </a:p>
        </p:txBody>
      </p:sp>
      <p:sp>
        <p:nvSpPr>
          <p:cNvPr id="5" name="Footer Placeholder 4"/>
          <p:cNvSpPr>
            <a:spLocks noGrp="1"/>
          </p:cNvSpPr>
          <p:nvPr>
            <p:ph type="ftr" sz="quarter" idx="11"/>
          </p:nvPr>
        </p:nvSpPr>
        <p:spPr/>
        <p:txBody>
          <a:bodyPr/>
          <a:lstStyle/>
          <a:p>
            <a:r>
              <a:rPr lang="en-IN"/>
              <a:t>1/15</a:t>
            </a:r>
          </a:p>
        </p:txBody>
      </p:sp>
      <p:sp>
        <p:nvSpPr>
          <p:cNvPr id="6" name="Slide Number Placeholder 5"/>
          <p:cNvSpPr>
            <a:spLocks noGrp="1"/>
          </p:cNvSpPr>
          <p:nvPr>
            <p:ph type="sldNum" sz="quarter" idx="12"/>
          </p:nvPr>
        </p:nvSpPr>
        <p:spPr/>
        <p:txBody>
          <a:bodyPr/>
          <a:lstStyle/>
          <a:p>
            <a:fld id="{1005F464-475C-44AD-B39D-86A1D68B524E}" type="slidenum">
              <a:rPr lang="en-IN" smtClean="0"/>
              <a:t>‹#›</a:t>
            </a:fld>
            <a:endParaRPr lang="en-IN"/>
          </a:p>
        </p:txBody>
      </p:sp>
    </p:spTree>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B74D95-0A6A-4FF0-A602-FE349279ABDC}" type="datetime1">
              <a:rPr lang="en-IN" smtClean="0"/>
              <a:t>31-07-2026</a:t>
            </a:fld>
            <a:endParaRPr lang="en-IN"/>
          </a:p>
        </p:txBody>
      </p:sp>
      <p:sp>
        <p:nvSpPr>
          <p:cNvPr id="5" name="Footer Placeholder 4"/>
          <p:cNvSpPr>
            <a:spLocks noGrp="1"/>
          </p:cNvSpPr>
          <p:nvPr>
            <p:ph type="ftr" sz="quarter" idx="11"/>
          </p:nvPr>
        </p:nvSpPr>
        <p:spPr/>
        <p:txBody>
          <a:bodyPr/>
          <a:lstStyle/>
          <a:p>
            <a:r>
              <a:rPr lang="en-IN"/>
              <a:t>1/15</a:t>
            </a:r>
          </a:p>
        </p:txBody>
      </p:sp>
      <p:sp>
        <p:nvSpPr>
          <p:cNvPr id="6" name="Slide Number Placeholder 5"/>
          <p:cNvSpPr>
            <a:spLocks noGrp="1"/>
          </p:cNvSpPr>
          <p:nvPr>
            <p:ph type="sldNum" sz="quarter" idx="12"/>
          </p:nvPr>
        </p:nvSpPr>
        <p:spPr/>
        <p:txBody>
          <a:bodyPr/>
          <a:lstStyle/>
          <a:p>
            <a:fld id="{1005F464-475C-44AD-B39D-86A1D68B524E}" type="slidenum">
              <a:rPr lang="en-IN" smtClean="0"/>
              <a:t>‹#›</a:t>
            </a:fld>
            <a:endParaRPr lang="en-IN"/>
          </a:p>
        </p:txBody>
      </p:sp>
    </p:spTree>
  </p:cSld>
  <p:clrMapOvr>
    <a:masterClrMapping/>
  </p:clrMapOvr>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1B74D95-0A6A-4FF0-A602-FE349279ABDC}" type="datetime1">
              <a:rPr lang="en-IN" smtClean="0"/>
              <a:t>31-07-2026</a:t>
            </a:fld>
            <a:endParaRPr lang="en-IN"/>
          </a:p>
        </p:txBody>
      </p:sp>
      <p:sp>
        <p:nvSpPr>
          <p:cNvPr id="6" name="Footer Placeholder 5"/>
          <p:cNvSpPr>
            <a:spLocks noGrp="1"/>
          </p:cNvSpPr>
          <p:nvPr>
            <p:ph type="ftr" sz="quarter" idx="11"/>
          </p:nvPr>
        </p:nvSpPr>
        <p:spPr/>
        <p:txBody>
          <a:bodyPr/>
          <a:lstStyle/>
          <a:p>
            <a:r>
              <a:rPr lang="en-IN"/>
              <a:t>1/15</a:t>
            </a:r>
          </a:p>
        </p:txBody>
      </p:sp>
      <p:sp>
        <p:nvSpPr>
          <p:cNvPr id="7" name="Slide Number Placeholder 6"/>
          <p:cNvSpPr>
            <a:spLocks noGrp="1"/>
          </p:cNvSpPr>
          <p:nvPr>
            <p:ph type="sldNum" sz="quarter" idx="12"/>
          </p:nvPr>
        </p:nvSpPr>
        <p:spPr/>
        <p:txBody>
          <a:bodyPr/>
          <a:lstStyle/>
          <a:p>
            <a:fld id="{1005F464-475C-44AD-B39D-86A1D68B524E}" type="slidenum">
              <a:rPr lang="en-IN" smtClean="0"/>
              <a:t>‹#›</a:t>
            </a:fld>
            <a:endParaRPr lang="en-IN"/>
          </a:p>
        </p:txBody>
      </p:sp>
    </p:spTree>
  </p:cSld>
  <p:clrMapOvr>
    <a:masterClrMapping/>
  </p:clrMapOvr>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81B74D95-0A6A-4FF0-A602-FE349279ABDC}" type="datetime1">
              <a:rPr lang="en-IN" smtClean="0"/>
              <a:t>31-07-2026</a:t>
            </a:fld>
            <a:endParaRPr lang="en-IN"/>
          </a:p>
        </p:txBody>
      </p:sp>
      <p:sp>
        <p:nvSpPr>
          <p:cNvPr id="8" name="Footer Placeholder 7"/>
          <p:cNvSpPr>
            <a:spLocks noGrp="1"/>
          </p:cNvSpPr>
          <p:nvPr>
            <p:ph type="ftr" sz="quarter" idx="11"/>
          </p:nvPr>
        </p:nvSpPr>
        <p:spPr/>
        <p:txBody>
          <a:bodyPr/>
          <a:lstStyle/>
          <a:p>
            <a:r>
              <a:rPr lang="en-IN"/>
              <a:t>1/15</a:t>
            </a:r>
          </a:p>
        </p:txBody>
      </p:sp>
      <p:sp>
        <p:nvSpPr>
          <p:cNvPr id="9" name="Slide Number Placeholder 8"/>
          <p:cNvSpPr>
            <a:spLocks noGrp="1"/>
          </p:cNvSpPr>
          <p:nvPr>
            <p:ph type="sldNum" sz="quarter" idx="12"/>
          </p:nvPr>
        </p:nvSpPr>
        <p:spPr/>
        <p:txBody>
          <a:bodyPr/>
          <a:lstStyle/>
          <a:p>
            <a:fld id="{1005F464-475C-44AD-B39D-86A1D68B524E}" type="slidenum">
              <a:rPr lang="en-IN" smtClean="0"/>
              <a:t>‹#›</a:t>
            </a:fld>
            <a:endParaRPr lang="en-IN"/>
          </a:p>
        </p:txBody>
      </p:sp>
    </p:spTree>
  </p:cSld>
  <p:clrMapOvr>
    <a:masterClrMapping/>
  </p:clrMapOvr>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E799FEFD-3C69-4305-A7B6-834AA69834DB}" type="datetime1">
              <a:rPr lang="en-IN" smtClean="0"/>
              <a:t>31-07-2026</a:t>
            </a:fld>
            <a:endParaRPr lang="en-IN"/>
          </a:p>
        </p:txBody>
      </p:sp>
      <p:sp>
        <p:nvSpPr>
          <p:cNvPr id="4" name="Footer Placeholder 3"/>
          <p:cNvSpPr>
            <a:spLocks noGrp="1"/>
          </p:cNvSpPr>
          <p:nvPr>
            <p:ph type="ftr" sz="quarter" idx="11"/>
          </p:nvPr>
        </p:nvSpPr>
        <p:spPr/>
        <p:txBody>
          <a:bodyPr/>
          <a:lstStyle/>
          <a:p>
            <a:r>
              <a:rPr lang="en-IN"/>
              <a:t>1/15</a:t>
            </a:r>
          </a:p>
        </p:txBody>
      </p:sp>
      <p:sp>
        <p:nvSpPr>
          <p:cNvPr id="5" name="Slide Number Placeholder 4"/>
          <p:cNvSpPr>
            <a:spLocks noGrp="1"/>
          </p:cNvSpPr>
          <p:nvPr>
            <p:ph type="sldNum" sz="quarter" idx="12"/>
          </p:nvPr>
        </p:nvSpPr>
        <p:spPr/>
        <p:txBody>
          <a:bodyPr/>
          <a:lstStyle/>
          <a:p>
            <a:fld id="{1005F464-475C-44AD-B39D-86A1D68B524E}"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B74D95-0A6A-4FF0-A602-FE349279ABDC}" type="datetime1">
              <a:rPr lang="en-IN" smtClean="0"/>
              <a:t>31-07-2026</a:t>
            </a:fld>
            <a:endParaRPr lang="en-IN"/>
          </a:p>
        </p:txBody>
      </p:sp>
      <p:sp>
        <p:nvSpPr>
          <p:cNvPr id="3" name="Footer Placeholder 2"/>
          <p:cNvSpPr>
            <a:spLocks noGrp="1"/>
          </p:cNvSpPr>
          <p:nvPr>
            <p:ph type="ftr" sz="quarter" idx="11"/>
          </p:nvPr>
        </p:nvSpPr>
        <p:spPr/>
        <p:txBody>
          <a:bodyPr/>
          <a:lstStyle/>
          <a:p>
            <a:r>
              <a:rPr lang="en-IN"/>
              <a:t>1/15</a:t>
            </a:r>
          </a:p>
        </p:txBody>
      </p:sp>
      <p:sp>
        <p:nvSpPr>
          <p:cNvPr id="4" name="Slide Number Placeholder 3"/>
          <p:cNvSpPr>
            <a:spLocks noGrp="1"/>
          </p:cNvSpPr>
          <p:nvPr>
            <p:ph type="sldNum" sz="quarter" idx="12"/>
          </p:nvPr>
        </p:nvSpPr>
        <p:spPr/>
        <p:txBody>
          <a:bodyPr/>
          <a:lstStyle/>
          <a:p>
            <a:fld id="{1005F464-475C-44AD-B39D-86A1D68B524E}" type="slidenum">
              <a:rPr lang="en-IN" smtClean="0"/>
              <a:t>‹#›</a:t>
            </a:fld>
            <a:endParaRPr lang="en-IN"/>
          </a:p>
        </p:txBody>
      </p:sp>
    </p:spTree>
  </p:cSld>
  <p:clrMapOvr>
    <a:masterClrMapping/>
  </p:clrMapOvr>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1B74D95-0A6A-4FF0-A602-FE349279ABDC}" type="datetime1">
              <a:rPr lang="en-IN" smtClean="0"/>
              <a:t>31-07-2026</a:t>
            </a:fld>
            <a:endParaRPr lang="en-IN"/>
          </a:p>
        </p:txBody>
      </p:sp>
      <p:sp>
        <p:nvSpPr>
          <p:cNvPr id="6" name="Footer Placeholder 5"/>
          <p:cNvSpPr>
            <a:spLocks noGrp="1"/>
          </p:cNvSpPr>
          <p:nvPr>
            <p:ph type="ftr" sz="quarter" idx="11"/>
          </p:nvPr>
        </p:nvSpPr>
        <p:spPr/>
        <p:txBody>
          <a:bodyPr/>
          <a:lstStyle/>
          <a:p>
            <a:r>
              <a:rPr lang="en-IN"/>
              <a:t>1/15</a:t>
            </a:r>
          </a:p>
        </p:txBody>
      </p:sp>
      <p:sp>
        <p:nvSpPr>
          <p:cNvPr id="7" name="Slide Number Placeholder 6"/>
          <p:cNvSpPr>
            <a:spLocks noGrp="1"/>
          </p:cNvSpPr>
          <p:nvPr>
            <p:ph type="sldNum" sz="quarter" idx="12"/>
          </p:nvPr>
        </p:nvSpPr>
        <p:spPr/>
        <p:txBody>
          <a:bodyPr/>
          <a:lstStyle/>
          <a:p>
            <a:fld id="{1005F464-475C-44AD-B39D-86A1D68B524E}" type="slidenum">
              <a:rPr lang="en-IN" smtClean="0"/>
              <a:t>‹#›</a:t>
            </a:fld>
            <a:endParaRPr lang="en-IN"/>
          </a:p>
        </p:txBody>
      </p:sp>
    </p:spTree>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1B74D95-0A6A-4FF0-A602-FE349279ABDC}" type="datetime1">
              <a:rPr lang="en-IN" smtClean="0"/>
              <a:t>31-07-2026</a:t>
            </a:fld>
            <a:endParaRPr lang="en-IN"/>
          </a:p>
        </p:txBody>
      </p:sp>
      <p:sp>
        <p:nvSpPr>
          <p:cNvPr id="6" name="Footer Placeholder 5"/>
          <p:cNvSpPr>
            <a:spLocks noGrp="1"/>
          </p:cNvSpPr>
          <p:nvPr>
            <p:ph type="ftr" sz="quarter" idx="11"/>
          </p:nvPr>
        </p:nvSpPr>
        <p:spPr/>
        <p:txBody>
          <a:bodyPr/>
          <a:lstStyle/>
          <a:p>
            <a:r>
              <a:rPr lang="en-IN"/>
              <a:t>1/15</a:t>
            </a:r>
          </a:p>
        </p:txBody>
      </p:sp>
      <p:sp>
        <p:nvSpPr>
          <p:cNvPr id="7" name="Slide Number Placeholder 6"/>
          <p:cNvSpPr>
            <a:spLocks noGrp="1"/>
          </p:cNvSpPr>
          <p:nvPr>
            <p:ph type="sldNum" sz="quarter" idx="12"/>
          </p:nvPr>
        </p:nvSpPr>
        <p:spPr/>
        <p:txBody>
          <a:bodyPr/>
          <a:lstStyle/>
          <a:p>
            <a:fld id="{1005F464-475C-44AD-B39D-86A1D68B524E}" type="slidenum">
              <a:rPr lang="en-IN" smtClean="0"/>
              <a:t>‹#›</a:t>
            </a:fld>
            <a:endParaRPr lang="en-IN"/>
          </a:p>
        </p:txBody>
      </p:sp>
    </p:spTree>
  </p:cSld>
  <p:clrMapOvr>
    <a:masterClrMapping/>
  </p:clrMapOvr>
  <p:hf sldNum="0"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1B74D95-0A6A-4FF0-A602-FE349279ABDC}" type="datetime1">
              <a:rPr lang="en-IN" smtClean="0"/>
              <a:t>31-07-2026</a:t>
            </a:fld>
            <a:endParaRPr lang="en-IN"/>
          </a:p>
        </p:txBody>
      </p:sp>
      <p:sp>
        <p:nvSpPr>
          <p:cNvPr id="5" name="Footer Placeholder 4"/>
          <p:cNvSpPr>
            <a:spLocks noGrp="1"/>
          </p:cNvSpPr>
          <p:nvPr>
            <p:ph type="ftr" sz="quarter" idx="11"/>
          </p:nvPr>
        </p:nvSpPr>
        <p:spPr/>
        <p:txBody>
          <a:bodyPr/>
          <a:lstStyle/>
          <a:p>
            <a:r>
              <a:rPr lang="en-IN"/>
              <a:t>1/15</a:t>
            </a:r>
          </a:p>
        </p:txBody>
      </p:sp>
      <p:sp>
        <p:nvSpPr>
          <p:cNvPr id="6" name="Slide Number Placeholder 5"/>
          <p:cNvSpPr>
            <a:spLocks noGrp="1"/>
          </p:cNvSpPr>
          <p:nvPr>
            <p:ph type="sldNum" sz="quarter" idx="12"/>
          </p:nvPr>
        </p:nvSpPr>
        <p:spPr/>
        <p:txBody>
          <a:bodyPr/>
          <a:lstStyle/>
          <a:p>
            <a:fld id="{1005F464-475C-44AD-B39D-86A1D68B524E}" type="slidenum">
              <a:rPr lang="en-IN" smtClean="0"/>
              <a:t>‹#›</a:t>
            </a:fld>
            <a:endParaRPr lang="en-IN"/>
          </a:p>
        </p:txBody>
      </p:sp>
    </p:spTree>
  </p:cSld>
  <p:clrMapOvr>
    <a:masterClrMapping/>
  </p:clrMapOvr>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1B74D95-0A6A-4FF0-A602-FE349279ABDC}" type="datetime1">
              <a:rPr lang="en-IN" smtClean="0"/>
              <a:t>31-07-2026</a:t>
            </a:fld>
            <a:endParaRPr lang="en-IN"/>
          </a:p>
        </p:txBody>
      </p:sp>
      <p:sp>
        <p:nvSpPr>
          <p:cNvPr id="5" name="Footer Placeholder 4"/>
          <p:cNvSpPr>
            <a:spLocks noGrp="1"/>
          </p:cNvSpPr>
          <p:nvPr>
            <p:ph type="ftr" sz="quarter" idx="11"/>
          </p:nvPr>
        </p:nvSpPr>
        <p:spPr/>
        <p:txBody>
          <a:bodyPr/>
          <a:lstStyle/>
          <a:p>
            <a:r>
              <a:rPr lang="en-IN"/>
              <a:t>1/15</a:t>
            </a:r>
          </a:p>
        </p:txBody>
      </p:sp>
      <p:sp>
        <p:nvSpPr>
          <p:cNvPr id="6" name="Slide Number Placeholder 5"/>
          <p:cNvSpPr>
            <a:spLocks noGrp="1"/>
          </p:cNvSpPr>
          <p:nvPr>
            <p:ph type="sldNum" sz="quarter" idx="12"/>
          </p:nvPr>
        </p:nvSpPr>
        <p:spPr/>
        <p:txBody>
          <a:bodyPr/>
          <a:lstStyle/>
          <a:p>
            <a:fld id="{1005F464-475C-44AD-B39D-86A1D68B524E}" type="slidenum">
              <a:rPr lang="en-IN" smtClean="0"/>
              <a:t>‹#›</a:t>
            </a:fld>
            <a:endParaRPr lang="en-IN"/>
          </a:p>
        </p:txBody>
      </p:sp>
    </p:spTree>
  </p:cSld>
  <p:clrMapOvr>
    <a:masterClrMapping/>
  </p:clrMapOvr>
  <p:hf sldNum="0" hd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9" name="Rectangle 8"/>
          <p:cNvSpPr/>
          <p:nvPr userDrawn="1"/>
        </p:nvSpPr>
        <p:spPr>
          <a:xfrm>
            <a:off x="1" y="6778868"/>
            <a:ext cx="12191997" cy="79131"/>
          </a:xfrm>
          <a:prstGeom prst="rect">
            <a:avLst/>
          </a:prstGeom>
          <a:solidFill>
            <a:srgbClr val="ED771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endParaRPr>
          </a:p>
        </p:txBody>
      </p:sp>
      <p:sp>
        <p:nvSpPr>
          <p:cNvPr id="2" name="Rectangle 1"/>
          <p:cNvSpPr/>
          <p:nvPr userDrawn="1"/>
        </p:nvSpPr>
        <p:spPr>
          <a:xfrm>
            <a:off x="2078655" y="431018"/>
            <a:ext cx="8107244" cy="46502"/>
          </a:xfrm>
          <a:prstGeom prst="rect">
            <a:avLst/>
          </a:prstGeom>
          <a:solidFill>
            <a:srgbClr val="F47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p:cNvPicPr>
            <a:picLocks noChangeAspect="1"/>
          </p:cNvPicPr>
          <p:nvPr userDrawn="1"/>
        </p:nvPicPr>
        <p:blipFill>
          <a:blip r:embed="rId2"/>
          <a:stretch>
            <a:fillRect/>
          </a:stretch>
        </p:blipFill>
        <p:spPr>
          <a:xfrm>
            <a:off x="10355072" y="178307"/>
            <a:ext cx="1547520" cy="418630"/>
          </a:xfrm>
          <a:prstGeom prst="rect">
            <a:avLst/>
          </a:prstGeom>
        </p:spPr>
      </p:pic>
      <p:pic>
        <p:nvPicPr>
          <p:cNvPr id="4" name="Picture 3"/>
          <p:cNvPicPr>
            <a:picLocks noChangeAspect="1"/>
          </p:cNvPicPr>
          <p:nvPr userDrawn="1"/>
        </p:nvPicPr>
        <p:blipFill>
          <a:blip r:embed="rId3"/>
          <a:stretch>
            <a:fillRect/>
          </a:stretch>
        </p:blipFill>
        <p:spPr>
          <a:xfrm>
            <a:off x="328281" y="178308"/>
            <a:ext cx="1581202" cy="50542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ection Title">
    <p:spTree>
      <p:nvGrpSpPr>
        <p:cNvPr id="1" name=""/>
        <p:cNvGrpSpPr/>
        <p:nvPr/>
      </p:nvGrpSpPr>
      <p:grpSpPr>
        <a:xfrm>
          <a:off x="0" y="0"/>
          <a:ext cx="0" cy="0"/>
          <a:chOff x="0" y="0"/>
          <a:chExt cx="0" cy="0"/>
        </a:xfrm>
      </p:grpSpPr>
      <p:sp>
        <p:nvSpPr>
          <p:cNvPr id="4" name="Picture Placeholder 3"/>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2000">
                <a:solidFill>
                  <a:schemeClr val="tx1"/>
                </a:solidFill>
              </a:defRPr>
            </a:lvl1pPr>
          </a:lstStyle>
          <a:p>
            <a:r>
              <a:rPr lang="en-US" dirty="0"/>
              <a:t>Click icon to add picture</a:t>
            </a:r>
          </a:p>
        </p:txBody>
      </p:sp>
      <p:sp>
        <p:nvSpPr>
          <p:cNvPr id="18" name="Title 1"/>
          <p:cNvSpPr>
            <a:spLocks noGrp="1"/>
          </p:cNvSpPr>
          <p:nvPr>
            <p:ph type="title" hasCustomPrompt="1"/>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dirty="0"/>
              <a:t>Click to add title </a:t>
            </a:r>
          </a:p>
        </p:txBody>
      </p:sp>
      <p:sp>
        <p:nvSpPr>
          <p:cNvPr id="7" name="Rectangle 6"/>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1B74D95-0A6A-4FF0-A602-FE349279ABDC}" type="datetime1">
              <a:rPr lang="en-IN" smtClean="0"/>
              <a:t>31-07-2026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IN"/>
              <a:t>1/15</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005F464-475C-44AD-B39D-86A1D68B524E}" type="slidenum">
              <a:rPr lang="en-IN" smtClean="0"/>
              <a:t>‹#›</a:t>
            </a:fld>
            <a:endParaRPr lang="en-IN"/>
          </a:p>
        </p:txBody>
      </p:sp>
      <p:sp>
        <p:nvSpPr>
          <p:cNvPr id="7" name="Rectangle 6"/>
          <p:cNvSpPr/>
          <p:nvPr userDrawn="1"/>
        </p:nvSpPr>
        <p:spPr>
          <a:xfrm>
            <a:off x="2078655" y="431018"/>
            <a:ext cx="8107244" cy="46502"/>
          </a:xfrm>
          <a:prstGeom prst="rect">
            <a:avLst/>
          </a:prstGeom>
          <a:solidFill>
            <a:srgbClr val="F47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p:cNvPicPr>
            <a:picLocks noChangeAspect="1"/>
          </p:cNvPicPr>
          <p:nvPr userDrawn="1"/>
        </p:nvPicPr>
        <p:blipFill>
          <a:blip r:embed="rId15"/>
          <a:stretch>
            <a:fillRect/>
          </a:stretch>
        </p:blipFill>
        <p:spPr>
          <a:xfrm>
            <a:off x="10355072" y="178307"/>
            <a:ext cx="1547520" cy="418630"/>
          </a:xfrm>
          <a:prstGeom prst="rect">
            <a:avLst/>
          </a:prstGeom>
        </p:spPr>
      </p:pic>
      <p:pic>
        <p:nvPicPr>
          <p:cNvPr id="9" name="Picture 8"/>
          <p:cNvPicPr>
            <a:picLocks noChangeAspect="1"/>
          </p:cNvPicPr>
          <p:nvPr userDrawn="1"/>
        </p:nvPicPr>
        <p:blipFill>
          <a:blip r:embed="rId16"/>
          <a:stretch>
            <a:fillRect/>
          </a:stretch>
        </p:blipFill>
        <p:spPr>
          <a:xfrm>
            <a:off x="328281" y="178308"/>
            <a:ext cx="1581202" cy="505420"/>
          </a:xfrm>
          <a:prstGeom prst="rect">
            <a:avLst/>
          </a:prstGeom>
        </p:spPr>
      </p:pic>
      <p:sp>
        <p:nvSpPr>
          <p:cNvPr id="10" name="Rectangle 9"/>
          <p:cNvSpPr/>
          <p:nvPr userDrawn="1"/>
        </p:nvSpPr>
        <p:spPr>
          <a:xfrm>
            <a:off x="1" y="6778868"/>
            <a:ext cx="12191997" cy="79131"/>
          </a:xfrm>
          <a:prstGeom prst="rect">
            <a:avLst/>
          </a:prstGeom>
          <a:solidFill>
            <a:srgbClr val="ED771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top500.org/statistics/details/osfam/1/" TargetMode="External"/><Relationship Id="rId2" Type="http://schemas.openxmlformats.org/officeDocument/2006/relationships/hyperlink" Target="https://www.redhat.com/en/topics/open-source/what-is-open-source-software" TargetMode="Externa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4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4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4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692150" y="-209862"/>
            <a:ext cx="10807700" cy="914400"/>
          </a:xfrm>
          <a:prstGeom prst="rect">
            <a:avLst/>
          </a:prstGeom>
        </p:spPr>
        <p:txBody>
          <a:bodyPr wrap="square"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IN" sz="2200" i="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Google Shape;90;p1"/>
          <p:cNvSpPr txBox="1"/>
          <p:nvPr/>
        </p:nvSpPr>
        <p:spPr>
          <a:xfrm>
            <a:off x="612068" y="1676400"/>
            <a:ext cx="10987791" cy="1754286"/>
          </a:xfrm>
          <a:prstGeom prst="rect">
            <a:avLst/>
          </a:prstGeom>
          <a:solidFill>
            <a:srgbClr val="EBF1DE"/>
          </a:solidFill>
          <a:ln>
            <a:noFill/>
          </a:ln>
        </p:spPr>
        <p:txBody>
          <a:bodyPr spcFirstLastPara="1" wrap="square" lIns="91425" tIns="45700" rIns="91425" bIns="4570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algn="ctr">
              <a:spcBef>
                <a:spcPts val="0"/>
              </a:spcBef>
              <a:buSzPts val="4000"/>
              <a:buFont typeface="Arial" panose="020B0604020202020204" pitchFamily="34" charset="0"/>
              <a:buNone/>
            </a:pPr>
            <a:endParaRPr lang="en-US" sz="4000" b="1" dirty="0">
              <a:latin typeface="Times New Roman" panose="02020603050405020304"/>
              <a:ea typeface="Times New Roman" panose="02020603050405020304"/>
              <a:cs typeface="Times New Roman" panose="02020603050405020304"/>
              <a:sym typeface="Times New Roman" panose="02020603050405020304"/>
            </a:endParaRPr>
          </a:p>
          <a:p>
            <a:pPr marL="342900" algn="ctr">
              <a:spcBef>
                <a:spcPts val="0"/>
              </a:spcBef>
              <a:buSzPts val="4000"/>
              <a:buFont typeface="Arial" panose="020B0604020202020204" pitchFamily="34" charset="0"/>
              <a:buNone/>
            </a:pPr>
            <a:r>
              <a:rPr lang="en-US" sz="4000" b="1" dirty="0">
                <a:latin typeface="Times New Roman" panose="02020603050405020304"/>
                <a:cs typeface="Times New Roman" panose="02020603050405020304"/>
                <a:sym typeface="Times New Roman" panose="02020603050405020304"/>
              </a:rPr>
              <a:t>CSE 493</a:t>
            </a:r>
          </a:p>
          <a:p>
            <a:pPr marL="342900" algn="ctr">
              <a:spcBef>
                <a:spcPts val="0"/>
              </a:spcBef>
              <a:buSzPts val="4000"/>
              <a:buNone/>
            </a:pPr>
            <a:r>
              <a:rPr lang="en-CA" sz="4000" dirty="0"/>
              <a:t>LINUX SYSTEM ADMINISTRATION</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150373" y="934065"/>
            <a:ext cx="10687665" cy="5570756"/>
          </a:xfrm>
          <a:prstGeom prst="rect">
            <a:avLst/>
          </a:prstGeom>
          <a:noFill/>
        </p:spPr>
        <p:txBody>
          <a:bodyPr wrap="square">
            <a:spAutoFit/>
          </a:bodyPr>
          <a:lstStyle/>
          <a:p>
            <a:pPr>
              <a:buNone/>
            </a:pPr>
            <a:r>
              <a:rPr lang="en-IN" sz="1400" b="1" dirty="0">
                <a:solidFill>
                  <a:srgbClr val="000000"/>
                </a:solidFill>
                <a:effectLst/>
                <a:latin typeface="Verdana" panose="020B0604030504040204" pitchFamily="34" charset="0"/>
              </a:rPr>
              <a:t>Unit I </a:t>
            </a:r>
            <a:endParaRPr lang="en-IN" sz="1400" dirty="0"/>
          </a:p>
          <a:p>
            <a:pPr>
              <a:buNone/>
            </a:pPr>
            <a:r>
              <a:rPr lang="en-IN" b="1" dirty="0">
                <a:solidFill>
                  <a:srgbClr val="000000"/>
                </a:solidFill>
                <a:effectLst/>
                <a:latin typeface="Verdana" panose="020B0604030504040204" pitchFamily="34" charset="0"/>
              </a:rPr>
              <a:t>Accessing the command line</a:t>
            </a:r>
            <a:r>
              <a:rPr lang="en-IN" dirty="0">
                <a:solidFill>
                  <a:srgbClr val="000000"/>
                </a:solidFill>
                <a:effectLst/>
                <a:latin typeface="Tahoma" panose="020B0604030504040204" pitchFamily="34" charset="0"/>
              </a:rPr>
              <a:t> : </a:t>
            </a:r>
            <a:r>
              <a:rPr lang="en-IN" dirty="0">
                <a:solidFill>
                  <a:srgbClr val="000000"/>
                </a:solidFill>
                <a:effectLst/>
                <a:latin typeface="Verdana" panose="020B0604030504040204" pitchFamily="34" charset="0"/>
              </a:rPr>
              <a:t>Accessing command line using local console, Accessing command line using desktop, Executing commands using bash shell </a:t>
            </a:r>
          </a:p>
          <a:p>
            <a:pPr>
              <a:buNone/>
            </a:pPr>
            <a:endParaRPr lang="en-IN" dirty="0"/>
          </a:p>
          <a:p>
            <a:pPr algn="just">
              <a:buNone/>
            </a:pPr>
            <a:r>
              <a:rPr lang="en-IN" b="1" dirty="0">
                <a:solidFill>
                  <a:srgbClr val="000000"/>
                </a:solidFill>
                <a:effectLst/>
                <a:latin typeface="Verdana" panose="020B0604030504040204" pitchFamily="34" charset="0"/>
              </a:rPr>
              <a:t>Managing Files From the Command Line</a:t>
            </a:r>
            <a:r>
              <a:rPr lang="en-IN" dirty="0">
                <a:solidFill>
                  <a:srgbClr val="000000"/>
                </a:solidFill>
                <a:effectLst/>
                <a:latin typeface="Tahoma" panose="020B0604030504040204" pitchFamily="34" charset="0"/>
              </a:rPr>
              <a:t> : </a:t>
            </a:r>
            <a:r>
              <a:rPr lang="en-IN" dirty="0">
                <a:solidFill>
                  <a:srgbClr val="000000"/>
                </a:solidFill>
                <a:effectLst/>
                <a:latin typeface="Verdana" panose="020B0604030504040204" pitchFamily="34" charset="0"/>
              </a:rPr>
              <a:t>The Linux File System Hierarchy, Locating Files by Name, Managing Files Using Command-Line Tools, Matching File Names Using Path Name Expansion, Managing Files with Shell Expansion </a:t>
            </a:r>
            <a:endParaRPr lang="en-IN" dirty="0"/>
          </a:p>
          <a:p>
            <a:pPr>
              <a:buNone/>
            </a:pPr>
            <a:r>
              <a:rPr lang="en-IN" b="1" dirty="0">
                <a:solidFill>
                  <a:srgbClr val="000000"/>
                </a:solidFill>
                <a:effectLst/>
                <a:latin typeface="Verdana" panose="020B0604030504040204" pitchFamily="34" charset="0"/>
              </a:rPr>
              <a:t>Getting Help in Red Hat Enterprise Linux</a:t>
            </a:r>
            <a:r>
              <a:rPr lang="en-IN" dirty="0">
                <a:solidFill>
                  <a:srgbClr val="000000"/>
                </a:solidFill>
                <a:effectLst/>
                <a:latin typeface="Tahoma" panose="020B0604030504040204" pitchFamily="34" charset="0"/>
              </a:rPr>
              <a:t> : </a:t>
            </a:r>
            <a:r>
              <a:rPr lang="en-IN" dirty="0">
                <a:solidFill>
                  <a:srgbClr val="000000"/>
                </a:solidFill>
                <a:effectLst/>
                <a:latin typeface="Verdana" panose="020B0604030504040204" pitchFamily="34" charset="0"/>
              </a:rPr>
              <a:t>Reading Documentation Using man Command, </a:t>
            </a:r>
            <a:endParaRPr lang="en-IN" dirty="0"/>
          </a:p>
          <a:p>
            <a:pPr>
              <a:buNone/>
            </a:pPr>
            <a:r>
              <a:rPr lang="en-IN" dirty="0">
                <a:solidFill>
                  <a:srgbClr val="000000"/>
                </a:solidFill>
                <a:effectLst/>
                <a:latin typeface="Verdana" panose="020B0604030504040204" pitchFamily="34" charset="0"/>
              </a:rPr>
              <a:t>Reading Documentation Using </a:t>
            </a:r>
            <a:r>
              <a:rPr lang="en-IN" dirty="0" err="1">
                <a:solidFill>
                  <a:srgbClr val="000000"/>
                </a:solidFill>
                <a:effectLst/>
                <a:latin typeface="Verdana" panose="020B0604030504040204" pitchFamily="34" charset="0"/>
              </a:rPr>
              <a:t>pinfo</a:t>
            </a:r>
            <a:r>
              <a:rPr lang="en-IN" dirty="0">
                <a:solidFill>
                  <a:srgbClr val="000000"/>
                </a:solidFill>
                <a:effectLst/>
                <a:latin typeface="Verdana" panose="020B0604030504040204" pitchFamily="34" charset="0"/>
              </a:rPr>
              <a:t> Command, Reading Documentation in /</a:t>
            </a:r>
            <a:r>
              <a:rPr lang="en-IN" dirty="0" err="1">
                <a:solidFill>
                  <a:srgbClr val="000000"/>
                </a:solidFill>
                <a:effectLst/>
                <a:latin typeface="Verdana" panose="020B0604030504040204" pitchFamily="34" charset="0"/>
              </a:rPr>
              <a:t>usr</a:t>
            </a:r>
            <a:r>
              <a:rPr lang="en-IN" dirty="0">
                <a:solidFill>
                  <a:srgbClr val="000000"/>
                </a:solidFill>
                <a:effectLst/>
                <a:latin typeface="Verdana" panose="020B0604030504040204" pitchFamily="34" charset="0"/>
              </a:rPr>
              <a:t>/share/doc, Getting </a:t>
            </a:r>
            <a:endParaRPr lang="en-IN" dirty="0"/>
          </a:p>
          <a:p>
            <a:pPr>
              <a:buNone/>
            </a:pPr>
            <a:r>
              <a:rPr lang="en-IN" dirty="0">
                <a:solidFill>
                  <a:srgbClr val="000000"/>
                </a:solidFill>
                <a:effectLst/>
                <a:latin typeface="Verdana" panose="020B0604030504040204" pitchFamily="34" charset="0"/>
              </a:rPr>
              <a:t>Help From Red Hat </a:t>
            </a:r>
          </a:p>
          <a:p>
            <a:pPr>
              <a:buNone/>
            </a:pPr>
            <a:endParaRPr lang="en-IN" dirty="0"/>
          </a:p>
          <a:p>
            <a:pPr>
              <a:buNone/>
            </a:pPr>
            <a:r>
              <a:rPr lang="en-IN" b="1" dirty="0">
                <a:solidFill>
                  <a:srgbClr val="000000"/>
                </a:solidFill>
                <a:effectLst/>
                <a:latin typeface="Verdana" panose="020B0604030504040204" pitchFamily="34" charset="0"/>
              </a:rPr>
              <a:t>Creating, Viewing, and Editing Text Files</a:t>
            </a:r>
            <a:r>
              <a:rPr lang="en-IN" dirty="0">
                <a:solidFill>
                  <a:srgbClr val="000000"/>
                </a:solidFill>
                <a:effectLst/>
                <a:latin typeface="Tahoma" panose="020B0604030504040204" pitchFamily="34" charset="0"/>
              </a:rPr>
              <a:t> : </a:t>
            </a:r>
            <a:r>
              <a:rPr lang="en-IN" dirty="0">
                <a:solidFill>
                  <a:srgbClr val="000000"/>
                </a:solidFill>
                <a:effectLst/>
                <a:latin typeface="Verdana" panose="020B0604030504040204" pitchFamily="34" charset="0"/>
              </a:rPr>
              <a:t>Redirecting Output to a File or Program, Editing Text </a:t>
            </a:r>
            <a:endParaRPr lang="en-IN" dirty="0"/>
          </a:p>
          <a:p>
            <a:pPr>
              <a:buNone/>
            </a:pPr>
            <a:r>
              <a:rPr lang="en-IN" dirty="0">
                <a:solidFill>
                  <a:srgbClr val="000000"/>
                </a:solidFill>
                <a:effectLst/>
                <a:latin typeface="Verdana" panose="020B0604030504040204" pitchFamily="34" charset="0"/>
              </a:rPr>
              <a:t>Files from the Shell Prompt, Editing Text Files with a Graphical Editor </a:t>
            </a:r>
          </a:p>
          <a:p>
            <a:pPr>
              <a:buNone/>
            </a:pPr>
            <a:endParaRPr lang="en-IN" dirty="0"/>
          </a:p>
          <a:p>
            <a:pPr>
              <a:buNone/>
            </a:pPr>
            <a:r>
              <a:rPr lang="en-IN" b="1" dirty="0">
                <a:solidFill>
                  <a:srgbClr val="000000"/>
                </a:solidFill>
                <a:effectLst/>
                <a:latin typeface="Verdana" panose="020B0604030504040204" pitchFamily="34" charset="0"/>
              </a:rPr>
              <a:t>Managing Local Linux Users and Groups</a:t>
            </a:r>
            <a:r>
              <a:rPr lang="en-IN" dirty="0">
                <a:solidFill>
                  <a:srgbClr val="000000"/>
                </a:solidFill>
                <a:effectLst/>
                <a:latin typeface="Tahoma" panose="020B0604030504040204" pitchFamily="34" charset="0"/>
              </a:rPr>
              <a:t> : </a:t>
            </a:r>
            <a:r>
              <a:rPr lang="en-IN" dirty="0">
                <a:solidFill>
                  <a:srgbClr val="000000"/>
                </a:solidFill>
                <a:effectLst/>
                <a:latin typeface="Verdana" panose="020B0604030504040204" pitchFamily="34" charset="0"/>
              </a:rPr>
              <a:t>Users and Groups, Gaining Superuser Access, </a:t>
            </a:r>
            <a:endParaRPr lang="en-IN" dirty="0"/>
          </a:p>
          <a:p>
            <a:pPr>
              <a:buNone/>
            </a:pPr>
            <a:r>
              <a:rPr lang="en-IN" dirty="0">
                <a:solidFill>
                  <a:srgbClr val="000000"/>
                </a:solidFill>
                <a:effectLst/>
                <a:latin typeface="Verdana" panose="020B0604030504040204" pitchFamily="34" charset="0"/>
              </a:rPr>
              <a:t>Managing Local User Accounts, Managing Local Group Accounts, Managing User Passwords</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368446" y="48001"/>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CSE 493: LINUX System Administration</a:t>
            </a:r>
            <a:endParaRPr lang="en-IN" b="1" i="1" dirty="0">
              <a:solidFill>
                <a:srgbClr val="FF0000"/>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1425677" y="582296"/>
            <a:ext cx="8544232" cy="415498"/>
          </a:xfrm>
          <a:prstGeom prst="rect">
            <a:avLst/>
          </a:prstGeom>
          <a:noFill/>
        </p:spPr>
        <p:txBody>
          <a:bodyPr wrap="square">
            <a:spAutoFit/>
          </a:bodyPr>
          <a:lstStyle/>
          <a:p>
            <a:r>
              <a:rPr lang="en-IN" sz="2000" b="1" dirty="0">
                <a:solidFill>
                  <a:srgbClr val="000000"/>
                </a:solidFill>
                <a:effectLst/>
                <a:latin typeface="Times New Roman" panose="02020603050405020304" pitchFamily="18" charset="0"/>
                <a:cs typeface="Times New Roman" panose="02020603050405020304" pitchFamily="18" charset="0"/>
              </a:rPr>
              <a:t>                                                	WHAT IS LINUX?</a:t>
            </a:r>
            <a:endParaRPr lang="en-IN" sz="20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1170039" y="1190621"/>
            <a:ext cx="10756490" cy="923330"/>
          </a:xfrm>
          <a:prstGeom prst="rect">
            <a:avLst/>
          </a:prstGeom>
          <a:noFill/>
        </p:spPr>
        <p:txBody>
          <a:bodyPr wrap="square">
            <a:spAutoFit/>
          </a:bodyPr>
          <a:lstStyle/>
          <a:p>
            <a:pPr algn="just"/>
            <a:r>
              <a:rPr lang="en-IN" b="0" i="0" dirty="0">
                <a:solidFill>
                  <a:srgbClr val="151515"/>
                </a:solidFill>
                <a:effectLst/>
                <a:latin typeface="Times New Roman" panose="02020603050405020304" pitchFamily="18" charset="0"/>
                <a:cs typeface="Times New Roman" panose="02020603050405020304" pitchFamily="18" charset="0"/>
              </a:rPr>
              <a:t>Linux® is an </a:t>
            </a:r>
            <a:r>
              <a:rPr lang="en-IN" b="0" i="0" dirty="0">
                <a:effectLst/>
                <a:latin typeface="Times New Roman" panose="02020603050405020304" pitchFamily="18" charset="0"/>
                <a:cs typeface="Times New Roman" panose="02020603050405020304" pitchFamily="18" charset="0"/>
                <a:hlinkClick r:id="rId2"/>
              </a:rPr>
              <a:t>open source</a:t>
            </a:r>
            <a:r>
              <a:rPr lang="en-IN" b="0" i="0" dirty="0">
                <a:solidFill>
                  <a:srgbClr val="151515"/>
                </a:solidFill>
                <a:effectLst/>
                <a:latin typeface="Times New Roman" panose="02020603050405020304" pitchFamily="18" charset="0"/>
                <a:cs typeface="Times New Roman" panose="02020603050405020304" pitchFamily="18" charset="0"/>
              </a:rPr>
              <a:t> operating system (OS) created by Linus Torvalds in 1991. Today, it has a massive user base, and is used in the world’s </a:t>
            </a:r>
            <a:r>
              <a:rPr lang="en-IN" b="0" i="0" dirty="0">
                <a:effectLst/>
                <a:latin typeface="Times New Roman" panose="02020603050405020304" pitchFamily="18" charset="0"/>
                <a:cs typeface="Times New Roman" panose="02020603050405020304" pitchFamily="18" charset="0"/>
                <a:hlinkClick r:id="rId3"/>
              </a:rPr>
              <a:t>500 most powerful supercomputers</a:t>
            </a:r>
            <a:r>
              <a:rPr lang="en-IN" b="0" i="0" dirty="0">
                <a:solidFill>
                  <a:srgbClr val="151515"/>
                </a:solidFill>
                <a:effectLst/>
                <a:latin typeface="Times New Roman" panose="02020603050405020304" pitchFamily="18" charset="0"/>
                <a:cs typeface="Times New Roman" panose="02020603050405020304" pitchFamily="18" charset="0"/>
              </a:rPr>
              <a:t>. Users gravitate toward it for its versatility and security capabilities, among other reasons.</a:t>
            </a:r>
            <a:endParaRPr lang="en-IN" dirty="0">
              <a:latin typeface="Times New Roman" panose="02020603050405020304" pitchFamily="18" charset="0"/>
              <a:cs typeface="Times New Roman" panose="02020603050405020304" pitchFamily="18" charset="0"/>
            </a:endParaRPr>
          </a:p>
        </p:txBody>
      </p:sp>
      <p:sp>
        <p:nvSpPr>
          <p:cNvPr id="8" name="TextBox 7"/>
          <p:cNvSpPr txBox="1"/>
          <p:nvPr/>
        </p:nvSpPr>
        <p:spPr>
          <a:xfrm>
            <a:off x="3048000" y="3246792"/>
            <a:ext cx="6096000" cy="369332"/>
          </a:xfrm>
          <a:prstGeom prst="rect">
            <a:avLst/>
          </a:prstGeom>
          <a:noFill/>
        </p:spPr>
        <p:txBody>
          <a:bodyPr wrap="square">
            <a:spAutoFit/>
          </a:bodyPr>
          <a:lstStyle/>
          <a:p>
            <a:endParaRPr lang="en-IN" dirty="0"/>
          </a:p>
        </p:txBody>
      </p:sp>
      <p:pic>
        <p:nvPicPr>
          <p:cNvPr id="13" name="Picture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25571" y="2533635"/>
            <a:ext cx="2458066" cy="3318387"/>
          </a:xfrm>
          <a:prstGeom prst="rect">
            <a:avLst/>
          </a:prstGeom>
        </p:spPr>
      </p:pic>
      <p:pic>
        <p:nvPicPr>
          <p:cNvPr id="17" name="Picture 1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03" y="2533636"/>
            <a:ext cx="4719485" cy="3318387"/>
          </a:xfrm>
          <a:prstGeom prst="rect">
            <a:avLst/>
          </a:prstGeom>
        </p:spPr>
      </p:pic>
      <p:cxnSp>
        <p:nvCxnSpPr>
          <p:cNvPr id="19" name="Straight Arrow Connector 18"/>
          <p:cNvCxnSpPr/>
          <p:nvPr/>
        </p:nvCxnSpPr>
        <p:spPr>
          <a:xfrm flipH="1">
            <a:off x="3451122" y="3913239"/>
            <a:ext cx="404105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298150" y="3395350"/>
            <a:ext cx="979755"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Creation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445893" y="0"/>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CSE 493: LINUX System Administration</a:t>
            </a:r>
            <a:endParaRPr lang="en-IN" b="1" i="1" dirty="0">
              <a:solidFill>
                <a:srgbClr val="FF0000"/>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2812026" y="769703"/>
            <a:ext cx="8150942" cy="400110"/>
          </a:xfrm>
          <a:prstGeom prst="rect">
            <a:avLst/>
          </a:prstGeom>
          <a:noFill/>
        </p:spPr>
        <p:txBody>
          <a:bodyPr wrap="square">
            <a:spAutoFit/>
          </a:bodyPr>
          <a:lstStyle/>
          <a:p>
            <a:r>
              <a:rPr lang="en-IN" sz="2000" b="1" dirty="0">
                <a:effectLst/>
                <a:latin typeface="Times New Roman" panose="02020603050405020304" pitchFamily="18" charset="0"/>
                <a:cs typeface="Times New Roman" panose="02020603050405020304" pitchFamily="18" charset="0"/>
              </a:rPr>
              <a:t>WHY SHOULD YOU LEARN ABOUT LINUX ?</a:t>
            </a:r>
            <a:endParaRPr lang="en-IN" sz="2000" dirty="0">
              <a:latin typeface="Times New Roman" panose="02020603050405020304" pitchFamily="18" charset="0"/>
              <a:cs typeface="Times New Roman" panose="02020603050405020304" pitchFamily="18" charset="0"/>
            </a:endParaRPr>
          </a:p>
        </p:txBody>
      </p:sp>
      <p:sp>
        <p:nvSpPr>
          <p:cNvPr id="7" name="TextBox 6"/>
          <p:cNvSpPr txBox="1"/>
          <p:nvPr/>
        </p:nvSpPr>
        <p:spPr>
          <a:xfrm>
            <a:off x="501446" y="1238865"/>
            <a:ext cx="11198942" cy="4508927"/>
          </a:xfrm>
          <a:prstGeom prst="rect">
            <a:avLst/>
          </a:prstGeom>
          <a:noFill/>
        </p:spPr>
        <p:txBody>
          <a:bodyPr wrap="square">
            <a:spAutoFit/>
          </a:bodyPr>
          <a:lstStyle/>
          <a:p>
            <a:pPr marL="457200" indent="-457200">
              <a:buFont typeface="+mj-lt"/>
              <a:buAutoNum type="arabicPeriod"/>
            </a:pPr>
            <a:r>
              <a:rPr lang="en-IN" sz="2400" dirty="0">
                <a:latin typeface="Times New Roman" panose="02020603050405020304" pitchFamily="18" charset="0"/>
                <a:cs typeface="Times New Roman" panose="02020603050405020304" pitchFamily="18" charset="0"/>
              </a:rPr>
              <a:t>You are probably already interacting with Linux systems in your daily life</a:t>
            </a:r>
            <a:endParaRPr lang="en-IN" sz="2400" dirty="0">
              <a:solidFill>
                <a:srgbClr val="000000"/>
              </a:solidFill>
              <a:effectLst/>
              <a:latin typeface="Times New Roman" panose="02020603050405020304" pitchFamily="18" charset="0"/>
              <a:cs typeface="Times New Roman" panose="02020603050405020304" pitchFamily="18" charset="0"/>
            </a:endParaRPr>
          </a:p>
          <a:p>
            <a:pPr marL="457200" indent="-457200">
              <a:buFont typeface="+mj-lt"/>
              <a:buAutoNum type="arabicPeriod"/>
            </a:pPr>
            <a:r>
              <a:rPr lang="en-IN" sz="2400" dirty="0">
                <a:solidFill>
                  <a:srgbClr val="000000"/>
                </a:solidFill>
                <a:effectLst/>
                <a:latin typeface="Times New Roman" panose="02020603050405020304" pitchFamily="18" charset="0"/>
                <a:cs typeface="Times New Roman" panose="02020603050405020304" pitchFamily="18" charset="0"/>
              </a:rPr>
              <a:t>Linux is a critical technology for IT professionals to understand</a:t>
            </a:r>
          </a:p>
          <a:p>
            <a:pPr marL="457200" indent="-457200">
              <a:buFont typeface="+mj-lt"/>
              <a:buAutoNum type="arabicPeriod"/>
            </a:pPr>
            <a:r>
              <a:rPr lang="en-IN" sz="2400" dirty="0">
                <a:latin typeface="Times New Roman" panose="02020603050405020304" pitchFamily="18" charset="0"/>
                <a:cs typeface="Times New Roman" panose="02020603050405020304" pitchFamily="18" charset="0"/>
              </a:rPr>
              <a:t>In application development, Linux hosts the application or its runtime.</a:t>
            </a:r>
          </a:p>
          <a:p>
            <a:pPr marL="457200" indent="-457200">
              <a:buFont typeface="+mj-lt"/>
              <a:buAutoNum type="arabicPeriod"/>
            </a:pPr>
            <a:r>
              <a:rPr lang="en-IN" sz="2400" dirty="0">
                <a:latin typeface="Times New Roman" panose="02020603050405020304" pitchFamily="18" charset="0"/>
                <a:cs typeface="Times New Roman" panose="02020603050405020304" pitchFamily="18" charset="0"/>
              </a:rPr>
              <a:t>In cloud computing, the cloud instances in the private or public cloud environment use Linux as the operating system.</a:t>
            </a:r>
            <a:endParaRPr lang="en-IN" sz="2400" dirty="0">
              <a:solidFill>
                <a:srgbClr val="000000"/>
              </a:solidFill>
              <a:effectLst/>
              <a:latin typeface="Times New Roman" panose="02020603050405020304" pitchFamily="18" charset="0"/>
              <a:cs typeface="Times New Roman" panose="02020603050405020304" pitchFamily="18" charset="0"/>
            </a:endParaRPr>
          </a:p>
          <a:p>
            <a:pPr marL="457200" indent="-457200">
              <a:buFont typeface="+mj-lt"/>
              <a:buAutoNum type="arabicPeriod"/>
            </a:pPr>
            <a:r>
              <a:rPr lang="en-IN" sz="2400" dirty="0">
                <a:latin typeface="Times New Roman" panose="02020603050405020304" pitchFamily="18" charset="0"/>
                <a:cs typeface="Times New Roman" panose="02020603050405020304" pitchFamily="18" charset="0"/>
              </a:rPr>
              <a:t>With mobile applications or the Internet of Things (IoT), the chances are high that the operating system of your device uses Linux. </a:t>
            </a:r>
          </a:p>
          <a:p>
            <a:pPr marL="457200" indent="-457200">
              <a:buFont typeface="+mj-lt"/>
              <a:buAutoNum type="arabicPeriod"/>
            </a:pPr>
            <a:r>
              <a:rPr lang="en-IN" sz="2400" dirty="0">
                <a:latin typeface="Times New Roman" panose="02020603050405020304" pitchFamily="18" charset="0"/>
                <a:cs typeface="Times New Roman" panose="02020603050405020304" pitchFamily="18" charset="0"/>
              </a:rPr>
              <a:t>If you are looking for new opportunities in IT, Linux skills are in high demand.</a:t>
            </a:r>
            <a:endParaRPr lang="en-IN" sz="2400" dirty="0">
              <a:solidFill>
                <a:srgbClr val="000000"/>
              </a:solidFill>
              <a:latin typeface="Times New Roman" panose="02020603050405020304" pitchFamily="18" charset="0"/>
              <a:cs typeface="Times New Roman" panose="02020603050405020304" pitchFamily="18" charset="0"/>
            </a:endParaRPr>
          </a:p>
          <a:p>
            <a:endParaRPr lang="en-IN" sz="950" dirty="0">
              <a:solidFill>
                <a:srgbClr val="000000"/>
              </a:solidFill>
              <a:effectLst/>
              <a:latin typeface="Overpass-Light"/>
            </a:endParaRPr>
          </a:p>
          <a:p>
            <a:endParaRPr lang="en-IN" sz="950" dirty="0">
              <a:solidFill>
                <a:srgbClr val="000000"/>
              </a:solidFill>
              <a:latin typeface="Overpass-Light"/>
            </a:endParaRPr>
          </a:p>
          <a:p>
            <a:endParaRPr lang="en-IN" sz="950" dirty="0">
              <a:solidFill>
                <a:srgbClr val="000000"/>
              </a:solidFill>
              <a:effectLst/>
              <a:latin typeface="Overpass-Light"/>
            </a:endParaRPr>
          </a:p>
          <a:p>
            <a:endParaRPr lang="en-IN" sz="950" dirty="0">
              <a:solidFill>
                <a:srgbClr val="000000"/>
              </a:solidFill>
              <a:latin typeface="Overpass-Light"/>
            </a:endParaRPr>
          </a:p>
          <a:p>
            <a:endParaRPr lang="en-IN" sz="950" dirty="0">
              <a:solidFill>
                <a:srgbClr val="000000"/>
              </a:solidFill>
              <a:effectLst/>
              <a:latin typeface="Overpass-Light"/>
            </a:endParaRPr>
          </a:p>
          <a:p>
            <a:endParaRPr lang="en-IN" sz="950" dirty="0">
              <a:solidFill>
                <a:srgbClr val="000000"/>
              </a:solidFill>
              <a:latin typeface="Overpass-Light"/>
            </a:endParaRPr>
          </a:p>
          <a:p>
            <a:endParaRPr lang="en-IN" sz="950" dirty="0">
              <a:solidFill>
                <a:srgbClr val="000000"/>
              </a:solidFill>
              <a:effectLst/>
              <a:latin typeface="Overpass-Light"/>
            </a:endParaRPr>
          </a:p>
          <a:p>
            <a:endParaRPr lang="en-IN" sz="950" dirty="0">
              <a:solidFill>
                <a:srgbClr val="000000"/>
              </a:solidFill>
              <a:latin typeface="Overpass-Light"/>
            </a:endParaRPr>
          </a:p>
          <a:p>
            <a:endParaRPr lang="en-IN" sz="950" dirty="0">
              <a:solidFill>
                <a:srgbClr val="000000"/>
              </a:solidFill>
              <a:effectLst/>
              <a:latin typeface="Overpass-Light"/>
            </a:endParaRPr>
          </a:p>
          <a:p>
            <a:r>
              <a:rPr lang="en-IN" sz="950" dirty="0">
                <a:solidFill>
                  <a:srgbClr val="000000"/>
                </a:solidFill>
                <a:effectLst/>
                <a:latin typeface="Overpass-Light"/>
              </a:rPr>
              <a:t>.</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128603" y="14990"/>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CSE 493: LINUX System Administration</a:t>
            </a:r>
            <a:endParaRPr lang="en-IN" b="1" i="1" dirty="0">
              <a:solidFill>
                <a:srgbClr val="FF0000"/>
              </a:solidFill>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6729" y="855406"/>
            <a:ext cx="11277137" cy="557489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128603" y="14990"/>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CSE 493: LINUX System Administration</a:t>
            </a:r>
            <a:endParaRPr lang="en-IN" b="1" i="1" dirty="0">
              <a:solidFill>
                <a:srgbClr val="FF0000"/>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294968" y="1152485"/>
            <a:ext cx="11444748" cy="646331"/>
          </a:xfrm>
          <a:prstGeom prst="rect">
            <a:avLst/>
          </a:prstGeom>
          <a:noFill/>
        </p:spPr>
        <p:txBody>
          <a:bodyPr wrap="square">
            <a:spAutoFit/>
          </a:bodyPr>
          <a:lstStyle/>
          <a:p>
            <a:pPr>
              <a:buNone/>
            </a:pPr>
            <a:r>
              <a:rPr lang="en-IN" b="1" dirty="0">
                <a:effectLst/>
                <a:latin typeface="Times New Roman" panose="02020603050405020304" pitchFamily="18" charset="0"/>
                <a:cs typeface="Times New Roman" panose="02020603050405020304" pitchFamily="18" charset="0"/>
              </a:rPr>
              <a:t>OBJECTIVES</a:t>
            </a:r>
            <a:r>
              <a:rPr lang="en-IN" b="1" dirty="0">
                <a:solidFill>
                  <a:srgbClr val="E32233"/>
                </a:solidFill>
                <a:effectLst/>
                <a:latin typeface="Times New Roman" panose="02020603050405020304" pitchFamily="18" charset="0"/>
                <a:cs typeface="Times New Roman" panose="02020603050405020304" pitchFamily="18" charset="0"/>
              </a:rPr>
              <a:t> </a:t>
            </a:r>
            <a:endParaRPr lang="en-IN" b="1" dirty="0">
              <a:latin typeface="Times New Roman" panose="02020603050405020304" pitchFamily="18" charset="0"/>
              <a:cs typeface="Times New Roman" panose="02020603050405020304" pitchFamily="18" charset="0"/>
            </a:endParaRPr>
          </a:p>
          <a:p>
            <a:pPr>
              <a:buNone/>
            </a:pPr>
            <a:r>
              <a:rPr lang="en-IN" dirty="0">
                <a:solidFill>
                  <a:srgbClr val="000000"/>
                </a:solidFill>
                <a:effectLst/>
                <a:latin typeface="Times New Roman" panose="02020603050405020304" pitchFamily="18" charset="0"/>
                <a:cs typeface="Times New Roman" panose="02020603050405020304" pitchFamily="18" charset="0"/>
              </a:rPr>
              <a:t>After completing this section, you should be able to log in to a Linux system and run simple commands using the shell.</a:t>
            </a:r>
            <a:endParaRPr lang="en-IN"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2517058" y="629265"/>
            <a:ext cx="6626942" cy="523220"/>
          </a:xfrm>
          <a:prstGeom prst="rect">
            <a:avLst/>
          </a:prstGeom>
          <a:noFill/>
        </p:spPr>
        <p:txBody>
          <a:bodyPr wrap="square">
            <a:spAutoFit/>
          </a:bodyPr>
          <a:lstStyle/>
          <a:p>
            <a:r>
              <a:rPr lang="en-IN" sz="2800" b="1" dirty="0">
                <a:solidFill>
                  <a:srgbClr val="000000"/>
                </a:solidFill>
                <a:effectLst/>
                <a:latin typeface="Times New Roman" panose="02020603050405020304" pitchFamily="18" charset="0"/>
                <a:cs typeface="Times New Roman" panose="02020603050405020304" pitchFamily="18" charset="0"/>
              </a:rPr>
              <a:t>Accessing the command line</a:t>
            </a:r>
            <a:endParaRPr lang="en-IN" sz="2800" dirty="0">
              <a:latin typeface="Times New Roman" panose="02020603050405020304" pitchFamily="18" charset="0"/>
              <a:cs typeface="Times New Roman" panose="02020603050405020304" pitchFamily="18" charset="0"/>
            </a:endParaRPr>
          </a:p>
        </p:txBody>
      </p:sp>
      <p:sp>
        <p:nvSpPr>
          <p:cNvPr id="16" name="TextBox 15"/>
          <p:cNvSpPr txBox="1"/>
          <p:nvPr/>
        </p:nvSpPr>
        <p:spPr>
          <a:xfrm>
            <a:off x="186812" y="1809136"/>
            <a:ext cx="11218607" cy="1723549"/>
          </a:xfrm>
          <a:prstGeom prst="rect">
            <a:avLst/>
          </a:prstGeom>
          <a:noFill/>
        </p:spPr>
        <p:txBody>
          <a:bodyPr wrap="square">
            <a:spAutoFit/>
          </a:bodyPr>
          <a:lstStyle/>
          <a:p>
            <a:r>
              <a:rPr lang="en-IN" sz="1600" b="1" dirty="0">
                <a:effectLst/>
                <a:latin typeface="Times New Roman" panose="02020603050405020304" pitchFamily="18" charset="0"/>
                <a:cs typeface="Times New Roman" panose="02020603050405020304" pitchFamily="18" charset="0"/>
              </a:rPr>
              <a:t>INTRODUCTION TO THE BASH SHELL :</a:t>
            </a:r>
          </a:p>
          <a:p>
            <a:r>
              <a:rPr lang="en-IN" dirty="0">
                <a:latin typeface="Times New Roman" panose="02020603050405020304" pitchFamily="18" charset="0"/>
                <a:cs typeface="Times New Roman" panose="02020603050405020304" pitchFamily="18" charset="0"/>
              </a:rPr>
              <a:t>A command line is a text-based interface which can be used to input instructions to a computer system. The Linux command line is provided by a program called the shell</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When a shell is used interactively, it displays a string when it is waiting for a command from the user. This is called the shell prompt. When a regular user starts a shell, the default prompt ends with a </a:t>
            </a:r>
            <a:r>
              <a:rPr lang="en-IN" b="1"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character, as shown below : </a:t>
            </a:r>
          </a:p>
        </p:txBody>
      </p:sp>
      <p:pic>
        <p:nvPicPr>
          <p:cNvPr id="18" name="Picture 17"/>
          <p:cNvPicPr>
            <a:picLocks noChangeAspect="1"/>
          </p:cNvPicPr>
          <p:nvPr/>
        </p:nvPicPr>
        <p:blipFill>
          <a:blip r:embed="rId2"/>
          <a:stretch>
            <a:fillRect/>
          </a:stretch>
        </p:blipFill>
        <p:spPr>
          <a:xfrm>
            <a:off x="674988" y="3808146"/>
            <a:ext cx="4103489" cy="1078485"/>
          </a:xfrm>
          <a:prstGeom prst="rect">
            <a:avLst/>
          </a:prstGeom>
        </p:spPr>
      </p:pic>
      <p:pic>
        <p:nvPicPr>
          <p:cNvPr id="20" name="Picture 19"/>
          <p:cNvPicPr>
            <a:picLocks noChangeAspect="1"/>
          </p:cNvPicPr>
          <p:nvPr/>
        </p:nvPicPr>
        <p:blipFill>
          <a:blip r:embed="rId3"/>
          <a:stretch>
            <a:fillRect/>
          </a:stretch>
        </p:blipFill>
        <p:spPr>
          <a:xfrm>
            <a:off x="6558116" y="3640090"/>
            <a:ext cx="4562168" cy="1246541"/>
          </a:xfrm>
          <a:prstGeom prst="rect">
            <a:avLst/>
          </a:prstGeom>
        </p:spPr>
      </p:pic>
      <p:sp>
        <p:nvSpPr>
          <p:cNvPr id="21" name="TextBox 20"/>
          <p:cNvSpPr txBox="1"/>
          <p:nvPr/>
        </p:nvSpPr>
        <p:spPr>
          <a:xfrm>
            <a:off x="3392129" y="5336183"/>
            <a:ext cx="3796873"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Can you Spot the difference over here?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071140" y="44487"/>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CSE 493: LINUX System Administration</a:t>
            </a:r>
            <a:endParaRPr lang="en-IN" b="1" i="1" dirty="0">
              <a:solidFill>
                <a:srgbClr val="FF0000"/>
              </a:solidFill>
              <a:latin typeface="Times New Roman" panose="02020603050405020304" pitchFamily="18" charset="0"/>
              <a:cs typeface="Times New Roman" panose="02020603050405020304" pitchFamily="18" charset="0"/>
            </a:endParaRPr>
          </a:p>
        </p:txBody>
      </p:sp>
      <p:graphicFrame>
        <p:nvGraphicFramePr>
          <p:cNvPr id="2" name="Table 1"/>
          <p:cNvGraphicFramePr>
            <a:graphicFrameLocks noGrp="1"/>
          </p:cNvGraphicFramePr>
          <p:nvPr/>
        </p:nvGraphicFramePr>
        <p:xfrm>
          <a:off x="838200" y="825910"/>
          <a:ext cx="10515600" cy="4638423"/>
        </p:xfrm>
        <a:graphic>
          <a:graphicData uri="http://schemas.openxmlformats.org/drawingml/2006/table">
            <a:tbl>
              <a:tblPr/>
              <a:tblGrid>
                <a:gridCol w="52578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579803">
                <a:tc>
                  <a:txBody>
                    <a:bodyPr/>
                    <a:lstStyle/>
                    <a:p>
                      <a:pPr>
                        <a:buNone/>
                      </a:pPr>
                      <a:r>
                        <a:rPr lang="en-IN" b="1" dirty="0">
                          <a:latin typeface="Times New Roman" panose="02020603050405020304" pitchFamily="18" charset="0"/>
                          <a:cs typeface="Times New Roman" panose="02020603050405020304" pitchFamily="18" charset="0"/>
                        </a:rPr>
                        <a:t>                        Root User</a:t>
                      </a:r>
                      <a:endParaRPr lang="en-IN"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IN" b="1" dirty="0">
                          <a:latin typeface="Times New Roman" panose="02020603050405020304" pitchFamily="18" charset="0"/>
                          <a:cs typeface="Times New Roman" panose="02020603050405020304" pitchFamily="18" charset="0"/>
                        </a:rPr>
                        <a:t>            Regular User</a:t>
                      </a:r>
                      <a:endParaRPr lang="en-IN"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10000"/>
                  </a:ext>
                </a:extLst>
              </a:tr>
              <a:tr h="1014655">
                <a:tc>
                  <a:txBody>
                    <a:bodyPr/>
                    <a:lstStyle/>
                    <a:p>
                      <a:pPr>
                        <a:buNone/>
                      </a:pPr>
                      <a:r>
                        <a:rPr lang="en-IN" b="1">
                          <a:latin typeface="Times New Roman" panose="02020603050405020304" pitchFamily="18" charset="0"/>
                          <a:cs typeface="Times New Roman" panose="02020603050405020304" pitchFamily="18" charset="0"/>
                        </a:rPr>
                        <a:t>1. Full Access:</a:t>
                      </a:r>
                      <a:r>
                        <a:rPr lang="en-IN">
                          <a:latin typeface="Times New Roman" panose="02020603050405020304" pitchFamily="18" charset="0"/>
                          <a:cs typeface="Times New Roman" panose="02020603050405020304" pitchFamily="18" charset="0"/>
                        </a:rPr>
                        <a:t> Can access and modify every file and folder in the system.</a:t>
                      </a:r>
                    </a:p>
                  </a:txBody>
                  <a:tcPr anchor="ctr">
                    <a:lnL>
                      <a:noFill/>
                    </a:lnL>
                    <a:lnR>
                      <a:noFill/>
                    </a:lnR>
                    <a:lnT>
                      <a:noFill/>
                    </a:lnT>
                    <a:lnB>
                      <a:noFill/>
                    </a:lnB>
                    <a:noFill/>
                  </a:tcPr>
                </a:tc>
                <a:tc>
                  <a:txBody>
                    <a:bodyPr/>
                    <a:lstStyle/>
                    <a:p>
                      <a:pPr>
                        <a:buNone/>
                      </a:pPr>
                      <a:r>
                        <a:rPr lang="en-IN" b="1">
                          <a:latin typeface="Times New Roman" panose="02020603050405020304" pitchFamily="18" charset="0"/>
                          <a:cs typeface="Times New Roman" panose="02020603050405020304" pitchFamily="18" charset="0"/>
                        </a:rPr>
                        <a:t>Limited Access:</a:t>
                      </a:r>
                      <a:r>
                        <a:rPr lang="en-IN">
                          <a:latin typeface="Times New Roman" panose="02020603050405020304" pitchFamily="18" charset="0"/>
                          <a:cs typeface="Times New Roman" panose="02020603050405020304" pitchFamily="18" charset="0"/>
                        </a:rPr>
                        <a:t> Can access only their own files and permitted resources.</a:t>
                      </a:r>
                    </a:p>
                  </a:txBody>
                  <a:tcPr anchor="ctr">
                    <a:lnL>
                      <a:noFill/>
                    </a:lnL>
                    <a:lnR>
                      <a:noFill/>
                    </a:lnR>
                    <a:lnT>
                      <a:noFill/>
                    </a:lnT>
                    <a:lnB>
                      <a:noFill/>
                    </a:lnB>
                    <a:noFill/>
                  </a:tcPr>
                </a:tc>
                <a:extLst>
                  <a:ext uri="{0D108BD9-81ED-4DB2-BD59-A6C34878D82A}">
                    <a16:rowId xmlns:a16="http://schemas.microsoft.com/office/drawing/2014/main" val="10001"/>
                  </a:ext>
                </a:extLst>
              </a:tr>
              <a:tr h="1014655">
                <a:tc>
                  <a:txBody>
                    <a:bodyPr/>
                    <a:lstStyle/>
                    <a:p>
                      <a:pPr>
                        <a:buNone/>
                      </a:pPr>
                      <a:r>
                        <a:rPr lang="en-IN" b="1">
                          <a:latin typeface="Times New Roman" panose="02020603050405020304" pitchFamily="18" charset="0"/>
                          <a:cs typeface="Times New Roman" panose="02020603050405020304" pitchFamily="18" charset="0"/>
                        </a:rPr>
                        <a:t>2. Administrative Tasks:</a:t>
                      </a:r>
                      <a:r>
                        <a:rPr lang="en-IN">
                          <a:latin typeface="Times New Roman" panose="02020603050405020304" pitchFamily="18" charset="0"/>
                          <a:cs typeface="Times New Roman" panose="02020603050405020304" pitchFamily="18" charset="0"/>
                        </a:rPr>
                        <a:t> Can install software, create/delete users, and change system settings.</a:t>
                      </a:r>
                    </a:p>
                  </a:txBody>
                  <a:tcPr anchor="ctr">
                    <a:lnL>
                      <a:noFill/>
                    </a:lnL>
                    <a:lnR>
                      <a:noFill/>
                    </a:lnR>
                    <a:lnT>
                      <a:noFill/>
                    </a:lnT>
                    <a:lnB>
                      <a:noFill/>
                    </a:lnB>
                    <a:noFill/>
                  </a:tcPr>
                </a:tc>
                <a:tc>
                  <a:txBody>
                    <a:bodyPr/>
                    <a:lstStyle/>
                    <a:p>
                      <a:pPr>
                        <a:buNone/>
                      </a:pPr>
                      <a:r>
                        <a:rPr lang="en-IN" b="1">
                          <a:latin typeface="Times New Roman" panose="02020603050405020304" pitchFamily="18" charset="0"/>
                          <a:cs typeface="Times New Roman" panose="02020603050405020304" pitchFamily="18" charset="0"/>
                        </a:rPr>
                        <a:t>Cannot perform administrative tasks</a:t>
                      </a:r>
                      <a:r>
                        <a:rPr lang="en-IN">
                          <a:latin typeface="Times New Roman" panose="02020603050405020304" pitchFamily="18" charset="0"/>
                          <a:cs typeface="Times New Roman" panose="02020603050405020304" pitchFamily="18" charset="0"/>
                        </a:rPr>
                        <a:t> unless given permission using sudo.</a:t>
                      </a:r>
                    </a:p>
                  </a:txBody>
                  <a:tcPr anchor="ctr">
                    <a:lnL>
                      <a:noFill/>
                    </a:lnL>
                    <a:lnR>
                      <a:noFill/>
                    </a:lnR>
                    <a:lnT>
                      <a:noFill/>
                    </a:lnT>
                    <a:lnB>
                      <a:noFill/>
                    </a:lnB>
                    <a:noFill/>
                  </a:tcPr>
                </a:tc>
                <a:extLst>
                  <a:ext uri="{0D108BD9-81ED-4DB2-BD59-A6C34878D82A}">
                    <a16:rowId xmlns:a16="http://schemas.microsoft.com/office/drawing/2014/main" val="10002"/>
                  </a:ext>
                </a:extLst>
              </a:tr>
              <a:tr h="1014655">
                <a:tc>
                  <a:txBody>
                    <a:bodyPr/>
                    <a:lstStyle/>
                    <a:p>
                      <a:pPr>
                        <a:buNone/>
                      </a:pPr>
                      <a:r>
                        <a:rPr lang="en-IN" b="1">
                          <a:latin typeface="Times New Roman" panose="02020603050405020304" pitchFamily="18" charset="0"/>
                          <a:cs typeface="Times New Roman" panose="02020603050405020304" pitchFamily="18" charset="0"/>
                        </a:rPr>
                        <a:t>3. Prompt Symbol:</a:t>
                      </a:r>
                      <a:r>
                        <a:rPr lang="en-IN">
                          <a:latin typeface="Times New Roman" panose="02020603050405020304" pitchFamily="18" charset="0"/>
                          <a:cs typeface="Times New Roman" panose="02020603050405020304" pitchFamily="18" charset="0"/>
                        </a:rPr>
                        <a:t> The terminal prompt ends with </a:t>
                      </a:r>
                      <a:r>
                        <a:rPr lang="en-IN" b="1">
                          <a:latin typeface="Times New Roman" panose="02020603050405020304" pitchFamily="18" charset="0"/>
                          <a:cs typeface="Times New Roman" panose="02020603050405020304" pitchFamily="18" charset="0"/>
                        </a:rPr>
                        <a:t>#</a:t>
                      </a:r>
                      <a:r>
                        <a:rPr lang="en-IN">
                          <a:latin typeface="Times New Roman" panose="02020603050405020304" pitchFamily="18" charset="0"/>
                          <a:cs typeface="Times New Roman" panose="02020603050405020304" pitchFamily="18" charset="0"/>
                        </a:rPr>
                        <a:t>. Example: root@ubuntu:~#</a:t>
                      </a:r>
                    </a:p>
                  </a:txBody>
                  <a:tcPr anchor="ctr">
                    <a:lnL>
                      <a:noFill/>
                    </a:lnL>
                    <a:lnR>
                      <a:noFill/>
                    </a:lnR>
                    <a:lnT>
                      <a:noFill/>
                    </a:lnT>
                    <a:lnB>
                      <a:noFill/>
                    </a:lnB>
                    <a:noFill/>
                  </a:tcPr>
                </a:tc>
                <a:tc>
                  <a:txBody>
                    <a:bodyPr/>
                    <a:lstStyle/>
                    <a:p>
                      <a:pPr>
                        <a:buNone/>
                      </a:pPr>
                      <a:r>
                        <a:rPr lang="en-IN" b="1" dirty="0">
                          <a:latin typeface="Times New Roman" panose="02020603050405020304" pitchFamily="18" charset="0"/>
                          <a:cs typeface="Times New Roman" panose="02020603050405020304" pitchFamily="18" charset="0"/>
                        </a:rPr>
                        <a:t>Prompt Symbol:</a:t>
                      </a:r>
                      <a:r>
                        <a:rPr lang="en-IN" dirty="0">
                          <a:latin typeface="Times New Roman" panose="02020603050405020304" pitchFamily="18" charset="0"/>
                          <a:cs typeface="Times New Roman" panose="02020603050405020304" pitchFamily="18" charset="0"/>
                        </a:rPr>
                        <a:t> The terminal prompt ends with </a:t>
                      </a:r>
                      <a:r>
                        <a:rPr lang="en-IN" b="1"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Example: </a:t>
                      </a:r>
                      <a:r>
                        <a:rPr lang="en-IN" dirty="0" err="1">
                          <a:latin typeface="Times New Roman" panose="02020603050405020304" pitchFamily="18" charset="0"/>
                          <a:cs typeface="Times New Roman" panose="02020603050405020304" pitchFamily="18" charset="0"/>
                        </a:rPr>
                        <a:t>User@ubuntu</a:t>
                      </a:r>
                      <a:r>
                        <a:rPr lang="en-IN" dirty="0">
                          <a:latin typeface="Times New Roman" panose="02020603050405020304" pitchFamily="18" charset="0"/>
                          <a:cs typeface="Times New Roman" panose="02020603050405020304" pitchFamily="18" charset="0"/>
                        </a:rPr>
                        <a:t>:~$</a:t>
                      </a:r>
                    </a:p>
                  </a:txBody>
                  <a:tcPr anchor="ctr">
                    <a:lnL>
                      <a:noFill/>
                    </a:lnL>
                    <a:lnR>
                      <a:noFill/>
                    </a:lnR>
                    <a:lnT>
                      <a:noFill/>
                    </a:lnT>
                    <a:lnB>
                      <a:noFill/>
                    </a:lnB>
                    <a:noFill/>
                  </a:tcPr>
                </a:tc>
                <a:extLst>
                  <a:ext uri="{0D108BD9-81ED-4DB2-BD59-A6C34878D82A}">
                    <a16:rowId xmlns:a16="http://schemas.microsoft.com/office/drawing/2014/main" val="10003"/>
                  </a:ext>
                </a:extLst>
              </a:tr>
              <a:tr h="1014655">
                <a:tc>
                  <a:txBody>
                    <a:bodyPr/>
                    <a:lstStyle/>
                    <a:p>
                      <a:pPr>
                        <a:buNone/>
                      </a:pPr>
                      <a:r>
                        <a:rPr lang="en-IN" b="1">
                          <a:latin typeface="Times New Roman" panose="02020603050405020304" pitchFamily="18" charset="0"/>
                          <a:cs typeface="Times New Roman" panose="02020603050405020304" pitchFamily="18" charset="0"/>
                        </a:rPr>
                        <a:t>4. Risk Level:</a:t>
                      </a:r>
                      <a:r>
                        <a:rPr lang="en-IN">
                          <a:latin typeface="Times New Roman" panose="02020603050405020304" pitchFamily="18" charset="0"/>
                          <a:cs typeface="Times New Roman" panose="02020603050405020304" pitchFamily="18" charset="0"/>
                        </a:rPr>
                        <a:t> A wrong command can damage the entire operating system.</a:t>
                      </a:r>
                    </a:p>
                  </a:txBody>
                  <a:tcPr anchor="ctr">
                    <a:lnL>
                      <a:noFill/>
                    </a:lnL>
                    <a:lnR>
                      <a:noFill/>
                    </a:lnR>
                    <a:lnT>
                      <a:noFill/>
                    </a:lnT>
                    <a:lnB>
                      <a:noFill/>
                    </a:lnB>
                    <a:noFill/>
                  </a:tcPr>
                </a:tc>
                <a:tc>
                  <a:txBody>
                    <a:bodyPr/>
                    <a:lstStyle/>
                    <a:p>
                      <a:pPr>
                        <a:buNone/>
                      </a:pPr>
                      <a:r>
                        <a:rPr lang="en-IN" b="1" dirty="0">
                          <a:latin typeface="Times New Roman" panose="02020603050405020304" pitchFamily="18" charset="0"/>
                          <a:cs typeface="Times New Roman" panose="02020603050405020304" pitchFamily="18" charset="0"/>
                        </a:rPr>
                        <a:t>Safer:</a:t>
                      </a:r>
                      <a:r>
                        <a:rPr lang="en-IN" dirty="0">
                          <a:latin typeface="Times New Roman" panose="02020603050405020304" pitchFamily="18" charset="0"/>
                          <a:cs typeface="Times New Roman" panose="02020603050405020304" pitchFamily="18" charset="0"/>
                        </a:rPr>
                        <a:t> Mistakes usually affect only the user's own files and account.</a:t>
                      </a:r>
                    </a:p>
                  </a:txBody>
                  <a:tcPr anchor="ctr">
                    <a:lnL>
                      <a:noFill/>
                    </a:lnL>
                    <a:lnR>
                      <a:noFill/>
                    </a:lnR>
                    <a:lnT>
                      <a:noFill/>
                    </a:lnT>
                    <a:lnB>
                      <a:noFill/>
                    </a:lnB>
                    <a:noFill/>
                  </a:tcPr>
                </a:tc>
                <a:extLst>
                  <a:ext uri="{0D108BD9-81ED-4DB2-BD59-A6C34878D82A}">
                    <a16:rowId xmlns:a16="http://schemas.microsoft.com/office/drawing/2014/main" val="10004"/>
                  </a:ext>
                </a:extLst>
              </a:tr>
            </a:tbl>
          </a:graphicData>
        </a:graphic>
      </p:graphicFrame>
      <p:cxnSp>
        <p:nvCxnSpPr>
          <p:cNvPr id="7" name="Straight Connector 6"/>
          <p:cNvCxnSpPr/>
          <p:nvPr/>
        </p:nvCxnSpPr>
        <p:spPr>
          <a:xfrm>
            <a:off x="973394" y="1435510"/>
            <a:ext cx="10392696"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97370" y="787445"/>
            <a:ext cx="11797259" cy="579967"/>
          </a:xfrm>
          <a:prstGeom prst="rect">
            <a:avLst/>
          </a:prstGeom>
          <a:noFill/>
        </p:spPr>
        <p:txBody>
          <a:bodyPr wrap="square" rtlCol="0">
            <a:spAutoFit/>
          </a:bodyPr>
          <a:lstStyle/>
          <a:p>
            <a:pPr algn="ctr">
              <a:lnSpc>
                <a:spcPct val="150000"/>
              </a:lnSpc>
            </a:pPr>
            <a:r>
              <a:rPr lang="en-IN" sz="2400" b="1" dirty="0">
                <a:latin typeface="Times New Roman" panose="02020603050405020304" pitchFamily="18" charset="0"/>
                <a:cs typeface="Times New Roman" panose="02020603050405020304" pitchFamily="18" charset="0"/>
              </a:rPr>
              <a:t>SHELL BASICS</a:t>
            </a:r>
            <a:endParaRPr lang="en-IN" sz="2400" b="1" dirty="0">
              <a:solidFill>
                <a:srgbClr val="3803BD"/>
              </a:solidFill>
              <a:latin typeface="Times New Roman" panose="02020603050405020304" pitchFamily="18" charset="0"/>
              <a:cs typeface="Times New Roman" panose="02020603050405020304" pitchFamily="18" charset="0"/>
            </a:endParaRPr>
          </a:p>
        </p:txBody>
      </p:sp>
      <p:sp>
        <p:nvSpPr>
          <p:cNvPr id="5" name="TextBox 4"/>
          <p:cNvSpPr txBox="1"/>
          <p:nvPr/>
        </p:nvSpPr>
        <p:spPr>
          <a:xfrm>
            <a:off x="2128603" y="14990"/>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CSE 493: LINUX System Administration</a:t>
            </a:r>
            <a:endParaRPr lang="en-IN" b="1" i="1" dirty="0">
              <a:solidFill>
                <a:srgbClr val="FF0000"/>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197370" y="1674673"/>
            <a:ext cx="10755765" cy="1754326"/>
          </a:xfrm>
          <a:prstGeom prst="rect">
            <a:avLst/>
          </a:prstGeom>
          <a:noFill/>
        </p:spPr>
        <p:txBody>
          <a:bodyPr wrap="square">
            <a:spAutoFit/>
          </a:bodyPr>
          <a:lstStyle/>
          <a:p>
            <a:pPr>
              <a:buNone/>
            </a:pPr>
            <a:r>
              <a:rPr lang="en-IN" sz="2000" b="1" dirty="0">
                <a:solidFill>
                  <a:srgbClr val="000000"/>
                </a:solidFill>
                <a:effectLst/>
                <a:latin typeface="Times New Roman" panose="02020603050405020304" pitchFamily="18" charset="0"/>
                <a:cs typeface="Times New Roman" panose="02020603050405020304" pitchFamily="18" charset="0"/>
              </a:rPr>
              <a:t>Commands entered at the shell prompt have three basic parts: </a:t>
            </a:r>
            <a:endParaRPr lang="en-IN" sz="2000" b="1" dirty="0">
              <a:latin typeface="Times New Roman" panose="02020603050405020304" pitchFamily="18" charset="0"/>
              <a:cs typeface="Times New Roman" panose="02020603050405020304" pitchFamily="18" charset="0"/>
            </a:endParaRPr>
          </a:p>
          <a:p>
            <a:pPr>
              <a:buNone/>
            </a:pPr>
            <a:r>
              <a:rPr lang="en-IN" sz="2000" dirty="0">
                <a:solidFill>
                  <a:srgbClr val="000000"/>
                </a:solidFill>
                <a:effectLst/>
                <a:latin typeface="Times New Roman" panose="02020603050405020304" pitchFamily="18" charset="0"/>
                <a:cs typeface="Times New Roman" panose="02020603050405020304" pitchFamily="18" charset="0"/>
              </a:rPr>
              <a:t>• Command to run </a:t>
            </a:r>
            <a:endParaRPr lang="en-IN" sz="2000" dirty="0">
              <a:latin typeface="Times New Roman" panose="02020603050405020304" pitchFamily="18" charset="0"/>
              <a:cs typeface="Times New Roman" panose="02020603050405020304" pitchFamily="18" charset="0"/>
            </a:endParaRPr>
          </a:p>
          <a:p>
            <a:pPr>
              <a:buNone/>
            </a:pPr>
            <a:r>
              <a:rPr lang="en-IN" sz="2000" dirty="0">
                <a:solidFill>
                  <a:srgbClr val="000000"/>
                </a:solidFill>
                <a:effectLst/>
                <a:latin typeface="Times New Roman" panose="02020603050405020304" pitchFamily="18" charset="0"/>
                <a:cs typeface="Times New Roman" panose="02020603050405020304" pitchFamily="18" charset="0"/>
              </a:rPr>
              <a:t>• Options to adjust the </a:t>
            </a:r>
            <a:r>
              <a:rPr lang="en-IN" sz="2000" dirty="0" err="1">
                <a:solidFill>
                  <a:srgbClr val="000000"/>
                </a:solidFill>
                <a:effectLst/>
                <a:latin typeface="Times New Roman" panose="02020603050405020304" pitchFamily="18" charset="0"/>
                <a:cs typeface="Times New Roman" panose="02020603050405020304" pitchFamily="18" charset="0"/>
              </a:rPr>
              <a:t>behavior</a:t>
            </a:r>
            <a:r>
              <a:rPr lang="en-IN" sz="2000" dirty="0">
                <a:solidFill>
                  <a:srgbClr val="000000"/>
                </a:solidFill>
                <a:effectLst/>
                <a:latin typeface="Times New Roman" panose="02020603050405020304" pitchFamily="18" charset="0"/>
                <a:cs typeface="Times New Roman" panose="02020603050405020304" pitchFamily="18" charset="0"/>
              </a:rPr>
              <a:t> of the command.</a:t>
            </a:r>
          </a:p>
          <a:p>
            <a:pPr>
              <a:buNone/>
            </a:pPr>
            <a:r>
              <a:rPr lang="en-IN" sz="2000" dirty="0">
                <a:latin typeface="Times New Roman" panose="02020603050405020304" pitchFamily="18" charset="0"/>
                <a:cs typeface="Times New Roman" panose="02020603050405020304" pitchFamily="18" charset="0"/>
              </a:rPr>
              <a:t>• Arguments, which are typically targets of the command</a:t>
            </a:r>
            <a:endParaRPr lang="en-IN" sz="2000" dirty="0">
              <a:solidFill>
                <a:srgbClr val="000000"/>
              </a:solidFill>
              <a:effectLst/>
              <a:latin typeface="Times New Roman" panose="02020603050405020304" pitchFamily="18" charset="0"/>
              <a:cs typeface="Times New Roman" panose="02020603050405020304" pitchFamily="18" charset="0"/>
            </a:endParaRPr>
          </a:p>
          <a:p>
            <a:pPr>
              <a:buNone/>
            </a:pPr>
            <a:endParaRPr lang="en-IN" sz="2800" dirty="0">
              <a:latin typeface="Times New Roman" panose="02020603050405020304" pitchFamily="18" charset="0"/>
              <a:cs typeface="Times New Roman" panose="02020603050405020304" pitchFamily="18" charset="0"/>
            </a:endParaRPr>
          </a:p>
        </p:txBody>
      </p:sp>
      <p:sp>
        <p:nvSpPr>
          <p:cNvPr id="8" name="TextBox 7"/>
          <p:cNvSpPr txBox="1"/>
          <p:nvPr/>
        </p:nvSpPr>
        <p:spPr>
          <a:xfrm>
            <a:off x="904569" y="3307279"/>
            <a:ext cx="8239432" cy="523220"/>
          </a:xfrm>
          <a:prstGeom prst="rect">
            <a:avLst/>
          </a:prstGeom>
          <a:noFill/>
        </p:spPr>
        <p:txBody>
          <a:bodyPr wrap="square">
            <a:spAutoFit/>
          </a:bodyPr>
          <a:lstStyle/>
          <a:p>
            <a:r>
              <a:rPr lang="en-IN" sz="2800" b="1" dirty="0">
                <a:solidFill>
                  <a:srgbClr val="000000"/>
                </a:solidFill>
                <a:effectLst/>
                <a:latin typeface="Times New Roman" panose="02020603050405020304" pitchFamily="18" charset="0"/>
                <a:cs typeface="Times New Roman" panose="02020603050405020304" pitchFamily="18" charset="0"/>
              </a:rPr>
              <a:t>  </a:t>
            </a:r>
            <a:r>
              <a:rPr lang="en-IN" sz="2800" b="1" dirty="0" err="1">
                <a:solidFill>
                  <a:srgbClr val="000000"/>
                </a:solidFill>
                <a:effectLst/>
                <a:latin typeface="Times New Roman" panose="02020603050405020304" pitchFamily="18" charset="0"/>
                <a:cs typeface="Times New Roman" panose="02020603050405020304" pitchFamily="18" charset="0"/>
              </a:rPr>
              <a:t>E.g</a:t>
            </a:r>
            <a:r>
              <a:rPr lang="en-IN" sz="2800" b="1" dirty="0">
                <a:solidFill>
                  <a:srgbClr val="000000"/>
                </a:solidFill>
                <a:effectLst/>
                <a:latin typeface="Times New Roman" panose="02020603050405020304" pitchFamily="18" charset="0"/>
                <a:cs typeface="Times New Roman" panose="02020603050405020304" pitchFamily="18" charset="0"/>
              </a:rPr>
              <a:t>               </a:t>
            </a:r>
            <a:r>
              <a:rPr lang="en-IN" sz="2800" b="1" dirty="0" err="1">
                <a:solidFill>
                  <a:srgbClr val="000000"/>
                </a:solidFill>
                <a:effectLst/>
                <a:latin typeface="Times New Roman" panose="02020603050405020304" pitchFamily="18" charset="0"/>
                <a:cs typeface="Times New Roman" panose="02020603050405020304" pitchFamily="18" charset="0"/>
              </a:rPr>
              <a:t>Usermod</a:t>
            </a:r>
            <a:r>
              <a:rPr lang="en-IN" sz="2800" b="1" dirty="0">
                <a:solidFill>
                  <a:srgbClr val="000000"/>
                </a:solidFill>
                <a:effectLst/>
                <a:latin typeface="Times New Roman" panose="02020603050405020304" pitchFamily="18" charset="0"/>
                <a:cs typeface="Times New Roman" panose="02020603050405020304" pitchFamily="18" charset="0"/>
              </a:rPr>
              <a:t>  -L  user01</a:t>
            </a:r>
            <a:endParaRPr lang="en-IN" sz="2800" dirty="0">
              <a:latin typeface="Times New Roman" panose="02020603050405020304" pitchFamily="18" charset="0"/>
              <a:cs typeface="Times New Roman" panose="02020603050405020304" pitchFamily="18" charset="0"/>
            </a:endParaRPr>
          </a:p>
        </p:txBody>
      </p:sp>
      <p:cxnSp>
        <p:nvCxnSpPr>
          <p:cNvPr id="10" name="Straight Arrow Connector 9"/>
          <p:cNvCxnSpPr/>
          <p:nvPr/>
        </p:nvCxnSpPr>
        <p:spPr>
          <a:xfrm>
            <a:off x="3647768" y="3878826"/>
            <a:ext cx="0" cy="7374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p:nvPr/>
        </p:nvCxnSpPr>
        <p:spPr>
          <a:xfrm>
            <a:off x="4803057" y="3878827"/>
            <a:ext cx="0" cy="7374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a:off x="5889522" y="3830499"/>
            <a:ext cx="0" cy="7374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018031" y="4616245"/>
            <a:ext cx="1095172"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command</a:t>
            </a:r>
          </a:p>
        </p:txBody>
      </p:sp>
      <p:sp>
        <p:nvSpPr>
          <p:cNvPr id="17" name="TextBox 16"/>
          <p:cNvSpPr txBox="1"/>
          <p:nvPr/>
        </p:nvSpPr>
        <p:spPr>
          <a:xfrm>
            <a:off x="4277506" y="4616245"/>
            <a:ext cx="6096000"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 Options          Arguments</a:t>
            </a:r>
            <a:endParaRPr lang="en-IN" sz="18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45;p6"/>
          <p:cNvSpPr txBox="1"/>
          <p:nvPr/>
        </p:nvSpPr>
        <p:spPr>
          <a:xfrm>
            <a:off x="82867" y="584835"/>
            <a:ext cx="11652640" cy="677078"/>
          </a:xfrm>
          <a:prstGeom prst="rect">
            <a:avLst/>
          </a:prstGeom>
          <a:noFill/>
          <a:ln>
            <a:noFill/>
          </a:ln>
        </p:spPr>
        <p:txBody>
          <a:bodyPr spcFirstLastPara="1" wrap="square" lIns="91425" tIns="91425" rIns="91425" bIns="91425">
            <a:spAutoFit/>
          </a:bodyPr>
          <a:lstStyle/>
          <a:p>
            <a:pPr marL="114300" algn="ctr">
              <a:lnSpc>
                <a:spcPct val="150000"/>
              </a:lnSpc>
              <a:spcBef>
                <a:spcPts val="300"/>
              </a:spcBef>
              <a:spcAft>
                <a:spcPts val="300"/>
              </a:spcAft>
              <a:buClr>
                <a:srgbClr val="000000"/>
              </a:buClr>
              <a:defRPr/>
            </a:pPr>
            <a:r>
              <a:rPr lang="en-IN" b="1" dirty="0">
                <a:latin typeface="Times New Roman" panose="02020603050405020304" pitchFamily="18" charset="0"/>
                <a:cs typeface="Times New Roman" panose="02020603050405020304" pitchFamily="18" charset="0"/>
              </a:rPr>
              <a:t>LOGGING IN TO A LOCAL COMPUTER</a:t>
            </a:r>
            <a:endParaRPr lang="en-CA" sz="1400" b="1" dirty="0">
              <a:latin typeface="Times New Roman" panose="02020603050405020304" pitchFamily="18" charset="0"/>
              <a:cs typeface="Times New Roman" panose="02020603050405020304" pitchFamily="18" charset="0"/>
            </a:endParaRPr>
          </a:p>
        </p:txBody>
      </p:sp>
      <p:sp>
        <p:nvSpPr>
          <p:cNvPr id="2" name="TextBox 1"/>
          <p:cNvSpPr txBox="1"/>
          <p:nvPr/>
        </p:nvSpPr>
        <p:spPr>
          <a:xfrm>
            <a:off x="2128603" y="14990"/>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CSE 493: LINUX System Administration</a:t>
            </a:r>
            <a:endParaRPr lang="en-IN" b="1" i="1" dirty="0">
              <a:solidFill>
                <a:srgbClr val="FF0000"/>
              </a:solidFill>
              <a:latin typeface="Times New Roman" panose="02020603050405020304" pitchFamily="18" charset="0"/>
              <a:cs typeface="Times New Roman" panose="02020603050405020304" pitchFamily="18" charset="0"/>
            </a:endParaRPr>
          </a:p>
        </p:txBody>
      </p:sp>
      <p:sp>
        <p:nvSpPr>
          <p:cNvPr id="5" name="TextBox 4"/>
          <p:cNvSpPr txBox="1"/>
          <p:nvPr/>
        </p:nvSpPr>
        <p:spPr>
          <a:xfrm>
            <a:off x="953729" y="1261913"/>
            <a:ext cx="10894142" cy="707886"/>
          </a:xfrm>
          <a:prstGeom prst="rect">
            <a:avLst/>
          </a:prstGeom>
          <a:noFill/>
        </p:spPr>
        <p:txBody>
          <a:bodyPr wrap="square">
            <a:spAutoFit/>
          </a:bodyPr>
          <a:lstStyle/>
          <a:p>
            <a:pPr>
              <a:buNone/>
            </a:pPr>
            <a:r>
              <a:rPr lang="en-IN" sz="2000" dirty="0">
                <a:solidFill>
                  <a:srgbClr val="000000"/>
                </a:solidFill>
                <a:effectLst/>
                <a:latin typeface="Times New Roman" panose="02020603050405020304" pitchFamily="18" charset="0"/>
                <a:cs typeface="Times New Roman" panose="02020603050405020304" pitchFamily="18" charset="0"/>
              </a:rPr>
              <a:t>To run the shell, you need to log in to the computer on a terminal. A terminal is a text-based interface used to enter commands into and print output from a computer system. There are several ways to do this.</a:t>
            </a:r>
            <a:endParaRPr lang="en-IN" sz="2000" dirty="0">
              <a:latin typeface="Times New Roman" panose="02020603050405020304" pitchFamily="18" charset="0"/>
              <a:cs typeface="Times New Roman" panose="02020603050405020304" pitchFamily="18" charset="0"/>
            </a:endParaRPr>
          </a:p>
        </p:txBody>
      </p:sp>
      <p:sp>
        <p:nvSpPr>
          <p:cNvPr id="7" name="TextBox 6"/>
          <p:cNvSpPr txBox="1"/>
          <p:nvPr/>
        </p:nvSpPr>
        <p:spPr>
          <a:xfrm>
            <a:off x="1199536" y="2323711"/>
            <a:ext cx="9232490" cy="646331"/>
          </a:xfrm>
          <a:prstGeom prst="rect">
            <a:avLst/>
          </a:prstGeom>
          <a:noFill/>
        </p:spPr>
        <p:txBody>
          <a:bodyPr wrap="square">
            <a:spAutoFit/>
          </a:bodyPr>
          <a:lstStyle/>
          <a:p>
            <a:pPr rtl="0"/>
            <a:r>
              <a:rPr lang="en-IN" b="1" dirty="0">
                <a:latin typeface="Times New Roman" panose="02020603050405020304" pitchFamily="18" charset="0"/>
                <a:cs typeface="Times New Roman" panose="02020603050405020304" pitchFamily="18" charset="0"/>
              </a:rPr>
              <a:t>      Physical Console</a:t>
            </a:r>
            <a:endParaRPr lang="en-IN" dirty="0">
              <a:latin typeface="Times New Roman" panose="02020603050405020304" pitchFamily="18" charset="0"/>
              <a:cs typeface="Times New Roman" panose="02020603050405020304" pitchFamily="18" charset="0"/>
            </a:endParaRPr>
          </a:p>
          <a:p>
            <a:pPr rtl="0"/>
            <a:r>
              <a:rPr lang="en-IN" dirty="0">
                <a:latin typeface="Times New Roman" panose="02020603050405020304" pitchFamily="18" charset="0"/>
                <a:cs typeface="Times New Roman" panose="02020603050405020304" pitchFamily="18" charset="0"/>
              </a:rPr>
              <a:t>      Directly connected keyboard + monitor plugged into the machine</a:t>
            </a:r>
          </a:p>
        </p:txBody>
      </p:sp>
      <p:sp>
        <p:nvSpPr>
          <p:cNvPr id="9" name="TextBox 8"/>
          <p:cNvSpPr txBox="1"/>
          <p:nvPr/>
        </p:nvSpPr>
        <p:spPr>
          <a:xfrm>
            <a:off x="1514167" y="3244334"/>
            <a:ext cx="6096000" cy="923330"/>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Virtual Consoles (tty1–tty6</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One physical console → 6 independent login sessions Switch between them: </a:t>
            </a:r>
            <a:r>
              <a:rPr lang="en-IN" b="1" dirty="0">
                <a:latin typeface="Times New Roman" panose="02020603050405020304" pitchFamily="18" charset="0"/>
                <a:cs typeface="Times New Roman" panose="02020603050405020304" pitchFamily="18" charset="0"/>
              </a:rPr>
              <a:t>Ctrl+Alt+F1</a:t>
            </a:r>
            <a:r>
              <a:rPr lang="en-IN" dirty="0">
                <a:latin typeface="Times New Roman" panose="02020603050405020304" pitchFamily="18" charset="0"/>
                <a:cs typeface="Times New Roman" panose="02020603050405020304" pitchFamily="18" charset="0"/>
              </a:rPr>
              <a:t> to </a:t>
            </a:r>
            <a:r>
              <a:rPr lang="en-IN" b="1" dirty="0">
                <a:latin typeface="Times New Roman" panose="02020603050405020304" pitchFamily="18" charset="0"/>
                <a:cs typeface="Times New Roman" panose="02020603050405020304" pitchFamily="18" charset="0"/>
              </a:rPr>
              <a:t>F6</a:t>
            </a:r>
            <a:endParaRPr lang="en-IN" dirty="0">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nvGraphicFramePr>
        <p:xfrm>
          <a:off x="1568246" y="4793340"/>
          <a:ext cx="8495070" cy="1097280"/>
        </p:xfrm>
        <a:graphic>
          <a:graphicData uri="http://schemas.openxmlformats.org/drawingml/2006/table">
            <a:tbl>
              <a:tblPr>
                <a:tableStyleId>{D113A9D2-9D6B-4929-AA2D-F23B5EE8CBE7}</a:tableStyleId>
              </a:tblPr>
              <a:tblGrid>
                <a:gridCol w="2831690">
                  <a:extLst>
                    <a:ext uri="{9D8B030D-6E8A-4147-A177-3AD203B41FA5}">
                      <a16:colId xmlns:a16="http://schemas.microsoft.com/office/drawing/2014/main" val="20000"/>
                    </a:ext>
                  </a:extLst>
                </a:gridCol>
                <a:gridCol w="2831690">
                  <a:extLst>
                    <a:ext uri="{9D8B030D-6E8A-4147-A177-3AD203B41FA5}">
                      <a16:colId xmlns:a16="http://schemas.microsoft.com/office/drawing/2014/main" val="20001"/>
                    </a:ext>
                  </a:extLst>
                </a:gridCol>
                <a:gridCol w="2831690">
                  <a:extLst>
                    <a:ext uri="{9D8B030D-6E8A-4147-A177-3AD203B41FA5}">
                      <a16:colId xmlns:a16="http://schemas.microsoft.com/office/drawing/2014/main" val="20002"/>
                    </a:ext>
                  </a:extLst>
                </a:gridCol>
              </a:tblGrid>
              <a:tr h="0">
                <a:tc>
                  <a:txBody>
                    <a:bodyPr/>
                    <a:lstStyle/>
                    <a:p>
                      <a:pPr>
                        <a:buNone/>
                      </a:pPr>
                      <a:r>
                        <a:rPr lang="en-IN" b="1" dirty="0"/>
                        <a:t>Console</a:t>
                      </a:r>
                      <a:endParaRPr lang="en-IN" b="1" dirty="0">
                        <a:latin typeface="Times New Roman" panose="02020603050405020304" pitchFamily="18" charset="0"/>
                        <a:cs typeface="Times New Roman" panose="02020603050405020304" pitchFamily="18" charset="0"/>
                      </a:endParaRPr>
                    </a:p>
                  </a:txBody>
                  <a:tcPr anchor="ctr"/>
                </a:tc>
                <a:tc>
                  <a:txBody>
                    <a:bodyPr/>
                    <a:lstStyle/>
                    <a:p>
                      <a:pPr>
                        <a:buNone/>
                      </a:pPr>
                      <a:r>
                        <a:rPr lang="en-IN" b="1" dirty="0"/>
                        <a:t>Type</a:t>
                      </a:r>
                      <a:endParaRPr lang="en-IN" b="1" dirty="0">
                        <a:latin typeface="Times New Roman" panose="02020603050405020304" pitchFamily="18" charset="0"/>
                        <a:cs typeface="Times New Roman" panose="02020603050405020304" pitchFamily="18" charset="0"/>
                      </a:endParaRPr>
                    </a:p>
                  </a:txBody>
                  <a:tcPr anchor="ctr"/>
                </a:tc>
                <a:tc>
                  <a:txBody>
                    <a:bodyPr/>
                    <a:lstStyle/>
                    <a:p>
                      <a:pPr>
                        <a:buNone/>
                      </a:pPr>
                      <a:r>
                        <a:rPr lang="en-IN" b="1" dirty="0"/>
                        <a:t>What You Get</a:t>
                      </a:r>
                      <a:endParaRPr lang="en-IN"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0">
                <a:tc>
                  <a:txBody>
                    <a:bodyPr/>
                    <a:lstStyle/>
                    <a:p>
                      <a:pPr>
                        <a:buNone/>
                      </a:pPr>
                      <a:r>
                        <a:rPr lang="en-IN" dirty="0"/>
                        <a:t>tty1</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a:t>Graphical login screen</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dirty="0"/>
                        <a:t>Desktop environment</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1"/>
                  </a:ext>
                </a:extLst>
              </a:tr>
              <a:tr h="0">
                <a:tc>
                  <a:txBody>
                    <a:bodyPr/>
                    <a:lstStyle/>
                    <a:p>
                      <a:pPr>
                        <a:buNone/>
                      </a:pPr>
                      <a:r>
                        <a:rPr lang="en-IN" dirty="0"/>
                        <a:t>tty2–tty6</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dirty="0"/>
                        <a:t>Text login prompt</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dirty="0"/>
                        <a:t>Shell prompt directly</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2"/>
                  </a:ext>
                </a:extLst>
              </a:tr>
            </a:tbl>
          </a:graphicData>
        </a:graphic>
      </p:graphicFrame>
      <p:sp>
        <p:nvSpPr>
          <p:cNvPr id="12" name="TextBox 11"/>
          <p:cNvSpPr txBox="1"/>
          <p:nvPr/>
        </p:nvSpPr>
        <p:spPr>
          <a:xfrm>
            <a:off x="3706761" y="4295836"/>
            <a:ext cx="6096000" cy="369332"/>
          </a:xfrm>
          <a:prstGeom prst="rect">
            <a:avLst/>
          </a:prstGeom>
          <a:noFill/>
        </p:spPr>
        <p:txBody>
          <a:bodyPr wrap="square">
            <a:spAutoFit/>
          </a:bodyPr>
          <a:lstStyle/>
          <a:p>
            <a:pPr rtl="0">
              <a:buNone/>
            </a:pPr>
            <a:r>
              <a:rPr lang="en-IN" b="1" dirty="0">
                <a:latin typeface="Times New Roman" panose="02020603050405020304" pitchFamily="18" charset="0"/>
                <a:cs typeface="Times New Roman" panose="02020603050405020304" pitchFamily="18" charset="0"/>
              </a:rPr>
              <a:t>         Two Types of Logins</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128603" y="14990"/>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CSE 493: LINUX System Administration</a:t>
            </a:r>
            <a:endParaRPr lang="en-IN" b="1" i="1" dirty="0">
              <a:solidFill>
                <a:srgbClr val="FF0000"/>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3934837" y="681213"/>
            <a:ext cx="6096000" cy="369332"/>
          </a:xfrm>
          <a:prstGeom prst="rect">
            <a:avLst/>
          </a:prstGeom>
          <a:noFill/>
        </p:spPr>
        <p:txBody>
          <a:bodyPr wrap="square">
            <a:spAutoFit/>
          </a:bodyPr>
          <a:lstStyle/>
          <a:p>
            <a:r>
              <a:rPr lang="en-IN" b="1" dirty="0">
                <a:effectLst/>
                <a:latin typeface="Times New Roman" panose="02020603050405020304" pitchFamily="18" charset="0"/>
                <a:cs typeface="Times New Roman" panose="02020603050405020304" pitchFamily="18" charset="0"/>
              </a:rPr>
              <a:t>LOGGING IN OVER THE NETWORK</a:t>
            </a:r>
            <a:endParaRPr lang="en-IN" dirty="0">
              <a:latin typeface="Times New Roman" panose="02020603050405020304" pitchFamily="18" charset="0"/>
              <a:cs typeface="Times New Roman" panose="02020603050405020304" pitchFamily="18" charset="0"/>
            </a:endParaRPr>
          </a:p>
        </p:txBody>
      </p:sp>
      <p:sp>
        <p:nvSpPr>
          <p:cNvPr id="9" name="TextBox 8"/>
          <p:cNvSpPr txBox="1"/>
          <p:nvPr/>
        </p:nvSpPr>
        <p:spPr>
          <a:xfrm>
            <a:off x="766916" y="1050545"/>
            <a:ext cx="10589341" cy="1600438"/>
          </a:xfrm>
          <a:prstGeom prst="rect">
            <a:avLst/>
          </a:prstGeom>
          <a:noFill/>
        </p:spPr>
        <p:txBody>
          <a:bodyPr wrap="square">
            <a:spAutoFit/>
          </a:bodyPr>
          <a:lstStyle/>
          <a:p>
            <a:pPr>
              <a:buNone/>
            </a:pPr>
            <a:r>
              <a:rPr lang="en-IN" sz="2000" dirty="0">
                <a:solidFill>
                  <a:srgbClr val="000000"/>
                </a:solidFill>
                <a:effectLst/>
                <a:latin typeface="Times New Roman" panose="02020603050405020304" pitchFamily="18" charset="0"/>
                <a:cs typeface="Times New Roman" panose="02020603050405020304" pitchFamily="18" charset="0"/>
              </a:rPr>
              <a:t>Linux users and administrators often need to get shell access to a remote system by connecting </a:t>
            </a:r>
            <a:endParaRPr lang="en-IN" sz="2000" dirty="0">
              <a:latin typeface="Times New Roman" panose="02020603050405020304" pitchFamily="18" charset="0"/>
              <a:cs typeface="Times New Roman" panose="02020603050405020304" pitchFamily="18" charset="0"/>
            </a:endParaRPr>
          </a:p>
          <a:p>
            <a:pPr>
              <a:buNone/>
            </a:pPr>
            <a:r>
              <a:rPr lang="en-IN" sz="2000" dirty="0">
                <a:solidFill>
                  <a:srgbClr val="000000"/>
                </a:solidFill>
                <a:effectLst/>
                <a:latin typeface="Times New Roman" panose="02020603050405020304" pitchFamily="18" charset="0"/>
                <a:cs typeface="Times New Roman" panose="02020603050405020304" pitchFamily="18" charset="0"/>
              </a:rPr>
              <a:t>to it over the network. In a modern computing environment, many headless servers are actually </a:t>
            </a:r>
            <a:endParaRPr lang="en-IN" sz="2000" dirty="0">
              <a:latin typeface="Times New Roman" panose="02020603050405020304" pitchFamily="18" charset="0"/>
              <a:cs typeface="Times New Roman" panose="02020603050405020304" pitchFamily="18" charset="0"/>
            </a:endParaRPr>
          </a:p>
          <a:p>
            <a:pPr>
              <a:buNone/>
            </a:pPr>
            <a:r>
              <a:rPr lang="en-IN" sz="2000" dirty="0">
                <a:solidFill>
                  <a:srgbClr val="000000"/>
                </a:solidFill>
                <a:effectLst/>
                <a:latin typeface="Times New Roman" panose="02020603050405020304" pitchFamily="18" charset="0"/>
                <a:cs typeface="Times New Roman" panose="02020603050405020304" pitchFamily="18" charset="0"/>
              </a:rPr>
              <a:t>virtual machines or are running as public or private cloud instances</a:t>
            </a:r>
          </a:p>
          <a:p>
            <a:pPr>
              <a:buNone/>
            </a:pPr>
            <a:endParaRPr lang="en-IN" dirty="0">
              <a:solidFill>
                <a:srgbClr val="000000"/>
              </a:solidFill>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The most common way to get a shell prompt on a remote system is to use Secure Shell (SSH</a:t>
            </a:r>
            <a:r>
              <a:rPr lang="en-IN" dirty="0"/>
              <a:t>).</a:t>
            </a:r>
            <a:endParaRPr lang="en-IN" sz="2000" dirty="0">
              <a:latin typeface="Times New Roman" panose="02020603050405020304" pitchFamily="18" charset="0"/>
              <a:cs typeface="Times New Roman" panose="02020603050405020304" pitchFamily="18" charset="0"/>
            </a:endParaRPr>
          </a:p>
        </p:txBody>
      </p:sp>
      <p:pic>
        <p:nvPicPr>
          <p:cNvPr id="13" name="Picture 12"/>
          <p:cNvPicPr>
            <a:picLocks noChangeAspect="1"/>
          </p:cNvPicPr>
          <p:nvPr/>
        </p:nvPicPr>
        <p:blipFill>
          <a:blip r:embed="rId2"/>
          <a:stretch>
            <a:fillRect/>
          </a:stretch>
        </p:blipFill>
        <p:spPr>
          <a:xfrm>
            <a:off x="785957" y="3076556"/>
            <a:ext cx="9685398" cy="1328295"/>
          </a:xfrm>
          <a:prstGeom prst="rect">
            <a:avLst/>
          </a:prstGeom>
        </p:spPr>
      </p:pic>
      <p:sp>
        <p:nvSpPr>
          <p:cNvPr id="15" name="TextBox 14"/>
          <p:cNvSpPr txBox="1"/>
          <p:nvPr/>
        </p:nvSpPr>
        <p:spPr>
          <a:xfrm>
            <a:off x="785957" y="4532040"/>
            <a:ext cx="10766946" cy="646331"/>
          </a:xfrm>
          <a:prstGeom prst="rect">
            <a:avLst/>
          </a:prstGeom>
          <a:noFill/>
        </p:spPr>
        <p:txBody>
          <a:bodyPr wrap="square">
            <a:spAutoFit/>
          </a:bodyPr>
          <a:lstStyle/>
          <a:p>
            <a:pPr>
              <a:buNone/>
            </a:pPr>
            <a:r>
              <a:rPr lang="en-IN" dirty="0">
                <a:solidFill>
                  <a:srgbClr val="000000"/>
                </a:solidFill>
                <a:effectLst/>
                <a:latin typeface="Times New Roman" panose="02020603050405020304" pitchFamily="18" charset="0"/>
                <a:cs typeface="Times New Roman" panose="02020603050405020304" pitchFamily="18" charset="0"/>
              </a:rPr>
              <a:t>The </a:t>
            </a:r>
            <a:r>
              <a:rPr lang="en-IN" b="1" dirty="0">
                <a:solidFill>
                  <a:srgbClr val="000000"/>
                </a:solidFill>
                <a:effectLst/>
                <a:latin typeface="Times New Roman" panose="02020603050405020304" pitchFamily="18" charset="0"/>
                <a:cs typeface="Times New Roman" panose="02020603050405020304" pitchFamily="18" charset="0"/>
              </a:rPr>
              <a:t>ssh</a:t>
            </a:r>
            <a:r>
              <a:rPr lang="en-IN" dirty="0">
                <a:solidFill>
                  <a:srgbClr val="000000"/>
                </a:solidFill>
                <a:effectLst/>
                <a:latin typeface="Times New Roman" panose="02020603050405020304" pitchFamily="18" charset="0"/>
                <a:cs typeface="Times New Roman" panose="02020603050405020304" pitchFamily="18" charset="0"/>
              </a:rPr>
              <a:t> command encrypts the connection to secure the communication against eavesdropping or hijacking of the passwords and content.</a:t>
            </a:r>
            <a:endParaRPr lang="en-IN" dirty="0">
              <a:latin typeface="Times New Roman" panose="02020603050405020304" pitchFamily="18" charset="0"/>
              <a:cs typeface="Times New Roman" panose="02020603050405020304" pitchFamily="18" charset="0"/>
            </a:endParaRPr>
          </a:p>
        </p:txBody>
      </p:sp>
      <p:sp>
        <p:nvSpPr>
          <p:cNvPr id="17" name="TextBox 16"/>
          <p:cNvSpPr txBox="1"/>
          <p:nvPr/>
        </p:nvSpPr>
        <p:spPr>
          <a:xfrm>
            <a:off x="766916" y="5638178"/>
            <a:ext cx="8622890" cy="369332"/>
          </a:xfrm>
          <a:prstGeom prst="rect">
            <a:avLst/>
          </a:prstGeom>
          <a:noFill/>
        </p:spPr>
        <p:txBody>
          <a:bodyPr wrap="square">
            <a:spAutoFit/>
          </a:bodyPr>
          <a:lstStyle/>
          <a:p>
            <a:r>
              <a:rPr lang="en-IN" b="1" dirty="0">
                <a:effectLst/>
                <a:latin typeface="Times New Roman" panose="02020603050405020304" pitchFamily="18" charset="0"/>
                <a:cs typeface="Times New Roman" panose="02020603050405020304" pitchFamily="18" charset="0"/>
              </a:rPr>
              <a:t>LOGGING OUT : </a:t>
            </a:r>
            <a:r>
              <a:rPr lang="en-IN" dirty="0">
                <a:latin typeface="Times New Roman" panose="02020603050405020304" pitchFamily="18" charset="0"/>
                <a:cs typeface="Times New Roman" panose="02020603050405020304" pitchFamily="18" charset="0"/>
              </a:rPr>
              <a:t>When you are finished using the shell and want to quit</a:t>
            </a:r>
            <a:r>
              <a:rPr lang="en-IN" b="1" dirty="0">
                <a:latin typeface="Times New Roman" panose="02020603050405020304" pitchFamily="18" charset="0"/>
                <a:cs typeface="Times New Roman" panose="02020603050405020304" pitchFamily="18" charset="0"/>
              </a:rPr>
              <a:t>             Ctrl +D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97369" y="828399"/>
            <a:ext cx="11797259" cy="369332"/>
          </a:xfrm>
          <a:prstGeom prst="rect">
            <a:avLst/>
          </a:prstGeom>
          <a:noFill/>
        </p:spPr>
        <p:txBody>
          <a:bodyPr wrap="square" rtlCol="0">
            <a:spAutoFit/>
          </a:bodyPr>
          <a:lstStyle/>
          <a:p>
            <a:r>
              <a:rPr lang="en-IN" b="1" dirty="0"/>
              <a:t>                                                          </a:t>
            </a:r>
            <a:r>
              <a:rPr lang="en-IN" b="1" dirty="0">
                <a:latin typeface="Times New Roman" panose="02020603050405020304" pitchFamily="18" charset="0"/>
                <a:cs typeface="Times New Roman" panose="02020603050405020304" pitchFamily="18" charset="0"/>
              </a:rPr>
              <a:t>ACCESSING THE COMMAND LINE USING THE DESKTOP</a:t>
            </a:r>
            <a:endParaRPr lang="en-IN" b="1" dirty="0">
              <a:solidFill>
                <a:srgbClr val="3803BD"/>
              </a:solidFill>
              <a:latin typeface="Times New Roman" panose="02020603050405020304" pitchFamily="18" charset="0"/>
              <a:cs typeface="Times New Roman" panose="02020603050405020304" pitchFamily="18" charset="0"/>
            </a:endParaRPr>
          </a:p>
        </p:txBody>
      </p:sp>
      <p:sp>
        <p:nvSpPr>
          <p:cNvPr id="5" name="Google Shape;145;p6"/>
          <p:cNvSpPr txBox="1">
            <a:spLocks noChangeArrowheads="1"/>
          </p:cNvSpPr>
          <p:nvPr/>
        </p:nvSpPr>
        <p:spPr bwMode="auto">
          <a:xfrm>
            <a:off x="197369" y="1204054"/>
            <a:ext cx="11797259" cy="654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marL="2857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342900" indent="-342900" algn="just" eaLnBrk="1" hangingPunct="1">
              <a:lnSpc>
                <a:spcPct val="200000"/>
              </a:lnSpc>
              <a:buFont typeface="+mj-lt"/>
              <a:buAutoNum type="arabicPeriod"/>
            </a:pPr>
            <a:endParaRPr lang="en-US" sz="1800" dirty="0">
              <a:solidFill>
                <a:schemeClr val="tx1"/>
              </a:solidFill>
              <a:latin typeface="Times New Roman" panose="02020603050405020304" pitchFamily="18" charset="0"/>
              <a:ea typeface="Questrial"/>
              <a:cs typeface="Times New Roman" panose="02020603050405020304" pitchFamily="18" charset="0"/>
              <a:sym typeface="Questrial"/>
            </a:endParaRPr>
          </a:p>
        </p:txBody>
      </p:sp>
      <p:sp>
        <p:nvSpPr>
          <p:cNvPr id="2" name="TextBox 1"/>
          <p:cNvSpPr txBox="1"/>
          <p:nvPr/>
        </p:nvSpPr>
        <p:spPr>
          <a:xfrm>
            <a:off x="2128603" y="14990"/>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CSE 493: LINUX System Administration</a:t>
            </a:r>
            <a:endParaRPr lang="en-IN" b="1" i="1" dirty="0">
              <a:solidFill>
                <a:srgbClr val="FF0000"/>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197369" y="1308349"/>
            <a:ext cx="11473521" cy="923330"/>
          </a:xfrm>
          <a:prstGeom prst="rect">
            <a:avLst/>
          </a:prstGeom>
          <a:noFill/>
        </p:spPr>
        <p:txBody>
          <a:bodyPr wrap="square">
            <a:spAutoFit/>
          </a:bodyPr>
          <a:lstStyle/>
          <a:p>
            <a:pPr algn="just">
              <a:buNone/>
            </a:pPr>
            <a:r>
              <a:rPr lang="en-IN" dirty="0">
                <a:solidFill>
                  <a:srgbClr val="000000"/>
                </a:solidFill>
                <a:effectLst/>
                <a:latin typeface="Times New Roman" panose="02020603050405020304" pitchFamily="18" charset="0"/>
                <a:cs typeface="Times New Roman" panose="02020603050405020304" pitchFamily="18" charset="0"/>
              </a:rPr>
              <a:t>The desktop environment is the graphical user interface on a Linux system. The default desktop environment in Red Hat Enterprise Linux 8 is provided by GNOME 3. It provides an integrated desktop for users and a unified development platform on top of a graphical framework provided by either Wayland (by default) or the legacy  Window System.</a:t>
            </a:r>
            <a:endParaRPr lang="en-IN" dirty="0">
              <a:latin typeface="Times New Roman" panose="02020603050405020304" pitchFamily="18" charset="0"/>
              <a:cs typeface="Times New Roman" panose="02020603050405020304" pitchFamily="18" charset="0"/>
            </a:endParaRPr>
          </a:p>
        </p:txBody>
      </p:sp>
      <p:sp>
        <p:nvSpPr>
          <p:cNvPr id="8" name="TextBox 7"/>
          <p:cNvSpPr txBox="1"/>
          <p:nvPr/>
        </p:nvSpPr>
        <p:spPr>
          <a:xfrm>
            <a:off x="477226" y="2335974"/>
            <a:ext cx="10913806" cy="1200329"/>
          </a:xfrm>
          <a:prstGeom prst="rect">
            <a:avLst/>
          </a:prstGeom>
          <a:noFill/>
        </p:spPr>
        <p:txBody>
          <a:bodyPr wrap="square">
            <a:spAutoFit/>
          </a:bodyPr>
          <a:lstStyle/>
          <a:p>
            <a:pPr marL="342900" indent="-342900">
              <a:buFont typeface="+mj-lt"/>
              <a:buAutoNum type="arabicPeriod"/>
            </a:pPr>
            <a:r>
              <a:rPr lang="en-IN" b="1" dirty="0">
                <a:latin typeface="Times New Roman" panose="02020603050405020304" pitchFamily="18" charset="0"/>
                <a:cs typeface="Times New Roman" panose="02020603050405020304" pitchFamily="18" charset="0"/>
              </a:rPr>
              <a:t>GNOME Shell</a:t>
            </a:r>
            <a:r>
              <a:rPr lang="en-IN" dirty="0">
                <a:latin typeface="Times New Roman" panose="02020603050405020304" pitchFamily="18" charset="0"/>
                <a:cs typeface="Times New Roman" panose="02020603050405020304" pitchFamily="18" charset="0"/>
              </a:rPr>
              <a:t> is the main interface of the GNOME desktop — and it's customizable. </a:t>
            </a:r>
          </a:p>
          <a:p>
            <a:pPr marL="342900" indent="-342900">
              <a:buFont typeface="+mj-lt"/>
              <a:buAutoNum type="arabicPeriod"/>
            </a:pPr>
            <a:r>
              <a:rPr lang="en-IN" b="1" dirty="0">
                <a:latin typeface="Times New Roman" panose="02020603050405020304" pitchFamily="18" charset="0"/>
                <a:cs typeface="Times New Roman" panose="02020603050405020304" pitchFamily="18" charset="0"/>
              </a:rPr>
              <a:t>RHEL 8</a:t>
            </a:r>
            <a:r>
              <a:rPr lang="en-IN" dirty="0">
                <a:latin typeface="Times New Roman" panose="02020603050405020304" pitchFamily="18" charset="0"/>
                <a:cs typeface="Times New Roman" panose="02020603050405020304" pitchFamily="18" charset="0"/>
              </a:rPr>
              <a:t> uses the </a:t>
            </a:r>
            <a:r>
              <a:rPr lang="en-IN" b="1" dirty="0">
                <a:latin typeface="Times New Roman" panose="02020603050405020304" pitchFamily="18" charset="0"/>
                <a:cs typeface="Times New Roman" panose="02020603050405020304" pitchFamily="18" charset="0"/>
              </a:rPr>
              <a:t>"Standard"</a:t>
            </a:r>
            <a:r>
              <a:rPr lang="en-IN" dirty="0">
                <a:latin typeface="Times New Roman" panose="02020603050405020304" pitchFamily="18" charset="0"/>
                <a:cs typeface="Times New Roman" panose="02020603050405020304" pitchFamily="18" charset="0"/>
              </a:rPr>
              <a:t> theme by default; </a:t>
            </a:r>
            <a:r>
              <a:rPr lang="en-IN" b="1" dirty="0">
                <a:latin typeface="Times New Roman" panose="02020603050405020304" pitchFamily="18" charset="0"/>
                <a:cs typeface="Times New Roman" panose="02020603050405020304" pitchFamily="18" charset="0"/>
              </a:rPr>
              <a:t>RHEL 7</a:t>
            </a:r>
            <a:r>
              <a:rPr lang="en-IN" dirty="0">
                <a:latin typeface="Times New Roman" panose="02020603050405020304" pitchFamily="18" charset="0"/>
                <a:cs typeface="Times New Roman" panose="02020603050405020304" pitchFamily="18" charset="0"/>
              </a:rPr>
              <a:t> used </a:t>
            </a:r>
            <a:r>
              <a:rPr lang="en-IN" b="1" dirty="0">
                <a:latin typeface="Times New Roman" panose="02020603050405020304" pitchFamily="18" charset="0"/>
                <a:cs typeface="Times New Roman" panose="02020603050405020304" pitchFamily="18" charset="0"/>
              </a:rPr>
              <a:t>"Classic"</a:t>
            </a:r>
            <a:r>
              <a:rPr lang="en-IN" dirty="0">
                <a:latin typeface="Times New Roman" panose="02020603050405020304" pitchFamily="18" charset="0"/>
                <a:cs typeface="Times New Roman" panose="02020603050405020304" pitchFamily="18" charset="0"/>
              </a:rPr>
              <a:t> (older GNOME look). </a:t>
            </a:r>
          </a:p>
          <a:p>
            <a:pPr marL="342900" indent="-342900">
              <a:buFont typeface="+mj-lt"/>
              <a:buAutoNum type="arabicPeriod"/>
            </a:pPr>
            <a:r>
              <a:rPr lang="en-IN" dirty="0">
                <a:latin typeface="Times New Roman" panose="02020603050405020304" pitchFamily="18" charset="0"/>
                <a:cs typeface="Times New Roman" panose="02020603050405020304" pitchFamily="18" charset="0"/>
              </a:rPr>
              <a:t>To switch themes: click the </a:t>
            </a:r>
            <a:r>
              <a:rPr lang="en-IN" b="1" dirty="0">
                <a:latin typeface="Times New Roman" panose="02020603050405020304" pitchFamily="18" charset="0"/>
                <a:cs typeface="Times New Roman" panose="02020603050405020304" pitchFamily="18" charset="0"/>
              </a:rPr>
              <a:t>gear icon</a:t>
            </a:r>
            <a:r>
              <a:rPr lang="en-IN" dirty="0">
                <a:latin typeface="Times New Roman" panose="02020603050405020304" pitchFamily="18" charset="0"/>
                <a:cs typeface="Times New Roman" panose="02020603050405020304" pitchFamily="18" charset="0"/>
              </a:rPr>
              <a:t> ⚙️ next to "Sign In" — </a:t>
            </a:r>
            <a:r>
              <a:rPr lang="en-IN" b="1" dirty="0">
                <a:latin typeface="Times New Roman" panose="02020603050405020304" pitchFamily="18" charset="0"/>
                <a:cs typeface="Times New Roman" panose="02020603050405020304" pitchFamily="18" charset="0"/>
              </a:rPr>
              <a:t>before</a:t>
            </a:r>
            <a:r>
              <a:rPr lang="en-IN" dirty="0">
                <a:latin typeface="Times New Roman" panose="02020603050405020304" pitchFamily="18" charset="0"/>
                <a:cs typeface="Times New Roman" panose="02020603050405020304" pitchFamily="18" charset="0"/>
              </a:rPr>
              <a:t> entering your password.</a:t>
            </a:r>
          </a:p>
          <a:p>
            <a:pPr marL="342900" indent="-342900">
              <a:buFont typeface="+mj-lt"/>
              <a:buAutoNum type="arabicPeriod"/>
            </a:pPr>
            <a:r>
              <a:rPr lang="en-IN" dirty="0">
                <a:latin typeface="Times New Roman" panose="02020603050405020304" pitchFamily="18" charset="0"/>
                <a:cs typeface="Times New Roman" panose="02020603050405020304" pitchFamily="18" charset="0"/>
              </a:rPr>
              <a:t> Your chosen theme is </a:t>
            </a:r>
            <a:r>
              <a:rPr lang="en-IN" b="1" dirty="0">
                <a:latin typeface="Times New Roman" panose="02020603050405020304" pitchFamily="18" charset="0"/>
                <a:cs typeface="Times New Roman" panose="02020603050405020304" pitchFamily="18" charset="0"/>
              </a:rPr>
              <a:t>saved</a:t>
            </a:r>
            <a:r>
              <a:rPr lang="en-IN" dirty="0">
                <a:latin typeface="Times New Roman" panose="02020603050405020304" pitchFamily="18" charset="0"/>
                <a:cs typeface="Times New Roman" panose="02020603050405020304" pitchFamily="18" charset="0"/>
              </a:rPr>
              <a:t> and used every time you log in.</a:t>
            </a:r>
          </a:p>
        </p:txBody>
      </p:sp>
      <p:pic>
        <p:nvPicPr>
          <p:cNvPr id="10" name="Picture 9"/>
          <p:cNvPicPr>
            <a:picLocks noChangeAspect="1"/>
          </p:cNvPicPr>
          <p:nvPr/>
        </p:nvPicPr>
        <p:blipFill>
          <a:blip r:embed="rId2"/>
          <a:stretch>
            <a:fillRect/>
          </a:stretch>
        </p:blipFill>
        <p:spPr>
          <a:xfrm>
            <a:off x="2536723" y="3536303"/>
            <a:ext cx="4635122" cy="2679943"/>
          </a:xfrm>
          <a:prstGeom prst="rect">
            <a:avLst/>
          </a:prstGeom>
        </p:spPr>
      </p:pic>
      <p:sp>
        <p:nvSpPr>
          <p:cNvPr id="11" name="TextBox 10"/>
          <p:cNvSpPr txBox="1"/>
          <p:nvPr/>
        </p:nvSpPr>
        <p:spPr>
          <a:xfrm>
            <a:off x="3696712" y="6356186"/>
            <a:ext cx="2678938"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Empty GENOME Desktop</a:t>
            </a:r>
          </a:p>
        </p:txBody>
      </p:sp>
      <p:sp>
        <p:nvSpPr>
          <p:cNvPr id="7" name="TextBox 6"/>
          <p:cNvSpPr txBox="1"/>
          <p:nvPr/>
        </p:nvSpPr>
        <p:spPr>
          <a:xfrm>
            <a:off x="7675207" y="3782832"/>
            <a:ext cx="3682541" cy="2246769"/>
          </a:xfrm>
          <a:prstGeom prst="rect">
            <a:avLst/>
          </a:prstGeom>
          <a:noFill/>
        </p:spPr>
        <p:txBody>
          <a:bodyPr wrap="square">
            <a:spAutoFit/>
          </a:bodyPr>
          <a:lstStyle/>
          <a:p>
            <a:pPr algn="just">
              <a:buNone/>
            </a:pPr>
            <a:r>
              <a:rPr lang="en-IN" sz="2000" dirty="0">
                <a:solidFill>
                  <a:srgbClr val="000000"/>
                </a:solidFill>
                <a:effectLst/>
                <a:latin typeface="Times New Roman" panose="02020603050405020304" pitchFamily="18" charset="0"/>
                <a:cs typeface="Times New Roman" panose="02020603050405020304" pitchFamily="18" charset="0"/>
              </a:rPr>
              <a:t>You can quickly start GNOME Help by clicking the Activities button on the left side of the top bar, and in the dash that appears on the left side of the screen, clicking the life ring buoy icon to launch it.</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97369" y="828399"/>
            <a:ext cx="11797259" cy="369332"/>
          </a:xfrm>
          <a:prstGeom prst="rect">
            <a:avLst/>
          </a:prstGeom>
          <a:noFill/>
        </p:spPr>
        <p:txBody>
          <a:bodyPr wrap="square" rtlCol="0">
            <a:spAutoFit/>
          </a:bodyPr>
          <a:lstStyle/>
          <a:p>
            <a:r>
              <a:rPr lang="en-IN" b="1" dirty="0"/>
              <a:t>                                                          </a:t>
            </a:r>
            <a:r>
              <a:rPr lang="en-IN" b="1" dirty="0">
                <a:latin typeface="Times New Roman" panose="02020603050405020304" pitchFamily="18" charset="0"/>
                <a:cs typeface="Times New Roman" panose="02020603050405020304" pitchFamily="18" charset="0"/>
              </a:rPr>
              <a:t>ACCESSING THE COMMAND LINE USING THE DESKTOP</a:t>
            </a:r>
            <a:endParaRPr lang="en-IN" b="1" dirty="0">
              <a:solidFill>
                <a:srgbClr val="3803BD"/>
              </a:solidFill>
              <a:latin typeface="Times New Roman" panose="02020603050405020304" pitchFamily="18" charset="0"/>
              <a:cs typeface="Times New Roman" panose="02020603050405020304" pitchFamily="18" charset="0"/>
            </a:endParaRPr>
          </a:p>
        </p:txBody>
      </p:sp>
      <p:sp>
        <p:nvSpPr>
          <p:cNvPr id="5" name="Google Shape;145;p6"/>
          <p:cNvSpPr txBox="1">
            <a:spLocks noChangeArrowheads="1"/>
          </p:cNvSpPr>
          <p:nvPr/>
        </p:nvSpPr>
        <p:spPr bwMode="auto">
          <a:xfrm>
            <a:off x="197369" y="1204054"/>
            <a:ext cx="11797259" cy="654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marL="2857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342900" indent="-342900" algn="just" eaLnBrk="1" hangingPunct="1">
              <a:lnSpc>
                <a:spcPct val="200000"/>
              </a:lnSpc>
              <a:buFont typeface="+mj-lt"/>
              <a:buAutoNum type="arabicPeriod"/>
            </a:pPr>
            <a:endParaRPr lang="en-US" sz="1800" dirty="0">
              <a:solidFill>
                <a:schemeClr val="tx1"/>
              </a:solidFill>
              <a:latin typeface="Times New Roman" panose="02020603050405020304" pitchFamily="18" charset="0"/>
              <a:ea typeface="Questrial"/>
              <a:cs typeface="Times New Roman" panose="02020603050405020304" pitchFamily="18" charset="0"/>
              <a:sym typeface="Questrial"/>
            </a:endParaRPr>
          </a:p>
        </p:txBody>
      </p:sp>
      <p:sp>
        <p:nvSpPr>
          <p:cNvPr id="2" name="TextBox 1"/>
          <p:cNvSpPr txBox="1"/>
          <p:nvPr/>
        </p:nvSpPr>
        <p:spPr>
          <a:xfrm>
            <a:off x="2128603" y="14990"/>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CSE 493: LINUX System Administration</a:t>
            </a:r>
            <a:endParaRPr lang="en-IN" b="1" i="1" dirty="0">
              <a:solidFill>
                <a:srgbClr val="FF0000"/>
              </a:solidFill>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2"/>
          <a:stretch>
            <a:fillRect/>
          </a:stretch>
        </p:blipFill>
        <p:spPr>
          <a:xfrm>
            <a:off x="813341" y="1440230"/>
            <a:ext cx="9962813" cy="491853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97369" y="828399"/>
            <a:ext cx="11797259" cy="369332"/>
          </a:xfrm>
          <a:prstGeom prst="rect">
            <a:avLst/>
          </a:prstGeom>
          <a:noFill/>
        </p:spPr>
        <p:txBody>
          <a:bodyPr wrap="square" rtlCol="0">
            <a:spAutoFit/>
          </a:bodyPr>
          <a:lstStyle/>
          <a:p>
            <a:r>
              <a:rPr lang="en-IN" b="1" dirty="0"/>
              <a:t>                                                          </a:t>
            </a:r>
            <a:r>
              <a:rPr lang="en-IN" b="1" dirty="0">
                <a:latin typeface="Times New Roman" panose="02020603050405020304" pitchFamily="18" charset="0"/>
                <a:cs typeface="Times New Roman" panose="02020603050405020304" pitchFamily="18" charset="0"/>
              </a:rPr>
              <a:t>ACCESSING THE COMMAND LINE USING THE DESKTOP</a:t>
            </a:r>
            <a:endParaRPr lang="en-IN" b="1" dirty="0">
              <a:solidFill>
                <a:srgbClr val="3803BD"/>
              </a:solidFill>
              <a:latin typeface="Times New Roman" panose="02020603050405020304" pitchFamily="18" charset="0"/>
              <a:cs typeface="Times New Roman" panose="02020603050405020304" pitchFamily="18" charset="0"/>
            </a:endParaRPr>
          </a:p>
        </p:txBody>
      </p:sp>
      <p:sp>
        <p:nvSpPr>
          <p:cNvPr id="5" name="Google Shape;145;p6"/>
          <p:cNvSpPr txBox="1">
            <a:spLocks noChangeArrowheads="1"/>
          </p:cNvSpPr>
          <p:nvPr/>
        </p:nvSpPr>
        <p:spPr bwMode="auto">
          <a:xfrm>
            <a:off x="197369" y="1204054"/>
            <a:ext cx="11797259" cy="654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marL="2857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342900" indent="-342900" algn="just" eaLnBrk="1" hangingPunct="1">
              <a:lnSpc>
                <a:spcPct val="200000"/>
              </a:lnSpc>
              <a:buFont typeface="+mj-lt"/>
              <a:buAutoNum type="arabicPeriod"/>
            </a:pPr>
            <a:endParaRPr lang="en-US" sz="1800" dirty="0">
              <a:solidFill>
                <a:schemeClr val="tx1"/>
              </a:solidFill>
              <a:latin typeface="Times New Roman" panose="02020603050405020304" pitchFamily="18" charset="0"/>
              <a:ea typeface="Questrial"/>
              <a:cs typeface="Times New Roman" panose="02020603050405020304" pitchFamily="18" charset="0"/>
              <a:sym typeface="Questrial"/>
            </a:endParaRPr>
          </a:p>
        </p:txBody>
      </p:sp>
      <p:sp>
        <p:nvSpPr>
          <p:cNvPr id="2" name="TextBox 1"/>
          <p:cNvSpPr txBox="1"/>
          <p:nvPr/>
        </p:nvSpPr>
        <p:spPr>
          <a:xfrm>
            <a:off x="2128603" y="14990"/>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CSE 493: LINUX System Administration</a:t>
            </a:r>
            <a:endParaRPr lang="en-IN" b="1" i="1" dirty="0">
              <a:solidFill>
                <a:srgbClr val="FF0000"/>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127819" y="1856882"/>
            <a:ext cx="11248104" cy="2862322"/>
          </a:xfrm>
          <a:prstGeom prst="rect">
            <a:avLst/>
          </a:prstGeom>
          <a:noFill/>
        </p:spPr>
        <p:txBody>
          <a:bodyPr wrap="square">
            <a:spAutoFit/>
          </a:bodyPr>
          <a:lstStyle/>
          <a:p>
            <a:pPr marL="457200" indent="-457200" algn="just">
              <a:buFont typeface="+mj-lt"/>
              <a:buAutoNum type="arabicPeriod"/>
            </a:pPr>
            <a:r>
              <a:rPr lang="en-IN" sz="2000" b="1" dirty="0">
                <a:latin typeface="Times New Roman" panose="02020603050405020304" pitchFamily="18" charset="0"/>
                <a:cs typeface="Times New Roman" panose="02020603050405020304" pitchFamily="18" charset="0"/>
              </a:rPr>
              <a:t>Top Bar:</a:t>
            </a:r>
            <a:r>
              <a:rPr lang="en-IN" sz="2000" dirty="0">
                <a:latin typeface="Times New Roman" panose="02020603050405020304" pitchFamily="18" charset="0"/>
                <a:cs typeface="Times New Roman" panose="02020603050405020304" pitchFamily="18" charset="0"/>
              </a:rPr>
              <a:t> The bar at the top of the screen that provides access to Activities, system status, settings, notifications, and user options.</a:t>
            </a:r>
          </a:p>
          <a:p>
            <a:pPr marL="457200" indent="-457200" algn="just">
              <a:buFont typeface="+mj-lt"/>
              <a:buAutoNum type="arabicPeriod"/>
            </a:pP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Activities Overview:</a:t>
            </a:r>
            <a:r>
              <a:rPr lang="en-IN" sz="2000" dirty="0">
                <a:latin typeface="Times New Roman" panose="02020603050405020304" pitchFamily="18" charset="0"/>
                <a:cs typeface="Times New Roman" panose="02020603050405020304" pitchFamily="18" charset="0"/>
              </a:rPr>
              <a:t> A mode for launching applications, viewing open windows, and managing workspaces. </a:t>
            </a:r>
          </a:p>
          <a:p>
            <a:pPr marL="457200" indent="-457200" algn="just">
              <a:buFont typeface="+mj-lt"/>
              <a:buAutoNum type="arabicPeriod"/>
            </a:pPr>
            <a:r>
              <a:rPr lang="en-IN" sz="2000" b="1" dirty="0">
                <a:latin typeface="Times New Roman" panose="02020603050405020304" pitchFamily="18" charset="0"/>
                <a:cs typeface="Times New Roman" panose="02020603050405020304" pitchFamily="18" charset="0"/>
              </a:rPr>
              <a:t>Dash (Dock):</a:t>
            </a:r>
            <a:r>
              <a:rPr lang="en-IN" sz="2000" dirty="0">
                <a:latin typeface="Times New Roman" panose="02020603050405020304" pitchFamily="18" charset="0"/>
                <a:cs typeface="Times New Roman" panose="02020603050405020304" pitchFamily="18" charset="0"/>
              </a:rPr>
              <a:t> A sidebar containing </a:t>
            </a:r>
            <a:r>
              <a:rPr lang="en-IN" sz="2000" dirty="0" err="1">
                <a:latin typeface="Times New Roman" panose="02020603050405020304" pitchFamily="18" charset="0"/>
                <a:cs typeface="Times New Roman" panose="02020603050405020304" pitchFamily="18" charset="0"/>
              </a:rPr>
              <a:t>favorite</a:t>
            </a:r>
            <a:r>
              <a:rPr lang="en-IN" sz="2000" dirty="0">
                <a:latin typeface="Times New Roman" panose="02020603050405020304" pitchFamily="18" charset="0"/>
                <a:cs typeface="Times New Roman" panose="02020603050405020304" pitchFamily="18" charset="0"/>
              </a:rPr>
              <a:t> apps, running applications, and the Applications Grid button. </a:t>
            </a:r>
            <a:r>
              <a:rPr lang="en-IN" sz="2000" b="1" dirty="0">
                <a:latin typeface="Times New Roman" panose="02020603050405020304" pitchFamily="18" charset="0"/>
                <a:cs typeface="Times New Roman" panose="02020603050405020304" pitchFamily="18" charset="0"/>
              </a:rPr>
              <a:t>Windows Overview:</a:t>
            </a:r>
            <a:r>
              <a:rPr lang="en-IN" sz="2000" dirty="0">
                <a:latin typeface="Times New Roman" panose="02020603050405020304" pitchFamily="18" charset="0"/>
                <a:cs typeface="Times New Roman" panose="02020603050405020304" pitchFamily="18" charset="0"/>
              </a:rPr>
              <a:t> Displays thumbnails of all open windows in the current workspace for easy switching and organization. </a:t>
            </a:r>
          </a:p>
          <a:p>
            <a:pPr marL="457200" indent="-457200" algn="just">
              <a:buFont typeface="+mj-lt"/>
              <a:buAutoNum type="arabicPeriod"/>
            </a:pPr>
            <a:r>
              <a:rPr lang="en-IN" sz="2000" b="1" dirty="0">
                <a:latin typeface="Times New Roman" panose="02020603050405020304" pitchFamily="18" charset="0"/>
                <a:cs typeface="Times New Roman" panose="02020603050405020304" pitchFamily="18" charset="0"/>
              </a:rPr>
              <a:t>Workspace Selector:</a:t>
            </a:r>
            <a:r>
              <a:rPr lang="en-IN" sz="2000" dirty="0">
                <a:latin typeface="Times New Roman" panose="02020603050405020304" pitchFamily="18" charset="0"/>
                <a:cs typeface="Times New Roman" panose="02020603050405020304" pitchFamily="18" charset="0"/>
              </a:rPr>
              <a:t> Shows available workspaces and allows you to switch between them or move windows across workspaces.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128603" y="14990"/>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CSV 401: System Monitoring</a:t>
            </a:r>
            <a:endParaRPr lang="en-IN" b="1" i="1" dirty="0">
              <a:solidFill>
                <a:srgbClr val="FF0000"/>
              </a:solidFill>
              <a:latin typeface="Times New Roman" panose="02020603050405020304" pitchFamily="18" charset="0"/>
              <a:cs typeface="Times New Roman" panose="02020603050405020304" pitchFamily="18" charset="0"/>
            </a:endParaRPr>
          </a:p>
        </p:txBody>
      </p:sp>
      <p:sp>
        <p:nvSpPr>
          <p:cNvPr id="7" name="TextBox 6"/>
          <p:cNvSpPr txBox="1"/>
          <p:nvPr/>
        </p:nvSpPr>
        <p:spPr>
          <a:xfrm>
            <a:off x="216311" y="1178035"/>
            <a:ext cx="6096000" cy="400110"/>
          </a:xfrm>
          <a:prstGeom prst="rect">
            <a:avLst/>
          </a:prstGeom>
          <a:noFill/>
        </p:spPr>
        <p:txBody>
          <a:bodyPr wrap="square">
            <a:spAutoFit/>
          </a:bodyPr>
          <a:lstStyle/>
          <a:p>
            <a:r>
              <a:rPr lang="en-IN" sz="2000" b="1" dirty="0">
                <a:effectLst/>
                <a:latin typeface="Times New Roman" panose="02020603050405020304" pitchFamily="18" charset="0"/>
                <a:cs typeface="Times New Roman" panose="02020603050405020304" pitchFamily="18" charset="0"/>
              </a:rPr>
              <a:t>WORKSPACES</a:t>
            </a:r>
            <a:endParaRPr lang="en-IN" sz="2000" b="1" dirty="0">
              <a:latin typeface="Times New Roman" panose="02020603050405020304" pitchFamily="18" charset="0"/>
              <a:cs typeface="Times New Roman" panose="02020603050405020304" pitchFamily="18" charset="0"/>
            </a:endParaRPr>
          </a:p>
        </p:txBody>
      </p:sp>
      <p:sp>
        <p:nvSpPr>
          <p:cNvPr id="9" name="TextBox 8"/>
          <p:cNvSpPr txBox="1"/>
          <p:nvPr/>
        </p:nvSpPr>
        <p:spPr>
          <a:xfrm>
            <a:off x="216311" y="1681316"/>
            <a:ext cx="11975690" cy="1200329"/>
          </a:xfrm>
          <a:prstGeom prst="rect">
            <a:avLst/>
          </a:prstGeom>
          <a:noFill/>
        </p:spPr>
        <p:txBody>
          <a:bodyPr wrap="square">
            <a:spAutoFit/>
          </a:bodyPr>
          <a:lstStyle/>
          <a:p>
            <a:pPr>
              <a:buNone/>
            </a:pPr>
            <a:r>
              <a:rPr lang="en-IN" dirty="0">
                <a:solidFill>
                  <a:srgbClr val="000000"/>
                </a:solidFill>
                <a:effectLst/>
                <a:latin typeface="Times New Roman" panose="02020603050405020304" pitchFamily="18" charset="0"/>
                <a:cs typeface="Times New Roman" panose="02020603050405020304" pitchFamily="18" charset="0"/>
              </a:rPr>
              <a:t>Workspaces are separate desktop screens that have different application windows. These can be used to organize the working environment by grouping open application windows by task. For example, windows being used to perform a particular system maintenance activity (such as setting up a new remote server) can be grouped in one workspace, while email and other communication applications can be grouped in another workspace.</a:t>
            </a:r>
            <a:endParaRPr lang="en-IN"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78657" y="3087988"/>
            <a:ext cx="11464413" cy="1200329"/>
          </a:xfrm>
          <a:prstGeom prst="rect">
            <a:avLst/>
          </a:prstGeom>
          <a:noFill/>
        </p:spPr>
        <p:txBody>
          <a:bodyPr wrap="square">
            <a:spAutoFit/>
          </a:bodyPr>
          <a:lstStyle/>
          <a:p>
            <a:pPr>
              <a:buNone/>
            </a:pPr>
            <a:r>
              <a:rPr lang="en-IN" dirty="0">
                <a:solidFill>
                  <a:srgbClr val="000000"/>
                </a:solidFill>
                <a:effectLst/>
                <a:latin typeface="Times New Roman" panose="02020603050405020304" pitchFamily="18" charset="0"/>
                <a:cs typeface="Times New Roman" panose="02020603050405020304" pitchFamily="18" charset="0"/>
              </a:rPr>
              <a:t>There are two simple methods for switching between workspaces. One method, perhaps the fastest, is to press </a:t>
            </a:r>
            <a:r>
              <a:rPr lang="en-IN" b="1" dirty="0" err="1">
                <a:solidFill>
                  <a:srgbClr val="000000"/>
                </a:solidFill>
                <a:effectLst/>
                <a:latin typeface="Times New Roman" panose="02020603050405020304" pitchFamily="18" charset="0"/>
                <a:cs typeface="Times New Roman" panose="02020603050405020304" pitchFamily="18" charset="0"/>
              </a:rPr>
              <a:t>Ctrl</a:t>
            </a:r>
            <a:r>
              <a:rPr lang="en-IN" dirty="0" err="1">
                <a:solidFill>
                  <a:srgbClr val="000000"/>
                </a:solidFill>
                <a:effectLst/>
                <a:latin typeface="Times New Roman" panose="02020603050405020304" pitchFamily="18" charset="0"/>
                <a:cs typeface="Times New Roman" panose="02020603050405020304" pitchFamily="18" charset="0"/>
              </a:rPr>
              <a:t>+</a:t>
            </a:r>
            <a:r>
              <a:rPr lang="en-IN" b="1" dirty="0" err="1">
                <a:solidFill>
                  <a:srgbClr val="000000"/>
                </a:solidFill>
                <a:effectLst/>
                <a:latin typeface="Times New Roman" panose="02020603050405020304" pitchFamily="18" charset="0"/>
                <a:cs typeface="Times New Roman" panose="02020603050405020304" pitchFamily="18" charset="0"/>
              </a:rPr>
              <a:t>Alt</a:t>
            </a:r>
            <a:r>
              <a:rPr lang="en-IN" dirty="0" err="1">
                <a:solidFill>
                  <a:srgbClr val="000000"/>
                </a:solidFill>
                <a:effectLst/>
                <a:latin typeface="Times New Roman" panose="02020603050405020304" pitchFamily="18" charset="0"/>
                <a:cs typeface="Times New Roman" panose="02020603050405020304" pitchFamily="18" charset="0"/>
              </a:rPr>
              <a:t>+</a:t>
            </a:r>
            <a:r>
              <a:rPr lang="en-IN" b="1" dirty="0" err="1">
                <a:solidFill>
                  <a:srgbClr val="000000"/>
                </a:solidFill>
                <a:effectLst/>
                <a:latin typeface="Times New Roman" panose="02020603050405020304" pitchFamily="18" charset="0"/>
                <a:cs typeface="Times New Roman" panose="02020603050405020304" pitchFamily="18" charset="0"/>
              </a:rPr>
              <a:t>UpArrow</a:t>
            </a:r>
            <a:r>
              <a:rPr lang="en-IN" dirty="0">
                <a:solidFill>
                  <a:srgbClr val="000000"/>
                </a:solidFill>
                <a:effectLst/>
                <a:latin typeface="Times New Roman" panose="02020603050405020304" pitchFamily="18" charset="0"/>
                <a:cs typeface="Times New Roman" panose="02020603050405020304" pitchFamily="18" charset="0"/>
              </a:rPr>
              <a:t> or  </a:t>
            </a:r>
            <a:r>
              <a:rPr lang="en-IN" b="1" dirty="0" err="1">
                <a:solidFill>
                  <a:srgbClr val="000000"/>
                </a:solidFill>
                <a:effectLst/>
                <a:latin typeface="Times New Roman" panose="02020603050405020304" pitchFamily="18" charset="0"/>
                <a:cs typeface="Times New Roman" panose="02020603050405020304" pitchFamily="18" charset="0"/>
              </a:rPr>
              <a:t>Ctrl</a:t>
            </a:r>
            <a:r>
              <a:rPr lang="en-IN" dirty="0" err="1">
                <a:solidFill>
                  <a:srgbClr val="000000"/>
                </a:solidFill>
                <a:effectLst/>
                <a:latin typeface="Times New Roman" panose="02020603050405020304" pitchFamily="18" charset="0"/>
                <a:cs typeface="Times New Roman" panose="02020603050405020304" pitchFamily="18" charset="0"/>
              </a:rPr>
              <a:t>+</a:t>
            </a:r>
            <a:r>
              <a:rPr lang="en-IN" b="1" dirty="0" err="1">
                <a:solidFill>
                  <a:srgbClr val="000000"/>
                </a:solidFill>
                <a:effectLst/>
                <a:latin typeface="Times New Roman" panose="02020603050405020304" pitchFamily="18" charset="0"/>
                <a:cs typeface="Times New Roman" panose="02020603050405020304" pitchFamily="18" charset="0"/>
              </a:rPr>
              <a:t>Alt</a:t>
            </a:r>
            <a:r>
              <a:rPr lang="en-IN" dirty="0" err="1">
                <a:solidFill>
                  <a:srgbClr val="000000"/>
                </a:solidFill>
                <a:effectLst/>
                <a:latin typeface="Times New Roman" panose="02020603050405020304" pitchFamily="18" charset="0"/>
                <a:cs typeface="Times New Roman" panose="02020603050405020304" pitchFamily="18" charset="0"/>
              </a:rPr>
              <a:t>+</a:t>
            </a:r>
            <a:r>
              <a:rPr lang="en-IN" b="1" dirty="0" err="1">
                <a:solidFill>
                  <a:srgbClr val="000000"/>
                </a:solidFill>
                <a:effectLst/>
                <a:latin typeface="Times New Roman" panose="02020603050405020304" pitchFamily="18" charset="0"/>
                <a:cs typeface="Times New Roman" panose="02020603050405020304" pitchFamily="18" charset="0"/>
              </a:rPr>
              <a:t>DownArrow</a:t>
            </a:r>
            <a:r>
              <a:rPr lang="en-IN" dirty="0">
                <a:solidFill>
                  <a:srgbClr val="000000"/>
                </a:solidFill>
                <a:effectLst/>
                <a:latin typeface="Times New Roman" panose="02020603050405020304" pitchFamily="18" charset="0"/>
                <a:cs typeface="Times New Roman" panose="02020603050405020304" pitchFamily="18" charset="0"/>
              </a:rPr>
              <a:t> to switch between workspaces sequentially. The second is to switch to the Activities overview and click the desired </a:t>
            </a:r>
            <a:endParaRPr lang="en-IN" dirty="0">
              <a:latin typeface="Times New Roman" panose="02020603050405020304" pitchFamily="18" charset="0"/>
              <a:cs typeface="Times New Roman" panose="02020603050405020304" pitchFamily="18" charset="0"/>
            </a:endParaRPr>
          </a:p>
          <a:p>
            <a:pPr>
              <a:buNone/>
            </a:pPr>
            <a:r>
              <a:rPr lang="en-IN" dirty="0">
                <a:solidFill>
                  <a:srgbClr val="000000"/>
                </a:solidFill>
                <a:effectLst/>
                <a:latin typeface="Times New Roman" panose="02020603050405020304" pitchFamily="18" charset="0"/>
                <a:cs typeface="Times New Roman" panose="02020603050405020304" pitchFamily="18" charset="0"/>
              </a:rPr>
              <a:t>workspace.</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ChangeArrowheads="1"/>
          </p:cNvSpPr>
          <p:nvPr/>
        </p:nvSpPr>
        <p:spPr>
          <a:xfrm>
            <a:off x="509588" y="3429000"/>
            <a:ext cx="3938587" cy="31369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ct val="0"/>
              </a:spcAft>
            </a:pPr>
            <a:endParaRPr lang="en-IN" altLang="en-US" sz="2400" b="1" dirty="0">
              <a:latin typeface="Times New Roman" panose="02020603050405020304" pitchFamily="18" charset="0"/>
              <a:cs typeface="Times New Roman" panose="02020603050405020304" pitchFamily="18" charset="0"/>
            </a:endParaRPr>
          </a:p>
        </p:txBody>
      </p:sp>
      <p:sp>
        <p:nvSpPr>
          <p:cNvPr id="6" name="TextBox 5"/>
          <p:cNvSpPr txBox="1"/>
          <p:nvPr/>
        </p:nvSpPr>
        <p:spPr>
          <a:xfrm>
            <a:off x="2128603" y="-32144"/>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CSV 401: System Monitoring</a:t>
            </a:r>
            <a:endParaRPr lang="en-IN" b="1" i="1" dirty="0">
              <a:solidFill>
                <a:srgbClr val="FF0000"/>
              </a:solidFill>
              <a:latin typeface="Times New Roman" panose="02020603050405020304" pitchFamily="18" charset="0"/>
              <a:cs typeface="Times New Roman" panose="02020603050405020304" pitchFamily="18" charset="0"/>
            </a:endParaRPr>
          </a:p>
        </p:txBody>
      </p:sp>
      <p:sp>
        <p:nvSpPr>
          <p:cNvPr id="9" name="TextBox 8"/>
          <p:cNvSpPr txBox="1"/>
          <p:nvPr/>
        </p:nvSpPr>
        <p:spPr>
          <a:xfrm>
            <a:off x="1533832" y="1238865"/>
            <a:ext cx="6690771" cy="338554"/>
          </a:xfrm>
          <a:prstGeom prst="rect">
            <a:avLst/>
          </a:prstGeom>
          <a:noFill/>
        </p:spPr>
        <p:txBody>
          <a:bodyPr wrap="square">
            <a:spAutoFit/>
          </a:bodyPr>
          <a:lstStyle/>
          <a:p>
            <a:r>
              <a:rPr lang="en-IN" sz="1600" b="1" dirty="0">
                <a:effectLst/>
                <a:latin typeface="Times New Roman" panose="02020603050405020304" pitchFamily="18" charset="0"/>
                <a:cs typeface="Times New Roman" panose="02020603050405020304" pitchFamily="18" charset="0"/>
              </a:rPr>
              <a:t>STARTING A TERMINAL</a:t>
            </a:r>
            <a:endParaRPr lang="en-IN"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845573" y="1577419"/>
            <a:ext cx="11149055" cy="1754326"/>
          </a:xfrm>
          <a:prstGeom prst="rect">
            <a:avLst/>
          </a:prstGeom>
          <a:noFill/>
        </p:spPr>
        <p:txBody>
          <a:bodyPr wrap="square">
            <a:spAutoFit/>
          </a:bodyPr>
          <a:lstStyle/>
          <a:p>
            <a:pPr>
              <a:buNone/>
            </a:pPr>
            <a:r>
              <a:rPr lang="en-IN" dirty="0">
                <a:solidFill>
                  <a:srgbClr val="000000"/>
                </a:solidFill>
                <a:effectLst/>
                <a:latin typeface="Times New Roman" panose="02020603050405020304" pitchFamily="18" charset="0"/>
                <a:cs typeface="Times New Roman" panose="02020603050405020304" pitchFamily="18" charset="0"/>
              </a:rPr>
              <a:t>To get a shell prompt in GNOME, start a graphical terminal application such as GNOME Terminal. </a:t>
            </a:r>
            <a:endParaRPr lang="en-IN" dirty="0">
              <a:latin typeface="Times New Roman" panose="02020603050405020304" pitchFamily="18" charset="0"/>
              <a:cs typeface="Times New Roman" panose="02020603050405020304" pitchFamily="18" charset="0"/>
            </a:endParaRPr>
          </a:p>
          <a:p>
            <a:pPr>
              <a:buNone/>
            </a:pPr>
            <a:r>
              <a:rPr lang="en-IN" dirty="0">
                <a:solidFill>
                  <a:srgbClr val="000000"/>
                </a:solidFill>
                <a:effectLst/>
                <a:latin typeface="Times New Roman" panose="02020603050405020304" pitchFamily="18" charset="0"/>
                <a:cs typeface="Times New Roman" panose="02020603050405020304" pitchFamily="18" charset="0"/>
              </a:rPr>
              <a:t>There are several ways to do this. The two most commonly used methods are listed below: </a:t>
            </a:r>
            <a:endParaRPr lang="en-IN" dirty="0">
              <a:latin typeface="Times New Roman" panose="02020603050405020304" pitchFamily="18" charset="0"/>
              <a:cs typeface="Times New Roman" panose="02020603050405020304" pitchFamily="18" charset="0"/>
            </a:endParaRPr>
          </a:p>
          <a:p>
            <a:pPr>
              <a:buNone/>
            </a:pPr>
            <a:r>
              <a:rPr lang="en-IN" dirty="0">
                <a:solidFill>
                  <a:srgbClr val="000000"/>
                </a:solidFill>
                <a:effectLst/>
                <a:latin typeface="Times New Roman" panose="02020603050405020304" pitchFamily="18" charset="0"/>
                <a:cs typeface="Times New Roman" panose="02020603050405020304" pitchFamily="18" charset="0"/>
              </a:rPr>
              <a:t>• From the Activities overview, select Terminal from the dash (either from the </a:t>
            </a:r>
            <a:r>
              <a:rPr lang="en-IN" dirty="0" err="1">
                <a:solidFill>
                  <a:srgbClr val="000000"/>
                </a:solidFill>
                <a:effectLst/>
                <a:latin typeface="Times New Roman" panose="02020603050405020304" pitchFamily="18" charset="0"/>
                <a:cs typeface="Times New Roman" panose="02020603050405020304" pitchFamily="18" charset="0"/>
              </a:rPr>
              <a:t>favorites</a:t>
            </a:r>
            <a:r>
              <a:rPr lang="en-IN" dirty="0">
                <a:solidFill>
                  <a:srgbClr val="000000"/>
                </a:solidFill>
                <a:effectLst/>
                <a:latin typeface="Times New Roman" panose="02020603050405020304" pitchFamily="18" charset="0"/>
                <a:cs typeface="Times New Roman" panose="02020603050405020304" pitchFamily="18" charset="0"/>
              </a:rPr>
              <a:t> area or by </a:t>
            </a:r>
            <a:endParaRPr lang="en-IN" dirty="0">
              <a:latin typeface="Times New Roman" panose="02020603050405020304" pitchFamily="18" charset="0"/>
              <a:cs typeface="Times New Roman" panose="02020603050405020304" pitchFamily="18" charset="0"/>
            </a:endParaRPr>
          </a:p>
          <a:p>
            <a:pPr>
              <a:buNone/>
            </a:pPr>
            <a:r>
              <a:rPr lang="en-IN" dirty="0">
                <a:solidFill>
                  <a:srgbClr val="000000"/>
                </a:solidFill>
                <a:effectLst/>
                <a:latin typeface="Times New Roman" panose="02020603050405020304" pitchFamily="18" charset="0"/>
                <a:cs typeface="Times New Roman" panose="02020603050405020304" pitchFamily="18" charset="0"/>
              </a:rPr>
              <a:t>finding it with either the grid button (inside Utilities grouping) or the search field at the top of </a:t>
            </a:r>
            <a:endParaRPr lang="en-IN" dirty="0">
              <a:latin typeface="Times New Roman" panose="02020603050405020304" pitchFamily="18" charset="0"/>
              <a:cs typeface="Times New Roman" panose="02020603050405020304" pitchFamily="18" charset="0"/>
            </a:endParaRPr>
          </a:p>
          <a:p>
            <a:pPr>
              <a:buNone/>
            </a:pPr>
            <a:r>
              <a:rPr lang="en-IN" dirty="0">
                <a:solidFill>
                  <a:srgbClr val="000000"/>
                </a:solidFill>
                <a:effectLst/>
                <a:latin typeface="Times New Roman" panose="02020603050405020304" pitchFamily="18" charset="0"/>
                <a:cs typeface="Times New Roman" panose="02020603050405020304" pitchFamily="18" charset="0"/>
              </a:rPr>
              <a:t>the windows overview). </a:t>
            </a:r>
            <a:endParaRPr lang="en-IN" dirty="0">
              <a:latin typeface="Times New Roman" panose="02020603050405020304" pitchFamily="18" charset="0"/>
              <a:cs typeface="Times New Roman" panose="02020603050405020304" pitchFamily="18" charset="0"/>
            </a:endParaRPr>
          </a:p>
          <a:p>
            <a:pPr>
              <a:buNone/>
            </a:pPr>
            <a:r>
              <a:rPr lang="en-IN" dirty="0">
                <a:solidFill>
                  <a:srgbClr val="000000"/>
                </a:solidFill>
                <a:effectLst/>
                <a:latin typeface="Times New Roman" panose="02020603050405020304" pitchFamily="18" charset="0"/>
                <a:cs typeface="Times New Roman" panose="02020603050405020304" pitchFamily="18" charset="0"/>
              </a:rPr>
              <a:t>• Press the </a:t>
            </a:r>
            <a:r>
              <a:rPr lang="en-IN" b="1" dirty="0">
                <a:solidFill>
                  <a:srgbClr val="000000"/>
                </a:solidFill>
                <a:effectLst/>
                <a:latin typeface="Times New Roman" panose="02020603050405020304" pitchFamily="18" charset="0"/>
                <a:cs typeface="Times New Roman" panose="02020603050405020304" pitchFamily="18" charset="0"/>
              </a:rPr>
              <a:t>Alt</a:t>
            </a:r>
            <a:r>
              <a:rPr lang="en-IN" dirty="0">
                <a:solidFill>
                  <a:srgbClr val="000000"/>
                </a:solidFill>
                <a:effectLst/>
                <a:latin typeface="Times New Roman" panose="02020603050405020304" pitchFamily="18" charset="0"/>
                <a:cs typeface="Times New Roman" panose="02020603050405020304" pitchFamily="18" charset="0"/>
              </a:rPr>
              <a:t>+</a:t>
            </a:r>
            <a:r>
              <a:rPr lang="en-IN" b="1" dirty="0">
                <a:solidFill>
                  <a:srgbClr val="000000"/>
                </a:solidFill>
                <a:effectLst/>
                <a:latin typeface="Times New Roman" panose="02020603050405020304" pitchFamily="18" charset="0"/>
                <a:cs typeface="Times New Roman" panose="02020603050405020304" pitchFamily="18" charset="0"/>
              </a:rPr>
              <a:t>F2</a:t>
            </a:r>
            <a:r>
              <a:rPr lang="en-IN" dirty="0">
                <a:solidFill>
                  <a:srgbClr val="000000"/>
                </a:solidFill>
                <a:effectLst/>
                <a:latin typeface="Times New Roman" panose="02020603050405020304" pitchFamily="18" charset="0"/>
                <a:cs typeface="Times New Roman" panose="02020603050405020304" pitchFamily="18" charset="0"/>
              </a:rPr>
              <a:t> key combination to open the Enter a Command and enter </a:t>
            </a:r>
            <a:r>
              <a:rPr lang="en-IN" b="1" dirty="0">
                <a:solidFill>
                  <a:srgbClr val="000000"/>
                </a:solidFill>
                <a:effectLst/>
                <a:latin typeface="Times New Roman" panose="02020603050405020304" pitchFamily="18" charset="0"/>
                <a:cs typeface="Times New Roman" panose="02020603050405020304" pitchFamily="18" charset="0"/>
              </a:rPr>
              <a:t>gnome-terminal</a:t>
            </a:r>
            <a:r>
              <a:rPr lang="en-IN" dirty="0">
                <a:solidFill>
                  <a:srgbClr val="000000"/>
                </a:solidFill>
                <a:effectLst/>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13" name="TextBox 12"/>
          <p:cNvSpPr txBox="1"/>
          <p:nvPr/>
        </p:nvSpPr>
        <p:spPr>
          <a:xfrm>
            <a:off x="845573" y="3670299"/>
            <a:ext cx="6096000" cy="338554"/>
          </a:xfrm>
          <a:prstGeom prst="rect">
            <a:avLst/>
          </a:prstGeom>
          <a:noFill/>
        </p:spPr>
        <p:txBody>
          <a:bodyPr wrap="square">
            <a:spAutoFit/>
          </a:bodyPr>
          <a:lstStyle/>
          <a:p>
            <a:r>
              <a:rPr lang="en-IN" sz="1600" b="1" dirty="0">
                <a:effectLst/>
                <a:latin typeface="Times New Roman" panose="02020603050405020304" pitchFamily="18" charset="0"/>
                <a:cs typeface="Times New Roman" panose="02020603050405020304" pitchFamily="18" charset="0"/>
              </a:rPr>
              <a:t>LOCKING THE SCREEN OR LOGGING OUT</a:t>
            </a:r>
            <a:endParaRPr lang="en-IN" dirty="0">
              <a:latin typeface="Times New Roman" panose="02020603050405020304" pitchFamily="18" charset="0"/>
              <a:cs typeface="Times New Roman" panose="02020603050405020304" pitchFamily="18" charset="0"/>
            </a:endParaRPr>
          </a:p>
        </p:txBody>
      </p:sp>
      <p:sp>
        <p:nvSpPr>
          <p:cNvPr id="15" name="TextBox 14"/>
          <p:cNvSpPr txBox="1"/>
          <p:nvPr/>
        </p:nvSpPr>
        <p:spPr>
          <a:xfrm>
            <a:off x="648929" y="4008853"/>
            <a:ext cx="10697497" cy="646331"/>
          </a:xfrm>
          <a:prstGeom prst="rect">
            <a:avLst/>
          </a:prstGeom>
          <a:noFill/>
        </p:spPr>
        <p:txBody>
          <a:bodyPr wrap="square">
            <a:spAutoFit/>
          </a:bodyPr>
          <a:lstStyle/>
          <a:p>
            <a:pPr>
              <a:buNone/>
            </a:pPr>
            <a:r>
              <a:rPr lang="en-IN" dirty="0">
                <a:solidFill>
                  <a:srgbClr val="000000"/>
                </a:solidFill>
                <a:effectLst/>
                <a:latin typeface="Times New Roman" panose="02020603050405020304" pitchFamily="18" charset="0"/>
                <a:cs typeface="Times New Roman" panose="02020603050405020304" pitchFamily="18" charset="0"/>
              </a:rPr>
              <a:t>To lock the screen, from the system menu in the upper-right corner, click the lock button at the </a:t>
            </a:r>
            <a:endParaRPr lang="en-IN" dirty="0">
              <a:latin typeface="Times New Roman" panose="02020603050405020304" pitchFamily="18" charset="0"/>
              <a:cs typeface="Times New Roman" panose="02020603050405020304" pitchFamily="18" charset="0"/>
            </a:endParaRPr>
          </a:p>
          <a:p>
            <a:pPr>
              <a:buNone/>
            </a:pPr>
            <a:r>
              <a:rPr lang="en-IN" dirty="0">
                <a:solidFill>
                  <a:srgbClr val="000000"/>
                </a:solidFill>
                <a:effectLst/>
                <a:latin typeface="Times New Roman" panose="02020603050405020304" pitchFamily="18" charset="0"/>
                <a:cs typeface="Times New Roman" panose="02020603050405020304" pitchFamily="18" charset="0"/>
              </a:rPr>
              <a:t>bottom of the menu or press </a:t>
            </a:r>
            <a:r>
              <a:rPr lang="en-IN" b="1" dirty="0" err="1">
                <a:solidFill>
                  <a:srgbClr val="000000"/>
                </a:solidFill>
                <a:effectLst/>
                <a:latin typeface="Times New Roman" panose="02020603050405020304" pitchFamily="18" charset="0"/>
                <a:cs typeface="Times New Roman" panose="02020603050405020304" pitchFamily="18" charset="0"/>
              </a:rPr>
              <a:t>Super</a:t>
            </a:r>
            <a:r>
              <a:rPr lang="en-IN" dirty="0" err="1">
                <a:solidFill>
                  <a:srgbClr val="000000"/>
                </a:solidFill>
                <a:effectLst/>
                <a:latin typeface="Times New Roman" panose="02020603050405020304" pitchFamily="18" charset="0"/>
                <a:cs typeface="Times New Roman" panose="02020603050405020304" pitchFamily="18" charset="0"/>
              </a:rPr>
              <a:t>+</a:t>
            </a:r>
            <a:r>
              <a:rPr lang="en-IN" b="1" dirty="0" err="1">
                <a:solidFill>
                  <a:srgbClr val="000000"/>
                </a:solidFill>
                <a:effectLst/>
                <a:latin typeface="Times New Roman" panose="02020603050405020304" pitchFamily="18" charset="0"/>
                <a:cs typeface="Times New Roman" panose="02020603050405020304" pitchFamily="18" charset="0"/>
              </a:rPr>
              <a:t>L</a:t>
            </a:r>
            <a:r>
              <a:rPr lang="en-IN" dirty="0">
                <a:solidFill>
                  <a:srgbClr val="000000"/>
                </a:solidFill>
                <a:effectLst/>
                <a:latin typeface="Times New Roman" panose="02020603050405020304" pitchFamily="18" charset="0"/>
                <a:cs typeface="Times New Roman" panose="02020603050405020304" pitchFamily="18" charset="0"/>
              </a:rPr>
              <a:t> (which might be easier to remember as </a:t>
            </a:r>
            <a:r>
              <a:rPr lang="en-IN" b="1" dirty="0" err="1">
                <a:solidFill>
                  <a:srgbClr val="000000"/>
                </a:solidFill>
                <a:effectLst/>
                <a:latin typeface="Times New Roman" panose="02020603050405020304" pitchFamily="18" charset="0"/>
                <a:cs typeface="Times New Roman" panose="02020603050405020304" pitchFamily="18" charset="0"/>
              </a:rPr>
              <a:t>Windows</a:t>
            </a:r>
            <a:r>
              <a:rPr lang="en-IN" dirty="0" err="1">
                <a:solidFill>
                  <a:srgbClr val="000000"/>
                </a:solidFill>
                <a:effectLst/>
                <a:latin typeface="Times New Roman" panose="02020603050405020304" pitchFamily="18" charset="0"/>
                <a:cs typeface="Times New Roman" panose="02020603050405020304" pitchFamily="18" charset="0"/>
              </a:rPr>
              <a:t>+</a:t>
            </a:r>
            <a:r>
              <a:rPr lang="en-IN" b="1" dirty="0" err="1">
                <a:solidFill>
                  <a:srgbClr val="000000"/>
                </a:solidFill>
                <a:effectLst/>
                <a:latin typeface="Times New Roman" panose="02020603050405020304" pitchFamily="18" charset="0"/>
                <a:cs typeface="Times New Roman" panose="02020603050405020304" pitchFamily="18" charset="0"/>
              </a:rPr>
              <a:t>L</a:t>
            </a:r>
            <a:r>
              <a:rPr lang="en-IN" dirty="0">
                <a:solidFill>
                  <a:srgbClr val="000000"/>
                </a:solidFill>
                <a:effectLst/>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128603" y="14990"/>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CSV 401: System Monitoring</a:t>
            </a:r>
            <a:endParaRPr lang="en-IN" b="1" i="1" dirty="0">
              <a:solidFill>
                <a:srgbClr val="FF0000"/>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1042220" y="815236"/>
            <a:ext cx="8908025" cy="369332"/>
          </a:xfrm>
          <a:prstGeom prst="rect">
            <a:avLst/>
          </a:prstGeom>
          <a:noFill/>
        </p:spPr>
        <p:txBody>
          <a:bodyPr wrap="square">
            <a:spAutoFit/>
          </a:bodyPr>
          <a:lstStyle/>
          <a:p>
            <a:pPr>
              <a:buNone/>
            </a:pPr>
            <a:r>
              <a:rPr lang="en-IN" b="1" dirty="0">
                <a:solidFill>
                  <a:srgbClr val="000000"/>
                </a:solidFill>
                <a:effectLst/>
                <a:latin typeface="Times New Roman" panose="02020603050405020304" pitchFamily="18" charset="0"/>
                <a:cs typeface="Times New Roman" panose="02020603050405020304" pitchFamily="18" charset="0"/>
              </a:rPr>
              <a:t>                  EXECUTING COMMANDS USING THE BASH SHELL</a:t>
            </a:r>
            <a:endParaRPr lang="en-IN"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91" y="1848464"/>
            <a:ext cx="4882332" cy="4009634"/>
          </a:xfrm>
          <a:prstGeom prst="rect">
            <a:avLst/>
          </a:prstGeom>
        </p:spPr>
      </p:pic>
      <p:sp>
        <p:nvSpPr>
          <p:cNvPr id="9" name="TextBox 8"/>
          <p:cNvSpPr txBox="1"/>
          <p:nvPr/>
        </p:nvSpPr>
        <p:spPr>
          <a:xfrm>
            <a:off x="894736" y="5953029"/>
            <a:ext cx="1988621"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Linux Architecture</a:t>
            </a:r>
            <a:endParaRPr lang="en-IN"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5584722" y="1568867"/>
            <a:ext cx="6096000" cy="873509"/>
          </a:xfrm>
          <a:prstGeom prst="rect">
            <a:avLst/>
          </a:prstGeom>
          <a:noFill/>
        </p:spPr>
        <p:txBody>
          <a:bodyPr wrap="square">
            <a:spAutoFit/>
          </a:bodyPr>
          <a:lstStyle/>
          <a:p>
            <a:pPr marL="0" marR="0" indent="0" algn="l" fontAlgn="base">
              <a:lnSpc>
                <a:spcPts val="2100"/>
              </a:lnSpc>
              <a:buNone/>
            </a:pPr>
            <a:r>
              <a:rPr lang="en-IN" sz="1800" b="1" i="0" spc="12" dirty="0">
                <a:solidFill>
                  <a:srgbClr val="273239"/>
                </a:solidFill>
                <a:effectLst/>
                <a:latin typeface="Nunito" panose="020F0502020204030204" pitchFamily="2" charset="0"/>
              </a:rPr>
              <a:t>Kernel</a:t>
            </a:r>
            <a:r>
              <a:rPr lang="en-IN" b="1" dirty="0">
                <a:solidFill>
                  <a:srgbClr val="273239"/>
                </a:solidFill>
                <a:latin typeface="Nunito" panose="020F0502020204030204" pitchFamily="2" charset="0"/>
              </a:rPr>
              <a:t> </a:t>
            </a:r>
            <a:r>
              <a:rPr lang="en-IN" sz="1400" i="0" spc="12" dirty="0">
                <a:solidFill>
                  <a:srgbClr val="273239"/>
                </a:solidFill>
                <a:effectLst/>
                <a:latin typeface="Times New Roman" panose="02020603050405020304" pitchFamily="18" charset="0"/>
                <a:cs typeface="Times New Roman" panose="02020603050405020304" pitchFamily="18" charset="0"/>
              </a:rPr>
              <a:t>is the core component of the Linux operating system that sits between the hardware and user space, managing system resources and ensuring smooth communication between software and hardware.</a:t>
            </a:r>
            <a:endParaRPr lang="en-IN" sz="1400" i="0" spc="10" dirty="0">
              <a:solidFill>
                <a:srgbClr val="273239"/>
              </a:solidFill>
              <a:effectLst/>
              <a:latin typeface="Times New Roman" panose="02020603050405020304" pitchFamily="18" charset="0"/>
              <a:cs typeface="Times New Roman" panose="02020603050405020304" pitchFamily="18" charset="0"/>
            </a:endParaRPr>
          </a:p>
        </p:txBody>
      </p:sp>
      <p:sp>
        <p:nvSpPr>
          <p:cNvPr id="15" name="TextBox 14"/>
          <p:cNvSpPr txBox="1"/>
          <p:nvPr/>
        </p:nvSpPr>
        <p:spPr>
          <a:xfrm>
            <a:off x="5584722" y="2528448"/>
            <a:ext cx="5722375" cy="1669688"/>
          </a:xfrm>
          <a:prstGeom prst="rect">
            <a:avLst/>
          </a:prstGeom>
          <a:noFill/>
        </p:spPr>
        <p:txBody>
          <a:bodyPr wrap="square">
            <a:spAutoFit/>
          </a:bodyPr>
          <a:lstStyle/>
          <a:p>
            <a:pPr marL="0" marR="0">
              <a:spcBef>
                <a:spcPts val="1800"/>
              </a:spcBef>
              <a:spcAft>
                <a:spcPts val="900"/>
              </a:spcAft>
              <a:buNone/>
            </a:pPr>
            <a:r>
              <a:rPr lang="en-IN" sz="1400" b="1" u="none" strike="noStrike" dirty="0">
                <a:effectLst/>
                <a:latin typeface="Times New Roman" panose="02020603050405020304" pitchFamily="18" charset="0"/>
                <a:cs typeface="Times New Roman" panose="02020603050405020304" pitchFamily="18" charset="0"/>
              </a:rPr>
              <a:t>Shell and Utilities</a:t>
            </a:r>
          </a:p>
          <a:p>
            <a:pPr marL="0" marR="0">
              <a:spcBef>
                <a:spcPts val="900"/>
              </a:spcBef>
              <a:spcAft>
                <a:spcPts val="1200"/>
              </a:spcAft>
              <a:buNone/>
            </a:pPr>
            <a:r>
              <a:rPr lang="en-IN" sz="1400" b="1" u="none" strike="noStrike" dirty="0">
                <a:effectLst/>
                <a:latin typeface="Times New Roman" panose="02020603050405020304" pitchFamily="18" charset="0"/>
                <a:cs typeface="Times New Roman" panose="02020603050405020304" pitchFamily="18" charset="0"/>
              </a:rPr>
              <a:t>Command interpreter:</a:t>
            </a:r>
            <a:r>
              <a:rPr lang="en-IN" sz="1400" b="0" u="none" strike="noStrike" dirty="0">
                <a:effectLst/>
                <a:latin typeface="Times New Roman" panose="02020603050405020304" pitchFamily="18" charset="0"/>
                <a:cs typeface="Times New Roman" panose="02020603050405020304" pitchFamily="18" charset="0"/>
              </a:rPr>
              <a:t> A user interface (such as Bash ) that accepts text commands and passes them along to be executed.</a:t>
            </a:r>
          </a:p>
          <a:p>
            <a:pPr marL="0" marR="0">
              <a:spcBef>
                <a:spcPts val="900"/>
              </a:spcBef>
              <a:spcAft>
                <a:spcPts val="1200"/>
              </a:spcAft>
              <a:buNone/>
            </a:pPr>
            <a:r>
              <a:rPr lang="en-IN" sz="1400" b="1" u="none" strike="noStrike" dirty="0">
                <a:effectLst/>
                <a:latin typeface="Times New Roman" panose="02020603050405020304" pitchFamily="18" charset="0"/>
                <a:cs typeface="Times New Roman" panose="02020603050405020304" pitchFamily="18" charset="0"/>
              </a:rPr>
              <a:t>System tools:</a:t>
            </a:r>
            <a:r>
              <a:rPr lang="en-IN" sz="1400" b="0" u="none" strike="noStrike" dirty="0">
                <a:effectLst/>
                <a:latin typeface="Times New Roman" panose="02020603050405020304" pitchFamily="18" charset="0"/>
                <a:cs typeface="Times New Roman" panose="02020603050405020304" pitchFamily="18" charset="0"/>
              </a:rPr>
              <a:t> Small programs used by administrators to configure, monitor, and maintain the system</a:t>
            </a:r>
          </a:p>
        </p:txBody>
      </p:sp>
      <p:sp>
        <p:nvSpPr>
          <p:cNvPr id="17" name="TextBox 16"/>
          <p:cNvSpPr txBox="1"/>
          <p:nvPr/>
        </p:nvSpPr>
        <p:spPr>
          <a:xfrm>
            <a:off x="5584722" y="4284208"/>
            <a:ext cx="5486401" cy="738664"/>
          </a:xfrm>
          <a:prstGeom prst="rect">
            <a:avLst/>
          </a:prstGeom>
          <a:noFill/>
        </p:spPr>
        <p:txBody>
          <a:bodyPr wrap="square">
            <a:spAutoFit/>
          </a:bodyPr>
          <a:lstStyle/>
          <a:p>
            <a:r>
              <a:rPr lang="en-IN" sz="1400" b="1" u="none" strike="noStrike" dirty="0">
                <a:effectLst/>
                <a:latin typeface="Times New Roman" panose="02020603050405020304" pitchFamily="18" charset="0"/>
                <a:cs typeface="Times New Roman" panose="02020603050405020304" pitchFamily="18" charset="0"/>
              </a:rPr>
              <a:t>Programs:</a:t>
            </a:r>
            <a:r>
              <a:rPr lang="en-IN" sz="1400" dirty="0">
                <a:latin typeface="Times New Roman" panose="02020603050405020304" pitchFamily="18" charset="0"/>
                <a:cs typeface="Times New Roman" panose="02020603050405020304" pitchFamily="18" charset="0"/>
              </a:rPr>
              <a:t> The topmost layer where user-facing software, office tools, and graphical or command-line programs run isolated from direct hardware access for enhanced stability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128603" y="14990"/>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CSV 401: System Monitoring</a:t>
            </a:r>
            <a:endParaRPr lang="en-IN" b="1" i="1" dirty="0">
              <a:solidFill>
                <a:srgbClr val="FF0000"/>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1042220" y="815236"/>
            <a:ext cx="8908025" cy="369332"/>
          </a:xfrm>
          <a:prstGeom prst="rect">
            <a:avLst/>
          </a:prstGeom>
          <a:noFill/>
        </p:spPr>
        <p:txBody>
          <a:bodyPr wrap="square">
            <a:spAutoFit/>
          </a:bodyPr>
          <a:lstStyle/>
          <a:p>
            <a:pPr>
              <a:buNone/>
            </a:pPr>
            <a:r>
              <a:rPr lang="en-IN" b="1" dirty="0">
                <a:solidFill>
                  <a:srgbClr val="000000"/>
                </a:solidFill>
                <a:effectLst/>
                <a:latin typeface="Times New Roman" panose="02020603050405020304" pitchFamily="18" charset="0"/>
                <a:cs typeface="Times New Roman" panose="02020603050405020304" pitchFamily="18" charset="0"/>
              </a:rPr>
              <a:t>                  EXECUTING COMMANDS USING THE BASH SHELL</a:t>
            </a:r>
            <a:endParaRPr lang="en-IN"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956963" y="1889938"/>
            <a:ext cx="3300404" cy="1813865"/>
          </a:xfrm>
          <a:prstGeom prst="rect">
            <a:avLst/>
          </a:prstGeom>
        </p:spPr>
      </p:pic>
      <p:sp>
        <p:nvSpPr>
          <p:cNvPr id="7" name="TextBox 6"/>
          <p:cNvSpPr txBox="1"/>
          <p:nvPr/>
        </p:nvSpPr>
        <p:spPr>
          <a:xfrm>
            <a:off x="0" y="4169284"/>
            <a:ext cx="8049718" cy="707886"/>
          </a:xfrm>
          <a:prstGeom prst="rect">
            <a:avLst/>
          </a:prstGeom>
          <a:noFill/>
        </p:spPr>
        <p:txBody>
          <a:bodyPr wrap="square">
            <a:spAutoFit/>
          </a:bodyPr>
          <a:lstStyle/>
          <a:p>
            <a:r>
              <a:rPr lang="en-IN" sz="2000" b="1" dirty="0" err="1">
                <a:latin typeface="Times New Roman" panose="02020603050405020304" pitchFamily="18" charset="0"/>
                <a:cs typeface="Times New Roman" panose="02020603050405020304" pitchFamily="18" charset="0"/>
              </a:rPr>
              <a:t>whoami</a:t>
            </a:r>
            <a:r>
              <a:rPr lang="en-IN" sz="2000" dirty="0">
                <a:latin typeface="Times New Roman" panose="02020603050405020304" pitchFamily="18" charset="0"/>
                <a:cs typeface="Times New Roman" panose="02020603050405020304" pitchFamily="18" charset="0"/>
              </a:rPr>
              <a:t>: Displays the username of the currently logged-in user.</a:t>
            </a:r>
          </a:p>
          <a:p>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Output:</a:t>
            </a:r>
            <a:r>
              <a:rPr lang="en-IN" sz="2000" dirty="0">
                <a:latin typeface="Times New Roman" panose="02020603050405020304" pitchFamily="18" charset="0"/>
                <a:cs typeface="Times New Roman" panose="02020603050405020304" pitchFamily="18" charset="0"/>
              </a:rPr>
              <a:t> user → The current logged-in user's username is </a:t>
            </a:r>
            <a:r>
              <a:rPr lang="en-IN" sz="2000" b="1" dirty="0">
                <a:latin typeface="Times New Roman" panose="02020603050405020304" pitchFamily="18" charset="0"/>
                <a:cs typeface="Times New Roman" panose="02020603050405020304" pitchFamily="18" charset="0"/>
              </a:rPr>
              <a:t>user</a:t>
            </a:r>
            <a:r>
              <a:rPr lang="en-IN" sz="2000" dirty="0">
                <a:latin typeface="Times New Roman" panose="02020603050405020304" pitchFamily="18" charset="0"/>
                <a:cs typeface="Times New Roman" panose="02020603050405020304" pitchFamily="18" charset="0"/>
              </a:rPr>
              <a:t>.</a:t>
            </a:r>
          </a:p>
        </p:txBody>
      </p:sp>
      <p:pic>
        <p:nvPicPr>
          <p:cNvPr id="12" name="Picture 11"/>
          <p:cNvPicPr>
            <a:picLocks noChangeAspect="1"/>
          </p:cNvPicPr>
          <p:nvPr/>
        </p:nvPicPr>
        <p:blipFill>
          <a:blip r:embed="rId3"/>
          <a:stretch>
            <a:fillRect/>
          </a:stretch>
        </p:blipFill>
        <p:spPr>
          <a:xfrm>
            <a:off x="6361471" y="1889938"/>
            <a:ext cx="5191431" cy="931920"/>
          </a:xfrm>
          <a:prstGeom prst="rect">
            <a:avLst/>
          </a:prstGeom>
        </p:spPr>
      </p:pic>
      <p:sp>
        <p:nvSpPr>
          <p:cNvPr id="14" name="TextBox 13"/>
          <p:cNvSpPr txBox="1"/>
          <p:nvPr/>
        </p:nvSpPr>
        <p:spPr>
          <a:xfrm>
            <a:off x="6794089" y="3013214"/>
            <a:ext cx="4562169" cy="923330"/>
          </a:xfrm>
          <a:prstGeom prst="rect">
            <a:avLst/>
          </a:prstGeom>
          <a:noFill/>
        </p:spPr>
        <p:txBody>
          <a:bodyPr wrap="square">
            <a:spAutoFit/>
          </a:bodyPr>
          <a:lstStyle/>
          <a:p>
            <a:pPr>
              <a:buNone/>
            </a:pPr>
            <a:r>
              <a:rPr lang="en-IN" dirty="0">
                <a:solidFill>
                  <a:srgbClr val="000000"/>
                </a:solidFill>
                <a:effectLst/>
                <a:latin typeface="Times New Roman" panose="02020603050405020304" pitchFamily="18" charset="0"/>
                <a:cs typeface="Times New Roman" panose="02020603050405020304" pitchFamily="18" charset="0"/>
              </a:rPr>
              <a:t>If you want to type more than one command on a single line, use the semicolon (</a:t>
            </a:r>
            <a:r>
              <a:rPr lang="en-IN" b="1" dirty="0">
                <a:solidFill>
                  <a:srgbClr val="000000"/>
                </a:solidFill>
                <a:effectLst/>
                <a:latin typeface="Times New Roman" panose="02020603050405020304" pitchFamily="18" charset="0"/>
                <a:cs typeface="Times New Roman" panose="02020603050405020304" pitchFamily="18" charset="0"/>
              </a:rPr>
              <a:t>;</a:t>
            </a:r>
            <a:r>
              <a:rPr lang="en-IN" dirty="0">
                <a:solidFill>
                  <a:srgbClr val="000000"/>
                </a:solidFill>
                <a:effectLst/>
                <a:latin typeface="Times New Roman" panose="02020603050405020304" pitchFamily="18" charset="0"/>
                <a:cs typeface="Times New Roman" panose="02020603050405020304" pitchFamily="18" charset="0"/>
              </a:rPr>
              <a:t>) as a command separator</a:t>
            </a:r>
            <a:endParaRPr lang="en-IN" dirty="0">
              <a:latin typeface="Times New Roman" panose="02020603050405020304" pitchFamily="18" charset="0"/>
              <a:cs typeface="Times New Roman" panose="02020603050405020304" pitchFamily="18" charset="0"/>
            </a:endParaRPr>
          </a:p>
        </p:txBody>
      </p:sp>
      <p:pic>
        <p:nvPicPr>
          <p:cNvPr id="18" name="Picture 17"/>
          <p:cNvPicPr>
            <a:picLocks noChangeAspect="1"/>
          </p:cNvPicPr>
          <p:nvPr/>
        </p:nvPicPr>
        <p:blipFill>
          <a:blip r:embed="rId4"/>
          <a:stretch>
            <a:fillRect/>
          </a:stretch>
        </p:blipFill>
        <p:spPr>
          <a:xfrm>
            <a:off x="7294620" y="4484268"/>
            <a:ext cx="3982979" cy="1348197"/>
          </a:xfrm>
          <a:prstGeom prst="rect">
            <a:avLst/>
          </a:prstGeom>
        </p:spPr>
      </p:pic>
      <p:sp>
        <p:nvSpPr>
          <p:cNvPr id="20" name="TextBox 19"/>
          <p:cNvSpPr txBox="1"/>
          <p:nvPr/>
        </p:nvSpPr>
        <p:spPr>
          <a:xfrm>
            <a:off x="7878939" y="4032693"/>
            <a:ext cx="1831207"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Simple Example </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128603" y="14990"/>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CSV 401: System Monitoring</a:t>
            </a:r>
            <a:endParaRPr lang="en-IN" b="1" i="1" dirty="0">
              <a:solidFill>
                <a:srgbClr val="FF0000"/>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1042220" y="815236"/>
            <a:ext cx="8908025" cy="369332"/>
          </a:xfrm>
          <a:prstGeom prst="rect">
            <a:avLst/>
          </a:prstGeom>
          <a:noFill/>
        </p:spPr>
        <p:txBody>
          <a:bodyPr wrap="square">
            <a:spAutoFit/>
          </a:bodyPr>
          <a:lstStyle/>
          <a:p>
            <a:pPr>
              <a:buNone/>
            </a:pPr>
            <a:r>
              <a:rPr lang="en-IN" b="1" dirty="0">
                <a:solidFill>
                  <a:srgbClr val="000000"/>
                </a:solidFill>
                <a:effectLst/>
                <a:latin typeface="Times New Roman" panose="02020603050405020304" pitchFamily="18" charset="0"/>
                <a:cs typeface="Times New Roman" panose="02020603050405020304" pitchFamily="18" charset="0"/>
              </a:rPr>
              <a:t>                  EXECUTING COMMANDS USING THE BASH SHELL</a:t>
            </a:r>
            <a:endParaRPr lang="en-IN" dirty="0">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2"/>
          <a:stretch>
            <a:fillRect/>
          </a:stretch>
        </p:blipFill>
        <p:spPr>
          <a:xfrm>
            <a:off x="727588" y="1360159"/>
            <a:ext cx="3929575" cy="2068841"/>
          </a:xfrm>
          <a:prstGeom prst="rect">
            <a:avLst/>
          </a:prstGeom>
        </p:spPr>
      </p:pic>
      <p:sp>
        <p:nvSpPr>
          <p:cNvPr id="11" name="TextBox 10"/>
          <p:cNvSpPr txBox="1"/>
          <p:nvPr/>
        </p:nvSpPr>
        <p:spPr>
          <a:xfrm>
            <a:off x="334298" y="3928001"/>
            <a:ext cx="4198374" cy="1754326"/>
          </a:xfrm>
          <a:prstGeom prst="rect">
            <a:avLst/>
          </a:prstGeom>
          <a:noFill/>
        </p:spPr>
        <p:txBody>
          <a:bodyPr wrap="square">
            <a:spAutoFit/>
          </a:bodyPr>
          <a:lstStyle/>
          <a:p>
            <a:pPr algn="just">
              <a:buNone/>
            </a:pPr>
            <a:r>
              <a:rPr lang="en-IN" dirty="0">
                <a:solidFill>
                  <a:srgbClr val="000000"/>
                </a:solidFill>
                <a:effectLst/>
                <a:latin typeface="Overpass-Light"/>
              </a:rPr>
              <a:t>The </a:t>
            </a:r>
            <a:r>
              <a:rPr lang="en-IN" b="1" dirty="0">
                <a:solidFill>
                  <a:srgbClr val="000000"/>
                </a:solidFill>
                <a:effectLst/>
                <a:latin typeface="LiberationMono-Bold"/>
              </a:rPr>
              <a:t>date</a:t>
            </a:r>
            <a:r>
              <a:rPr lang="en-IN" dirty="0">
                <a:solidFill>
                  <a:srgbClr val="000000"/>
                </a:solidFill>
                <a:effectLst/>
                <a:latin typeface="Overpass-Light"/>
              </a:rPr>
              <a:t> command displays the current date and time. It can also be used by the superuser to set the system clock. An argument that begins with</a:t>
            </a:r>
            <a:r>
              <a:rPr lang="en-IN" dirty="0">
                <a:solidFill>
                  <a:srgbClr val="000000"/>
                </a:solidFill>
                <a:latin typeface="Overpass-Light"/>
              </a:rPr>
              <a:t> </a:t>
            </a:r>
            <a:r>
              <a:rPr lang="en-IN" dirty="0">
                <a:solidFill>
                  <a:srgbClr val="000000"/>
                </a:solidFill>
                <a:effectLst/>
                <a:latin typeface="Overpass-Light"/>
              </a:rPr>
              <a:t>a plus sign (+) specifies a format string for the date command.</a:t>
            </a:r>
            <a:endParaRPr lang="en-IN" dirty="0"/>
          </a:p>
        </p:txBody>
      </p:sp>
      <p:pic>
        <p:nvPicPr>
          <p:cNvPr id="15" name="Picture 14"/>
          <p:cNvPicPr>
            <a:picLocks noChangeAspect="1"/>
          </p:cNvPicPr>
          <p:nvPr/>
        </p:nvPicPr>
        <p:blipFill>
          <a:blip r:embed="rId3"/>
          <a:stretch>
            <a:fillRect/>
          </a:stretch>
        </p:blipFill>
        <p:spPr>
          <a:xfrm>
            <a:off x="6882581" y="1360159"/>
            <a:ext cx="4306528" cy="2011445"/>
          </a:xfrm>
          <a:prstGeom prst="rect">
            <a:avLst/>
          </a:prstGeom>
        </p:spPr>
      </p:pic>
      <p:sp>
        <p:nvSpPr>
          <p:cNvPr id="17" name="TextBox 16"/>
          <p:cNvSpPr txBox="1"/>
          <p:nvPr/>
        </p:nvSpPr>
        <p:spPr>
          <a:xfrm>
            <a:off x="6882580" y="3928001"/>
            <a:ext cx="3795251" cy="1661993"/>
          </a:xfrm>
          <a:prstGeom prst="rect">
            <a:avLst/>
          </a:prstGeom>
          <a:noFill/>
        </p:spPr>
        <p:txBody>
          <a:bodyPr wrap="square">
            <a:spAutoFit/>
          </a:bodyPr>
          <a:lstStyle/>
          <a:p>
            <a:pPr algn="just">
              <a:buNone/>
            </a:pPr>
            <a:r>
              <a:rPr lang="en-IN" sz="1600" dirty="0">
                <a:solidFill>
                  <a:srgbClr val="000000"/>
                </a:solidFill>
                <a:effectLst/>
                <a:latin typeface="Times New Roman" panose="02020603050405020304" pitchFamily="18" charset="0"/>
                <a:cs typeface="Times New Roman" panose="02020603050405020304" pitchFamily="18" charset="0"/>
              </a:rPr>
              <a:t>The </a:t>
            </a:r>
            <a:r>
              <a:rPr lang="en-IN" sz="1600" b="1" dirty="0">
                <a:solidFill>
                  <a:srgbClr val="000000"/>
                </a:solidFill>
                <a:effectLst/>
                <a:latin typeface="Times New Roman" panose="02020603050405020304" pitchFamily="18" charset="0"/>
                <a:cs typeface="Times New Roman" panose="02020603050405020304" pitchFamily="18" charset="0"/>
              </a:rPr>
              <a:t>passwd</a:t>
            </a:r>
            <a:r>
              <a:rPr lang="en-IN" sz="1600" dirty="0">
                <a:solidFill>
                  <a:srgbClr val="000000"/>
                </a:solidFill>
                <a:effectLst/>
                <a:latin typeface="Times New Roman" panose="02020603050405020304" pitchFamily="18" charset="0"/>
                <a:cs typeface="Times New Roman" panose="02020603050405020304" pitchFamily="18" charset="0"/>
              </a:rPr>
              <a:t> command changes a user's own password. The original password for the account must be specified before a change is allowed.</a:t>
            </a:r>
            <a:r>
              <a:rPr lang="en-IN" dirty="0">
                <a:latin typeface="Times New Roman" panose="02020603050405020304" pitchFamily="18" charset="0"/>
                <a:cs typeface="Times New Roman" panose="02020603050405020304" pitchFamily="18" charset="0"/>
              </a:rPr>
              <a:t> The superuser can use the </a:t>
            </a:r>
            <a:r>
              <a:rPr lang="en-IN" b="1" dirty="0">
                <a:latin typeface="Times New Roman" panose="02020603050405020304" pitchFamily="18" charset="0"/>
                <a:cs typeface="Times New Roman" panose="02020603050405020304" pitchFamily="18" charset="0"/>
              </a:rPr>
              <a:t>passwd</a:t>
            </a:r>
            <a:r>
              <a:rPr lang="en-IN" dirty="0">
                <a:latin typeface="Times New Roman" panose="02020603050405020304" pitchFamily="18" charset="0"/>
                <a:cs typeface="Times New Roman" panose="02020603050405020304" pitchFamily="18" charset="0"/>
              </a:rPr>
              <a:t> command to change other users' passwords</a:t>
            </a:r>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128603" y="14990"/>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CSV 401: System Monitoring</a:t>
            </a:r>
            <a:endParaRPr lang="en-IN" b="1" i="1" dirty="0">
              <a:solidFill>
                <a:srgbClr val="FF0000"/>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1042220" y="815236"/>
            <a:ext cx="8908025" cy="369332"/>
          </a:xfrm>
          <a:prstGeom prst="rect">
            <a:avLst/>
          </a:prstGeom>
          <a:noFill/>
        </p:spPr>
        <p:txBody>
          <a:bodyPr wrap="square">
            <a:spAutoFit/>
          </a:bodyPr>
          <a:lstStyle/>
          <a:p>
            <a:pPr>
              <a:buNone/>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Absolute Path vs Relative Path</a:t>
            </a:r>
          </a:p>
        </p:txBody>
      </p:sp>
      <p:pic>
        <p:nvPicPr>
          <p:cNvPr id="3" name="Picture 2"/>
          <p:cNvPicPr>
            <a:picLocks noChangeAspect="1"/>
          </p:cNvPicPr>
          <p:nvPr/>
        </p:nvPicPr>
        <p:blipFill>
          <a:blip r:embed="rId2"/>
          <a:stretch>
            <a:fillRect/>
          </a:stretch>
        </p:blipFill>
        <p:spPr>
          <a:xfrm>
            <a:off x="2399071" y="1445490"/>
            <a:ext cx="6912077" cy="361812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128603" y="14990"/>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CSV 401: System Monitoring</a:t>
            </a:r>
            <a:endParaRPr lang="en-IN" b="1" i="1" dirty="0">
              <a:solidFill>
                <a:srgbClr val="FF0000"/>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1042220" y="815236"/>
            <a:ext cx="8908025" cy="369332"/>
          </a:xfrm>
          <a:prstGeom prst="rect">
            <a:avLst/>
          </a:prstGeom>
          <a:noFill/>
        </p:spPr>
        <p:txBody>
          <a:bodyPr wrap="square">
            <a:spAutoFit/>
          </a:bodyPr>
          <a:lstStyle/>
          <a:p>
            <a:pPr>
              <a:buNone/>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Absolute Path vs Relative Path</a:t>
            </a:r>
          </a:p>
        </p:txBody>
      </p:sp>
      <p:graphicFrame>
        <p:nvGraphicFramePr>
          <p:cNvPr id="2" name="Table 1"/>
          <p:cNvGraphicFramePr>
            <a:graphicFrameLocks noGrp="1"/>
          </p:cNvGraphicFramePr>
          <p:nvPr/>
        </p:nvGraphicFramePr>
        <p:xfrm>
          <a:off x="838200" y="1615482"/>
          <a:ext cx="10515600" cy="4123172"/>
        </p:xfrm>
        <a:graphic>
          <a:graphicData uri="http://schemas.openxmlformats.org/drawingml/2006/table">
            <a:tbl>
              <a:tblPr>
                <a:tableStyleId>{5C22544A-7EE6-4342-B048-85BDC9FD1C3A}</a:tableStyleId>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434018">
                <a:tc>
                  <a:txBody>
                    <a:bodyPr/>
                    <a:lstStyle/>
                    <a:p>
                      <a:pPr>
                        <a:buNone/>
                      </a:pPr>
                      <a:r>
                        <a:rPr lang="en-IN" b="1"/>
                        <a:t>Feature</a:t>
                      </a:r>
                      <a:endParaRPr lang="en-IN" b="1">
                        <a:latin typeface="Times New Roman" panose="02020603050405020304" pitchFamily="18" charset="0"/>
                        <a:cs typeface="Times New Roman" panose="02020603050405020304" pitchFamily="18" charset="0"/>
                      </a:endParaRPr>
                    </a:p>
                  </a:txBody>
                  <a:tcPr anchor="ctr">
                    <a:solidFill>
                      <a:schemeClr val="bg2">
                        <a:lumMod val="75000"/>
                      </a:schemeClr>
                    </a:solidFill>
                  </a:tcPr>
                </a:tc>
                <a:tc>
                  <a:txBody>
                    <a:bodyPr/>
                    <a:lstStyle/>
                    <a:p>
                      <a:pPr>
                        <a:buNone/>
                      </a:pPr>
                      <a:r>
                        <a:rPr lang="en-IN" b="1"/>
                        <a:t>Absolute Path</a:t>
                      </a:r>
                      <a:endParaRPr lang="en-IN" b="1">
                        <a:latin typeface="Times New Roman" panose="02020603050405020304" pitchFamily="18" charset="0"/>
                        <a:cs typeface="Times New Roman" panose="02020603050405020304" pitchFamily="18" charset="0"/>
                      </a:endParaRPr>
                    </a:p>
                  </a:txBody>
                  <a:tcPr anchor="ctr">
                    <a:solidFill>
                      <a:schemeClr val="bg2">
                        <a:lumMod val="75000"/>
                      </a:schemeClr>
                    </a:solidFill>
                  </a:tcPr>
                </a:tc>
                <a:tc>
                  <a:txBody>
                    <a:bodyPr/>
                    <a:lstStyle/>
                    <a:p>
                      <a:pPr>
                        <a:buNone/>
                      </a:pPr>
                      <a:r>
                        <a:rPr lang="en-IN" b="1" dirty="0"/>
                        <a:t>Relative Path</a:t>
                      </a:r>
                      <a:endParaRPr lang="en-IN" b="1" dirty="0">
                        <a:latin typeface="Times New Roman" panose="02020603050405020304" pitchFamily="18" charset="0"/>
                        <a:cs typeface="Times New Roman" panose="02020603050405020304" pitchFamily="18" charset="0"/>
                      </a:endParaRPr>
                    </a:p>
                  </a:txBody>
                  <a:tcPr anchor="ctr">
                    <a:solidFill>
                      <a:schemeClr val="bg2">
                        <a:lumMod val="75000"/>
                      </a:schemeClr>
                    </a:solidFill>
                  </a:tcPr>
                </a:tc>
                <a:extLst>
                  <a:ext uri="{0D108BD9-81ED-4DB2-BD59-A6C34878D82A}">
                    <a16:rowId xmlns:a16="http://schemas.microsoft.com/office/drawing/2014/main" val="10000"/>
                  </a:ext>
                </a:extLst>
              </a:tr>
              <a:tr h="759532">
                <a:tc>
                  <a:txBody>
                    <a:bodyPr/>
                    <a:lstStyle/>
                    <a:p>
                      <a:pPr>
                        <a:buNone/>
                      </a:pPr>
                      <a:r>
                        <a:rPr lang="en-IN" b="1"/>
                        <a:t>1. Starting Point</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t>Starts from the </a:t>
                      </a:r>
                      <a:r>
                        <a:rPr lang="en-IN" b="1"/>
                        <a:t>root directory (/)</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t>Starts from your </a:t>
                      </a:r>
                      <a:r>
                        <a:rPr lang="en-IN" b="1"/>
                        <a:t>current working directory</a:t>
                      </a:r>
                      <a:endParaRPr lang="en-IN">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1"/>
                  </a:ext>
                </a:extLst>
              </a:tr>
              <a:tr h="759532">
                <a:tc>
                  <a:txBody>
                    <a:bodyPr/>
                    <a:lstStyle/>
                    <a:p>
                      <a:pPr>
                        <a:buNone/>
                      </a:pPr>
                      <a:r>
                        <a:rPr lang="en-IN" b="1"/>
                        <a:t>2. Begins With</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t>Always begins with </a:t>
                      </a:r>
                      <a:r>
                        <a:rPr lang="en-IN" b="1"/>
                        <a:t>/</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t>Never starts with /. It may start with ./, ../, or a folder name.</a:t>
                      </a:r>
                      <a:endParaRPr lang="en-IN">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2"/>
                  </a:ext>
                </a:extLst>
              </a:tr>
              <a:tr h="1085045">
                <a:tc>
                  <a:txBody>
                    <a:bodyPr/>
                    <a:lstStyle/>
                    <a:p>
                      <a:pPr>
                        <a:buNone/>
                      </a:pPr>
                      <a:r>
                        <a:rPr lang="en-IN" b="1"/>
                        <a:t>3. Depends on Current Location?</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dirty="0"/>
                        <a:t>No. It works from anywhere in the filesystem.</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dirty="0"/>
                        <a:t> Yes. It only works correctly if you are in the expected current directory.</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3"/>
                  </a:ext>
                </a:extLst>
              </a:tr>
              <a:tr h="1085045">
                <a:tc>
                  <a:txBody>
                    <a:bodyPr/>
                    <a:lstStyle/>
                    <a:p>
                      <a:pPr>
                        <a:buNone/>
                      </a:pPr>
                      <a:r>
                        <a:rPr lang="en-IN" b="1"/>
                        <a:t>4. Example</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dirty="0"/>
                        <a:t>/home/student/Documents/report.txt</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dirty="0"/>
                        <a:t>Documents/report.txt, ../Documents/report.txt, ./report.txt</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128603" y="14990"/>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CSV 401: System Monitoring</a:t>
            </a:r>
            <a:endParaRPr lang="en-IN" b="1" i="1" dirty="0">
              <a:solidFill>
                <a:srgbClr val="FF0000"/>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1042220" y="815236"/>
            <a:ext cx="8908025" cy="369332"/>
          </a:xfrm>
          <a:prstGeom prst="rect">
            <a:avLst/>
          </a:prstGeom>
          <a:noFill/>
        </p:spPr>
        <p:txBody>
          <a:bodyPr wrap="square">
            <a:spAutoFit/>
          </a:bodyPr>
          <a:lstStyle/>
          <a:p>
            <a:pPr>
              <a:buNone/>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Absolute Path vs Relative Path</a:t>
            </a:r>
          </a:p>
        </p:txBody>
      </p:sp>
      <p:pic>
        <p:nvPicPr>
          <p:cNvPr id="8" name="Picture 7"/>
          <p:cNvPicPr>
            <a:picLocks noChangeAspect="1"/>
          </p:cNvPicPr>
          <p:nvPr/>
        </p:nvPicPr>
        <p:blipFill>
          <a:blip r:embed="rId2"/>
          <a:stretch>
            <a:fillRect/>
          </a:stretch>
        </p:blipFill>
        <p:spPr>
          <a:xfrm>
            <a:off x="3392130" y="1419155"/>
            <a:ext cx="4670322" cy="2375925"/>
          </a:xfrm>
          <a:prstGeom prst="rect">
            <a:avLst/>
          </a:prstGeom>
        </p:spPr>
      </p:pic>
      <p:sp>
        <p:nvSpPr>
          <p:cNvPr id="9" name="TextBox 8"/>
          <p:cNvSpPr txBox="1"/>
          <p:nvPr/>
        </p:nvSpPr>
        <p:spPr>
          <a:xfrm>
            <a:off x="1337188" y="4029667"/>
            <a:ext cx="9906466" cy="1754326"/>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Suppose your current directory is Downloads</a:t>
            </a:r>
          </a:p>
          <a:p>
            <a:r>
              <a:rPr lang="en-IN" dirty="0">
                <a:latin typeface="Times New Roman" panose="02020603050405020304" pitchFamily="18" charset="0"/>
                <a:cs typeface="Times New Roman" panose="02020603050405020304" pitchFamily="18" charset="0"/>
              </a:rPr>
              <a:t> -&gt; To open report.txt</a:t>
            </a: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Absolute Path </a:t>
            </a:r>
            <a:r>
              <a:rPr lang="en-IN" dirty="0">
                <a:latin typeface="Times New Roman" panose="02020603050405020304" pitchFamily="18" charset="0"/>
                <a:cs typeface="Times New Roman" panose="02020603050405020304" pitchFamily="18" charset="0"/>
              </a:rPr>
              <a:t>will be -&gt; </a:t>
            </a:r>
            <a:r>
              <a:rPr lang="en-US" dirty="0">
                <a:latin typeface="Times New Roman" panose="02020603050405020304" pitchFamily="18" charset="0"/>
                <a:cs typeface="Times New Roman" panose="02020603050405020304" pitchFamily="18" charset="0"/>
              </a:rPr>
              <a:t>cat /home/student/Documents/report.txt</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Relative Path </a:t>
            </a:r>
            <a:r>
              <a:rPr lang="en-US" dirty="0">
                <a:latin typeface="Times New Roman" panose="02020603050405020304" pitchFamily="18" charset="0"/>
                <a:cs typeface="Times New Roman" panose="02020603050405020304" pitchFamily="18" charset="0"/>
              </a:rPr>
              <a:t>will be -&gt; cat ../Documents/report.txt  (..) Why?? Because you are currently in Downloads</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128603" y="14990"/>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CSV 401: System Monitoring</a:t>
            </a:r>
            <a:endParaRPr lang="en-IN" b="1" i="1" dirty="0">
              <a:solidFill>
                <a:srgbClr val="FF0000"/>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1042220" y="815236"/>
            <a:ext cx="8908025" cy="369332"/>
          </a:xfrm>
          <a:prstGeom prst="rect">
            <a:avLst/>
          </a:prstGeom>
          <a:noFill/>
        </p:spPr>
        <p:txBody>
          <a:bodyPr wrap="square">
            <a:spAutoFit/>
          </a:bodyPr>
          <a:lstStyle/>
          <a:p>
            <a:pPr>
              <a:buNone/>
            </a:pPr>
            <a:r>
              <a:rPr lang="en-IN" b="1" dirty="0">
                <a:solidFill>
                  <a:srgbClr val="000000"/>
                </a:solidFill>
                <a:effectLst/>
                <a:latin typeface="Times New Roman" panose="02020603050405020304" pitchFamily="18" charset="0"/>
                <a:cs typeface="Times New Roman" panose="02020603050405020304" pitchFamily="18" charset="0"/>
              </a:rPr>
              <a:t>                                             Frequently used Commands</a:t>
            </a:r>
            <a:endParaRPr lang="en-IN" dirty="0">
              <a:latin typeface="Times New Roman" panose="02020603050405020304" pitchFamily="18" charset="0"/>
              <a:cs typeface="Times New Roman" panose="02020603050405020304" pitchFamily="18" charset="0"/>
            </a:endParaRPr>
          </a:p>
        </p:txBody>
      </p:sp>
      <p:sp>
        <p:nvSpPr>
          <p:cNvPr id="3" name="TextBox 2"/>
          <p:cNvSpPr txBox="1"/>
          <p:nvPr/>
        </p:nvSpPr>
        <p:spPr>
          <a:xfrm>
            <a:off x="3048000" y="610387"/>
            <a:ext cx="6096000" cy="369332"/>
          </a:xfrm>
          <a:prstGeom prst="rect">
            <a:avLst/>
          </a:prstGeom>
          <a:noFill/>
        </p:spPr>
        <p:txBody>
          <a:bodyPr wrap="square">
            <a:spAutoFit/>
          </a:bodyPr>
          <a:lstStyle/>
          <a:p>
            <a:endParaRPr lang="en-IN" dirty="0"/>
          </a:p>
        </p:txBody>
      </p:sp>
      <p:graphicFrame>
        <p:nvGraphicFramePr>
          <p:cNvPr id="8" name="Table 7"/>
          <p:cNvGraphicFramePr>
            <a:graphicFrameLocks noGrp="1"/>
          </p:cNvGraphicFramePr>
          <p:nvPr/>
        </p:nvGraphicFramePr>
        <p:xfrm>
          <a:off x="1042220" y="1278194"/>
          <a:ext cx="9704437" cy="4991149"/>
        </p:xfrm>
        <a:graphic>
          <a:graphicData uri="http://schemas.openxmlformats.org/drawingml/2006/table">
            <a:tbl>
              <a:tblPr firstRow="1" firstCol="1" bandRow="1">
                <a:tableStyleId>{5C22544A-7EE6-4342-B048-85BDC9FD1C3A}</a:tableStyleId>
              </a:tblPr>
              <a:tblGrid>
                <a:gridCol w="3234111">
                  <a:extLst>
                    <a:ext uri="{9D8B030D-6E8A-4147-A177-3AD203B41FA5}">
                      <a16:colId xmlns:a16="http://schemas.microsoft.com/office/drawing/2014/main" val="20000"/>
                    </a:ext>
                  </a:extLst>
                </a:gridCol>
                <a:gridCol w="3235163">
                  <a:extLst>
                    <a:ext uri="{9D8B030D-6E8A-4147-A177-3AD203B41FA5}">
                      <a16:colId xmlns:a16="http://schemas.microsoft.com/office/drawing/2014/main" val="20001"/>
                    </a:ext>
                  </a:extLst>
                </a:gridCol>
                <a:gridCol w="3235163">
                  <a:extLst>
                    <a:ext uri="{9D8B030D-6E8A-4147-A177-3AD203B41FA5}">
                      <a16:colId xmlns:a16="http://schemas.microsoft.com/office/drawing/2014/main" val="20002"/>
                    </a:ext>
                  </a:extLst>
                </a:gridCol>
              </a:tblGrid>
              <a:tr h="589066">
                <a:tc>
                  <a:txBody>
                    <a:bodyPr/>
                    <a:lstStyle/>
                    <a:p>
                      <a:pPr>
                        <a:lnSpc>
                          <a:spcPct val="115000"/>
                        </a:lnSpc>
                        <a:spcAft>
                          <a:spcPts val="10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ls</a:t>
                      </a:r>
                    </a:p>
                  </a:txBody>
                  <a:tcPr marL="68580" marR="68580" marT="0" marB="0"/>
                </a:tc>
                <a:tc>
                  <a:txBody>
                    <a:bodyPr/>
                    <a:lstStyle/>
                    <a:p>
                      <a:pPr>
                        <a:lnSpc>
                          <a:spcPct val="115000"/>
                        </a:lnSpc>
                        <a:spcAft>
                          <a:spcPts val="10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Lis the contents of the fie</a:t>
                      </a:r>
                    </a:p>
                  </a:txBody>
                  <a:tcPr marL="68580" marR="68580" marT="0" marB="0"/>
                </a:tc>
                <a:tc>
                  <a:txBody>
                    <a:bodyPr/>
                    <a:lstStyle/>
                    <a:p>
                      <a:pPr>
                        <a:lnSpc>
                          <a:spcPct val="115000"/>
                        </a:lnSpc>
                        <a:spcAft>
                          <a:spcPts val="10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ls ,ls –l , ls -a</a:t>
                      </a:r>
                    </a:p>
                  </a:txBody>
                  <a:tcPr marL="68580" marR="68580" marT="0" marB="0"/>
                </a:tc>
                <a:extLst>
                  <a:ext uri="{0D108BD9-81ED-4DB2-BD59-A6C34878D82A}">
                    <a16:rowId xmlns:a16="http://schemas.microsoft.com/office/drawing/2014/main" val="10000"/>
                  </a:ext>
                </a:extLst>
              </a:tr>
              <a:tr h="589066">
                <a:tc>
                  <a:txBody>
                    <a:bodyPr/>
                    <a:lstStyle/>
                    <a:p>
                      <a:pPr>
                        <a:lnSpc>
                          <a:spcPct val="115000"/>
                        </a:lnSpc>
                        <a:spcAft>
                          <a:spcPts val="1000"/>
                        </a:spcAft>
                        <a:buNone/>
                      </a:pPr>
                      <a:r>
                        <a:rPr lang="en-IN" sz="1800" kern="100">
                          <a:effectLst/>
                          <a:latin typeface="Times New Roman" panose="02020603050405020304" pitchFamily="18" charset="0"/>
                          <a:cs typeface="Times New Roman" panose="02020603050405020304" pitchFamily="18" charset="0"/>
                        </a:rPr>
                        <a:t>cd</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1800" kern="100">
                          <a:effectLst/>
                          <a:latin typeface="Times New Roman" panose="02020603050405020304" pitchFamily="18" charset="0"/>
                          <a:cs typeface="Times New Roman" panose="02020603050405020304" pitchFamily="18" charset="0"/>
                        </a:rPr>
                        <a:t>Changes the current working directory.</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1800" kern="100">
                          <a:effectLst/>
                          <a:latin typeface="Times New Roman" panose="02020603050405020304" pitchFamily="18" charset="0"/>
                          <a:cs typeface="Times New Roman" panose="02020603050405020304" pitchFamily="18" charset="0"/>
                        </a:rPr>
                        <a:t>cd /home/user/projects</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589066">
                <a:tc>
                  <a:txBody>
                    <a:bodyPr/>
                    <a:lstStyle/>
                    <a:p>
                      <a:pPr>
                        <a:lnSpc>
                          <a:spcPct val="115000"/>
                        </a:lnSpc>
                        <a:spcAft>
                          <a:spcPts val="1000"/>
                        </a:spcAft>
                        <a:buNone/>
                      </a:pPr>
                      <a:r>
                        <a:rPr lang="en-IN" sz="1800" kern="100">
                          <a:effectLst/>
                          <a:latin typeface="Times New Roman" panose="02020603050405020304" pitchFamily="18" charset="0"/>
                          <a:cs typeface="Times New Roman" panose="02020603050405020304" pitchFamily="18" charset="0"/>
                        </a:rPr>
                        <a:t>pwd</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1800" kern="100">
                          <a:effectLst/>
                          <a:latin typeface="Times New Roman" panose="02020603050405020304" pitchFamily="18" charset="0"/>
                          <a:cs typeface="Times New Roman" panose="02020603050405020304" pitchFamily="18" charset="0"/>
                        </a:rPr>
                        <a:t>Displays the full path of the current working directory.</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1800" kern="100">
                          <a:effectLst/>
                          <a:latin typeface="Times New Roman" panose="02020603050405020304" pitchFamily="18" charset="0"/>
                          <a:cs typeface="Times New Roman" panose="02020603050405020304" pitchFamily="18" charset="0"/>
                        </a:rPr>
                        <a:t>pwd</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641105">
                <a:tc>
                  <a:txBody>
                    <a:bodyPr/>
                    <a:lstStyle/>
                    <a:p>
                      <a:pPr>
                        <a:lnSpc>
                          <a:spcPct val="115000"/>
                        </a:lnSpc>
                        <a:spcAft>
                          <a:spcPts val="1000"/>
                        </a:spcAft>
                        <a:buNone/>
                      </a:pPr>
                      <a:r>
                        <a:rPr lang="en-IN" sz="1800" kern="100">
                          <a:effectLst/>
                          <a:latin typeface="Times New Roman" panose="02020603050405020304" pitchFamily="18" charset="0"/>
                          <a:cs typeface="Times New Roman" panose="02020603050405020304" pitchFamily="18" charset="0"/>
                        </a:rPr>
                        <a:t>mkdir</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1800" kern="100">
                          <a:effectLst/>
                          <a:latin typeface="Times New Roman" panose="02020603050405020304" pitchFamily="18" charset="0"/>
                          <a:cs typeface="Times New Roman" panose="02020603050405020304" pitchFamily="18" charset="0"/>
                        </a:rPr>
                        <a:t>Creates a new directory.</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1800" kern="100">
                          <a:effectLst/>
                          <a:latin typeface="Times New Roman" panose="02020603050405020304" pitchFamily="18" charset="0"/>
                          <a:cs typeface="Times New Roman" panose="02020603050405020304" pitchFamily="18" charset="0"/>
                        </a:rPr>
                        <a:t>mkdir my_project</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589066">
                <a:tc>
                  <a:txBody>
                    <a:bodyPr/>
                    <a:lstStyle/>
                    <a:p>
                      <a:pPr>
                        <a:lnSpc>
                          <a:spcPct val="115000"/>
                        </a:lnSpc>
                        <a:spcAft>
                          <a:spcPts val="1000"/>
                        </a:spcAft>
                        <a:buNone/>
                      </a:pPr>
                      <a:r>
                        <a:rPr lang="en-IN" sz="1800" kern="100">
                          <a:effectLst/>
                          <a:latin typeface="Times New Roman" panose="02020603050405020304" pitchFamily="18" charset="0"/>
                          <a:cs typeface="Times New Roman" panose="02020603050405020304" pitchFamily="18" charset="0"/>
                        </a:rPr>
                        <a:t>rm</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1800" kern="100">
                          <a:effectLst/>
                          <a:latin typeface="Times New Roman" panose="02020603050405020304" pitchFamily="18" charset="0"/>
                          <a:cs typeface="Times New Roman" panose="02020603050405020304" pitchFamily="18" charset="0"/>
                        </a:rPr>
                        <a:t>Removes files or directories. Use -r for directories.</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1800" kern="100">
                          <a:effectLst/>
                          <a:latin typeface="Times New Roman" panose="02020603050405020304" pitchFamily="18" charset="0"/>
                          <a:cs typeface="Times New Roman" panose="02020603050405020304" pitchFamily="18" charset="0"/>
                        </a:rPr>
                        <a:t>rm file.txt or rm -r old_folder</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589066">
                <a:tc>
                  <a:txBody>
                    <a:bodyPr/>
                    <a:lstStyle/>
                    <a:p>
                      <a:pPr>
                        <a:lnSpc>
                          <a:spcPct val="115000"/>
                        </a:lnSpc>
                        <a:spcAft>
                          <a:spcPts val="1000"/>
                        </a:spcAft>
                        <a:buNone/>
                      </a:pPr>
                      <a:r>
                        <a:rPr lang="en-IN" sz="1800" kern="100">
                          <a:effectLst/>
                          <a:latin typeface="Times New Roman" panose="02020603050405020304" pitchFamily="18" charset="0"/>
                          <a:cs typeface="Times New Roman" panose="02020603050405020304" pitchFamily="18" charset="0"/>
                        </a:rPr>
                        <a:t>cp</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1800" kern="100">
                          <a:effectLst/>
                          <a:latin typeface="Times New Roman" panose="02020603050405020304" pitchFamily="18" charset="0"/>
                          <a:cs typeface="Times New Roman" panose="02020603050405020304" pitchFamily="18" charset="0"/>
                        </a:rPr>
                        <a:t>Copies files or directories from one location to another.</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1800" kern="100">
                          <a:effectLst/>
                          <a:latin typeface="Times New Roman" panose="02020603050405020304" pitchFamily="18" charset="0"/>
                          <a:cs typeface="Times New Roman" panose="02020603050405020304" pitchFamily="18" charset="0"/>
                        </a:rPr>
                        <a:t>cp file.txt backup.txt</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589066">
                <a:tc>
                  <a:txBody>
                    <a:bodyPr/>
                    <a:lstStyle/>
                    <a:p>
                      <a:pPr>
                        <a:lnSpc>
                          <a:spcPct val="115000"/>
                        </a:lnSpc>
                        <a:spcAft>
                          <a:spcPts val="1000"/>
                        </a:spcAft>
                        <a:buNone/>
                      </a:pPr>
                      <a:r>
                        <a:rPr lang="en-IN" sz="1800" kern="100">
                          <a:effectLst/>
                          <a:latin typeface="Times New Roman" panose="02020603050405020304" pitchFamily="18" charset="0"/>
                          <a:cs typeface="Times New Roman" panose="02020603050405020304" pitchFamily="18" charset="0"/>
                        </a:rPr>
                        <a:t>mv</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1800" kern="100">
                          <a:effectLst/>
                          <a:latin typeface="Times New Roman" panose="02020603050405020304" pitchFamily="18" charset="0"/>
                          <a:cs typeface="Times New Roman" panose="02020603050405020304" pitchFamily="18" charset="0"/>
                        </a:rPr>
                        <a:t>Moves or renames files and directories.</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1800" kern="100">
                          <a:effectLst/>
                          <a:latin typeface="Times New Roman" panose="02020603050405020304" pitchFamily="18" charset="0"/>
                          <a:cs typeface="Times New Roman" panose="02020603050405020304" pitchFamily="18" charset="0"/>
                        </a:rPr>
                        <a:t>mv old.txt new.txt</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6"/>
                  </a:ext>
                </a:extLst>
              </a:tr>
              <a:tr h="589066">
                <a:tc>
                  <a:txBody>
                    <a:bodyPr/>
                    <a:lstStyle/>
                    <a:p>
                      <a:pPr>
                        <a:lnSpc>
                          <a:spcPct val="115000"/>
                        </a:lnSpc>
                        <a:spcAft>
                          <a:spcPts val="1000"/>
                        </a:spcAft>
                        <a:buNone/>
                      </a:pPr>
                      <a:r>
                        <a:rPr lang="en-IN" sz="1800" kern="100">
                          <a:effectLst/>
                          <a:latin typeface="Times New Roman" panose="02020603050405020304" pitchFamily="18" charset="0"/>
                          <a:cs typeface="Times New Roman" panose="02020603050405020304" pitchFamily="18" charset="0"/>
                        </a:rPr>
                        <a:t>cat</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1800" kern="100">
                          <a:effectLst/>
                          <a:latin typeface="Times New Roman" panose="02020603050405020304" pitchFamily="18" charset="0"/>
                          <a:cs typeface="Times New Roman" panose="02020603050405020304" pitchFamily="18" charset="0"/>
                        </a:rPr>
                        <a:t>Displays the contents of a file or combines multiple files.</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1800" kern="100" dirty="0">
                          <a:effectLst/>
                          <a:latin typeface="Times New Roman" panose="02020603050405020304" pitchFamily="18" charset="0"/>
                          <a:cs typeface="Times New Roman" panose="02020603050405020304" pitchFamily="18" charset="0"/>
                        </a:rPr>
                        <a:t>cat README.md</a:t>
                      </a:r>
                    </a:p>
                    <a:p>
                      <a:pPr>
                        <a:lnSpc>
                          <a:spcPct val="115000"/>
                        </a:lnSpc>
                        <a:spcAft>
                          <a:spcPts val="1000"/>
                        </a:spcAft>
                        <a:buNone/>
                      </a:pP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7"/>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87872" y="1756166"/>
            <a:ext cx="3029106" cy="1517976"/>
          </a:xfrm>
          <a:prstGeom prst="rect">
            <a:avLst/>
          </a:prstGeom>
        </p:spPr>
      </p:pic>
      <p:sp>
        <p:nvSpPr>
          <p:cNvPr id="5" name="TextBox 4"/>
          <p:cNvSpPr txBox="1"/>
          <p:nvPr/>
        </p:nvSpPr>
        <p:spPr>
          <a:xfrm>
            <a:off x="1000173" y="3429000"/>
            <a:ext cx="2404503" cy="373625"/>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Command Line</a:t>
            </a:r>
          </a:p>
        </p:txBody>
      </p:sp>
      <p:cxnSp>
        <p:nvCxnSpPr>
          <p:cNvPr id="7" name="Straight Arrow Connector 6"/>
          <p:cNvCxnSpPr/>
          <p:nvPr/>
        </p:nvCxnSpPr>
        <p:spPr>
          <a:xfrm>
            <a:off x="4727639" y="2515154"/>
            <a:ext cx="161249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727639" y="2029740"/>
            <a:ext cx="1261884"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Description</a:t>
            </a:r>
          </a:p>
        </p:txBody>
      </p:sp>
      <p:sp>
        <p:nvSpPr>
          <p:cNvPr id="10" name="TextBox 9"/>
          <p:cNvSpPr txBox="1"/>
          <p:nvPr/>
        </p:nvSpPr>
        <p:spPr>
          <a:xfrm>
            <a:off x="7197213" y="1479755"/>
            <a:ext cx="3657600" cy="2585323"/>
          </a:xfrm>
          <a:prstGeom prst="rect">
            <a:avLst/>
          </a:prstGeom>
          <a:noFill/>
        </p:spPr>
        <p:txBody>
          <a:bodyPr wrap="square" rtlCol="0">
            <a:spAutoFit/>
          </a:bodyPr>
          <a:lstStyle/>
          <a:p>
            <a:r>
              <a:rPr lang="en-IN" dirty="0" err="1">
                <a:latin typeface="Times New Roman" panose="02020603050405020304" pitchFamily="18" charset="0"/>
                <a:cs typeface="Times New Roman" panose="02020603050405020304" pitchFamily="18" charset="0"/>
              </a:rPr>
              <a:t>aksh_maverick</a:t>
            </a:r>
            <a:r>
              <a:rPr lang="en-IN" dirty="0">
                <a:latin typeface="Times New Roman" panose="02020603050405020304" pitchFamily="18" charset="0"/>
                <a:cs typeface="Times New Roman" panose="02020603050405020304" pitchFamily="18" charset="0"/>
              </a:rPr>
              <a:t> → Current logged-in user.</a:t>
            </a:r>
          </a:p>
          <a:p>
            <a:r>
              <a:rPr lang="en-IN" dirty="0">
                <a:latin typeface="Times New Roman" panose="02020603050405020304" pitchFamily="18" charset="0"/>
                <a:cs typeface="Times New Roman" panose="02020603050405020304" pitchFamily="18" charset="0"/>
              </a:rPr>
              <a:t>AKSHANSH-PC → Computer (host) name.</a:t>
            </a:r>
          </a:p>
          <a:p>
            <a:r>
              <a:rPr lang="en-IN" dirty="0">
                <a:latin typeface="Times New Roman" panose="02020603050405020304" pitchFamily="18" charset="0"/>
                <a:cs typeface="Times New Roman" panose="02020603050405020304" pitchFamily="18" charset="0"/>
              </a:rPr>
              <a:t>~ → Current directory is the user's home directory.</a:t>
            </a:r>
          </a:p>
          <a:p>
            <a:r>
              <a:rPr lang="en-IN" dirty="0">
                <a:latin typeface="Times New Roman" panose="02020603050405020304" pitchFamily="18" charset="0"/>
                <a:cs typeface="Times New Roman" panose="02020603050405020304" pitchFamily="18" charset="0"/>
              </a:rPr>
              <a:t>$ → Indicates a normal user shell is ready to accept commands</a:t>
            </a:r>
            <a:r>
              <a:rPr lang="en-IN" dirty="0"/>
              <a:t>.</a:t>
            </a:r>
          </a:p>
          <a:p>
            <a:endParaRPr lang="en-I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038600" y="2120474"/>
            <a:ext cx="2404503" cy="373625"/>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Command Line</a:t>
            </a:r>
          </a:p>
        </p:txBody>
      </p:sp>
      <p:cxnSp>
        <p:nvCxnSpPr>
          <p:cNvPr id="7" name="Straight Arrow Connector 6"/>
          <p:cNvCxnSpPr/>
          <p:nvPr/>
        </p:nvCxnSpPr>
        <p:spPr>
          <a:xfrm>
            <a:off x="4727639" y="2515154"/>
            <a:ext cx="0" cy="10146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727639" y="2716285"/>
            <a:ext cx="1261884"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Description</a:t>
            </a:r>
          </a:p>
        </p:txBody>
      </p:sp>
      <p:pic>
        <p:nvPicPr>
          <p:cNvPr id="11" name="Picture 10"/>
          <p:cNvPicPr>
            <a:picLocks noChangeAspect="1"/>
          </p:cNvPicPr>
          <p:nvPr/>
        </p:nvPicPr>
        <p:blipFill>
          <a:blip r:embed="rId2"/>
          <a:stretch>
            <a:fillRect/>
          </a:stretch>
        </p:blipFill>
        <p:spPr>
          <a:xfrm>
            <a:off x="830103" y="632880"/>
            <a:ext cx="10744752" cy="1473276"/>
          </a:xfrm>
          <a:prstGeom prst="rect">
            <a:avLst/>
          </a:prstGeom>
        </p:spPr>
      </p:pic>
      <p:graphicFrame>
        <p:nvGraphicFramePr>
          <p:cNvPr id="13" name="Table 12"/>
          <p:cNvGraphicFramePr>
            <a:graphicFrameLocks noGrp="1"/>
          </p:cNvGraphicFramePr>
          <p:nvPr/>
        </p:nvGraphicFramePr>
        <p:xfrm>
          <a:off x="731723" y="4037094"/>
          <a:ext cx="10515600" cy="1645920"/>
        </p:xfrm>
        <a:graphic>
          <a:graphicData uri="http://schemas.openxmlformats.org/drawingml/2006/table">
            <a:tbl>
              <a:tblPr>
                <a:tableStyleId>{5C22544A-7EE6-4342-B048-85BDC9FD1C3A}</a:tableStyleId>
              </a:tblPr>
              <a:tblGrid>
                <a:gridCol w="52578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327395">
                <a:tc>
                  <a:txBody>
                    <a:bodyPr/>
                    <a:lstStyle/>
                    <a:p>
                      <a:pPr>
                        <a:buNone/>
                      </a:pPr>
                      <a:r>
                        <a:rPr lang="en-IN" b="1" dirty="0"/>
                        <a:t>Command/Action</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b="1"/>
                        <a:t>Description</a:t>
                      </a:r>
                      <a:endParaRPr lang="en-IN">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572941">
                <a:tc>
                  <a:txBody>
                    <a:bodyPr/>
                    <a:lstStyle/>
                    <a:p>
                      <a:pPr>
                        <a:buNone/>
                      </a:pPr>
                      <a:r>
                        <a:rPr lang="en-IN"/>
                        <a:t>mkdir schoolai schoolcse schoolece</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t>Creates three directories (schoolai, schoolcse, and schoolece) in a single command.</a:t>
                      </a:r>
                      <a:endParaRPr lang="en-IN">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1"/>
                  </a:ext>
                </a:extLst>
              </a:tr>
              <a:tr h="572941">
                <a:tc>
                  <a:txBody>
                    <a:bodyPr/>
                    <a:lstStyle/>
                    <a:p>
                      <a:pPr>
                        <a:buNone/>
                      </a:pPr>
                      <a:r>
                        <a:rPr lang="en-IN"/>
                        <a:t>ls</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dirty="0"/>
                        <a:t>Lists all files and directories in the current working directory (~).</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2"/>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038600" y="2120474"/>
            <a:ext cx="2404503" cy="373625"/>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Command Line</a:t>
            </a:r>
          </a:p>
        </p:txBody>
      </p:sp>
      <p:cxnSp>
        <p:nvCxnSpPr>
          <p:cNvPr id="7" name="Straight Arrow Connector 6"/>
          <p:cNvCxnSpPr/>
          <p:nvPr/>
        </p:nvCxnSpPr>
        <p:spPr>
          <a:xfrm>
            <a:off x="4727639" y="2515154"/>
            <a:ext cx="0" cy="10146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727639" y="2716285"/>
            <a:ext cx="1261884"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Description</a:t>
            </a:r>
          </a:p>
        </p:txBody>
      </p:sp>
      <p:pic>
        <p:nvPicPr>
          <p:cNvPr id="11" name="Picture 10"/>
          <p:cNvPicPr>
            <a:picLocks noChangeAspect="1"/>
          </p:cNvPicPr>
          <p:nvPr/>
        </p:nvPicPr>
        <p:blipFill>
          <a:blip r:embed="rId2"/>
          <a:stretch>
            <a:fillRect/>
          </a:stretch>
        </p:blipFill>
        <p:spPr>
          <a:xfrm>
            <a:off x="830103" y="632880"/>
            <a:ext cx="10744752" cy="1473276"/>
          </a:xfrm>
          <a:prstGeom prst="rect">
            <a:avLst/>
          </a:prstGeom>
        </p:spPr>
      </p:pic>
      <p:graphicFrame>
        <p:nvGraphicFramePr>
          <p:cNvPr id="13" name="Table 12"/>
          <p:cNvGraphicFramePr>
            <a:graphicFrameLocks noGrp="1"/>
          </p:cNvGraphicFramePr>
          <p:nvPr/>
        </p:nvGraphicFramePr>
        <p:xfrm>
          <a:off x="731723" y="4037094"/>
          <a:ext cx="10515600" cy="1645920"/>
        </p:xfrm>
        <a:graphic>
          <a:graphicData uri="http://schemas.openxmlformats.org/drawingml/2006/table">
            <a:tbl>
              <a:tblPr>
                <a:tableStyleId>{5C22544A-7EE6-4342-B048-85BDC9FD1C3A}</a:tableStyleId>
              </a:tblPr>
              <a:tblGrid>
                <a:gridCol w="52578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327395">
                <a:tc>
                  <a:txBody>
                    <a:bodyPr/>
                    <a:lstStyle/>
                    <a:p>
                      <a:pPr>
                        <a:buNone/>
                      </a:pPr>
                      <a:r>
                        <a:rPr lang="en-IN" b="1" dirty="0"/>
                        <a:t>Command/Action</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b="1"/>
                        <a:t>Description</a:t>
                      </a:r>
                      <a:endParaRPr lang="en-IN">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572941">
                <a:tc>
                  <a:txBody>
                    <a:bodyPr/>
                    <a:lstStyle/>
                    <a:p>
                      <a:pPr>
                        <a:buNone/>
                      </a:pPr>
                      <a:r>
                        <a:rPr lang="en-IN"/>
                        <a:t>mkdir schoolai schoolcse schoolece</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t>Creates three directories (schoolai, schoolcse, and schoolece) in a single command.</a:t>
                      </a:r>
                      <a:endParaRPr lang="en-IN">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1"/>
                  </a:ext>
                </a:extLst>
              </a:tr>
              <a:tr h="572941">
                <a:tc>
                  <a:txBody>
                    <a:bodyPr/>
                    <a:lstStyle/>
                    <a:p>
                      <a:pPr>
                        <a:buNone/>
                      </a:pPr>
                      <a:r>
                        <a:rPr lang="en-IN"/>
                        <a:t>ls</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dirty="0"/>
                        <a:t>Lists all files and directories in the current working directory (~).</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2"/>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038600" y="2120474"/>
            <a:ext cx="2404503" cy="373625"/>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p:txBody>
      </p:sp>
      <p:cxnSp>
        <p:nvCxnSpPr>
          <p:cNvPr id="7" name="Straight Arrow Connector 6"/>
          <p:cNvCxnSpPr/>
          <p:nvPr/>
        </p:nvCxnSpPr>
        <p:spPr>
          <a:xfrm>
            <a:off x="2869342" y="3337770"/>
            <a:ext cx="0" cy="10146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464362" y="2224672"/>
            <a:ext cx="184731" cy="369332"/>
          </a:xfrm>
          <a:prstGeom prst="rect">
            <a:avLst/>
          </a:prstGeom>
          <a:noFill/>
        </p:spPr>
        <p:txBody>
          <a:bodyPr wrap="none" rtlCol="0">
            <a:spAutoFit/>
          </a:bodyPr>
          <a:lstStyle/>
          <a:p>
            <a:endParaRPr lang="en-IN"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321178" y="795030"/>
            <a:ext cx="5017738" cy="2351293"/>
          </a:xfrm>
          <a:prstGeom prst="rect">
            <a:avLst/>
          </a:prstGeom>
        </p:spPr>
      </p:pic>
      <p:pic>
        <p:nvPicPr>
          <p:cNvPr id="10" name="Picture 9"/>
          <p:cNvPicPr>
            <a:picLocks noChangeAspect="1"/>
          </p:cNvPicPr>
          <p:nvPr/>
        </p:nvPicPr>
        <p:blipFill>
          <a:blip r:embed="rId3"/>
          <a:stretch>
            <a:fillRect/>
          </a:stretch>
        </p:blipFill>
        <p:spPr>
          <a:xfrm>
            <a:off x="1625236" y="4525687"/>
            <a:ext cx="2216264" cy="1190030"/>
          </a:xfrm>
          <a:prstGeom prst="rect">
            <a:avLst/>
          </a:prstGeom>
        </p:spPr>
      </p:pic>
      <p:sp>
        <p:nvSpPr>
          <p:cNvPr id="12" name="TextBox 11"/>
          <p:cNvSpPr txBox="1"/>
          <p:nvPr/>
        </p:nvSpPr>
        <p:spPr>
          <a:xfrm>
            <a:off x="2869342" y="3527012"/>
            <a:ext cx="1907766" cy="646331"/>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Tree Structure like</a:t>
            </a:r>
          </a:p>
          <a:p>
            <a:r>
              <a:rPr lang="en-IN" dirty="0">
                <a:latin typeface="Times New Roman" panose="02020603050405020304" pitchFamily="18" charset="0"/>
                <a:cs typeface="Times New Roman" panose="02020603050405020304" pitchFamily="18" charset="0"/>
              </a:rPr>
              <a:t> display</a:t>
            </a:r>
          </a:p>
        </p:txBody>
      </p:sp>
      <p:graphicFrame>
        <p:nvGraphicFramePr>
          <p:cNvPr id="14" name="Table 13"/>
          <p:cNvGraphicFramePr>
            <a:graphicFrameLocks noGrp="1"/>
          </p:cNvGraphicFramePr>
          <p:nvPr/>
        </p:nvGraphicFramePr>
        <p:xfrm>
          <a:off x="6174658" y="795030"/>
          <a:ext cx="5899356" cy="5468210"/>
        </p:xfrm>
        <a:graphic>
          <a:graphicData uri="http://schemas.openxmlformats.org/drawingml/2006/table">
            <a:tbl>
              <a:tblPr/>
              <a:tblGrid>
                <a:gridCol w="2949678">
                  <a:extLst>
                    <a:ext uri="{9D8B030D-6E8A-4147-A177-3AD203B41FA5}">
                      <a16:colId xmlns:a16="http://schemas.microsoft.com/office/drawing/2014/main" val="20000"/>
                    </a:ext>
                  </a:extLst>
                </a:gridCol>
                <a:gridCol w="2949678">
                  <a:extLst>
                    <a:ext uri="{9D8B030D-6E8A-4147-A177-3AD203B41FA5}">
                      <a16:colId xmlns:a16="http://schemas.microsoft.com/office/drawing/2014/main" val="20001"/>
                    </a:ext>
                  </a:extLst>
                </a:gridCol>
              </a:tblGrid>
              <a:tr h="397688">
                <a:tc>
                  <a:txBody>
                    <a:bodyPr/>
                    <a:lstStyle/>
                    <a:p>
                      <a:pPr>
                        <a:buNone/>
                      </a:pPr>
                      <a:r>
                        <a:rPr lang="en-IN" b="1">
                          <a:latin typeface="Times New Roman" panose="02020603050405020304" pitchFamily="18" charset="0"/>
                          <a:cs typeface="Times New Roman" panose="02020603050405020304" pitchFamily="18" charset="0"/>
                        </a:rPr>
                        <a:t>Command/Action</a:t>
                      </a:r>
                      <a:endParaRPr lang="en-IN">
                        <a:latin typeface="Times New Roman" panose="02020603050405020304" pitchFamily="18" charset="0"/>
                        <a:cs typeface="Times New Roman" panose="02020603050405020304" pitchFamily="18" charset="0"/>
                      </a:endParaRPr>
                    </a:p>
                  </a:txBody>
                  <a:tcPr anchor="ctr">
                    <a:lnL>
                      <a:noFill/>
                    </a:lnL>
                    <a:lnR>
                      <a:noFill/>
                    </a:lnR>
                    <a:lnT>
                      <a:noFill/>
                    </a:lnT>
                    <a:lnB>
                      <a:noFill/>
                    </a:lnB>
                    <a:lnTlToBr w="12700" cmpd="sng">
                      <a:noFill/>
                      <a:prstDash val="solid"/>
                    </a:lnTlToBr>
                    <a:lnBlToTr w="12700" cmpd="sng">
                      <a:noFill/>
                      <a:prstDash val="solid"/>
                    </a:lnBlToTr>
                    <a:solidFill>
                      <a:schemeClr val="accent1">
                        <a:lumMod val="20000"/>
                        <a:lumOff val="80000"/>
                      </a:schemeClr>
                    </a:solidFill>
                  </a:tcPr>
                </a:tc>
                <a:tc>
                  <a:txBody>
                    <a:bodyPr/>
                    <a:lstStyle/>
                    <a:p>
                      <a:pPr>
                        <a:buNone/>
                      </a:pPr>
                      <a:r>
                        <a:rPr lang="en-IN" b="1" dirty="0">
                          <a:latin typeface="Times New Roman" panose="02020603050405020304" pitchFamily="18" charset="0"/>
                          <a:cs typeface="Times New Roman" panose="02020603050405020304" pitchFamily="18" charset="0"/>
                        </a:rPr>
                        <a:t>Description</a:t>
                      </a:r>
                      <a:endParaRPr lang="en-IN" dirty="0">
                        <a:latin typeface="Times New Roman" panose="02020603050405020304" pitchFamily="18" charset="0"/>
                        <a:cs typeface="Times New Roman" panose="02020603050405020304" pitchFamily="18" charset="0"/>
                      </a:endParaRPr>
                    </a:p>
                  </a:txBody>
                  <a:tcPr anchor="ctr">
                    <a:lnL>
                      <a:noFill/>
                    </a:lnL>
                    <a:lnR>
                      <a:noFill/>
                    </a:lnR>
                    <a:lnT>
                      <a:noFill/>
                    </a:lnT>
                    <a:lnB>
                      <a:no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0"/>
                  </a:ext>
                </a:extLst>
              </a:tr>
              <a:tr h="1590752">
                <a:tc>
                  <a:txBody>
                    <a:bodyPr/>
                    <a:lstStyle/>
                    <a:p>
                      <a:pPr>
                        <a:buNone/>
                      </a:pPr>
                      <a:r>
                        <a:rPr lang="en-IN">
                          <a:latin typeface="Times New Roman" panose="02020603050405020304" pitchFamily="18" charset="0"/>
                          <a:cs typeface="Times New Roman" panose="02020603050405020304" pitchFamily="18" charset="0"/>
                        </a:rPr>
                        <a:t>echo "Below is the attached syllabus" &gt; aisyllabus.txt</a:t>
                      </a:r>
                    </a:p>
                  </a:txBody>
                  <a:tcPr anchor="ctr">
                    <a:lnL>
                      <a:noFill/>
                    </a:lnL>
                    <a:lnR>
                      <a:noFill/>
                    </a:lnR>
                    <a:lnT>
                      <a:noFill/>
                    </a:lnT>
                    <a:lnB>
                      <a:noFill/>
                    </a:lnB>
                    <a:solidFill>
                      <a:schemeClr val="accent3">
                        <a:lumMod val="40000"/>
                        <a:lumOff val="60000"/>
                      </a:schemeClr>
                    </a:solidFill>
                  </a:tcPr>
                </a:tc>
                <a:tc>
                  <a:txBody>
                    <a:bodyPr/>
                    <a:lstStyle/>
                    <a:p>
                      <a:pPr>
                        <a:buNone/>
                      </a:pPr>
                      <a:r>
                        <a:rPr lang="en-IN" dirty="0">
                          <a:latin typeface="Times New Roman" panose="02020603050405020304" pitchFamily="18" charset="0"/>
                          <a:cs typeface="Times New Roman" panose="02020603050405020304" pitchFamily="18" charset="0"/>
                        </a:rPr>
                        <a:t>Creates a new file named aisyllabus.txt and writes the given text into it, replacing any existing content.</a:t>
                      </a:r>
                    </a:p>
                  </a:txBody>
                  <a:tcPr anchor="ctr">
                    <a:lnL>
                      <a:noFill/>
                    </a:lnL>
                    <a:lnR>
                      <a:noFill/>
                    </a:lnR>
                    <a:lnT>
                      <a:noFill/>
                    </a:lnT>
                    <a:lnB>
                      <a:noFill/>
                    </a:lnB>
                    <a:solidFill>
                      <a:schemeClr val="accent3">
                        <a:lumMod val="40000"/>
                        <a:lumOff val="60000"/>
                      </a:schemeClr>
                    </a:solidFill>
                  </a:tcPr>
                </a:tc>
                <a:extLst>
                  <a:ext uri="{0D108BD9-81ED-4DB2-BD59-A6C34878D82A}">
                    <a16:rowId xmlns:a16="http://schemas.microsoft.com/office/drawing/2014/main" val="10001"/>
                  </a:ext>
                </a:extLst>
              </a:tr>
              <a:tr h="1590752">
                <a:tc>
                  <a:txBody>
                    <a:bodyPr/>
                    <a:lstStyle/>
                    <a:p>
                      <a:pPr>
                        <a:buNone/>
                      </a:pPr>
                      <a:r>
                        <a:rPr lang="en-IN" dirty="0">
                          <a:latin typeface="Times New Roman" panose="02020603050405020304" pitchFamily="18" charset="0"/>
                          <a:cs typeface="Times New Roman" panose="02020603050405020304" pitchFamily="18" charset="0"/>
                        </a:rPr>
                        <a:t>cat aisyllabus.txt</a:t>
                      </a:r>
                    </a:p>
                  </a:txBody>
                  <a:tcPr anchor="ctr">
                    <a:lnL>
                      <a:noFill/>
                    </a:lnL>
                    <a:lnR>
                      <a:noFill/>
                    </a:lnR>
                    <a:lnT>
                      <a:noFill/>
                    </a:lnT>
                    <a:lnB>
                      <a:noFill/>
                    </a:lnB>
                    <a:solidFill>
                      <a:schemeClr val="accent3">
                        <a:lumMod val="40000"/>
                        <a:lumOff val="60000"/>
                      </a:schemeClr>
                    </a:solidFill>
                  </a:tcPr>
                </a:tc>
                <a:tc>
                  <a:txBody>
                    <a:bodyPr/>
                    <a:lstStyle/>
                    <a:p>
                      <a:pPr>
                        <a:buNone/>
                      </a:pPr>
                      <a:r>
                        <a:rPr lang="en-IN" dirty="0">
                          <a:latin typeface="Times New Roman" panose="02020603050405020304" pitchFamily="18" charset="0"/>
                          <a:cs typeface="Times New Roman" panose="02020603050405020304" pitchFamily="18" charset="0"/>
                        </a:rPr>
                        <a:t>Displays the contents of the aisyllabus.txt file on the terminal, confirming the text was written successfully.</a:t>
                      </a:r>
                    </a:p>
                  </a:txBody>
                  <a:tcPr anchor="ctr">
                    <a:lnL>
                      <a:noFill/>
                    </a:lnL>
                    <a:lnR>
                      <a:noFill/>
                    </a:lnR>
                    <a:lnT>
                      <a:noFill/>
                    </a:lnT>
                    <a:lnB>
                      <a:noFill/>
                    </a:lnB>
                    <a:solidFill>
                      <a:schemeClr val="accent3">
                        <a:lumMod val="40000"/>
                        <a:lumOff val="60000"/>
                      </a:schemeClr>
                    </a:solidFill>
                  </a:tcPr>
                </a:tc>
                <a:extLst>
                  <a:ext uri="{0D108BD9-81ED-4DB2-BD59-A6C34878D82A}">
                    <a16:rowId xmlns:a16="http://schemas.microsoft.com/office/drawing/2014/main" val="10002"/>
                  </a:ext>
                </a:extLst>
              </a:tr>
              <a:tr h="1889018">
                <a:tc>
                  <a:txBody>
                    <a:bodyPr/>
                    <a:lstStyle/>
                    <a:p>
                      <a:pPr>
                        <a:buNone/>
                      </a:pPr>
                      <a:r>
                        <a:rPr lang="en-IN">
                          <a:latin typeface="Times New Roman" panose="02020603050405020304" pitchFamily="18" charset="0"/>
                          <a:cs typeface="Times New Roman" panose="02020603050405020304" pitchFamily="18" charset="0"/>
                        </a:rPr>
                        <a:t>ls and cd ..</a:t>
                      </a:r>
                    </a:p>
                  </a:txBody>
                  <a:tcPr anchor="ctr">
                    <a:lnL>
                      <a:noFill/>
                    </a:lnL>
                    <a:lnR>
                      <a:noFill/>
                    </a:lnR>
                    <a:lnT>
                      <a:noFill/>
                    </a:lnT>
                    <a:lnB>
                      <a:noFill/>
                    </a:lnB>
                    <a:solidFill>
                      <a:schemeClr val="accent3">
                        <a:lumMod val="40000"/>
                        <a:lumOff val="60000"/>
                      </a:schemeClr>
                    </a:solidFill>
                  </a:tcPr>
                </a:tc>
                <a:tc>
                  <a:txBody>
                    <a:bodyPr/>
                    <a:lstStyle/>
                    <a:p>
                      <a:pPr>
                        <a:buNone/>
                      </a:pPr>
                      <a:r>
                        <a:rPr lang="en-IN" dirty="0">
                          <a:latin typeface="Times New Roman" panose="02020603050405020304" pitchFamily="18" charset="0"/>
                          <a:cs typeface="Times New Roman" panose="02020603050405020304" pitchFamily="18" charset="0"/>
                        </a:rPr>
                        <a:t>ls lists the file in the current directory, while cd .. moves one level up to the parent directory before running tree to view the directory structure.</a:t>
                      </a:r>
                    </a:p>
                  </a:txBody>
                  <a:tcPr anchor="ctr">
                    <a:lnL>
                      <a:noFill/>
                    </a:lnL>
                    <a:lnR>
                      <a:noFill/>
                    </a:lnR>
                    <a:lnT>
                      <a:noFill/>
                    </a:lnT>
                    <a:lnB>
                      <a:noFill/>
                    </a:lnB>
                    <a:solidFill>
                      <a:schemeClr val="accent3">
                        <a:lumMod val="40000"/>
                        <a:lumOff val="60000"/>
                      </a:schemeClr>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038600" y="2120474"/>
            <a:ext cx="2404503" cy="373625"/>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p:txBody>
      </p:sp>
      <p:sp>
        <p:nvSpPr>
          <p:cNvPr id="9" name="TextBox 8"/>
          <p:cNvSpPr txBox="1"/>
          <p:nvPr/>
        </p:nvSpPr>
        <p:spPr>
          <a:xfrm>
            <a:off x="7464362" y="2224672"/>
            <a:ext cx="184731" cy="369332"/>
          </a:xfrm>
          <a:prstGeom prst="rect">
            <a:avLst/>
          </a:prstGeom>
          <a:noFill/>
        </p:spPr>
        <p:txBody>
          <a:bodyPr wrap="none" rtlCol="0">
            <a:spAutoFit/>
          </a:bodyPr>
          <a:lstStyle/>
          <a:p>
            <a:endParaRPr lang="en-IN"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299516" y="899769"/>
            <a:ext cx="5609672" cy="4871765"/>
          </a:xfrm>
          <a:prstGeom prst="rect">
            <a:avLst/>
          </a:prstGeom>
        </p:spPr>
      </p:pic>
      <p:graphicFrame>
        <p:nvGraphicFramePr>
          <p:cNvPr id="8" name="Table 7"/>
          <p:cNvGraphicFramePr>
            <a:graphicFrameLocks noGrp="1"/>
          </p:cNvGraphicFramePr>
          <p:nvPr>
            <p:extLst>
              <p:ext uri="{D42A27DB-BD31-4B8C-83A1-F6EECF244321}">
                <p14:modId xmlns:p14="http://schemas.microsoft.com/office/powerpoint/2010/main" val="3391390216"/>
              </p:ext>
            </p:extLst>
          </p:nvPr>
        </p:nvGraphicFramePr>
        <p:xfrm>
          <a:off x="6980902" y="562194"/>
          <a:ext cx="4911582" cy="5950487"/>
        </p:xfrm>
        <a:graphic>
          <a:graphicData uri="http://schemas.openxmlformats.org/drawingml/2006/table">
            <a:tbl>
              <a:tblPr>
                <a:tableStyleId>{00A15C55-8517-42AA-B614-E9B94910E393}</a:tableStyleId>
              </a:tblPr>
              <a:tblGrid>
                <a:gridCol w="2455791">
                  <a:extLst>
                    <a:ext uri="{9D8B030D-6E8A-4147-A177-3AD203B41FA5}">
                      <a16:colId xmlns:a16="http://schemas.microsoft.com/office/drawing/2014/main" val="20000"/>
                    </a:ext>
                  </a:extLst>
                </a:gridCol>
                <a:gridCol w="2455791">
                  <a:extLst>
                    <a:ext uri="{9D8B030D-6E8A-4147-A177-3AD203B41FA5}">
                      <a16:colId xmlns:a16="http://schemas.microsoft.com/office/drawing/2014/main" val="20001"/>
                    </a:ext>
                  </a:extLst>
                </a:gridCol>
              </a:tblGrid>
              <a:tr h="269865">
                <a:tc>
                  <a:txBody>
                    <a:bodyPr/>
                    <a:lstStyle/>
                    <a:p>
                      <a:pPr>
                        <a:buNone/>
                      </a:pPr>
                      <a:r>
                        <a:rPr lang="en-IN" sz="1400" b="1">
                          <a:latin typeface="Times New Roman" panose="02020603050405020304" pitchFamily="18" charset="0"/>
                          <a:cs typeface="Times New Roman" panose="02020603050405020304" pitchFamily="18" charset="0"/>
                        </a:rPr>
                        <a:t>Step</a:t>
                      </a:r>
                    </a:p>
                  </a:txBody>
                  <a:tcPr marL="70183" marR="70183" marT="35091" marB="35091" anchor="ctr">
                    <a:solidFill>
                      <a:schemeClr val="bg2"/>
                    </a:solidFill>
                  </a:tcPr>
                </a:tc>
                <a:tc>
                  <a:txBody>
                    <a:bodyPr/>
                    <a:lstStyle/>
                    <a:p>
                      <a:pPr>
                        <a:buNone/>
                      </a:pPr>
                      <a:r>
                        <a:rPr lang="en-IN" sz="1400" b="1" dirty="0">
                          <a:latin typeface="Times New Roman" panose="02020603050405020304" pitchFamily="18" charset="0"/>
                          <a:cs typeface="Times New Roman" panose="02020603050405020304" pitchFamily="18" charset="0"/>
                        </a:rPr>
                        <a:t>Description</a:t>
                      </a:r>
                    </a:p>
                  </a:txBody>
                  <a:tcPr marL="70183" marR="70183" marT="35091" marB="35091" anchor="ctr">
                    <a:solidFill>
                      <a:schemeClr val="bg2"/>
                    </a:solidFill>
                  </a:tcPr>
                </a:tc>
                <a:extLst>
                  <a:ext uri="{0D108BD9-81ED-4DB2-BD59-A6C34878D82A}">
                    <a16:rowId xmlns:a16="http://schemas.microsoft.com/office/drawing/2014/main" val="10000"/>
                  </a:ext>
                </a:extLst>
              </a:tr>
              <a:tr h="1488276">
                <a:tc>
                  <a:txBody>
                    <a:bodyPr/>
                    <a:lstStyle/>
                    <a:p>
                      <a:pPr>
                        <a:buNone/>
                      </a:pPr>
                      <a:r>
                        <a:rPr lang="en-IN" sz="1400" b="1">
                          <a:latin typeface="Times New Roman" panose="02020603050405020304" pitchFamily="18" charset="0"/>
                          <a:cs typeface="Times New Roman" panose="02020603050405020304" pitchFamily="18" charset="0"/>
                        </a:rPr>
                        <a:t>1. Navigate and create files</a:t>
                      </a:r>
                      <a:endParaRPr lang="en-IN" sz="1400">
                        <a:latin typeface="Times New Roman" panose="02020603050405020304" pitchFamily="18" charset="0"/>
                        <a:cs typeface="Times New Roman" panose="02020603050405020304" pitchFamily="18" charset="0"/>
                      </a:endParaRPr>
                    </a:p>
                  </a:txBody>
                  <a:tcPr marL="70183" marR="70183" marT="35091" marB="35091" anchor="ctr"/>
                </a:tc>
                <a:tc>
                  <a:txBody>
                    <a:bodyPr/>
                    <a:lstStyle/>
                    <a:p>
                      <a:pPr>
                        <a:buNone/>
                      </a:pPr>
                      <a:r>
                        <a:rPr lang="en-IN" sz="1400" dirty="0">
                          <a:latin typeface="Times New Roman" panose="02020603050405020304" pitchFamily="18" charset="0"/>
                          <a:cs typeface="Times New Roman" panose="02020603050405020304" pitchFamily="18" charset="0"/>
                        </a:rPr>
                        <a:t>The user checks the current directory using </a:t>
                      </a:r>
                      <a:r>
                        <a:rPr lang="en-IN" sz="1400" dirty="0" err="1">
                          <a:latin typeface="Times New Roman" panose="02020603050405020304" pitchFamily="18" charset="0"/>
                          <a:cs typeface="Times New Roman" panose="02020603050405020304" pitchFamily="18" charset="0"/>
                        </a:rPr>
                        <a:t>pwd</a:t>
                      </a:r>
                      <a:r>
                        <a:rPr lang="en-IN" sz="1400" dirty="0">
                          <a:latin typeface="Times New Roman" panose="02020603050405020304" pitchFamily="18" charset="0"/>
                          <a:cs typeface="Times New Roman" panose="02020603050405020304" pitchFamily="18" charset="0"/>
                        </a:rPr>
                        <a:t>, enters the </a:t>
                      </a:r>
                      <a:r>
                        <a:rPr lang="en-IN" sz="1400" dirty="0" err="1">
                          <a:latin typeface="Times New Roman" panose="02020603050405020304" pitchFamily="18" charset="0"/>
                          <a:cs typeface="Times New Roman" panose="02020603050405020304" pitchFamily="18" charset="0"/>
                        </a:rPr>
                        <a:t>schoolcse</a:t>
                      </a:r>
                      <a:r>
                        <a:rPr lang="en-IN" sz="1400" dirty="0">
                          <a:latin typeface="Times New Roman" panose="02020603050405020304" pitchFamily="18" charset="0"/>
                          <a:cs typeface="Times New Roman" panose="02020603050405020304" pitchFamily="18" charset="0"/>
                        </a:rPr>
                        <a:t> directory, and creates two files: syllabuscse.txt and listofstudents.txt using the touch command.</a:t>
                      </a:r>
                    </a:p>
                  </a:txBody>
                  <a:tcPr marL="70183" marR="70183" marT="35091" marB="35091" anchor="ctr"/>
                </a:tc>
                <a:extLst>
                  <a:ext uri="{0D108BD9-81ED-4DB2-BD59-A6C34878D82A}">
                    <a16:rowId xmlns:a16="http://schemas.microsoft.com/office/drawing/2014/main" val="10001"/>
                  </a:ext>
                </a:extLst>
              </a:tr>
              <a:tr h="879071">
                <a:tc>
                  <a:txBody>
                    <a:bodyPr/>
                    <a:lstStyle/>
                    <a:p>
                      <a:pPr>
                        <a:buNone/>
                      </a:pPr>
                      <a:r>
                        <a:rPr lang="en-IN" sz="1400" b="1">
                          <a:latin typeface="Times New Roman" panose="02020603050405020304" pitchFamily="18" charset="0"/>
                          <a:cs typeface="Times New Roman" panose="02020603050405020304" pitchFamily="18" charset="0"/>
                        </a:rPr>
                        <a:t>2. Verify the files</a:t>
                      </a:r>
                      <a:endParaRPr lang="en-IN" sz="1400">
                        <a:latin typeface="Times New Roman" panose="02020603050405020304" pitchFamily="18" charset="0"/>
                        <a:cs typeface="Times New Roman" panose="02020603050405020304" pitchFamily="18" charset="0"/>
                      </a:endParaRPr>
                    </a:p>
                  </a:txBody>
                  <a:tcPr marL="70183" marR="70183" marT="35091" marB="35091" anchor="ctr"/>
                </a:tc>
                <a:tc>
                  <a:txBody>
                    <a:bodyPr/>
                    <a:lstStyle/>
                    <a:p>
                      <a:pPr>
                        <a:buNone/>
                      </a:pPr>
                      <a:r>
                        <a:rPr lang="en-IN" sz="1400">
                          <a:latin typeface="Times New Roman" panose="02020603050405020304" pitchFamily="18" charset="0"/>
                          <a:cs typeface="Times New Roman" panose="02020603050405020304" pitchFamily="18" charset="0"/>
                        </a:rPr>
                        <a:t>The ls command is used to confirm that both files have been successfully created in the schoolcse directory.</a:t>
                      </a:r>
                    </a:p>
                  </a:txBody>
                  <a:tcPr marL="70183" marR="70183" marT="35091" marB="35091" anchor="ctr"/>
                </a:tc>
                <a:extLst>
                  <a:ext uri="{0D108BD9-81ED-4DB2-BD59-A6C34878D82A}">
                    <a16:rowId xmlns:a16="http://schemas.microsoft.com/office/drawing/2014/main" val="10002"/>
                  </a:ext>
                </a:extLst>
              </a:tr>
              <a:tr h="1691345">
                <a:tc>
                  <a:txBody>
                    <a:bodyPr/>
                    <a:lstStyle/>
                    <a:p>
                      <a:pPr>
                        <a:buNone/>
                      </a:pPr>
                      <a:r>
                        <a:rPr lang="en-IN" sz="1400" b="1" dirty="0">
                          <a:latin typeface="Times New Roman" panose="02020603050405020304" pitchFamily="18" charset="0"/>
                          <a:cs typeface="Times New Roman" panose="02020603050405020304" pitchFamily="18" charset="0"/>
                        </a:rPr>
                        <a:t>3. Copy file using a relative path</a:t>
                      </a:r>
                      <a:endParaRPr lang="en-IN" sz="1400" dirty="0">
                        <a:latin typeface="Times New Roman" panose="02020603050405020304" pitchFamily="18" charset="0"/>
                        <a:cs typeface="Times New Roman" panose="02020603050405020304" pitchFamily="18" charset="0"/>
                      </a:endParaRPr>
                    </a:p>
                  </a:txBody>
                  <a:tcPr marL="70183" marR="70183" marT="35091" marB="35091" anchor="ctr"/>
                </a:tc>
                <a:tc>
                  <a:txBody>
                    <a:bodyPr/>
                    <a:lstStyle/>
                    <a:p>
                      <a:pPr>
                        <a:buNone/>
                      </a:pPr>
                      <a:r>
                        <a:rPr lang="en-IN" sz="1400">
                          <a:latin typeface="Times New Roman" panose="02020603050405020304" pitchFamily="18" charset="0"/>
                          <a:cs typeface="Times New Roman" panose="02020603050405020304" pitchFamily="18" charset="0"/>
                        </a:rPr>
                        <a:t>The command cp listofstudents.txt ../schoolai/ copies the listofstudents.txt file from schoolcse to the sibling directory schoolai using the relative path ../schoolai/.</a:t>
                      </a:r>
                    </a:p>
                  </a:txBody>
                  <a:tcPr marL="70183" marR="70183" marT="35091" marB="35091" anchor="ctr"/>
                </a:tc>
                <a:extLst>
                  <a:ext uri="{0D108BD9-81ED-4DB2-BD59-A6C34878D82A}">
                    <a16:rowId xmlns:a16="http://schemas.microsoft.com/office/drawing/2014/main" val="10003"/>
                  </a:ext>
                </a:extLst>
              </a:tr>
              <a:tr h="1488276">
                <a:tc>
                  <a:txBody>
                    <a:bodyPr/>
                    <a:lstStyle/>
                    <a:p>
                      <a:pPr>
                        <a:buNone/>
                      </a:pPr>
                      <a:r>
                        <a:rPr lang="en-IN" sz="1400" b="1" dirty="0">
                          <a:latin typeface="Times New Roman" panose="02020603050405020304" pitchFamily="18" charset="0"/>
                          <a:cs typeface="Times New Roman" panose="02020603050405020304" pitchFamily="18" charset="0"/>
                        </a:rPr>
                        <a:t>4. Confirm the copy</a:t>
                      </a:r>
                      <a:endParaRPr lang="en-IN" sz="1400" dirty="0">
                        <a:latin typeface="Times New Roman" panose="02020603050405020304" pitchFamily="18" charset="0"/>
                        <a:cs typeface="Times New Roman" panose="02020603050405020304" pitchFamily="18" charset="0"/>
                      </a:endParaRPr>
                    </a:p>
                  </a:txBody>
                  <a:tcPr marL="70183" marR="70183" marT="35091" marB="35091" anchor="ctr"/>
                </a:tc>
                <a:tc>
                  <a:txBody>
                    <a:bodyPr/>
                    <a:lstStyle/>
                    <a:p>
                      <a:pPr>
                        <a:buNone/>
                      </a:pPr>
                      <a:r>
                        <a:rPr lang="en-IN" sz="1400" dirty="0">
                          <a:latin typeface="Times New Roman" panose="02020603050405020304" pitchFamily="18" charset="0"/>
                          <a:cs typeface="Times New Roman" panose="02020603050405020304" pitchFamily="18" charset="0"/>
                        </a:rPr>
                        <a:t>The user navigates to the </a:t>
                      </a:r>
                      <a:r>
                        <a:rPr lang="en-IN" sz="1400" dirty="0" err="1">
                          <a:latin typeface="Times New Roman" panose="02020603050405020304" pitchFamily="18" charset="0"/>
                          <a:cs typeface="Times New Roman" panose="02020603050405020304" pitchFamily="18" charset="0"/>
                        </a:rPr>
                        <a:t>schoolai</a:t>
                      </a:r>
                      <a:r>
                        <a:rPr lang="en-IN" sz="1400" dirty="0">
                          <a:latin typeface="Times New Roman" panose="02020603050405020304" pitchFamily="18" charset="0"/>
                          <a:cs typeface="Times New Roman" panose="02020603050405020304" pitchFamily="18" charset="0"/>
                        </a:rPr>
                        <a:t> directory and uses ls and </a:t>
                      </a:r>
                      <a:r>
                        <a:rPr lang="en-IN" sz="1400" dirty="0" err="1">
                          <a:latin typeface="Times New Roman" panose="02020603050405020304" pitchFamily="18" charset="0"/>
                          <a:cs typeface="Times New Roman" panose="02020603050405020304" pitchFamily="18" charset="0"/>
                        </a:rPr>
                        <a:t>pwd</a:t>
                      </a:r>
                      <a:r>
                        <a:rPr lang="en-IN" sz="1400" dirty="0">
                          <a:latin typeface="Times New Roman" panose="02020603050405020304" pitchFamily="18" charset="0"/>
                          <a:cs typeface="Times New Roman" panose="02020603050405020304" pitchFamily="18" charset="0"/>
                        </a:rPr>
                        <a:t> to verify that listofstudents.txt has been copied successfully and to display the current directory path.</a:t>
                      </a:r>
                    </a:p>
                  </a:txBody>
                  <a:tcPr marL="70183" marR="70183" marT="35091" marB="35091"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C8E04-3013-7336-9CA3-FC3374C0FAB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EA153F0-EBA7-48BE-2999-E21F3B7B5FDC}"/>
              </a:ext>
            </a:extLst>
          </p:cNvPr>
          <p:cNvSpPr txBox="1"/>
          <p:nvPr/>
        </p:nvSpPr>
        <p:spPr>
          <a:xfrm>
            <a:off x="4038600" y="2120474"/>
            <a:ext cx="2404503" cy="373625"/>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B9962D4C-9E95-A23B-1CF7-5979A1BA9BC1}"/>
              </a:ext>
            </a:extLst>
          </p:cNvPr>
          <p:cNvSpPr txBox="1"/>
          <p:nvPr/>
        </p:nvSpPr>
        <p:spPr>
          <a:xfrm>
            <a:off x="7464362" y="2224672"/>
            <a:ext cx="184731" cy="369332"/>
          </a:xfrm>
          <a:prstGeom prst="rect">
            <a:avLst/>
          </a:prstGeom>
          <a:noFill/>
        </p:spPr>
        <p:txBody>
          <a:bodyPr wrap="none" rtlCol="0">
            <a:spAutoFit/>
          </a:bodyPr>
          <a:lstStyle/>
          <a:p>
            <a:endParaRPr lang="en-IN"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2377028F-F1C6-27E6-C210-E241276E63FE}"/>
              </a:ext>
            </a:extLst>
          </p:cNvPr>
          <p:cNvPicPr>
            <a:picLocks noChangeAspect="1"/>
          </p:cNvPicPr>
          <p:nvPr/>
        </p:nvPicPr>
        <p:blipFill>
          <a:blip r:embed="rId2"/>
          <a:stretch>
            <a:fillRect/>
          </a:stretch>
        </p:blipFill>
        <p:spPr>
          <a:xfrm>
            <a:off x="451144" y="1025393"/>
            <a:ext cx="5002599" cy="5112013"/>
          </a:xfrm>
          <a:prstGeom prst="rect">
            <a:avLst/>
          </a:prstGeom>
        </p:spPr>
      </p:pic>
      <p:graphicFrame>
        <p:nvGraphicFramePr>
          <p:cNvPr id="6" name="Table 5">
            <a:extLst>
              <a:ext uri="{FF2B5EF4-FFF2-40B4-BE49-F238E27FC236}">
                <a16:creationId xmlns:a16="http://schemas.microsoft.com/office/drawing/2014/main" id="{71848814-9ECC-2A8C-1472-8C0D36931A4C}"/>
              </a:ext>
            </a:extLst>
          </p:cNvPr>
          <p:cNvGraphicFramePr>
            <a:graphicFrameLocks noGrp="1"/>
          </p:cNvGraphicFramePr>
          <p:nvPr>
            <p:extLst>
              <p:ext uri="{D42A27DB-BD31-4B8C-83A1-F6EECF244321}">
                <p14:modId xmlns:p14="http://schemas.microsoft.com/office/powerpoint/2010/main" val="3054347257"/>
              </p:ext>
            </p:extLst>
          </p:nvPr>
        </p:nvGraphicFramePr>
        <p:xfrm>
          <a:off x="6144376" y="616238"/>
          <a:ext cx="5503338" cy="5741018"/>
        </p:xfrm>
        <a:graphic>
          <a:graphicData uri="http://schemas.openxmlformats.org/drawingml/2006/table">
            <a:tbl>
              <a:tblPr>
                <a:tableStyleId>{5C22544A-7EE6-4342-B048-85BDC9FD1C3A}</a:tableStyleId>
              </a:tblPr>
              <a:tblGrid>
                <a:gridCol w="1834446">
                  <a:extLst>
                    <a:ext uri="{9D8B030D-6E8A-4147-A177-3AD203B41FA5}">
                      <a16:colId xmlns:a16="http://schemas.microsoft.com/office/drawing/2014/main" val="3618943556"/>
                    </a:ext>
                  </a:extLst>
                </a:gridCol>
                <a:gridCol w="1834446">
                  <a:extLst>
                    <a:ext uri="{9D8B030D-6E8A-4147-A177-3AD203B41FA5}">
                      <a16:colId xmlns:a16="http://schemas.microsoft.com/office/drawing/2014/main" val="1606912061"/>
                    </a:ext>
                  </a:extLst>
                </a:gridCol>
                <a:gridCol w="1834446">
                  <a:extLst>
                    <a:ext uri="{9D8B030D-6E8A-4147-A177-3AD203B41FA5}">
                      <a16:colId xmlns:a16="http://schemas.microsoft.com/office/drawing/2014/main" val="2455171917"/>
                    </a:ext>
                  </a:extLst>
                </a:gridCol>
              </a:tblGrid>
              <a:tr h="517633">
                <a:tc>
                  <a:txBody>
                    <a:bodyPr/>
                    <a:lstStyle/>
                    <a:p>
                      <a:pPr>
                        <a:buNone/>
                      </a:pPr>
                      <a:r>
                        <a:rPr lang="en-IN" sz="1600" b="1" dirty="0"/>
                        <a:t>Option</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b="1"/>
                        <a:t>Meaning</a:t>
                      </a:r>
                      <a:endParaRPr lang="en-IN" sz="1600">
                        <a:latin typeface="Times New Roman" panose="02020603050405020304" pitchFamily="18" charset="0"/>
                        <a:cs typeface="Times New Roman" panose="02020603050405020304" pitchFamily="18" charset="0"/>
                      </a:endParaRPr>
                    </a:p>
                  </a:txBody>
                  <a:tcPr anchor="ctr"/>
                </a:tc>
                <a:tc>
                  <a:txBody>
                    <a:bodyPr/>
                    <a:lstStyle/>
                    <a:p>
                      <a:pPr>
                        <a:buNone/>
                      </a:pPr>
                      <a:r>
                        <a:rPr lang="en-IN" sz="1600" b="1"/>
                        <a:t>Example</a:t>
                      </a:r>
                      <a:endParaRPr lang="en-IN" sz="16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238342510"/>
                  </a:ext>
                </a:extLst>
              </a:tr>
              <a:tr h="894093">
                <a:tc>
                  <a:txBody>
                    <a:bodyPr/>
                    <a:lstStyle/>
                    <a:p>
                      <a:pPr>
                        <a:buNone/>
                      </a:pPr>
                      <a:r>
                        <a:rPr lang="en-IN" sz="1600"/>
                        <a:t>.</a:t>
                      </a:r>
                      <a:endParaRPr lang="en-IN" sz="1600">
                        <a:latin typeface="Times New Roman" panose="02020603050405020304" pitchFamily="18" charset="0"/>
                        <a:cs typeface="Times New Roman" panose="02020603050405020304" pitchFamily="18" charset="0"/>
                      </a:endParaRPr>
                    </a:p>
                  </a:txBody>
                  <a:tcPr anchor="ctr"/>
                </a:tc>
                <a:tc>
                  <a:txBody>
                    <a:bodyPr/>
                    <a:lstStyle/>
                    <a:p>
                      <a:pPr>
                        <a:buNone/>
                      </a:pPr>
                      <a:r>
                        <a:rPr lang="en-IN" sz="1600"/>
                        <a:t>Search from the current directory.</a:t>
                      </a:r>
                      <a:endParaRPr lang="en-IN" sz="1600">
                        <a:latin typeface="Times New Roman" panose="02020603050405020304" pitchFamily="18" charset="0"/>
                        <a:cs typeface="Times New Roman" panose="02020603050405020304" pitchFamily="18" charset="0"/>
                      </a:endParaRPr>
                    </a:p>
                  </a:txBody>
                  <a:tcPr anchor="ctr"/>
                </a:tc>
                <a:tc>
                  <a:txBody>
                    <a:bodyPr/>
                    <a:lstStyle/>
                    <a:p>
                      <a:pPr>
                        <a:buNone/>
                      </a:pPr>
                      <a:r>
                        <a:rPr lang="en-IN" sz="1600"/>
                        <a:t>find . -name "*.txt"</a:t>
                      </a:r>
                      <a:endParaRPr lang="en-IN" sz="16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100813332"/>
                  </a:ext>
                </a:extLst>
              </a:tr>
              <a:tr h="894093">
                <a:tc>
                  <a:txBody>
                    <a:bodyPr/>
                    <a:lstStyle/>
                    <a:p>
                      <a:pPr>
                        <a:buNone/>
                      </a:pPr>
                      <a:r>
                        <a:rPr lang="en-IN" sz="1600"/>
                        <a:t>-name</a:t>
                      </a:r>
                      <a:endParaRPr lang="en-IN" sz="1600">
                        <a:latin typeface="Times New Roman" panose="02020603050405020304" pitchFamily="18" charset="0"/>
                        <a:cs typeface="Times New Roman" panose="02020603050405020304" pitchFamily="18" charset="0"/>
                      </a:endParaRPr>
                    </a:p>
                  </a:txBody>
                  <a:tcPr anchor="ctr"/>
                </a:tc>
                <a:tc>
                  <a:txBody>
                    <a:bodyPr/>
                    <a:lstStyle/>
                    <a:p>
                      <a:pPr>
                        <a:buNone/>
                      </a:pPr>
                      <a:r>
                        <a:rPr lang="en-IN" sz="1600"/>
                        <a:t>Search by file or directory name.</a:t>
                      </a:r>
                      <a:endParaRPr lang="en-IN" sz="1600">
                        <a:latin typeface="Times New Roman" panose="02020603050405020304" pitchFamily="18" charset="0"/>
                        <a:cs typeface="Times New Roman" panose="02020603050405020304" pitchFamily="18" charset="0"/>
                      </a:endParaRPr>
                    </a:p>
                  </a:txBody>
                  <a:tcPr anchor="ctr"/>
                </a:tc>
                <a:tc>
                  <a:txBody>
                    <a:bodyPr/>
                    <a:lstStyle/>
                    <a:p>
                      <a:pPr>
                        <a:buNone/>
                      </a:pPr>
                      <a:r>
                        <a:rPr lang="en-IN" sz="1600"/>
                        <a:t>find . -name "report.txt"</a:t>
                      </a:r>
                      <a:endParaRPr lang="en-IN" sz="16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727888032"/>
                  </a:ext>
                </a:extLst>
              </a:tr>
              <a:tr h="1647013">
                <a:tc>
                  <a:txBody>
                    <a:bodyPr/>
                    <a:lstStyle/>
                    <a:p>
                      <a:pPr>
                        <a:buNone/>
                      </a:pPr>
                      <a:r>
                        <a:rPr lang="en-IN" sz="1600"/>
                        <a:t>"*.txt"</a:t>
                      </a:r>
                      <a:endParaRPr lang="en-IN" sz="1600">
                        <a:latin typeface="Times New Roman" panose="02020603050405020304" pitchFamily="18" charset="0"/>
                        <a:cs typeface="Times New Roman" panose="02020603050405020304" pitchFamily="18" charset="0"/>
                      </a:endParaRPr>
                    </a:p>
                  </a:txBody>
                  <a:tcPr anchor="ctr"/>
                </a:tc>
                <a:tc>
                  <a:txBody>
                    <a:bodyPr/>
                    <a:lstStyle/>
                    <a:p>
                      <a:pPr>
                        <a:buNone/>
                      </a:pPr>
                      <a:r>
                        <a:rPr lang="en-IN" sz="1600"/>
                        <a:t>* matches any number of characters before .txt.</a:t>
                      </a:r>
                      <a:endParaRPr lang="en-IN" sz="1600">
                        <a:latin typeface="Times New Roman" panose="02020603050405020304" pitchFamily="18" charset="0"/>
                        <a:cs typeface="Times New Roman" panose="02020603050405020304" pitchFamily="18" charset="0"/>
                      </a:endParaRPr>
                    </a:p>
                  </a:txBody>
                  <a:tcPr anchor="ctr"/>
                </a:tc>
                <a:tc>
                  <a:txBody>
                    <a:bodyPr/>
                    <a:lstStyle/>
                    <a:p>
                      <a:pPr>
                        <a:buNone/>
                      </a:pPr>
                      <a:r>
                        <a:rPr lang="en-IN" sz="1600"/>
                        <a:t>notes.txt, report.txt</a:t>
                      </a:r>
                      <a:endParaRPr lang="en-IN" sz="16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492495342"/>
                  </a:ext>
                </a:extLst>
              </a:tr>
              <a:tr h="894093">
                <a:tc>
                  <a:txBody>
                    <a:bodyPr/>
                    <a:lstStyle/>
                    <a:p>
                      <a:pPr>
                        <a:buNone/>
                      </a:pPr>
                      <a:r>
                        <a:rPr lang="en-IN" sz="1600"/>
                        <a:t>-type f</a:t>
                      </a:r>
                      <a:endParaRPr lang="en-IN" sz="1600">
                        <a:latin typeface="Times New Roman" panose="02020603050405020304" pitchFamily="18" charset="0"/>
                        <a:cs typeface="Times New Roman" panose="02020603050405020304" pitchFamily="18" charset="0"/>
                      </a:endParaRPr>
                    </a:p>
                  </a:txBody>
                  <a:tcPr anchor="ctr"/>
                </a:tc>
                <a:tc>
                  <a:txBody>
                    <a:bodyPr/>
                    <a:lstStyle/>
                    <a:p>
                      <a:pPr>
                        <a:buNone/>
                      </a:pPr>
                      <a:r>
                        <a:rPr lang="en-IN" sz="1600"/>
                        <a:t>Search only for regular files.</a:t>
                      </a:r>
                      <a:endParaRPr lang="en-IN" sz="1600">
                        <a:latin typeface="Times New Roman" panose="02020603050405020304" pitchFamily="18" charset="0"/>
                        <a:cs typeface="Times New Roman" panose="02020603050405020304" pitchFamily="18" charset="0"/>
                      </a:endParaRPr>
                    </a:p>
                  </a:txBody>
                  <a:tcPr anchor="ctr"/>
                </a:tc>
                <a:tc>
                  <a:txBody>
                    <a:bodyPr/>
                    <a:lstStyle/>
                    <a:p>
                      <a:pPr>
                        <a:buNone/>
                      </a:pPr>
                      <a:r>
                        <a:rPr lang="en-IN" sz="1600"/>
                        <a:t>find . -type f</a:t>
                      </a:r>
                      <a:endParaRPr lang="en-IN" sz="16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925909059"/>
                  </a:ext>
                </a:extLst>
              </a:tr>
              <a:tr h="894093">
                <a:tc>
                  <a:txBody>
                    <a:bodyPr/>
                    <a:lstStyle/>
                    <a:p>
                      <a:pPr>
                        <a:buNone/>
                      </a:pPr>
                      <a:r>
                        <a:rPr lang="en-IN" sz="1600"/>
                        <a:t>-type d</a:t>
                      </a:r>
                      <a:endParaRPr lang="en-IN" sz="1600">
                        <a:latin typeface="Times New Roman" panose="02020603050405020304" pitchFamily="18" charset="0"/>
                        <a:cs typeface="Times New Roman" panose="02020603050405020304" pitchFamily="18" charset="0"/>
                      </a:endParaRPr>
                    </a:p>
                  </a:txBody>
                  <a:tcPr anchor="ctr"/>
                </a:tc>
                <a:tc>
                  <a:txBody>
                    <a:bodyPr/>
                    <a:lstStyle/>
                    <a:p>
                      <a:pPr>
                        <a:buNone/>
                      </a:pPr>
                      <a:r>
                        <a:rPr lang="en-IN" sz="1600"/>
                        <a:t>Search only for directories.</a:t>
                      </a:r>
                      <a:endParaRPr lang="en-IN" sz="1600">
                        <a:latin typeface="Times New Roman" panose="02020603050405020304" pitchFamily="18" charset="0"/>
                        <a:cs typeface="Times New Roman" panose="02020603050405020304" pitchFamily="18" charset="0"/>
                      </a:endParaRPr>
                    </a:p>
                  </a:txBody>
                  <a:tcPr anchor="ctr"/>
                </a:tc>
                <a:tc>
                  <a:txBody>
                    <a:bodyPr/>
                    <a:lstStyle/>
                    <a:p>
                      <a:pPr>
                        <a:buNone/>
                      </a:pPr>
                      <a:r>
                        <a:rPr lang="en-IN" sz="1600" dirty="0"/>
                        <a:t>find . -type d</a:t>
                      </a:r>
                      <a:endParaRPr lang="en-IN"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548973795"/>
                  </a:ext>
                </a:extLst>
              </a:tr>
            </a:tbl>
          </a:graphicData>
        </a:graphic>
      </p:graphicFrame>
    </p:spTree>
    <p:extLst>
      <p:ext uri="{BB962C8B-B14F-4D97-AF65-F5344CB8AC3E}">
        <p14:creationId xmlns:p14="http://schemas.microsoft.com/office/powerpoint/2010/main" val="10967762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74E60-7583-4DF9-12DE-2819AB00FF0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B40F669-654C-9D7C-4105-4CD1C82C2AE2}"/>
              </a:ext>
            </a:extLst>
          </p:cNvPr>
          <p:cNvSpPr txBox="1"/>
          <p:nvPr/>
        </p:nvSpPr>
        <p:spPr>
          <a:xfrm>
            <a:off x="4038600" y="2120474"/>
            <a:ext cx="2404503" cy="373625"/>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1A411342-E1E3-248E-F65E-397B08ACA924}"/>
              </a:ext>
            </a:extLst>
          </p:cNvPr>
          <p:cNvSpPr txBox="1"/>
          <p:nvPr/>
        </p:nvSpPr>
        <p:spPr>
          <a:xfrm>
            <a:off x="7464362" y="2224672"/>
            <a:ext cx="184731" cy="369332"/>
          </a:xfrm>
          <a:prstGeom prst="rect">
            <a:avLst/>
          </a:prstGeom>
          <a:noFill/>
        </p:spPr>
        <p:txBody>
          <a:bodyPr wrap="none" rtlCol="0">
            <a:spAutoFit/>
          </a:bodyPr>
          <a:lstStyle/>
          <a:p>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B011385-67A1-9C60-3294-FAF7AE01F957}"/>
              </a:ext>
            </a:extLst>
          </p:cNvPr>
          <p:cNvSpPr txBox="1"/>
          <p:nvPr/>
        </p:nvSpPr>
        <p:spPr>
          <a:xfrm>
            <a:off x="544286" y="932010"/>
            <a:ext cx="11647714" cy="1477328"/>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Scenario</a:t>
            </a:r>
          </a:p>
          <a:p>
            <a:pPr>
              <a:buNone/>
            </a:pPr>
            <a:r>
              <a:rPr lang="en-IN" dirty="0">
                <a:latin typeface="Times New Roman" panose="02020603050405020304" pitchFamily="18" charset="0"/>
                <a:cs typeface="Times New Roman" panose="02020603050405020304" pitchFamily="18" charset="0"/>
              </a:rPr>
              <a:t>You have recently joined </a:t>
            </a:r>
            <a:r>
              <a:rPr lang="en-IN" b="1" dirty="0">
                <a:latin typeface="Times New Roman" panose="02020603050405020304" pitchFamily="18" charset="0"/>
                <a:cs typeface="Times New Roman" panose="02020603050405020304" pitchFamily="18" charset="0"/>
              </a:rPr>
              <a:t>LPU Solutions</a:t>
            </a:r>
            <a:r>
              <a:rPr lang="en-IN" dirty="0">
                <a:latin typeface="Times New Roman" panose="02020603050405020304" pitchFamily="18" charset="0"/>
                <a:cs typeface="Times New Roman" panose="02020603050405020304" pitchFamily="18" charset="0"/>
              </a:rPr>
              <a:t> as a </a:t>
            </a:r>
            <a:r>
              <a:rPr lang="en-IN" b="1" dirty="0">
                <a:latin typeface="Times New Roman" panose="02020603050405020304" pitchFamily="18" charset="0"/>
                <a:cs typeface="Times New Roman" panose="02020603050405020304" pitchFamily="18" charset="0"/>
              </a:rPr>
              <a:t>Junior Linux System Administrator</a:t>
            </a:r>
            <a:r>
              <a:rPr lang="en-IN" dirty="0">
                <a:latin typeface="Times New Roman" panose="02020603050405020304" pitchFamily="18" charset="0"/>
                <a:cs typeface="Times New Roman" panose="02020603050405020304" pitchFamily="18" charset="0"/>
              </a:rPr>
              <a:t>.</a:t>
            </a:r>
          </a:p>
          <a:p>
            <a:pPr>
              <a:buNone/>
            </a:pPr>
            <a:r>
              <a:rPr lang="en-IN" dirty="0">
                <a:latin typeface="Times New Roman" panose="02020603050405020304" pitchFamily="18" charset="0"/>
                <a:cs typeface="Times New Roman" panose="02020603050405020304" pitchFamily="18" charset="0"/>
              </a:rPr>
              <a:t>The company has started a new software development project, but the project workspace is not yet organized. Your team lead has assigned you the responsibility of setting up the directory structure, managing files, organizing departmental data, locating important documents, and cleaning up unnecessary files using only Linux command-line tools.</a:t>
            </a:r>
          </a:p>
        </p:txBody>
      </p:sp>
      <p:sp>
        <p:nvSpPr>
          <p:cNvPr id="8" name="TextBox 7">
            <a:extLst>
              <a:ext uri="{FF2B5EF4-FFF2-40B4-BE49-F238E27FC236}">
                <a16:creationId xmlns:a16="http://schemas.microsoft.com/office/drawing/2014/main" id="{572A0676-0494-9D5C-D9D6-92123531FD1F}"/>
              </a:ext>
            </a:extLst>
          </p:cNvPr>
          <p:cNvSpPr txBox="1"/>
          <p:nvPr/>
        </p:nvSpPr>
        <p:spPr>
          <a:xfrm>
            <a:off x="718457" y="2409338"/>
            <a:ext cx="11299371" cy="4801314"/>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Task 1</a:t>
            </a:r>
          </a:p>
          <a:p>
            <a:pPr>
              <a:buNone/>
            </a:pPr>
            <a:r>
              <a:rPr lang="en-IN" dirty="0">
                <a:latin typeface="Times New Roman" panose="02020603050405020304" pitchFamily="18" charset="0"/>
                <a:cs typeface="Times New Roman" panose="02020603050405020304" pitchFamily="18" charset="0"/>
              </a:rPr>
              <a:t>Verify your current working directory and examine the existing contents.</a:t>
            </a:r>
          </a:p>
          <a:p>
            <a:r>
              <a:rPr lang="en-IN" b="1" dirty="0">
                <a:latin typeface="Times New Roman" panose="02020603050405020304" pitchFamily="18" charset="0"/>
                <a:cs typeface="Times New Roman" panose="02020603050405020304" pitchFamily="18" charset="0"/>
              </a:rPr>
              <a:t>Task 2</a:t>
            </a:r>
          </a:p>
          <a:p>
            <a:r>
              <a:rPr lang="en-IN" dirty="0">
                <a:latin typeface="Times New Roman" panose="02020603050405020304" pitchFamily="18" charset="0"/>
                <a:cs typeface="Times New Roman" panose="02020603050405020304" pitchFamily="18" charset="0"/>
              </a:rPr>
              <a:t>Create a directory structure for the following departments:</a:t>
            </a:r>
          </a:p>
          <a:p>
            <a:pPr lvl="0"/>
            <a:r>
              <a:rPr lang="en-IN" dirty="0">
                <a:latin typeface="Times New Roman" panose="02020603050405020304" pitchFamily="18" charset="0"/>
                <a:cs typeface="Times New Roman" panose="02020603050405020304" pitchFamily="18" charset="0"/>
              </a:rPr>
              <a:t>HR  Sales IT Finance Projects</a:t>
            </a:r>
          </a:p>
          <a:p>
            <a:pPr lvl="0"/>
            <a:r>
              <a:rPr lang="en-IN" b="1" dirty="0">
                <a:latin typeface="Times New Roman" panose="02020603050405020304" pitchFamily="18" charset="0"/>
                <a:cs typeface="Times New Roman" panose="02020603050405020304" pitchFamily="18" charset="0"/>
              </a:rPr>
              <a:t>Task 3</a:t>
            </a:r>
          </a:p>
          <a:p>
            <a:pPr lvl="0"/>
            <a:r>
              <a:rPr lang="en-IN" dirty="0">
                <a:latin typeface="Times New Roman" panose="02020603050405020304" pitchFamily="18" charset="0"/>
                <a:cs typeface="Times New Roman" panose="02020603050405020304" pitchFamily="18" charset="0"/>
              </a:rPr>
              <a:t>Create the required files for each department according to their work responsibilities.</a:t>
            </a:r>
          </a:p>
          <a:p>
            <a:r>
              <a:rPr lang="en-IN" b="1" dirty="0">
                <a:latin typeface="Times New Roman" panose="02020603050405020304" pitchFamily="18" charset="0"/>
                <a:cs typeface="Times New Roman" panose="02020603050405020304" pitchFamily="18" charset="0"/>
              </a:rPr>
              <a:t>Task 4</a:t>
            </a:r>
          </a:p>
          <a:p>
            <a:r>
              <a:rPr lang="en-IN" dirty="0">
                <a:latin typeface="Times New Roman" panose="02020603050405020304" pitchFamily="18" charset="0"/>
                <a:cs typeface="Times New Roman" panose="02020603050405020304" pitchFamily="18" charset="0"/>
              </a:rPr>
              <a:t>Insert appropriate sample data into all text files and verify the contents.</a:t>
            </a:r>
          </a:p>
          <a:p>
            <a:r>
              <a:rPr lang="en-IN" b="1" dirty="0">
                <a:latin typeface="Times New Roman" panose="02020603050405020304" pitchFamily="18" charset="0"/>
                <a:cs typeface="Times New Roman" panose="02020603050405020304" pitchFamily="18" charset="0"/>
              </a:rPr>
              <a:t>Task 6</a:t>
            </a:r>
          </a:p>
          <a:p>
            <a:r>
              <a:rPr lang="en-IN" dirty="0">
                <a:latin typeface="Times New Roman" panose="02020603050405020304" pitchFamily="18" charset="0"/>
                <a:cs typeface="Times New Roman" panose="02020603050405020304" pitchFamily="18" charset="0"/>
              </a:rPr>
              <a:t>Copy selected files from one department to another while keeping the original files unchanged.</a:t>
            </a:r>
          </a:p>
          <a:p>
            <a:r>
              <a:rPr lang="en-IN" b="1" dirty="0">
                <a:latin typeface="Times New Roman" panose="02020603050405020304" pitchFamily="18" charset="0"/>
                <a:cs typeface="Times New Roman" panose="02020603050405020304" pitchFamily="18" charset="0"/>
              </a:rPr>
              <a:t>Task 7</a:t>
            </a:r>
          </a:p>
          <a:p>
            <a:r>
              <a:rPr lang="en-IN" dirty="0">
                <a:latin typeface="Times New Roman" panose="02020603050405020304" pitchFamily="18" charset="0"/>
                <a:cs typeface="Times New Roman" panose="02020603050405020304" pitchFamily="18" charset="0"/>
              </a:rPr>
              <a:t>Locate specific files whose locations are unknown without manually browsing the directory structure.</a:t>
            </a:r>
          </a:p>
          <a:p>
            <a:r>
              <a:rPr lang="en-IN" b="1" dirty="0">
                <a:latin typeface="Times New Roman" panose="02020603050405020304" pitchFamily="18" charset="0"/>
                <a:cs typeface="Times New Roman" panose="02020603050405020304" pitchFamily="18" charset="0"/>
              </a:rPr>
              <a:t>Task 8</a:t>
            </a:r>
          </a:p>
          <a:p>
            <a:r>
              <a:rPr lang="en-IN" dirty="0">
                <a:latin typeface="Times New Roman" panose="02020603050405020304" pitchFamily="18" charset="0"/>
                <a:cs typeface="Times New Roman" panose="02020603050405020304" pitchFamily="18" charset="0"/>
              </a:rPr>
              <a:t>Delete unnecessary files, remove empty directories, and clean up obsolete project folders.</a:t>
            </a:r>
          </a:p>
          <a:p>
            <a:endParaRPr lang="en-IN" dirty="0">
              <a:latin typeface="Times New Roman" panose="02020603050405020304" pitchFamily="18" charset="0"/>
              <a:cs typeface="Times New Roman" panose="02020603050405020304" pitchFamily="18" charset="0"/>
            </a:endParaRPr>
          </a:p>
          <a:p>
            <a:pPr>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329860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10A1D-E65C-7B34-C048-FCA339CDB46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F91BD3E-E5DB-8FB3-0412-FFA5ED4C7B0D}"/>
              </a:ext>
            </a:extLst>
          </p:cNvPr>
          <p:cNvSpPr txBox="1"/>
          <p:nvPr/>
        </p:nvSpPr>
        <p:spPr>
          <a:xfrm>
            <a:off x="4038600" y="2120474"/>
            <a:ext cx="2404503" cy="373625"/>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1A79230B-3021-A867-A00E-05FDCFF028CE}"/>
              </a:ext>
            </a:extLst>
          </p:cNvPr>
          <p:cNvSpPr txBox="1"/>
          <p:nvPr/>
        </p:nvSpPr>
        <p:spPr>
          <a:xfrm>
            <a:off x="7464362" y="2224672"/>
            <a:ext cx="184731" cy="369332"/>
          </a:xfrm>
          <a:prstGeom prst="rect">
            <a:avLst/>
          </a:prstGeom>
          <a:noFill/>
        </p:spPr>
        <p:txBody>
          <a:bodyPr wrap="none" rtlCol="0">
            <a:spAutoFit/>
          </a:bodyPr>
          <a:lstStyle/>
          <a:p>
            <a:endParaRPr lang="en-IN"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4C10510-EE4D-BF13-DD9B-9F57E2A1B4F1}"/>
              </a:ext>
            </a:extLst>
          </p:cNvPr>
          <p:cNvSpPr txBox="1"/>
          <p:nvPr/>
        </p:nvSpPr>
        <p:spPr>
          <a:xfrm>
            <a:off x="793417" y="841224"/>
            <a:ext cx="11299371" cy="400110"/>
          </a:xfrm>
          <a:prstGeom prst="rect">
            <a:avLst/>
          </a:prstGeom>
          <a:noFill/>
        </p:spPr>
        <p:txBody>
          <a:bodyPr wrap="square">
            <a:spAutoFit/>
          </a:bodyPr>
          <a:lstStyle/>
          <a:p>
            <a:pPr>
              <a:buNone/>
            </a:pPr>
            <a:r>
              <a:rPr lang="en-IN" dirty="0">
                <a:latin typeface="Times New Roman" panose="02020603050405020304" pitchFamily="18" charset="0"/>
                <a:cs typeface="Times New Roman" panose="02020603050405020304" pitchFamily="18" charset="0"/>
              </a:rPr>
              <a:t>                                                    </a:t>
            </a:r>
            <a:r>
              <a:rPr lang="en-IN" sz="2000" b="1" u="sng" dirty="0">
                <a:latin typeface="Times New Roman" panose="02020603050405020304" pitchFamily="18" charset="0"/>
                <a:cs typeface="Times New Roman" panose="02020603050405020304" pitchFamily="18" charset="0"/>
              </a:rPr>
              <a:t>What are Hard Links and Soft Links in Linux</a:t>
            </a:r>
          </a:p>
        </p:txBody>
      </p:sp>
      <p:sp>
        <p:nvSpPr>
          <p:cNvPr id="2" name="TextBox 1">
            <a:extLst>
              <a:ext uri="{FF2B5EF4-FFF2-40B4-BE49-F238E27FC236}">
                <a16:creationId xmlns:a16="http://schemas.microsoft.com/office/drawing/2014/main" id="{DD7BC86C-DA28-5435-FF3C-C293B9DBF9AA}"/>
              </a:ext>
            </a:extLst>
          </p:cNvPr>
          <p:cNvSpPr txBox="1"/>
          <p:nvPr/>
        </p:nvSpPr>
        <p:spPr>
          <a:xfrm>
            <a:off x="631372" y="1496238"/>
            <a:ext cx="1300356" cy="369332"/>
          </a:xfrm>
          <a:prstGeom prst="rect">
            <a:avLst/>
          </a:prstGeom>
          <a:noFill/>
        </p:spPr>
        <p:txBody>
          <a:bodyPr wrap="none" rtlCol="0">
            <a:spAutoFit/>
          </a:bodyPr>
          <a:lstStyle/>
          <a:p>
            <a:r>
              <a:rPr lang="en-IN" b="1" u="sng" dirty="0">
                <a:latin typeface="Times New Roman" panose="02020603050405020304" pitchFamily="18" charset="0"/>
                <a:cs typeface="Times New Roman" panose="02020603050405020304" pitchFamily="18" charset="0"/>
              </a:rPr>
              <a:t>Hard  Link</a:t>
            </a:r>
          </a:p>
        </p:txBody>
      </p:sp>
      <p:sp>
        <p:nvSpPr>
          <p:cNvPr id="12" name="TextBox 11">
            <a:extLst>
              <a:ext uri="{FF2B5EF4-FFF2-40B4-BE49-F238E27FC236}">
                <a16:creationId xmlns:a16="http://schemas.microsoft.com/office/drawing/2014/main" id="{723714CA-6FCA-23F0-9D10-BED712E441D0}"/>
              </a:ext>
            </a:extLst>
          </p:cNvPr>
          <p:cNvSpPr txBox="1"/>
          <p:nvPr/>
        </p:nvSpPr>
        <p:spPr>
          <a:xfrm>
            <a:off x="315685" y="1951659"/>
            <a:ext cx="11299371"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The concept of a hard link is the most basic we will discuss today. Every file on the Linux filesystem starts with a single hard link. The </a:t>
            </a:r>
            <a:r>
              <a:rPr lang="en-IN" i="1" dirty="0">
                <a:latin typeface="Times New Roman" panose="02020603050405020304" pitchFamily="18" charset="0"/>
                <a:cs typeface="Times New Roman" panose="02020603050405020304" pitchFamily="18" charset="0"/>
              </a:rPr>
              <a:t>link</a:t>
            </a:r>
            <a:r>
              <a:rPr lang="en-IN" dirty="0">
                <a:latin typeface="Times New Roman" panose="02020603050405020304" pitchFamily="18" charset="0"/>
                <a:cs typeface="Times New Roman" panose="02020603050405020304" pitchFamily="18" charset="0"/>
              </a:rPr>
              <a:t> is between the filename and the actual data stored on the filesystem</a:t>
            </a:r>
          </a:p>
        </p:txBody>
      </p:sp>
      <p:pic>
        <p:nvPicPr>
          <p:cNvPr id="17" name="Picture 16">
            <a:extLst>
              <a:ext uri="{FF2B5EF4-FFF2-40B4-BE49-F238E27FC236}">
                <a16:creationId xmlns:a16="http://schemas.microsoft.com/office/drawing/2014/main" id="{D4D88702-CB6C-5608-8CD5-8A6F400B1ADC}"/>
              </a:ext>
            </a:extLst>
          </p:cNvPr>
          <p:cNvPicPr>
            <a:picLocks noChangeAspect="1"/>
          </p:cNvPicPr>
          <p:nvPr/>
        </p:nvPicPr>
        <p:blipFill>
          <a:blip r:embed="rId2">
            <a:extLst>
              <a:ext uri="{28A0092B-C50C-407E-A947-70E740481C1C}">
                <a14:useLocalDpi xmlns:a14="http://schemas.microsoft.com/office/drawing/2010/main" val="0"/>
              </a:ext>
            </a:extLst>
          </a:blip>
          <a:srcRect r="49343"/>
          <a:stretch>
            <a:fillRect/>
          </a:stretch>
        </p:blipFill>
        <p:spPr>
          <a:xfrm>
            <a:off x="631372" y="3068438"/>
            <a:ext cx="3657599" cy="3547089"/>
          </a:xfrm>
          <a:prstGeom prst="rect">
            <a:avLst/>
          </a:prstGeom>
        </p:spPr>
      </p:pic>
      <p:sp>
        <p:nvSpPr>
          <p:cNvPr id="19" name="TextBox 18">
            <a:extLst>
              <a:ext uri="{FF2B5EF4-FFF2-40B4-BE49-F238E27FC236}">
                <a16:creationId xmlns:a16="http://schemas.microsoft.com/office/drawing/2014/main" id="{72D49E9C-C96B-7DC7-94EE-156AD854CAF3}"/>
              </a:ext>
            </a:extLst>
          </p:cNvPr>
          <p:cNvSpPr txBox="1"/>
          <p:nvPr/>
        </p:nvSpPr>
        <p:spPr>
          <a:xfrm>
            <a:off x="5529943" y="4195651"/>
            <a:ext cx="5806908" cy="646331"/>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If you edit one file ?</a:t>
            </a:r>
          </a:p>
          <a:p>
            <a:r>
              <a:rPr lang="en-IN" dirty="0">
                <a:latin typeface="Times New Roman" panose="02020603050405020304" pitchFamily="18" charset="0"/>
                <a:cs typeface="Times New Roman" panose="02020603050405020304" pitchFamily="18" charset="0"/>
              </a:rPr>
              <a:t>The changes will be reflected in both files</a:t>
            </a:r>
          </a:p>
        </p:txBody>
      </p:sp>
      <p:sp>
        <p:nvSpPr>
          <p:cNvPr id="20" name="TextBox 19">
            <a:extLst>
              <a:ext uri="{FF2B5EF4-FFF2-40B4-BE49-F238E27FC236}">
                <a16:creationId xmlns:a16="http://schemas.microsoft.com/office/drawing/2014/main" id="{F7322403-A592-F115-94D5-2E608CFA3B55}"/>
              </a:ext>
            </a:extLst>
          </p:cNvPr>
          <p:cNvSpPr txBox="1"/>
          <p:nvPr/>
        </p:nvSpPr>
        <p:spPr>
          <a:xfrm>
            <a:off x="5529943" y="2776357"/>
            <a:ext cx="6172200" cy="1477328"/>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How to Create a Hard Link</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aksh_maverick@AKSHANSH-PC</a:t>
            </a:r>
            <a:r>
              <a:rPr lang="en-IN" dirty="0">
                <a:latin typeface="Times New Roman" panose="02020603050405020304" pitchFamily="18" charset="0"/>
                <a:cs typeface="Times New Roman" panose="02020603050405020304" pitchFamily="18" charset="0"/>
              </a:rPr>
              <a:t>: echo “text” &gt;file_name.txt</a:t>
            </a:r>
          </a:p>
          <a:p>
            <a:r>
              <a:rPr lang="en-IN" dirty="0" err="1">
                <a:latin typeface="Times New Roman" panose="02020603050405020304" pitchFamily="18" charset="0"/>
                <a:cs typeface="Times New Roman" panose="02020603050405020304" pitchFamily="18" charset="0"/>
              </a:rPr>
              <a:t>aksh_maverick@AKSHANSH-PC</a:t>
            </a:r>
            <a:r>
              <a:rPr lang="en-IN" dirty="0">
                <a:latin typeface="Times New Roman" panose="02020603050405020304" pitchFamily="18" charset="0"/>
                <a:cs typeface="Times New Roman" panose="02020603050405020304" pitchFamily="18" charset="0"/>
              </a:rPr>
              <a:t>: ln file_name.txt file_name2.txt</a:t>
            </a:r>
          </a:p>
          <a:p>
            <a:endParaRPr lang="en-IN" dirty="0">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A104F6BB-A836-C654-6E96-28B93D674640}"/>
              </a:ext>
            </a:extLst>
          </p:cNvPr>
          <p:cNvSpPr txBox="1"/>
          <p:nvPr/>
        </p:nvSpPr>
        <p:spPr>
          <a:xfrm>
            <a:off x="5529943" y="5205015"/>
            <a:ext cx="5421088" cy="923330"/>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Now comes the concept of </a:t>
            </a:r>
            <a:r>
              <a:rPr lang="en-IN" b="1" dirty="0" err="1">
                <a:latin typeface="Times New Roman" panose="02020603050405020304" pitchFamily="18" charset="0"/>
                <a:cs typeface="Times New Roman" panose="02020603050405020304" pitchFamily="18" charset="0"/>
              </a:rPr>
              <a:t>Inode</a:t>
            </a:r>
            <a:r>
              <a:rPr lang="en-IN" b="1"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Since both are pointing to the same file they will have same </a:t>
            </a:r>
            <a:r>
              <a:rPr lang="en-IN" dirty="0" err="1">
                <a:latin typeface="Times New Roman" panose="02020603050405020304" pitchFamily="18" charset="0"/>
                <a:cs typeface="Times New Roman" panose="02020603050405020304" pitchFamily="18" charset="0"/>
              </a:rPr>
              <a:t>inode</a:t>
            </a:r>
            <a:r>
              <a:rPr lang="en-IN" dirty="0">
                <a:latin typeface="Times New Roman" panose="02020603050405020304" pitchFamily="18" charset="0"/>
                <a:cs typeface="Times New Roman" panose="02020603050405020304" pitchFamily="18" charset="0"/>
              </a:rPr>
              <a:t> number </a:t>
            </a:r>
          </a:p>
        </p:txBody>
      </p:sp>
    </p:spTree>
    <p:extLst>
      <p:ext uri="{BB962C8B-B14F-4D97-AF65-F5344CB8AC3E}">
        <p14:creationId xmlns:p14="http://schemas.microsoft.com/office/powerpoint/2010/main" val="36609507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971CF-92A9-1056-EFC9-D49216185D0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BB76A0E-7C99-8D43-6FD0-E61DF21F9E8C}"/>
              </a:ext>
            </a:extLst>
          </p:cNvPr>
          <p:cNvSpPr txBox="1"/>
          <p:nvPr/>
        </p:nvSpPr>
        <p:spPr>
          <a:xfrm>
            <a:off x="4038600" y="2120474"/>
            <a:ext cx="2404503" cy="373625"/>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6C1DBFBD-EFE8-DF59-986F-3CC9E6ED1B26}"/>
              </a:ext>
            </a:extLst>
          </p:cNvPr>
          <p:cNvSpPr txBox="1"/>
          <p:nvPr/>
        </p:nvSpPr>
        <p:spPr>
          <a:xfrm>
            <a:off x="7464362" y="2224672"/>
            <a:ext cx="184731" cy="369332"/>
          </a:xfrm>
          <a:prstGeom prst="rect">
            <a:avLst/>
          </a:prstGeom>
          <a:noFill/>
        </p:spPr>
        <p:txBody>
          <a:bodyPr wrap="none" rtlCol="0">
            <a:spAutoFit/>
          </a:bodyPr>
          <a:lstStyle/>
          <a:p>
            <a:endParaRPr lang="en-IN"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EBB7D532-99B1-BB78-F7B1-64143AAD1A77}"/>
              </a:ext>
            </a:extLst>
          </p:cNvPr>
          <p:cNvSpPr txBox="1"/>
          <p:nvPr/>
        </p:nvSpPr>
        <p:spPr>
          <a:xfrm>
            <a:off x="793417" y="841224"/>
            <a:ext cx="11299371" cy="400110"/>
          </a:xfrm>
          <a:prstGeom prst="rect">
            <a:avLst/>
          </a:prstGeom>
          <a:noFill/>
        </p:spPr>
        <p:txBody>
          <a:bodyPr wrap="square">
            <a:spAutoFit/>
          </a:bodyPr>
          <a:lstStyle/>
          <a:p>
            <a:pPr>
              <a:buNone/>
            </a:pPr>
            <a:r>
              <a:rPr lang="en-IN" dirty="0">
                <a:latin typeface="Times New Roman" panose="02020603050405020304" pitchFamily="18" charset="0"/>
                <a:cs typeface="Times New Roman" panose="02020603050405020304" pitchFamily="18" charset="0"/>
              </a:rPr>
              <a:t>                                                    </a:t>
            </a:r>
            <a:r>
              <a:rPr lang="en-IN" sz="2000" b="1" u="sng" dirty="0">
                <a:latin typeface="Times New Roman" panose="02020603050405020304" pitchFamily="18" charset="0"/>
                <a:cs typeface="Times New Roman" panose="02020603050405020304" pitchFamily="18" charset="0"/>
              </a:rPr>
              <a:t>What are Hard Links and Soft Links in Linux</a:t>
            </a:r>
          </a:p>
        </p:txBody>
      </p:sp>
      <p:sp>
        <p:nvSpPr>
          <p:cNvPr id="2" name="TextBox 1">
            <a:extLst>
              <a:ext uri="{FF2B5EF4-FFF2-40B4-BE49-F238E27FC236}">
                <a16:creationId xmlns:a16="http://schemas.microsoft.com/office/drawing/2014/main" id="{8049739D-E247-D993-AE45-65E5766D2AA2}"/>
              </a:ext>
            </a:extLst>
          </p:cNvPr>
          <p:cNvSpPr txBox="1"/>
          <p:nvPr/>
        </p:nvSpPr>
        <p:spPr>
          <a:xfrm>
            <a:off x="685800" y="1376684"/>
            <a:ext cx="1172116" cy="369332"/>
          </a:xfrm>
          <a:prstGeom prst="rect">
            <a:avLst/>
          </a:prstGeom>
          <a:noFill/>
        </p:spPr>
        <p:txBody>
          <a:bodyPr wrap="none" rtlCol="0">
            <a:spAutoFit/>
          </a:bodyPr>
          <a:lstStyle/>
          <a:p>
            <a:r>
              <a:rPr lang="en-IN" b="1" u="sng" dirty="0">
                <a:latin typeface="Times New Roman" panose="02020603050405020304" pitchFamily="18" charset="0"/>
                <a:cs typeface="Times New Roman" panose="02020603050405020304" pitchFamily="18" charset="0"/>
              </a:rPr>
              <a:t>Soft  Link</a:t>
            </a:r>
          </a:p>
        </p:txBody>
      </p:sp>
      <p:sp>
        <p:nvSpPr>
          <p:cNvPr id="12" name="TextBox 11">
            <a:extLst>
              <a:ext uri="{FF2B5EF4-FFF2-40B4-BE49-F238E27FC236}">
                <a16:creationId xmlns:a16="http://schemas.microsoft.com/office/drawing/2014/main" id="{8C728A38-7F0E-94CE-6064-F9AB35E39F7B}"/>
              </a:ext>
            </a:extLst>
          </p:cNvPr>
          <p:cNvSpPr txBox="1"/>
          <p:nvPr/>
        </p:nvSpPr>
        <p:spPr>
          <a:xfrm>
            <a:off x="446314" y="1682840"/>
            <a:ext cx="11299371" cy="923330"/>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A </a:t>
            </a:r>
            <a:r>
              <a:rPr lang="en-IN" b="1" dirty="0">
                <a:latin typeface="Times New Roman" panose="02020603050405020304" pitchFamily="18" charset="0"/>
                <a:cs typeface="Times New Roman" panose="02020603050405020304" pitchFamily="18" charset="0"/>
              </a:rPr>
              <a:t>soft link</a:t>
            </a:r>
            <a:r>
              <a:rPr lang="en-IN" dirty="0">
                <a:latin typeface="Times New Roman" panose="02020603050405020304" pitchFamily="18" charset="0"/>
                <a:cs typeface="Times New Roman" panose="02020603050405020304" pitchFamily="18" charset="0"/>
              </a:rPr>
              <a:t> in Linux is a special file that acts as a shortcut by </a:t>
            </a:r>
            <a:r>
              <a:rPr lang="en-IN" b="1" dirty="0">
                <a:latin typeface="Times New Roman" panose="02020603050405020304" pitchFamily="18" charset="0"/>
                <a:cs typeface="Times New Roman" panose="02020603050405020304" pitchFamily="18" charset="0"/>
              </a:rPr>
              <a:t>pointing to the text path of another file or directory</a:t>
            </a:r>
            <a:r>
              <a:rPr lang="en-IN" dirty="0">
                <a:latin typeface="Times New Roman" panose="02020603050405020304" pitchFamily="18" charset="0"/>
                <a:cs typeface="Times New Roman" panose="02020603050405020304" pitchFamily="18" charset="0"/>
              </a:rPr>
              <a:t>. Unlike a hard link, it has a unique </a:t>
            </a:r>
            <a:r>
              <a:rPr lang="en-IN" dirty="0" err="1">
                <a:latin typeface="Times New Roman" panose="02020603050405020304" pitchFamily="18" charset="0"/>
                <a:cs typeface="Times New Roman" panose="02020603050405020304" pitchFamily="18" charset="0"/>
              </a:rPr>
              <a:t>inode</a:t>
            </a:r>
            <a:r>
              <a:rPr lang="en-IN" dirty="0">
                <a:latin typeface="Times New Roman" panose="02020603050405020304" pitchFamily="18" charset="0"/>
                <a:cs typeface="Times New Roman" panose="02020603050405020304" pitchFamily="18" charset="0"/>
              </a:rPr>
              <a:t> number and can cross different file systems, but it breaks if the original file is deleted (ln  -s </a:t>
            </a:r>
            <a:r>
              <a:rPr lang="en-IN" dirty="0" err="1">
                <a:latin typeface="Times New Roman" panose="02020603050405020304" pitchFamily="18" charset="0"/>
                <a:cs typeface="Times New Roman" panose="02020603050405020304" pitchFamily="18" charset="0"/>
              </a:rPr>
              <a:t>file_name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link_name</a:t>
            </a:r>
            <a:r>
              <a:rPr lang="en-IN" dirty="0">
                <a:latin typeface="Times New Roman" panose="02020603050405020304" pitchFamily="18" charset="0"/>
                <a:cs typeface="Times New Roman" panose="02020603050405020304" pitchFamily="18" charset="0"/>
              </a:rPr>
              <a:t>)</a:t>
            </a:r>
          </a:p>
        </p:txBody>
      </p:sp>
      <p:sp>
        <p:nvSpPr>
          <p:cNvPr id="20" name="TextBox 19">
            <a:extLst>
              <a:ext uri="{FF2B5EF4-FFF2-40B4-BE49-F238E27FC236}">
                <a16:creationId xmlns:a16="http://schemas.microsoft.com/office/drawing/2014/main" id="{3EEFBD74-1C29-F328-E509-E2AC1E86386A}"/>
              </a:ext>
            </a:extLst>
          </p:cNvPr>
          <p:cNvSpPr txBox="1"/>
          <p:nvPr/>
        </p:nvSpPr>
        <p:spPr>
          <a:xfrm>
            <a:off x="5334000" y="2608567"/>
            <a:ext cx="6172200"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How to Create a soft Link?</a:t>
            </a:r>
          </a:p>
          <a:p>
            <a:r>
              <a:rPr lang="en-IN" dirty="0">
                <a:latin typeface="Times New Roman" panose="02020603050405020304" pitchFamily="18" charset="0"/>
                <a:cs typeface="Times New Roman" panose="02020603050405020304" pitchFamily="18" charset="0"/>
              </a:rPr>
              <a:t> </a:t>
            </a:r>
          </a:p>
        </p:txBody>
      </p:sp>
      <p:pic>
        <p:nvPicPr>
          <p:cNvPr id="7" name="Picture 6">
            <a:extLst>
              <a:ext uri="{FF2B5EF4-FFF2-40B4-BE49-F238E27FC236}">
                <a16:creationId xmlns:a16="http://schemas.microsoft.com/office/drawing/2014/main" id="{4CA73CE0-9CFC-67AE-DCD7-E657A8E56984}"/>
              </a:ext>
            </a:extLst>
          </p:cNvPr>
          <p:cNvPicPr>
            <a:picLocks noChangeAspect="1"/>
          </p:cNvPicPr>
          <p:nvPr/>
        </p:nvPicPr>
        <p:blipFill>
          <a:blip r:embed="rId2">
            <a:extLst>
              <a:ext uri="{28A0092B-C50C-407E-A947-70E740481C1C}">
                <a14:useLocalDpi xmlns:a14="http://schemas.microsoft.com/office/drawing/2010/main" val="0"/>
              </a:ext>
            </a:extLst>
          </a:blip>
          <a:srcRect l="50767"/>
          <a:stretch>
            <a:fillRect/>
          </a:stretch>
        </p:blipFill>
        <p:spPr>
          <a:xfrm>
            <a:off x="793416" y="2721586"/>
            <a:ext cx="3321383" cy="3679371"/>
          </a:xfrm>
          <a:prstGeom prst="rect">
            <a:avLst/>
          </a:prstGeom>
        </p:spPr>
      </p:pic>
      <p:pic>
        <p:nvPicPr>
          <p:cNvPr id="11" name="Picture 10">
            <a:extLst>
              <a:ext uri="{FF2B5EF4-FFF2-40B4-BE49-F238E27FC236}">
                <a16:creationId xmlns:a16="http://schemas.microsoft.com/office/drawing/2014/main" id="{BF0C1A74-7F1F-1A42-CC1D-248B2C43B1DD}"/>
              </a:ext>
            </a:extLst>
          </p:cNvPr>
          <p:cNvPicPr>
            <a:picLocks noChangeAspect="1"/>
          </p:cNvPicPr>
          <p:nvPr/>
        </p:nvPicPr>
        <p:blipFill>
          <a:blip r:embed="rId3"/>
          <a:stretch>
            <a:fillRect/>
          </a:stretch>
        </p:blipFill>
        <p:spPr>
          <a:xfrm>
            <a:off x="4640776" y="3148002"/>
            <a:ext cx="6502734" cy="2664283"/>
          </a:xfrm>
          <a:prstGeom prst="rect">
            <a:avLst/>
          </a:prstGeom>
        </p:spPr>
      </p:pic>
    </p:spTree>
    <p:extLst>
      <p:ext uri="{BB962C8B-B14F-4D97-AF65-F5344CB8AC3E}">
        <p14:creationId xmlns:p14="http://schemas.microsoft.com/office/powerpoint/2010/main" val="40720172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A00E1-EF2D-D6B0-58D3-5340BF6AFD7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FBF5E1A-465C-F8FA-1799-EEEE44DB1603}"/>
              </a:ext>
            </a:extLst>
          </p:cNvPr>
          <p:cNvSpPr txBox="1"/>
          <p:nvPr/>
        </p:nvSpPr>
        <p:spPr>
          <a:xfrm>
            <a:off x="4038600" y="2120474"/>
            <a:ext cx="2404503" cy="373625"/>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F27C1F6F-4E0B-A75A-3B9A-3F12B05F56F4}"/>
              </a:ext>
            </a:extLst>
          </p:cNvPr>
          <p:cNvSpPr txBox="1"/>
          <p:nvPr/>
        </p:nvSpPr>
        <p:spPr>
          <a:xfrm>
            <a:off x="7464362" y="2224672"/>
            <a:ext cx="184731" cy="369332"/>
          </a:xfrm>
          <a:prstGeom prst="rect">
            <a:avLst/>
          </a:prstGeom>
          <a:noFill/>
        </p:spPr>
        <p:txBody>
          <a:bodyPr wrap="none" rtlCol="0">
            <a:spAutoFit/>
          </a:bodyPr>
          <a:lstStyle/>
          <a:p>
            <a:endParaRPr lang="en-IN"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D348AE35-FFCE-7CAC-41D6-7D639899F6C2}"/>
              </a:ext>
            </a:extLst>
          </p:cNvPr>
          <p:cNvSpPr txBox="1"/>
          <p:nvPr/>
        </p:nvSpPr>
        <p:spPr>
          <a:xfrm>
            <a:off x="-153640" y="867709"/>
            <a:ext cx="11299371" cy="400110"/>
          </a:xfrm>
          <a:prstGeom prst="rect">
            <a:avLst/>
          </a:prstGeom>
          <a:noFill/>
        </p:spPr>
        <p:txBody>
          <a:bodyPr wrap="square">
            <a:spAutoFit/>
          </a:bodyPr>
          <a:lstStyle/>
          <a:p>
            <a:pPr>
              <a:buNone/>
            </a:pPr>
            <a:r>
              <a:rPr lang="en-IN" dirty="0">
                <a:latin typeface="Times New Roman" panose="02020603050405020304" pitchFamily="18" charset="0"/>
                <a:cs typeface="Times New Roman" panose="02020603050405020304" pitchFamily="18" charset="0"/>
              </a:rPr>
              <a:t>                                                    </a:t>
            </a:r>
            <a:r>
              <a:rPr lang="en-IN" sz="2000" b="1" u="sng" dirty="0">
                <a:latin typeface="Times New Roman" panose="02020603050405020304" pitchFamily="18" charset="0"/>
                <a:cs typeface="Times New Roman" panose="02020603050405020304" pitchFamily="18" charset="0"/>
              </a:rPr>
              <a:t>What is the difference </a:t>
            </a:r>
            <a:r>
              <a:rPr lang="en-IN" sz="2000" b="1" u="sng" dirty="0" err="1">
                <a:latin typeface="Times New Roman" panose="02020603050405020304" pitchFamily="18" charset="0"/>
                <a:cs typeface="Times New Roman" panose="02020603050405020304" pitchFamily="18" charset="0"/>
              </a:rPr>
              <a:t>betweem</a:t>
            </a:r>
            <a:r>
              <a:rPr lang="en-IN" sz="2000" b="1" u="sng" dirty="0">
                <a:latin typeface="Times New Roman" panose="02020603050405020304" pitchFamily="18" charset="0"/>
                <a:cs typeface="Times New Roman" panose="02020603050405020304" pitchFamily="18" charset="0"/>
              </a:rPr>
              <a:t> Hard Links and Soft Links in Linux</a:t>
            </a:r>
          </a:p>
        </p:txBody>
      </p:sp>
      <p:graphicFrame>
        <p:nvGraphicFramePr>
          <p:cNvPr id="3" name="Table 2">
            <a:extLst>
              <a:ext uri="{FF2B5EF4-FFF2-40B4-BE49-F238E27FC236}">
                <a16:creationId xmlns:a16="http://schemas.microsoft.com/office/drawing/2014/main" id="{1CB0EF29-9CDD-C98D-1E13-852D23A7F17D}"/>
              </a:ext>
            </a:extLst>
          </p:cNvPr>
          <p:cNvGraphicFramePr>
            <a:graphicFrameLocks noGrp="1"/>
          </p:cNvGraphicFramePr>
          <p:nvPr>
            <p:extLst>
              <p:ext uri="{D42A27DB-BD31-4B8C-83A1-F6EECF244321}">
                <p14:modId xmlns:p14="http://schemas.microsoft.com/office/powerpoint/2010/main" val="3350510807"/>
              </p:ext>
            </p:extLst>
          </p:nvPr>
        </p:nvGraphicFramePr>
        <p:xfrm>
          <a:off x="838200" y="2120474"/>
          <a:ext cx="10515600" cy="3343860"/>
        </p:xfrm>
        <a:graphic>
          <a:graphicData uri="http://schemas.openxmlformats.org/drawingml/2006/table">
            <a:tbl>
              <a:tblPr>
                <a:tableStyleId>{0660B408-B3CF-4A94-85FC-2B1E0A45F4A2}</a:tableStyleId>
              </a:tblPr>
              <a:tblGrid>
                <a:gridCol w="3505200">
                  <a:extLst>
                    <a:ext uri="{9D8B030D-6E8A-4147-A177-3AD203B41FA5}">
                      <a16:colId xmlns:a16="http://schemas.microsoft.com/office/drawing/2014/main" val="2571478579"/>
                    </a:ext>
                  </a:extLst>
                </a:gridCol>
                <a:gridCol w="3505200">
                  <a:extLst>
                    <a:ext uri="{9D8B030D-6E8A-4147-A177-3AD203B41FA5}">
                      <a16:colId xmlns:a16="http://schemas.microsoft.com/office/drawing/2014/main" val="3613756708"/>
                    </a:ext>
                  </a:extLst>
                </a:gridCol>
                <a:gridCol w="3505200">
                  <a:extLst>
                    <a:ext uri="{9D8B030D-6E8A-4147-A177-3AD203B41FA5}">
                      <a16:colId xmlns:a16="http://schemas.microsoft.com/office/drawing/2014/main" val="2115003036"/>
                    </a:ext>
                  </a:extLst>
                </a:gridCol>
              </a:tblGrid>
              <a:tr h="382155">
                <a:tc>
                  <a:txBody>
                    <a:bodyPr/>
                    <a:lstStyle/>
                    <a:p>
                      <a:pPr>
                        <a:buNone/>
                      </a:pPr>
                      <a:r>
                        <a:rPr lang="en-IN" b="1" dirty="0">
                          <a:latin typeface="Times New Roman" panose="02020603050405020304" pitchFamily="18" charset="0"/>
                          <a:cs typeface="Times New Roman" panose="02020603050405020304" pitchFamily="18" charset="0"/>
                        </a:rPr>
                        <a:t>Feature</a:t>
                      </a:r>
                    </a:p>
                  </a:txBody>
                  <a:tcPr anchor="ctr"/>
                </a:tc>
                <a:tc>
                  <a:txBody>
                    <a:bodyPr/>
                    <a:lstStyle/>
                    <a:p>
                      <a:pPr>
                        <a:buNone/>
                      </a:pPr>
                      <a:r>
                        <a:rPr lang="en-IN" b="1">
                          <a:latin typeface="Times New Roman" panose="02020603050405020304" pitchFamily="18" charset="0"/>
                          <a:cs typeface="Times New Roman" panose="02020603050405020304" pitchFamily="18" charset="0"/>
                        </a:rPr>
                        <a:t>Hard Link</a:t>
                      </a:r>
                    </a:p>
                  </a:txBody>
                  <a:tcPr anchor="ctr"/>
                </a:tc>
                <a:tc>
                  <a:txBody>
                    <a:bodyPr/>
                    <a:lstStyle/>
                    <a:p>
                      <a:pPr>
                        <a:buNone/>
                      </a:pPr>
                      <a:r>
                        <a:rPr lang="en-IN" b="1" dirty="0">
                          <a:latin typeface="Times New Roman" panose="02020603050405020304" pitchFamily="18" charset="0"/>
                          <a:cs typeface="Times New Roman" panose="02020603050405020304" pitchFamily="18" charset="0"/>
                        </a:rPr>
                        <a:t>Soft Link (Symbolic Link)</a:t>
                      </a:r>
                    </a:p>
                  </a:txBody>
                  <a:tcPr anchor="ctr"/>
                </a:tc>
                <a:extLst>
                  <a:ext uri="{0D108BD9-81ED-4DB2-BD59-A6C34878D82A}">
                    <a16:rowId xmlns:a16="http://schemas.microsoft.com/office/drawing/2014/main" val="1150487276"/>
                  </a:ext>
                </a:extLst>
              </a:tr>
              <a:tr h="668772">
                <a:tc>
                  <a:txBody>
                    <a:bodyPr/>
                    <a:lstStyle/>
                    <a:p>
                      <a:pPr>
                        <a:buNone/>
                      </a:pPr>
                      <a:r>
                        <a:rPr lang="en-IN" b="1">
                          <a:latin typeface="Times New Roman" panose="02020603050405020304" pitchFamily="18" charset="0"/>
                          <a:cs typeface="Times New Roman" panose="02020603050405020304" pitchFamily="18" charset="0"/>
                        </a:rPr>
                        <a:t>Concept</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Another </a:t>
                      </a:r>
                      <a:r>
                        <a:rPr lang="en-IN" b="1">
                          <a:latin typeface="Times New Roman" panose="02020603050405020304" pitchFamily="18" charset="0"/>
                          <a:cs typeface="Times New Roman" panose="02020603050405020304" pitchFamily="18" charset="0"/>
                        </a:rPr>
                        <a:t>name</a:t>
                      </a:r>
                      <a:r>
                        <a:rPr lang="en-IN">
                          <a:latin typeface="Times New Roman" panose="02020603050405020304" pitchFamily="18" charset="0"/>
                          <a:cs typeface="Times New Roman" panose="02020603050405020304" pitchFamily="18" charset="0"/>
                        </a:rPr>
                        <a:t> for the same file.</a:t>
                      </a:r>
                    </a:p>
                  </a:txBody>
                  <a:tcPr anchor="ctr"/>
                </a:tc>
                <a:tc>
                  <a:txBody>
                    <a:bodyPr/>
                    <a:lstStyle/>
                    <a:p>
                      <a:pPr>
                        <a:buNone/>
                      </a:pPr>
                      <a:r>
                        <a:rPr lang="en-IN" dirty="0">
                          <a:latin typeface="Times New Roman" panose="02020603050405020304" pitchFamily="18" charset="0"/>
                          <a:cs typeface="Times New Roman" panose="02020603050405020304" pitchFamily="18" charset="0"/>
                        </a:rPr>
                        <a:t>A </a:t>
                      </a:r>
                      <a:r>
                        <a:rPr lang="en-IN" b="1" dirty="0">
                          <a:latin typeface="Times New Roman" panose="02020603050405020304" pitchFamily="18" charset="0"/>
                          <a:cs typeface="Times New Roman" panose="02020603050405020304" pitchFamily="18" charset="0"/>
                        </a:rPr>
                        <a:t>shortcut</a:t>
                      </a:r>
                      <a:r>
                        <a:rPr lang="en-IN" dirty="0">
                          <a:latin typeface="Times New Roman" panose="02020603050405020304" pitchFamily="18" charset="0"/>
                          <a:cs typeface="Times New Roman" panose="02020603050405020304" pitchFamily="18" charset="0"/>
                        </a:rPr>
                        <a:t> that stores the path to the original file.</a:t>
                      </a:r>
                    </a:p>
                  </a:txBody>
                  <a:tcPr anchor="ctr"/>
                </a:tc>
                <a:extLst>
                  <a:ext uri="{0D108BD9-81ED-4DB2-BD59-A6C34878D82A}">
                    <a16:rowId xmlns:a16="http://schemas.microsoft.com/office/drawing/2014/main" val="3661570921"/>
                  </a:ext>
                </a:extLst>
              </a:tr>
              <a:tr h="955389">
                <a:tc>
                  <a:txBody>
                    <a:bodyPr/>
                    <a:lstStyle/>
                    <a:p>
                      <a:pPr>
                        <a:buNone/>
                      </a:pPr>
                      <a:r>
                        <a:rPr lang="en-IN" b="1">
                          <a:latin typeface="Times New Roman" panose="02020603050405020304" pitchFamily="18" charset="0"/>
                          <a:cs typeface="Times New Roman" panose="02020603050405020304" pitchFamily="18" charset="0"/>
                        </a:rPr>
                        <a:t>If Original File is Deleted</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Still works because the data is still accessible through the hard link.</a:t>
                      </a:r>
                    </a:p>
                  </a:txBody>
                  <a:tcPr anchor="ctr"/>
                </a:tc>
                <a:tc>
                  <a:txBody>
                    <a:bodyPr/>
                    <a:lstStyle/>
                    <a:p>
                      <a:pPr>
                        <a:buNone/>
                      </a:pPr>
                      <a:r>
                        <a:rPr lang="en-IN">
                          <a:latin typeface="Times New Roman" panose="02020603050405020304" pitchFamily="18" charset="0"/>
                          <a:cs typeface="Times New Roman" panose="02020603050405020304" pitchFamily="18" charset="0"/>
                        </a:rPr>
                        <a:t>Becomes a </a:t>
                      </a:r>
                      <a:r>
                        <a:rPr lang="en-IN" b="1">
                          <a:latin typeface="Times New Roman" panose="02020603050405020304" pitchFamily="18" charset="0"/>
                          <a:cs typeface="Times New Roman" panose="02020603050405020304" pitchFamily="18" charset="0"/>
                        </a:rPr>
                        <a:t>broken (dangling) link</a:t>
                      </a:r>
                      <a:r>
                        <a:rPr lang="en-IN">
                          <a:latin typeface="Times New Roman" panose="02020603050405020304" pitchFamily="18" charset="0"/>
                          <a:cs typeface="Times New Roman" panose="02020603050405020304" pitchFamily="18" charset="0"/>
                        </a:rPr>
                        <a:t> because the target file no longer exists.</a:t>
                      </a:r>
                    </a:p>
                  </a:txBody>
                  <a:tcPr anchor="ctr"/>
                </a:tc>
                <a:extLst>
                  <a:ext uri="{0D108BD9-81ED-4DB2-BD59-A6C34878D82A}">
                    <a16:rowId xmlns:a16="http://schemas.microsoft.com/office/drawing/2014/main" val="3593682082"/>
                  </a:ext>
                </a:extLst>
              </a:tr>
              <a:tr h="668772">
                <a:tc>
                  <a:txBody>
                    <a:bodyPr/>
                    <a:lstStyle/>
                    <a:p>
                      <a:pPr>
                        <a:buNone/>
                      </a:pPr>
                      <a:r>
                        <a:rPr lang="en-IN" b="1">
                          <a:latin typeface="Times New Roman" panose="02020603050405020304" pitchFamily="18" charset="0"/>
                          <a:cs typeface="Times New Roman" panose="02020603050405020304" pitchFamily="18" charset="0"/>
                        </a:rPr>
                        <a:t>Directories</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Cannot normally be created for directories.</a:t>
                      </a:r>
                    </a:p>
                  </a:txBody>
                  <a:tcPr anchor="ctr"/>
                </a:tc>
                <a:tc>
                  <a:txBody>
                    <a:bodyPr/>
                    <a:lstStyle/>
                    <a:p>
                      <a:pPr>
                        <a:buNone/>
                      </a:pPr>
                      <a:r>
                        <a:rPr lang="en-IN">
                          <a:latin typeface="Times New Roman" panose="02020603050405020304" pitchFamily="18" charset="0"/>
                          <a:cs typeface="Times New Roman" panose="02020603050405020304" pitchFamily="18" charset="0"/>
                        </a:rPr>
                        <a:t>Can be created for both </a:t>
                      </a:r>
                      <a:r>
                        <a:rPr lang="en-IN" b="1">
                          <a:latin typeface="Times New Roman" panose="02020603050405020304" pitchFamily="18" charset="0"/>
                          <a:cs typeface="Times New Roman" panose="02020603050405020304" pitchFamily="18" charset="0"/>
                        </a:rPr>
                        <a:t>files and directories</a:t>
                      </a:r>
                      <a:r>
                        <a:rPr lang="en-IN">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4259036428"/>
                  </a:ext>
                </a:extLst>
              </a:tr>
              <a:tr h="668772">
                <a:tc>
                  <a:txBody>
                    <a:bodyPr/>
                    <a:lstStyle/>
                    <a:p>
                      <a:pPr>
                        <a:buNone/>
                      </a:pPr>
                      <a:r>
                        <a:rPr lang="en-IN" b="1" dirty="0">
                          <a:latin typeface="Times New Roman" panose="02020603050405020304" pitchFamily="18" charset="0"/>
                          <a:cs typeface="Times New Roman" panose="02020603050405020304" pitchFamily="18" charset="0"/>
                        </a:rPr>
                        <a:t>Different File Systems</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Cannot be created across different file systems or partitions.</a:t>
                      </a:r>
                    </a:p>
                  </a:txBody>
                  <a:tcPr anchor="ctr"/>
                </a:tc>
                <a:tc>
                  <a:txBody>
                    <a:bodyPr/>
                    <a:lstStyle/>
                    <a:p>
                      <a:pPr>
                        <a:buNone/>
                      </a:pPr>
                      <a:r>
                        <a:rPr lang="en-IN" dirty="0">
                          <a:latin typeface="Times New Roman" panose="02020603050405020304" pitchFamily="18" charset="0"/>
                          <a:cs typeface="Times New Roman" panose="02020603050405020304" pitchFamily="18" charset="0"/>
                        </a:rPr>
                        <a:t>Can be created across different file systems or partitions.</a:t>
                      </a:r>
                    </a:p>
                  </a:txBody>
                  <a:tcPr anchor="ctr"/>
                </a:tc>
                <a:extLst>
                  <a:ext uri="{0D108BD9-81ED-4DB2-BD59-A6C34878D82A}">
                    <a16:rowId xmlns:a16="http://schemas.microsoft.com/office/drawing/2014/main" val="838230250"/>
                  </a:ext>
                </a:extLst>
              </a:tr>
            </a:tbl>
          </a:graphicData>
        </a:graphic>
      </p:graphicFrame>
    </p:spTree>
    <p:extLst>
      <p:ext uri="{BB962C8B-B14F-4D97-AF65-F5344CB8AC3E}">
        <p14:creationId xmlns:p14="http://schemas.microsoft.com/office/powerpoint/2010/main" val="475850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2320E-B73D-9698-E71F-7ABDB12725F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92887C5-4D5B-A55C-AB47-58EF5103BD9A}"/>
              </a:ext>
            </a:extLst>
          </p:cNvPr>
          <p:cNvSpPr txBox="1"/>
          <p:nvPr/>
        </p:nvSpPr>
        <p:spPr>
          <a:xfrm>
            <a:off x="4038600" y="2120474"/>
            <a:ext cx="2404503" cy="373625"/>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48F233DA-5189-B24C-DCD9-B5D9EDB0C90A}"/>
              </a:ext>
            </a:extLst>
          </p:cNvPr>
          <p:cNvSpPr txBox="1"/>
          <p:nvPr/>
        </p:nvSpPr>
        <p:spPr>
          <a:xfrm>
            <a:off x="7464362" y="2224672"/>
            <a:ext cx="184731" cy="369332"/>
          </a:xfrm>
          <a:prstGeom prst="rect">
            <a:avLst/>
          </a:prstGeom>
          <a:noFill/>
        </p:spPr>
        <p:txBody>
          <a:bodyPr wrap="none" rtlCol="0">
            <a:spAutoFit/>
          </a:bodyPr>
          <a:lstStyle/>
          <a:p>
            <a:endParaRPr lang="en-IN"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54486503-7675-91B7-4628-F19CDCED9B08}"/>
              </a:ext>
            </a:extLst>
          </p:cNvPr>
          <p:cNvSpPr txBox="1"/>
          <p:nvPr/>
        </p:nvSpPr>
        <p:spPr>
          <a:xfrm>
            <a:off x="-153640" y="867709"/>
            <a:ext cx="11299371" cy="461665"/>
          </a:xfrm>
          <a:prstGeom prst="rect">
            <a:avLst/>
          </a:prstGeom>
          <a:noFill/>
        </p:spPr>
        <p:txBody>
          <a:bodyPr wrap="square">
            <a:spAutoFit/>
          </a:bodyPr>
          <a:lstStyle/>
          <a:p>
            <a:pPr>
              <a:buNone/>
            </a:pP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What is Output Redirection?</a:t>
            </a:r>
            <a:endParaRPr lang="en-IN" sz="2400" b="1" u="sng"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9DFDBE8-E6B2-5CAB-B2A0-4640635E944D}"/>
              </a:ext>
            </a:extLst>
          </p:cNvPr>
          <p:cNvSpPr txBox="1"/>
          <p:nvPr/>
        </p:nvSpPr>
        <p:spPr>
          <a:xfrm>
            <a:off x="696686" y="1474143"/>
            <a:ext cx="9209313"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Normally, every command displays its output on the </a:t>
            </a:r>
            <a:r>
              <a:rPr lang="en-IN" b="1" dirty="0">
                <a:latin typeface="Times New Roman" panose="02020603050405020304" pitchFamily="18" charset="0"/>
                <a:cs typeface="Times New Roman" panose="02020603050405020304" pitchFamily="18" charset="0"/>
              </a:rPr>
              <a:t>terminal</a:t>
            </a:r>
            <a:r>
              <a:rPr lang="en-IN" dirty="0">
                <a:latin typeface="Times New Roman" panose="02020603050405020304" pitchFamily="18" charset="0"/>
                <a:cs typeface="Times New Roman" panose="02020603050405020304" pitchFamily="18" charset="0"/>
              </a:rPr>
              <a:t>.</a:t>
            </a:r>
          </a:p>
        </p:txBody>
      </p:sp>
      <p:sp>
        <p:nvSpPr>
          <p:cNvPr id="7" name="TextBox 6">
            <a:extLst>
              <a:ext uri="{FF2B5EF4-FFF2-40B4-BE49-F238E27FC236}">
                <a16:creationId xmlns:a16="http://schemas.microsoft.com/office/drawing/2014/main" id="{E9EEDB3D-CF67-4683-E030-656E9E2A477A}"/>
              </a:ext>
            </a:extLst>
          </p:cNvPr>
          <p:cNvSpPr txBox="1"/>
          <p:nvPr/>
        </p:nvSpPr>
        <p:spPr>
          <a:xfrm>
            <a:off x="794050" y="1973343"/>
            <a:ext cx="6172200"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What if I want to save its  output?</a:t>
            </a:r>
          </a:p>
        </p:txBody>
      </p:sp>
      <p:pic>
        <p:nvPicPr>
          <p:cNvPr id="11" name="Picture 10">
            <a:extLst>
              <a:ext uri="{FF2B5EF4-FFF2-40B4-BE49-F238E27FC236}">
                <a16:creationId xmlns:a16="http://schemas.microsoft.com/office/drawing/2014/main" id="{A19B65F4-70CD-7F1D-3395-1F1F8E8A519E}"/>
              </a:ext>
            </a:extLst>
          </p:cNvPr>
          <p:cNvPicPr>
            <a:picLocks noChangeAspect="1"/>
          </p:cNvPicPr>
          <p:nvPr/>
        </p:nvPicPr>
        <p:blipFill>
          <a:blip r:embed="rId2"/>
          <a:stretch>
            <a:fillRect/>
          </a:stretch>
        </p:blipFill>
        <p:spPr>
          <a:xfrm>
            <a:off x="620486" y="2627603"/>
            <a:ext cx="7117093" cy="692186"/>
          </a:xfrm>
          <a:prstGeom prst="rect">
            <a:avLst/>
          </a:prstGeom>
        </p:spPr>
      </p:pic>
      <p:sp>
        <p:nvSpPr>
          <p:cNvPr id="13" name="TextBox 12">
            <a:extLst>
              <a:ext uri="{FF2B5EF4-FFF2-40B4-BE49-F238E27FC236}">
                <a16:creationId xmlns:a16="http://schemas.microsoft.com/office/drawing/2014/main" id="{D3103413-3615-E5D0-0135-637483B1B8F8}"/>
              </a:ext>
            </a:extLst>
          </p:cNvPr>
          <p:cNvSpPr txBox="1"/>
          <p:nvPr/>
        </p:nvSpPr>
        <p:spPr>
          <a:xfrm>
            <a:off x="952500" y="3748272"/>
            <a:ext cx="6172200"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Rule 1: &gt; Overwrite</a:t>
            </a:r>
          </a:p>
        </p:txBody>
      </p:sp>
      <p:pic>
        <p:nvPicPr>
          <p:cNvPr id="15" name="Picture 14">
            <a:extLst>
              <a:ext uri="{FF2B5EF4-FFF2-40B4-BE49-F238E27FC236}">
                <a16:creationId xmlns:a16="http://schemas.microsoft.com/office/drawing/2014/main" id="{41D28E3A-5A15-AC1F-60B0-BF3997E7EBAD}"/>
              </a:ext>
            </a:extLst>
          </p:cNvPr>
          <p:cNvPicPr>
            <a:picLocks noChangeAspect="1"/>
          </p:cNvPicPr>
          <p:nvPr/>
        </p:nvPicPr>
        <p:blipFill>
          <a:blip r:embed="rId3"/>
          <a:stretch>
            <a:fillRect/>
          </a:stretch>
        </p:blipFill>
        <p:spPr>
          <a:xfrm>
            <a:off x="794050" y="4295716"/>
            <a:ext cx="5988358" cy="1352620"/>
          </a:xfrm>
          <a:prstGeom prst="rect">
            <a:avLst/>
          </a:prstGeom>
        </p:spPr>
      </p:pic>
      <p:sp>
        <p:nvSpPr>
          <p:cNvPr id="17" name="TextBox 16">
            <a:extLst>
              <a:ext uri="{FF2B5EF4-FFF2-40B4-BE49-F238E27FC236}">
                <a16:creationId xmlns:a16="http://schemas.microsoft.com/office/drawing/2014/main" id="{83F9FE97-DBD6-F924-59F5-75F11671B9D7}"/>
              </a:ext>
            </a:extLst>
          </p:cNvPr>
          <p:cNvSpPr txBox="1"/>
          <p:nvPr/>
        </p:nvSpPr>
        <p:spPr>
          <a:xfrm>
            <a:off x="952500" y="5795670"/>
            <a:ext cx="6172200" cy="707886"/>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If the file already exists, its old content is </a:t>
            </a:r>
            <a:r>
              <a:rPr lang="en-IN" sz="2000" b="1" dirty="0">
                <a:latin typeface="Times New Roman" panose="02020603050405020304" pitchFamily="18" charset="0"/>
                <a:cs typeface="Times New Roman" panose="02020603050405020304" pitchFamily="18" charset="0"/>
              </a:rPr>
              <a:t>deleted</a:t>
            </a:r>
            <a:r>
              <a:rPr lang="en-IN" sz="2000" dirty="0">
                <a:latin typeface="Times New Roman" panose="02020603050405020304" pitchFamily="18" charset="0"/>
                <a:cs typeface="Times New Roman" panose="02020603050405020304" pitchFamily="18" charset="0"/>
              </a:rPr>
              <a:t> and replaced.</a:t>
            </a:r>
          </a:p>
        </p:txBody>
      </p:sp>
    </p:spTree>
    <p:extLst>
      <p:ext uri="{BB962C8B-B14F-4D97-AF65-F5344CB8AC3E}">
        <p14:creationId xmlns:p14="http://schemas.microsoft.com/office/powerpoint/2010/main" val="16634225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E62DA-C20F-E5FA-1227-35F3E454E27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636183F-FFE2-9510-CDEA-598D9837EF88}"/>
              </a:ext>
            </a:extLst>
          </p:cNvPr>
          <p:cNvSpPr txBox="1"/>
          <p:nvPr/>
        </p:nvSpPr>
        <p:spPr>
          <a:xfrm>
            <a:off x="4038600" y="2120474"/>
            <a:ext cx="2404503" cy="373625"/>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8CE61628-FFA9-E953-EE3C-8AC01C48F038}"/>
              </a:ext>
            </a:extLst>
          </p:cNvPr>
          <p:cNvSpPr txBox="1"/>
          <p:nvPr/>
        </p:nvSpPr>
        <p:spPr>
          <a:xfrm>
            <a:off x="7464362" y="2224672"/>
            <a:ext cx="184731" cy="369332"/>
          </a:xfrm>
          <a:prstGeom prst="rect">
            <a:avLst/>
          </a:prstGeom>
          <a:noFill/>
        </p:spPr>
        <p:txBody>
          <a:bodyPr wrap="none" rtlCol="0">
            <a:spAutoFit/>
          </a:bodyPr>
          <a:lstStyle/>
          <a:p>
            <a:endParaRPr lang="en-IN"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B126D3E7-5EA8-4A46-C181-601114429611}"/>
              </a:ext>
            </a:extLst>
          </p:cNvPr>
          <p:cNvSpPr txBox="1"/>
          <p:nvPr/>
        </p:nvSpPr>
        <p:spPr>
          <a:xfrm>
            <a:off x="-153640" y="867709"/>
            <a:ext cx="11299371" cy="400110"/>
          </a:xfrm>
          <a:prstGeom prst="rect">
            <a:avLst/>
          </a:prstGeom>
          <a:noFill/>
        </p:spPr>
        <p:txBody>
          <a:bodyPr wrap="square">
            <a:spAutoFit/>
          </a:bodyPr>
          <a:lstStyle/>
          <a:p>
            <a:pPr>
              <a:buNone/>
            </a:pPr>
            <a:r>
              <a:rPr lang="en-IN"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What is Output Redirection?</a:t>
            </a:r>
            <a:endParaRPr lang="en-IN" sz="2000" b="1" u="sng"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76E36EE-D741-1D45-B00F-403D9D7AD36C}"/>
              </a:ext>
            </a:extLst>
          </p:cNvPr>
          <p:cNvSpPr txBox="1"/>
          <p:nvPr/>
        </p:nvSpPr>
        <p:spPr>
          <a:xfrm>
            <a:off x="696686" y="1474143"/>
            <a:ext cx="9209313"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Normally, every command displays its output on the </a:t>
            </a:r>
            <a:r>
              <a:rPr lang="en-IN" b="1" dirty="0">
                <a:latin typeface="Times New Roman" panose="02020603050405020304" pitchFamily="18" charset="0"/>
                <a:cs typeface="Times New Roman" panose="02020603050405020304" pitchFamily="18" charset="0"/>
              </a:rPr>
              <a:t>terminal</a:t>
            </a:r>
            <a:r>
              <a:rPr lang="en-IN" dirty="0">
                <a:latin typeface="Times New Roman" panose="02020603050405020304" pitchFamily="18" charset="0"/>
                <a:cs typeface="Times New Roman" panose="02020603050405020304" pitchFamily="18" charset="0"/>
              </a:rPr>
              <a:t>.</a:t>
            </a:r>
          </a:p>
        </p:txBody>
      </p:sp>
      <p:sp>
        <p:nvSpPr>
          <p:cNvPr id="13" name="TextBox 12">
            <a:extLst>
              <a:ext uri="{FF2B5EF4-FFF2-40B4-BE49-F238E27FC236}">
                <a16:creationId xmlns:a16="http://schemas.microsoft.com/office/drawing/2014/main" id="{F29D7013-F36D-A812-2F48-6D9C997DFE7C}"/>
              </a:ext>
            </a:extLst>
          </p:cNvPr>
          <p:cNvSpPr txBox="1"/>
          <p:nvPr/>
        </p:nvSpPr>
        <p:spPr>
          <a:xfrm>
            <a:off x="952500" y="2047551"/>
            <a:ext cx="6172200"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Rule 2: &gt;&gt;  Append</a:t>
            </a:r>
          </a:p>
        </p:txBody>
      </p:sp>
      <p:sp>
        <p:nvSpPr>
          <p:cNvPr id="17" name="TextBox 16">
            <a:extLst>
              <a:ext uri="{FF2B5EF4-FFF2-40B4-BE49-F238E27FC236}">
                <a16:creationId xmlns:a16="http://schemas.microsoft.com/office/drawing/2014/main" id="{D67231B3-7EA5-5E03-589D-C4BDF460F1ED}"/>
              </a:ext>
            </a:extLst>
          </p:cNvPr>
          <p:cNvSpPr txBox="1"/>
          <p:nvPr/>
        </p:nvSpPr>
        <p:spPr>
          <a:xfrm>
            <a:off x="1110344" y="4724002"/>
            <a:ext cx="6172200" cy="400110"/>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Adds new data to the end.</a:t>
            </a:r>
          </a:p>
        </p:txBody>
      </p:sp>
      <p:pic>
        <p:nvPicPr>
          <p:cNvPr id="3" name="Picture 2">
            <a:extLst>
              <a:ext uri="{FF2B5EF4-FFF2-40B4-BE49-F238E27FC236}">
                <a16:creationId xmlns:a16="http://schemas.microsoft.com/office/drawing/2014/main" id="{42F2B401-5EB6-0FAA-B83E-97A037962ECC}"/>
              </a:ext>
            </a:extLst>
          </p:cNvPr>
          <p:cNvPicPr>
            <a:picLocks noChangeAspect="1"/>
          </p:cNvPicPr>
          <p:nvPr/>
        </p:nvPicPr>
        <p:blipFill>
          <a:blip r:embed="rId2"/>
          <a:stretch>
            <a:fillRect/>
          </a:stretch>
        </p:blipFill>
        <p:spPr>
          <a:xfrm>
            <a:off x="817183" y="2713311"/>
            <a:ext cx="5931205" cy="1668841"/>
          </a:xfrm>
          <a:prstGeom prst="rect">
            <a:avLst/>
          </a:prstGeom>
        </p:spPr>
      </p:pic>
    </p:spTree>
    <p:extLst>
      <p:ext uri="{BB962C8B-B14F-4D97-AF65-F5344CB8AC3E}">
        <p14:creationId xmlns:p14="http://schemas.microsoft.com/office/powerpoint/2010/main" val="39065459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B966E-332C-C2BA-8CE1-E926D197CA2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0498CB6-CA35-E883-AEB7-17E2602898DE}"/>
              </a:ext>
            </a:extLst>
          </p:cNvPr>
          <p:cNvSpPr txBox="1"/>
          <p:nvPr/>
        </p:nvSpPr>
        <p:spPr>
          <a:xfrm>
            <a:off x="4038600" y="2120474"/>
            <a:ext cx="2404503" cy="373625"/>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404033A7-BAD5-DD19-3455-2843BB4F942B}"/>
              </a:ext>
            </a:extLst>
          </p:cNvPr>
          <p:cNvSpPr txBox="1"/>
          <p:nvPr/>
        </p:nvSpPr>
        <p:spPr>
          <a:xfrm>
            <a:off x="7464362" y="2224672"/>
            <a:ext cx="184731" cy="369332"/>
          </a:xfrm>
          <a:prstGeom prst="rect">
            <a:avLst/>
          </a:prstGeom>
          <a:noFill/>
        </p:spPr>
        <p:txBody>
          <a:bodyPr wrap="none" rtlCol="0">
            <a:spAutoFit/>
          </a:bodyPr>
          <a:lstStyle/>
          <a:p>
            <a:endParaRPr lang="en-IN"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6425F681-88E1-80AF-A8A0-70067C1091B8}"/>
              </a:ext>
            </a:extLst>
          </p:cNvPr>
          <p:cNvSpPr txBox="1"/>
          <p:nvPr/>
        </p:nvSpPr>
        <p:spPr>
          <a:xfrm>
            <a:off x="-153640" y="867709"/>
            <a:ext cx="11299371" cy="400110"/>
          </a:xfrm>
          <a:prstGeom prst="rect">
            <a:avLst/>
          </a:prstGeom>
          <a:noFill/>
        </p:spPr>
        <p:txBody>
          <a:bodyPr wrap="square">
            <a:spAutoFit/>
          </a:bodyPr>
          <a:lstStyle/>
          <a:p>
            <a:pPr>
              <a:buNone/>
            </a:pPr>
            <a:r>
              <a:rPr lang="en-IN"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What is Output Redirection?</a:t>
            </a:r>
            <a:endParaRPr lang="en-IN" sz="2000" b="1" u="sng"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758B157-AA5D-96DE-D5D1-94B73BDC560E}"/>
              </a:ext>
            </a:extLst>
          </p:cNvPr>
          <p:cNvSpPr txBox="1"/>
          <p:nvPr/>
        </p:nvSpPr>
        <p:spPr>
          <a:xfrm>
            <a:off x="696686" y="1474143"/>
            <a:ext cx="9209313"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Normally, every command displays its output on the </a:t>
            </a:r>
            <a:r>
              <a:rPr lang="en-IN" b="1" dirty="0">
                <a:latin typeface="Times New Roman" panose="02020603050405020304" pitchFamily="18" charset="0"/>
                <a:cs typeface="Times New Roman" panose="02020603050405020304" pitchFamily="18" charset="0"/>
              </a:rPr>
              <a:t>terminal</a:t>
            </a:r>
            <a:r>
              <a:rPr lang="en-IN" dirty="0">
                <a:latin typeface="Times New Roman" panose="02020603050405020304" pitchFamily="18" charset="0"/>
                <a:cs typeface="Times New Roman" panose="02020603050405020304" pitchFamily="18" charset="0"/>
              </a:rPr>
              <a:t>.</a:t>
            </a:r>
          </a:p>
        </p:txBody>
      </p:sp>
      <p:sp>
        <p:nvSpPr>
          <p:cNvPr id="13" name="TextBox 12">
            <a:extLst>
              <a:ext uri="{FF2B5EF4-FFF2-40B4-BE49-F238E27FC236}">
                <a16:creationId xmlns:a16="http://schemas.microsoft.com/office/drawing/2014/main" id="{4DFB385C-ECBB-08F5-2930-8826ECB34371}"/>
              </a:ext>
            </a:extLst>
          </p:cNvPr>
          <p:cNvSpPr txBox="1"/>
          <p:nvPr/>
        </p:nvSpPr>
        <p:spPr>
          <a:xfrm>
            <a:off x="952500" y="2047551"/>
            <a:ext cx="6172200"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Rule 3: 2&gt; Store Errors</a:t>
            </a:r>
          </a:p>
        </p:txBody>
      </p:sp>
      <p:sp>
        <p:nvSpPr>
          <p:cNvPr id="17" name="TextBox 16">
            <a:extLst>
              <a:ext uri="{FF2B5EF4-FFF2-40B4-BE49-F238E27FC236}">
                <a16:creationId xmlns:a16="http://schemas.microsoft.com/office/drawing/2014/main" id="{6FBCC0C0-C0B1-B6D8-1B83-A41CE21E17C8}"/>
              </a:ext>
            </a:extLst>
          </p:cNvPr>
          <p:cNvSpPr txBox="1"/>
          <p:nvPr/>
        </p:nvSpPr>
        <p:spPr>
          <a:xfrm>
            <a:off x="1110344" y="4724002"/>
            <a:ext cx="6172200" cy="400110"/>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This stores </a:t>
            </a:r>
            <a:r>
              <a:rPr lang="en-IN" sz="2000" dirty="0" err="1">
                <a:latin typeface="Times New Roman" panose="02020603050405020304" pitchFamily="18" charset="0"/>
                <a:cs typeface="Times New Roman" panose="02020603050405020304" pitchFamily="18" charset="0"/>
              </a:rPr>
              <a:t>errros</a:t>
            </a:r>
            <a:r>
              <a:rPr lang="en-IN" sz="2000" dirty="0">
                <a:latin typeface="Times New Roman" panose="02020603050405020304" pitchFamily="18" charset="0"/>
                <a:cs typeface="Times New Roman" panose="02020603050405020304" pitchFamily="18" charset="0"/>
              </a:rPr>
              <a:t> in a file.</a:t>
            </a:r>
          </a:p>
        </p:txBody>
      </p:sp>
      <p:pic>
        <p:nvPicPr>
          <p:cNvPr id="6" name="Picture 5">
            <a:extLst>
              <a:ext uri="{FF2B5EF4-FFF2-40B4-BE49-F238E27FC236}">
                <a16:creationId xmlns:a16="http://schemas.microsoft.com/office/drawing/2014/main" id="{C2729897-CBB1-E5FE-AA13-6DD334808295}"/>
              </a:ext>
            </a:extLst>
          </p:cNvPr>
          <p:cNvPicPr>
            <a:picLocks noChangeAspect="1"/>
          </p:cNvPicPr>
          <p:nvPr/>
        </p:nvPicPr>
        <p:blipFill>
          <a:blip r:embed="rId2"/>
          <a:stretch>
            <a:fillRect/>
          </a:stretch>
        </p:blipFill>
        <p:spPr>
          <a:xfrm>
            <a:off x="816429" y="2895572"/>
            <a:ext cx="6466116" cy="1514768"/>
          </a:xfrm>
          <a:prstGeom prst="rect">
            <a:avLst/>
          </a:prstGeom>
        </p:spPr>
      </p:pic>
    </p:spTree>
    <p:extLst>
      <p:ext uri="{BB962C8B-B14F-4D97-AF65-F5344CB8AC3E}">
        <p14:creationId xmlns:p14="http://schemas.microsoft.com/office/powerpoint/2010/main" val="38689340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1C56B-A8D1-CBC0-A826-8A23E23CEF9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175A1EF-2052-6A90-AA2D-06FCD300AB9E}"/>
              </a:ext>
            </a:extLst>
          </p:cNvPr>
          <p:cNvSpPr txBox="1"/>
          <p:nvPr/>
        </p:nvSpPr>
        <p:spPr>
          <a:xfrm>
            <a:off x="4038600" y="2120474"/>
            <a:ext cx="2404503" cy="373625"/>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DC5412B5-B713-000E-DF37-0D8B0C302020}"/>
              </a:ext>
            </a:extLst>
          </p:cNvPr>
          <p:cNvSpPr txBox="1"/>
          <p:nvPr/>
        </p:nvSpPr>
        <p:spPr>
          <a:xfrm>
            <a:off x="7464362" y="2224672"/>
            <a:ext cx="184731" cy="369332"/>
          </a:xfrm>
          <a:prstGeom prst="rect">
            <a:avLst/>
          </a:prstGeom>
          <a:noFill/>
        </p:spPr>
        <p:txBody>
          <a:bodyPr wrap="none" rtlCol="0">
            <a:spAutoFit/>
          </a:bodyPr>
          <a:lstStyle/>
          <a:p>
            <a:endParaRPr lang="en-IN"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C1F3BFC5-7F7F-49D5-FF25-5DCB2808648F}"/>
              </a:ext>
            </a:extLst>
          </p:cNvPr>
          <p:cNvSpPr txBox="1"/>
          <p:nvPr/>
        </p:nvSpPr>
        <p:spPr>
          <a:xfrm>
            <a:off x="76200" y="1026231"/>
            <a:ext cx="5072743" cy="400110"/>
          </a:xfrm>
          <a:prstGeom prst="rect">
            <a:avLst/>
          </a:prstGeom>
          <a:noFill/>
        </p:spPr>
        <p:txBody>
          <a:bodyPr wrap="square">
            <a:spAutoFit/>
          </a:bodyPr>
          <a:lstStyle/>
          <a:p>
            <a:pPr>
              <a:buNone/>
            </a:pPr>
            <a:r>
              <a:rPr lang="en-IN"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What is Pipeline?</a:t>
            </a:r>
            <a:endParaRPr lang="en-IN" sz="2000" b="1" u="sng"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13B93B0-85C5-4744-BF04-48BF5506B45D}"/>
              </a:ext>
            </a:extLst>
          </p:cNvPr>
          <p:cNvSpPr txBox="1"/>
          <p:nvPr/>
        </p:nvSpPr>
        <p:spPr>
          <a:xfrm>
            <a:off x="718458" y="1474143"/>
            <a:ext cx="9209313" cy="707886"/>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A </a:t>
            </a:r>
            <a:r>
              <a:rPr lang="en-IN" sz="2000" b="1" dirty="0">
                <a:latin typeface="Times New Roman" panose="02020603050405020304" pitchFamily="18" charset="0"/>
                <a:cs typeface="Times New Roman" panose="02020603050405020304" pitchFamily="18" charset="0"/>
              </a:rPr>
              <a:t>pipeline</a:t>
            </a:r>
            <a:r>
              <a:rPr lang="en-IN" sz="2000" dirty="0">
                <a:latin typeface="Times New Roman" panose="02020603050405020304" pitchFamily="18" charset="0"/>
                <a:cs typeface="Times New Roman" panose="02020603050405020304" pitchFamily="18" charset="0"/>
              </a:rPr>
              <a:t> sends the </a:t>
            </a:r>
            <a:r>
              <a:rPr lang="en-IN" sz="2000" b="1" dirty="0">
                <a:latin typeface="Times New Roman" panose="02020603050405020304" pitchFamily="18" charset="0"/>
                <a:cs typeface="Times New Roman" panose="02020603050405020304" pitchFamily="18" charset="0"/>
              </a:rPr>
              <a:t>output of one command</a:t>
            </a:r>
            <a:r>
              <a:rPr lang="en-IN" sz="2000" dirty="0">
                <a:latin typeface="Times New Roman" panose="02020603050405020304" pitchFamily="18" charset="0"/>
                <a:cs typeface="Times New Roman" panose="02020603050405020304" pitchFamily="18" charset="0"/>
              </a:rPr>
              <a:t> directly as the </a:t>
            </a:r>
            <a:r>
              <a:rPr lang="en-IN" sz="2000" b="1" dirty="0">
                <a:latin typeface="Times New Roman" panose="02020603050405020304" pitchFamily="18" charset="0"/>
                <a:cs typeface="Times New Roman" panose="02020603050405020304" pitchFamily="18" charset="0"/>
              </a:rPr>
              <a:t>input of another command</a:t>
            </a:r>
            <a:r>
              <a:rPr lang="en-IN" sz="2000" dirty="0">
                <a:latin typeface="Times New Roman" panose="02020603050405020304" pitchFamily="18" charset="0"/>
                <a:cs typeface="Times New Roman" panose="02020603050405020304" pitchFamily="18" charset="0"/>
              </a:rPr>
              <a:t>. Denoted by symbol </a:t>
            </a:r>
            <a:r>
              <a:rPr lang="en-IN" sz="2000" b="1" dirty="0">
                <a:latin typeface="Times New Roman" panose="02020603050405020304" pitchFamily="18" charset="0"/>
                <a:cs typeface="Times New Roman" panose="02020603050405020304" pitchFamily="18" charset="0"/>
              </a:rPr>
              <a:t>(|)</a:t>
            </a:r>
          </a:p>
        </p:txBody>
      </p:sp>
      <p:sp>
        <p:nvSpPr>
          <p:cNvPr id="3" name="TextBox 2">
            <a:extLst>
              <a:ext uri="{FF2B5EF4-FFF2-40B4-BE49-F238E27FC236}">
                <a16:creationId xmlns:a16="http://schemas.microsoft.com/office/drawing/2014/main" id="{4C9452EA-22E8-2C1D-FFFD-86B924480F61}"/>
              </a:ext>
            </a:extLst>
          </p:cNvPr>
          <p:cNvSpPr txBox="1"/>
          <p:nvPr/>
        </p:nvSpPr>
        <p:spPr>
          <a:xfrm>
            <a:off x="857733" y="2494099"/>
            <a:ext cx="6096000" cy="3170099"/>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Why Do We Need Pipelines?</a:t>
            </a:r>
          </a:p>
          <a:p>
            <a:r>
              <a:rPr lang="en-IN" sz="2000" b="1" dirty="0">
                <a:latin typeface="Times New Roman" panose="02020603050405020304" pitchFamily="18" charset="0"/>
                <a:cs typeface="Times New Roman" panose="02020603050405020304" pitchFamily="18" charset="0"/>
              </a:rPr>
              <a:t> </a:t>
            </a:r>
          </a:p>
          <a:p>
            <a:r>
              <a:rPr lang="en-IN" sz="2000" b="1" dirty="0">
                <a:latin typeface="Times New Roman" panose="02020603050405020304" pitchFamily="18" charset="0"/>
                <a:cs typeface="Times New Roman" panose="02020603050405020304" pitchFamily="18" charset="0"/>
              </a:rPr>
              <a:t>Scenario : </a:t>
            </a:r>
            <a:r>
              <a:rPr lang="en-IN" sz="2000" dirty="0">
                <a:latin typeface="Times New Roman" panose="02020603050405020304" pitchFamily="18" charset="0"/>
                <a:cs typeface="Times New Roman" panose="02020603050405020304" pitchFamily="18" charset="0"/>
              </a:rPr>
              <a:t>Suppose you have 500 files. Someone asks you Just tell me how many files are there </a:t>
            </a:r>
          </a:p>
          <a:p>
            <a:endParaRPr lang="en-IN" sz="2000" b="1"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Your Approach</a:t>
            </a:r>
          </a:p>
          <a:p>
            <a:r>
              <a:rPr lang="en-IN" sz="2000" dirty="0">
                <a:latin typeface="Times New Roman" panose="02020603050405020304" pitchFamily="18" charset="0"/>
                <a:cs typeface="Times New Roman" panose="02020603050405020304" pitchFamily="18" charset="0"/>
              </a:rPr>
              <a:t>Run Command ls and count manually</a:t>
            </a:r>
          </a:p>
          <a:p>
            <a:endParaRPr lang="en-IN" sz="2000" b="1"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Using Pipeline :</a:t>
            </a:r>
          </a:p>
          <a:p>
            <a:r>
              <a:rPr lang="en-IN" sz="2000" dirty="0">
                <a:latin typeface="Times New Roman" panose="02020603050405020304" pitchFamily="18" charset="0"/>
                <a:cs typeface="Times New Roman" panose="02020603050405020304" pitchFamily="18" charset="0"/>
              </a:rPr>
              <a:t>ls | </a:t>
            </a:r>
            <a:r>
              <a:rPr lang="en-IN" sz="2000" dirty="0" err="1">
                <a:latin typeface="Times New Roman" panose="02020603050405020304" pitchFamily="18" charset="0"/>
                <a:cs typeface="Times New Roman" panose="02020603050405020304" pitchFamily="18" charset="0"/>
              </a:rPr>
              <a:t>wc</a:t>
            </a:r>
            <a:r>
              <a:rPr lang="en-IN" sz="2000" dirty="0">
                <a:latin typeface="Times New Roman" panose="02020603050405020304" pitchFamily="18" charset="0"/>
                <a:cs typeface="Times New Roman" panose="02020603050405020304" pitchFamily="18" charset="0"/>
              </a:rPr>
              <a:t> -l</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49761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B41DB-0AF1-0BF0-4BEE-BC9068EBA64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BF6585B-A3C1-8B6E-91B6-1CDD030CC0FB}"/>
              </a:ext>
            </a:extLst>
          </p:cNvPr>
          <p:cNvSpPr txBox="1"/>
          <p:nvPr/>
        </p:nvSpPr>
        <p:spPr>
          <a:xfrm>
            <a:off x="4038600" y="2120474"/>
            <a:ext cx="2404503" cy="373625"/>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C8B03773-4E78-5CF7-7719-94AD0CCAEE69}"/>
              </a:ext>
            </a:extLst>
          </p:cNvPr>
          <p:cNvSpPr txBox="1"/>
          <p:nvPr/>
        </p:nvSpPr>
        <p:spPr>
          <a:xfrm>
            <a:off x="7464362" y="2224672"/>
            <a:ext cx="184731" cy="369332"/>
          </a:xfrm>
          <a:prstGeom prst="rect">
            <a:avLst/>
          </a:prstGeom>
          <a:noFill/>
        </p:spPr>
        <p:txBody>
          <a:bodyPr wrap="none" rtlCol="0">
            <a:spAutoFit/>
          </a:bodyPr>
          <a:lstStyle/>
          <a:p>
            <a:endParaRPr lang="en-IN"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A93D18BA-8715-107D-DC64-4B8322561951}"/>
              </a:ext>
            </a:extLst>
          </p:cNvPr>
          <p:cNvSpPr txBox="1"/>
          <p:nvPr/>
        </p:nvSpPr>
        <p:spPr>
          <a:xfrm>
            <a:off x="76200" y="1026231"/>
            <a:ext cx="5072743" cy="400110"/>
          </a:xfrm>
          <a:prstGeom prst="rect">
            <a:avLst/>
          </a:prstGeom>
          <a:noFill/>
        </p:spPr>
        <p:txBody>
          <a:bodyPr wrap="square">
            <a:spAutoFit/>
          </a:bodyPr>
          <a:lstStyle/>
          <a:p>
            <a:pPr>
              <a:buNone/>
            </a:pPr>
            <a:r>
              <a:rPr lang="en-IN"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What is Pipeline?</a:t>
            </a:r>
            <a:endParaRPr lang="en-IN" sz="2000" b="1" u="sng"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1177757-7EB8-E7B4-7351-19C6E33DCBD4}"/>
              </a:ext>
            </a:extLst>
          </p:cNvPr>
          <p:cNvSpPr txBox="1"/>
          <p:nvPr/>
        </p:nvSpPr>
        <p:spPr>
          <a:xfrm>
            <a:off x="718458" y="1474143"/>
            <a:ext cx="9209313" cy="1938992"/>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Find Only HR Employees </a:t>
            </a:r>
          </a:p>
          <a:p>
            <a:r>
              <a:rPr lang="en-IN" sz="2000" dirty="0">
                <a:latin typeface="Times New Roman" panose="02020603050405020304" pitchFamily="18" charset="0"/>
                <a:cs typeface="Times New Roman" panose="02020603050405020304" pitchFamily="18" charset="0"/>
              </a:rPr>
              <a:t>Suppose employees.txt contains:</a:t>
            </a:r>
          </a:p>
          <a:p>
            <a:r>
              <a:rPr lang="en-US" sz="2000" b="1" dirty="0">
                <a:latin typeface="Times New Roman" panose="02020603050405020304" pitchFamily="18" charset="0"/>
                <a:cs typeface="Times New Roman" panose="02020603050405020304" pitchFamily="18" charset="0"/>
              </a:rPr>
              <a:t>Rahul HR</a:t>
            </a:r>
          </a:p>
          <a:p>
            <a:r>
              <a:rPr lang="en-US" sz="2000" b="1" dirty="0">
                <a:latin typeface="Times New Roman" panose="02020603050405020304" pitchFamily="18" charset="0"/>
                <a:cs typeface="Times New Roman" panose="02020603050405020304" pitchFamily="18" charset="0"/>
              </a:rPr>
              <a:t>Priya Sales</a:t>
            </a:r>
          </a:p>
          <a:p>
            <a:r>
              <a:rPr lang="en-US" sz="2000" b="1" dirty="0">
                <a:latin typeface="Times New Roman" panose="02020603050405020304" pitchFamily="18" charset="0"/>
                <a:cs typeface="Times New Roman" panose="02020603050405020304" pitchFamily="18" charset="0"/>
              </a:rPr>
              <a:t>Aman IT</a:t>
            </a:r>
          </a:p>
          <a:p>
            <a:r>
              <a:rPr lang="en-US" sz="2000" b="1" dirty="0">
                <a:latin typeface="Times New Roman" panose="02020603050405020304" pitchFamily="18" charset="0"/>
                <a:cs typeface="Times New Roman" panose="02020603050405020304" pitchFamily="18" charset="0"/>
              </a:rPr>
              <a:t>Neha HR</a:t>
            </a:r>
            <a:endParaRPr lang="en-IN" sz="20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7840892-3EF5-1CC4-6043-C525FE3C6090}"/>
              </a:ext>
            </a:extLst>
          </p:cNvPr>
          <p:cNvSpPr txBox="1"/>
          <p:nvPr/>
        </p:nvSpPr>
        <p:spPr>
          <a:xfrm>
            <a:off x="608360" y="3551634"/>
            <a:ext cx="6096000" cy="1631216"/>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Some one Asks?</a:t>
            </a:r>
          </a:p>
          <a:p>
            <a:r>
              <a:rPr lang="en-IN" sz="2000" dirty="0">
                <a:latin typeface="Times New Roman" panose="02020603050405020304" pitchFamily="18" charset="0"/>
                <a:cs typeface="Times New Roman" panose="02020603050405020304" pitchFamily="18" charset="0"/>
              </a:rPr>
              <a:t>"Show me only HR employees.“ </a:t>
            </a:r>
          </a:p>
          <a:p>
            <a:r>
              <a:rPr lang="en-IN" sz="2000" dirty="0">
                <a:latin typeface="Times New Roman" panose="02020603050405020304" pitchFamily="18" charset="0"/>
                <a:cs typeface="Times New Roman" panose="02020603050405020304" pitchFamily="18" charset="0"/>
              </a:rPr>
              <a:t>cat employees.txt | grep HR</a:t>
            </a: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AFCA5F19-C3BA-5369-B370-0CA84C263F78}"/>
              </a:ext>
            </a:extLst>
          </p:cNvPr>
          <p:cNvPicPr>
            <a:picLocks noChangeAspect="1"/>
          </p:cNvPicPr>
          <p:nvPr/>
        </p:nvPicPr>
        <p:blipFill>
          <a:blip r:embed="rId3">
            <a:duotone>
              <a:prstClr val="black"/>
              <a:schemeClr val="tx2">
                <a:tint val="45000"/>
                <a:satMod val="400000"/>
              </a:schemeClr>
            </a:duotone>
          </a:blip>
          <a:stretch>
            <a:fillRect/>
          </a:stretch>
        </p:blipFill>
        <p:spPr>
          <a:xfrm>
            <a:off x="5823857" y="3344534"/>
            <a:ext cx="1721984" cy="123972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cxnSp>
        <p:nvCxnSpPr>
          <p:cNvPr id="3" name="Straight Arrow Connector 2">
            <a:extLst>
              <a:ext uri="{FF2B5EF4-FFF2-40B4-BE49-F238E27FC236}">
                <a16:creationId xmlns:a16="http://schemas.microsoft.com/office/drawing/2014/main" id="{BEDCB1E6-8468-DEEC-582E-AE1061DA8060}"/>
              </a:ext>
            </a:extLst>
          </p:cNvPr>
          <p:cNvCxnSpPr>
            <a:cxnSpLocks/>
          </p:cNvCxnSpPr>
          <p:nvPr/>
        </p:nvCxnSpPr>
        <p:spPr>
          <a:xfrm>
            <a:off x="4506686" y="4071257"/>
            <a:ext cx="11430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346588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881FE-AE77-0358-F5AE-034227D001E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75930BB-BD44-2A38-EB06-CCA6631A6E7A}"/>
              </a:ext>
            </a:extLst>
          </p:cNvPr>
          <p:cNvSpPr txBox="1"/>
          <p:nvPr/>
        </p:nvSpPr>
        <p:spPr>
          <a:xfrm>
            <a:off x="4038600" y="2120474"/>
            <a:ext cx="2404503" cy="373625"/>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47F219C6-3B0D-4589-C612-FF0CF865B40E}"/>
              </a:ext>
            </a:extLst>
          </p:cNvPr>
          <p:cNvSpPr txBox="1"/>
          <p:nvPr/>
        </p:nvSpPr>
        <p:spPr>
          <a:xfrm>
            <a:off x="7464362" y="2224672"/>
            <a:ext cx="184731" cy="369332"/>
          </a:xfrm>
          <a:prstGeom prst="rect">
            <a:avLst/>
          </a:prstGeom>
          <a:noFill/>
        </p:spPr>
        <p:txBody>
          <a:bodyPr wrap="none" rtlCol="0">
            <a:spAutoFit/>
          </a:bodyPr>
          <a:lstStyle/>
          <a:p>
            <a:endParaRPr lang="en-IN"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F60AAB4-133A-534E-0FC3-0299F533A2D2}"/>
              </a:ext>
            </a:extLst>
          </p:cNvPr>
          <p:cNvSpPr txBox="1"/>
          <p:nvPr/>
        </p:nvSpPr>
        <p:spPr>
          <a:xfrm>
            <a:off x="250371" y="781645"/>
            <a:ext cx="5072743" cy="400110"/>
          </a:xfrm>
          <a:prstGeom prst="rect">
            <a:avLst/>
          </a:prstGeom>
          <a:noFill/>
        </p:spPr>
        <p:txBody>
          <a:bodyPr wrap="square">
            <a:spAutoFit/>
          </a:bodyPr>
          <a:lstStyle/>
          <a:p>
            <a:pPr>
              <a:buNone/>
            </a:pPr>
            <a:r>
              <a:rPr lang="en-IN"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Scenario</a:t>
            </a:r>
            <a:endParaRPr lang="en-IN" sz="2000" b="1" u="sng"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506E330-628C-ED2D-9896-C614C75D1FD4}"/>
              </a:ext>
            </a:extLst>
          </p:cNvPr>
          <p:cNvSpPr txBox="1"/>
          <p:nvPr/>
        </p:nvSpPr>
        <p:spPr>
          <a:xfrm>
            <a:off x="718457" y="1255176"/>
            <a:ext cx="9209313" cy="707886"/>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You have joined </a:t>
            </a:r>
            <a:r>
              <a:rPr lang="en-IN" sz="2000" b="1" dirty="0">
                <a:latin typeface="Times New Roman" panose="02020603050405020304" pitchFamily="18" charset="0"/>
                <a:cs typeface="Times New Roman" panose="02020603050405020304" pitchFamily="18" charset="0"/>
              </a:rPr>
              <a:t>LPU solutions.</a:t>
            </a:r>
            <a:r>
              <a:rPr lang="en-IN" sz="2000" dirty="0">
                <a:latin typeface="Times New Roman" panose="02020603050405020304" pitchFamily="18" charset="0"/>
                <a:cs typeface="Times New Roman" panose="02020603050405020304" pitchFamily="18" charset="0"/>
              </a:rPr>
              <a:t> as a </a:t>
            </a:r>
            <a:r>
              <a:rPr lang="en-IN" sz="2000" b="1" dirty="0">
                <a:latin typeface="Times New Roman" panose="02020603050405020304" pitchFamily="18" charset="0"/>
                <a:cs typeface="Times New Roman" panose="02020603050405020304" pitchFamily="18" charset="0"/>
              </a:rPr>
              <a:t>Junior Linux System Administrator</a:t>
            </a:r>
            <a:r>
              <a:rPr lang="en-IN" sz="2000" dirty="0">
                <a:latin typeface="Times New Roman" panose="02020603050405020304" pitchFamily="18" charset="0"/>
                <a:cs typeface="Times New Roman" panose="02020603050405020304" pitchFamily="18" charset="0"/>
              </a:rPr>
              <a:t>. Your Team Lead has assigned you a practical test to evaluate your Linux command-line skills</a:t>
            </a:r>
            <a:endParaRPr lang="en-IN" sz="20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A4D64BE-D5B5-F1AF-A93A-F68834D89150}"/>
              </a:ext>
            </a:extLst>
          </p:cNvPr>
          <p:cNvSpPr txBox="1"/>
          <p:nvPr/>
        </p:nvSpPr>
        <p:spPr>
          <a:xfrm>
            <a:off x="857732" y="2120474"/>
            <a:ext cx="10789981" cy="4247317"/>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Part 1 – Hard Link</a:t>
            </a:r>
          </a:p>
          <a:p>
            <a:pPr lvl="0"/>
            <a:r>
              <a:rPr lang="en-IN" dirty="0">
                <a:latin typeface="Times New Roman" panose="02020603050405020304" pitchFamily="18" charset="0"/>
                <a:cs typeface="Times New Roman" panose="02020603050405020304" pitchFamily="18" charset="0"/>
              </a:rPr>
              <a:t>Create a hard link of employees.txt inside the backup directory. </a:t>
            </a:r>
          </a:p>
          <a:p>
            <a:pPr lvl="0"/>
            <a:r>
              <a:rPr lang="en-IN" dirty="0">
                <a:latin typeface="Times New Roman" panose="02020603050405020304" pitchFamily="18" charset="0"/>
                <a:cs typeface="Times New Roman" panose="02020603050405020304" pitchFamily="18" charset="0"/>
              </a:rPr>
              <a:t>Verify that both files point to the same </a:t>
            </a:r>
            <a:r>
              <a:rPr lang="en-IN" dirty="0" err="1">
                <a:latin typeface="Times New Roman" panose="02020603050405020304" pitchFamily="18" charset="0"/>
                <a:cs typeface="Times New Roman" panose="02020603050405020304" pitchFamily="18" charset="0"/>
              </a:rPr>
              <a:t>inode</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Part 2 - Soft Link</a:t>
            </a:r>
          </a:p>
          <a:p>
            <a:pPr lvl="0"/>
            <a:r>
              <a:rPr lang="en-IN" dirty="0">
                <a:latin typeface="Times New Roman" panose="02020603050405020304" pitchFamily="18" charset="0"/>
                <a:cs typeface="Times New Roman" panose="02020603050405020304" pitchFamily="18" charset="0"/>
              </a:rPr>
              <a:t>Create a symbolic (soft) link of budget.txt inside the reports directory. </a:t>
            </a:r>
          </a:p>
          <a:p>
            <a:pPr lvl="0"/>
            <a:r>
              <a:rPr lang="en-IN" dirty="0">
                <a:latin typeface="Times New Roman" panose="02020603050405020304" pitchFamily="18" charset="0"/>
                <a:cs typeface="Times New Roman" panose="02020603050405020304" pitchFamily="18" charset="0"/>
              </a:rPr>
              <a:t>Verify that the symbolic link has been created successfully.</a:t>
            </a:r>
          </a:p>
          <a:p>
            <a:pPr lvl="0"/>
            <a:endParaRPr lang="en-IN"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Part 3 – Input and Output Redirection</a:t>
            </a:r>
          </a:p>
          <a:p>
            <a:pPr lvl="0"/>
            <a:r>
              <a:rPr lang="en-IN" dirty="0">
                <a:latin typeface="Times New Roman" panose="02020603050405020304" pitchFamily="18" charset="0"/>
                <a:cs typeface="Times New Roman" panose="02020603050405020304" pitchFamily="18" charset="0"/>
              </a:rPr>
              <a:t>Save the current date and time into a file named daily_report.txt. </a:t>
            </a:r>
          </a:p>
          <a:p>
            <a:pPr lvl="0"/>
            <a:r>
              <a:rPr lang="en-IN" dirty="0">
                <a:latin typeface="Times New Roman" panose="02020603050405020304" pitchFamily="18" charset="0"/>
                <a:cs typeface="Times New Roman" panose="02020603050405020304" pitchFamily="18" charset="0"/>
              </a:rPr>
              <a:t>Append the current logged-in user's name to the same file.</a:t>
            </a:r>
          </a:p>
          <a:p>
            <a:pPr lvl="0"/>
            <a:endParaRPr lang="en-IN"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Part 4 – Pipelines</a:t>
            </a:r>
          </a:p>
          <a:p>
            <a:pPr lvl="0"/>
            <a:r>
              <a:rPr lang="en-IN" dirty="0">
                <a:latin typeface="Times New Roman" panose="02020603050405020304" pitchFamily="18" charset="0"/>
                <a:cs typeface="Times New Roman" panose="02020603050405020304" pitchFamily="18" charset="0"/>
              </a:rPr>
              <a:t>Display only the lines containing the word ERROR from server.log</a:t>
            </a:r>
            <a:r>
              <a:rPr lang="en-IN" dirty="0"/>
              <a:t>.</a:t>
            </a:r>
          </a:p>
          <a:p>
            <a:endParaRPr lang="en-IN" dirty="0"/>
          </a:p>
        </p:txBody>
      </p:sp>
    </p:spTree>
    <p:extLst>
      <p:ext uri="{BB962C8B-B14F-4D97-AF65-F5344CB8AC3E}">
        <p14:creationId xmlns:p14="http://schemas.microsoft.com/office/powerpoint/2010/main" val="42005110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C68F3-FEF9-145B-2295-5A77F55EA23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71238DB-12FA-DDEF-8C28-7A5866495755}"/>
              </a:ext>
            </a:extLst>
          </p:cNvPr>
          <p:cNvSpPr txBox="1"/>
          <p:nvPr/>
        </p:nvSpPr>
        <p:spPr>
          <a:xfrm>
            <a:off x="4038600" y="2120474"/>
            <a:ext cx="2404503" cy="373625"/>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5D932309-5EEA-330D-204B-42503D4771CF}"/>
              </a:ext>
            </a:extLst>
          </p:cNvPr>
          <p:cNvSpPr txBox="1"/>
          <p:nvPr/>
        </p:nvSpPr>
        <p:spPr>
          <a:xfrm>
            <a:off x="7464362" y="2224672"/>
            <a:ext cx="184731" cy="369332"/>
          </a:xfrm>
          <a:prstGeom prst="rect">
            <a:avLst/>
          </a:prstGeom>
          <a:noFill/>
        </p:spPr>
        <p:txBody>
          <a:bodyPr wrap="none" rtlCol="0">
            <a:spAutoFit/>
          </a:bodyPr>
          <a:lstStyle/>
          <a:p>
            <a:endParaRPr lang="en-IN"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083B770-871F-D4DD-0A7C-8FEE5F20851A}"/>
              </a:ext>
            </a:extLst>
          </p:cNvPr>
          <p:cNvSpPr txBox="1"/>
          <p:nvPr/>
        </p:nvSpPr>
        <p:spPr>
          <a:xfrm>
            <a:off x="2057399" y="781645"/>
            <a:ext cx="6727372"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EDITING TEXT FILES FROM THE SHELL PROMPT</a:t>
            </a:r>
            <a:endParaRPr lang="en-IN" sz="2000" b="1" u="sng"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19ED62A-77E7-0778-A114-CCD2F779266F}"/>
              </a:ext>
            </a:extLst>
          </p:cNvPr>
          <p:cNvSpPr txBox="1"/>
          <p:nvPr/>
        </p:nvSpPr>
        <p:spPr>
          <a:xfrm>
            <a:off x="696687" y="1495464"/>
            <a:ext cx="10635342" cy="923330"/>
          </a:xfrm>
          <a:prstGeom prst="rect">
            <a:avLst/>
          </a:prstGeom>
          <a:noFill/>
        </p:spPr>
        <p:txBody>
          <a:bodyPr wrap="square">
            <a:spAutoFit/>
          </a:bodyPr>
          <a:lstStyle/>
          <a:p>
            <a:pPr algn="just">
              <a:buNone/>
            </a:pPr>
            <a:r>
              <a:rPr lang="en-IN" dirty="0">
                <a:solidFill>
                  <a:srgbClr val="000000"/>
                </a:solidFill>
                <a:effectLst/>
                <a:latin typeface="Times New Roman" panose="02020603050405020304" pitchFamily="18" charset="0"/>
                <a:cs typeface="Times New Roman" panose="02020603050405020304" pitchFamily="18" charset="0"/>
              </a:rPr>
              <a:t>A key design principle of Linux is that information and configuration settings are commonly stored in text-based files.</a:t>
            </a:r>
            <a:r>
              <a:rPr lang="en-IN" sz="1800" dirty="0">
                <a:solidFill>
                  <a:srgbClr val="000000"/>
                </a:solidFill>
                <a:effectLst/>
                <a:latin typeface="Times New Roman" panose="02020603050405020304" pitchFamily="18" charset="0"/>
                <a:cs typeface="Times New Roman" panose="02020603050405020304" pitchFamily="18" charset="0"/>
              </a:rPr>
              <a:t> These files can be structured in various ways, as lists of settings, as structured XML or YAML, and so on. However, the advantage of text files is that they can be viewed and edited using any simple text editor</a:t>
            </a:r>
            <a:endParaRPr lang="en-IN"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C75C96E9-B590-087B-FB66-DA2B2E39C068}"/>
              </a:ext>
            </a:extLst>
          </p:cNvPr>
          <p:cNvSpPr txBox="1"/>
          <p:nvPr/>
        </p:nvSpPr>
        <p:spPr>
          <a:xfrm>
            <a:off x="794657" y="2594004"/>
            <a:ext cx="10951029" cy="2246769"/>
          </a:xfrm>
          <a:prstGeom prst="rect">
            <a:avLst/>
          </a:prstGeom>
          <a:noFill/>
        </p:spPr>
        <p:txBody>
          <a:bodyPr wrap="square">
            <a:spAutoFit/>
          </a:bodyPr>
          <a:lstStyle/>
          <a:p>
            <a:r>
              <a:rPr lang="en-IN" sz="2000" b="1" dirty="0">
                <a:effectLst/>
                <a:latin typeface="Times New Roman" panose="02020603050405020304" pitchFamily="18" charset="0"/>
                <a:cs typeface="Times New Roman" panose="02020603050405020304" pitchFamily="18" charset="0"/>
              </a:rPr>
              <a:t>EDITING FILES WITH VIM</a:t>
            </a:r>
          </a:p>
          <a:p>
            <a:pPr marL="342900" indent="-342900">
              <a:buFont typeface="+mj-lt"/>
              <a:buAutoNum type="arabicPeriod"/>
            </a:pPr>
            <a:r>
              <a:rPr lang="en-IN" sz="2000" b="1" dirty="0">
                <a:latin typeface="Times New Roman" panose="02020603050405020304" pitchFamily="18" charset="0"/>
                <a:cs typeface="Times New Roman" panose="02020603050405020304" pitchFamily="18" charset="0"/>
              </a:rPr>
              <a:t>Edit configuration files:</a:t>
            </a:r>
            <a:r>
              <a:rPr lang="en-IN" sz="2000" dirty="0">
                <a:latin typeface="Times New Roman" panose="02020603050405020304" pitchFamily="18" charset="0"/>
                <a:cs typeface="Times New Roman" panose="02020603050405020304" pitchFamily="18" charset="0"/>
              </a:rPr>
              <a:t> Use a text editor  directly from a text-only shell to create, modify, and save text-based configuration files.</a:t>
            </a:r>
          </a:p>
          <a:p>
            <a:pPr marL="342900" indent="-342900">
              <a:buFont typeface="+mj-lt"/>
              <a:buAutoNum type="arabicPeriod"/>
            </a:pPr>
            <a:r>
              <a:rPr lang="en-IN" sz="2000" b="1" dirty="0">
                <a:latin typeface="Times New Roman" panose="02020603050405020304" pitchFamily="18" charset="0"/>
                <a:cs typeface="Times New Roman" panose="02020603050405020304" pitchFamily="18" charset="0"/>
              </a:rPr>
              <a:t>Work on local or remote systems:</a:t>
            </a:r>
            <a:r>
              <a:rPr lang="en-IN" sz="2000" dirty="0">
                <a:latin typeface="Times New Roman" panose="02020603050405020304" pitchFamily="18" charset="0"/>
                <a:cs typeface="Times New Roman" panose="02020603050405020304" pitchFamily="18" charset="0"/>
              </a:rPr>
              <a:t> Edit files efficiently from a terminal window or during remote administration using </a:t>
            </a:r>
            <a:r>
              <a:rPr lang="en-IN" sz="2000" b="1" dirty="0">
                <a:latin typeface="Times New Roman" panose="02020603050405020304" pitchFamily="18" charset="0"/>
                <a:cs typeface="Times New Roman" panose="02020603050405020304" pitchFamily="18" charset="0"/>
              </a:rPr>
              <a:t>SSH</a:t>
            </a:r>
            <a:r>
              <a:rPr lang="en-IN" sz="2000" dirty="0">
                <a:latin typeface="Times New Roman" panose="02020603050405020304" pitchFamily="18" charset="0"/>
                <a:cs typeface="Times New Roman" panose="02020603050405020304" pitchFamily="18" charset="0"/>
              </a:rPr>
              <a:t> or the </a:t>
            </a:r>
            <a:r>
              <a:rPr lang="en-IN" sz="2000" b="1" dirty="0">
                <a:latin typeface="Times New Roman" panose="02020603050405020304" pitchFamily="18" charset="0"/>
                <a:cs typeface="Times New Roman" panose="02020603050405020304" pitchFamily="18" charset="0"/>
              </a:rPr>
              <a:t>Web Console</a:t>
            </a:r>
            <a:r>
              <a:rPr lang="en-IN" sz="2000" dirty="0">
                <a:latin typeface="Times New Roman" panose="02020603050405020304" pitchFamily="18" charset="0"/>
                <a:cs typeface="Times New Roman" panose="02020603050405020304" pitchFamily="18" charset="0"/>
              </a:rPr>
              <a:t>, even without a graphical interface.</a:t>
            </a:r>
            <a:endParaRPr lang="en-IN"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CF0EF990-97B4-928A-B8B3-2AD588C0AB25}"/>
              </a:ext>
            </a:extLst>
          </p:cNvPr>
          <p:cNvSpPr txBox="1"/>
          <p:nvPr/>
        </p:nvSpPr>
        <p:spPr>
          <a:xfrm>
            <a:off x="598714" y="4471441"/>
            <a:ext cx="6096000" cy="707886"/>
          </a:xfrm>
          <a:prstGeom prst="rect">
            <a:avLst/>
          </a:prstGeom>
          <a:noFill/>
        </p:spPr>
        <p:txBody>
          <a:bodyPr wrap="square">
            <a:spAutoFit/>
          </a:bodyPr>
          <a:lstStyle/>
          <a:p>
            <a:pPr marL="342900" indent="-342900">
              <a:buAutoNum type="arabicPeriod"/>
            </a:pPr>
            <a:r>
              <a:rPr lang="en-IN" sz="2000" b="1" dirty="0">
                <a:latin typeface="Times New Roman" panose="02020603050405020304" pitchFamily="18" charset="0"/>
                <a:cs typeface="Times New Roman" panose="02020603050405020304" pitchFamily="18" charset="0"/>
              </a:rPr>
              <a:t>Command Mode (Default Mode) </a:t>
            </a:r>
          </a:p>
          <a:p>
            <a:endParaRPr lang="en-IN" sz="2000" b="1" dirty="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031ADE5D-139E-69B5-2F77-1E93338ADD35}"/>
              </a:ext>
            </a:extLst>
          </p:cNvPr>
          <p:cNvPicPr>
            <a:picLocks noChangeAspect="1"/>
          </p:cNvPicPr>
          <p:nvPr/>
        </p:nvPicPr>
        <p:blipFill>
          <a:blip r:embed="rId3"/>
          <a:stretch>
            <a:fillRect/>
          </a:stretch>
        </p:blipFill>
        <p:spPr>
          <a:xfrm>
            <a:off x="794657" y="4888251"/>
            <a:ext cx="4038808" cy="273064"/>
          </a:xfrm>
          <a:prstGeom prst="rect">
            <a:avLst/>
          </a:prstGeom>
        </p:spPr>
      </p:pic>
      <p:pic>
        <p:nvPicPr>
          <p:cNvPr id="16" name="Picture 15">
            <a:extLst>
              <a:ext uri="{FF2B5EF4-FFF2-40B4-BE49-F238E27FC236}">
                <a16:creationId xmlns:a16="http://schemas.microsoft.com/office/drawing/2014/main" id="{C5E82B92-B76A-381D-B5D4-011B039000AD}"/>
              </a:ext>
            </a:extLst>
          </p:cNvPr>
          <p:cNvPicPr>
            <a:picLocks noChangeAspect="1"/>
          </p:cNvPicPr>
          <p:nvPr/>
        </p:nvPicPr>
        <p:blipFill>
          <a:blip r:embed="rId4"/>
          <a:srcRect b="16503"/>
          <a:stretch>
            <a:fillRect/>
          </a:stretch>
        </p:blipFill>
        <p:spPr>
          <a:xfrm>
            <a:off x="7491412" y="4513582"/>
            <a:ext cx="2101958" cy="1839772"/>
          </a:xfrm>
          <a:prstGeom prst="rect">
            <a:avLst/>
          </a:prstGeom>
        </p:spPr>
      </p:pic>
      <p:cxnSp>
        <p:nvCxnSpPr>
          <p:cNvPr id="18" name="Straight Arrow Connector 17">
            <a:extLst>
              <a:ext uri="{FF2B5EF4-FFF2-40B4-BE49-F238E27FC236}">
                <a16:creationId xmlns:a16="http://schemas.microsoft.com/office/drawing/2014/main" id="{42B6C30E-8529-770F-C066-88DE7A52FDAD}"/>
              </a:ext>
            </a:extLst>
          </p:cNvPr>
          <p:cNvCxnSpPr>
            <a:cxnSpLocks/>
          </p:cNvCxnSpPr>
          <p:nvPr/>
        </p:nvCxnSpPr>
        <p:spPr>
          <a:xfrm>
            <a:off x="5159829" y="5024783"/>
            <a:ext cx="200830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F22771BD-9905-94B8-93C3-D7F052701F1B}"/>
              </a:ext>
            </a:extLst>
          </p:cNvPr>
          <p:cNvSpPr txBox="1"/>
          <p:nvPr/>
        </p:nvSpPr>
        <p:spPr>
          <a:xfrm>
            <a:off x="598714" y="5362536"/>
            <a:ext cx="6096000" cy="1200329"/>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2. Insert Mode ( I )</a:t>
            </a:r>
          </a:p>
          <a:p>
            <a:r>
              <a:rPr lang="en-IN" dirty="0">
                <a:latin typeface="Times New Roman" panose="02020603050405020304" pitchFamily="18" charset="0"/>
                <a:cs typeface="Times New Roman" panose="02020603050405020304" pitchFamily="18" charset="0"/>
              </a:rPr>
              <a:t>When you Press I you get to type becomes </a:t>
            </a:r>
            <a:r>
              <a:rPr lang="en-IN" dirty="0" err="1">
                <a:latin typeface="Times New Roman" panose="02020603050405020304" pitchFamily="18" charset="0"/>
                <a:cs typeface="Times New Roman" panose="02020603050405020304" pitchFamily="18" charset="0"/>
              </a:rPr>
              <a:t>text</a:t>
            </a:r>
            <a:r>
              <a:rPr lang="en-IN" b="1" dirty="0" err="1">
                <a:latin typeface="Times New Roman" panose="02020603050405020304" pitchFamily="18" charset="0"/>
                <a:cs typeface="Times New Roman" panose="02020603050405020304" pitchFamily="18" charset="0"/>
              </a:rPr>
              <a:t>Note</a:t>
            </a:r>
            <a:r>
              <a:rPr lang="en-IN" b="1" dirty="0">
                <a:latin typeface="Times New Roman" panose="02020603050405020304" pitchFamily="18" charset="0"/>
                <a:cs typeface="Times New Roman" panose="02020603050405020304" pitchFamily="18" charset="0"/>
              </a:rPr>
              <a:t> – When you finish Press ESC to get back to command mode</a:t>
            </a:r>
          </a:p>
          <a:p>
            <a:pPr>
              <a:buNone/>
            </a:pPr>
            <a:r>
              <a:rPr lang="en-IN" dirty="0"/>
              <a:t>.</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73195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0AA1A-02E9-75B1-E099-3D6971FF184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AD291A8-C38C-201F-5145-970B47999464}"/>
              </a:ext>
            </a:extLst>
          </p:cNvPr>
          <p:cNvSpPr txBox="1"/>
          <p:nvPr/>
        </p:nvSpPr>
        <p:spPr>
          <a:xfrm>
            <a:off x="4038600" y="2120474"/>
            <a:ext cx="2404503" cy="373625"/>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938E3E06-032E-7788-7BDE-00013A0E4957}"/>
              </a:ext>
            </a:extLst>
          </p:cNvPr>
          <p:cNvSpPr txBox="1"/>
          <p:nvPr/>
        </p:nvSpPr>
        <p:spPr>
          <a:xfrm>
            <a:off x="7464362" y="2224672"/>
            <a:ext cx="184731" cy="369332"/>
          </a:xfrm>
          <a:prstGeom prst="rect">
            <a:avLst/>
          </a:prstGeom>
          <a:noFill/>
        </p:spPr>
        <p:txBody>
          <a:bodyPr wrap="none" rtlCol="0">
            <a:spAutoFit/>
          </a:bodyPr>
          <a:lstStyle/>
          <a:p>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FAD0818-4BA4-590B-8009-C37C9DA01C55}"/>
              </a:ext>
            </a:extLst>
          </p:cNvPr>
          <p:cNvSpPr txBox="1"/>
          <p:nvPr/>
        </p:nvSpPr>
        <p:spPr>
          <a:xfrm>
            <a:off x="849086" y="990991"/>
            <a:ext cx="9731828" cy="4801314"/>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3. </a:t>
            </a:r>
            <a:r>
              <a:rPr lang="en-IN" b="1" dirty="0">
                <a:latin typeface="Times New Roman" panose="02020603050405020304" pitchFamily="18" charset="0"/>
                <a:cs typeface="Times New Roman" panose="02020603050405020304" pitchFamily="18" charset="0"/>
              </a:rPr>
              <a:t>Visual Mode (V)</a:t>
            </a:r>
          </a:p>
          <a:p>
            <a:r>
              <a:rPr lang="en-IN" dirty="0">
                <a:latin typeface="Times New Roman" panose="02020603050405020304" pitchFamily="18" charset="0"/>
                <a:cs typeface="Times New Roman" panose="02020603050405020304" pitchFamily="18" charset="0"/>
              </a:rPr>
              <a:t>Then you can</a:t>
            </a:r>
          </a:p>
          <a:p>
            <a:pPr lvl="0"/>
            <a:r>
              <a:rPr lang="en-IN" dirty="0">
                <a:latin typeface="Times New Roman" panose="02020603050405020304" pitchFamily="18" charset="0"/>
                <a:cs typeface="Times New Roman" panose="02020603050405020304" pitchFamily="18" charset="0"/>
              </a:rPr>
              <a:t>-&gt;Copy </a:t>
            </a:r>
          </a:p>
          <a:p>
            <a:pPr lvl="0"/>
            <a:r>
              <a:rPr lang="en-IN" dirty="0">
                <a:latin typeface="Times New Roman" panose="02020603050405020304" pitchFamily="18" charset="0"/>
                <a:cs typeface="Times New Roman" panose="02020603050405020304" pitchFamily="18" charset="0"/>
              </a:rPr>
              <a:t>-&gt;Delete </a:t>
            </a:r>
          </a:p>
          <a:p>
            <a:pPr lvl="0"/>
            <a:r>
              <a:rPr lang="en-IN" dirty="0">
                <a:latin typeface="Times New Roman" panose="02020603050405020304" pitchFamily="18" charset="0"/>
                <a:cs typeface="Times New Roman" panose="02020603050405020304" pitchFamily="18" charset="0"/>
              </a:rPr>
              <a:t>-&gt;Move</a:t>
            </a:r>
          </a:p>
          <a:p>
            <a:pPr lvl="0"/>
            <a:r>
              <a:rPr lang="en-IN" dirty="0">
                <a:latin typeface="Times New Roman" panose="02020603050405020304" pitchFamily="18" charset="0"/>
                <a:cs typeface="Times New Roman" panose="02020603050405020304" pitchFamily="18" charset="0"/>
              </a:rPr>
              <a:t>Character selection : </a:t>
            </a:r>
            <a:r>
              <a:rPr lang="en-IN" b="1" dirty="0">
                <a:latin typeface="Times New Roman" panose="02020603050405020304" pitchFamily="18" charset="0"/>
                <a:cs typeface="Times New Roman" panose="02020603050405020304" pitchFamily="18" charset="0"/>
              </a:rPr>
              <a:t>Shift +V</a:t>
            </a:r>
          </a:p>
          <a:p>
            <a:pPr lvl="0"/>
            <a:r>
              <a:rPr lang="en-IN" dirty="0">
                <a:latin typeface="Times New Roman" panose="02020603050405020304" pitchFamily="18" charset="0"/>
                <a:cs typeface="Times New Roman" panose="02020603050405020304" pitchFamily="18" charset="0"/>
              </a:rPr>
              <a:t>Whole line selection : </a:t>
            </a:r>
            <a:r>
              <a:rPr lang="en-IN" b="1" dirty="0" err="1">
                <a:latin typeface="Times New Roman" panose="02020603050405020304" pitchFamily="18" charset="0"/>
                <a:cs typeface="Times New Roman" panose="02020603050405020304" pitchFamily="18" charset="0"/>
              </a:rPr>
              <a:t>Ctrl+V</a:t>
            </a:r>
            <a:endParaRPr lang="en-IN" b="1"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4. Extended Command Mode</a:t>
            </a:r>
          </a:p>
          <a:p>
            <a:pPr lvl="0"/>
            <a:r>
              <a:rPr lang="en-IN" dirty="0">
                <a:latin typeface="Times New Roman" panose="02020603050405020304" pitchFamily="18" charset="0"/>
                <a:cs typeface="Times New Roman" panose="02020603050405020304" pitchFamily="18" charset="0"/>
              </a:rPr>
              <a:t>Save - :w</a:t>
            </a:r>
          </a:p>
          <a:p>
            <a:pPr lvl="0"/>
            <a:r>
              <a:rPr lang="en-IN" dirty="0">
                <a:latin typeface="Times New Roman" panose="02020603050405020304" pitchFamily="18" charset="0"/>
                <a:cs typeface="Times New Roman" panose="02020603050405020304" pitchFamily="18" charset="0"/>
              </a:rPr>
              <a:t>Quit - :q</a:t>
            </a:r>
          </a:p>
          <a:p>
            <a:pPr lvl="0"/>
            <a:r>
              <a:rPr lang="en-IN" dirty="0">
                <a:latin typeface="Times New Roman" panose="02020603050405020304" pitchFamily="18" charset="0"/>
                <a:cs typeface="Times New Roman" panose="02020603050405020304" pitchFamily="18" charset="0"/>
              </a:rPr>
              <a:t>Save and quit - :</a:t>
            </a:r>
            <a:r>
              <a:rPr lang="en-IN" dirty="0" err="1">
                <a:latin typeface="Times New Roman" panose="02020603050405020304" pitchFamily="18" charset="0"/>
                <a:cs typeface="Times New Roman" panose="02020603050405020304" pitchFamily="18" charset="0"/>
              </a:rPr>
              <a:t>wq</a:t>
            </a:r>
            <a:r>
              <a:rPr lang="en-IN" dirty="0">
                <a:latin typeface="Times New Roman" panose="02020603050405020304" pitchFamily="18" charset="0"/>
                <a:cs typeface="Times New Roman" panose="02020603050405020304" pitchFamily="18" charset="0"/>
              </a:rPr>
              <a:t> </a:t>
            </a:r>
          </a:p>
          <a:p>
            <a:pPr lvl="0"/>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FA01DD58-4A97-0A03-094B-3E25BC10492F}"/>
              </a:ext>
            </a:extLst>
          </p:cNvPr>
          <p:cNvPicPr>
            <a:picLocks noChangeAspect="1"/>
          </p:cNvPicPr>
          <p:nvPr/>
        </p:nvPicPr>
        <p:blipFill>
          <a:blip r:embed="rId3"/>
          <a:stretch>
            <a:fillRect/>
          </a:stretch>
        </p:blipFill>
        <p:spPr>
          <a:xfrm>
            <a:off x="6096000" y="990991"/>
            <a:ext cx="5112013" cy="4158342"/>
          </a:xfrm>
          <a:prstGeom prst="rect">
            <a:avLst/>
          </a:prstGeom>
        </p:spPr>
      </p:pic>
    </p:spTree>
    <p:extLst>
      <p:ext uri="{BB962C8B-B14F-4D97-AF65-F5344CB8AC3E}">
        <p14:creationId xmlns:p14="http://schemas.microsoft.com/office/powerpoint/2010/main" val="10265631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5FB02-F4C5-F231-A55A-AB70474BAA1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9E6B352-0780-0886-CCC7-4F4AFCAB3F79}"/>
              </a:ext>
            </a:extLst>
          </p:cNvPr>
          <p:cNvSpPr txBox="1"/>
          <p:nvPr/>
        </p:nvSpPr>
        <p:spPr>
          <a:xfrm>
            <a:off x="1687285" y="1666903"/>
            <a:ext cx="9797144" cy="3170099"/>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USING SHELL VARIABLES</a:t>
            </a:r>
          </a:p>
          <a:p>
            <a:pPr marL="342900" lvl="0" indent="-342900">
              <a:buFont typeface="+mj-lt"/>
              <a:buAutoNum type="arabicPeriod"/>
            </a:pPr>
            <a:r>
              <a:rPr lang="en-IN" sz="2000" b="1" dirty="0">
                <a:latin typeface="Times New Roman" panose="02020603050405020304" pitchFamily="18" charset="0"/>
                <a:cs typeface="Times New Roman" panose="02020603050405020304" pitchFamily="18" charset="0"/>
              </a:rPr>
              <a:t>Shell variables</a:t>
            </a:r>
            <a:r>
              <a:rPr lang="en-IN" sz="2000" dirty="0">
                <a:latin typeface="Times New Roman" panose="02020603050405020304" pitchFamily="18" charset="0"/>
                <a:cs typeface="Times New Roman" panose="02020603050405020304" pitchFamily="18" charset="0"/>
              </a:rPr>
              <a:t> are used to store values (such as text, paths, or numbers) that can be reused in commands or to change the shell's </a:t>
            </a:r>
            <a:r>
              <a:rPr lang="en-IN" sz="2000" dirty="0" err="1">
                <a:latin typeface="Times New Roman" panose="02020603050405020304" pitchFamily="18" charset="0"/>
                <a:cs typeface="Times New Roman" panose="02020603050405020304" pitchFamily="18" charset="0"/>
              </a:rPr>
              <a:t>behavior</a:t>
            </a:r>
            <a:r>
              <a:rPr lang="en-IN" sz="2000" dirty="0">
                <a:latin typeface="Times New Roman" panose="02020603050405020304" pitchFamily="18" charset="0"/>
                <a:cs typeface="Times New Roman" panose="02020603050405020304" pitchFamily="18" charset="0"/>
              </a:rPr>
              <a:t>. </a:t>
            </a:r>
          </a:p>
          <a:p>
            <a:pPr marL="342900" lvl="0" indent="-342900">
              <a:buFont typeface="+mj-lt"/>
              <a:buAutoNum type="arabicPeriod"/>
            </a:pPr>
            <a:r>
              <a:rPr lang="en-IN" sz="2000" dirty="0">
                <a:latin typeface="Times New Roman" panose="02020603050405020304" pitchFamily="18" charset="0"/>
                <a:cs typeface="Times New Roman" panose="02020603050405020304" pitchFamily="18" charset="0"/>
              </a:rPr>
              <a:t>They help reduce typing by storing long commands or frequently used values. </a:t>
            </a:r>
          </a:p>
          <a:p>
            <a:pPr marL="342900" lvl="0" indent="-342900">
              <a:buFont typeface="+mj-lt"/>
              <a:buAutoNum type="arabicPeriod"/>
            </a:pPr>
            <a:r>
              <a:rPr lang="en-IN" sz="2000" dirty="0">
                <a:latin typeface="Times New Roman" panose="02020603050405020304" pitchFamily="18" charset="0"/>
                <a:cs typeface="Times New Roman" panose="02020603050405020304" pitchFamily="18" charset="0"/>
              </a:rPr>
              <a:t>A </a:t>
            </a:r>
            <a:r>
              <a:rPr lang="en-IN" sz="2000" b="1" dirty="0">
                <a:latin typeface="Times New Roman" panose="02020603050405020304" pitchFamily="18" charset="0"/>
                <a:cs typeface="Times New Roman" panose="02020603050405020304" pitchFamily="18" charset="0"/>
              </a:rPr>
              <a:t>shell variable</a:t>
            </a:r>
            <a:r>
              <a:rPr lang="en-IN" sz="2000" dirty="0">
                <a:latin typeface="Times New Roman" panose="02020603050405020304" pitchFamily="18" charset="0"/>
                <a:cs typeface="Times New Roman" panose="02020603050405020304" pitchFamily="18" charset="0"/>
              </a:rPr>
              <a:t> exists </a:t>
            </a:r>
            <a:r>
              <a:rPr lang="en-IN" sz="2000" b="1" dirty="0">
                <a:latin typeface="Times New Roman" panose="02020603050405020304" pitchFamily="18" charset="0"/>
                <a:cs typeface="Times New Roman" panose="02020603050405020304" pitchFamily="18" charset="0"/>
              </a:rPr>
              <a:t>only in the current shell session</a:t>
            </a:r>
            <a:r>
              <a:rPr lang="en-IN" sz="2000" dirty="0">
                <a:latin typeface="Times New Roman" panose="02020603050405020304" pitchFamily="18" charset="0"/>
                <a:cs typeface="Times New Roman" panose="02020603050405020304" pitchFamily="18" charset="0"/>
              </a:rPr>
              <a:t>. </a:t>
            </a:r>
          </a:p>
          <a:p>
            <a:pPr marL="342900" lvl="0" indent="-342900">
              <a:buFont typeface="+mj-lt"/>
              <a:buAutoNum type="arabicPeriod"/>
            </a:pPr>
            <a:r>
              <a:rPr lang="en-IN" sz="2000" dirty="0">
                <a:latin typeface="Times New Roman" panose="02020603050405020304" pitchFamily="18" charset="0"/>
                <a:cs typeface="Times New Roman" panose="02020603050405020304" pitchFamily="18" charset="0"/>
              </a:rPr>
              <a:t>If you open another terminal or log in again, it gets a </a:t>
            </a:r>
            <a:r>
              <a:rPr lang="en-IN" sz="2000" b="1" dirty="0">
                <a:latin typeface="Times New Roman" panose="02020603050405020304" pitchFamily="18" charset="0"/>
                <a:cs typeface="Times New Roman" panose="02020603050405020304" pitchFamily="18" charset="0"/>
              </a:rPr>
              <a:t>separate shell</a:t>
            </a:r>
            <a:r>
              <a:rPr lang="en-IN" sz="2000" dirty="0">
                <a:latin typeface="Times New Roman" panose="02020603050405020304" pitchFamily="18" charset="0"/>
                <a:cs typeface="Times New Roman" panose="02020603050405020304" pitchFamily="18" charset="0"/>
              </a:rPr>
              <a:t> with its </a:t>
            </a:r>
            <a:r>
              <a:rPr lang="en-IN" sz="2000" b="1" dirty="0">
                <a:latin typeface="Times New Roman" panose="02020603050405020304" pitchFamily="18" charset="0"/>
                <a:cs typeface="Times New Roman" panose="02020603050405020304" pitchFamily="18" charset="0"/>
              </a:rPr>
              <a:t>own set of shell variables</a:t>
            </a:r>
            <a:r>
              <a:rPr lang="en-IN" sz="2000" dirty="0">
                <a:latin typeface="Times New Roman" panose="02020603050405020304" pitchFamily="18" charset="0"/>
                <a:cs typeface="Times New Roman" panose="02020603050405020304" pitchFamily="18" charset="0"/>
              </a:rPr>
              <a:t>. </a:t>
            </a:r>
          </a:p>
          <a:p>
            <a:pPr marL="342900" lvl="0" indent="-342900">
              <a:buFont typeface="+mj-lt"/>
              <a:buAutoNum type="arabicPeriod"/>
            </a:pPr>
            <a:r>
              <a:rPr lang="en-IN" sz="2000" dirty="0">
                <a:latin typeface="Times New Roman" panose="02020603050405020304" pitchFamily="18" charset="0"/>
                <a:cs typeface="Times New Roman" panose="02020603050405020304" pitchFamily="18" charset="0"/>
              </a:rPr>
              <a:t>You can </a:t>
            </a:r>
            <a:r>
              <a:rPr lang="en-IN" sz="2000" b="1" dirty="0">
                <a:latin typeface="Times New Roman" panose="02020603050405020304" pitchFamily="18" charset="0"/>
                <a:cs typeface="Times New Roman" panose="02020603050405020304" pitchFamily="18" charset="0"/>
              </a:rPr>
              <a:t>export</a:t>
            </a:r>
            <a:r>
              <a:rPr lang="en-IN" sz="2000" dirty="0">
                <a:latin typeface="Times New Roman" panose="02020603050405020304" pitchFamily="18" charset="0"/>
                <a:cs typeface="Times New Roman" panose="02020603050405020304" pitchFamily="18" charset="0"/>
              </a:rPr>
              <a:t> a shell variable to make it an </a:t>
            </a:r>
            <a:r>
              <a:rPr lang="en-IN" sz="2000" b="1" dirty="0">
                <a:latin typeface="Times New Roman" panose="02020603050405020304" pitchFamily="18" charset="0"/>
                <a:cs typeface="Times New Roman" panose="02020603050405020304" pitchFamily="18" charset="0"/>
              </a:rPr>
              <a:t>environment variable</a:t>
            </a:r>
            <a:r>
              <a:rPr lang="en-IN" sz="2000" dirty="0">
                <a:latin typeface="Times New Roman" panose="02020603050405020304" pitchFamily="18" charset="0"/>
                <a:cs typeface="Times New Roman" panose="02020603050405020304" pitchFamily="18" charset="0"/>
              </a:rPr>
              <a:t>, which is automatically passed to programs started from that shell.</a:t>
            </a:r>
          </a:p>
          <a:p>
            <a:r>
              <a:rPr lang="en-IN" sz="2000" b="1"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7A014F81-3819-7EB8-8B43-99B0F55AFD47}"/>
              </a:ext>
            </a:extLst>
          </p:cNvPr>
          <p:cNvSpPr txBox="1"/>
          <p:nvPr/>
        </p:nvSpPr>
        <p:spPr>
          <a:xfrm>
            <a:off x="7464362" y="2224672"/>
            <a:ext cx="184731" cy="369332"/>
          </a:xfrm>
          <a:prstGeom prst="rect">
            <a:avLst/>
          </a:prstGeom>
          <a:noFill/>
        </p:spPr>
        <p:txBody>
          <a:bodyPr wrap="none" rtlCol="0">
            <a:spAutoFit/>
          </a:bodyPr>
          <a:lstStyle/>
          <a:p>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8C628BC-5F1A-95BB-CC8F-5FF559F852F2}"/>
              </a:ext>
            </a:extLst>
          </p:cNvPr>
          <p:cNvSpPr txBox="1"/>
          <p:nvPr/>
        </p:nvSpPr>
        <p:spPr>
          <a:xfrm>
            <a:off x="1687285" y="924366"/>
            <a:ext cx="6096000" cy="415498"/>
          </a:xfrm>
          <a:prstGeom prst="rect">
            <a:avLst/>
          </a:prstGeom>
          <a:noFill/>
        </p:spPr>
        <p:txBody>
          <a:bodyPr wrap="square">
            <a:spAutoFit/>
          </a:bodyPr>
          <a:lstStyle/>
          <a:p>
            <a:r>
              <a:rPr lang="en-IN" sz="2100" b="1" dirty="0">
                <a:solidFill>
                  <a:srgbClr val="000000"/>
                </a:solidFill>
                <a:effectLst/>
                <a:latin typeface="Times New Roman" panose="02020603050405020304" pitchFamily="18" charset="0"/>
                <a:cs typeface="Times New Roman" panose="02020603050405020304" pitchFamily="18" charset="0"/>
              </a:rPr>
              <a:t>CHANGING THE SHELL ENVIRONMENT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34299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55962-D947-FBD6-1333-2A224513C44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9998A43-CB25-1F37-05FB-76ED18369D90}"/>
              </a:ext>
            </a:extLst>
          </p:cNvPr>
          <p:cNvSpPr txBox="1"/>
          <p:nvPr/>
        </p:nvSpPr>
        <p:spPr>
          <a:xfrm>
            <a:off x="1404255" y="1825219"/>
            <a:ext cx="11244943" cy="2677656"/>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You can </a:t>
            </a:r>
            <a:r>
              <a:rPr lang="en-IN" sz="2400" b="1" dirty="0">
                <a:latin typeface="Times New Roman" panose="02020603050405020304" pitchFamily="18" charset="0"/>
                <a:cs typeface="Times New Roman" panose="02020603050405020304" pitchFamily="18" charset="0"/>
              </a:rPr>
              <a:t>create a shell variable</a:t>
            </a:r>
            <a:r>
              <a:rPr lang="en-IN" sz="2400" dirty="0">
                <a:latin typeface="Times New Roman" panose="02020603050405020304" pitchFamily="18" charset="0"/>
                <a:cs typeface="Times New Roman" panose="02020603050405020304" pitchFamily="18" charset="0"/>
              </a:rPr>
              <a:t> by using the syntax:</a:t>
            </a:r>
          </a:p>
          <a:p>
            <a:r>
              <a:rPr lang="en-IN" sz="2400" b="1" dirty="0">
                <a:latin typeface="Times New Roman" panose="02020603050405020304" pitchFamily="18" charset="0"/>
                <a:cs typeface="Times New Roman" panose="02020603050405020304" pitchFamily="18" charset="0"/>
              </a:rPr>
              <a:t>VARIABLE_NAME=value  </a:t>
            </a:r>
          </a:p>
          <a:p>
            <a:endParaRPr lang="en-IN" sz="2400" b="1"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Viewing All Shell Variables</a:t>
            </a:r>
          </a:p>
          <a:p>
            <a:r>
              <a:rPr lang="en-IN" sz="2400" dirty="0">
                <a:latin typeface="Times New Roman" panose="02020603050405020304" pitchFamily="18" charset="0"/>
                <a:cs typeface="Times New Roman" panose="02020603050405020304" pitchFamily="18" charset="0"/>
              </a:rPr>
              <a:t>set</a:t>
            </a:r>
          </a:p>
          <a:p>
            <a:r>
              <a:rPr lang="en-IN" sz="2400" b="1" dirty="0">
                <a:latin typeface="Times New Roman" panose="02020603050405020304" pitchFamily="18" charset="0"/>
                <a:cs typeface="Times New Roman" panose="02020603050405020304" pitchFamily="18" charset="0"/>
              </a:rPr>
              <a:t>Since the output is very long, it is commonly used with less</a:t>
            </a:r>
          </a:p>
          <a:p>
            <a:r>
              <a:rPr lang="en-IN" sz="2400" dirty="0">
                <a:latin typeface="Times New Roman" panose="02020603050405020304" pitchFamily="18" charset="0"/>
                <a:cs typeface="Times New Roman" panose="02020603050405020304" pitchFamily="18" charset="0"/>
              </a:rPr>
              <a:t>set | less</a:t>
            </a:r>
          </a:p>
        </p:txBody>
      </p:sp>
      <p:sp>
        <p:nvSpPr>
          <p:cNvPr id="9" name="TextBox 8">
            <a:extLst>
              <a:ext uri="{FF2B5EF4-FFF2-40B4-BE49-F238E27FC236}">
                <a16:creationId xmlns:a16="http://schemas.microsoft.com/office/drawing/2014/main" id="{42B1D465-F2EF-FAE2-C66F-5B8F45CD8718}"/>
              </a:ext>
            </a:extLst>
          </p:cNvPr>
          <p:cNvSpPr txBox="1"/>
          <p:nvPr/>
        </p:nvSpPr>
        <p:spPr>
          <a:xfrm>
            <a:off x="7464362" y="2224672"/>
            <a:ext cx="184731" cy="369332"/>
          </a:xfrm>
          <a:prstGeom prst="rect">
            <a:avLst/>
          </a:prstGeom>
          <a:noFill/>
        </p:spPr>
        <p:txBody>
          <a:bodyPr wrap="none" rtlCol="0">
            <a:spAutoFit/>
          </a:bodyPr>
          <a:lstStyle/>
          <a:p>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4E7611C-3523-A5A1-6E51-7D80F6D0DE8D}"/>
              </a:ext>
            </a:extLst>
          </p:cNvPr>
          <p:cNvSpPr txBox="1"/>
          <p:nvPr/>
        </p:nvSpPr>
        <p:spPr>
          <a:xfrm>
            <a:off x="1687285" y="862811"/>
            <a:ext cx="6096000"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Assigning Values to Variables</a:t>
            </a:r>
          </a:p>
        </p:txBody>
      </p:sp>
    </p:spTree>
    <p:extLst>
      <p:ext uri="{BB962C8B-B14F-4D97-AF65-F5344CB8AC3E}">
        <p14:creationId xmlns:p14="http://schemas.microsoft.com/office/powerpoint/2010/main" val="5077710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FD5E8-E1AF-3F52-59D8-1378105685B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1D46D37-BA64-99C8-7B64-C4A8A22EAEB4}"/>
              </a:ext>
            </a:extLst>
          </p:cNvPr>
          <p:cNvSpPr txBox="1"/>
          <p:nvPr/>
        </p:nvSpPr>
        <p:spPr>
          <a:xfrm>
            <a:off x="326571" y="2925169"/>
            <a:ext cx="12322627" cy="1938992"/>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What is a Shell Variable ?</a:t>
            </a:r>
          </a:p>
          <a:p>
            <a:r>
              <a:rPr lang="en-IN" sz="2400" dirty="0">
                <a:latin typeface="Times New Roman" panose="02020603050405020304" pitchFamily="18" charset="0"/>
                <a:cs typeface="Times New Roman" panose="02020603050405020304" pitchFamily="18" charset="0"/>
              </a:rPr>
              <a:t>NAME=VARIABLE_NAME</a:t>
            </a:r>
          </a:p>
          <a:p>
            <a:r>
              <a:rPr lang="en-IN" sz="2400" dirty="0">
                <a:latin typeface="Times New Roman" panose="02020603050405020304" pitchFamily="18" charset="0"/>
                <a:cs typeface="Times New Roman" panose="02020603050405020304" pitchFamily="18" charset="0"/>
              </a:rPr>
              <a:t>echo $NAME </a:t>
            </a:r>
          </a:p>
          <a:p>
            <a:r>
              <a:rPr lang="en-IN" sz="2400" dirty="0">
                <a:latin typeface="Times New Roman" panose="02020603050405020304" pitchFamily="18" charset="0"/>
                <a:cs typeface="Times New Roman" panose="02020603050405020304" pitchFamily="18" charset="0"/>
              </a:rPr>
              <a:t>Output =NAME</a:t>
            </a:r>
          </a:p>
          <a:p>
            <a:r>
              <a:rPr lang="en-IN" sz="2400" dirty="0">
                <a:latin typeface="Times New Roman" panose="02020603050405020304" pitchFamily="18" charset="0"/>
                <a:cs typeface="Times New Roman" panose="02020603050405020304" pitchFamily="18" charset="0"/>
              </a:rPr>
              <a:t>Only </a:t>
            </a:r>
            <a:r>
              <a:rPr lang="en-IN" sz="2400" b="1" dirty="0">
                <a:latin typeface="Times New Roman" panose="02020603050405020304" pitchFamily="18" charset="0"/>
                <a:cs typeface="Times New Roman" panose="02020603050405020304" pitchFamily="18" charset="0"/>
              </a:rPr>
              <a:t>Bash</a:t>
            </a:r>
            <a:r>
              <a:rPr lang="en-IN" sz="2400" dirty="0">
                <a:latin typeface="Times New Roman" panose="02020603050405020304" pitchFamily="18" charset="0"/>
                <a:cs typeface="Times New Roman" panose="02020603050405020304" pitchFamily="18" charset="0"/>
              </a:rPr>
              <a:t> knows this variable</a:t>
            </a:r>
          </a:p>
        </p:txBody>
      </p:sp>
      <p:sp>
        <p:nvSpPr>
          <p:cNvPr id="9" name="TextBox 8">
            <a:extLst>
              <a:ext uri="{FF2B5EF4-FFF2-40B4-BE49-F238E27FC236}">
                <a16:creationId xmlns:a16="http://schemas.microsoft.com/office/drawing/2014/main" id="{81D774B2-BDA8-AFF7-C99E-3EC8BC58D92F}"/>
              </a:ext>
            </a:extLst>
          </p:cNvPr>
          <p:cNvSpPr txBox="1"/>
          <p:nvPr/>
        </p:nvSpPr>
        <p:spPr>
          <a:xfrm>
            <a:off x="7464362" y="2224672"/>
            <a:ext cx="184731" cy="369332"/>
          </a:xfrm>
          <a:prstGeom prst="rect">
            <a:avLst/>
          </a:prstGeom>
          <a:noFill/>
        </p:spPr>
        <p:txBody>
          <a:bodyPr wrap="none" rtlCol="0">
            <a:spAutoFit/>
          </a:bodyPr>
          <a:lstStyle/>
          <a:p>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971100D-E73F-E2C9-796A-6C2FB6C91638}"/>
              </a:ext>
            </a:extLst>
          </p:cNvPr>
          <p:cNvSpPr txBox="1"/>
          <p:nvPr/>
        </p:nvSpPr>
        <p:spPr>
          <a:xfrm>
            <a:off x="696686" y="1209009"/>
            <a:ext cx="11119755" cy="1200329"/>
          </a:xfrm>
          <a:prstGeom prst="rect">
            <a:avLst/>
          </a:prstGeom>
          <a:noFill/>
        </p:spPr>
        <p:txBody>
          <a:bodyPr wrap="square">
            <a:spAutoFit/>
          </a:bodyPr>
          <a:lstStyle/>
          <a:p>
            <a:pPr lvl="0"/>
            <a:r>
              <a:rPr lang="en-IN" sz="2400" b="1" dirty="0">
                <a:latin typeface="Times New Roman" panose="02020603050405020304" pitchFamily="18" charset="0"/>
                <a:cs typeface="Times New Roman" panose="02020603050405020304" pitchFamily="18" charset="0"/>
              </a:rPr>
              <a:t>Shell Variables</a:t>
            </a:r>
            <a:r>
              <a:rPr lang="en-IN" sz="2400" dirty="0">
                <a:latin typeface="Times New Roman" panose="02020603050405020304" pitchFamily="18" charset="0"/>
                <a:cs typeface="Times New Roman" panose="02020603050405020304" pitchFamily="18" charset="0"/>
              </a:rPr>
              <a:t> → Used only by </a:t>
            </a:r>
            <a:r>
              <a:rPr lang="en-IN" sz="2400" b="1" dirty="0">
                <a:latin typeface="Times New Roman" panose="02020603050405020304" pitchFamily="18" charset="0"/>
                <a:cs typeface="Times New Roman" panose="02020603050405020304" pitchFamily="18" charset="0"/>
              </a:rPr>
              <a:t>Bash (the shell)</a:t>
            </a:r>
            <a:r>
              <a:rPr lang="en-IN" sz="2400" dirty="0">
                <a:latin typeface="Times New Roman" panose="02020603050405020304" pitchFamily="18" charset="0"/>
                <a:cs typeface="Times New Roman" panose="02020603050405020304" pitchFamily="18" charset="0"/>
              </a:rPr>
              <a:t>. </a:t>
            </a:r>
          </a:p>
          <a:p>
            <a:pPr lvl="0"/>
            <a:r>
              <a:rPr lang="en-IN" sz="2400" b="1" dirty="0">
                <a:latin typeface="Times New Roman" panose="02020603050405020304" pitchFamily="18" charset="0"/>
                <a:cs typeface="Times New Roman" panose="02020603050405020304" pitchFamily="18" charset="0"/>
              </a:rPr>
              <a:t>Environment Variables</a:t>
            </a:r>
            <a:r>
              <a:rPr lang="en-IN" sz="2400" dirty="0">
                <a:latin typeface="Times New Roman" panose="02020603050405020304" pitchFamily="18" charset="0"/>
                <a:cs typeface="Times New Roman" panose="02020603050405020304" pitchFamily="18" charset="0"/>
              </a:rPr>
              <a:t> → Used by </a:t>
            </a:r>
            <a:r>
              <a:rPr lang="en-IN" sz="2400" b="1" dirty="0">
                <a:latin typeface="Times New Roman" panose="02020603050405020304" pitchFamily="18" charset="0"/>
                <a:cs typeface="Times New Roman" panose="02020603050405020304" pitchFamily="18" charset="0"/>
              </a:rPr>
              <a:t>Bash and all programs launched from Bash</a:t>
            </a:r>
            <a:r>
              <a:rPr lang="en-IN" sz="2400" dirty="0">
                <a:latin typeface="Times New Roman" panose="02020603050405020304" pitchFamily="18" charset="0"/>
                <a:cs typeface="Times New Roman" panose="02020603050405020304" pitchFamily="18" charset="0"/>
              </a:rPr>
              <a:t>. </a:t>
            </a:r>
          </a:p>
          <a:p>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79933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57DF3-A1FA-E0C7-1C95-90FB7EF71CF0}"/>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C504BE61-389F-F09F-89D5-52CFEDBCB17E}"/>
              </a:ext>
            </a:extLst>
          </p:cNvPr>
          <p:cNvSpPr txBox="1"/>
          <p:nvPr/>
        </p:nvSpPr>
        <p:spPr>
          <a:xfrm>
            <a:off x="7464362" y="2224672"/>
            <a:ext cx="184731" cy="369332"/>
          </a:xfrm>
          <a:prstGeom prst="rect">
            <a:avLst/>
          </a:prstGeom>
          <a:noFill/>
        </p:spPr>
        <p:txBody>
          <a:bodyPr wrap="none" rtlCol="0">
            <a:spAutoFit/>
          </a:bodyPr>
          <a:lstStyle/>
          <a:p>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827A1FE-F28B-C318-12FA-04EC72F37A4E}"/>
              </a:ext>
            </a:extLst>
          </p:cNvPr>
          <p:cNvSpPr txBox="1"/>
          <p:nvPr/>
        </p:nvSpPr>
        <p:spPr>
          <a:xfrm>
            <a:off x="653144" y="696687"/>
            <a:ext cx="11163298" cy="5016758"/>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What is an Environment Variable?</a:t>
            </a:r>
          </a:p>
          <a:p>
            <a:endParaRPr lang="en-IN" sz="2000" b="1"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Suppose you want </a:t>
            </a:r>
            <a:r>
              <a:rPr lang="en-IN" sz="2000" b="1" dirty="0">
                <a:latin typeface="Times New Roman" panose="02020603050405020304" pitchFamily="18" charset="0"/>
                <a:cs typeface="Times New Roman" panose="02020603050405020304" pitchFamily="18" charset="0"/>
              </a:rPr>
              <a:t>other programs</a:t>
            </a:r>
            <a:r>
              <a:rPr lang="en-IN" sz="2000" dirty="0">
                <a:latin typeface="Times New Roman" panose="02020603050405020304" pitchFamily="18" charset="0"/>
                <a:cs typeface="Times New Roman" panose="02020603050405020304" pitchFamily="18" charset="0"/>
              </a:rPr>
              <a:t> (like Python, Vim, Git, etc.) to also know this variable.</a:t>
            </a:r>
          </a:p>
          <a:p>
            <a:r>
              <a:rPr lang="en-IN" sz="2000" dirty="0">
                <a:latin typeface="Times New Roman" panose="02020603050405020304" pitchFamily="18" charset="0"/>
                <a:cs typeface="Times New Roman" panose="02020603050405020304" pitchFamily="18" charset="0"/>
              </a:rPr>
              <a:t>Then export it.</a:t>
            </a:r>
          </a:p>
          <a:p>
            <a:r>
              <a:rPr lang="en-IN" sz="2000" b="1" dirty="0">
                <a:latin typeface="Times New Roman" panose="02020603050405020304" pitchFamily="18" charset="0"/>
                <a:cs typeface="Times New Roman" panose="02020603050405020304" pitchFamily="18" charset="0"/>
              </a:rPr>
              <a:t>export NAME  -&gt;Syntax</a:t>
            </a:r>
          </a:p>
          <a:p>
            <a:r>
              <a:rPr lang="en-IN" sz="2000" dirty="0">
                <a:latin typeface="Times New Roman" panose="02020603050405020304" pitchFamily="18" charset="0"/>
                <a:cs typeface="Times New Roman" panose="02020603050405020304" pitchFamily="18" charset="0"/>
              </a:rPr>
              <a:t>Now every program started from this terminal can also access NAME</a:t>
            </a:r>
            <a:endParaRPr lang="en-IN" sz="2000" b="1"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Why do we need Environment Variables?</a:t>
            </a:r>
          </a:p>
          <a:p>
            <a:r>
              <a:rPr lang="en-IN" sz="2000" dirty="0">
                <a:latin typeface="Times New Roman" panose="02020603050405020304" pitchFamily="18" charset="0"/>
                <a:cs typeface="Times New Roman" panose="02020603050405020304" pitchFamily="18" charset="0"/>
              </a:rPr>
              <a:t>Many programs look for certain variables to decide how they should work.</a:t>
            </a:r>
          </a:p>
          <a:p>
            <a:pPr marL="457200" indent="-457200">
              <a:buAutoNum type="arabicPeriod"/>
            </a:pPr>
            <a:r>
              <a:rPr lang="en-IN" sz="2000" b="1" dirty="0">
                <a:latin typeface="Times New Roman" panose="02020603050405020304" pitchFamily="18" charset="0"/>
                <a:cs typeface="Times New Roman" panose="02020603050405020304" pitchFamily="18" charset="0"/>
              </a:rPr>
              <a:t>HOME </a:t>
            </a:r>
          </a:p>
          <a:p>
            <a:r>
              <a:rPr lang="en-IN" sz="2000" dirty="0">
                <a:latin typeface="Times New Roman" panose="02020603050405020304" pitchFamily="18" charset="0"/>
                <a:cs typeface="Times New Roman" panose="02020603050405020304" pitchFamily="18" charset="0"/>
              </a:rPr>
              <a:t>Run : echo $HOME</a:t>
            </a:r>
          </a:p>
          <a:p>
            <a:r>
              <a:rPr lang="en-IN" sz="2000" dirty="0">
                <a:latin typeface="Times New Roman" panose="02020603050405020304" pitchFamily="18" charset="0"/>
                <a:cs typeface="Times New Roman" panose="02020603050405020304" pitchFamily="18" charset="0"/>
              </a:rPr>
              <a:t>/home/name ---- Output</a:t>
            </a:r>
          </a:p>
          <a:p>
            <a:r>
              <a:rPr lang="en-IN" sz="2000" dirty="0">
                <a:latin typeface="Times New Roman" panose="02020603050405020304" pitchFamily="18" charset="0"/>
                <a:cs typeface="Times New Roman" panose="02020603050405020304" pitchFamily="18" charset="0"/>
              </a:rPr>
              <a:t>When a program wants to save your settings, it asks:</a:t>
            </a:r>
          </a:p>
          <a:p>
            <a:r>
              <a:rPr lang="en-IN" sz="2000" dirty="0">
                <a:latin typeface="Times New Roman" panose="02020603050405020304" pitchFamily="18" charset="0"/>
                <a:cs typeface="Times New Roman" panose="02020603050405020304" pitchFamily="18" charset="0"/>
              </a:rPr>
              <a:t>"Where is the user's home folder?"</a:t>
            </a:r>
          </a:p>
          <a:p>
            <a:r>
              <a:rPr lang="en-IN" sz="2000" dirty="0">
                <a:latin typeface="Times New Roman" panose="02020603050405020304" pitchFamily="18" charset="0"/>
                <a:cs typeface="Times New Roman" panose="02020603050405020304" pitchFamily="18" charset="0"/>
              </a:rPr>
              <a:t>It checks the </a:t>
            </a:r>
            <a:r>
              <a:rPr lang="en-IN" sz="2000" b="1" dirty="0">
                <a:latin typeface="Times New Roman" panose="02020603050405020304" pitchFamily="18" charset="0"/>
                <a:cs typeface="Times New Roman" panose="02020603050405020304" pitchFamily="18" charset="0"/>
              </a:rPr>
              <a:t>HOME</a:t>
            </a:r>
            <a:r>
              <a:rPr lang="en-IN" sz="2000" dirty="0">
                <a:latin typeface="Times New Roman" panose="02020603050405020304" pitchFamily="18" charset="0"/>
                <a:cs typeface="Times New Roman" panose="02020603050405020304" pitchFamily="18" charset="0"/>
              </a:rPr>
              <a:t> variable.</a:t>
            </a:r>
          </a:p>
          <a:p>
            <a:endParaRPr lang="en-IN" sz="2000"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48308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3A382-FA28-A491-20D8-091EA2337B03}"/>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7213BA0-2CF2-0BCD-17CF-D1A386CCE3D0}"/>
              </a:ext>
            </a:extLst>
          </p:cNvPr>
          <p:cNvSpPr txBox="1"/>
          <p:nvPr/>
        </p:nvSpPr>
        <p:spPr>
          <a:xfrm>
            <a:off x="7464362" y="2224672"/>
            <a:ext cx="184731" cy="369332"/>
          </a:xfrm>
          <a:prstGeom prst="rect">
            <a:avLst/>
          </a:prstGeom>
          <a:noFill/>
        </p:spPr>
        <p:txBody>
          <a:bodyPr wrap="none" rtlCol="0">
            <a:spAutoFit/>
          </a:bodyPr>
          <a:lstStyle/>
          <a:p>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4C2757C6-E6FE-C0CE-9815-3AAF0255068B}"/>
              </a:ext>
            </a:extLst>
          </p:cNvPr>
          <p:cNvSpPr txBox="1"/>
          <p:nvPr/>
        </p:nvSpPr>
        <p:spPr>
          <a:xfrm>
            <a:off x="653144" y="696687"/>
            <a:ext cx="11163298" cy="5632311"/>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What is an Environment Variable?</a:t>
            </a:r>
          </a:p>
          <a:p>
            <a:endParaRPr lang="en-IN" sz="2000" b="1"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2. EDITOR</a:t>
            </a:r>
          </a:p>
          <a:p>
            <a:r>
              <a:rPr lang="en-IN" sz="2000" dirty="0">
                <a:latin typeface="Times New Roman" panose="02020603050405020304" pitchFamily="18" charset="0"/>
                <a:cs typeface="Times New Roman" panose="02020603050405020304" pitchFamily="18" charset="0"/>
              </a:rPr>
              <a:t>Suppose a program wants to open a text editor.</a:t>
            </a:r>
          </a:p>
          <a:p>
            <a:r>
              <a:rPr lang="en-IN" sz="2000" dirty="0">
                <a:latin typeface="Times New Roman" panose="02020603050405020304" pitchFamily="18" charset="0"/>
                <a:cs typeface="Times New Roman" panose="02020603050405020304" pitchFamily="18" charset="0"/>
              </a:rPr>
              <a:t>How does it know which editor you prefer?</a:t>
            </a:r>
          </a:p>
          <a:p>
            <a:r>
              <a:rPr lang="en-IN" sz="2000" dirty="0">
                <a:latin typeface="Times New Roman" panose="02020603050405020304" pitchFamily="18" charset="0"/>
                <a:cs typeface="Times New Roman" panose="02020603050405020304" pitchFamily="18" charset="0"/>
              </a:rPr>
              <a:t> RUN : export EDITOR=vim</a:t>
            </a:r>
          </a:p>
          <a:p>
            <a:r>
              <a:rPr lang="en-IN" sz="2000" dirty="0">
                <a:latin typeface="Times New Roman" panose="02020603050405020304" pitchFamily="18" charset="0"/>
                <a:cs typeface="Times New Roman" panose="02020603050405020304" pitchFamily="18" charset="0"/>
              </a:rPr>
              <a:t>Now programs that use the EDITOR variable will open </a:t>
            </a:r>
            <a:r>
              <a:rPr lang="en-IN" sz="2000" b="1" dirty="0">
                <a:latin typeface="Times New Roman" panose="02020603050405020304" pitchFamily="18" charset="0"/>
                <a:cs typeface="Times New Roman" panose="02020603050405020304" pitchFamily="18" charset="0"/>
              </a:rPr>
              <a:t>Vim</a:t>
            </a:r>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 3. PATH </a:t>
            </a:r>
          </a:p>
          <a:p>
            <a:r>
              <a:rPr lang="en-IN" sz="2000" dirty="0">
                <a:latin typeface="Times New Roman" panose="02020603050405020304" pitchFamily="18" charset="0"/>
                <a:cs typeface="Times New Roman" panose="02020603050405020304" pitchFamily="18" charset="0"/>
              </a:rPr>
              <a:t>Suppose you type</a:t>
            </a:r>
          </a:p>
          <a:p>
            <a:r>
              <a:rPr lang="en-IN" sz="2000" dirty="0">
                <a:latin typeface="Times New Roman" panose="02020603050405020304" pitchFamily="18" charset="0"/>
                <a:cs typeface="Times New Roman" panose="02020603050405020304" pitchFamily="18" charset="0"/>
              </a:rPr>
              <a:t>Run : ls</a:t>
            </a:r>
          </a:p>
          <a:p>
            <a:r>
              <a:rPr lang="en-IN" sz="2000" dirty="0">
                <a:latin typeface="Times New Roman" panose="02020603050405020304" pitchFamily="18" charset="0"/>
                <a:cs typeface="Times New Roman" panose="02020603050405020304" pitchFamily="18" charset="0"/>
              </a:rPr>
              <a:t>How does Linux know where ls is</a:t>
            </a:r>
          </a:p>
          <a:p>
            <a:r>
              <a:rPr lang="en-IN" sz="2000" dirty="0">
                <a:latin typeface="Times New Roman" panose="02020603050405020304" pitchFamily="18" charset="0"/>
                <a:cs typeface="Times New Roman" panose="02020603050405020304" pitchFamily="18" charset="0"/>
              </a:rPr>
              <a:t>It checks the </a:t>
            </a:r>
            <a:r>
              <a:rPr lang="en-IN" sz="2000" b="1" dirty="0">
                <a:latin typeface="Times New Roman" panose="02020603050405020304" pitchFamily="18" charset="0"/>
                <a:cs typeface="Times New Roman" panose="02020603050405020304" pitchFamily="18" charset="0"/>
              </a:rPr>
              <a:t>PATH</a:t>
            </a:r>
            <a:r>
              <a:rPr lang="en-IN" sz="2000" dirty="0">
                <a:latin typeface="Times New Roman" panose="02020603050405020304" pitchFamily="18" charset="0"/>
                <a:cs typeface="Times New Roman" panose="02020603050405020304" pitchFamily="18" charset="0"/>
              </a:rPr>
              <a:t> variable.</a:t>
            </a:r>
          </a:p>
          <a:p>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usr</a:t>
            </a:r>
            <a:r>
              <a:rPr lang="en-IN" sz="2000" dirty="0">
                <a:latin typeface="Times New Roman" panose="02020603050405020304" pitchFamily="18" charset="0"/>
                <a:cs typeface="Times New Roman" panose="02020603050405020304" pitchFamily="18" charset="0"/>
              </a:rPr>
              <a:t>/local/bin  Meaning -&gt; This </a:t>
            </a:r>
            <a:r>
              <a:rPr lang="en-IN" sz="2000" dirty="0" err="1">
                <a:latin typeface="Times New Roman" panose="02020603050405020304" pitchFamily="18" charset="0"/>
                <a:cs typeface="Times New Roman" panose="02020603050405020304" pitchFamily="18" charset="0"/>
              </a:rPr>
              <a:t>means:Search</a:t>
            </a:r>
            <a:r>
              <a:rPr lang="en-IN" sz="2000" dirty="0">
                <a:latin typeface="Times New Roman" panose="02020603050405020304" pitchFamily="18" charset="0"/>
                <a:cs typeface="Times New Roman" panose="02020603050405020304" pitchFamily="18" charset="0"/>
              </a:rPr>
              <a:t> for commands in these folders.</a:t>
            </a:r>
          </a:p>
          <a:p>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usr</a:t>
            </a:r>
            <a:r>
              <a:rPr lang="en-IN" sz="2000" dirty="0">
                <a:latin typeface="Times New Roman" panose="02020603050405020304" pitchFamily="18" charset="0"/>
                <a:cs typeface="Times New Roman" panose="02020603050405020304" pitchFamily="18" charset="0"/>
              </a:rPr>
              <a:t>/local/bin . Where ls finds it runs it</a:t>
            </a: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65875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C4162-F2A8-1E55-06CB-0A5103421004}"/>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96CD3326-328B-25E9-AEAB-5EF3C06C2174}"/>
              </a:ext>
            </a:extLst>
          </p:cNvPr>
          <p:cNvSpPr txBox="1"/>
          <p:nvPr/>
        </p:nvSpPr>
        <p:spPr>
          <a:xfrm>
            <a:off x="7464362" y="2224672"/>
            <a:ext cx="184731" cy="369332"/>
          </a:xfrm>
          <a:prstGeom prst="rect">
            <a:avLst/>
          </a:prstGeom>
          <a:noFill/>
        </p:spPr>
        <p:txBody>
          <a:bodyPr wrap="none" rtlCol="0">
            <a:spAutoFit/>
          </a:bodyPr>
          <a:lstStyle/>
          <a:p>
            <a:endParaRPr lang="en-IN"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881809E-97F1-FC38-E944-EDF802B175A6}"/>
              </a:ext>
            </a:extLst>
          </p:cNvPr>
          <p:cNvSpPr txBox="1"/>
          <p:nvPr/>
        </p:nvSpPr>
        <p:spPr>
          <a:xfrm>
            <a:off x="2601685" y="859971"/>
            <a:ext cx="7805057" cy="1246495"/>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                MANAGING LOCAL USERS AND GROUPS</a:t>
            </a:r>
            <a:r>
              <a:rPr lang="en-IN" sz="2500" b="1" dirty="0">
                <a:solidFill>
                  <a:srgbClr val="FFFFFF"/>
                </a:solidFill>
                <a:effectLst/>
                <a:latin typeface="Times New Roman" panose="02020603050405020304" pitchFamily="18" charset="0"/>
                <a:cs typeface="Times New Roman" panose="02020603050405020304" pitchFamily="18" charset="0"/>
              </a:rPr>
              <a:t>NG LOCAL USERS AND </a:t>
            </a:r>
            <a:endParaRPr lang="en-IN" dirty="0">
              <a:latin typeface="Times New Roman" panose="02020603050405020304" pitchFamily="18" charset="0"/>
              <a:cs typeface="Times New Roman" panose="02020603050405020304" pitchFamily="18" charset="0"/>
            </a:endParaRPr>
          </a:p>
          <a:p>
            <a:pPr>
              <a:buNone/>
            </a:pPr>
            <a:r>
              <a:rPr lang="en-IN" sz="2500" b="1" dirty="0">
                <a:solidFill>
                  <a:srgbClr val="FFFFFF"/>
                </a:solidFill>
                <a:effectLst/>
                <a:latin typeface="Times New Roman" panose="02020603050405020304" pitchFamily="18" charset="0"/>
                <a:cs typeface="Times New Roman" panose="02020603050405020304" pitchFamily="18" charset="0"/>
              </a:rPr>
              <a:t>GROUPS</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7F60A7A-63E1-DA96-F201-EC89002AD6B3}"/>
              </a:ext>
            </a:extLst>
          </p:cNvPr>
          <p:cNvSpPr txBox="1"/>
          <p:nvPr/>
        </p:nvSpPr>
        <p:spPr>
          <a:xfrm>
            <a:off x="457198" y="1524480"/>
            <a:ext cx="8033657" cy="415498"/>
          </a:xfrm>
          <a:prstGeom prst="rect">
            <a:avLst/>
          </a:prstGeom>
          <a:noFill/>
        </p:spPr>
        <p:txBody>
          <a:bodyPr wrap="square">
            <a:spAutoFit/>
          </a:bodyPr>
          <a:lstStyle/>
          <a:p>
            <a:pPr>
              <a:buNone/>
            </a:pPr>
            <a:r>
              <a:rPr lang="en-IN" sz="2100" b="1" dirty="0">
                <a:solidFill>
                  <a:srgbClr val="000000"/>
                </a:solidFill>
                <a:effectLst/>
                <a:latin typeface="Overpass-ExtraBold"/>
              </a:rPr>
              <a:t>DESCRIBING USER AND GROUP CONCEPTS </a:t>
            </a:r>
            <a:endParaRPr lang="en-IN" dirty="0"/>
          </a:p>
        </p:txBody>
      </p:sp>
      <p:sp>
        <p:nvSpPr>
          <p:cNvPr id="8" name="TextBox 7">
            <a:extLst>
              <a:ext uri="{FF2B5EF4-FFF2-40B4-BE49-F238E27FC236}">
                <a16:creationId xmlns:a16="http://schemas.microsoft.com/office/drawing/2014/main" id="{498FECA4-0B74-1784-F0F6-5749369F0165}"/>
              </a:ext>
            </a:extLst>
          </p:cNvPr>
          <p:cNvSpPr txBox="1"/>
          <p:nvPr/>
        </p:nvSpPr>
        <p:spPr>
          <a:xfrm>
            <a:off x="457198" y="2193895"/>
            <a:ext cx="11517088" cy="1723549"/>
          </a:xfrm>
          <a:prstGeom prst="rect">
            <a:avLst/>
          </a:prstGeom>
          <a:noFill/>
        </p:spPr>
        <p:txBody>
          <a:bodyPr wrap="square">
            <a:spAutoFit/>
          </a:bodyPr>
          <a:lstStyle/>
          <a:p>
            <a:r>
              <a:rPr lang="en-IN" sz="1600" b="1" dirty="0">
                <a:solidFill>
                  <a:srgbClr val="E32233"/>
                </a:solidFill>
                <a:effectLst/>
                <a:latin typeface="Overpass-ExtraBold"/>
              </a:rPr>
              <a:t>WHAT IS A USER? </a:t>
            </a:r>
          </a:p>
          <a:p>
            <a:r>
              <a:rPr lang="en-IN" dirty="0"/>
              <a:t>A user account is used to provide security boundaries between different people and programs that can run commands.</a:t>
            </a:r>
          </a:p>
          <a:p>
            <a:r>
              <a:rPr lang="en-IN" dirty="0"/>
              <a:t>The system distinguishes user accounts by the unique identification number assigned to them, the user ID or UID</a:t>
            </a:r>
          </a:p>
          <a:p>
            <a:r>
              <a:rPr lang="en-IN" dirty="0"/>
              <a:t>Every process (running program) on the system runs as a particular user.</a:t>
            </a:r>
          </a:p>
          <a:p>
            <a:endParaRPr lang="en-IN" dirty="0"/>
          </a:p>
        </p:txBody>
      </p:sp>
      <p:graphicFrame>
        <p:nvGraphicFramePr>
          <p:cNvPr id="10" name="Diagram 9">
            <a:extLst>
              <a:ext uri="{FF2B5EF4-FFF2-40B4-BE49-F238E27FC236}">
                <a16:creationId xmlns:a16="http://schemas.microsoft.com/office/drawing/2014/main" id="{B1E728DE-59DF-4AA4-7BC5-7CF4D13CE218}"/>
              </a:ext>
            </a:extLst>
          </p:cNvPr>
          <p:cNvGraphicFramePr/>
          <p:nvPr>
            <p:extLst>
              <p:ext uri="{D42A27DB-BD31-4B8C-83A1-F6EECF244321}">
                <p14:modId xmlns:p14="http://schemas.microsoft.com/office/powerpoint/2010/main" val="61591589"/>
              </p:ext>
            </p:extLst>
          </p:nvPr>
        </p:nvGraphicFramePr>
        <p:xfrm>
          <a:off x="2032000" y="3917444"/>
          <a:ext cx="5432362" cy="222088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037477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4252A-2EAF-8489-9862-1282E031A748}"/>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B9388E80-12FA-910A-01A0-7796219EB66E}"/>
              </a:ext>
            </a:extLst>
          </p:cNvPr>
          <p:cNvSpPr txBox="1"/>
          <p:nvPr/>
        </p:nvSpPr>
        <p:spPr>
          <a:xfrm>
            <a:off x="7464362" y="2224672"/>
            <a:ext cx="184731" cy="369332"/>
          </a:xfrm>
          <a:prstGeom prst="rect">
            <a:avLst/>
          </a:prstGeom>
          <a:noFill/>
        </p:spPr>
        <p:txBody>
          <a:bodyPr wrap="none" rtlCol="0">
            <a:spAutoFit/>
          </a:bodyPr>
          <a:lstStyle/>
          <a:p>
            <a:endParaRPr lang="en-IN"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F02A8E7-FC1C-BBA6-577C-00DD51B230D0}"/>
              </a:ext>
            </a:extLst>
          </p:cNvPr>
          <p:cNvSpPr txBox="1"/>
          <p:nvPr/>
        </p:nvSpPr>
        <p:spPr>
          <a:xfrm>
            <a:off x="2601685" y="859971"/>
            <a:ext cx="7805057" cy="1246495"/>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                MANAGING LOCAL USERS AND GROUPS</a:t>
            </a:r>
            <a:r>
              <a:rPr lang="en-IN" sz="2500" b="1" dirty="0">
                <a:solidFill>
                  <a:srgbClr val="FFFFFF"/>
                </a:solidFill>
                <a:effectLst/>
                <a:latin typeface="Times New Roman" panose="02020603050405020304" pitchFamily="18" charset="0"/>
                <a:cs typeface="Times New Roman" panose="02020603050405020304" pitchFamily="18" charset="0"/>
              </a:rPr>
              <a:t>NG LOCAL USERS AND </a:t>
            </a:r>
            <a:endParaRPr lang="en-IN" dirty="0">
              <a:latin typeface="Times New Roman" panose="02020603050405020304" pitchFamily="18" charset="0"/>
              <a:cs typeface="Times New Roman" panose="02020603050405020304" pitchFamily="18" charset="0"/>
            </a:endParaRPr>
          </a:p>
          <a:p>
            <a:pPr>
              <a:buNone/>
            </a:pPr>
            <a:r>
              <a:rPr lang="en-IN" sz="2500" b="1" dirty="0">
                <a:solidFill>
                  <a:srgbClr val="FFFFFF"/>
                </a:solidFill>
                <a:effectLst/>
                <a:latin typeface="Times New Roman" panose="02020603050405020304" pitchFamily="18" charset="0"/>
                <a:cs typeface="Times New Roman" panose="02020603050405020304" pitchFamily="18" charset="0"/>
              </a:rPr>
              <a:t>GROUPS</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3A17C06-5417-3DA8-F78C-F3B9B727AB8C}"/>
              </a:ext>
            </a:extLst>
          </p:cNvPr>
          <p:cNvSpPr txBox="1"/>
          <p:nvPr/>
        </p:nvSpPr>
        <p:spPr>
          <a:xfrm>
            <a:off x="457198" y="1524480"/>
            <a:ext cx="8033657" cy="415498"/>
          </a:xfrm>
          <a:prstGeom prst="rect">
            <a:avLst/>
          </a:prstGeom>
          <a:noFill/>
        </p:spPr>
        <p:txBody>
          <a:bodyPr wrap="square">
            <a:spAutoFit/>
          </a:bodyPr>
          <a:lstStyle/>
          <a:p>
            <a:pPr>
              <a:buNone/>
            </a:pPr>
            <a:r>
              <a:rPr lang="en-IN" sz="2100" b="1" dirty="0">
                <a:solidFill>
                  <a:srgbClr val="000000"/>
                </a:solidFill>
                <a:effectLst/>
                <a:latin typeface="Overpass-ExtraBold"/>
              </a:rPr>
              <a:t>DESCRIBING USER AND GROUP CONCEPTS </a:t>
            </a:r>
            <a:endParaRPr lang="en-IN" dirty="0"/>
          </a:p>
        </p:txBody>
      </p:sp>
      <p:pic>
        <p:nvPicPr>
          <p:cNvPr id="4" name="Picture 3">
            <a:extLst>
              <a:ext uri="{FF2B5EF4-FFF2-40B4-BE49-F238E27FC236}">
                <a16:creationId xmlns:a16="http://schemas.microsoft.com/office/drawing/2014/main" id="{284082CB-5942-DC5F-C86C-A1A45635107D}"/>
              </a:ext>
            </a:extLst>
          </p:cNvPr>
          <p:cNvPicPr>
            <a:picLocks noChangeAspect="1"/>
          </p:cNvPicPr>
          <p:nvPr/>
        </p:nvPicPr>
        <p:blipFill>
          <a:blip r:embed="rId3"/>
          <a:stretch>
            <a:fillRect/>
          </a:stretch>
        </p:blipFill>
        <p:spPr>
          <a:xfrm>
            <a:off x="780169" y="2233597"/>
            <a:ext cx="7936024" cy="834117"/>
          </a:xfrm>
          <a:prstGeom prst="rect">
            <a:avLst/>
          </a:prstGeom>
        </p:spPr>
      </p:pic>
      <p:pic>
        <p:nvPicPr>
          <p:cNvPr id="7" name="Picture 6">
            <a:extLst>
              <a:ext uri="{FF2B5EF4-FFF2-40B4-BE49-F238E27FC236}">
                <a16:creationId xmlns:a16="http://schemas.microsoft.com/office/drawing/2014/main" id="{47CD3565-8451-609B-EAD6-236738DB470D}"/>
              </a:ext>
            </a:extLst>
          </p:cNvPr>
          <p:cNvPicPr>
            <a:picLocks noChangeAspect="1"/>
          </p:cNvPicPr>
          <p:nvPr/>
        </p:nvPicPr>
        <p:blipFill>
          <a:blip r:embed="rId4"/>
          <a:stretch>
            <a:fillRect/>
          </a:stretch>
        </p:blipFill>
        <p:spPr>
          <a:xfrm>
            <a:off x="1033805" y="4288686"/>
            <a:ext cx="7936024" cy="925698"/>
          </a:xfrm>
          <a:prstGeom prst="rect">
            <a:avLst/>
          </a:prstGeom>
        </p:spPr>
      </p:pic>
      <p:sp>
        <p:nvSpPr>
          <p:cNvPr id="11" name="TextBox 10">
            <a:extLst>
              <a:ext uri="{FF2B5EF4-FFF2-40B4-BE49-F238E27FC236}">
                <a16:creationId xmlns:a16="http://schemas.microsoft.com/office/drawing/2014/main" id="{64B1E83E-17AA-B993-6420-CC356EE0DAAA}"/>
              </a:ext>
            </a:extLst>
          </p:cNvPr>
          <p:cNvSpPr txBox="1"/>
          <p:nvPr/>
        </p:nvSpPr>
        <p:spPr>
          <a:xfrm>
            <a:off x="1518632" y="3493534"/>
            <a:ext cx="5945730" cy="369332"/>
          </a:xfrm>
          <a:prstGeom prst="rect">
            <a:avLst/>
          </a:prstGeom>
          <a:noFill/>
        </p:spPr>
        <p:txBody>
          <a:bodyPr wrap="none" rtlCol="0">
            <a:spAutoFit/>
          </a:bodyPr>
          <a:lstStyle/>
          <a:p>
            <a:r>
              <a:rPr lang="en-IN" dirty="0"/>
              <a:t>To view information about the current user that is logged in</a:t>
            </a:r>
          </a:p>
        </p:txBody>
      </p:sp>
    </p:spTree>
    <p:extLst>
      <p:ext uri="{BB962C8B-B14F-4D97-AF65-F5344CB8AC3E}">
        <p14:creationId xmlns:p14="http://schemas.microsoft.com/office/powerpoint/2010/main" val="35664405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B896A-56C2-8D75-7191-A21F7B16008D}"/>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E99358A7-F2AC-A6DB-B263-5BF93AE408F5}"/>
              </a:ext>
            </a:extLst>
          </p:cNvPr>
          <p:cNvSpPr txBox="1"/>
          <p:nvPr/>
        </p:nvSpPr>
        <p:spPr>
          <a:xfrm>
            <a:off x="7464362" y="2224672"/>
            <a:ext cx="184731" cy="369332"/>
          </a:xfrm>
          <a:prstGeom prst="rect">
            <a:avLst/>
          </a:prstGeom>
          <a:noFill/>
        </p:spPr>
        <p:txBody>
          <a:bodyPr wrap="none" rtlCol="0">
            <a:spAutoFit/>
          </a:bodyPr>
          <a:lstStyle/>
          <a:p>
            <a:endParaRPr lang="en-IN"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AF9292E-7A15-0CFD-DC88-1BFA514BCE71}"/>
              </a:ext>
            </a:extLst>
          </p:cNvPr>
          <p:cNvSpPr txBox="1"/>
          <p:nvPr/>
        </p:nvSpPr>
        <p:spPr>
          <a:xfrm>
            <a:off x="2601685" y="859971"/>
            <a:ext cx="7805057" cy="1246495"/>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                MANAGING LOCAL USERS AND GROUPS</a:t>
            </a:r>
            <a:r>
              <a:rPr lang="en-IN" sz="2500" b="1" dirty="0">
                <a:solidFill>
                  <a:srgbClr val="FFFFFF"/>
                </a:solidFill>
                <a:effectLst/>
                <a:latin typeface="Times New Roman" panose="02020603050405020304" pitchFamily="18" charset="0"/>
                <a:cs typeface="Times New Roman" panose="02020603050405020304" pitchFamily="18" charset="0"/>
              </a:rPr>
              <a:t>NG LOCAL USERS AND </a:t>
            </a:r>
            <a:endParaRPr lang="en-IN" dirty="0">
              <a:latin typeface="Times New Roman" panose="02020603050405020304" pitchFamily="18" charset="0"/>
              <a:cs typeface="Times New Roman" panose="02020603050405020304" pitchFamily="18" charset="0"/>
            </a:endParaRPr>
          </a:p>
          <a:p>
            <a:pPr>
              <a:buNone/>
            </a:pPr>
            <a:r>
              <a:rPr lang="en-IN" sz="2500" b="1" dirty="0">
                <a:solidFill>
                  <a:srgbClr val="FFFFFF"/>
                </a:solidFill>
                <a:effectLst/>
                <a:latin typeface="Times New Roman" panose="02020603050405020304" pitchFamily="18" charset="0"/>
                <a:cs typeface="Times New Roman" panose="02020603050405020304" pitchFamily="18" charset="0"/>
              </a:rPr>
              <a:t>GROUPS</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495DE18-8DC1-0121-4A77-A4846D4971E5}"/>
              </a:ext>
            </a:extLst>
          </p:cNvPr>
          <p:cNvSpPr txBox="1"/>
          <p:nvPr/>
        </p:nvSpPr>
        <p:spPr>
          <a:xfrm>
            <a:off x="457198" y="1409204"/>
            <a:ext cx="8033657" cy="415498"/>
          </a:xfrm>
          <a:prstGeom prst="rect">
            <a:avLst/>
          </a:prstGeom>
          <a:noFill/>
        </p:spPr>
        <p:txBody>
          <a:bodyPr wrap="square">
            <a:spAutoFit/>
          </a:bodyPr>
          <a:lstStyle/>
          <a:p>
            <a:pPr>
              <a:buNone/>
            </a:pPr>
            <a:r>
              <a:rPr lang="en-IN" sz="2100" b="1" dirty="0">
                <a:solidFill>
                  <a:srgbClr val="000000"/>
                </a:solidFill>
                <a:effectLst/>
                <a:latin typeface="Overpass-ExtraBold"/>
              </a:rPr>
              <a:t>DESCRIBING USER AND GROUP CONCEPTS </a:t>
            </a:r>
            <a:endParaRPr lang="en-IN" dirty="0"/>
          </a:p>
        </p:txBody>
      </p:sp>
      <p:pic>
        <p:nvPicPr>
          <p:cNvPr id="6" name="Picture 5">
            <a:extLst>
              <a:ext uri="{FF2B5EF4-FFF2-40B4-BE49-F238E27FC236}">
                <a16:creationId xmlns:a16="http://schemas.microsoft.com/office/drawing/2014/main" id="{2FD387CA-24B2-99FC-ADBF-FBE6D7BDDF26}"/>
              </a:ext>
            </a:extLst>
          </p:cNvPr>
          <p:cNvPicPr>
            <a:picLocks noChangeAspect="1"/>
          </p:cNvPicPr>
          <p:nvPr/>
        </p:nvPicPr>
        <p:blipFill>
          <a:blip r:embed="rId3"/>
          <a:stretch>
            <a:fillRect/>
          </a:stretch>
        </p:blipFill>
        <p:spPr>
          <a:xfrm>
            <a:off x="1230086" y="2001604"/>
            <a:ext cx="7460333" cy="1205765"/>
          </a:xfrm>
          <a:prstGeom prst="rect">
            <a:avLst/>
          </a:prstGeom>
        </p:spPr>
      </p:pic>
      <p:sp>
        <p:nvSpPr>
          <p:cNvPr id="10" name="TextBox 9">
            <a:extLst>
              <a:ext uri="{FF2B5EF4-FFF2-40B4-BE49-F238E27FC236}">
                <a16:creationId xmlns:a16="http://schemas.microsoft.com/office/drawing/2014/main" id="{8F666AA7-48B7-3199-51E7-238D21DA019C}"/>
              </a:ext>
            </a:extLst>
          </p:cNvPr>
          <p:cNvSpPr txBox="1"/>
          <p:nvPr/>
        </p:nvSpPr>
        <p:spPr>
          <a:xfrm>
            <a:off x="1114607" y="3325575"/>
            <a:ext cx="7913914" cy="646331"/>
          </a:xfrm>
          <a:prstGeom prst="rect">
            <a:avLst/>
          </a:prstGeom>
          <a:noFill/>
        </p:spPr>
        <p:txBody>
          <a:bodyPr wrap="square">
            <a:spAutoFit/>
          </a:bodyPr>
          <a:lstStyle/>
          <a:p>
            <a:pPr>
              <a:buNone/>
            </a:pPr>
            <a:r>
              <a:rPr lang="en-IN" dirty="0">
                <a:solidFill>
                  <a:srgbClr val="000000"/>
                </a:solidFill>
                <a:effectLst/>
                <a:latin typeface="Times New Roman" panose="02020603050405020304" pitchFamily="18" charset="0"/>
                <a:cs typeface="Times New Roman" panose="02020603050405020304" pitchFamily="18" charset="0"/>
              </a:rPr>
              <a:t>To view the owner of a file use the </a:t>
            </a:r>
            <a:r>
              <a:rPr lang="en-IN" b="1" dirty="0">
                <a:solidFill>
                  <a:srgbClr val="000000"/>
                </a:solidFill>
                <a:effectLst/>
                <a:latin typeface="Times New Roman" panose="02020603050405020304" pitchFamily="18" charset="0"/>
                <a:cs typeface="Times New Roman" panose="02020603050405020304" pitchFamily="18" charset="0"/>
              </a:rPr>
              <a:t>ls -l</a:t>
            </a:r>
            <a:r>
              <a:rPr lang="en-IN" dirty="0">
                <a:solidFill>
                  <a:srgbClr val="000000"/>
                </a:solidFill>
                <a:effectLst/>
                <a:latin typeface="Times New Roman" panose="02020603050405020304" pitchFamily="18" charset="0"/>
                <a:cs typeface="Times New Roman" panose="02020603050405020304" pitchFamily="18" charset="0"/>
              </a:rPr>
              <a:t> command. To view the owner of a directory use the </a:t>
            </a:r>
            <a:r>
              <a:rPr lang="en-IN" b="1" dirty="0">
                <a:solidFill>
                  <a:srgbClr val="000000"/>
                </a:solidFill>
                <a:effectLst/>
                <a:latin typeface="Times New Roman" panose="02020603050405020304" pitchFamily="18" charset="0"/>
                <a:cs typeface="Times New Roman" panose="02020603050405020304" pitchFamily="18" charset="0"/>
              </a:rPr>
              <a:t>ls - </a:t>
            </a:r>
            <a:r>
              <a:rPr lang="en-IN" dirty="0" err="1">
                <a:latin typeface="Times New Roman" panose="02020603050405020304" pitchFamily="18" charset="0"/>
                <a:cs typeface="Times New Roman" panose="02020603050405020304" pitchFamily="18" charset="0"/>
              </a:rPr>
              <a:t>l</a:t>
            </a:r>
            <a:r>
              <a:rPr lang="en-IN" b="1" dirty="0" err="1">
                <a:solidFill>
                  <a:srgbClr val="000000"/>
                </a:solidFill>
                <a:effectLst/>
                <a:latin typeface="Times New Roman" panose="02020603050405020304" pitchFamily="18" charset="0"/>
                <a:cs typeface="Times New Roman" panose="02020603050405020304" pitchFamily="18" charset="0"/>
              </a:rPr>
              <a:t>d</a:t>
            </a:r>
            <a:r>
              <a:rPr lang="en-IN" dirty="0">
                <a:solidFill>
                  <a:srgbClr val="000000"/>
                </a:solidFill>
                <a:effectLst/>
                <a:latin typeface="Times New Roman" panose="02020603050405020304" pitchFamily="18" charset="0"/>
                <a:cs typeface="Times New Roman" panose="02020603050405020304" pitchFamily="18" charset="0"/>
              </a:rPr>
              <a:t> command</a:t>
            </a:r>
            <a:endParaRPr lang="en-IN"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0C6415D3-E124-DE8D-2F6E-99BD474B88AD}"/>
              </a:ext>
            </a:extLst>
          </p:cNvPr>
          <p:cNvPicPr>
            <a:picLocks noChangeAspect="1"/>
          </p:cNvPicPr>
          <p:nvPr/>
        </p:nvPicPr>
        <p:blipFill>
          <a:blip r:embed="rId4"/>
          <a:stretch>
            <a:fillRect/>
          </a:stretch>
        </p:blipFill>
        <p:spPr>
          <a:xfrm>
            <a:off x="1114607" y="4090112"/>
            <a:ext cx="6534486" cy="1695537"/>
          </a:xfrm>
          <a:prstGeom prst="rect">
            <a:avLst/>
          </a:prstGeom>
        </p:spPr>
      </p:pic>
      <p:sp>
        <p:nvSpPr>
          <p:cNvPr id="15" name="TextBox 14">
            <a:extLst>
              <a:ext uri="{FF2B5EF4-FFF2-40B4-BE49-F238E27FC236}">
                <a16:creationId xmlns:a16="http://schemas.microsoft.com/office/drawing/2014/main" id="{D04BE7A2-73FF-DC3C-47AD-07FD322C361E}"/>
              </a:ext>
            </a:extLst>
          </p:cNvPr>
          <p:cNvSpPr txBox="1"/>
          <p:nvPr/>
        </p:nvSpPr>
        <p:spPr>
          <a:xfrm>
            <a:off x="892628" y="5954367"/>
            <a:ext cx="10700657" cy="646331"/>
          </a:xfrm>
          <a:prstGeom prst="rect">
            <a:avLst/>
          </a:prstGeom>
          <a:noFill/>
        </p:spPr>
        <p:txBody>
          <a:bodyPr wrap="square">
            <a:spAutoFit/>
          </a:bodyPr>
          <a:lstStyle/>
          <a:p>
            <a:pPr>
              <a:buNone/>
            </a:pPr>
            <a:r>
              <a:rPr lang="en-IN" dirty="0">
                <a:solidFill>
                  <a:srgbClr val="000000"/>
                </a:solidFill>
                <a:effectLst/>
                <a:latin typeface="Times New Roman" panose="02020603050405020304" pitchFamily="18" charset="0"/>
                <a:cs typeface="Times New Roman" panose="02020603050405020304" pitchFamily="18" charset="0"/>
              </a:rPr>
              <a:t>To view process information, use the </a:t>
            </a:r>
            <a:r>
              <a:rPr lang="en-IN" b="1" dirty="0" err="1">
                <a:solidFill>
                  <a:srgbClr val="000000"/>
                </a:solidFill>
                <a:effectLst/>
                <a:latin typeface="Times New Roman" panose="02020603050405020304" pitchFamily="18" charset="0"/>
                <a:cs typeface="Times New Roman" panose="02020603050405020304" pitchFamily="18" charset="0"/>
              </a:rPr>
              <a:t>ps</a:t>
            </a:r>
            <a:r>
              <a:rPr lang="en-IN" dirty="0">
                <a:solidFill>
                  <a:srgbClr val="000000"/>
                </a:solidFill>
                <a:effectLst/>
                <a:latin typeface="Times New Roman" panose="02020603050405020304" pitchFamily="18" charset="0"/>
                <a:cs typeface="Times New Roman" panose="02020603050405020304" pitchFamily="18" charset="0"/>
              </a:rPr>
              <a:t> command. The default is to show only processes in the current shell. Add the </a:t>
            </a:r>
            <a:r>
              <a:rPr lang="en-IN" b="1" dirty="0">
                <a:solidFill>
                  <a:srgbClr val="000000"/>
                </a:solidFill>
                <a:effectLst/>
                <a:latin typeface="Times New Roman" panose="02020603050405020304" pitchFamily="18" charset="0"/>
                <a:cs typeface="Times New Roman" panose="02020603050405020304" pitchFamily="18" charset="0"/>
              </a:rPr>
              <a:t>a</a:t>
            </a:r>
            <a:r>
              <a:rPr lang="en-IN" dirty="0">
                <a:solidFill>
                  <a:srgbClr val="000000"/>
                </a:solidFill>
                <a:effectLst/>
                <a:latin typeface="Times New Roman" panose="02020603050405020304" pitchFamily="18" charset="0"/>
                <a:cs typeface="Times New Roman" panose="02020603050405020304" pitchFamily="18" charset="0"/>
              </a:rPr>
              <a:t> option to view all processes with a terminal. To view the user associated with a process, include the </a:t>
            </a:r>
            <a:r>
              <a:rPr lang="en-IN" b="1" dirty="0">
                <a:solidFill>
                  <a:srgbClr val="000000"/>
                </a:solidFill>
                <a:effectLst/>
                <a:latin typeface="Times New Roman" panose="02020603050405020304" pitchFamily="18" charset="0"/>
                <a:cs typeface="Times New Roman" panose="02020603050405020304" pitchFamily="18" charset="0"/>
              </a:rPr>
              <a:t>u</a:t>
            </a:r>
            <a:r>
              <a:rPr lang="en-IN" dirty="0">
                <a:solidFill>
                  <a:srgbClr val="000000"/>
                </a:solidFill>
                <a:effectLst/>
                <a:latin typeface="Times New Roman" panose="02020603050405020304" pitchFamily="18" charset="0"/>
                <a:cs typeface="Times New Roman" panose="02020603050405020304" pitchFamily="18" charset="0"/>
              </a:rPr>
              <a:t> option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029680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CB567-CD08-0AE8-75EF-B94105F7AA14}"/>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F3F41998-68C4-AF4E-5D3B-DEFD1079CEB5}"/>
              </a:ext>
            </a:extLst>
          </p:cNvPr>
          <p:cNvSpPr txBox="1"/>
          <p:nvPr/>
        </p:nvSpPr>
        <p:spPr>
          <a:xfrm>
            <a:off x="7464362" y="2224672"/>
            <a:ext cx="184731" cy="369332"/>
          </a:xfrm>
          <a:prstGeom prst="rect">
            <a:avLst/>
          </a:prstGeom>
          <a:noFill/>
        </p:spPr>
        <p:txBody>
          <a:bodyPr wrap="none" rtlCol="0">
            <a:spAutoFit/>
          </a:bodyPr>
          <a:lstStyle/>
          <a:p>
            <a:endParaRPr lang="en-IN"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5A112D9-67AC-6B60-F179-8E443395DACA}"/>
              </a:ext>
            </a:extLst>
          </p:cNvPr>
          <p:cNvSpPr txBox="1"/>
          <p:nvPr/>
        </p:nvSpPr>
        <p:spPr>
          <a:xfrm>
            <a:off x="2601685" y="859971"/>
            <a:ext cx="7805057" cy="1246495"/>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                MANAGING LOCAL USERS AND GROUPS</a:t>
            </a:r>
            <a:r>
              <a:rPr lang="en-IN" sz="2500" b="1" dirty="0">
                <a:solidFill>
                  <a:srgbClr val="FFFFFF"/>
                </a:solidFill>
                <a:effectLst/>
                <a:latin typeface="Times New Roman" panose="02020603050405020304" pitchFamily="18" charset="0"/>
                <a:cs typeface="Times New Roman" panose="02020603050405020304" pitchFamily="18" charset="0"/>
              </a:rPr>
              <a:t>NG LOCAL USERS AND </a:t>
            </a:r>
            <a:endParaRPr lang="en-IN" dirty="0">
              <a:latin typeface="Times New Roman" panose="02020603050405020304" pitchFamily="18" charset="0"/>
              <a:cs typeface="Times New Roman" panose="02020603050405020304" pitchFamily="18" charset="0"/>
            </a:endParaRPr>
          </a:p>
          <a:p>
            <a:pPr>
              <a:buNone/>
            </a:pPr>
            <a:r>
              <a:rPr lang="en-IN" sz="2500" b="1" dirty="0">
                <a:solidFill>
                  <a:srgbClr val="FFFFFF"/>
                </a:solidFill>
                <a:effectLst/>
                <a:latin typeface="Times New Roman" panose="02020603050405020304" pitchFamily="18" charset="0"/>
                <a:cs typeface="Times New Roman" panose="02020603050405020304" pitchFamily="18" charset="0"/>
              </a:rPr>
              <a:t>GROUPS</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FA6C17BF-E647-B07F-CAF7-1B98F7154042}"/>
              </a:ext>
            </a:extLst>
          </p:cNvPr>
          <p:cNvSpPr txBox="1"/>
          <p:nvPr/>
        </p:nvSpPr>
        <p:spPr>
          <a:xfrm>
            <a:off x="457198" y="1409204"/>
            <a:ext cx="8033657" cy="415498"/>
          </a:xfrm>
          <a:prstGeom prst="rect">
            <a:avLst/>
          </a:prstGeom>
          <a:noFill/>
        </p:spPr>
        <p:txBody>
          <a:bodyPr wrap="square">
            <a:spAutoFit/>
          </a:bodyPr>
          <a:lstStyle/>
          <a:p>
            <a:pPr>
              <a:buNone/>
            </a:pPr>
            <a:r>
              <a:rPr lang="en-IN" sz="2100" b="1" dirty="0">
                <a:solidFill>
                  <a:srgbClr val="000000"/>
                </a:solidFill>
                <a:effectLst/>
                <a:latin typeface="Overpass-ExtraBold"/>
              </a:rPr>
              <a:t>DESCRIBING USER AND GROUP CONCEPTS </a:t>
            </a:r>
            <a:endParaRPr lang="en-IN" dirty="0"/>
          </a:p>
        </p:txBody>
      </p:sp>
      <p:pic>
        <p:nvPicPr>
          <p:cNvPr id="6" name="Picture 5">
            <a:extLst>
              <a:ext uri="{FF2B5EF4-FFF2-40B4-BE49-F238E27FC236}">
                <a16:creationId xmlns:a16="http://schemas.microsoft.com/office/drawing/2014/main" id="{4E03719D-D4DC-DAE5-F1B9-A1F2C49E5FEB}"/>
              </a:ext>
            </a:extLst>
          </p:cNvPr>
          <p:cNvPicPr>
            <a:picLocks noChangeAspect="1"/>
          </p:cNvPicPr>
          <p:nvPr/>
        </p:nvPicPr>
        <p:blipFill>
          <a:blip r:embed="rId3"/>
          <a:stretch>
            <a:fillRect/>
          </a:stretch>
        </p:blipFill>
        <p:spPr>
          <a:xfrm>
            <a:off x="1230086" y="2001604"/>
            <a:ext cx="7460333" cy="1205765"/>
          </a:xfrm>
          <a:prstGeom prst="rect">
            <a:avLst/>
          </a:prstGeom>
        </p:spPr>
      </p:pic>
      <p:sp>
        <p:nvSpPr>
          <p:cNvPr id="10" name="TextBox 9">
            <a:extLst>
              <a:ext uri="{FF2B5EF4-FFF2-40B4-BE49-F238E27FC236}">
                <a16:creationId xmlns:a16="http://schemas.microsoft.com/office/drawing/2014/main" id="{BF575001-1B52-5A34-E31D-ABA41C260D19}"/>
              </a:ext>
            </a:extLst>
          </p:cNvPr>
          <p:cNvSpPr txBox="1"/>
          <p:nvPr/>
        </p:nvSpPr>
        <p:spPr>
          <a:xfrm>
            <a:off x="1114607" y="3325575"/>
            <a:ext cx="7913914" cy="646331"/>
          </a:xfrm>
          <a:prstGeom prst="rect">
            <a:avLst/>
          </a:prstGeom>
          <a:noFill/>
        </p:spPr>
        <p:txBody>
          <a:bodyPr wrap="square">
            <a:spAutoFit/>
          </a:bodyPr>
          <a:lstStyle/>
          <a:p>
            <a:pPr>
              <a:buNone/>
            </a:pPr>
            <a:r>
              <a:rPr lang="en-IN" dirty="0">
                <a:solidFill>
                  <a:srgbClr val="000000"/>
                </a:solidFill>
                <a:effectLst/>
                <a:latin typeface="Times New Roman" panose="02020603050405020304" pitchFamily="18" charset="0"/>
                <a:cs typeface="Times New Roman" panose="02020603050405020304" pitchFamily="18" charset="0"/>
              </a:rPr>
              <a:t>To view the owner of a file use the </a:t>
            </a:r>
            <a:r>
              <a:rPr lang="en-IN" b="1" dirty="0">
                <a:solidFill>
                  <a:srgbClr val="000000"/>
                </a:solidFill>
                <a:effectLst/>
                <a:latin typeface="Times New Roman" panose="02020603050405020304" pitchFamily="18" charset="0"/>
                <a:cs typeface="Times New Roman" panose="02020603050405020304" pitchFamily="18" charset="0"/>
              </a:rPr>
              <a:t>ls -l</a:t>
            </a:r>
            <a:r>
              <a:rPr lang="en-IN" dirty="0">
                <a:solidFill>
                  <a:srgbClr val="000000"/>
                </a:solidFill>
                <a:effectLst/>
                <a:latin typeface="Times New Roman" panose="02020603050405020304" pitchFamily="18" charset="0"/>
                <a:cs typeface="Times New Roman" panose="02020603050405020304" pitchFamily="18" charset="0"/>
              </a:rPr>
              <a:t> command. To view the owner of a directory use the </a:t>
            </a:r>
            <a:r>
              <a:rPr lang="en-IN" b="1" dirty="0">
                <a:solidFill>
                  <a:srgbClr val="000000"/>
                </a:solidFill>
                <a:effectLst/>
                <a:latin typeface="Times New Roman" panose="02020603050405020304" pitchFamily="18" charset="0"/>
                <a:cs typeface="Times New Roman" panose="02020603050405020304" pitchFamily="18" charset="0"/>
              </a:rPr>
              <a:t>ls - </a:t>
            </a:r>
            <a:r>
              <a:rPr lang="en-IN" dirty="0" err="1">
                <a:latin typeface="Times New Roman" panose="02020603050405020304" pitchFamily="18" charset="0"/>
                <a:cs typeface="Times New Roman" panose="02020603050405020304" pitchFamily="18" charset="0"/>
              </a:rPr>
              <a:t>l</a:t>
            </a:r>
            <a:r>
              <a:rPr lang="en-IN" b="1" dirty="0" err="1">
                <a:solidFill>
                  <a:srgbClr val="000000"/>
                </a:solidFill>
                <a:effectLst/>
                <a:latin typeface="Times New Roman" panose="02020603050405020304" pitchFamily="18" charset="0"/>
                <a:cs typeface="Times New Roman" panose="02020603050405020304" pitchFamily="18" charset="0"/>
              </a:rPr>
              <a:t>d</a:t>
            </a:r>
            <a:r>
              <a:rPr lang="en-IN" dirty="0">
                <a:solidFill>
                  <a:srgbClr val="000000"/>
                </a:solidFill>
                <a:effectLst/>
                <a:latin typeface="Times New Roman" panose="02020603050405020304" pitchFamily="18" charset="0"/>
                <a:cs typeface="Times New Roman" panose="02020603050405020304" pitchFamily="18" charset="0"/>
              </a:rPr>
              <a:t> command</a:t>
            </a:r>
            <a:endParaRPr lang="en-IN"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AFB50470-5DA6-0854-350B-09F9A309B94D}"/>
              </a:ext>
            </a:extLst>
          </p:cNvPr>
          <p:cNvPicPr>
            <a:picLocks noChangeAspect="1"/>
          </p:cNvPicPr>
          <p:nvPr/>
        </p:nvPicPr>
        <p:blipFill>
          <a:blip r:embed="rId4"/>
          <a:stretch>
            <a:fillRect/>
          </a:stretch>
        </p:blipFill>
        <p:spPr>
          <a:xfrm>
            <a:off x="1114607" y="4090112"/>
            <a:ext cx="6534486" cy="1695537"/>
          </a:xfrm>
          <a:prstGeom prst="rect">
            <a:avLst/>
          </a:prstGeom>
        </p:spPr>
      </p:pic>
      <p:sp>
        <p:nvSpPr>
          <p:cNvPr id="15" name="TextBox 14">
            <a:extLst>
              <a:ext uri="{FF2B5EF4-FFF2-40B4-BE49-F238E27FC236}">
                <a16:creationId xmlns:a16="http://schemas.microsoft.com/office/drawing/2014/main" id="{D7ABA6D9-1920-320C-BC66-766A5561F87A}"/>
              </a:ext>
            </a:extLst>
          </p:cNvPr>
          <p:cNvSpPr txBox="1"/>
          <p:nvPr/>
        </p:nvSpPr>
        <p:spPr>
          <a:xfrm>
            <a:off x="892628" y="5954367"/>
            <a:ext cx="10700657" cy="646331"/>
          </a:xfrm>
          <a:prstGeom prst="rect">
            <a:avLst/>
          </a:prstGeom>
          <a:noFill/>
        </p:spPr>
        <p:txBody>
          <a:bodyPr wrap="square">
            <a:spAutoFit/>
          </a:bodyPr>
          <a:lstStyle/>
          <a:p>
            <a:pPr>
              <a:buNone/>
            </a:pPr>
            <a:r>
              <a:rPr lang="en-IN" dirty="0">
                <a:solidFill>
                  <a:srgbClr val="000000"/>
                </a:solidFill>
                <a:effectLst/>
                <a:latin typeface="Times New Roman" panose="02020603050405020304" pitchFamily="18" charset="0"/>
                <a:cs typeface="Times New Roman" panose="02020603050405020304" pitchFamily="18" charset="0"/>
              </a:rPr>
              <a:t>To view process information, use the </a:t>
            </a:r>
            <a:r>
              <a:rPr lang="en-IN" b="1" dirty="0" err="1">
                <a:solidFill>
                  <a:srgbClr val="000000"/>
                </a:solidFill>
                <a:effectLst/>
                <a:latin typeface="Times New Roman" panose="02020603050405020304" pitchFamily="18" charset="0"/>
                <a:cs typeface="Times New Roman" panose="02020603050405020304" pitchFamily="18" charset="0"/>
              </a:rPr>
              <a:t>ps</a:t>
            </a:r>
            <a:r>
              <a:rPr lang="en-IN" dirty="0">
                <a:solidFill>
                  <a:srgbClr val="000000"/>
                </a:solidFill>
                <a:effectLst/>
                <a:latin typeface="Times New Roman" panose="02020603050405020304" pitchFamily="18" charset="0"/>
                <a:cs typeface="Times New Roman" panose="02020603050405020304" pitchFamily="18" charset="0"/>
              </a:rPr>
              <a:t> command. The default is to show only processes in the current shell. Add the </a:t>
            </a:r>
            <a:r>
              <a:rPr lang="en-IN" b="1" dirty="0">
                <a:solidFill>
                  <a:srgbClr val="000000"/>
                </a:solidFill>
                <a:effectLst/>
                <a:latin typeface="Times New Roman" panose="02020603050405020304" pitchFamily="18" charset="0"/>
                <a:cs typeface="Times New Roman" panose="02020603050405020304" pitchFamily="18" charset="0"/>
              </a:rPr>
              <a:t>a</a:t>
            </a:r>
            <a:r>
              <a:rPr lang="en-IN" dirty="0">
                <a:solidFill>
                  <a:srgbClr val="000000"/>
                </a:solidFill>
                <a:effectLst/>
                <a:latin typeface="Times New Roman" panose="02020603050405020304" pitchFamily="18" charset="0"/>
                <a:cs typeface="Times New Roman" panose="02020603050405020304" pitchFamily="18" charset="0"/>
              </a:rPr>
              <a:t> option to view all processes with a terminal. To view the user associated with a process, include the </a:t>
            </a:r>
            <a:r>
              <a:rPr lang="en-IN" b="1" dirty="0">
                <a:solidFill>
                  <a:srgbClr val="000000"/>
                </a:solidFill>
                <a:effectLst/>
                <a:latin typeface="Times New Roman" panose="02020603050405020304" pitchFamily="18" charset="0"/>
                <a:cs typeface="Times New Roman" panose="02020603050405020304" pitchFamily="18" charset="0"/>
              </a:rPr>
              <a:t>u</a:t>
            </a:r>
            <a:r>
              <a:rPr lang="en-IN" dirty="0">
                <a:solidFill>
                  <a:srgbClr val="000000"/>
                </a:solidFill>
                <a:effectLst/>
                <a:latin typeface="Times New Roman" panose="02020603050405020304" pitchFamily="18" charset="0"/>
                <a:cs typeface="Times New Roman" panose="02020603050405020304" pitchFamily="18" charset="0"/>
              </a:rPr>
              <a:t> option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2426986"/>
      </p:ext>
    </p:extLst>
  </p:cSld>
  <p:clrMapOvr>
    <a:masterClrMapping/>
  </p:clrMapOvr>
</p:sld>
</file>

<file path=ppt/theme/theme1.xml><?xml version="1.0" encoding="utf-8"?>
<a:theme xmlns:a="http://schemas.openxmlformats.org/drawingml/2006/main" name="Office Theme">
  <a:themeElements>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5052</TotalTime>
  <Words>4291</Words>
  <Application>Microsoft Office PowerPoint</Application>
  <PresentationFormat>Widescreen</PresentationFormat>
  <Paragraphs>471</Paragraphs>
  <Slides>49</Slides>
  <Notes>13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49</vt:i4>
      </vt:variant>
    </vt:vector>
  </HeadingPairs>
  <TitlesOfParts>
    <vt:vector size="61" baseType="lpstr">
      <vt:lpstr>Aptos</vt:lpstr>
      <vt:lpstr>Aptos Display</vt:lpstr>
      <vt:lpstr>Arial</vt:lpstr>
      <vt:lpstr>Calibri</vt:lpstr>
      <vt:lpstr>LiberationMono-Bold</vt:lpstr>
      <vt:lpstr>Nunito</vt:lpstr>
      <vt:lpstr>Overpass-ExtraBold</vt:lpstr>
      <vt:lpstr>Overpass-Light</vt:lpstr>
      <vt:lpstr>Tahoma</vt:lpstr>
      <vt:lpstr>Times New Roman</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CSE211</dc:title>
  <dc:creator>lovi raj gupta</dc:creator>
  <cp:lastModifiedBy>akshansh rana</cp:lastModifiedBy>
  <cp:revision>176</cp:revision>
  <dcterms:created xsi:type="dcterms:W3CDTF">2024-12-19T08:47:00Z</dcterms:created>
  <dcterms:modified xsi:type="dcterms:W3CDTF">2026-08-03T02:24:27Z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27A8F0B95BE24B2BB776D34E0653D8E4_12</vt:lpwstr>
  </property>
  <property fmtid="{D5CDD505-2E9C-101B-9397-08002B2CF9AE}" pid="3" name="KSOProductBuildVer">
    <vt:lpwstr>1033-12.1.0.27458</vt:lpwstr>
  </property>
</Properties>
</file>