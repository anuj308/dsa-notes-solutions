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91" r:id="rId8"/>
    <p:sldId id="292" r:id="rId9"/>
    <p:sldId id="293" r:id="rId10"/>
    <p:sldId id="294" r:id="rId11"/>
    <p:sldId id="3991" r:id="rId12"/>
    <p:sldId id="264" r:id="rId13"/>
    <p:sldId id="271" r:id="rId14"/>
    <p:sldId id="262" r:id="rId15"/>
    <p:sldId id="274" r:id="rId16"/>
    <p:sldId id="275" r:id="rId17"/>
    <p:sldId id="296" r:id="rId18"/>
    <p:sldId id="4002" r:id="rId19"/>
    <p:sldId id="3994" r:id="rId20"/>
    <p:sldId id="4005" r:id="rId21"/>
    <p:sldId id="4003" r:id="rId22"/>
    <p:sldId id="4004" r:id="rId23"/>
    <p:sldId id="4001" r:id="rId2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85" d="100"/>
          <a:sy n="85" d="100"/>
        </p:scale>
        <p:origin x="562"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72605FA-4E9B-4D52-84D9-746D01475BDE}" type="datetimeFigureOut">
              <a:rPr lang="en-IN" smtClean="0"/>
              <a:t>28-07-2026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09DDF27-7C28-47B8-9724-BD522AFAB2E7}" type="slidenum">
              <a:rPr lang="en-IN" smtClean="0"/>
              <a:t>‹#›</a:t>
            </a:fld>
            <a:endParaRPr lang="en-IN"/>
          </a:p>
        </p:txBody>
      </p:sp>
    </p:spTree>
    <p:extLst>
      <p:ext uri="{BB962C8B-B14F-4D97-AF65-F5344CB8AC3E}">
        <p14:creationId xmlns:p14="http://schemas.microsoft.com/office/powerpoint/2010/main" val="51366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9DDF27-7C28-47B8-9724-BD522AFAB2E7}" type="slidenum">
              <a:rPr lang="en-IN" smtClean="0"/>
              <a:t>10</a:t>
            </a:fld>
            <a:endParaRPr lang="en-IN"/>
          </a:p>
        </p:txBody>
      </p:sp>
    </p:spTree>
    <p:extLst>
      <p:ext uri="{BB962C8B-B14F-4D97-AF65-F5344CB8AC3E}">
        <p14:creationId xmlns:p14="http://schemas.microsoft.com/office/powerpoint/2010/main" val="3650838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2183256" y="1993849"/>
            <a:ext cx="7825486" cy="1017269"/>
          </a:xfrm>
          <a:prstGeom prst="rect">
            <a:avLst/>
          </a:prstGeom>
        </p:spPr>
        <p:txBody>
          <a:bodyPr wrap="square" lIns="0" tIns="0" rIns="0" bIns="0">
            <a:spAutoFit/>
          </a:bodyPr>
          <a:lstStyle>
            <a:lvl1pPr>
              <a:defRPr sz="4000" b="1" i="0" u="sng">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754124" y="3717747"/>
            <a:ext cx="8683751" cy="1763395"/>
          </a:xfrm>
          <a:prstGeom prst="rect">
            <a:avLst/>
          </a:prstGeom>
        </p:spPr>
        <p:txBody>
          <a:bodyPr wrap="square" lIns="0" tIns="0" rIns="0" bIns="0">
            <a:spAutoFit/>
          </a:bodyPr>
          <a:lstStyle>
            <a:lvl1pPr>
              <a:defRPr sz="2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u="sng">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sp>
        <p:nvSpPr>
          <p:cNvPr id="17" name="bg object 17"/>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1" i="0" u="sng">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32829" y="1112265"/>
            <a:ext cx="3266440" cy="398907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u="sng">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778751"/>
            <a:ext cx="12192000" cy="79375"/>
          </a:xfrm>
          <a:custGeom>
            <a:avLst/>
            <a:gdLst/>
            <a:ahLst/>
            <a:cxnLst/>
            <a:rect l="l" t="t" r="r" b="b"/>
            <a:pathLst>
              <a:path w="12192000" h="79375">
                <a:moveTo>
                  <a:pt x="12192000" y="0"/>
                </a:moveTo>
                <a:lnTo>
                  <a:pt x="0" y="0"/>
                </a:lnTo>
                <a:lnTo>
                  <a:pt x="0" y="79248"/>
                </a:lnTo>
                <a:lnTo>
                  <a:pt x="12192000" y="79248"/>
                </a:lnTo>
                <a:lnTo>
                  <a:pt x="12192000" y="0"/>
                </a:lnTo>
                <a:close/>
              </a:path>
            </a:pathLst>
          </a:custGeom>
          <a:solidFill>
            <a:srgbClr val="EC771F"/>
          </a:solidFill>
        </p:spPr>
        <p:txBody>
          <a:bodyPr wrap="square" lIns="0" tIns="0" rIns="0" bIns="0" rtlCol="0"/>
          <a:lstStyle/>
          <a:p>
            <a:endParaRPr/>
          </a:p>
        </p:txBody>
      </p:sp>
      <p:sp>
        <p:nvSpPr>
          <p:cNvPr id="17" name="bg object 17"/>
          <p:cNvSpPr/>
          <p:nvPr/>
        </p:nvSpPr>
        <p:spPr>
          <a:xfrm>
            <a:off x="2078735" y="431291"/>
            <a:ext cx="8107680" cy="45720"/>
          </a:xfrm>
          <a:custGeom>
            <a:avLst/>
            <a:gdLst/>
            <a:ahLst/>
            <a:cxnLst/>
            <a:rect l="l" t="t" r="r" b="b"/>
            <a:pathLst>
              <a:path w="8107680" h="45720">
                <a:moveTo>
                  <a:pt x="8107679" y="0"/>
                </a:moveTo>
                <a:lnTo>
                  <a:pt x="0" y="0"/>
                </a:lnTo>
                <a:lnTo>
                  <a:pt x="0" y="45720"/>
                </a:lnTo>
                <a:lnTo>
                  <a:pt x="8107679" y="45720"/>
                </a:lnTo>
                <a:lnTo>
                  <a:pt x="8107679" y="0"/>
                </a:lnTo>
                <a:close/>
              </a:path>
            </a:pathLst>
          </a:custGeom>
          <a:solidFill>
            <a:srgbClr val="F47C35"/>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0355580" y="178307"/>
            <a:ext cx="1546859" cy="419100"/>
          </a:xfrm>
          <a:prstGeom prst="rect">
            <a:avLst/>
          </a:prstGeom>
        </p:spPr>
      </p:pic>
      <p:pic>
        <p:nvPicPr>
          <p:cNvPr id="19" name="bg object 19"/>
          <p:cNvPicPr/>
          <p:nvPr/>
        </p:nvPicPr>
        <p:blipFill>
          <a:blip r:embed="rId3" cstate="print"/>
          <a:stretch>
            <a:fillRect/>
          </a:stretch>
        </p:blipFill>
        <p:spPr>
          <a:xfrm>
            <a:off x="327659" y="178307"/>
            <a:ext cx="1581912" cy="50596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9"/>
          </a:xfrm>
          <a:prstGeom prst="rect">
            <a:avLst/>
          </a:prstGeom>
        </p:spPr>
      </p:pic>
      <p:sp>
        <p:nvSpPr>
          <p:cNvPr id="2" name="Holder 2"/>
          <p:cNvSpPr>
            <a:spLocks noGrp="1"/>
          </p:cNvSpPr>
          <p:nvPr>
            <p:ph type="title"/>
          </p:nvPr>
        </p:nvSpPr>
        <p:spPr>
          <a:xfrm>
            <a:off x="916939" y="406653"/>
            <a:ext cx="10130155" cy="1088008"/>
          </a:xfrm>
          <a:prstGeom prst="rect">
            <a:avLst/>
          </a:prstGeom>
        </p:spPr>
        <p:txBody>
          <a:bodyPr wrap="square" lIns="0" tIns="0" rIns="0" bIns="0">
            <a:spAutoFit/>
          </a:bodyPr>
          <a:lstStyle>
            <a:lvl1pPr>
              <a:defRPr sz="4000" b="1" i="0" u="sng">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6939" y="1541912"/>
            <a:ext cx="10108565" cy="2585720"/>
          </a:xfrm>
          <a:prstGeom prst="rect">
            <a:avLst/>
          </a:prstGeom>
        </p:spPr>
        <p:txBody>
          <a:bodyPr wrap="square" lIns="0" tIns="0" rIns="0" bIns="0">
            <a:spAutoFit/>
          </a:bodyPr>
          <a:lstStyle>
            <a:lvl1pPr>
              <a:defRPr sz="2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6200"/>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sp>
          <p:nvSpPr>
            <p:cNvPr id="4" name="object 4"/>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grpSp>
      <p:sp>
        <p:nvSpPr>
          <p:cNvPr id="5" name="object 5"/>
          <p:cNvSpPr txBox="1"/>
          <p:nvPr/>
        </p:nvSpPr>
        <p:spPr>
          <a:xfrm>
            <a:off x="1905000" y="938148"/>
            <a:ext cx="7848600" cy="4360424"/>
          </a:xfrm>
          <a:prstGeom prst="rect">
            <a:avLst/>
          </a:prstGeom>
        </p:spPr>
        <p:txBody>
          <a:bodyPr vert="horz" wrap="square" lIns="0" tIns="12700" rIns="0" bIns="0" rtlCol="0">
            <a:spAutoFit/>
          </a:bodyPr>
          <a:lstStyle/>
          <a:p>
            <a:pPr marL="12065" marR="5080" algn="ctr">
              <a:lnSpc>
                <a:spcPct val="117300"/>
              </a:lnSpc>
              <a:spcBef>
                <a:spcPts val="100"/>
              </a:spcBef>
            </a:pPr>
            <a:r>
              <a:rPr sz="2800" b="1" i="1" dirty="0">
                <a:solidFill>
                  <a:srgbClr val="C00000"/>
                </a:solidFill>
                <a:latin typeface="Times New Roman"/>
                <a:cs typeface="Times New Roman"/>
              </a:rPr>
              <a:t>INT253</a:t>
            </a:r>
            <a:r>
              <a:rPr sz="2800" b="1" i="1" spc="-10" dirty="0">
                <a:solidFill>
                  <a:srgbClr val="C00000"/>
                </a:solidFill>
                <a:latin typeface="Times New Roman"/>
                <a:cs typeface="Times New Roman"/>
              </a:rPr>
              <a:t>: WEB DEVELOPMENT IN PYTHON USING DJANGO</a:t>
            </a:r>
            <a:endParaRPr sz="4800" dirty="0">
              <a:latin typeface="Times New Roman"/>
              <a:cs typeface="Times New Roman"/>
            </a:endParaRPr>
          </a:p>
          <a:p>
            <a:pPr algn="ctr">
              <a:lnSpc>
                <a:spcPct val="100000"/>
              </a:lnSpc>
              <a:spcBef>
                <a:spcPts val="1010"/>
              </a:spcBef>
            </a:pPr>
            <a:r>
              <a:rPr sz="4800" b="1" i="1" dirty="0">
                <a:solidFill>
                  <a:srgbClr val="C00000"/>
                </a:solidFill>
                <a:latin typeface="Times New Roman"/>
                <a:cs typeface="Times New Roman"/>
              </a:rPr>
              <a:t>L:2</a:t>
            </a:r>
            <a:r>
              <a:rPr sz="4800" b="1" i="1" spc="-70" dirty="0">
                <a:solidFill>
                  <a:srgbClr val="C00000"/>
                </a:solidFill>
                <a:latin typeface="Times New Roman"/>
                <a:cs typeface="Times New Roman"/>
              </a:rPr>
              <a:t> </a:t>
            </a:r>
            <a:r>
              <a:rPr sz="4800" b="1" i="1" dirty="0">
                <a:solidFill>
                  <a:srgbClr val="C00000"/>
                </a:solidFill>
                <a:latin typeface="Times New Roman"/>
                <a:cs typeface="Times New Roman"/>
              </a:rPr>
              <a:t>T:0</a:t>
            </a:r>
            <a:r>
              <a:rPr sz="4800" b="1" i="1" spc="-70" dirty="0">
                <a:solidFill>
                  <a:srgbClr val="C00000"/>
                </a:solidFill>
                <a:latin typeface="Times New Roman"/>
                <a:cs typeface="Times New Roman"/>
              </a:rPr>
              <a:t> </a:t>
            </a:r>
            <a:r>
              <a:rPr sz="4800" b="1" i="1" spc="-25" dirty="0">
                <a:solidFill>
                  <a:srgbClr val="C00000"/>
                </a:solidFill>
                <a:latin typeface="Times New Roman"/>
                <a:cs typeface="Times New Roman"/>
              </a:rPr>
              <a:t>P:</a:t>
            </a:r>
            <a:r>
              <a:rPr lang="en-US" sz="4800" b="1" i="1" spc="-25" dirty="0">
                <a:solidFill>
                  <a:srgbClr val="C00000"/>
                </a:solidFill>
                <a:latin typeface="Times New Roman"/>
                <a:cs typeface="Times New Roman"/>
              </a:rPr>
              <a:t>2</a:t>
            </a:r>
            <a:endParaRPr sz="4800" dirty="0">
              <a:latin typeface="Times New Roman"/>
              <a:cs typeface="Times New Roman"/>
            </a:endParaRPr>
          </a:p>
          <a:p>
            <a:pPr algn="ctr">
              <a:lnSpc>
                <a:spcPct val="100000"/>
              </a:lnSpc>
              <a:spcBef>
                <a:spcPts val="994"/>
              </a:spcBef>
            </a:pPr>
            <a:r>
              <a:rPr sz="4800" b="1" i="1" spc="-10" dirty="0">
                <a:solidFill>
                  <a:srgbClr val="C00000"/>
                </a:solidFill>
                <a:latin typeface="Times New Roman"/>
                <a:cs typeface="Times New Roman"/>
              </a:rPr>
              <a:t>Credit</a:t>
            </a:r>
            <a:r>
              <a:rPr lang="en-US" sz="4800" b="1" i="1" spc="-10" dirty="0">
                <a:solidFill>
                  <a:srgbClr val="C00000"/>
                </a:solidFill>
                <a:latin typeface="Times New Roman"/>
                <a:cs typeface="Times New Roman"/>
              </a:rPr>
              <a:t>s</a:t>
            </a:r>
            <a:r>
              <a:rPr sz="4800" b="1" i="1" spc="-10" dirty="0">
                <a:solidFill>
                  <a:srgbClr val="C00000"/>
                </a:solidFill>
                <a:latin typeface="Times New Roman"/>
                <a:cs typeface="Times New Roman"/>
              </a:rPr>
              <a:t>:</a:t>
            </a:r>
            <a:r>
              <a:rPr lang="en-US" sz="4800" b="1" i="1" spc="-10" dirty="0">
                <a:solidFill>
                  <a:srgbClr val="C00000"/>
                </a:solidFill>
                <a:latin typeface="Times New Roman"/>
                <a:cs typeface="Times New Roman"/>
              </a:rPr>
              <a:t>3</a:t>
            </a:r>
            <a:r>
              <a:rPr lang="en-IN" sz="4800" b="1" i="1" spc="-10" dirty="0">
                <a:solidFill>
                  <a:srgbClr val="C00000"/>
                </a:solidFill>
                <a:latin typeface="Times New Roman"/>
                <a:cs typeface="Times New Roman"/>
              </a:rPr>
              <a:t> </a:t>
            </a:r>
            <a:br>
              <a:rPr lang="en-IN" sz="4800" b="1" i="1" spc="-10" dirty="0">
                <a:solidFill>
                  <a:srgbClr val="C00000"/>
                </a:solidFill>
                <a:latin typeface="Times New Roman"/>
                <a:cs typeface="Times New Roman"/>
              </a:rPr>
            </a:br>
            <a:endParaRPr lang="en-US" sz="4800" b="1" i="1" spc="-10" dirty="0">
              <a:solidFill>
                <a:srgbClr val="C00000"/>
              </a:solidFill>
              <a:latin typeface="Times New Roman"/>
              <a:cs typeface="Times New Roman"/>
            </a:endParaRPr>
          </a:p>
          <a:p>
            <a:pPr algn="ctr">
              <a:lnSpc>
                <a:spcPct val="100000"/>
              </a:lnSpc>
              <a:spcBef>
                <a:spcPts val="994"/>
              </a:spcBef>
            </a:pPr>
            <a:endParaRPr sz="4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50241" rIns="0" bIns="0" rtlCol="0">
            <a:spAutoFit/>
          </a:bodyPr>
          <a:lstStyle/>
          <a:p>
            <a:pPr marL="1155700">
              <a:lnSpc>
                <a:spcPct val="100000"/>
              </a:lnSpc>
              <a:spcBef>
                <a:spcPts val="100"/>
              </a:spcBef>
            </a:pPr>
            <a:r>
              <a:rPr sz="3600" u="none" dirty="0">
                <a:solidFill>
                  <a:srgbClr val="C00000"/>
                </a:solidFill>
              </a:rPr>
              <a:t>Course</a:t>
            </a:r>
            <a:r>
              <a:rPr sz="3600" u="none" spc="-110" dirty="0">
                <a:solidFill>
                  <a:srgbClr val="C00000"/>
                </a:solidFill>
              </a:rPr>
              <a:t> </a:t>
            </a:r>
            <a:r>
              <a:rPr sz="3600" u="none" spc="-10" dirty="0">
                <a:solidFill>
                  <a:srgbClr val="C00000"/>
                </a:solidFill>
              </a:rPr>
              <a:t>Outcomes</a:t>
            </a:r>
            <a:endParaRPr sz="3600"/>
          </a:p>
        </p:txBody>
      </p:sp>
      <p:grpSp>
        <p:nvGrpSpPr>
          <p:cNvPr id="3" name="object 3"/>
          <p:cNvGrpSpPr/>
          <p:nvPr/>
        </p:nvGrpSpPr>
        <p:grpSpPr>
          <a:xfrm>
            <a:off x="2116835" y="1249680"/>
            <a:ext cx="7094855" cy="61594"/>
            <a:chOff x="2116835" y="1249680"/>
            <a:chExt cx="7094855" cy="61594"/>
          </a:xfrm>
        </p:grpSpPr>
        <p:pic>
          <p:nvPicPr>
            <p:cNvPr id="4" name="object 4"/>
            <p:cNvPicPr/>
            <p:nvPr/>
          </p:nvPicPr>
          <p:blipFill>
            <a:blip r:embed="rId2" cstate="print"/>
            <a:stretch>
              <a:fillRect/>
            </a:stretch>
          </p:blipFill>
          <p:spPr>
            <a:xfrm>
              <a:off x="2133599" y="1270974"/>
              <a:ext cx="7076694" cy="40300"/>
            </a:xfrm>
            <a:prstGeom prst="rect">
              <a:avLst/>
            </a:prstGeom>
          </p:spPr>
        </p:pic>
        <p:sp>
          <p:nvSpPr>
            <p:cNvPr id="5" name="object 5"/>
            <p:cNvSpPr/>
            <p:nvPr/>
          </p:nvSpPr>
          <p:spPr>
            <a:xfrm>
              <a:off x="2135885" y="1268730"/>
              <a:ext cx="7056755" cy="1905"/>
            </a:xfrm>
            <a:custGeom>
              <a:avLst/>
              <a:gdLst/>
              <a:ahLst/>
              <a:cxnLst/>
              <a:rect l="l" t="t" r="r" b="b"/>
              <a:pathLst>
                <a:path w="7056755" h="1905">
                  <a:moveTo>
                    <a:pt x="0" y="0"/>
                  </a:moveTo>
                  <a:lnTo>
                    <a:pt x="7056373" y="1524"/>
                  </a:lnTo>
                </a:path>
              </a:pathLst>
            </a:custGeom>
            <a:ln w="38100">
              <a:solidFill>
                <a:srgbClr val="F79546"/>
              </a:solidFill>
            </a:ln>
          </p:spPr>
          <p:txBody>
            <a:bodyPr wrap="square" lIns="0" tIns="0" rIns="0" bIns="0" rtlCol="0"/>
            <a:lstStyle/>
            <a:p>
              <a:endParaRPr/>
            </a:p>
          </p:txBody>
        </p:sp>
      </p:grpSp>
      <p:sp>
        <p:nvSpPr>
          <p:cNvPr id="6" name="object 6"/>
          <p:cNvSpPr txBox="1"/>
          <p:nvPr/>
        </p:nvSpPr>
        <p:spPr>
          <a:xfrm>
            <a:off x="1066800" y="1595373"/>
            <a:ext cx="10972800" cy="3770263"/>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Times New Roman" panose="02020603050405020304" pitchFamily="18" charset="0"/>
                <a:cs typeface="Times New Roman" panose="02020603050405020304" pitchFamily="18" charset="0"/>
              </a:rPr>
              <a:t>CO1 :: understand Python/Django installation, editor setup, project creation, grasp Django commands, and excel in app structuring</a:t>
            </a:r>
          </a:p>
          <a:p>
            <a:pPr marL="12700">
              <a:lnSpc>
                <a:spcPct val="100000"/>
              </a:lnSpc>
              <a:spcBef>
                <a:spcPts val="100"/>
              </a:spcBef>
            </a:pPr>
            <a:r>
              <a:rPr lang="en-US" sz="2400" dirty="0">
                <a:latin typeface="Times New Roman" panose="02020603050405020304" pitchFamily="18" charset="0"/>
                <a:cs typeface="Times New Roman" panose="02020603050405020304" pitchFamily="18" charset="0"/>
              </a:rPr>
              <a:t>CO2 :: experiment views, map URLs for content display, handle HTTP methods, and manage errors for enhanced functionality</a:t>
            </a:r>
          </a:p>
          <a:p>
            <a:pPr marL="12700">
              <a:lnSpc>
                <a:spcPct val="100000"/>
              </a:lnSpc>
              <a:spcBef>
                <a:spcPts val="100"/>
              </a:spcBef>
            </a:pPr>
            <a:r>
              <a:rPr lang="en-US" sz="2400" dirty="0">
                <a:latin typeface="Times New Roman" panose="02020603050405020304" pitchFamily="18" charset="0"/>
                <a:cs typeface="Times New Roman" panose="02020603050405020304" pitchFamily="18" charset="0"/>
              </a:rPr>
              <a:t>CO3 :: apply Django templates for creation, variable handling, loops, conditions, inheritance, debugging, and app testing</a:t>
            </a:r>
          </a:p>
          <a:p>
            <a:pPr marL="12700">
              <a:lnSpc>
                <a:spcPct val="100000"/>
              </a:lnSpc>
              <a:spcBef>
                <a:spcPts val="100"/>
              </a:spcBef>
            </a:pPr>
            <a:r>
              <a:rPr lang="en-US" sz="2400" dirty="0">
                <a:latin typeface="Times New Roman" panose="02020603050405020304" pitchFamily="18" charset="0"/>
                <a:cs typeface="Times New Roman" panose="02020603050405020304" pitchFamily="18" charset="0"/>
              </a:rPr>
              <a:t>CO4 :: apply Django forms for handling GET, POST, HTTP, implementing CSRF security, and validating data</a:t>
            </a:r>
          </a:p>
          <a:p>
            <a:pPr marL="12700">
              <a:lnSpc>
                <a:spcPct val="100000"/>
              </a:lnSpc>
              <a:spcBef>
                <a:spcPts val="100"/>
              </a:spcBef>
            </a:pPr>
            <a:r>
              <a:rPr lang="en-US" sz="2400" dirty="0">
                <a:latin typeface="Times New Roman" panose="02020603050405020304" pitchFamily="18" charset="0"/>
                <a:cs typeface="Times New Roman" panose="02020603050405020304" pitchFamily="18" charset="0"/>
              </a:rPr>
              <a:t>CO5 :: apply Django for modeling, migrations, ORM, Admin, user management, and database setup</a:t>
            </a:r>
          </a:p>
          <a:p>
            <a:pPr marL="12700">
              <a:lnSpc>
                <a:spcPct val="100000"/>
              </a:lnSpc>
              <a:spcBef>
                <a:spcPts val="100"/>
              </a:spcBef>
            </a:pPr>
            <a:r>
              <a:rPr lang="en-US" sz="2400" dirty="0">
                <a:latin typeface="Times New Roman" panose="02020603050405020304" pitchFamily="18" charset="0"/>
                <a:cs typeface="Times New Roman" panose="02020603050405020304" pitchFamily="18" charset="0"/>
              </a:rPr>
              <a:t>CO6 :: apply techniques for cookies, sessions, user management, login/logout URLs, and view-based login within the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p:cNvSpPr txBox="1"/>
          <p:nvPr/>
        </p:nvSpPr>
        <p:spPr>
          <a:xfrm>
            <a:off x="2118741" y="3503632"/>
            <a:ext cx="8072755" cy="2787650"/>
          </a:xfrm>
          <a:prstGeom prst="rect">
            <a:avLst/>
          </a:prstGeom>
        </p:spPr>
        <p:txBody>
          <a:bodyPr vert="horz" wrap="square" lIns="0" tIns="11430" rIns="0" bIns="0" rtlCol="0">
            <a:spAutoFit/>
          </a:bodyPr>
          <a:lstStyle/>
          <a:p>
            <a:pPr marL="12700" marR="5080" algn="just">
              <a:lnSpc>
                <a:spcPct val="151100"/>
              </a:lnSpc>
              <a:spcBef>
                <a:spcPts val="90"/>
              </a:spcBef>
            </a:pPr>
            <a:r>
              <a:rPr sz="2000" b="1" dirty="0">
                <a:latin typeface="Times New Roman"/>
                <a:cs typeface="Times New Roman"/>
              </a:rPr>
              <a:t>PO1:</a:t>
            </a:r>
            <a:r>
              <a:rPr sz="2000" b="1" spc="220" dirty="0">
                <a:latin typeface="Times New Roman"/>
                <a:cs typeface="Times New Roman"/>
              </a:rPr>
              <a:t>  </a:t>
            </a:r>
            <a:r>
              <a:rPr sz="2000" b="1" dirty="0">
                <a:latin typeface="Times New Roman"/>
                <a:cs typeface="Times New Roman"/>
              </a:rPr>
              <a:t>Engineering</a:t>
            </a:r>
            <a:r>
              <a:rPr sz="2000" b="1" spc="220" dirty="0">
                <a:latin typeface="Times New Roman"/>
                <a:cs typeface="Times New Roman"/>
              </a:rPr>
              <a:t>  </a:t>
            </a:r>
            <a:r>
              <a:rPr sz="2000" b="1" dirty="0">
                <a:latin typeface="Times New Roman"/>
                <a:cs typeface="Times New Roman"/>
              </a:rPr>
              <a:t>knowledge:</a:t>
            </a:r>
            <a:r>
              <a:rPr sz="2000" b="1" spc="220" dirty="0">
                <a:latin typeface="Times New Roman"/>
                <a:cs typeface="Times New Roman"/>
              </a:rPr>
              <a:t>  </a:t>
            </a:r>
            <a:r>
              <a:rPr sz="2000" dirty="0">
                <a:latin typeface="Times New Roman"/>
                <a:cs typeface="Times New Roman"/>
              </a:rPr>
              <a:t>Apply</a:t>
            </a:r>
            <a:r>
              <a:rPr sz="2000" spc="215"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dirty="0">
                <a:latin typeface="Times New Roman"/>
                <a:cs typeface="Times New Roman"/>
              </a:rPr>
              <a:t>knowledge</a:t>
            </a:r>
            <a:r>
              <a:rPr sz="2000" spc="210" dirty="0">
                <a:latin typeface="Times New Roman"/>
                <a:cs typeface="Times New Roman"/>
              </a:rPr>
              <a:t>  </a:t>
            </a:r>
            <a:r>
              <a:rPr sz="2000" dirty="0">
                <a:latin typeface="Times New Roman"/>
                <a:cs typeface="Times New Roman"/>
              </a:rPr>
              <a:t>of</a:t>
            </a:r>
            <a:r>
              <a:rPr sz="2000" spc="220" dirty="0">
                <a:latin typeface="Times New Roman"/>
                <a:cs typeface="Times New Roman"/>
              </a:rPr>
              <a:t>  </a:t>
            </a:r>
            <a:r>
              <a:rPr sz="2000" spc="-10" dirty="0">
                <a:latin typeface="Times New Roman"/>
                <a:cs typeface="Times New Roman"/>
              </a:rPr>
              <a:t>mathematics, </a:t>
            </a:r>
            <a:r>
              <a:rPr sz="2000" dirty="0">
                <a:latin typeface="Times New Roman"/>
                <a:cs typeface="Times New Roman"/>
              </a:rPr>
              <a:t>science,</a:t>
            </a:r>
            <a:r>
              <a:rPr sz="2000" spc="355" dirty="0">
                <a:latin typeface="Times New Roman"/>
                <a:cs typeface="Times New Roman"/>
              </a:rPr>
              <a:t> </a:t>
            </a:r>
            <a:r>
              <a:rPr sz="2000" dirty="0">
                <a:latin typeface="Times New Roman"/>
                <a:cs typeface="Times New Roman"/>
              </a:rPr>
              <a:t>engineering</a:t>
            </a:r>
            <a:r>
              <a:rPr sz="2000" spc="345" dirty="0">
                <a:latin typeface="Times New Roman"/>
                <a:cs typeface="Times New Roman"/>
              </a:rPr>
              <a:t> </a:t>
            </a:r>
            <a:r>
              <a:rPr sz="2000" dirty="0">
                <a:latin typeface="Times New Roman"/>
                <a:cs typeface="Times New Roman"/>
              </a:rPr>
              <a:t>fundamentals,</a:t>
            </a:r>
            <a:r>
              <a:rPr sz="2000" spc="355" dirty="0">
                <a:latin typeface="Times New Roman"/>
                <a:cs typeface="Times New Roman"/>
              </a:rPr>
              <a:t> </a:t>
            </a:r>
            <a:r>
              <a:rPr sz="2000" dirty="0">
                <a:latin typeface="Times New Roman"/>
                <a:cs typeface="Times New Roman"/>
              </a:rPr>
              <a:t>and</a:t>
            </a:r>
            <a:r>
              <a:rPr sz="2000" spc="365" dirty="0">
                <a:latin typeface="Times New Roman"/>
                <a:cs typeface="Times New Roman"/>
              </a:rPr>
              <a:t> </a:t>
            </a:r>
            <a:r>
              <a:rPr sz="2000" dirty="0">
                <a:latin typeface="Times New Roman"/>
                <a:cs typeface="Times New Roman"/>
              </a:rPr>
              <a:t>an</a:t>
            </a:r>
            <a:r>
              <a:rPr sz="2000" spc="350" dirty="0">
                <a:latin typeface="Times New Roman"/>
                <a:cs typeface="Times New Roman"/>
              </a:rPr>
              <a:t> </a:t>
            </a:r>
            <a:r>
              <a:rPr sz="2000" dirty="0">
                <a:latin typeface="Times New Roman"/>
                <a:cs typeface="Times New Roman"/>
              </a:rPr>
              <a:t>engineering</a:t>
            </a:r>
            <a:r>
              <a:rPr sz="2000" spc="345" dirty="0">
                <a:latin typeface="Times New Roman"/>
                <a:cs typeface="Times New Roman"/>
              </a:rPr>
              <a:t> </a:t>
            </a:r>
            <a:r>
              <a:rPr sz="2000" dirty="0">
                <a:latin typeface="Times New Roman"/>
                <a:cs typeface="Times New Roman"/>
              </a:rPr>
              <a:t>specialization</a:t>
            </a:r>
            <a:r>
              <a:rPr sz="2000" spc="355" dirty="0">
                <a:latin typeface="Times New Roman"/>
                <a:cs typeface="Times New Roman"/>
              </a:rPr>
              <a:t> </a:t>
            </a:r>
            <a:r>
              <a:rPr sz="2000" dirty="0">
                <a:latin typeface="Times New Roman"/>
                <a:cs typeface="Times New Roman"/>
              </a:rPr>
              <a:t>to</a:t>
            </a:r>
            <a:r>
              <a:rPr sz="2000" spc="360" dirty="0">
                <a:latin typeface="Times New Roman"/>
                <a:cs typeface="Times New Roman"/>
              </a:rPr>
              <a:t> </a:t>
            </a:r>
            <a:r>
              <a:rPr sz="2000" spc="-25" dirty="0">
                <a:latin typeface="Times New Roman"/>
                <a:cs typeface="Times New Roman"/>
              </a:rPr>
              <a:t>the </a:t>
            </a:r>
            <a:r>
              <a:rPr sz="2000" dirty="0">
                <a:latin typeface="Times New Roman"/>
                <a:cs typeface="Times New Roman"/>
              </a:rPr>
              <a:t>solution</a:t>
            </a:r>
            <a:r>
              <a:rPr sz="2000" spc="-4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complex</a:t>
            </a:r>
            <a:r>
              <a:rPr sz="2000" spc="-10" dirty="0">
                <a:latin typeface="Times New Roman"/>
                <a:cs typeface="Times New Roman"/>
              </a:rPr>
              <a:t> </a:t>
            </a:r>
            <a:r>
              <a:rPr sz="2000" dirty="0">
                <a:latin typeface="Times New Roman"/>
                <a:cs typeface="Times New Roman"/>
              </a:rPr>
              <a:t>engineering</a:t>
            </a:r>
            <a:r>
              <a:rPr sz="2000" spc="-50" dirty="0">
                <a:latin typeface="Times New Roman"/>
                <a:cs typeface="Times New Roman"/>
              </a:rPr>
              <a:t> </a:t>
            </a:r>
            <a:r>
              <a:rPr sz="2000" spc="-10" dirty="0">
                <a:latin typeface="Times New Roman"/>
                <a:cs typeface="Times New Roman"/>
              </a:rPr>
              <a:t>problems.</a:t>
            </a:r>
            <a:endParaRPr sz="2000">
              <a:latin typeface="Times New Roman"/>
              <a:cs typeface="Times New Roman"/>
            </a:endParaRPr>
          </a:p>
          <a:p>
            <a:pPr marL="12700" marR="5080" algn="just">
              <a:lnSpc>
                <a:spcPct val="151000"/>
              </a:lnSpc>
            </a:pPr>
            <a:r>
              <a:rPr sz="2000" b="1" dirty="0">
                <a:latin typeface="Times New Roman"/>
                <a:cs typeface="Times New Roman"/>
              </a:rPr>
              <a:t>PO2::</a:t>
            </a:r>
            <a:r>
              <a:rPr sz="2000" b="1" spc="105" dirty="0">
                <a:latin typeface="Times New Roman"/>
                <a:cs typeface="Times New Roman"/>
              </a:rPr>
              <a:t> </a:t>
            </a:r>
            <a:r>
              <a:rPr sz="2000" b="1" dirty="0">
                <a:latin typeface="Times New Roman"/>
                <a:cs typeface="Times New Roman"/>
              </a:rPr>
              <a:t>Problem</a:t>
            </a:r>
            <a:r>
              <a:rPr sz="2000" b="1" spc="105" dirty="0">
                <a:latin typeface="Times New Roman"/>
                <a:cs typeface="Times New Roman"/>
              </a:rPr>
              <a:t> </a:t>
            </a:r>
            <a:r>
              <a:rPr sz="2000" b="1" dirty="0">
                <a:latin typeface="Times New Roman"/>
                <a:cs typeface="Times New Roman"/>
              </a:rPr>
              <a:t>analysis:</a:t>
            </a:r>
            <a:r>
              <a:rPr sz="2000" b="1" spc="95" dirty="0">
                <a:latin typeface="Times New Roman"/>
                <a:cs typeface="Times New Roman"/>
              </a:rPr>
              <a:t> </a:t>
            </a:r>
            <a:r>
              <a:rPr sz="2000" dirty="0">
                <a:latin typeface="Times New Roman"/>
                <a:cs typeface="Times New Roman"/>
              </a:rPr>
              <a:t>Identify,</a:t>
            </a:r>
            <a:r>
              <a:rPr sz="2000" spc="105" dirty="0">
                <a:latin typeface="Times New Roman"/>
                <a:cs typeface="Times New Roman"/>
              </a:rPr>
              <a:t> </a:t>
            </a:r>
            <a:r>
              <a:rPr sz="2000" dirty="0">
                <a:latin typeface="Times New Roman"/>
                <a:cs typeface="Times New Roman"/>
              </a:rPr>
              <a:t>formulate,</a:t>
            </a:r>
            <a:r>
              <a:rPr sz="2000" spc="110" dirty="0">
                <a:latin typeface="Times New Roman"/>
                <a:cs typeface="Times New Roman"/>
              </a:rPr>
              <a:t> </a:t>
            </a:r>
            <a:r>
              <a:rPr sz="2000" dirty="0">
                <a:latin typeface="Times New Roman"/>
                <a:cs typeface="Times New Roman"/>
              </a:rPr>
              <a:t>research</a:t>
            </a:r>
            <a:r>
              <a:rPr sz="2000" spc="110" dirty="0">
                <a:latin typeface="Times New Roman"/>
                <a:cs typeface="Times New Roman"/>
              </a:rPr>
              <a:t> </a:t>
            </a:r>
            <a:r>
              <a:rPr sz="2000" dirty="0">
                <a:latin typeface="Times New Roman"/>
                <a:cs typeface="Times New Roman"/>
              </a:rPr>
              <a:t>literature,</a:t>
            </a:r>
            <a:r>
              <a:rPr sz="2000" spc="105" dirty="0">
                <a:latin typeface="Times New Roman"/>
                <a:cs typeface="Times New Roman"/>
              </a:rPr>
              <a:t> </a:t>
            </a:r>
            <a:r>
              <a:rPr sz="2000" dirty="0">
                <a:latin typeface="Times New Roman"/>
                <a:cs typeface="Times New Roman"/>
              </a:rPr>
              <a:t>and</a:t>
            </a:r>
            <a:r>
              <a:rPr sz="2000" spc="105" dirty="0">
                <a:latin typeface="Times New Roman"/>
                <a:cs typeface="Times New Roman"/>
              </a:rPr>
              <a:t> </a:t>
            </a:r>
            <a:r>
              <a:rPr sz="2000" spc="-10" dirty="0">
                <a:latin typeface="Times New Roman"/>
                <a:cs typeface="Times New Roman"/>
              </a:rPr>
              <a:t>analyze </a:t>
            </a:r>
            <a:r>
              <a:rPr sz="2000" dirty="0">
                <a:latin typeface="Times New Roman"/>
                <a:cs typeface="Times New Roman"/>
              </a:rPr>
              <a:t>complex</a:t>
            </a:r>
            <a:r>
              <a:rPr sz="2000" spc="229" dirty="0">
                <a:latin typeface="Times New Roman"/>
                <a:cs typeface="Times New Roman"/>
              </a:rPr>
              <a:t> </a:t>
            </a:r>
            <a:r>
              <a:rPr sz="2000" dirty="0">
                <a:latin typeface="Times New Roman"/>
                <a:cs typeface="Times New Roman"/>
              </a:rPr>
              <a:t>engineering</a:t>
            </a:r>
            <a:r>
              <a:rPr sz="2000" spc="229" dirty="0">
                <a:latin typeface="Times New Roman"/>
                <a:cs typeface="Times New Roman"/>
              </a:rPr>
              <a:t> </a:t>
            </a:r>
            <a:r>
              <a:rPr sz="2000" dirty="0">
                <a:latin typeface="Times New Roman"/>
                <a:cs typeface="Times New Roman"/>
              </a:rPr>
              <a:t>problems</a:t>
            </a:r>
            <a:r>
              <a:rPr sz="2000" spc="225" dirty="0">
                <a:latin typeface="Times New Roman"/>
                <a:cs typeface="Times New Roman"/>
              </a:rPr>
              <a:t> </a:t>
            </a:r>
            <a:r>
              <a:rPr sz="2000" dirty="0">
                <a:latin typeface="Times New Roman"/>
                <a:cs typeface="Times New Roman"/>
              </a:rPr>
              <a:t>reaching</a:t>
            </a:r>
            <a:r>
              <a:rPr sz="2000" spc="229" dirty="0">
                <a:latin typeface="Times New Roman"/>
                <a:cs typeface="Times New Roman"/>
              </a:rPr>
              <a:t> </a:t>
            </a:r>
            <a:r>
              <a:rPr sz="2000" dirty="0">
                <a:latin typeface="Times New Roman"/>
                <a:cs typeface="Times New Roman"/>
              </a:rPr>
              <a:t>substantiated</a:t>
            </a:r>
            <a:r>
              <a:rPr sz="2000" spc="235" dirty="0">
                <a:latin typeface="Times New Roman"/>
                <a:cs typeface="Times New Roman"/>
              </a:rPr>
              <a:t> </a:t>
            </a:r>
            <a:r>
              <a:rPr sz="2000" dirty="0">
                <a:latin typeface="Times New Roman"/>
                <a:cs typeface="Times New Roman"/>
              </a:rPr>
              <a:t>conclusions</a:t>
            </a:r>
            <a:r>
              <a:rPr sz="2000" spc="225" dirty="0">
                <a:latin typeface="Times New Roman"/>
                <a:cs typeface="Times New Roman"/>
              </a:rPr>
              <a:t> </a:t>
            </a:r>
            <a:r>
              <a:rPr sz="2000" dirty="0">
                <a:latin typeface="Times New Roman"/>
                <a:cs typeface="Times New Roman"/>
              </a:rPr>
              <a:t>using</a:t>
            </a:r>
            <a:r>
              <a:rPr sz="2000" spc="229" dirty="0">
                <a:latin typeface="Times New Roman"/>
                <a:cs typeface="Times New Roman"/>
              </a:rPr>
              <a:t> </a:t>
            </a:r>
            <a:r>
              <a:rPr sz="2000" spc="-10" dirty="0">
                <a:latin typeface="Times New Roman"/>
                <a:cs typeface="Times New Roman"/>
              </a:rPr>
              <a:t>first </a:t>
            </a:r>
            <a:r>
              <a:rPr sz="2000" dirty="0">
                <a:latin typeface="Times New Roman"/>
                <a:cs typeface="Times New Roman"/>
              </a:rPr>
              <a:t>principles</a:t>
            </a:r>
            <a:r>
              <a:rPr sz="2000" spc="-70"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mathematics, natural</a:t>
            </a:r>
            <a:r>
              <a:rPr sz="2000" spc="-55" dirty="0">
                <a:latin typeface="Times New Roman"/>
                <a:cs typeface="Times New Roman"/>
              </a:rPr>
              <a:t> </a:t>
            </a:r>
            <a:r>
              <a:rPr sz="2000" dirty="0">
                <a:latin typeface="Times New Roman"/>
                <a:cs typeface="Times New Roman"/>
              </a:rPr>
              <a:t>sciences,</a:t>
            </a:r>
            <a:r>
              <a:rPr sz="2000" spc="-30"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engineering</a:t>
            </a:r>
            <a:r>
              <a:rPr sz="2000" spc="-45" dirty="0">
                <a:latin typeface="Times New Roman"/>
                <a:cs typeface="Times New Roman"/>
              </a:rPr>
              <a:t> </a:t>
            </a:r>
            <a:r>
              <a:rPr sz="2000" spc="-10" dirty="0">
                <a:latin typeface="Times New Roman"/>
                <a:cs typeface="Times New Roman"/>
              </a:rPr>
              <a:t>sciences.</a:t>
            </a:r>
            <a:endParaRPr sz="2000">
              <a:latin typeface="Times New Roman"/>
              <a:cs typeface="Times New Roman"/>
            </a:endParaRPr>
          </a:p>
        </p:txBody>
      </p:sp>
      <p:grpSp>
        <p:nvGrpSpPr>
          <p:cNvPr id="4" name="object 4"/>
          <p:cNvGrpSpPr/>
          <p:nvPr/>
        </p:nvGrpSpPr>
        <p:grpSpPr>
          <a:xfrm>
            <a:off x="670559" y="1028700"/>
            <a:ext cx="7292340" cy="2466340"/>
            <a:chOff x="2116835" y="1249680"/>
            <a:chExt cx="7292340" cy="2466340"/>
          </a:xfrm>
        </p:grpSpPr>
        <p:pic>
          <p:nvPicPr>
            <p:cNvPr id="5" name="object 5"/>
            <p:cNvPicPr/>
            <p:nvPr/>
          </p:nvPicPr>
          <p:blipFill>
            <a:blip r:embed="rId2" cstate="print"/>
            <a:stretch>
              <a:fillRect/>
            </a:stretch>
          </p:blipFill>
          <p:spPr>
            <a:xfrm>
              <a:off x="6262115" y="1490472"/>
              <a:ext cx="3147060" cy="2225040"/>
            </a:xfrm>
            <a:prstGeom prst="rect">
              <a:avLst/>
            </a:prstGeom>
          </p:spPr>
        </p:pic>
        <p:pic>
          <p:nvPicPr>
            <p:cNvPr id="6" name="object 6"/>
            <p:cNvPicPr/>
            <p:nvPr/>
          </p:nvPicPr>
          <p:blipFill>
            <a:blip r:embed="rId3" cstate="print"/>
            <a:stretch>
              <a:fillRect/>
            </a:stretch>
          </p:blipFill>
          <p:spPr>
            <a:xfrm>
              <a:off x="2133599" y="1270974"/>
              <a:ext cx="7076694" cy="40300"/>
            </a:xfrm>
            <a:prstGeom prst="rect">
              <a:avLst/>
            </a:prstGeom>
          </p:spPr>
        </p:pic>
        <p:sp>
          <p:nvSpPr>
            <p:cNvPr id="7" name="object 7"/>
            <p:cNvSpPr/>
            <p:nvPr/>
          </p:nvSpPr>
          <p:spPr>
            <a:xfrm>
              <a:off x="2135885" y="1268730"/>
              <a:ext cx="7056755" cy="1905"/>
            </a:xfrm>
            <a:custGeom>
              <a:avLst/>
              <a:gdLst/>
              <a:ahLst/>
              <a:cxnLst/>
              <a:rect l="l" t="t" r="r" b="b"/>
              <a:pathLst>
                <a:path w="7056755" h="1905">
                  <a:moveTo>
                    <a:pt x="0" y="0"/>
                  </a:moveTo>
                  <a:lnTo>
                    <a:pt x="7056373" y="1524"/>
                  </a:lnTo>
                </a:path>
              </a:pathLst>
            </a:custGeom>
            <a:ln w="38100">
              <a:solidFill>
                <a:srgbClr val="F79546"/>
              </a:solidFill>
            </a:ln>
          </p:spPr>
          <p:txBody>
            <a:bodyPr wrap="square" lIns="0" tIns="0" rIns="0" bIns="0" rtlCol="0"/>
            <a:lstStyle/>
            <a:p>
              <a:endParaRPr/>
            </a:p>
          </p:txBody>
        </p:sp>
      </p:grpSp>
      <p:sp>
        <p:nvSpPr>
          <p:cNvPr id="8" name="object 8" descr="$PPTXTitle"/>
          <p:cNvSpPr txBox="1">
            <a:spLocks noGrp="1"/>
          </p:cNvSpPr>
          <p:nvPr>
            <p:ph type="title"/>
          </p:nvPr>
        </p:nvSpPr>
        <p:spPr>
          <a:xfrm>
            <a:off x="916939" y="406653"/>
            <a:ext cx="10130155" cy="705706"/>
          </a:xfrm>
          <a:prstGeom prst="rect">
            <a:avLst/>
          </a:prstGeom>
        </p:spPr>
        <p:txBody>
          <a:bodyPr vert="horz" wrap="square" lIns="0" tIns="150241" rIns="0" bIns="0" rtlCol="0">
            <a:spAutoFit/>
          </a:bodyPr>
          <a:lstStyle/>
          <a:p>
            <a:pPr marL="1155700">
              <a:lnSpc>
                <a:spcPct val="100000"/>
              </a:lnSpc>
              <a:spcBef>
                <a:spcPts val="100"/>
              </a:spcBef>
            </a:pPr>
            <a:r>
              <a:rPr lang="en-IN" sz="3600" u="none" dirty="0">
                <a:solidFill>
                  <a:srgbClr val="C00000"/>
                </a:solidFill>
              </a:rPr>
              <a:t>                  </a:t>
            </a:r>
            <a:r>
              <a:rPr sz="3600" u="none" dirty="0">
                <a:solidFill>
                  <a:srgbClr val="C00000"/>
                </a:solidFill>
              </a:rPr>
              <a:t>Program</a:t>
            </a:r>
            <a:r>
              <a:rPr sz="3600" u="none" spc="-140" dirty="0">
                <a:solidFill>
                  <a:srgbClr val="C00000"/>
                </a:solidFill>
              </a:rPr>
              <a:t> </a:t>
            </a:r>
            <a:r>
              <a:rPr sz="3600" u="none" spc="-10" dirty="0">
                <a:solidFill>
                  <a:srgbClr val="C00000"/>
                </a:solidFill>
              </a:rPr>
              <a:t>Outcomes</a:t>
            </a:r>
            <a:endParaRPr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p:cNvSpPr txBox="1"/>
          <p:nvPr/>
        </p:nvSpPr>
        <p:spPr>
          <a:xfrm>
            <a:off x="2174239" y="1455376"/>
            <a:ext cx="7833995" cy="3785235"/>
          </a:xfrm>
          <a:prstGeom prst="rect">
            <a:avLst/>
          </a:prstGeom>
        </p:spPr>
        <p:txBody>
          <a:bodyPr vert="horz" wrap="square" lIns="0" tIns="12065" rIns="0" bIns="0" rtlCol="0">
            <a:spAutoFit/>
          </a:bodyPr>
          <a:lstStyle/>
          <a:p>
            <a:pPr marL="12700" marR="5080" algn="just">
              <a:lnSpc>
                <a:spcPct val="151000"/>
              </a:lnSpc>
              <a:spcBef>
                <a:spcPts val="95"/>
              </a:spcBef>
            </a:pPr>
            <a:r>
              <a:rPr sz="2000" b="1" dirty="0">
                <a:latin typeface="Times New Roman"/>
                <a:cs typeface="Times New Roman"/>
              </a:rPr>
              <a:t>PO3::  Design/development  of</a:t>
            </a:r>
            <a:r>
              <a:rPr sz="2000" b="1" spc="490" dirty="0">
                <a:latin typeface="Times New Roman"/>
                <a:cs typeface="Times New Roman"/>
              </a:rPr>
              <a:t> </a:t>
            </a:r>
            <a:r>
              <a:rPr sz="2000" b="1" dirty="0">
                <a:latin typeface="Times New Roman"/>
                <a:cs typeface="Times New Roman"/>
              </a:rPr>
              <a:t>solutions:</a:t>
            </a:r>
            <a:r>
              <a:rPr sz="2000" b="1" spc="490" dirty="0">
                <a:latin typeface="Times New Roman"/>
                <a:cs typeface="Times New Roman"/>
              </a:rPr>
              <a:t> </a:t>
            </a:r>
            <a:r>
              <a:rPr sz="2000" dirty="0">
                <a:latin typeface="Times New Roman"/>
                <a:cs typeface="Times New Roman"/>
              </a:rPr>
              <a:t>Design  solutions</a:t>
            </a:r>
            <a:r>
              <a:rPr sz="2000" spc="5" dirty="0">
                <a:latin typeface="Times New Roman"/>
                <a:cs typeface="Times New Roman"/>
              </a:rPr>
              <a:t>  </a:t>
            </a:r>
            <a:r>
              <a:rPr sz="2000" dirty="0">
                <a:latin typeface="Times New Roman"/>
                <a:cs typeface="Times New Roman"/>
              </a:rPr>
              <a:t>for  </a:t>
            </a:r>
            <a:r>
              <a:rPr sz="2000" spc="-10" dirty="0">
                <a:latin typeface="Times New Roman"/>
                <a:cs typeface="Times New Roman"/>
              </a:rPr>
              <a:t>complex </a:t>
            </a:r>
            <a:r>
              <a:rPr sz="2000" dirty="0">
                <a:latin typeface="Times New Roman"/>
                <a:cs typeface="Times New Roman"/>
              </a:rPr>
              <a:t>engineering</a:t>
            </a:r>
            <a:r>
              <a:rPr sz="2000" spc="40" dirty="0">
                <a:latin typeface="Times New Roman"/>
                <a:cs typeface="Times New Roman"/>
              </a:rPr>
              <a:t> </a:t>
            </a:r>
            <a:r>
              <a:rPr sz="2000" dirty="0">
                <a:latin typeface="Times New Roman"/>
                <a:cs typeface="Times New Roman"/>
              </a:rPr>
              <a:t>problems</a:t>
            </a:r>
            <a:r>
              <a:rPr sz="2000" spc="5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design</a:t>
            </a:r>
            <a:r>
              <a:rPr sz="2000" spc="40" dirty="0">
                <a:latin typeface="Times New Roman"/>
                <a:cs typeface="Times New Roman"/>
              </a:rPr>
              <a:t> </a:t>
            </a:r>
            <a:r>
              <a:rPr sz="2000" dirty="0">
                <a:latin typeface="Times New Roman"/>
                <a:cs typeface="Times New Roman"/>
              </a:rPr>
              <a:t>system</a:t>
            </a:r>
            <a:r>
              <a:rPr sz="2000" spc="30" dirty="0">
                <a:latin typeface="Times New Roman"/>
                <a:cs typeface="Times New Roman"/>
              </a:rPr>
              <a:t> </a:t>
            </a:r>
            <a:r>
              <a:rPr sz="2000" dirty="0">
                <a:latin typeface="Times New Roman"/>
                <a:cs typeface="Times New Roman"/>
              </a:rPr>
              <a:t>components</a:t>
            </a:r>
            <a:r>
              <a:rPr sz="2000" spc="40" dirty="0">
                <a:latin typeface="Times New Roman"/>
                <a:cs typeface="Times New Roman"/>
              </a:rPr>
              <a:t> </a:t>
            </a:r>
            <a:r>
              <a:rPr sz="2000" dirty="0">
                <a:latin typeface="Times New Roman"/>
                <a:cs typeface="Times New Roman"/>
              </a:rPr>
              <a:t>or</a:t>
            </a:r>
            <a:r>
              <a:rPr sz="2000" spc="40" dirty="0">
                <a:latin typeface="Times New Roman"/>
                <a:cs typeface="Times New Roman"/>
              </a:rPr>
              <a:t> </a:t>
            </a:r>
            <a:r>
              <a:rPr sz="2000" dirty="0">
                <a:latin typeface="Times New Roman"/>
                <a:cs typeface="Times New Roman"/>
              </a:rPr>
              <a:t>processes</a:t>
            </a:r>
            <a:r>
              <a:rPr sz="2000" spc="40" dirty="0">
                <a:latin typeface="Times New Roman"/>
                <a:cs typeface="Times New Roman"/>
              </a:rPr>
              <a:t> </a:t>
            </a:r>
            <a:r>
              <a:rPr sz="2000" dirty="0">
                <a:latin typeface="Times New Roman"/>
                <a:cs typeface="Times New Roman"/>
              </a:rPr>
              <a:t>that</a:t>
            </a:r>
            <a:r>
              <a:rPr sz="2000" spc="30" dirty="0">
                <a:latin typeface="Times New Roman"/>
                <a:cs typeface="Times New Roman"/>
              </a:rPr>
              <a:t> </a:t>
            </a:r>
            <a:r>
              <a:rPr sz="2000" spc="-20" dirty="0">
                <a:latin typeface="Times New Roman"/>
                <a:cs typeface="Times New Roman"/>
              </a:rPr>
              <a:t>meet </a:t>
            </a:r>
            <a:r>
              <a:rPr sz="2000" dirty="0">
                <a:latin typeface="Times New Roman"/>
                <a:cs typeface="Times New Roman"/>
              </a:rPr>
              <a:t>the</a:t>
            </a:r>
            <a:r>
              <a:rPr sz="2000" spc="114" dirty="0">
                <a:latin typeface="Times New Roman"/>
                <a:cs typeface="Times New Roman"/>
              </a:rPr>
              <a:t> </a:t>
            </a:r>
            <a:r>
              <a:rPr sz="2000" dirty="0">
                <a:latin typeface="Times New Roman"/>
                <a:cs typeface="Times New Roman"/>
              </a:rPr>
              <a:t>specified</a:t>
            </a:r>
            <a:r>
              <a:rPr sz="2000" spc="125" dirty="0">
                <a:latin typeface="Times New Roman"/>
                <a:cs typeface="Times New Roman"/>
              </a:rPr>
              <a:t> </a:t>
            </a:r>
            <a:r>
              <a:rPr sz="2000" dirty="0">
                <a:latin typeface="Times New Roman"/>
                <a:cs typeface="Times New Roman"/>
              </a:rPr>
              <a:t>needs</a:t>
            </a:r>
            <a:r>
              <a:rPr sz="2000" spc="110" dirty="0">
                <a:latin typeface="Times New Roman"/>
                <a:cs typeface="Times New Roman"/>
              </a:rPr>
              <a:t> </a:t>
            </a:r>
            <a:r>
              <a:rPr sz="2000" dirty="0">
                <a:latin typeface="Times New Roman"/>
                <a:cs typeface="Times New Roman"/>
              </a:rPr>
              <a:t>with</a:t>
            </a:r>
            <a:r>
              <a:rPr sz="2000" spc="120" dirty="0">
                <a:latin typeface="Times New Roman"/>
                <a:cs typeface="Times New Roman"/>
              </a:rPr>
              <a:t> </a:t>
            </a:r>
            <a:r>
              <a:rPr sz="2000" dirty="0">
                <a:latin typeface="Times New Roman"/>
                <a:cs typeface="Times New Roman"/>
              </a:rPr>
              <a:t>appropriate</a:t>
            </a:r>
            <a:r>
              <a:rPr sz="2000" spc="110" dirty="0">
                <a:latin typeface="Times New Roman"/>
                <a:cs typeface="Times New Roman"/>
              </a:rPr>
              <a:t> </a:t>
            </a:r>
            <a:r>
              <a:rPr sz="2000" dirty="0">
                <a:latin typeface="Times New Roman"/>
                <a:cs typeface="Times New Roman"/>
              </a:rPr>
              <a:t>consideration</a:t>
            </a:r>
            <a:r>
              <a:rPr sz="2000" spc="110" dirty="0">
                <a:latin typeface="Times New Roman"/>
                <a:cs typeface="Times New Roman"/>
              </a:rPr>
              <a:t> </a:t>
            </a:r>
            <a:r>
              <a:rPr sz="2000" dirty="0">
                <a:latin typeface="Times New Roman"/>
                <a:cs typeface="Times New Roman"/>
              </a:rPr>
              <a:t>for</a:t>
            </a:r>
            <a:r>
              <a:rPr sz="2000" spc="120" dirty="0">
                <a:latin typeface="Times New Roman"/>
                <a:cs typeface="Times New Roman"/>
              </a:rPr>
              <a:t> </a:t>
            </a:r>
            <a:r>
              <a:rPr sz="2000" dirty="0">
                <a:latin typeface="Times New Roman"/>
                <a:cs typeface="Times New Roman"/>
              </a:rPr>
              <a:t>the</a:t>
            </a:r>
            <a:r>
              <a:rPr sz="2000" spc="100" dirty="0">
                <a:latin typeface="Times New Roman"/>
                <a:cs typeface="Times New Roman"/>
              </a:rPr>
              <a:t> </a:t>
            </a:r>
            <a:r>
              <a:rPr sz="2000" dirty="0">
                <a:latin typeface="Times New Roman"/>
                <a:cs typeface="Times New Roman"/>
              </a:rPr>
              <a:t>public</a:t>
            </a:r>
            <a:r>
              <a:rPr sz="2000" spc="105" dirty="0">
                <a:latin typeface="Times New Roman"/>
                <a:cs typeface="Times New Roman"/>
              </a:rPr>
              <a:t> </a:t>
            </a:r>
            <a:r>
              <a:rPr sz="2000" dirty="0">
                <a:latin typeface="Times New Roman"/>
                <a:cs typeface="Times New Roman"/>
              </a:rPr>
              <a:t>health</a:t>
            </a:r>
            <a:r>
              <a:rPr sz="2000" spc="125" dirty="0">
                <a:latin typeface="Times New Roman"/>
                <a:cs typeface="Times New Roman"/>
              </a:rPr>
              <a:t> </a:t>
            </a:r>
            <a:r>
              <a:rPr sz="2000" spc="-25" dirty="0">
                <a:latin typeface="Times New Roman"/>
                <a:cs typeface="Times New Roman"/>
              </a:rPr>
              <a:t>and </a:t>
            </a:r>
            <a:r>
              <a:rPr sz="2000" dirty="0">
                <a:latin typeface="Times New Roman"/>
                <a:cs typeface="Times New Roman"/>
              </a:rPr>
              <a:t>safety,</a:t>
            </a:r>
            <a:r>
              <a:rPr sz="2000" spc="-4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cultural,</a:t>
            </a:r>
            <a:r>
              <a:rPr sz="2000" spc="-40" dirty="0">
                <a:latin typeface="Times New Roman"/>
                <a:cs typeface="Times New Roman"/>
              </a:rPr>
              <a:t> </a:t>
            </a:r>
            <a:r>
              <a:rPr sz="2000" dirty="0">
                <a:latin typeface="Times New Roman"/>
                <a:cs typeface="Times New Roman"/>
              </a:rPr>
              <a:t>societal,</a:t>
            </a:r>
            <a:r>
              <a:rPr sz="2000" spc="-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environmental</a:t>
            </a:r>
            <a:r>
              <a:rPr sz="2000" spc="-60" dirty="0">
                <a:latin typeface="Times New Roman"/>
                <a:cs typeface="Times New Roman"/>
              </a:rPr>
              <a:t> </a:t>
            </a:r>
            <a:r>
              <a:rPr sz="2000" spc="-10" dirty="0">
                <a:latin typeface="Times New Roman"/>
                <a:cs typeface="Times New Roman"/>
              </a:rPr>
              <a:t>considerations.</a:t>
            </a:r>
            <a:endParaRPr sz="2000">
              <a:latin typeface="Times New Roman"/>
              <a:cs typeface="Times New Roman"/>
            </a:endParaRPr>
          </a:p>
          <a:p>
            <a:pPr marL="12700" marR="5080" algn="just">
              <a:lnSpc>
                <a:spcPct val="151000"/>
              </a:lnSpc>
            </a:pPr>
            <a:r>
              <a:rPr sz="2000" b="1" dirty="0">
                <a:latin typeface="Times New Roman"/>
                <a:cs typeface="Times New Roman"/>
              </a:rPr>
              <a:t>PO4::</a:t>
            </a:r>
            <a:r>
              <a:rPr sz="2000" b="1" spc="190" dirty="0">
                <a:latin typeface="Times New Roman"/>
                <a:cs typeface="Times New Roman"/>
              </a:rPr>
              <a:t> </a:t>
            </a:r>
            <a:r>
              <a:rPr sz="2000" b="1" dirty="0">
                <a:latin typeface="Times New Roman"/>
                <a:cs typeface="Times New Roman"/>
              </a:rPr>
              <a:t>Conduct</a:t>
            </a:r>
            <a:r>
              <a:rPr sz="2000" b="1" spc="190" dirty="0">
                <a:latin typeface="Times New Roman"/>
                <a:cs typeface="Times New Roman"/>
              </a:rPr>
              <a:t> </a:t>
            </a:r>
            <a:r>
              <a:rPr sz="2000" b="1" dirty="0">
                <a:latin typeface="Times New Roman"/>
                <a:cs typeface="Times New Roman"/>
              </a:rPr>
              <a:t>investigations</a:t>
            </a:r>
            <a:r>
              <a:rPr sz="2000" b="1" spc="180" dirty="0">
                <a:latin typeface="Times New Roman"/>
                <a:cs typeface="Times New Roman"/>
              </a:rPr>
              <a:t> </a:t>
            </a:r>
            <a:r>
              <a:rPr sz="2000" b="1" dirty="0">
                <a:latin typeface="Times New Roman"/>
                <a:cs typeface="Times New Roman"/>
              </a:rPr>
              <a:t>of</a:t>
            </a:r>
            <a:r>
              <a:rPr sz="2000" b="1" spc="204" dirty="0">
                <a:latin typeface="Times New Roman"/>
                <a:cs typeface="Times New Roman"/>
              </a:rPr>
              <a:t> </a:t>
            </a:r>
            <a:r>
              <a:rPr sz="2000" b="1" dirty="0">
                <a:latin typeface="Times New Roman"/>
                <a:cs typeface="Times New Roman"/>
              </a:rPr>
              <a:t>complex</a:t>
            </a:r>
            <a:r>
              <a:rPr sz="2000" b="1" spc="190" dirty="0">
                <a:latin typeface="Times New Roman"/>
                <a:cs typeface="Times New Roman"/>
              </a:rPr>
              <a:t> </a:t>
            </a:r>
            <a:r>
              <a:rPr sz="2000" b="1" dirty="0">
                <a:latin typeface="Times New Roman"/>
                <a:cs typeface="Times New Roman"/>
              </a:rPr>
              <a:t>problems:</a:t>
            </a:r>
            <a:r>
              <a:rPr sz="2000" b="1" spc="200" dirty="0">
                <a:latin typeface="Times New Roman"/>
                <a:cs typeface="Times New Roman"/>
              </a:rPr>
              <a:t> </a:t>
            </a:r>
            <a:r>
              <a:rPr sz="2000" dirty="0">
                <a:latin typeface="Times New Roman"/>
                <a:cs typeface="Times New Roman"/>
              </a:rPr>
              <a:t>Use</a:t>
            </a:r>
            <a:r>
              <a:rPr sz="2000" spc="190" dirty="0">
                <a:latin typeface="Times New Roman"/>
                <a:cs typeface="Times New Roman"/>
              </a:rPr>
              <a:t> </a:t>
            </a:r>
            <a:r>
              <a:rPr sz="2000" spc="-10" dirty="0">
                <a:latin typeface="Times New Roman"/>
                <a:cs typeface="Times New Roman"/>
              </a:rPr>
              <a:t>research-based </a:t>
            </a:r>
            <a:r>
              <a:rPr sz="2000" dirty="0">
                <a:latin typeface="Times New Roman"/>
                <a:cs typeface="Times New Roman"/>
              </a:rPr>
              <a:t>knowledge</a:t>
            </a:r>
            <a:r>
              <a:rPr sz="2000" spc="125" dirty="0">
                <a:latin typeface="Times New Roman"/>
                <a:cs typeface="Times New Roman"/>
              </a:rPr>
              <a:t> </a:t>
            </a:r>
            <a:r>
              <a:rPr sz="2000" dirty="0">
                <a:latin typeface="Times New Roman"/>
                <a:cs typeface="Times New Roman"/>
              </a:rPr>
              <a:t>and</a:t>
            </a:r>
            <a:r>
              <a:rPr sz="2000" spc="140" dirty="0">
                <a:latin typeface="Times New Roman"/>
                <a:cs typeface="Times New Roman"/>
              </a:rPr>
              <a:t> </a:t>
            </a:r>
            <a:r>
              <a:rPr sz="2000" dirty="0">
                <a:latin typeface="Times New Roman"/>
                <a:cs typeface="Times New Roman"/>
              </a:rPr>
              <a:t>research</a:t>
            </a:r>
            <a:r>
              <a:rPr sz="2000" spc="140" dirty="0">
                <a:latin typeface="Times New Roman"/>
                <a:cs typeface="Times New Roman"/>
              </a:rPr>
              <a:t> </a:t>
            </a:r>
            <a:r>
              <a:rPr sz="2000" dirty="0">
                <a:latin typeface="Times New Roman"/>
                <a:cs typeface="Times New Roman"/>
              </a:rPr>
              <a:t>methods</a:t>
            </a:r>
            <a:r>
              <a:rPr sz="2000" spc="140" dirty="0">
                <a:latin typeface="Times New Roman"/>
                <a:cs typeface="Times New Roman"/>
              </a:rPr>
              <a:t> </a:t>
            </a:r>
            <a:r>
              <a:rPr sz="2000" dirty="0">
                <a:latin typeface="Times New Roman"/>
                <a:cs typeface="Times New Roman"/>
              </a:rPr>
              <a:t>including</a:t>
            </a:r>
            <a:r>
              <a:rPr sz="2000" spc="145" dirty="0">
                <a:latin typeface="Times New Roman"/>
                <a:cs typeface="Times New Roman"/>
              </a:rPr>
              <a:t> </a:t>
            </a:r>
            <a:r>
              <a:rPr sz="2000" dirty="0">
                <a:latin typeface="Times New Roman"/>
                <a:cs typeface="Times New Roman"/>
              </a:rPr>
              <a:t>design</a:t>
            </a:r>
            <a:r>
              <a:rPr sz="2000" spc="125" dirty="0">
                <a:latin typeface="Times New Roman"/>
                <a:cs typeface="Times New Roman"/>
              </a:rPr>
              <a:t> </a:t>
            </a:r>
            <a:r>
              <a:rPr sz="2000" dirty="0">
                <a:latin typeface="Times New Roman"/>
                <a:cs typeface="Times New Roman"/>
              </a:rPr>
              <a:t>of</a:t>
            </a:r>
            <a:r>
              <a:rPr sz="2000" spc="135" dirty="0">
                <a:latin typeface="Times New Roman"/>
                <a:cs typeface="Times New Roman"/>
              </a:rPr>
              <a:t> </a:t>
            </a:r>
            <a:r>
              <a:rPr sz="2000" dirty="0">
                <a:latin typeface="Times New Roman"/>
                <a:cs typeface="Times New Roman"/>
              </a:rPr>
              <a:t>experiments,</a:t>
            </a:r>
            <a:r>
              <a:rPr sz="2000" spc="140" dirty="0">
                <a:latin typeface="Times New Roman"/>
                <a:cs typeface="Times New Roman"/>
              </a:rPr>
              <a:t> </a:t>
            </a:r>
            <a:r>
              <a:rPr sz="2000" spc="-10" dirty="0">
                <a:latin typeface="Times New Roman"/>
                <a:cs typeface="Times New Roman"/>
              </a:rPr>
              <a:t>analysis </a:t>
            </a:r>
            <a:r>
              <a:rPr sz="2000" dirty="0">
                <a:latin typeface="Times New Roman"/>
                <a:cs typeface="Times New Roman"/>
              </a:rPr>
              <a:t>and</a:t>
            </a:r>
            <a:r>
              <a:rPr sz="2000" spc="105" dirty="0">
                <a:latin typeface="Times New Roman"/>
                <a:cs typeface="Times New Roman"/>
              </a:rPr>
              <a:t> </a:t>
            </a:r>
            <a:r>
              <a:rPr sz="2000" dirty="0">
                <a:latin typeface="Times New Roman"/>
                <a:cs typeface="Times New Roman"/>
              </a:rPr>
              <a:t>interpretation</a:t>
            </a:r>
            <a:r>
              <a:rPr sz="2000" spc="114" dirty="0">
                <a:latin typeface="Times New Roman"/>
                <a:cs typeface="Times New Roman"/>
              </a:rPr>
              <a:t> </a:t>
            </a:r>
            <a:r>
              <a:rPr sz="2000" dirty="0">
                <a:latin typeface="Times New Roman"/>
                <a:cs typeface="Times New Roman"/>
              </a:rPr>
              <a:t>of</a:t>
            </a:r>
            <a:r>
              <a:rPr sz="2000" spc="120" dirty="0">
                <a:latin typeface="Times New Roman"/>
                <a:cs typeface="Times New Roman"/>
              </a:rPr>
              <a:t> </a:t>
            </a:r>
            <a:r>
              <a:rPr sz="2000" dirty="0">
                <a:latin typeface="Times New Roman"/>
                <a:cs typeface="Times New Roman"/>
              </a:rPr>
              <a:t>data,</a:t>
            </a:r>
            <a:r>
              <a:rPr sz="2000" spc="110" dirty="0">
                <a:latin typeface="Times New Roman"/>
                <a:cs typeface="Times New Roman"/>
              </a:rPr>
              <a:t> </a:t>
            </a:r>
            <a:r>
              <a:rPr sz="2000" dirty="0">
                <a:latin typeface="Times New Roman"/>
                <a:cs typeface="Times New Roman"/>
              </a:rPr>
              <a:t>and</a:t>
            </a:r>
            <a:r>
              <a:rPr sz="2000" spc="114" dirty="0">
                <a:latin typeface="Times New Roman"/>
                <a:cs typeface="Times New Roman"/>
              </a:rPr>
              <a:t> </a:t>
            </a:r>
            <a:r>
              <a:rPr sz="2000" dirty="0">
                <a:latin typeface="Times New Roman"/>
                <a:cs typeface="Times New Roman"/>
              </a:rPr>
              <a:t>synthesis</a:t>
            </a:r>
            <a:r>
              <a:rPr sz="2000" spc="95" dirty="0">
                <a:latin typeface="Times New Roman"/>
                <a:cs typeface="Times New Roman"/>
              </a:rPr>
              <a:t> </a:t>
            </a:r>
            <a:r>
              <a:rPr sz="2000" dirty="0">
                <a:latin typeface="Times New Roman"/>
                <a:cs typeface="Times New Roman"/>
              </a:rPr>
              <a:t>of</a:t>
            </a:r>
            <a:r>
              <a:rPr sz="2000" spc="105" dirty="0">
                <a:latin typeface="Times New Roman"/>
                <a:cs typeface="Times New Roman"/>
              </a:rPr>
              <a:t> </a:t>
            </a:r>
            <a:r>
              <a:rPr sz="2000" dirty="0">
                <a:latin typeface="Times New Roman"/>
                <a:cs typeface="Times New Roman"/>
              </a:rPr>
              <a:t>the</a:t>
            </a:r>
            <a:r>
              <a:rPr sz="2000" spc="110" dirty="0">
                <a:latin typeface="Times New Roman"/>
                <a:cs typeface="Times New Roman"/>
              </a:rPr>
              <a:t> </a:t>
            </a:r>
            <a:r>
              <a:rPr sz="2000" dirty="0">
                <a:latin typeface="Times New Roman"/>
                <a:cs typeface="Times New Roman"/>
              </a:rPr>
              <a:t>information</a:t>
            </a:r>
            <a:r>
              <a:rPr sz="2000" spc="120" dirty="0">
                <a:latin typeface="Times New Roman"/>
                <a:cs typeface="Times New Roman"/>
              </a:rPr>
              <a:t> </a:t>
            </a:r>
            <a:r>
              <a:rPr sz="2000" dirty="0">
                <a:latin typeface="Times New Roman"/>
                <a:cs typeface="Times New Roman"/>
              </a:rPr>
              <a:t>to</a:t>
            </a:r>
            <a:r>
              <a:rPr sz="2000" spc="105" dirty="0">
                <a:latin typeface="Times New Roman"/>
                <a:cs typeface="Times New Roman"/>
              </a:rPr>
              <a:t> </a:t>
            </a:r>
            <a:r>
              <a:rPr sz="2000" dirty="0">
                <a:latin typeface="Times New Roman"/>
                <a:cs typeface="Times New Roman"/>
              </a:rPr>
              <a:t>provide</a:t>
            </a:r>
            <a:r>
              <a:rPr sz="2000" spc="110" dirty="0">
                <a:latin typeface="Times New Roman"/>
                <a:cs typeface="Times New Roman"/>
              </a:rPr>
              <a:t> </a:t>
            </a:r>
            <a:r>
              <a:rPr sz="2000" spc="-10" dirty="0">
                <a:latin typeface="Times New Roman"/>
                <a:cs typeface="Times New Roman"/>
              </a:rPr>
              <a:t>valid</a:t>
            </a:r>
            <a:endParaRPr sz="2000">
              <a:latin typeface="Times New Roman"/>
              <a:cs typeface="Times New Roman"/>
            </a:endParaRPr>
          </a:p>
          <a:p>
            <a:pPr marL="12700">
              <a:lnSpc>
                <a:spcPts val="2310"/>
              </a:lnSpc>
              <a:spcBef>
                <a:spcPts val="1225"/>
              </a:spcBef>
            </a:pPr>
            <a:r>
              <a:rPr sz="2000" spc="-10" dirty="0">
                <a:latin typeface="Times New Roman"/>
                <a:cs typeface="Times New Roman"/>
              </a:rPr>
              <a:t>conclusions.</a:t>
            </a:r>
            <a:endParaRPr sz="2000">
              <a:latin typeface="Times New Roman"/>
              <a:cs typeface="Times New Roman"/>
            </a:endParaRPr>
          </a:p>
          <a:p>
            <a:pPr marR="1639570" algn="r">
              <a:lnSpc>
                <a:spcPts val="690"/>
              </a:lnSpc>
            </a:pPr>
            <a:r>
              <a:rPr sz="650" spc="-50" dirty="0">
                <a:solidFill>
                  <a:srgbClr val="888888"/>
                </a:solidFill>
                <a:latin typeface="Times New Roman"/>
                <a:cs typeface="Times New Roman"/>
              </a:rPr>
              <a:t>4</a:t>
            </a:r>
            <a:endParaRPr sz="650">
              <a:latin typeface="Times New Roman"/>
              <a:cs typeface="Times New Roman"/>
            </a:endParaRPr>
          </a:p>
        </p:txBody>
      </p:sp>
      <p:sp>
        <p:nvSpPr>
          <p:cNvPr id="4" name="object 4" descr="$PPTXTitle"/>
          <p:cNvSpPr txBox="1">
            <a:spLocks noGrp="1"/>
          </p:cNvSpPr>
          <p:nvPr>
            <p:ph type="title"/>
          </p:nvPr>
        </p:nvSpPr>
        <p:spPr>
          <a:xfrm>
            <a:off x="2060194" y="544195"/>
            <a:ext cx="3847465" cy="566822"/>
          </a:xfrm>
          <a:prstGeom prst="rect">
            <a:avLst/>
          </a:prstGeom>
        </p:spPr>
        <p:txBody>
          <a:bodyPr vert="horz" wrap="square" lIns="0" tIns="12700" rIns="0" bIns="0" rtlCol="0">
            <a:spAutoFit/>
          </a:bodyPr>
          <a:lstStyle/>
          <a:p>
            <a:pPr marL="12700">
              <a:lnSpc>
                <a:spcPct val="100000"/>
              </a:lnSpc>
              <a:spcBef>
                <a:spcPts val="100"/>
              </a:spcBef>
            </a:pPr>
            <a:r>
              <a:rPr sz="3600" u="none" dirty="0">
                <a:solidFill>
                  <a:srgbClr val="C00000"/>
                </a:solidFill>
              </a:rPr>
              <a:t>Program</a:t>
            </a:r>
            <a:r>
              <a:rPr sz="3600" u="none" spc="-140" dirty="0">
                <a:solidFill>
                  <a:srgbClr val="C00000"/>
                </a:solidFill>
              </a:rPr>
              <a:t> </a:t>
            </a:r>
            <a:r>
              <a:rPr sz="3600" u="none" spc="-10" dirty="0">
                <a:solidFill>
                  <a:srgbClr val="C00000"/>
                </a:solidFill>
              </a:rPr>
              <a:t>Outcomes</a:t>
            </a:r>
            <a:endParaRPr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p:cNvSpPr txBox="1"/>
          <p:nvPr/>
        </p:nvSpPr>
        <p:spPr>
          <a:xfrm>
            <a:off x="2259838" y="1290376"/>
            <a:ext cx="7835265" cy="5107305"/>
          </a:xfrm>
          <a:prstGeom prst="rect">
            <a:avLst/>
          </a:prstGeom>
        </p:spPr>
        <p:txBody>
          <a:bodyPr vert="horz" wrap="square" lIns="0" tIns="13335" rIns="0" bIns="0" rtlCol="0">
            <a:spAutoFit/>
          </a:bodyPr>
          <a:lstStyle/>
          <a:p>
            <a:pPr marL="12700" marR="6350" algn="just">
              <a:lnSpc>
                <a:spcPct val="150000"/>
              </a:lnSpc>
              <a:spcBef>
                <a:spcPts val="105"/>
              </a:spcBef>
            </a:pPr>
            <a:r>
              <a:rPr sz="2000" b="1" dirty="0">
                <a:latin typeface="Times New Roman"/>
                <a:cs typeface="Times New Roman"/>
              </a:rPr>
              <a:t>PO5::</a:t>
            </a:r>
            <a:r>
              <a:rPr sz="2000" b="1" spc="-30" dirty="0">
                <a:latin typeface="Times New Roman"/>
                <a:cs typeface="Times New Roman"/>
              </a:rPr>
              <a:t> </a:t>
            </a:r>
            <a:r>
              <a:rPr sz="2000" b="1" dirty="0">
                <a:latin typeface="Times New Roman"/>
                <a:cs typeface="Times New Roman"/>
              </a:rPr>
              <a:t>Modern</a:t>
            </a:r>
            <a:r>
              <a:rPr sz="2000" b="1" spc="-15" dirty="0">
                <a:latin typeface="Times New Roman"/>
                <a:cs typeface="Times New Roman"/>
              </a:rPr>
              <a:t> </a:t>
            </a:r>
            <a:r>
              <a:rPr sz="2000" b="1" dirty="0">
                <a:latin typeface="Times New Roman"/>
                <a:cs typeface="Times New Roman"/>
              </a:rPr>
              <a:t>tool</a:t>
            </a:r>
            <a:r>
              <a:rPr sz="2000" b="1" spc="-5" dirty="0">
                <a:latin typeface="Times New Roman"/>
                <a:cs typeface="Times New Roman"/>
              </a:rPr>
              <a:t> </a:t>
            </a:r>
            <a:r>
              <a:rPr sz="2000" b="1" dirty="0">
                <a:latin typeface="Times New Roman"/>
                <a:cs typeface="Times New Roman"/>
              </a:rPr>
              <a:t>usage:</a:t>
            </a:r>
            <a:r>
              <a:rPr sz="2000" b="1" spc="-15" dirty="0">
                <a:latin typeface="Times New Roman"/>
                <a:cs typeface="Times New Roman"/>
              </a:rPr>
              <a:t> </a:t>
            </a:r>
            <a:r>
              <a:rPr sz="2000" dirty="0">
                <a:latin typeface="Times New Roman"/>
                <a:cs typeface="Times New Roman"/>
              </a:rPr>
              <a:t>Create,</a:t>
            </a:r>
            <a:r>
              <a:rPr sz="2000" spc="-20" dirty="0">
                <a:latin typeface="Times New Roman"/>
                <a:cs typeface="Times New Roman"/>
              </a:rPr>
              <a:t> </a:t>
            </a:r>
            <a:r>
              <a:rPr sz="2000" dirty="0">
                <a:latin typeface="Times New Roman"/>
                <a:cs typeface="Times New Roman"/>
              </a:rPr>
              <a:t>select,</a:t>
            </a:r>
            <a:r>
              <a:rPr sz="2000" spc="-2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apply</a:t>
            </a:r>
            <a:r>
              <a:rPr sz="2000" spc="-15" dirty="0">
                <a:latin typeface="Times New Roman"/>
                <a:cs typeface="Times New Roman"/>
              </a:rPr>
              <a:t> </a:t>
            </a:r>
            <a:r>
              <a:rPr sz="2000" dirty="0">
                <a:latin typeface="Times New Roman"/>
                <a:cs typeface="Times New Roman"/>
              </a:rPr>
              <a:t>appropriate</a:t>
            </a:r>
            <a:r>
              <a:rPr sz="2000" spc="-30" dirty="0">
                <a:latin typeface="Times New Roman"/>
                <a:cs typeface="Times New Roman"/>
              </a:rPr>
              <a:t> </a:t>
            </a:r>
            <a:r>
              <a:rPr sz="2000" spc="-10" dirty="0">
                <a:latin typeface="Times New Roman"/>
                <a:cs typeface="Times New Roman"/>
              </a:rPr>
              <a:t>techniques, </a:t>
            </a:r>
            <a:r>
              <a:rPr sz="2000" dirty="0">
                <a:latin typeface="Times New Roman"/>
                <a:cs typeface="Times New Roman"/>
              </a:rPr>
              <a:t>resources,</a:t>
            </a:r>
            <a:r>
              <a:rPr sz="2000" spc="340" dirty="0">
                <a:latin typeface="Times New Roman"/>
                <a:cs typeface="Times New Roman"/>
              </a:rPr>
              <a:t> </a:t>
            </a:r>
            <a:r>
              <a:rPr sz="2000" dirty="0">
                <a:latin typeface="Times New Roman"/>
                <a:cs typeface="Times New Roman"/>
              </a:rPr>
              <a:t>and</a:t>
            </a:r>
            <a:r>
              <a:rPr sz="2000" spc="345" dirty="0">
                <a:latin typeface="Times New Roman"/>
                <a:cs typeface="Times New Roman"/>
              </a:rPr>
              <a:t> </a:t>
            </a:r>
            <a:r>
              <a:rPr sz="2000" dirty="0">
                <a:latin typeface="Times New Roman"/>
                <a:cs typeface="Times New Roman"/>
              </a:rPr>
              <a:t>modern</a:t>
            </a:r>
            <a:r>
              <a:rPr sz="2000" spc="365" dirty="0">
                <a:latin typeface="Times New Roman"/>
                <a:cs typeface="Times New Roman"/>
              </a:rPr>
              <a:t> </a:t>
            </a:r>
            <a:r>
              <a:rPr sz="2000" dirty="0">
                <a:latin typeface="Times New Roman"/>
                <a:cs typeface="Times New Roman"/>
              </a:rPr>
              <a:t>engineering</a:t>
            </a:r>
            <a:r>
              <a:rPr sz="2000" spc="355" dirty="0">
                <a:latin typeface="Times New Roman"/>
                <a:cs typeface="Times New Roman"/>
              </a:rPr>
              <a:t> </a:t>
            </a:r>
            <a:r>
              <a:rPr sz="2000" dirty="0">
                <a:latin typeface="Times New Roman"/>
                <a:cs typeface="Times New Roman"/>
              </a:rPr>
              <a:t>and</a:t>
            </a:r>
            <a:r>
              <a:rPr sz="2000" spc="350" dirty="0">
                <a:latin typeface="Times New Roman"/>
                <a:cs typeface="Times New Roman"/>
              </a:rPr>
              <a:t> </a:t>
            </a:r>
            <a:r>
              <a:rPr sz="2000" dirty="0">
                <a:latin typeface="Times New Roman"/>
                <a:cs typeface="Times New Roman"/>
              </a:rPr>
              <a:t>IT</a:t>
            </a:r>
            <a:r>
              <a:rPr sz="2000" spc="335" dirty="0">
                <a:latin typeface="Times New Roman"/>
                <a:cs typeface="Times New Roman"/>
              </a:rPr>
              <a:t> </a:t>
            </a:r>
            <a:r>
              <a:rPr sz="2000" dirty="0">
                <a:latin typeface="Times New Roman"/>
                <a:cs typeface="Times New Roman"/>
              </a:rPr>
              <a:t>tools</a:t>
            </a:r>
            <a:r>
              <a:rPr sz="2000" spc="345" dirty="0">
                <a:latin typeface="Times New Roman"/>
                <a:cs typeface="Times New Roman"/>
              </a:rPr>
              <a:t> </a:t>
            </a:r>
            <a:r>
              <a:rPr sz="2000" dirty="0">
                <a:latin typeface="Times New Roman"/>
                <a:cs typeface="Times New Roman"/>
              </a:rPr>
              <a:t>including</a:t>
            </a:r>
            <a:r>
              <a:rPr sz="2000" spc="340" dirty="0">
                <a:latin typeface="Times New Roman"/>
                <a:cs typeface="Times New Roman"/>
              </a:rPr>
              <a:t> </a:t>
            </a:r>
            <a:r>
              <a:rPr sz="2000" dirty="0">
                <a:latin typeface="Times New Roman"/>
                <a:cs typeface="Times New Roman"/>
              </a:rPr>
              <a:t>prediction</a:t>
            </a:r>
            <a:r>
              <a:rPr sz="2000" spc="355" dirty="0">
                <a:latin typeface="Times New Roman"/>
                <a:cs typeface="Times New Roman"/>
              </a:rPr>
              <a:t> </a:t>
            </a:r>
            <a:r>
              <a:rPr sz="2000" spc="-25" dirty="0">
                <a:latin typeface="Times New Roman"/>
                <a:cs typeface="Times New Roman"/>
              </a:rPr>
              <a:t>and </a:t>
            </a:r>
            <a:r>
              <a:rPr sz="2000" dirty="0">
                <a:latin typeface="Times New Roman"/>
                <a:cs typeface="Times New Roman"/>
              </a:rPr>
              <a:t>modeling</a:t>
            </a:r>
            <a:r>
              <a:rPr sz="2000" spc="365" dirty="0">
                <a:latin typeface="Times New Roman"/>
                <a:cs typeface="Times New Roman"/>
              </a:rPr>
              <a:t> </a:t>
            </a:r>
            <a:r>
              <a:rPr sz="2000" dirty="0">
                <a:latin typeface="Times New Roman"/>
                <a:cs typeface="Times New Roman"/>
              </a:rPr>
              <a:t>to</a:t>
            </a:r>
            <a:r>
              <a:rPr sz="2000" spc="360" dirty="0">
                <a:latin typeface="Times New Roman"/>
                <a:cs typeface="Times New Roman"/>
              </a:rPr>
              <a:t> </a:t>
            </a:r>
            <a:r>
              <a:rPr sz="2000" dirty="0">
                <a:latin typeface="Times New Roman"/>
                <a:cs typeface="Times New Roman"/>
              </a:rPr>
              <a:t>complex</a:t>
            </a:r>
            <a:r>
              <a:rPr sz="2000" spc="365" dirty="0">
                <a:latin typeface="Times New Roman"/>
                <a:cs typeface="Times New Roman"/>
              </a:rPr>
              <a:t> </a:t>
            </a:r>
            <a:r>
              <a:rPr sz="2000" dirty="0">
                <a:latin typeface="Times New Roman"/>
                <a:cs typeface="Times New Roman"/>
              </a:rPr>
              <a:t>engineering</a:t>
            </a:r>
            <a:r>
              <a:rPr sz="2000" spc="370" dirty="0">
                <a:latin typeface="Times New Roman"/>
                <a:cs typeface="Times New Roman"/>
              </a:rPr>
              <a:t> </a:t>
            </a:r>
            <a:r>
              <a:rPr sz="2000" dirty="0">
                <a:latin typeface="Times New Roman"/>
                <a:cs typeface="Times New Roman"/>
              </a:rPr>
              <a:t>activities</a:t>
            </a:r>
            <a:r>
              <a:rPr sz="2000" spc="350" dirty="0">
                <a:latin typeface="Times New Roman"/>
                <a:cs typeface="Times New Roman"/>
              </a:rPr>
              <a:t> </a:t>
            </a:r>
            <a:r>
              <a:rPr sz="2000" dirty="0">
                <a:latin typeface="Times New Roman"/>
                <a:cs typeface="Times New Roman"/>
              </a:rPr>
              <a:t>with</a:t>
            </a:r>
            <a:r>
              <a:rPr sz="2000" spc="375" dirty="0">
                <a:latin typeface="Times New Roman"/>
                <a:cs typeface="Times New Roman"/>
              </a:rPr>
              <a:t> </a:t>
            </a:r>
            <a:r>
              <a:rPr sz="2000" dirty="0">
                <a:latin typeface="Times New Roman"/>
                <a:cs typeface="Times New Roman"/>
              </a:rPr>
              <a:t>an</a:t>
            </a:r>
            <a:r>
              <a:rPr sz="2000" spc="365" dirty="0">
                <a:latin typeface="Times New Roman"/>
                <a:cs typeface="Times New Roman"/>
              </a:rPr>
              <a:t> </a:t>
            </a:r>
            <a:r>
              <a:rPr sz="2000" dirty="0">
                <a:latin typeface="Times New Roman"/>
                <a:cs typeface="Times New Roman"/>
              </a:rPr>
              <a:t>understanding</a:t>
            </a:r>
            <a:r>
              <a:rPr sz="2000" spc="360" dirty="0">
                <a:latin typeface="Times New Roman"/>
                <a:cs typeface="Times New Roman"/>
              </a:rPr>
              <a:t> </a:t>
            </a:r>
            <a:r>
              <a:rPr sz="2000" dirty="0">
                <a:latin typeface="Times New Roman"/>
                <a:cs typeface="Times New Roman"/>
              </a:rPr>
              <a:t>of</a:t>
            </a:r>
            <a:r>
              <a:rPr sz="2000" spc="360" dirty="0">
                <a:latin typeface="Times New Roman"/>
                <a:cs typeface="Times New Roman"/>
              </a:rPr>
              <a:t> </a:t>
            </a:r>
            <a:r>
              <a:rPr sz="2000" spc="-25" dirty="0">
                <a:latin typeface="Times New Roman"/>
                <a:cs typeface="Times New Roman"/>
              </a:rPr>
              <a:t>the </a:t>
            </a:r>
            <a:r>
              <a:rPr sz="2000" spc="-10" dirty="0">
                <a:latin typeface="Times New Roman"/>
                <a:cs typeface="Times New Roman"/>
              </a:rPr>
              <a:t>limitations.</a:t>
            </a:r>
            <a:endParaRPr sz="2000">
              <a:latin typeface="Times New Roman"/>
              <a:cs typeface="Times New Roman"/>
            </a:endParaRPr>
          </a:p>
          <a:p>
            <a:pPr marL="12700" marR="5080" algn="just">
              <a:lnSpc>
                <a:spcPct val="150000"/>
              </a:lnSpc>
            </a:pPr>
            <a:r>
              <a:rPr sz="2000" b="1" dirty="0">
                <a:latin typeface="Times New Roman"/>
                <a:cs typeface="Times New Roman"/>
              </a:rPr>
              <a:t>PO6::</a:t>
            </a:r>
            <a:r>
              <a:rPr sz="2000" b="1" spc="135" dirty="0">
                <a:latin typeface="Times New Roman"/>
                <a:cs typeface="Times New Roman"/>
              </a:rPr>
              <a:t>  </a:t>
            </a:r>
            <a:r>
              <a:rPr sz="2000" b="1" dirty="0">
                <a:latin typeface="Times New Roman"/>
                <a:cs typeface="Times New Roman"/>
              </a:rPr>
              <a:t>The</a:t>
            </a:r>
            <a:r>
              <a:rPr sz="2000" b="1" spc="125" dirty="0">
                <a:latin typeface="Times New Roman"/>
                <a:cs typeface="Times New Roman"/>
              </a:rPr>
              <a:t>  </a:t>
            </a:r>
            <a:r>
              <a:rPr sz="2000" b="1" dirty="0">
                <a:latin typeface="Times New Roman"/>
                <a:cs typeface="Times New Roman"/>
              </a:rPr>
              <a:t>engineer</a:t>
            </a:r>
            <a:r>
              <a:rPr sz="2000" b="1" spc="130" dirty="0">
                <a:latin typeface="Times New Roman"/>
                <a:cs typeface="Times New Roman"/>
              </a:rPr>
              <a:t>  </a:t>
            </a:r>
            <a:r>
              <a:rPr sz="2000" b="1" dirty="0">
                <a:latin typeface="Times New Roman"/>
                <a:cs typeface="Times New Roman"/>
              </a:rPr>
              <a:t>and</a:t>
            </a:r>
            <a:r>
              <a:rPr sz="2000" b="1" spc="125" dirty="0">
                <a:latin typeface="Times New Roman"/>
                <a:cs typeface="Times New Roman"/>
              </a:rPr>
              <a:t>  </a:t>
            </a:r>
            <a:r>
              <a:rPr sz="2000" b="1" dirty="0">
                <a:latin typeface="Times New Roman"/>
                <a:cs typeface="Times New Roman"/>
              </a:rPr>
              <a:t>society:</a:t>
            </a:r>
            <a:r>
              <a:rPr sz="2000" b="1" spc="130" dirty="0">
                <a:latin typeface="Times New Roman"/>
                <a:cs typeface="Times New Roman"/>
              </a:rPr>
              <a:t>  </a:t>
            </a:r>
            <a:r>
              <a:rPr sz="2000" dirty="0">
                <a:latin typeface="Times New Roman"/>
                <a:cs typeface="Times New Roman"/>
              </a:rPr>
              <a:t>Apply</a:t>
            </a:r>
            <a:r>
              <a:rPr sz="2000" spc="130" dirty="0">
                <a:latin typeface="Times New Roman"/>
                <a:cs typeface="Times New Roman"/>
              </a:rPr>
              <a:t>  </a:t>
            </a:r>
            <a:r>
              <a:rPr sz="2000" dirty="0">
                <a:latin typeface="Times New Roman"/>
                <a:cs typeface="Times New Roman"/>
              </a:rPr>
              <a:t>reasoning</a:t>
            </a:r>
            <a:r>
              <a:rPr sz="2000" spc="135" dirty="0">
                <a:latin typeface="Times New Roman"/>
                <a:cs typeface="Times New Roman"/>
              </a:rPr>
              <a:t>  </a:t>
            </a:r>
            <a:r>
              <a:rPr sz="2000" dirty="0">
                <a:latin typeface="Times New Roman"/>
                <a:cs typeface="Times New Roman"/>
              </a:rPr>
              <a:t>informed</a:t>
            </a:r>
            <a:r>
              <a:rPr sz="2000" spc="135" dirty="0">
                <a:latin typeface="Times New Roman"/>
                <a:cs typeface="Times New Roman"/>
              </a:rPr>
              <a:t>  </a:t>
            </a:r>
            <a:r>
              <a:rPr sz="2000" dirty="0">
                <a:latin typeface="Times New Roman"/>
                <a:cs typeface="Times New Roman"/>
              </a:rPr>
              <a:t>by</a:t>
            </a:r>
            <a:r>
              <a:rPr sz="2000" spc="130" dirty="0">
                <a:latin typeface="Times New Roman"/>
                <a:cs typeface="Times New Roman"/>
              </a:rPr>
              <a:t>  </a:t>
            </a:r>
            <a:r>
              <a:rPr sz="2000" spc="-25" dirty="0">
                <a:latin typeface="Times New Roman"/>
                <a:cs typeface="Times New Roman"/>
              </a:rPr>
              <a:t>the </a:t>
            </a:r>
            <a:r>
              <a:rPr sz="2000" dirty="0">
                <a:latin typeface="Times New Roman"/>
                <a:cs typeface="Times New Roman"/>
              </a:rPr>
              <a:t>contextual</a:t>
            </a:r>
            <a:r>
              <a:rPr sz="2000" spc="340" dirty="0">
                <a:latin typeface="Times New Roman"/>
                <a:cs typeface="Times New Roman"/>
              </a:rPr>
              <a:t> </a:t>
            </a:r>
            <a:r>
              <a:rPr sz="2000" dirty="0">
                <a:latin typeface="Times New Roman"/>
                <a:cs typeface="Times New Roman"/>
              </a:rPr>
              <a:t>knowledge</a:t>
            </a:r>
            <a:r>
              <a:rPr sz="2000" spc="350" dirty="0">
                <a:latin typeface="Times New Roman"/>
                <a:cs typeface="Times New Roman"/>
              </a:rPr>
              <a:t> </a:t>
            </a:r>
            <a:r>
              <a:rPr sz="2000" dirty="0">
                <a:latin typeface="Times New Roman"/>
                <a:cs typeface="Times New Roman"/>
              </a:rPr>
              <a:t>to</a:t>
            </a:r>
            <a:r>
              <a:rPr sz="2000" spc="360" dirty="0">
                <a:latin typeface="Times New Roman"/>
                <a:cs typeface="Times New Roman"/>
              </a:rPr>
              <a:t> </a:t>
            </a:r>
            <a:r>
              <a:rPr sz="2000" dirty="0">
                <a:latin typeface="Times New Roman"/>
                <a:cs typeface="Times New Roman"/>
              </a:rPr>
              <a:t>assess</a:t>
            </a:r>
            <a:r>
              <a:rPr sz="2000" spc="350" dirty="0">
                <a:latin typeface="Times New Roman"/>
                <a:cs typeface="Times New Roman"/>
              </a:rPr>
              <a:t> </a:t>
            </a:r>
            <a:r>
              <a:rPr sz="2000" dirty="0">
                <a:latin typeface="Times New Roman"/>
                <a:cs typeface="Times New Roman"/>
              </a:rPr>
              <a:t>societal,</a:t>
            </a:r>
            <a:r>
              <a:rPr sz="2000" spc="345" dirty="0">
                <a:latin typeface="Times New Roman"/>
                <a:cs typeface="Times New Roman"/>
              </a:rPr>
              <a:t> </a:t>
            </a:r>
            <a:r>
              <a:rPr sz="2000" dirty="0">
                <a:latin typeface="Times New Roman"/>
                <a:cs typeface="Times New Roman"/>
              </a:rPr>
              <a:t>health,</a:t>
            </a:r>
            <a:r>
              <a:rPr sz="2000" spc="340" dirty="0">
                <a:latin typeface="Times New Roman"/>
                <a:cs typeface="Times New Roman"/>
              </a:rPr>
              <a:t> </a:t>
            </a:r>
            <a:r>
              <a:rPr sz="2000" dirty="0">
                <a:latin typeface="Times New Roman"/>
                <a:cs typeface="Times New Roman"/>
              </a:rPr>
              <a:t>safety,</a:t>
            </a:r>
            <a:r>
              <a:rPr sz="2000" spc="360" dirty="0">
                <a:latin typeface="Times New Roman"/>
                <a:cs typeface="Times New Roman"/>
              </a:rPr>
              <a:t> </a:t>
            </a:r>
            <a:r>
              <a:rPr sz="2000" dirty="0">
                <a:latin typeface="Times New Roman"/>
                <a:cs typeface="Times New Roman"/>
              </a:rPr>
              <a:t>legal</a:t>
            </a:r>
            <a:r>
              <a:rPr sz="2000" spc="350" dirty="0">
                <a:latin typeface="Times New Roman"/>
                <a:cs typeface="Times New Roman"/>
              </a:rPr>
              <a:t> </a:t>
            </a:r>
            <a:r>
              <a:rPr sz="2000" dirty="0">
                <a:latin typeface="Times New Roman"/>
                <a:cs typeface="Times New Roman"/>
              </a:rPr>
              <a:t>and</a:t>
            </a:r>
            <a:r>
              <a:rPr sz="2000" spc="355" dirty="0">
                <a:latin typeface="Times New Roman"/>
                <a:cs typeface="Times New Roman"/>
              </a:rPr>
              <a:t> </a:t>
            </a:r>
            <a:r>
              <a:rPr sz="2000" spc="-10" dirty="0">
                <a:latin typeface="Times New Roman"/>
                <a:cs typeface="Times New Roman"/>
              </a:rPr>
              <a:t>cultural </a:t>
            </a:r>
            <a:r>
              <a:rPr sz="2000" dirty="0">
                <a:latin typeface="Times New Roman"/>
                <a:cs typeface="Times New Roman"/>
              </a:rPr>
              <a:t>issues</a:t>
            </a:r>
            <a:r>
              <a:rPr sz="2000" spc="125" dirty="0">
                <a:latin typeface="Times New Roman"/>
                <a:cs typeface="Times New Roman"/>
              </a:rPr>
              <a:t>  </a:t>
            </a:r>
            <a:r>
              <a:rPr sz="2000" dirty="0">
                <a:latin typeface="Times New Roman"/>
                <a:cs typeface="Times New Roman"/>
              </a:rPr>
              <a:t>and</a:t>
            </a:r>
            <a:r>
              <a:rPr sz="2000" spc="125" dirty="0">
                <a:latin typeface="Times New Roman"/>
                <a:cs typeface="Times New Roman"/>
              </a:rPr>
              <a:t>  </a:t>
            </a:r>
            <a:r>
              <a:rPr sz="2000" dirty="0">
                <a:latin typeface="Times New Roman"/>
                <a:cs typeface="Times New Roman"/>
              </a:rPr>
              <a:t>the</a:t>
            </a:r>
            <a:r>
              <a:rPr sz="2000" spc="125" dirty="0">
                <a:latin typeface="Times New Roman"/>
                <a:cs typeface="Times New Roman"/>
              </a:rPr>
              <a:t>  </a:t>
            </a:r>
            <a:r>
              <a:rPr sz="2000" dirty="0">
                <a:latin typeface="Times New Roman"/>
                <a:cs typeface="Times New Roman"/>
              </a:rPr>
              <a:t>consequent</a:t>
            </a:r>
            <a:r>
              <a:rPr sz="2000" spc="125" dirty="0">
                <a:latin typeface="Times New Roman"/>
                <a:cs typeface="Times New Roman"/>
              </a:rPr>
              <a:t>  </a:t>
            </a:r>
            <a:r>
              <a:rPr sz="2000" dirty="0">
                <a:latin typeface="Times New Roman"/>
                <a:cs typeface="Times New Roman"/>
              </a:rPr>
              <a:t>responsibilities</a:t>
            </a:r>
            <a:r>
              <a:rPr sz="2000" spc="114" dirty="0">
                <a:latin typeface="Times New Roman"/>
                <a:cs typeface="Times New Roman"/>
              </a:rPr>
              <a:t>  </a:t>
            </a:r>
            <a:r>
              <a:rPr sz="2000" dirty="0">
                <a:latin typeface="Times New Roman"/>
                <a:cs typeface="Times New Roman"/>
              </a:rPr>
              <a:t>relevant</a:t>
            </a:r>
            <a:r>
              <a:rPr sz="2000" spc="125" dirty="0">
                <a:latin typeface="Times New Roman"/>
                <a:cs typeface="Times New Roman"/>
              </a:rPr>
              <a:t>  </a:t>
            </a:r>
            <a:r>
              <a:rPr sz="2000" dirty="0">
                <a:latin typeface="Times New Roman"/>
                <a:cs typeface="Times New Roman"/>
              </a:rPr>
              <a:t>to</a:t>
            </a:r>
            <a:r>
              <a:rPr sz="2000" spc="125" dirty="0">
                <a:latin typeface="Times New Roman"/>
                <a:cs typeface="Times New Roman"/>
              </a:rPr>
              <a:t>  </a:t>
            </a:r>
            <a:r>
              <a:rPr sz="2000" dirty="0">
                <a:latin typeface="Times New Roman"/>
                <a:cs typeface="Times New Roman"/>
              </a:rPr>
              <a:t>the</a:t>
            </a:r>
            <a:r>
              <a:rPr sz="2000" spc="114" dirty="0">
                <a:latin typeface="Times New Roman"/>
                <a:cs typeface="Times New Roman"/>
              </a:rPr>
              <a:t>  </a:t>
            </a:r>
            <a:r>
              <a:rPr sz="2000" spc="-10" dirty="0">
                <a:latin typeface="Times New Roman"/>
                <a:cs typeface="Times New Roman"/>
              </a:rPr>
              <a:t>professional </a:t>
            </a:r>
            <a:r>
              <a:rPr sz="2000" dirty="0">
                <a:latin typeface="Times New Roman"/>
                <a:cs typeface="Times New Roman"/>
              </a:rPr>
              <a:t>engineering</a:t>
            </a:r>
            <a:r>
              <a:rPr sz="2000" spc="-40" dirty="0">
                <a:latin typeface="Times New Roman"/>
                <a:cs typeface="Times New Roman"/>
              </a:rPr>
              <a:t> </a:t>
            </a:r>
            <a:r>
              <a:rPr sz="2000" spc="-10" dirty="0">
                <a:latin typeface="Times New Roman"/>
                <a:cs typeface="Times New Roman"/>
              </a:rPr>
              <a:t>practice.</a:t>
            </a:r>
            <a:endParaRPr sz="2000">
              <a:latin typeface="Times New Roman"/>
              <a:cs typeface="Times New Roman"/>
            </a:endParaRPr>
          </a:p>
          <a:p>
            <a:pPr marR="1725930" algn="r">
              <a:lnSpc>
                <a:spcPts val="535"/>
              </a:lnSpc>
              <a:spcBef>
                <a:spcPts val="1305"/>
              </a:spcBef>
            </a:pPr>
            <a:r>
              <a:rPr sz="650" spc="-50" dirty="0">
                <a:solidFill>
                  <a:srgbClr val="888888"/>
                </a:solidFill>
                <a:latin typeface="Times New Roman"/>
                <a:cs typeface="Times New Roman"/>
              </a:rPr>
              <a:t>5</a:t>
            </a:r>
            <a:endParaRPr sz="650">
              <a:latin typeface="Times New Roman"/>
              <a:cs typeface="Times New Roman"/>
            </a:endParaRPr>
          </a:p>
          <a:p>
            <a:pPr marL="12700" algn="just">
              <a:lnSpc>
                <a:spcPts val="2155"/>
              </a:lnSpc>
            </a:pPr>
            <a:r>
              <a:rPr sz="2000" b="1" dirty="0">
                <a:latin typeface="Times New Roman"/>
                <a:cs typeface="Times New Roman"/>
              </a:rPr>
              <a:t>PO12:</a:t>
            </a:r>
            <a:r>
              <a:rPr sz="2000" b="1" spc="270" dirty="0">
                <a:latin typeface="Times New Roman"/>
                <a:cs typeface="Times New Roman"/>
              </a:rPr>
              <a:t>  </a:t>
            </a:r>
            <a:r>
              <a:rPr sz="2000" b="1" spc="-10" dirty="0">
                <a:latin typeface="Times New Roman"/>
                <a:cs typeface="Times New Roman"/>
              </a:rPr>
              <a:t>Life-</a:t>
            </a:r>
            <a:r>
              <a:rPr sz="2000" b="1" dirty="0">
                <a:latin typeface="Times New Roman"/>
                <a:cs typeface="Times New Roman"/>
              </a:rPr>
              <a:t>long</a:t>
            </a:r>
            <a:r>
              <a:rPr sz="2000" b="1" spc="270" dirty="0">
                <a:latin typeface="Times New Roman"/>
                <a:cs typeface="Times New Roman"/>
              </a:rPr>
              <a:t>  </a:t>
            </a:r>
            <a:r>
              <a:rPr sz="2000" b="1" dirty="0">
                <a:latin typeface="Times New Roman"/>
                <a:cs typeface="Times New Roman"/>
              </a:rPr>
              <a:t>learning:</a:t>
            </a:r>
            <a:r>
              <a:rPr sz="2000" b="1" spc="270" dirty="0">
                <a:latin typeface="Times New Roman"/>
                <a:cs typeface="Times New Roman"/>
              </a:rPr>
              <a:t>  </a:t>
            </a:r>
            <a:r>
              <a:rPr sz="2000" dirty="0">
                <a:latin typeface="Times New Roman"/>
                <a:cs typeface="Times New Roman"/>
              </a:rPr>
              <a:t>Recognize</a:t>
            </a:r>
            <a:r>
              <a:rPr sz="2000" spc="260" dirty="0">
                <a:latin typeface="Times New Roman"/>
                <a:cs typeface="Times New Roman"/>
              </a:rPr>
              <a:t>  </a:t>
            </a:r>
            <a:r>
              <a:rPr sz="2000" dirty="0">
                <a:latin typeface="Times New Roman"/>
                <a:cs typeface="Times New Roman"/>
              </a:rPr>
              <a:t>the</a:t>
            </a:r>
            <a:r>
              <a:rPr sz="2000" spc="260" dirty="0">
                <a:latin typeface="Times New Roman"/>
                <a:cs typeface="Times New Roman"/>
              </a:rPr>
              <a:t>  </a:t>
            </a:r>
            <a:r>
              <a:rPr sz="2000" dirty="0">
                <a:latin typeface="Times New Roman"/>
                <a:cs typeface="Times New Roman"/>
              </a:rPr>
              <a:t>need</a:t>
            </a:r>
            <a:r>
              <a:rPr sz="2000" spc="265" dirty="0">
                <a:latin typeface="Times New Roman"/>
                <a:cs typeface="Times New Roman"/>
              </a:rPr>
              <a:t>  </a:t>
            </a:r>
            <a:r>
              <a:rPr sz="2000" dirty="0">
                <a:latin typeface="Times New Roman"/>
                <a:cs typeface="Times New Roman"/>
              </a:rPr>
              <a:t>for,</a:t>
            </a:r>
            <a:r>
              <a:rPr sz="2000" spc="265" dirty="0">
                <a:latin typeface="Times New Roman"/>
                <a:cs typeface="Times New Roman"/>
              </a:rPr>
              <a:t>  </a:t>
            </a:r>
            <a:r>
              <a:rPr sz="2000" dirty="0">
                <a:latin typeface="Times New Roman"/>
                <a:cs typeface="Times New Roman"/>
              </a:rPr>
              <a:t>and</a:t>
            </a:r>
            <a:r>
              <a:rPr sz="2000" spc="265" dirty="0">
                <a:latin typeface="Times New Roman"/>
                <a:cs typeface="Times New Roman"/>
              </a:rPr>
              <a:t>  </a:t>
            </a:r>
            <a:r>
              <a:rPr sz="2000" dirty="0">
                <a:latin typeface="Times New Roman"/>
                <a:cs typeface="Times New Roman"/>
              </a:rPr>
              <a:t>have</a:t>
            </a:r>
            <a:r>
              <a:rPr sz="2000" spc="270"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12700" algn="just">
              <a:lnSpc>
                <a:spcPct val="100000"/>
              </a:lnSpc>
              <a:spcBef>
                <a:spcPts val="1200"/>
              </a:spcBef>
            </a:pPr>
            <a:r>
              <a:rPr sz="2000" dirty="0">
                <a:latin typeface="Times New Roman"/>
                <a:cs typeface="Times New Roman"/>
              </a:rPr>
              <a:t>preparation</a:t>
            </a:r>
            <a:r>
              <a:rPr sz="2000" spc="-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ability</a:t>
            </a:r>
            <a:r>
              <a:rPr sz="2000" spc="-1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engage</a:t>
            </a:r>
            <a:r>
              <a:rPr sz="2000" spc="-1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independent</a:t>
            </a:r>
            <a:r>
              <a:rPr sz="2000" spc="-1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spc="-10" dirty="0">
                <a:latin typeface="Times New Roman"/>
                <a:cs typeface="Times New Roman"/>
              </a:rPr>
              <a:t>life-</a:t>
            </a:r>
            <a:r>
              <a:rPr sz="2000" dirty="0">
                <a:latin typeface="Times New Roman"/>
                <a:cs typeface="Times New Roman"/>
              </a:rPr>
              <a:t>long</a:t>
            </a:r>
            <a:r>
              <a:rPr sz="2000" spc="-10" dirty="0">
                <a:latin typeface="Times New Roman"/>
                <a:cs typeface="Times New Roman"/>
              </a:rPr>
              <a:t> </a:t>
            </a:r>
            <a:r>
              <a:rPr sz="2000" dirty="0">
                <a:latin typeface="Times New Roman"/>
                <a:cs typeface="Times New Roman"/>
              </a:rPr>
              <a:t>learning</a:t>
            </a:r>
            <a:r>
              <a:rPr sz="2000" spc="-20" dirty="0">
                <a:latin typeface="Times New Roman"/>
                <a:cs typeface="Times New Roman"/>
              </a:rPr>
              <a:t> </a:t>
            </a:r>
            <a:r>
              <a:rPr sz="2000" dirty="0">
                <a:latin typeface="Times New Roman"/>
                <a:cs typeface="Times New Roman"/>
              </a:rPr>
              <a:t>in </a:t>
            </a:r>
            <a:r>
              <a:rPr sz="2000" spc="-25" dirty="0">
                <a:latin typeface="Times New Roman"/>
                <a:cs typeface="Times New Roman"/>
              </a:rPr>
              <a:t>the</a:t>
            </a:r>
            <a:endParaRPr sz="2000">
              <a:latin typeface="Times New Roman"/>
              <a:cs typeface="Times New Roman"/>
            </a:endParaRPr>
          </a:p>
          <a:p>
            <a:pPr marL="12700" algn="just">
              <a:lnSpc>
                <a:spcPct val="100000"/>
              </a:lnSpc>
              <a:spcBef>
                <a:spcPts val="1200"/>
              </a:spcBef>
            </a:pPr>
            <a:r>
              <a:rPr sz="2000" dirty="0">
                <a:latin typeface="Times New Roman"/>
                <a:cs typeface="Times New Roman"/>
              </a:rPr>
              <a:t>broadest</a:t>
            </a:r>
            <a:r>
              <a:rPr sz="2000" spc="-65" dirty="0">
                <a:latin typeface="Times New Roman"/>
                <a:cs typeface="Times New Roman"/>
              </a:rPr>
              <a:t> </a:t>
            </a:r>
            <a:r>
              <a:rPr sz="2000" dirty="0">
                <a:latin typeface="Times New Roman"/>
                <a:cs typeface="Times New Roman"/>
              </a:rPr>
              <a:t>context</a:t>
            </a:r>
            <a:r>
              <a:rPr sz="2000" spc="-3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technological</a:t>
            </a:r>
            <a:r>
              <a:rPr sz="2000" spc="-55" dirty="0">
                <a:latin typeface="Times New Roman"/>
                <a:cs typeface="Times New Roman"/>
              </a:rPr>
              <a:t> </a:t>
            </a:r>
            <a:r>
              <a:rPr sz="2000" spc="-10" dirty="0">
                <a:latin typeface="Times New Roman"/>
                <a:cs typeface="Times New Roman"/>
              </a:rPr>
              <a:t>change.</a:t>
            </a:r>
            <a:endParaRPr sz="2000">
              <a:latin typeface="Times New Roman"/>
              <a:cs typeface="Times New Roman"/>
            </a:endParaRPr>
          </a:p>
        </p:txBody>
      </p:sp>
      <p:sp>
        <p:nvSpPr>
          <p:cNvPr id="4" name="object 4" descr="$PPTXTitle"/>
          <p:cNvSpPr txBox="1">
            <a:spLocks noGrp="1"/>
          </p:cNvSpPr>
          <p:nvPr>
            <p:ph type="title"/>
          </p:nvPr>
        </p:nvSpPr>
        <p:spPr>
          <a:xfrm>
            <a:off x="2060194" y="544195"/>
            <a:ext cx="3847465" cy="566822"/>
          </a:xfrm>
          <a:prstGeom prst="rect">
            <a:avLst/>
          </a:prstGeom>
        </p:spPr>
        <p:txBody>
          <a:bodyPr vert="horz" wrap="square" lIns="0" tIns="12700" rIns="0" bIns="0" rtlCol="0">
            <a:spAutoFit/>
          </a:bodyPr>
          <a:lstStyle/>
          <a:p>
            <a:pPr marL="12700">
              <a:lnSpc>
                <a:spcPct val="100000"/>
              </a:lnSpc>
              <a:spcBef>
                <a:spcPts val="100"/>
              </a:spcBef>
            </a:pPr>
            <a:r>
              <a:rPr sz="3600" u="none" dirty="0">
                <a:solidFill>
                  <a:srgbClr val="C00000"/>
                </a:solidFill>
              </a:rPr>
              <a:t>Program</a:t>
            </a:r>
            <a:r>
              <a:rPr sz="3600" u="none" spc="-140" dirty="0">
                <a:solidFill>
                  <a:srgbClr val="C00000"/>
                </a:solidFill>
              </a:rPr>
              <a:t> </a:t>
            </a:r>
            <a:r>
              <a:rPr sz="3600" u="none" spc="-10" dirty="0">
                <a:solidFill>
                  <a:srgbClr val="C00000"/>
                </a:solidFill>
              </a:rPr>
              <a:t>Outcomes</a:t>
            </a:r>
            <a:endParaRPr sz="3600" dirty="0"/>
          </a:p>
        </p:txBody>
      </p:sp>
      <p:grpSp>
        <p:nvGrpSpPr>
          <p:cNvPr id="5" name="object 5"/>
          <p:cNvGrpSpPr/>
          <p:nvPr/>
        </p:nvGrpSpPr>
        <p:grpSpPr>
          <a:xfrm>
            <a:off x="2116835" y="1249680"/>
            <a:ext cx="7094855" cy="61594"/>
            <a:chOff x="2116835" y="1249680"/>
            <a:chExt cx="7094855" cy="61594"/>
          </a:xfrm>
        </p:grpSpPr>
        <p:pic>
          <p:nvPicPr>
            <p:cNvPr id="6" name="object 6"/>
            <p:cNvPicPr/>
            <p:nvPr/>
          </p:nvPicPr>
          <p:blipFill>
            <a:blip r:embed="rId2" cstate="print"/>
            <a:stretch>
              <a:fillRect/>
            </a:stretch>
          </p:blipFill>
          <p:spPr>
            <a:xfrm>
              <a:off x="2133599" y="1270974"/>
              <a:ext cx="7076694" cy="40300"/>
            </a:xfrm>
            <a:prstGeom prst="rect">
              <a:avLst/>
            </a:prstGeom>
          </p:spPr>
        </p:pic>
        <p:sp>
          <p:nvSpPr>
            <p:cNvPr id="7" name="object 7"/>
            <p:cNvSpPr/>
            <p:nvPr/>
          </p:nvSpPr>
          <p:spPr>
            <a:xfrm>
              <a:off x="2135885" y="1268730"/>
              <a:ext cx="7056755" cy="1905"/>
            </a:xfrm>
            <a:custGeom>
              <a:avLst/>
              <a:gdLst/>
              <a:ahLst/>
              <a:cxnLst/>
              <a:rect l="l" t="t" r="r" b="b"/>
              <a:pathLst>
                <a:path w="7056755" h="1905">
                  <a:moveTo>
                    <a:pt x="0" y="0"/>
                  </a:moveTo>
                  <a:lnTo>
                    <a:pt x="7056373" y="1524"/>
                  </a:lnTo>
                </a:path>
              </a:pathLst>
            </a:custGeom>
            <a:ln w="38100">
              <a:solidFill>
                <a:srgbClr val="F79546"/>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p:cNvSpPr txBox="1">
            <a:spLocks noGrp="1"/>
          </p:cNvSpPr>
          <p:nvPr>
            <p:ph type="title"/>
          </p:nvPr>
        </p:nvSpPr>
        <p:spPr>
          <a:xfrm>
            <a:off x="2136394" y="406653"/>
            <a:ext cx="5485130" cy="574040"/>
          </a:xfrm>
          <a:prstGeom prst="rect">
            <a:avLst/>
          </a:prstGeom>
        </p:spPr>
        <p:txBody>
          <a:bodyPr vert="horz" wrap="square" lIns="0" tIns="12700" rIns="0" bIns="0" rtlCol="0">
            <a:spAutoFit/>
          </a:bodyPr>
          <a:lstStyle/>
          <a:p>
            <a:pPr marL="12700">
              <a:lnSpc>
                <a:spcPct val="100000"/>
              </a:lnSpc>
              <a:spcBef>
                <a:spcPts val="100"/>
              </a:spcBef>
            </a:pPr>
            <a:r>
              <a:rPr sz="3600" u="none" dirty="0">
                <a:solidFill>
                  <a:srgbClr val="C00000"/>
                </a:solidFill>
              </a:rPr>
              <a:t>Program</a:t>
            </a:r>
            <a:r>
              <a:rPr sz="3600" u="none" spc="-130" dirty="0">
                <a:solidFill>
                  <a:srgbClr val="C00000"/>
                </a:solidFill>
              </a:rPr>
              <a:t> </a:t>
            </a:r>
            <a:r>
              <a:rPr sz="3600" u="none" dirty="0">
                <a:solidFill>
                  <a:srgbClr val="C00000"/>
                </a:solidFill>
              </a:rPr>
              <a:t>Specific</a:t>
            </a:r>
            <a:r>
              <a:rPr sz="3600" u="none" spc="-130" dirty="0">
                <a:solidFill>
                  <a:srgbClr val="C00000"/>
                </a:solidFill>
              </a:rPr>
              <a:t> </a:t>
            </a:r>
            <a:r>
              <a:rPr sz="3600" u="none" spc="-10" dirty="0">
                <a:solidFill>
                  <a:srgbClr val="C00000"/>
                </a:solidFill>
              </a:rPr>
              <a:t>Outcomes</a:t>
            </a:r>
            <a:endParaRPr sz="3600"/>
          </a:p>
        </p:txBody>
      </p:sp>
      <p:sp>
        <p:nvSpPr>
          <p:cNvPr id="4" name="object 4"/>
          <p:cNvSpPr txBox="1"/>
          <p:nvPr/>
        </p:nvSpPr>
        <p:spPr>
          <a:xfrm>
            <a:off x="1679194" y="1395730"/>
            <a:ext cx="9763760" cy="2661920"/>
          </a:xfrm>
          <a:prstGeom prst="rect">
            <a:avLst/>
          </a:prstGeom>
        </p:spPr>
        <p:txBody>
          <a:bodyPr vert="horz" wrap="square" lIns="0" tIns="28575" rIns="0" bIns="0" rtlCol="0">
            <a:spAutoFit/>
          </a:bodyPr>
          <a:lstStyle/>
          <a:p>
            <a:pPr marL="355600" marR="5080" indent="-342900">
              <a:lnSpc>
                <a:spcPts val="2350"/>
              </a:lnSpc>
              <a:spcBef>
                <a:spcPts val="225"/>
              </a:spcBef>
              <a:buFont typeface="Arial MT"/>
              <a:buChar char="•"/>
              <a:tabLst>
                <a:tab pos="355600" algn="l"/>
              </a:tabLst>
            </a:pPr>
            <a:r>
              <a:rPr sz="2000" b="1" dirty="0">
                <a:latin typeface="Times New Roman"/>
                <a:cs typeface="Times New Roman"/>
              </a:rPr>
              <a:t>PSO1::</a:t>
            </a:r>
            <a:r>
              <a:rPr sz="2000" b="1" spc="275" dirty="0">
                <a:latin typeface="Times New Roman"/>
                <a:cs typeface="Times New Roman"/>
              </a:rPr>
              <a:t> </a:t>
            </a:r>
            <a:r>
              <a:rPr sz="2000" dirty="0">
                <a:latin typeface="Times New Roman"/>
                <a:cs typeface="Times New Roman"/>
              </a:rPr>
              <a:t>Apply</a:t>
            </a:r>
            <a:r>
              <a:rPr sz="2000" spc="270" dirty="0">
                <a:latin typeface="Times New Roman"/>
                <a:cs typeface="Times New Roman"/>
              </a:rPr>
              <a:t> </a:t>
            </a:r>
            <a:r>
              <a:rPr sz="2000" dirty="0">
                <a:latin typeface="Times New Roman"/>
                <a:cs typeface="Times New Roman"/>
              </a:rPr>
              <a:t>skills</a:t>
            </a:r>
            <a:r>
              <a:rPr sz="2000" spc="275" dirty="0">
                <a:latin typeface="Times New Roman"/>
                <a:cs typeface="Times New Roman"/>
              </a:rPr>
              <a:t> </a:t>
            </a:r>
            <a:r>
              <a:rPr sz="2000" dirty="0">
                <a:latin typeface="Times New Roman"/>
                <a:cs typeface="Times New Roman"/>
              </a:rPr>
              <a:t>for</a:t>
            </a:r>
            <a:r>
              <a:rPr sz="2000" spc="280" dirty="0">
                <a:latin typeface="Times New Roman"/>
                <a:cs typeface="Times New Roman"/>
              </a:rPr>
              <a:t> </a:t>
            </a:r>
            <a:r>
              <a:rPr sz="2000" dirty="0">
                <a:latin typeface="Times New Roman"/>
                <a:cs typeface="Times New Roman"/>
              </a:rPr>
              <a:t>configuring</a:t>
            </a:r>
            <a:r>
              <a:rPr sz="2000" spc="290" dirty="0">
                <a:latin typeface="Times New Roman"/>
                <a:cs typeface="Times New Roman"/>
              </a:rPr>
              <a:t> </a:t>
            </a:r>
            <a:r>
              <a:rPr sz="2000" dirty="0">
                <a:latin typeface="Times New Roman"/>
                <a:cs typeface="Times New Roman"/>
              </a:rPr>
              <a:t>and</a:t>
            </a:r>
            <a:r>
              <a:rPr sz="2000" spc="270" dirty="0">
                <a:latin typeface="Times New Roman"/>
                <a:cs typeface="Times New Roman"/>
              </a:rPr>
              <a:t> </a:t>
            </a:r>
            <a:r>
              <a:rPr sz="2000" dirty="0">
                <a:latin typeface="Times New Roman"/>
                <a:cs typeface="Times New Roman"/>
              </a:rPr>
              <a:t>operating</a:t>
            </a:r>
            <a:r>
              <a:rPr sz="2000" spc="290" dirty="0">
                <a:latin typeface="Times New Roman"/>
                <a:cs typeface="Times New Roman"/>
              </a:rPr>
              <a:t> </a:t>
            </a:r>
            <a:r>
              <a:rPr sz="2000" dirty="0">
                <a:latin typeface="Times New Roman"/>
                <a:cs typeface="Times New Roman"/>
              </a:rPr>
              <a:t>complex</a:t>
            </a:r>
            <a:r>
              <a:rPr sz="2000" spc="280" dirty="0">
                <a:latin typeface="Times New Roman"/>
                <a:cs typeface="Times New Roman"/>
              </a:rPr>
              <a:t> </a:t>
            </a:r>
            <a:r>
              <a:rPr sz="2000" dirty="0">
                <a:latin typeface="Times New Roman"/>
                <a:cs typeface="Times New Roman"/>
              </a:rPr>
              <a:t>software</a:t>
            </a:r>
            <a:r>
              <a:rPr sz="2000" spc="275" dirty="0">
                <a:latin typeface="Times New Roman"/>
                <a:cs typeface="Times New Roman"/>
              </a:rPr>
              <a:t> </a:t>
            </a:r>
            <a:r>
              <a:rPr sz="2000" dirty="0">
                <a:latin typeface="Times New Roman"/>
                <a:cs typeface="Times New Roman"/>
              </a:rPr>
              <a:t>systems,</a:t>
            </a:r>
            <a:r>
              <a:rPr sz="2000" spc="290" dirty="0">
                <a:latin typeface="Times New Roman"/>
                <a:cs typeface="Times New Roman"/>
              </a:rPr>
              <a:t> </a:t>
            </a:r>
            <a:r>
              <a:rPr sz="2000" spc="-10" dirty="0">
                <a:latin typeface="Times New Roman"/>
                <a:cs typeface="Times New Roman"/>
              </a:rPr>
              <a:t>packages, </a:t>
            </a:r>
            <a:r>
              <a:rPr sz="2000" dirty="0">
                <a:latin typeface="Times New Roman"/>
                <a:cs typeface="Times New Roman"/>
              </a:rPr>
              <a:t>tools</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applications</a:t>
            </a:r>
            <a:r>
              <a:rPr sz="2000" spc="-40"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sustainability</a:t>
            </a:r>
            <a:r>
              <a:rPr sz="2000" spc="-4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various</a:t>
            </a:r>
            <a:r>
              <a:rPr sz="2000" spc="-45" dirty="0">
                <a:latin typeface="Times New Roman"/>
                <a:cs typeface="Times New Roman"/>
              </a:rPr>
              <a:t> </a:t>
            </a:r>
            <a:r>
              <a:rPr sz="2000" spc="-10" dirty="0">
                <a:latin typeface="Times New Roman"/>
                <a:cs typeface="Times New Roman"/>
              </a:rPr>
              <a:t>domains.</a:t>
            </a:r>
            <a:endParaRPr sz="2000" dirty="0">
              <a:latin typeface="Times New Roman"/>
              <a:cs typeface="Times New Roman"/>
            </a:endParaRPr>
          </a:p>
          <a:p>
            <a:pPr>
              <a:lnSpc>
                <a:spcPct val="100000"/>
              </a:lnSpc>
              <a:spcBef>
                <a:spcPts val="1005"/>
              </a:spcBef>
              <a:buFont typeface="Arial MT"/>
              <a:buChar char="•"/>
            </a:pPr>
            <a:endParaRPr sz="2000" dirty="0">
              <a:latin typeface="Times New Roman"/>
              <a:cs typeface="Times New Roman"/>
            </a:endParaRPr>
          </a:p>
          <a:p>
            <a:pPr marL="355600" marR="9525" indent="-342900">
              <a:lnSpc>
                <a:spcPts val="2350"/>
              </a:lnSpc>
              <a:buFont typeface="Arial MT"/>
              <a:buChar char="•"/>
              <a:tabLst>
                <a:tab pos="355600" algn="l"/>
              </a:tabLst>
            </a:pPr>
            <a:r>
              <a:rPr sz="2000" b="1" dirty="0">
                <a:latin typeface="Times New Roman"/>
                <a:cs typeface="Times New Roman"/>
              </a:rPr>
              <a:t>PSO2::</a:t>
            </a:r>
            <a:r>
              <a:rPr sz="2000" b="1" spc="375" dirty="0">
                <a:latin typeface="Times New Roman"/>
                <a:cs typeface="Times New Roman"/>
              </a:rPr>
              <a:t> </a:t>
            </a:r>
            <a:r>
              <a:rPr sz="2000" dirty="0">
                <a:latin typeface="Times New Roman"/>
                <a:cs typeface="Times New Roman"/>
              </a:rPr>
              <a:t>Acquire</a:t>
            </a:r>
            <a:r>
              <a:rPr sz="2000" spc="390" dirty="0">
                <a:latin typeface="Times New Roman"/>
                <a:cs typeface="Times New Roman"/>
              </a:rPr>
              <a:t> </a:t>
            </a:r>
            <a:r>
              <a:rPr sz="2000" dirty="0">
                <a:latin typeface="Times New Roman"/>
                <a:cs typeface="Times New Roman"/>
              </a:rPr>
              <a:t>skills</a:t>
            </a:r>
            <a:r>
              <a:rPr sz="2000" spc="385" dirty="0">
                <a:latin typeface="Times New Roman"/>
                <a:cs typeface="Times New Roman"/>
              </a:rPr>
              <a:t> </a:t>
            </a:r>
            <a:r>
              <a:rPr sz="2000" dirty="0">
                <a:latin typeface="Times New Roman"/>
                <a:cs typeface="Times New Roman"/>
              </a:rPr>
              <a:t>to</a:t>
            </a:r>
            <a:r>
              <a:rPr sz="2000" spc="390" dirty="0">
                <a:latin typeface="Times New Roman"/>
                <a:cs typeface="Times New Roman"/>
              </a:rPr>
              <a:t> </a:t>
            </a:r>
            <a:r>
              <a:rPr sz="2000" dirty="0">
                <a:latin typeface="Times New Roman"/>
                <a:cs typeface="Times New Roman"/>
              </a:rPr>
              <a:t>model,</a:t>
            </a:r>
            <a:r>
              <a:rPr sz="2000" spc="375" dirty="0">
                <a:latin typeface="Times New Roman"/>
                <a:cs typeface="Times New Roman"/>
              </a:rPr>
              <a:t> </a:t>
            </a:r>
            <a:r>
              <a:rPr sz="2000" dirty="0">
                <a:latin typeface="Times New Roman"/>
                <a:cs typeface="Times New Roman"/>
              </a:rPr>
              <a:t>design,</a:t>
            </a:r>
            <a:r>
              <a:rPr sz="2000" spc="375" dirty="0">
                <a:latin typeface="Times New Roman"/>
                <a:cs typeface="Times New Roman"/>
              </a:rPr>
              <a:t> </a:t>
            </a:r>
            <a:r>
              <a:rPr sz="2000" dirty="0">
                <a:latin typeface="Times New Roman"/>
                <a:cs typeface="Times New Roman"/>
              </a:rPr>
              <a:t>develop,</a:t>
            </a:r>
            <a:r>
              <a:rPr sz="2000" spc="400" dirty="0">
                <a:latin typeface="Times New Roman"/>
                <a:cs typeface="Times New Roman"/>
              </a:rPr>
              <a:t> </a:t>
            </a:r>
            <a:r>
              <a:rPr sz="2000" dirty="0">
                <a:latin typeface="Times New Roman"/>
                <a:cs typeface="Times New Roman"/>
              </a:rPr>
              <a:t>manage</a:t>
            </a:r>
            <a:r>
              <a:rPr sz="2000" spc="395" dirty="0">
                <a:latin typeface="Times New Roman"/>
                <a:cs typeface="Times New Roman"/>
              </a:rPr>
              <a:t> </a:t>
            </a:r>
            <a:r>
              <a:rPr sz="2000" dirty="0">
                <a:latin typeface="Times New Roman"/>
                <a:cs typeface="Times New Roman"/>
              </a:rPr>
              <a:t>and</a:t>
            </a:r>
            <a:r>
              <a:rPr sz="2000" spc="380" dirty="0">
                <a:latin typeface="Times New Roman"/>
                <a:cs typeface="Times New Roman"/>
              </a:rPr>
              <a:t> </a:t>
            </a:r>
            <a:r>
              <a:rPr sz="2000" dirty="0">
                <a:latin typeface="Times New Roman"/>
                <a:cs typeface="Times New Roman"/>
              </a:rPr>
              <a:t>resolve</a:t>
            </a:r>
            <a:r>
              <a:rPr sz="2000" spc="380" dirty="0">
                <a:latin typeface="Times New Roman"/>
                <a:cs typeface="Times New Roman"/>
              </a:rPr>
              <a:t> </a:t>
            </a:r>
            <a:r>
              <a:rPr sz="2000" dirty="0">
                <a:latin typeface="Times New Roman"/>
                <a:cs typeface="Times New Roman"/>
              </a:rPr>
              <a:t>issues</a:t>
            </a:r>
            <a:r>
              <a:rPr sz="2000" spc="375" dirty="0">
                <a:latin typeface="Times New Roman"/>
                <a:cs typeface="Times New Roman"/>
              </a:rPr>
              <a:t> </a:t>
            </a:r>
            <a:r>
              <a:rPr sz="2000" dirty="0">
                <a:latin typeface="Times New Roman"/>
                <a:cs typeface="Times New Roman"/>
              </a:rPr>
              <a:t>related</a:t>
            </a:r>
            <a:r>
              <a:rPr sz="2000" spc="400" dirty="0">
                <a:latin typeface="Times New Roman"/>
                <a:cs typeface="Times New Roman"/>
              </a:rPr>
              <a:t> </a:t>
            </a:r>
            <a:r>
              <a:rPr sz="2000" spc="-25" dirty="0">
                <a:latin typeface="Times New Roman"/>
                <a:cs typeface="Times New Roman"/>
              </a:rPr>
              <a:t>to </a:t>
            </a:r>
            <a:r>
              <a:rPr sz="2000" dirty="0">
                <a:latin typeface="Times New Roman"/>
                <a:cs typeface="Times New Roman"/>
              </a:rPr>
              <a:t>robust</a:t>
            </a:r>
            <a:r>
              <a:rPr sz="2000" spc="-45" dirty="0">
                <a:latin typeface="Times New Roman"/>
                <a:cs typeface="Times New Roman"/>
              </a:rPr>
              <a:t> </a:t>
            </a:r>
            <a:r>
              <a:rPr sz="2000" dirty="0">
                <a:latin typeface="Times New Roman"/>
                <a:cs typeface="Times New Roman"/>
              </a:rPr>
              <a:t>computing</a:t>
            </a:r>
            <a:r>
              <a:rPr sz="2000" spc="-15" dirty="0">
                <a:latin typeface="Times New Roman"/>
                <a:cs typeface="Times New Roman"/>
              </a:rPr>
              <a:t> </a:t>
            </a:r>
            <a:r>
              <a:rPr sz="2000" dirty="0">
                <a:latin typeface="Times New Roman"/>
                <a:cs typeface="Times New Roman"/>
              </a:rPr>
              <a:t>applications</a:t>
            </a:r>
            <a:r>
              <a:rPr sz="2000" spc="-40" dirty="0">
                <a:latin typeface="Times New Roman"/>
                <a:cs typeface="Times New Roman"/>
              </a:rPr>
              <a:t> </a:t>
            </a:r>
            <a:r>
              <a:rPr sz="2000" dirty="0">
                <a:latin typeface="Times New Roman"/>
                <a:cs typeface="Times New Roman"/>
              </a:rPr>
              <a:t>and software</a:t>
            </a:r>
            <a:r>
              <a:rPr sz="2000" spc="-35" dirty="0">
                <a:latin typeface="Times New Roman"/>
                <a:cs typeface="Times New Roman"/>
              </a:rPr>
              <a:t> </a:t>
            </a:r>
            <a:r>
              <a:rPr sz="2000" spc="-10" dirty="0">
                <a:latin typeface="Times New Roman"/>
                <a:cs typeface="Times New Roman"/>
              </a:rPr>
              <a:t>solutions</a:t>
            </a:r>
            <a:endParaRPr sz="2000" dirty="0">
              <a:latin typeface="Times New Roman"/>
              <a:cs typeface="Times New Roman"/>
            </a:endParaRPr>
          </a:p>
          <a:p>
            <a:pPr>
              <a:lnSpc>
                <a:spcPct val="100000"/>
              </a:lnSpc>
              <a:spcBef>
                <a:spcPts val="869"/>
              </a:spcBef>
              <a:buFont typeface="Arial MT"/>
              <a:buChar char="•"/>
            </a:pPr>
            <a:endParaRPr sz="2000" dirty="0">
              <a:latin typeface="Times New Roman"/>
              <a:cs typeface="Times New Roman"/>
            </a:endParaRPr>
          </a:p>
          <a:p>
            <a:pPr marL="354965" indent="-342265">
              <a:lnSpc>
                <a:spcPts val="2375"/>
              </a:lnSpc>
              <a:buFont typeface="Arial MT"/>
              <a:buChar char="•"/>
              <a:tabLst>
                <a:tab pos="354965" algn="l"/>
              </a:tabLst>
            </a:pPr>
            <a:r>
              <a:rPr sz="2000" b="1" dirty="0">
                <a:latin typeface="Times New Roman"/>
                <a:cs typeface="Times New Roman"/>
              </a:rPr>
              <a:t>PSO3::</a:t>
            </a:r>
            <a:r>
              <a:rPr sz="2000" b="1" spc="25" dirty="0">
                <a:latin typeface="Times New Roman"/>
                <a:cs typeface="Times New Roman"/>
              </a:rPr>
              <a:t>  </a:t>
            </a:r>
            <a:r>
              <a:rPr sz="2000" dirty="0">
                <a:latin typeface="Times New Roman"/>
                <a:cs typeface="Times New Roman"/>
              </a:rPr>
              <a:t>Able</a:t>
            </a:r>
            <a:r>
              <a:rPr sz="2000" spc="20"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practice</a:t>
            </a:r>
            <a:r>
              <a:rPr sz="2000" spc="25"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promote</a:t>
            </a:r>
            <a:r>
              <a:rPr sz="2000" spc="30" dirty="0">
                <a:latin typeface="Times New Roman"/>
                <a:cs typeface="Times New Roman"/>
              </a:rPr>
              <a:t>  </a:t>
            </a:r>
            <a:r>
              <a:rPr sz="2000" dirty="0">
                <a:latin typeface="Times New Roman"/>
                <a:cs typeface="Times New Roman"/>
              </a:rPr>
              <a:t>computing</a:t>
            </a:r>
            <a:r>
              <a:rPr sz="2000" spc="35" dirty="0">
                <a:latin typeface="Times New Roman"/>
                <a:cs typeface="Times New Roman"/>
              </a:rPr>
              <a:t>  </a:t>
            </a:r>
            <a:r>
              <a:rPr sz="2000" dirty="0">
                <a:latin typeface="Times New Roman"/>
                <a:cs typeface="Times New Roman"/>
              </a:rPr>
              <a:t>technologies</a:t>
            </a:r>
            <a:r>
              <a:rPr sz="2000" spc="25"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societal</a:t>
            </a:r>
            <a:r>
              <a:rPr sz="2000" spc="25" dirty="0">
                <a:latin typeface="Times New Roman"/>
                <a:cs typeface="Times New Roman"/>
              </a:rPr>
              <a:t>  </a:t>
            </a:r>
            <a:r>
              <a:rPr sz="2000" dirty="0">
                <a:latin typeface="Times New Roman"/>
                <a:cs typeface="Times New Roman"/>
              </a:rPr>
              <a:t>needs</a:t>
            </a:r>
            <a:r>
              <a:rPr sz="2000" spc="30" dirty="0">
                <a:latin typeface="Times New Roman"/>
                <a:cs typeface="Times New Roman"/>
              </a:rPr>
              <a:t>  </a:t>
            </a:r>
            <a:r>
              <a:rPr sz="2000" spc="-25" dirty="0">
                <a:latin typeface="Times New Roman"/>
                <a:cs typeface="Times New Roman"/>
              </a:rPr>
              <a:t>and</a:t>
            </a:r>
            <a:endParaRPr sz="2000" dirty="0">
              <a:latin typeface="Times New Roman"/>
              <a:cs typeface="Times New Roman"/>
            </a:endParaRPr>
          </a:p>
          <a:p>
            <a:pPr marL="355600">
              <a:lnSpc>
                <a:spcPts val="2375"/>
              </a:lnSpc>
            </a:pPr>
            <a:r>
              <a:rPr sz="2000" dirty="0">
                <a:latin typeface="Times New Roman"/>
                <a:cs typeface="Times New Roman"/>
              </a:rPr>
              <a:t>contribute</a:t>
            </a:r>
            <a:r>
              <a:rPr sz="2000" spc="-5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advancement</a:t>
            </a:r>
            <a:r>
              <a:rPr sz="2000" spc="-20"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computer</a:t>
            </a:r>
            <a:r>
              <a:rPr sz="2000" spc="-20" dirty="0">
                <a:latin typeface="Times New Roman"/>
                <a:cs typeface="Times New Roman"/>
              </a:rPr>
              <a:t> </a:t>
            </a:r>
            <a:r>
              <a:rPr sz="2000" dirty="0">
                <a:latin typeface="Times New Roman"/>
                <a:cs typeface="Times New Roman"/>
              </a:rPr>
              <a:t>technology</a:t>
            </a:r>
            <a:r>
              <a:rPr sz="2000" spc="-35" dirty="0">
                <a:latin typeface="Times New Roman"/>
                <a:cs typeface="Times New Roman"/>
              </a:rPr>
              <a:t> </a:t>
            </a:r>
            <a:r>
              <a:rPr sz="2000" dirty="0">
                <a:latin typeface="Times New Roman"/>
                <a:cs typeface="Times New Roman"/>
              </a:rPr>
              <a:t>by</a:t>
            </a:r>
            <a:r>
              <a:rPr sz="2000" spc="-20" dirty="0">
                <a:latin typeface="Times New Roman"/>
                <a:cs typeface="Times New Roman"/>
              </a:rPr>
              <a:t> </a:t>
            </a:r>
            <a:r>
              <a:rPr sz="2000" dirty="0">
                <a:latin typeface="Times New Roman"/>
                <a:cs typeface="Times New Roman"/>
              </a:rPr>
              <a:t>means</a:t>
            </a:r>
            <a:r>
              <a:rPr sz="2000" spc="-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research</a:t>
            </a:r>
            <a:r>
              <a:rPr sz="2000" spc="-3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10" dirty="0">
                <a:latin typeface="Times New Roman"/>
                <a:cs typeface="Times New Roman"/>
              </a:rPr>
              <a:t>development</a:t>
            </a:r>
            <a:endParaRPr sz="20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7AB9E-B042-4373-8B75-4458DA337E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6C220D4-C1EB-3526-A15E-62F31FAF11B4}"/>
              </a:ext>
            </a:extLst>
          </p:cNvPr>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a:extLst>
              <a:ext uri="{FF2B5EF4-FFF2-40B4-BE49-F238E27FC236}">
                <a16:creationId xmlns:a16="http://schemas.microsoft.com/office/drawing/2014/main" id="{FF14CCF6-7BDF-794D-0AE8-884F292AFE86}"/>
              </a:ext>
            </a:extLst>
          </p:cNvPr>
          <p:cNvSpPr txBox="1">
            <a:spLocks noGrp="1"/>
          </p:cNvSpPr>
          <p:nvPr>
            <p:ph type="title"/>
          </p:nvPr>
        </p:nvSpPr>
        <p:spPr>
          <a:xfrm>
            <a:off x="2136394" y="406653"/>
            <a:ext cx="5485130" cy="566822"/>
          </a:xfrm>
          <a:prstGeom prst="rect">
            <a:avLst/>
          </a:prstGeom>
        </p:spPr>
        <p:txBody>
          <a:bodyPr vert="horz" wrap="square" lIns="0" tIns="12700" rIns="0" bIns="0" rtlCol="0">
            <a:spAutoFit/>
          </a:bodyPr>
          <a:lstStyle/>
          <a:p>
            <a:pPr marL="12700" algn="ctr">
              <a:lnSpc>
                <a:spcPct val="100000"/>
              </a:lnSpc>
              <a:spcBef>
                <a:spcPts val="100"/>
              </a:spcBef>
            </a:pPr>
            <a:r>
              <a:rPr lang="en-US" sz="3600" u="none" spc="-10" dirty="0">
                <a:solidFill>
                  <a:srgbClr val="C00000"/>
                </a:solidFill>
              </a:rPr>
              <a:t>Course Contents</a:t>
            </a:r>
            <a:endParaRPr lang="en-US" sz="3600" dirty="0"/>
          </a:p>
        </p:txBody>
      </p:sp>
      <p:sp>
        <p:nvSpPr>
          <p:cNvPr id="4" name="object 4">
            <a:extLst>
              <a:ext uri="{FF2B5EF4-FFF2-40B4-BE49-F238E27FC236}">
                <a16:creationId xmlns:a16="http://schemas.microsoft.com/office/drawing/2014/main" id="{16D05731-32F3-1C84-5CD7-2749555FDDC8}"/>
              </a:ext>
            </a:extLst>
          </p:cNvPr>
          <p:cNvSpPr txBox="1"/>
          <p:nvPr/>
        </p:nvSpPr>
        <p:spPr>
          <a:xfrm>
            <a:off x="1214119" y="1447800"/>
            <a:ext cx="9763760" cy="4106894"/>
          </a:xfrm>
          <a:prstGeom prst="rect">
            <a:avLst/>
          </a:prstGeom>
        </p:spPr>
        <p:txBody>
          <a:bodyPr vert="horz" wrap="square" lIns="0" tIns="28575" rIns="0" bIns="0" rtlCol="0">
            <a:spAutoFit/>
          </a:bodyPr>
          <a:lstStyle/>
          <a:p>
            <a:pPr marL="12700" marR="5080" algn="just">
              <a:lnSpc>
                <a:spcPts val="2350"/>
              </a:lnSpc>
              <a:spcBef>
                <a:spcPts val="225"/>
              </a:spcBef>
              <a:tabLst>
                <a:tab pos="355600" algn="l"/>
              </a:tabLst>
            </a:pPr>
            <a:r>
              <a:rPr lang="en-US" sz="2400" b="1" dirty="0">
                <a:latin typeface="Times New Roman" panose="02020603050405020304" pitchFamily="18" charset="0"/>
                <a:cs typeface="Times New Roman" panose="02020603050405020304" pitchFamily="18" charset="0"/>
              </a:rPr>
              <a:t>Unit –I : </a:t>
            </a:r>
            <a:r>
              <a:rPr lang="en-US" sz="2400" dirty="0">
                <a:latin typeface="Times New Roman" panose="02020603050405020304" pitchFamily="18" charset="0"/>
                <a:cs typeface="Times New Roman" panose="02020603050405020304" pitchFamily="18" charset="0"/>
              </a:rPr>
              <a:t>Introduction to Django : Introduction to Django, Installing Python and Django, Setting up project in editor, Projects and Apps overview, Project structure, Creating your first project, Django-admin &amp; manage.py commands, App structures, Creating an App</a:t>
            </a:r>
          </a:p>
          <a:p>
            <a:pPr marL="355600" marR="5080" indent="-342900" algn="just">
              <a:lnSpc>
                <a:spcPts val="2350"/>
              </a:lnSpc>
              <a:spcBef>
                <a:spcPts val="225"/>
              </a:spcBef>
              <a:buFont typeface="Arial MT"/>
              <a:buChar char="•"/>
              <a:tabLst>
                <a:tab pos="355600" algn="l"/>
              </a:tabLst>
            </a:pPr>
            <a:endParaRPr lang="en-US" sz="2400" dirty="0">
              <a:latin typeface="Times New Roman" panose="02020603050405020304" pitchFamily="18" charset="0"/>
              <a:cs typeface="Times New Roman" panose="02020603050405020304" pitchFamily="18" charset="0"/>
            </a:endParaRPr>
          </a:p>
          <a:p>
            <a:pPr marL="355600" marR="5080" indent="-342900" algn="just">
              <a:lnSpc>
                <a:spcPts val="2350"/>
              </a:lnSpc>
              <a:spcBef>
                <a:spcPts val="225"/>
              </a:spcBef>
              <a:buFont typeface="Arial MT"/>
              <a:buChar char="•"/>
              <a:tabLst>
                <a:tab pos="355600" algn="l"/>
              </a:tabLst>
            </a:pPr>
            <a:endParaRPr lang="en-US" sz="2400" dirty="0">
              <a:latin typeface="Times New Roman" panose="02020603050405020304" pitchFamily="18" charset="0"/>
              <a:cs typeface="Times New Roman" panose="02020603050405020304" pitchFamily="18" charset="0"/>
            </a:endParaRPr>
          </a:p>
          <a:p>
            <a:pPr marL="12700" marR="5080" algn="just">
              <a:lnSpc>
                <a:spcPts val="2350"/>
              </a:lnSpc>
              <a:spcBef>
                <a:spcPts val="225"/>
              </a:spcBef>
              <a:tabLst>
                <a:tab pos="355600" algn="l"/>
              </a:tabLst>
            </a:pPr>
            <a:r>
              <a:rPr lang="en-US" sz="2400" b="1" dirty="0">
                <a:latin typeface="Times New Roman" panose="02020603050405020304" pitchFamily="18" charset="0"/>
                <a:cs typeface="Times New Roman" panose="02020603050405020304" pitchFamily="18" charset="0"/>
              </a:rPr>
              <a:t>Unit –II : </a:t>
            </a:r>
            <a:r>
              <a:rPr lang="en-US" sz="2400" dirty="0">
                <a:latin typeface="Times New Roman" panose="02020603050405020304" pitchFamily="18" charset="0"/>
                <a:cs typeface="Times New Roman" panose="02020603050405020304" pitchFamily="18" charset="0"/>
              </a:rPr>
              <a:t>Views and URLs : Creating views and mapping to URLs, Creating views and view logic, HTTP requests, Creating Requests and Responses, Understanding URLs, Mapping URLs with Params, Regular expressions in URLs, Error Handling</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260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C33AD-C6C4-21C4-4C15-F81F7B02C1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454DBF-8227-FA57-12CF-53314B2A7437}"/>
              </a:ext>
            </a:extLst>
          </p:cNvPr>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a:extLst>
              <a:ext uri="{FF2B5EF4-FFF2-40B4-BE49-F238E27FC236}">
                <a16:creationId xmlns:a16="http://schemas.microsoft.com/office/drawing/2014/main" id="{8896E74B-48DF-3A06-923B-1BE337E3DA18}"/>
              </a:ext>
            </a:extLst>
          </p:cNvPr>
          <p:cNvSpPr txBox="1">
            <a:spLocks noGrp="1"/>
          </p:cNvSpPr>
          <p:nvPr>
            <p:ph type="title"/>
          </p:nvPr>
        </p:nvSpPr>
        <p:spPr>
          <a:xfrm>
            <a:off x="2136394" y="406653"/>
            <a:ext cx="5485130" cy="566822"/>
          </a:xfrm>
          <a:prstGeom prst="rect">
            <a:avLst/>
          </a:prstGeom>
        </p:spPr>
        <p:txBody>
          <a:bodyPr vert="horz" wrap="square" lIns="0" tIns="12700" rIns="0" bIns="0" rtlCol="0">
            <a:spAutoFit/>
          </a:bodyPr>
          <a:lstStyle/>
          <a:p>
            <a:pPr marL="12700" algn="ctr">
              <a:lnSpc>
                <a:spcPct val="100000"/>
              </a:lnSpc>
              <a:spcBef>
                <a:spcPts val="100"/>
              </a:spcBef>
            </a:pPr>
            <a:r>
              <a:rPr lang="en-US" sz="3600" u="none" spc="-10" dirty="0">
                <a:solidFill>
                  <a:srgbClr val="C00000"/>
                </a:solidFill>
              </a:rPr>
              <a:t>Course Contents</a:t>
            </a:r>
            <a:endParaRPr lang="en-US" sz="3600" dirty="0"/>
          </a:p>
        </p:txBody>
      </p:sp>
      <p:sp>
        <p:nvSpPr>
          <p:cNvPr id="4" name="object 4">
            <a:extLst>
              <a:ext uri="{FF2B5EF4-FFF2-40B4-BE49-F238E27FC236}">
                <a16:creationId xmlns:a16="http://schemas.microsoft.com/office/drawing/2014/main" id="{CE164917-B94C-459C-30BD-AF9E6ABCE64F}"/>
              </a:ext>
            </a:extLst>
          </p:cNvPr>
          <p:cNvSpPr txBox="1"/>
          <p:nvPr/>
        </p:nvSpPr>
        <p:spPr>
          <a:xfrm>
            <a:off x="838200" y="1447800"/>
            <a:ext cx="10972800" cy="3516988"/>
          </a:xfrm>
          <a:prstGeom prst="rect">
            <a:avLst/>
          </a:prstGeom>
        </p:spPr>
        <p:txBody>
          <a:bodyPr vert="horz" wrap="square" lIns="0" tIns="28575" rIns="0" bIns="0" rtlCol="0">
            <a:spAutoFit/>
          </a:bodyPr>
          <a:lstStyle/>
          <a:p>
            <a:pPr marL="12700" marR="5080" algn="just">
              <a:lnSpc>
                <a:spcPts val="2350"/>
              </a:lnSpc>
              <a:spcBef>
                <a:spcPts val="225"/>
              </a:spcBef>
              <a:tabLst>
                <a:tab pos="355600" algn="l"/>
              </a:tabLst>
            </a:pPr>
            <a:r>
              <a:rPr lang="en-US" sz="2400" b="1" dirty="0">
                <a:latin typeface="Times New Roman" panose="02020603050405020304" pitchFamily="18" charset="0"/>
                <a:cs typeface="Times New Roman" panose="02020603050405020304" pitchFamily="18" charset="0"/>
              </a:rPr>
              <a:t>Unit–III :</a:t>
            </a:r>
            <a:r>
              <a:rPr lang="en-US" sz="2400" dirty="0">
                <a:latin typeface="Times New Roman" panose="02020603050405020304" pitchFamily="18" charset="0"/>
                <a:cs typeface="Times New Roman" panose="02020603050405020304" pitchFamily="18" charset="0"/>
              </a:rPr>
              <a:t> Templates, Debugging and Testing : Introduction to Templates in Django, Creating Templates, Working with Django Template Language(DTL), Using template tags, Django variables, for loop and if-else statements, Dynamic Templates in Django, Working with Template inheritance, Debugging Django applications, Testing in Django</a:t>
            </a:r>
          </a:p>
          <a:p>
            <a:pPr marL="12700" marR="5080" algn="just">
              <a:lnSpc>
                <a:spcPts val="2350"/>
              </a:lnSpc>
              <a:spcBef>
                <a:spcPts val="225"/>
              </a:spcBef>
              <a:tabLst>
                <a:tab pos="355600" algn="l"/>
              </a:tabLst>
            </a:pPr>
            <a:endParaRPr lang="en-US" sz="2400" b="1" dirty="0">
              <a:latin typeface="Times New Roman" panose="02020603050405020304" pitchFamily="18" charset="0"/>
              <a:cs typeface="Times New Roman" panose="02020603050405020304" pitchFamily="18" charset="0"/>
            </a:endParaRPr>
          </a:p>
          <a:p>
            <a:pPr marL="12700" marR="5080" algn="just">
              <a:lnSpc>
                <a:spcPts val="2350"/>
              </a:lnSpc>
              <a:spcBef>
                <a:spcPts val="225"/>
              </a:spcBef>
              <a:tabLst>
                <a:tab pos="355600" algn="l"/>
              </a:tabLst>
            </a:pPr>
            <a:endParaRPr lang="en-US" sz="2400" b="1" dirty="0">
              <a:latin typeface="Times New Roman" panose="02020603050405020304" pitchFamily="18" charset="0"/>
              <a:cs typeface="Times New Roman" panose="02020603050405020304" pitchFamily="18" charset="0"/>
            </a:endParaRPr>
          </a:p>
          <a:p>
            <a:pPr marL="12700" marR="5080" algn="just">
              <a:lnSpc>
                <a:spcPts val="2350"/>
              </a:lnSpc>
              <a:spcBef>
                <a:spcPts val="225"/>
              </a:spcBef>
              <a:tabLst>
                <a:tab pos="355600" algn="l"/>
              </a:tabLst>
            </a:pPr>
            <a:r>
              <a:rPr lang="en-US" sz="2400" b="1" dirty="0">
                <a:latin typeface="Times New Roman" panose="02020603050405020304" pitchFamily="18" charset="0"/>
                <a:cs typeface="Times New Roman" panose="02020603050405020304" pitchFamily="18" charset="0"/>
              </a:rPr>
              <a:t>Unit –IV :</a:t>
            </a:r>
            <a:r>
              <a:rPr lang="en-US" sz="2400" dirty="0">
                <a:latin typeface="Times New Roman" panose="02020603050405020304" pitchFamily="18" charset="0"/>
                <a:cs typeface="Times New Roman" panose="02020603050405020304" pitchFamily="18" charset="0"/>
              </a:rPr>
              <a:t> Forms in Django : Introduction to Forms, Using GET, POST and HTTP, Building forms using Django, Introduction to Cross Site Request Forgery(CSRF), CSRF support in Django, Implementing POST redirect in Django, Data validation with Django forms</a:t>
            </a:r>
          </a:p>
          <a:p>
            <a:pPr marL="12700" marR="5080" algn="just">
              <a:lnSpc>
                <a:spcPts val="2350"/>
              </a:lnSpc>
              <a:spcBef>
                <a:spcPts val="225"/>
              </a:spcBef>
              <a:tabLst>
                <a:tab pos="355600" algn="l"/>
              </a:tabLst>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533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CB38-79EE-DDE1-7DD4-A67E9CE1EE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A05A9B-1717-8054-A3FC-B6E009A305DA}"/>
              </a:ext>
            </a:extLst>
          </p:cNvPr>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a:extLst>
              <a:ext uri="{FF2B5EF4-FFF2-40B4-BE49-F238E27FC236}">
                <a16:creationId xmlns:a16="http://schemas.microsoft.com/office/drawing/2014/main" id="{C262F237-F5F0-798E-7482-4FD946E92285}"/>
              </a:ext>
            </a:extLst>
          </p:cNvPr>
          <p:cNvSpPr txBox="1">
            <a:spLocks noGrp="1"/>
          </p:cNvSpPr>
          <p:nvPr>
            <p:ph type="title"/>
          </p:nvPr>
        </p:nvSpPr>
        <p:spPr>
          <a:xfrm>
            <a:off x="2136394" y="406653"/>
            <a:ext cx="5485130" cy="566822"/>
          </a:xfrm>
          <a:prstGeom prst="rect">
            <a:avLst/>
          </a:prstGeom>
        </p:spPr>
        <p:txBody>
          <a:bodyPr vert="horz" wrap="square" lIns="0" tIns="12700" rIns="0" bIns="0" rtlCol="0">
            <a:spAutoFit/>
          </a:bodyPr>
          <a:lstStyle/>
          <a:p>
            <a:pPr marL="12700" algn="ctr">
              <a:lnSpc>
                <a:spcPct val="100000"/>
              </a:lnSpc>
              <a:spcBef>
                <a:spcPts val="100"/>
              </a:spcBef>
            </a:pPr>
            <a:r>
              <a:rPr lang="en-US" sz="3600" u="none" spc="-10" dirty="0">
                <a:solidFill>
                  <a:srgbClr val="C00000"/>
                </a:solidFill>
              </a:rPr>
              <a:t>Course Contents</a:t>
            </a:r>
            <a:endParaRPr lang="en-US" sz="3600" dirty="0"/>
          </a:p>
        </p:txBody>
      </p:sp>
      <p:sp>
        <p:nvSpPr>
          <p:cNvPr id="4" name="object 4">
            <a:extLst>
              <a:ext uri="{FF2B5EF4-FFF2-40B4-BE49-F238E27FC236}">
                <a16:creationId xmlns:a16="http://schemas.microsoft.com/office/drawing/2014/main" id="{603B2082-1399-61D6-5D74-C8508E131436}"/>
              </a:ext>
            </a:extLst>
          </p:cNvPr>
          <p:cNvSpPr txBox="1"/>
          <p:nvPr/>
        </p:nvSpPr>
        <p:spPr>
          <a:xfrm>
            <a:off x="838200" y="1447800"/>
            <a:ext cx="10363200" cy="3491340"/>
          </a:xfrm>
          <a:prstGeom prst="rect">
            <a:avLst/>
          </a:prstGeom>
        </p:spPr>
        <p:txBody>
          <a:bodyPr vert="horz" wrap="square" lIns="0" tIns="28575" rIns="0" bIns="0" rtlCol="0">
            <a:spAutoFit/>
          </a:bodyPr>
          <a:lstStyle/>
          <a:p>
            <a:pPr marL="12700" marR="5080" algn="just">
              <a:lnSpc>
                <a:spcPts val="2350"/>
              </a:lnSpc>
              <a:spcBef>
                <a:spcPts val="225"/>
              </a:spcBef>
              <a:tabLst>
                <a:tab pos="355600" algn="l"/>
              </a:tabLst>
            </a:pPr>
            <a:r>
              <a:rPr lang="en-US" sz="2400" b="1" dirty="0">
                <a:latin typeface="Times New Roman" panose="02020603050405020304" pitchFamily="18" charset="0"/>
                <a:cs typeface="Times New Roman" panose="02020603050405020304" pitchFamily="18" charset="0"/>
              </a:rPr>
              <a:t>Unit–V :</a:t>
            </a:r>
            <a:r>
              <a:rPr lang="en-US" sz="2400" dirty="0">
                <a:latin typeface="Times New Roman" panose="02020603050405020304" pitchFamily="18" charset="0"/>
                <a:cs typeface="Times New Roman" panose="02020603050405020304" pitchFamily="18" charset="0"/>
              </a:rPr>
              <a:t> Models and Migrations and Django Admin : Creating models, Working with Migrations, Using the Django Shell to Explore Models(Insert, Update and Delete), Using Object Relational Mapping(ORM), Models using Foreign Keys, Django Admin, Adding groups and users, Users and Permissions, Database configuration – Configuring and setting up database connection</a:t>
            </a:r>
          </a:p>
          <a:p>
            <a:pPr marL="12700" marR="5080" algn="just">
              <a:lnSpc>
                <a:spcPts val="2350"/>
              </a:lnSpc>
              <a:spcBef>
                <a:spcPts val="225"/>
              </a:spcBef>
              <a:tabLst>
                <a:tab pos="355600" algn="l"/>
              </a:tabLst>
            </a:pPr>
            <a:endParaRPr lang="en-US" sz="2400" dirty="0">
              <a:latin typeface="Times New Roman" panose="02020603050405020304" pitchFamily="18" charset="0"/>
              <a:cs typeface="Times New Roman" panose="02020603050405020304" pitchFamily="18" charset="0"/>
            </a:endParaRPr>
          </a:p>
          <a:p>
            <a:pPr marL="12700" marR="5080" algn="just">
              <a:lnSpc>
                <a:spcPts val="2350"/>
              </a:lnSpc>
              <a:spcBef>
                <a:spcPts val="225"/>
              </a:spcBef>
              <a:tabLst>
                <a:tab pos="355600" algn="l"/>
              </a:tabLst>
            </a:pPr>
            <a:endParaRPr lang="en-US" sz="2400" dirty="0">
              <a:latin typeface="Times New Roman" panose="02020603050405020304" pitchFamily="18" charset="0"/>
              <a:cs typeface="Times New Roman" panose="02020603050405020304" pitchFamily="18" charset="0"/>
            </a:endParaRPr>
          </a:p>
          <a:p>
            <a:pPr marL="12700" marR="5080" algn="just">
              <a:lnSpc>
                <a:spcPts val="2350"/>
              </a:lnSpc>
              <a:spcBef>
                <a:spcPts val="225"/>
              </a:spcBef>
              <a:tabLst>
                <a:tab pos="355600" algn="l"/>
              </a:tabLst>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Unit–VI :</a:t>
            </a:r>
            <a:r>
              <a:rPr lang="en-US" sz="2400" dirty="0">
                <a:latin typeface="Times New Roman" panose="02020603050405020304" pitchFamily="18" charset="0"/>
                <a:cs typeface="Times New Roman" panose="02020603050405020304" pitchFamily="18" charset="0"/>
              </a:rPr>
              <a:t> Cookies and Sessions, users and authentication : Creating Cookies and sessions in Django, Creating and Managing Users in Django, Login and Logout URLs in Django, Using Django Login in Views</a:t>
            </a:r>
            <a:br>
              <a:rPr lang="en-US" sz="2400" dirty="0">
                <a:latin typeface="Times New Roman" panose="02020603050405020304" pitchFamily="18" charset="0"/>
                <a:cs typeface="Times New Roman" panose="02020603050405020304" pitchFamily="18" charset="0"/>
              </a:rPr>
            </a:b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4441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14CA1-9265-E51B-DEA2-E8620ABD090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FFD441-9C7B-C173-A508-B776FD249797}"/>
              </a:ext>
            </a:extLst>
          </p:cNvPr>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a:extLst>
              <a:ext uri="{FF2B5EF4-FFF2-40B4-BE49-F238E27FC236}">
                <a16:creationId xmlns:a16="http://schemas.microsoft.com/office/drawing/2014/main" id="{9BC8EA7B-3F9F-7629-7E9F-3F9847DEB80B}"/>
              </a:ext>
            </a:extLst>
          </p:cNvPr>
          <p:cNvSpPr txBox="1">
            <a:spLocks noGrp="1"/>
          </p:cNvSpPr>
          <p:nvPr>
            <p:ph type="title"/>
          </p:nvPr>
        </p:nvSpPr>
        <p:spPr>
          <a:xfrm>
            <a:off x="2136394" y="406653"/>
            <a:ext cx="5485130" cy="566822"/>
          </a:xfrm>
          <a:prstGeom prst="rect">
            <a:avLst/>
          </a:prstGeom>
        </p:spPr>
        <p:txBody>
          <a:bodyPr vert="horz" wrap="square" lIns="0" tIns="12700" rIns="0" bIns="0" rtlCol="0">
            <a:spAutoFit/>
          </a:bodyPr>
          <a:lstStyle/>
          <a:p>
            <a:pPr marL="12700" algn="ctr">
              <a:lnSpc>
                <a:spcPct val="100000"/>
              </a:lnSpc>
              <a:spcBef>
                <a:spcPts val="100"/>
              </a:spcBef>
            </a:pPr>
            <a:r>
              <a:rPr lang="en-US" sz="3600" u="none" spc="-10" dirty="0">
                <a:solidFill>
                  <a:srgbClr val="C00000"/>
                </a:solidFill>
              </a:rPr>
              <a:t>Course Contents</a:t>
            </a:r>
            <a:endParaRPr lang="en-US" sz="3600" dirty="0"/>
          </a:p>
        </p:txBody>
      </p:sp>
      <p:sp>
        <p:nvSpPr>
          <p:cNvPr id="4" name="object 4">
            <a:extLst>
              <a:ext uri="{FF2B5EF4-FFF2-40B4-BE49-F238E27FC236}">
                <a16:creationId xmlns:a16="http://schemas.microsoft.com/office/drawing/2014/main" id="{5023573C-4777-2FE6-F54B-4D43338C367E}"/>
              </a:ext>
            </a:extLst>
          </p:cNvPr>
          <p:cNvSpPr txBox="1"/>
          <p:nvPr/>
        </p:nvSpPr>
        <p:spPr>
          <a:xfrm>
            <a:off x="381000" y="1083924"/>
            <a:ext cx="12496800" cy="3337452"/>
          </a:xfrm>
          <a:prstGeom prst="rect">
            <a:avLst/>
          </a:prstGeom>
        </p:spPr>
        <p:txBody>
          <a:bodyPr vert="horz" wrap="square" lIns="0" tIns="28575" rIns="0" bIns="0" rtlCol="0">
            <a:spAutoFit/>
          </a:bodyPr>
          <a:lstStyle/>
          <a:p>
            <a:pPr marL="12700" marR="5080" algn="just">
              <a:lnSpc>
                <a:spcPts val="2350"/>
              </a:lnSpc>
              <a:spcBef>
                <a:spcPts val="225"/>
              </a:spcBef>
              <a:tabLst>
                <a:tab pos="355600" algn="l"/>
              </a:tabLst>
            </a:pPr>
            <a:r>
              <a:rPr lang="en-US" sz="2000" b="1" dirty="0">
                <a:latin typeface="Times New Roman" panose="02020603050405020304" pitchFamily="18" charset="0"/>
                <a:cs typeface="Times New Roman" panose="02020603050405020304" pitchFamily="18" charset="0"/>
              </a:rPr>
              <a:t>List of Practicals :</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 Set up a Django project, create an app, and execute basic manage.py commands.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2. Organize the project structure and explore the initial settings.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3. Develop views for different functionalities (e.g., displaying content, handling forms).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4. Map views to specific URLs and handle various HTTP requests.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5. Create and integrate templates in Django for different pages or components.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6. Debug a Django application, utilizing Django's built-in debugging features.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7. Implement basic tests to check functionality across different parts of the app.</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8. Build forms using Django for user input or data submission.</a:t>
            </a:r>
          </a:p>
          <a:p>
            <a:pPr marL="12700" marR="5080" algn="just">
              <a:lnSpc>
                <a:spcPts val="2350"/>
              </a:lnSpc>
              <a:spcBef>
                <a:spcPts val="225"/>
              </a:spcBef>
              <a:tabLst>
                <a:tab pos="355600" algn="l"/>
              </a:tabLst>
            </a:pP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652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14CA1-9265-E51B-DEA2-E8620ABD090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FFD441-9C7B-C173-A508-B776FD249797}"/>
              </a:ext>
            </a:extLst>
          </p:cNvPr>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a:extLst>
              <a:ext uri="{FF2B5EF4-FFF2-40B4-BE49-F238E27FC236}">
                <a16:creationId xmlns:a16="http://schemas.microsoft.com/office/drawing/2014/main" id="{9BC8EA7B-3F9F-7629-7E9F-3F9847DEB80B}"/>
              </a:ext>
            </a:extLst>
          </p:cNvPr>
          <p:cNvSpPr txBox="1">
            <a:spLocks noGrp="1"/>
          </p:cNvSpPr>
          <p:nvPr>
            <p:ph type="title"/>
          </p:nvPr>
        </p:nvSpPr>
        <p:spPr>
          <a:xfrm>
            <a:off x="2136394" y="406653"/>
            <a:ext cx="5485130" cy="566822"/>
          </a:xfrm>
          <a:prstGeom prst="rect">
            <a:avLst/>
          </a:prstGeom>
        </p:spPr>
        <p:txBody>
          <a:bodyPr vert="horz" wrap="square" lIns="0" tIns="12700" rIns="0" bIns="0" rtlCol="0">
            <a:spAutoFit/>
          </a:bodyPr>
          <a:lstStyle/>
          <a:p>
            <a:pPr marL="12700" algn="ctr">
              <a:lnSpc>
                <a:spcPct val="100000"/>
              </a:lnSpc>
              <a:spcBef>
                <a:spcPts val="100"/>
              </a:spcBef>
            </a:pPr>
            <a:r>
              <a:rPr lang="en-US" sz="3600" u="none" spc="-10" dirty="0">
                <a:solidFill>
                  <a:srgbClr val="C00000"/>
                </a:solidFill>
              </a:rPr>
              <a:t>Course Contents</a:t>
            </a:r>
            <a:endParaRPr lang="en-US" sz="3600" dirty="0"/>
          </a:p>
        </p:txBody>
      </p:sp>
      <p:sp>
        <p:nvSpPr>
          <p:cNvPr id="4" name="object 4">
            <a:extLst>
              <a:ext uri="{FF2B5EF4-FFF2-40B4-BE49-F238E27FC236}">
                <a16:creationId xmlns:a16="http://schemas.microsoft.com/office/drawing/2014/main" id="{5023573C-4777-2FE6-F54B-4D43338C367E}"/>
              </a:ext>
            </a:extLst>
          </p:cNvPr>
          <p:cNvSpPr txBox="1"/>
          <p:nvPr/>
        </p:nvSpPr>
        <p:spPr>
          <a:xfrm>
            <a:off x="838200" y="1447800"/>
            <a:ext cx="10850880" cy="3004027"/>
          </a:xfrm>
          <a:prstGeom prst="rect">
            <a:avLst/>
          </a:prstGeom>
        </p:spPr>
        <p:txBody>
          <a:bodyPr vert="horz" wrap="square" lIns="0" tIns="28575" rIns="0" bIns="0" rtlCol="0">
            <a:spAutoFit/>
          </a:bodyPr>
          <a:lstStyle/>
          <a:p>
            <a:pPr marL="12700" marR="5080" algn="just">
              <a:lnSpc>
                <a:spcPts val="2350"/>
              </a:lnSpc>
              <a:spcBef>
                <a:spcPts val="225"/>
              </a:spcBef>
              <a:tabLst>
                <a:tab pos="355600" algn="l"/>
              </a:tabLst>
            </a:pPr>
            <a:r>
              <a:rPr lang="en-US" sz="2000" b="1" dirty="0">
                <a:latin typeface="Times New Roman" panose="02020603050405020304" pitchFamily="18" charset="0"/>
                <a:cs typeface="Times New Roman" panose="02020603050405020304" pitchFamily="18" charset="0"/>
              </a:rPr>
              <a:t>List of Practicals (contd.) :</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9. Validate form data and implement CSRF protection to ensure security.</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10. Design and create models representing different data entities.</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11.Apply migrations to reflect changes in the database schema.</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12. Utilize Django Admin to manage and interact with model data.</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13.Implement session-based functionality using cookies for user interaction.</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14. Manage user creation, authentication, and permissions within the Django system.</a:t>
            </a:r>
          </a:p>
          <a:p>
            <a:pPr marL="12700" marR="5080" algn="just">
              <a:lnSpc>
                <a:spcPts val="2350"/>
              </a:lnSpc>
              <a:spcBef>
                <a:spcPts val="225"/>
              </a:spcBef>
              <a:tabLst>
                <a:tab pos="355600" algn="l"/>
              </a:tabLst>
            </a:pPr>
            <a:r>
              <a:rPr lang="en-US" sz="2000" dirty="0">
                <a:latin typeface="Times New Roman" panose="02020603050405020304" pitchFamily="18" charset="0"/>
                <a:cs typeface="Times New Roman" panose="02020603050405020304" pitchFamily="18" charset="0"/>
              </a:rPr>
              <a:t>15.Set up login/logout functionality and secure specific views with authentication checks.</a:t>
            </a:r>
          </a:p>
          <a:p>
            <a:pPr marL="12700" marR="5080" algn="just">
              <a:lnSpc>
                <a:spcPts val="2350"/>
              </a:lnSpc>
              <a:spcBef>
                <a:spcPts val="225"/>
              </a:spcBef>
              <a:tabLst>
                <a:tab pos="355600" algn="l"/>
              </a:tabLst>
            </a:pP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652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p:cNvSpPr txBox="1">
            <a:spLocks noGrp="1"/>
          </p:cNvSpPr>
          <p:nvPr>
            <p:ph type="title"/>
          </p:nvPr>
        </p:nvSpPr>
        <p:spPr>
          <a:xfrm>
            <a:off x="1831594" y="406653"/>
            <a:ext cx="5129530" cy="574040"/>
          </a:xfrm>
          <a:prstGeom prst="rect">
            <a:avLst/>
          </a:prstGeom>
        </p:spPr>
        <p:txBody>
          <a:bodyPr vert="horz" wrap="square" lIns="0" tIns="12700" rIns="0" bIns="0" rtlCol="0">
            <a:spAutoFit/>
          </a:bodyPr>
          <a:lstStyle/>
          <a:p>
            <a:pPr marL="12700">
              <a:lnSpc>
                <a:spcPct val="100000"/>
              </a:lnSpc>
              <a:spcBef>
                <a:spcPts val="100"/>
              </a:spcBef>
            </a:pPr>
            <a:r>
              <a:rPr sz="3600" u="none" dirty="0">
                <a:solidFill>
                  <a:srgbClr val="C00000"/>
                </a:solidFill>
              </a:rPr>
              <a:t>Course</a:t>
            </a:r>
            <a:r>
              <a:rPr sz="3600" u="none" spc="-120" dirty="0">
                <a:solidFill>
                  <a:srgbClr val="C00000"/>
                </a:solidFill>
              </a:rPr>
              <a:t> </a:t>
            </a:r>
            <a:r>
              <a:rPr sz="3600" u="none" dirty="0">
                <a:solidFill>
                  <a:srgbClr val="C00000"/>
                </a:solidFill>
              </a:rPr>
              <a:t>Assessment</a:t>
            </a:r>
            <a:r>
              <a:rPr sz="3600" u="none" spc="-140" dirty="0">
                <a:solidFill>
                  <a:srgbClr val="C00000"/>
                </a:solidFill>
              </a:rPr>
              <a:t> </a:t>
            </a:r>
            <a:r>
              <a:rPr sz="3600" u="none" spc="-10" dirty="0">
                <a:solidFill>
                  <a:srgbClr val="C00000"/>
                </a:solidFill>
              </a:rPr>
              <a:t>Model</a:t>
            </a:r>
            <a:endParaRPr sz="3600"/>
          </a:p>
        </p:txBody>
      </p:sp>
      <p:sp>
        <p:nvSpPr>
          <p:cNvPr id="4" name="object 4"/>
          <p:cNvSpPr txBox="1"/>
          <p:nvPr/>
        </p:nvSpPr>
        <p:spPr>
          <a:xfrm>
            <a:off x="1831594" y="1157985"/>
            <a:ext cx="2177415" cy="391160"/>
          </a:xfrm>
          <a:prstGeom prst="rect">
            <a:avLst/>
          </a:prstGeom>
        </p:spPr>
        <p:txBody>
          <a:bodyPr vert="horz" wrap="square" lIns="0" tIns="12700" rIns="0" bIns="0" rtlCol="0">
            <a:spAutoFit/>
          </a:bodyPr>
          <a:lstStyle/>
          <a:p>
            <a:pPr marL="12700">
              <a:lnSpc>
                <a:spcPct val="100000"/>
              </a:lnSpc>
              <a:spcBef>
                <a:spcPts val="100"/>
              </a:spcBef>
            </a:pPr>
            <a:r>
              <a:rPr sz="2400" b="1" i="1" dirty="0">
                <a:solidFill>
                  <a:srgbClr val="001F5F"/>
                </a:solidFill>
                <a:latin typeface="Times New Roman"/>
                <a:cs typeface="Times New Roman"/>
              </a:rPr>
              <a:t>Marks</a:t>
            </a:r>
            <a:r>
              <a:rPr sz="2400" b="1" i="1" spc="-45" dirty="0">
                <a:solidFill>
                  <a:srgbClr val="001F5F"/>
                </a:solidFill>
                <a:latin typeface="Times New Roman"/>
                <a:cs typeface="Times New Roman"/>
              </a:rPr>
              <a:t> </a:t>
            </a:r>
            <a:r>
              <a:rPr sz="2400" b="1" i="1" dirty="0">
                <a:solidFill>
                  <a:srgbClr val="001F5F"/>
                </a:solidFill>
                <a:latin typeface="Times New Roman"/>
                <a:cs typeface="Times New Roman"/>
              </a:rPr>
              <a:t>break</a:t>
            </a:r>
            <a:r>
              <a:rPr sz="2400" b="1" i="1" spc="-40" dirty="0">
                <a:solidFill>
                  <a:srgbClr val="001F5F"/>
                </a:solidFill>
                <a:latin typeface="Times New Roman"/>
                <a:cs typeface="Times New Roman"/>
              </a:rPr>
              <a:t> </a:t>
            </a:r>
            <a:r>
              <a:rPr sz="2400" b="1" i="1" spc="-25" dirty="0">
                <a:solidFill>
                  <a:srgbClr val="001F5F"/>
                </a:solidFill>
                <a:latin typeface="Times New Roman"/>
                <a:cs typeface="Times New Roman"/>
              </a:rPr>
              <a:t>up*</a:t>
            </a:r>
            <a:endParaRPr sz="2400">
              <a:latin typeface="Times New Roman"/>
              <a:cs typeface="Times New Roman"/>
            </a:endParaRPr>
          </a:p>
        </p:txBody>
      </p:sp>
      <p:sp>
        <p:nvSpPr>
          <p:cNvPr id="5" name="object 5"/>
          <p:cNvSpPr txBox="1"/>
          <p:nvPr/>
        </p:nvSpPr>
        <p:spPr>
          <a:xfrm>
            <a:off x="1831594" y="1524114"/>
            <a:ext cx="3988435" cy="1313180"/>
          </a:xfrm>
          <a:prstGeom prst="rect">
            <a:avLst/>
          </a:prstGeom>
        </p:spPr>
        <p:txBody>
          <a:bodyPr vert="horz" wrap="square" lIns="0" tIns="76200" rIns="0" bIns="0" rtlCol="0">
            <a:spAutoFit/>
          </a:bodyPr>
          <a:lstStyle/>
          <a:p>
            <a:pPr marL="354965" indent="-342265">
              <a:lnSpc>
                <a:spcPct val="100000"/>
              </a:lnSpc>
              <a:spcBef>
                <a:spcPts val="600"/>
              </a:spcBef>
              <a:buFont typeface="Arial MT"/>
              <a:buChar char="•"/>
              <a:tabLst>
                <a:tab pos="354965" algn="l"/>
              </a:tabLst>
            </a:pPr>
            <a:r>
              <a:rPr sz="2400" b="1" i="1" spc="-10" dirty="0">
                <a:solidFill>
                  <a:srgbClr val="C00000"/>
                </a:solidFill>
                <a:latin typeface="Times New Roman"/>
                <a:cs typeface="Times New Roman"/>
              </a:rPr>
              <a:t>Attendance</a:t>
            </a:r>
            <a:endParaRPr sz="2400" dirty="0">
              <a:latin typeface="Times New Roman"/>
              <a:cs typeface="Times New Roman"/>
            </a:endParaRPr>
          </a:p>
          <a:p>
            <a:pPr marL="354965" indent="-342265">
              <a:lnSpc>
                <a:spcPct val="100000"/>
              </a:lnSpc>
              <a:spcBef>
                <a:spcPts val="505"/>
              </a:spcBef>
              <a:buFont typeface="Arial MT"/>
              <a:buChar char="•"/>
              <a:tabLst>
                <a:tab pos="354965" algn="l"/>
              </a:tabLst>
            </a:pPr>
            <a:r>
              <a:rPr sz="2400" b="1" i="1" dirty="0">
                <a:solidFill>
                  <a:srgbClr val="C00000"/>
                </a:solidFill>
                <a:latin typeface="Times New Roman"/>
                <a:cs typeface="Times New Roman"/>
              </a:rPr>
              <a:t>CA</a:t>
            </a:r>
            <a:r>
              <a:rPr sz="2400" b="1" i="1" spc="-20" dirty="0">
                <a:solidFill>
                  <a:srgbClr val="C00000"/>
                </a:solidFill>
                <a:latin typeface="Times New Roman"/>
                <a:cs typeface="Times New Roman"/>
              </a:rPr>
              <a:t> </a:t>
            </a:r>
            <a:endParaRPr sz="2400" dirty="0">
              <a:latin typeface="Times New Roman"/>
              <a:cs typeface="Times New Roman"/>
            </a:endParaRPr>
          </a:p>
          <a:p>
            <a:pPr marL="354965" indent="-342265">
              <a:lnSpc>
                <a:spcPct val="100000"/>
              </a:lnSpc>
              <a:spcBef>
                <a:spcPts val="505"/>
              </a:spcBef>
              <a:buFont typeface="Arial MT"/>
              <a:buChar char="•"/>
              <a:tabLst>
                <a:tab pos="354965" algn="l"/>
              </a:tabLst>
            </a:pPr>
            <a:r>
              <a:rPr sz="2400" b="1" i="1" spc="-25" dirty="0">
                <a:solidFill>
                  <a:srgbClr val="C00000"/>
                </a:solidFill>
                <a:latin typeface="Times New Roman"/>
                <a:cs typeface="Times New Roman"/>
              </a:rPr>
              <a:t>E</a:t>
            </a:r>
            <a:r>
              <a:rPr lang="en-US" sz="2400" b="1" i="1" spc="-25" dirty="0">
                <a:solidFill>
                  <a:srgbClr val="C00000"/>
                </a:solidFill>
                <a:latin typeface="Times New Roman"/>
                <a:cs typeface="Times New Roman"/>
              </a:rPr>
              <a:t>TP</a:t>
            </a:r>
            <a:endParaRPr sz="2400" dirty="0">
              <a:latin typeface="Times New Roman"/>
              <a:cs typeface="Times New Roman"/>
            </a:endParaRPr>
          </a:p>
        </p:txBody>
      </p:sp>
      <p:sp>
        <p:nvSpPr>
          <p:cNvPr id="6" name="object 6"/>
          <p:cNvSpPr txBox="1"/>
          <p:nvPr/>
        </p:nvSpPr>
        <p:spPr>
          <a:xfrm>
            <a:off x="1831594" y="3305682"/>
            <a:ext cx="685800" cy="391160"/>
          </a:xfrm>
          <a:prstGeom prst="rect">
            <a:avLst/>
          </a:prstGeom>
        </p:spPr>
        <p:txBody>
          <a:bodyPr vert="horz" wrap="square" lIns="0" tIns="12700" rIns="0" bIns="0" rtlCol="0">
            <a:spAutoFit/>
          </a:bodyPr>
          <a:lstStyle/>
          <a:p>
            <a:pPr marL="12700">
              <a:lnSpc>
                <a:spcPct val="100000"/>
              </a:lnSpc>
              <a:spcBef>
                <a:spcPts val="100"/>
              </a:spcBef>
            </a:pPr>
            <a:r>
              <a:rPr sz="2400" b="1" i="1" spc="-10" dirty="0">
                <a:solidFill>
                  <a:srgbClr val="001F5F"/>
                </a:solidFill>
                <a:latin typeface="Times New Roman"/>
                <a:cs typeface="Times New Roman"/>
              </a:rPr>
              <a:t>Total</a:t>
            </a:r>
            <a:endParaRPr sz="2400">
              <a:latin typeface="Times New Roman"/>
              <a:cs typeface="Times New Roman"/>
            </a:endParaRPr>
          </a:p>
        </p:txBody>
      </p:sp>
      <p:sp>
        <p:nvSpPr>
          <p:cNvPr id="7" name="object 7"/>
          <p:cNvSpPr txBox="1"/>
          <p:nvPr/>
        </p:nvSpPr>
        <p:spPr>
          <a:xfrm>
            <a:off x="8233029" y="1524114"/>
            <a:ext cx="483870" cy="1746632"/>
          </a:xfrm>
          <a:prstGeom prst="rect">
            <a:avLst/>
          </a:prstGeom>
        </p:spPr>
        <p:txBody>
          <a:bodyPr vert="horz" wrap="square" lIns="0" tIns="76200" rIns="0" bIns="0" rtlCol="0">
            <a:spAutoFit/>
          </a:bodyPr>
          <a:lstStyle/>
          <a:p>
            <a:pPr marL="165100">
              <a:lnSpc>
                <a:spcPct val="100000"/>
              </a:lnSpc>
              <a:spcBef>
                <a:spcPts val="600"/>
              </a:spcBef>
            </a:pPr>
            <a:r>
              <a:rPr sz="2400" b="1" i="1" spc="-50" dirty="0">
                <a:solidFill>
                  <a:srgbClr val="C00000"/>
                </a:solidFill>
                <a:latin typeface="Times New Roman"/>
                <a:cs typeface="Times New Roman"/>
              </a:rPr>
              <a:t>5</a:t>
            </a:r>
            <a:endParaRPr sz="2400" dirty="0">
              <a:latin typeface="Times New Roman"/>
              <a:cs typeface="Times New Roman"/>
            </a:endParaRPr>
          </a:p>
          <a:p>
            <a:pPr marL="12700">
              <a:lnSpc>
                <a:spcPct val="100000"/>
              </a:lnSpc>
              <a:spcBef>
                <a:spcPts val="505"/>
              </a:spcBef>
            </a:pPr>
            <a:r>
              <a:rPr lang="en-US" sz="2400" b="1" i="1" spc="-25" dirty="0">
                <a:solidFill>
                  <a:srgbClr val="C00000"/>
                </a:solidFill>
                <a:latin typeface="Times New Roman"/>
                <a:cs typeface="Times New Roman"/>
              </a:rPr>
              <a:t>4</a:t>
            </a:r>
            <a:r>
              <a:rPr sz="2400" b="1" i="1" spc="-25" dirty="0">
                <a:solidFill>
                  <a:srgbClr val="C00000"/>
                </a:solidFill>
                <a:latin typeface="Times New Roman"/>
                <a:cs typeface="Times New Roman"/>
              </a:rPr>
              <a:t>5</a:t>
            </a:r>
            <a:endParaRPr sz="2400" dirty="0">
              <a:latin typeface="Times New Roman"/>
              <a:cs typeface="Times New Roman"/>
            </a:endParaRPr>
          </a:p>
          <a:p>
            <a:pPr marL="12700">
              <a:lnSpc>
                <a:spcPct val="100000"/>
              </a:lnSpc>
              <a:spcBef>
                <a:spcPts val="495"/>
              </a:spcBef>
            </a:pPr>
            <a:r>
              <a:rPr lang="en-US" sz="2400" b="1" i="1" spc="-25" dirty="0">
                <a:solidFill>
                  <a:srgbClr val="C00000"/>
                </a:solidFill>
                <a:latin typeface="Times New Roman"/>
                <a:cs typeface="Times New Roman"/>
              </a:rPr>
              <a:t>50</a:t>
            </a:r>
            <a:endParaRPr sz="2400" dirty="0">
              <a:latin typeface="Times New Roman"/>
              <a:cs typeface="Times New Roman"/>
            </a:endParaRPr>
          </a:p>
          <a:p>
            <a:pPr marL="12700">
              <a:lnSpc>
                <a:spcPct val="100000"/>
              </a:lnSpc>
              <a:spcBef>
                <a:spcPts val="500"/>
              </a:spcBef>
            </a:pPr>
            <a:r>
              <a:rPr sz="2400" b="1" i="1" spc="-25" dirty="0">
                <a:solidFill>
                  <a:srgbClr val="001F5F"/>
                </a:solidFill>
                <a:latin typeface="Times New Roman"/>
                <a:cs typeface="Times New Roman"/>
              </a:rPr>
              <a:t>100</a:t>
            </a:r>
            <a:endParaRPr sz="2400" dirty="0">
              <a:latin typeface="Times New Roman"/>
              <a:cs typeface="Times New Roman"/>
            </a:endParaRPr>
          </a:p>
        </p:txBody>
      </p:sp>
      <p:graphicFrame>
        <p:nvGraphicFramePr>
          <p:cNvPr id="9" name="Table 8"/>
          <p:cNvGraphicFramePr>
            <a:graphicFrameLocks noGrp="1"/>
          </p:cNvGraphicFramePr>
          <p:nvPr>
            <p:extLst>
              <p:ext uri="{D42A27DB-BD31-4B8C-83A1-F6EECF244321}">
                <p14:modId xmlns:p14="http://schemas.microsoft.com/office/powerpoint/2010/main" val="1730310509"/>
              </p:ext>
            </p:extLst>
          </p:nvPr>
        </p:nvGraphicFramePr>
        <p:xfrm>
          <a:off x="1371600" y="4125547"/>
          <a:ext cx="9524999" cy="1854200"/>
        </p:xfrm>
        <a:graphic>
          <a:graphicData uri="http://schemas.openxmlformats.org/drawingml/2006/table">
            <a:tbl>
              <a:tblPr firstRow="1" bandRow="1">
                <a:tableStyleId>{21E4AEA4-8DFA-4A89-87EB-49C32662AFE0}</a:tableStyleId>
              </a:tblPr>
              <a:tblGrid>
                <a:gridCol w="4567218">
                  <a:extLst>
                    <a:ext uri="{9D8B030D-6E8A-4147-A177-3AD203B41FA5}">
                      <a16:colId xmlns:a16="http://schemas.microsoft.com/office/drawing/2014/main" val="20000"/>
                    </a:ext>
                  </a:extLst>
                </a:gridCol>
                <a:gridCol w="2906410">
                  <a:extLst>
                    <a:ext uri="{9D8B030D-6E8A-4147-A177-3AD203B41FA5}">
                      <a16:colId xmlns:a16="http://schemas.microsoft.com/office/drawing/2014/main" val="20001"/>
                    </a:ext>
                  </a:extLst>
                </a:gridCol>
                <a:gridCol w="2051371">
                  <a:extLst>
                    <a:ext uri="{9D8B030D-6E8A-4147-A177-3AD203B41FA5}">
                      <a16:colId xmlns:a16="http://schemas.microsoft.com/office/drawing/2014/main" val="20002"/>
                    </a:ext>
                  </a:extLst>
                </a:gridCol>
              </a:tblGrid>
              <a:tr h="370840">
                <a:tc>
                  <a:txBody>
                    <a:bodyPr/>
                    <a:lstStyle/>
                    <a:p>
                      <a:r>
                        <a:rPr lang="en-US" dirty="0"/>
                        <a:t>CA</a:t>
                      </a:r>
                      <a:endParaRPr lang="en-IN" dirty="0"/>
                    </a:p>
                  </a:txBody>
                  <a:tcPr/>
                </a:tc>
                <a:tc>
                  <a:txBody>
                    <a:bodyPr/>
                    <a:lstStyle/>
                    <a:p>
                      <a:r>
                        <a:rPr lang="en-US" dirty="0"/>
                        <a:t>Allocation</a:t>
                      </a:r>
                      <a:r>
                        <a:rPr lang="en-US" baseline="0" dirty="0"/>
                        <a:t> week</a:t>
                      </a:r>
                      <a:endParaRPr lang="en-IN" dirty="0"/>
                    </a:p>
                  </a:txBody>
                  <a:tcPr/>
                </a:tc>
                <a:tc>
                  <a:txBody>
                    <a:bodyPr/>
                    <a:lstStyle/>
                    <a:p>
                      <a:r>
                        <a:rPr lang="en-US" dirty="0"/>
                        <a:t>Submission week</a:t>
                      </a:r>
                      <a:endParaRPr lang="en-IN" dirty="0"/>
                    </a:p>
                  </a:txBody>
                  <a:tcPr/>
                </a:tc>
                <a:extLst>
                  <a:ext uri="{0D108BD9-81ED-4DB2-BD59-A6C34878D82A}">
                    <a16:rowId xmlns:a16="http://schemas.microsoft.com/office/drawing/2014/main" val="10000"/>
                  </a:ext>
                </a:extLst>
              </a:tr>
              <a:tr h="370840">
                <a:tc>
                  <a:txBody>
                    <a:bodyPr/>
                    <a:lstStyle/>
                    <a:p>
                      <a:r>
                        <a:rPr lang="en-US" dirty="0"/>
                        <a:t>Test1</a:t>
                      </a:r>
                      <a:endParaRPr lang="en-IN" dirty="0"/>
                    </a:p>
                  </a:txBody>
                  <a:tcPr/>
                </a:tc>
                <a:tc>
                  <a:txBody>
                    <a:bodyPr/>
                    <a:lstStyle/>
                    <a:p>
                      <a:r>
                        <a:rPr lang="en-US" dirty="0"/>
                        <a:t>3rd</a:t>
                      </a:r>
                      <a:endParaRPr lang="en-IN" dirty="0"/>
                    </a:p>
                  </a:txBody>
                  <a:tcPr/>
                </a:tc>
                <a:tc>
                  <a:txBody>
                    <a:bodyPr/>
                    <a:lstStyle/>
                    <a:p>
                      <a:r>
                        <a:rPr lang="en-US" dirty="0"/>
                        <a:t>5th</a:t>
                      </a:r>
                      <a:endParaRPr lang="en-IN" dirty="0"/>
                    </a:p>
                  </a:txBody>
                  <a:tcPr/>
                </a:tc>
                <a:extLst>
                  <a:ext uri="{0D108BD9-81ED-4DB2-BD59-A6C34878D82A}">
                    <a16:rowId xmlns:a16="http://schemas.microsoft.com/office/drawing/2014/main" val="10001"/>
                  </a:ext>
                </a:extLst>
              </a:tr>
              <a:tr h="370840">
                <a:tc>
                  <a:txBody>
                    <a:bodyPr/>
                    <a:lstStyle/>
                    <a:p>
                      <a:r>
                        <a:rPr lang="en-US" dirty="0"/>
                        <a:t>Test2</a:t>
                      </a:r>
                      <a:endParaRPr lang="en-IN" dirty="0"/>
                    </a:p>
                  </a:txBody>
                  <a:tcPr/>
                </a:tc>
                <a:tc>
                  <a:txBody>
                    <a:bodyPr/>
                    <a:lstStyle/>
                    <a:p>
                      <a:r>
                        <a:rPr lang="en-US" dirty="0"/>
                        <a:t>8th</a:t>
                      </a:r>
                      <a:endParaRPr lang="en-IN" dirty="0"/>
                    </a:p>
                  </a:txBody>
                  <a:tcPr/>
                </a:tc>
                <a:tc>
                  <a:txBody>
                    <a:bodyPr/>
                    <a:lstStyle/>
                    <a:p>
                      <a:r>
                        <a:rPr lang="en-US" dirty="0"/>
                        <a:t>10th</a:t>
                      </a:r>
                      <a:endParaRPr lang="en-IN" dirty="0"/>
                    </a:p>
                  </a:txBody>
                  <a:tcPr/>
                </a:tc>
                <a:extLst>
                  <a:ext uri="{0D108BD9-81ED-4DB2-BD59-A6C34878D82A}">
                    <a16:rowId xmlns:a16="http://schemas.microsoft.com/office/drawing/2014/main" val="10002"/>
                  </a:ext>
                </a:extLst>
              </a:tr>
              <a:tr h="370840">
                <a:tc>
                  <a:txBody>
                    <a:bodyPr/>
                    <a:lstStyle/>
                    <a:p>
                      <a:r>
                        <a:rPr lang="en-US" dirty="0"/>
                        <a:t>Project(live </a:t>
                      </a:r>
                      <a:r>
                        <a:rPr lang="en-US" dirty="0" err="1"/>
                        <a:t>Django</a:t>
                      </a:r>
                      <a:r>
                        <a:rPr lang="en-US" dirty="0"/>
                        <a:t> Web app)</a:t>
                      </a:r>
                      <a:endParaRPr lang="en-IN" dirty="0"/>
                    </a:p>
                  </a:txBody>
                  <a:tcPr/>
                </a:tc>
                <a:tc>
                  <a:txBody>
                    <a:bodyPr/>
                    <a:lstStyle/>
                    <a:p>
                      <a:r>
                        <a:rPr lang="en-US" dirty="0"/>
                        <a:t>4th</a:t>
                      </a:r>
                      <a:endParaRPr lang="en-IN" dirty="0"/>
                    </a:p>
                  </a:txBody>
                  <a:tcPr/>
                </a:tc>
                <a:tc>
                  <a:txBody>
                    <a:bodyPr/>
                    <a:lstStyle/>
                    <a:p>
                      <a:r>
                        <a:rPr lang="en-US" dirty="0"/>
                        <a:t>12th</a:t>
                      </a:r>
                      <a:endParaRPr lang="en-IN" dirty="0"/>
                    </a:p>
                  </a:txBody>
                  <a:tcPr/>
                </a:tc>
                <a:extLst>
                  <a:ext uri="{0D108BD9-81ED-4DB2-BD59-A6C34878D82A}">
                    <a16:rowId xmlns:a16="http://schemas.microsoft.com/office/drawing/2014/main" val="10003"/>
                  </a:ext>
                </a:extLst>
              </a:tr>
              <a:tr h="370840">
                <a:tc gridSpan="3">
                  <a:txBody>
                    <a:bodyPr/>
                    <a:lstStyle/>
                    <a:p>
                      <a:r>
                        <a:rPr lang="en-US" dirty="0"/>
                        <a:t>CA</a:t>
                      </a:r>
                      <a:r>
                        <a:rPr lang="en-US" baseline="0" dirty="0"/>
                        <a:t> category: </a:t>
                      </a:r>
                      <a:r>
                        <a:rPr lang="en-IN" b="1" i="0" dirty="0">
                          <a:solidFill>
                            <a:schemeClr val="dk1"/>
                          </a:solidFill>
                          <a:effectLst/>
                          <a:latin typeface="+mn-lt"/>
                          <a:ea typeface="+mn-ea"/>
                          <a:cs typeface="+mn-cs"/>
                        </a:rPr>
                        <a:t>A0203(Best 2 out of 3)</a:t>
                      </a:r>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p:cNvSpPr txBox="1">
            <a:spLocks noGrp="1"/>
          </p:cNvSpPr>
          <p:nvPr>
            <p:ph type="title"/>
          </p:nvPr>
        </p:nvSpPr>
        <p:spPr>
          <a:xfrm>
            <a:off x="1907794" y="406653"/>
            <a:ext cx="4340606" cy="566822"/>
          </a:xfrm>
          <a:prstGeom prst="rect">
            <a:avLst/>
          </a:prstGeom>
        </p:spPr>
        <p:txBody>
          <a:bodyPr vert="horz" wrap="square" lIns="0" tIns="12700" rIns="0" bIns="0" rtlCol="0">
            <a:spAutoFit/>
          </a:bodyPr>
          <a:lstStyle/>
          <a:p>
            <a:pPr marL="12700">
              <a:lnSpc>
                <a:spcPct val="100000"/>
              </a:lnSpc>
              <a:spcBef>
                <a:spcPts val="100"/>
              </a:spcBef>
            </a:pPr>
            <a:r>
              <a:rPr lang="en-US" sz="3600" u="none" dirty="0">
                <a:solidFill>
                  <a:srgbClr val="C00000"/>
                </a:solidFill>
              </a:rPr>
              <a:t>Learning Resources</a:t>
            </a:r>
            <a:endParaRPr sz="3600" dirty="0"/>
          </a:p>
        </p:txBody>
      </p:sp>
      <p:sp>
        <p:nvSpPr>
          <p:cNvPr id="4" name="object 4"/>
          <p:cNvSpPr txBox="1"/>
          <p:nvPr/>
        </p:nvSpPr>
        <p:spPr>
          <a:xfrm>
            <a:off x="990600" y="1253998"/>
            <a:ext cx="10452989" cy="2970044"/>
          </a:xfrm>
          <a:prstGeom prst="rect">
            <a:avLst/>
          </a:prstGeom>
        </p:spPr>
        <p:txBody>
          <a:bodyPr vert="horz" wrap="square" lIns="0" tIns="76200" rIns="0" bIns="0" rtlCol="0">
            <a:spAutoFit/>
          </a:bodyPr>
          <a:lstStyle/>
          <a:p>
            <a:pPr marL="12700">
              <a:lnSpc>
                <a:spcPct val="100000"/>
              </a:lnSpc>
              <a:spcBef>
                <a:spcPts val="600"/>
              </a:spcBef>
            </a:pPr>
            <a:r>
              <a:rPr lang="en-US" sz="2400" b="1" dirty="0">
                <a:latin typeface="Times New Roman" panose="02020603050405020304" pitchFamily="18" charset="0"/>
                <a:cs typeface="Times New Roman" panose="02020603050405020304" pitchFamily="18" charset="0"/>
              </a:rPr>
              <a:t>Text Books:</a:t>
            </a:r>
          </a:p>
          <a:p>
            <a:pPr marL="12700">
              <a:lnSpc>
                <a:spcPct val="100000"/>
              </a:lnSpc>
              <a:spcBef>
                <a:spcPts val="600"/>
              </a:spcBef>
            </a:pPr>
            <a:r>
              <a:rPr lang="en-US" sz="2400" b="1"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BUILDING WEBSITES WITH DJANGO by AWANISH RANJAN, BPB PUBLICATIONS</a:t>
            </a:r>
          </a:p>
          <a:p>
            <a:pPr marL="12700">
              <a:lnSpc>
                <a:spcPct val="100000"/>
              </a:lnSpc>
              <a:spcBef>
                <a:spcPts val="600"/>
              </a:spcBef>
            </a:pPr>
            <a:endParaRPr lang="en-US" sz="2400" dirty="0">
              <a:latin typeface="Times New Roman" panose="02020603050405020304" pitchFamily="18" charset="0"/>
              <a:cs typeface="Times New Roman" panose="02020603050405020304" pitchFamily="18" charset="0"/>
            </a:endParaRPr>
          </a:p>
          <a:p>
            <a:pPr marL="12700">
              <a:spcBef>
                <a:spcPts val="600"/>
              </a:spcBef>
            </a:pPr>
            <a:r>
              <a:rPr lang="en-US" sz="2400" b="1" dirty="0">
                <a:latin typeface="Times New Roman" panose="02020603050405020304" pitchFamily="18" charset="0"/>
                <a:cs typeface="Times New Roman" panose="02020603050405020304" pitchFamily="18" charset="0"/>
              </a:rPr>
              <a:t>References:</a:t>
            </a:r>
          </a:p>
          <a:p>
            <a:pPr marL="12700">
              <a:lnSpc>
                <a:spcPct val="100000"/>
              </a:lnSpc>
              <a:spcBef>
                <a:spcPts val="600"/>
              </a:spcBef>
            </a:pPr>
            <a:r>
              <a:rPr lang="en-US" sz="2400" b="1"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DESIGNING MICROSERVICES USING DJANGO by SHAYANK JAIN, BPB PUBLICATIONS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70559" y="1028700"/>
            <a:ext cx="10850880" cy="0"/>
          </a:xfrm>
          <a:custGeom>
            <a:avLst/>
            <a:gdLst/>
            <a:ahLst/>
            <a:cxnLst/>
            <a:rect l="l" t="t" r="r" b="b"/>
            <a:pathLst>
              <a:path w="10850880">
                <a:moveTo>
                  <a:pt x="0" y="0"/>
                </a:moveTo>
                <a:lnTo>
                  <a:pt x="10850499" y="0"/>
                </a:lnTo>
              </a:path>
            </a:pathLst>
          </a:custGeom>
          <a:ln w="9144">
            <a:solidFill>
              <a:srgbClr val="7E7E7E"/>
            </a:solidFill>
          </a:ln>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806450">
              <a:lnSpc>
                <a:spcPct val="100000"/>
              </a:lnSpc>
              <a:spcBef>
                <a:spcPts val="100"/>
              </a:spcBef>
            </a:pPr>
            <a:r>
              <a:rPr sz="3600" u="none" dirty="0">
                <a:solidFill>
                  <a:srgbClr val="C00000"/>
                </a:solidFill>
              </a:rPr>
              <a:t>Course</a:t>
            </a:r>
            <a:r>
              <a:rPr sz="3600" u="none" spc="-110" dirty="0">
                <a:solidFill>
                  <a:srgbClr val="C00000"/>
                </a:solidFill>
              </a:rPr>
              <a:t> </a:t>
            </a:r>
            <a:r>
              <a:rPr sz="3600" u="none" spc="-10" dirty="0">
                <a:solidFill>
                  <a:srgbClr val="C00000"/>
                </a:solidFill>
              </a:rPr>
              <a:t>Focus</a:t>
            </a:r>
            <a:endParaRPr sz="3600"/>
          </a:p>
        </p:txBody>
      </p:sp>
      <p:sp>
        <p:nvSpPr>
          <p:cNvPr id="4" name="object 4"/>
          <p:cNvSpPr txBox="1"/>
          <p:nvPr/>
        </p:nvSpPr>
        <p:spPr>
          <a:xfrm>
            <a:off x="1710944" y="1651508"/>
            <a:ext cx="8650605" cy="2403475"/>
          </a:xfrm>
          <a:prstGeom prst="rect">
            <a:avLst/>
          </a:prstGeom>
        </p:spPr>
        <p:txBody>
          <a:bodyPr vert="horz" wrap="square" lIns="0" tIns="30480" rIns="0" bIns="0" rtlCol="0">
            <a:spAutoFit/>
          </a:bodyPr>
          <a:lstStyle/>
          <a:p>
            <a:pPr marL="469900" marR="5080" indent="-457200">
              <a:lnSpc>
                <a:spcPts val="2820"/>
              </a:lnSpc>
              <a:spcBef>
                <a:spcPts val="240"/>
              </a:spcBef>
              <a:buFont typeface="Arial MT"/>
              <a:buChar char="•"/>
              <a:tabLst>
                <a:tab pos="469900" algn="l"/>
              </a:tabLst>
            </a:pPr>
            <a:r>
              <a:rPr sz="2400" dirty="0">
                <a:latin typeface="Times New Roman"/>
                <a:cs typeface="Times New Roman"/>
              </a:rPr>
              <a:t>One of the most in-demand skills for </a:t>
            </a:r>
            <a:r>
              <a:rPr sz="2400" b="1" dirty="0">
                <a:latin typeface="Times New Roman"/>
                <a:cs typeface="Times New Roman"/>
              </a:rPr>
              <a:t>Python-based web development</a:t>
            </a:r>
            <a:r>
              <a:rPr sz="2400" dirty="0">
                <a:latin typeface="Times New Roman"/>
                <a:cs typeface="Times New Roman"/>
              </a:rPr>
              <a:t> roles in the industry.</a:t>
            </a:r>
          </a:p>
          <a:p>
            <a:pPr marL="469265" indent="-456565">
              <a:lnSpc>
                <a:spcPct val="100000"/>
              </a:lnSpc>
              <a:spcBef>
                <a:spcPts val="420"/>
              </a:spcBef>
              <a:buFont typeface="Arial MT"/>
              <a:buChar char="•"/>
              <a:tabLst>
                <a:tab pos="469265" algn="l"/>
              </a:tabLst>
            </a:pPr>
            <a:r>
              <a:rPr sz="2400" dirty="0">
                <a:latin typeface="Times New Roman"/>
                <a:cs typeface="Times New Roman"/>
              </a:rPr>
              <a:t>Django is used by well-known, large-scale platforms for building robust web applications.</a:t>
            </a:r>
          </a:p>
          <a:p>
            <a:pPr marL="469265" indent="-456565">
              <a:lnSpc>
                <a:spcPct val="100000"/>
              </a:lnSpc>
              <a:spcBef>
                <a:spcPts val="509"/>
              </a:spcBef>
              <a:buFont typeface="Arial MT"/>
              <a:buChar char="•"/>
              <a:tabLst>
                <a:tab pos="469265" algn="l"/>
              </a:tabLst>
            </a:pPr>
            <a:r>
              <a:rPr sz="2400" dirty="0">
                <a:latin typeface="Times New Roman"/>
                <a:cs typeface="Times New Roman"/>
              </a:rPr>
              <a:t>Widely adopted by IT services and product companies for backend and full-stack development</a:t>
            </a:r>
          </a:p>
          <a:p>
            <a:pPr marL="469900" marR="6985" indent="-457200">
              <a:lnSpc>
                <a:spcPts val="2820"/>
              </a:lnSpc>
              <a:spcBef>
                <a:spcPts val="695"/>
              </a:spcBef>
              <a:buFont typeface="Arial MT"/>
              <a:buChar char="•"/>
              <a:tabLst>
                <a:tab pos="469900" algn="l"/>
              </a:tabLst>
            </a:pPr>
            <a:r>
              <a:rPr sz="2400" dirty="0">
                <a:latin typeface="Times New Roman"/>
                <a:cs typeface="Times New Roman"/>
              </a:rPr>
              <a:t>A strong foundation for careers as a Python Developer, Django Developer, or Backend Engineer.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31619" y="715213"/>
            <a:ext cx="7192645" cy="574675"/>
          </a:xfrm>
          <a:prstGeom prst="rect">
            <a:avLst/>
          </a:prstGeom>
        </p:spPr>
        <p:txBody>
          <a:bodyPr vert="horz" wrap="square" lIns="0" tIns="12700" rIns="0" bIns="0" rtlCol="0">
            <a:spAutoFit/>
          </a:bodyPr>
          <a:lstStyle/>
          <a:p>
            <a:pPr marL="12700">
              <a:lnSpc>
                <a:spcPct val="100000"/>
              </a:lnSpc>
              <a:spcBef>
                <a:spcPts val="100"/>
              </a:spcBef>
              <a:tabLst>
                <a:tab pos="7179309" algn="l"/>
              </a:tabLst>
            </a:pPr>
            <a:r>
              <a:rPr sz="3600" u="sng" dirty="0">
                <a:solidFill>
                  <a:srgbClr val="C00000"/>
                </a:solidFill>
                <a:uFill>
                  <a:solidFill>
                    <a:srgbClr val="F79546"/>
                  </a:solidFill>
                </a:uFill>
              </a:rPr>
              <a:t>Relevancy</a:t>
            </a:r>
            <a:r>
              <a:rPr sz="3600" u="sng" spc="-15" dirty="0">
                <a:solidFill>
                  <a:srgbClr val="C00000"/>
                </a:solidFill>
                <a:uFill>
                  <a:solidFill>
                    <a:srgbClr val="F79546"/>
                  </a:solidFill>
                </a:uFill>
              </a:rPr>
              <a:t> </a:t>
            </a:r>
            <a:r>
              <a:rPr sz="3600" u="sng" dirty="0">
                <a:solidFill>
                  <a:srgbClr val="C00000"/>
                </a:solidFill>
                <a:uFill>
                  <a:solidFill>
                    <a:srgbClr val="F79546"/>
                  </a:solidFill>
                </a:uFill>
              </a:rPr>
              <a:t>of</a:t>
            </a:r>
            <a:r>
              <a:rPr sz="3600" u="sng" spc="-10" dirty="0">
                <a:solidFill>
                  <a:srgbClr val="C00000"/>
                </a:solidFill>
                <a:uFill>
                  <a:solidFill>
                    <a:srgbClr val="F79546"/>
                  </a:solidFill>
                </a:uFill>
              </a:rPr>
              <a:t> </a:t>
            </a:r>
            <a:r>
              <a:rPr sz="3600" u="sng" dirty="0">
                <a:solidFill>
                  <a:srgbClr val="C00000"/>
                </a:solidFill>
                <a:uFill>
                  <a:solidFill>
                    <a:srgbClr val="F79546"/>
                  </a:solidFill>
                </a:uFill>
              </a:rPr>
              <a:t>Django</a:t>
            </a:r>
            <a:r>
              <a:rPr sz="3600" u="sng" spc="-10" dirty="0">
                <a:solidFill>
                  <a:srgbClr val="C00000"/>
                </a:solidFill>
                <a:uFill>
                  <a:solidFill>
                    <a:srgbClr val="F79546"/>
                  </a:solidFill>
                </a:uFill>
              </a:rPr>
              <a:t> </a:t>
            </a:r>
            <a:r>
              <a:rPr sz="3600" u="sng" dirty="0">
                <a:solidFill>
                  <a:srgbClr val="C00000"/>
                </a:solidFill>
                <a:uFill>
                  <a:solidFill>
                    <a:srgbClr val="F79546"/>
                  </a:solidFill>
                </a:uFill>
              </a:rPr>
              <a:t>for</a:t>
            </a:r>
            <a:r>
              <a:rPr sz="3600" u="sng" spc="-10" dirty="0">
                <a:solidFill>
                  <a:srgbClr val="C00000"/>
                </a:solidFill>
                <a:uFill>
                  <a:solidFill>
                    <a:srgbClr val="F79546"/>
                  </a:solidFill>
                </a:uFill>
              </a:rPr>
              <a:t> Placements</a:t>
            </a:r>
            <a:r>
              <a:rPr sz="3600" u="sng" dirty="0">
                <a:solidFill>
                  <a:srgbClr val="C00000"/>
                </a:solidFill>
                <a:uFill>
                  <a:solidFill>
                    <a:srgbClr val="F79546"/>
                  </a:solidFill>
                </a:uFill>
              </a:rPr>
              <a:t>	</a:t>
            </a:r>
            <a:endParaRPr sz="3600"/>
          </a:p>
        </p:txBody>
      </p:sp>
      <p:sp>
        <p:nvSpPr>
          <p:cNvPr id="3" name="object 3"/>
          <p:cNvSpPr txBox="1"/>
          <p:nvPr/>
        </p:nvSpPr>
        <p:spPr>
          <a:xfrm>
            <a:off x="2060194" y="1478407"/>
            <a:ext cx="8070850" cy="4497705"/>
          </a:xfrm>
          <a:prstGeom prst="rect">
            <a:avLst/>
          </a:prstGeom>
        </p:spPr>
        <p:txBody>
          <a:bodyPr vert="horz" wrap="square" lIns="0" tIns="12700" rIns="0" bIns="0" rtlCol="0">
            <a:spAutoFit/>
          </a:bodyPr>
          <a:lstStyle/>
          <a:p>
            <a:pPr marL="353695" marR="5080" indent="-341630">
              <a:lnSpc>
                <a:spcPct val="100000"/>
              </a:lnSpc>
              <a:spcBef>
                <a:spcPts val="100"/>
              </a:spcBef>
              <a:tabLst>
                <a:tab pos="1437005" algn="l"/>
                <a:tab pos="2487930" algn="l"/>
                <a:tab pos="2897505" algn="l"/>
                <a:tab pos="3543935" algn="l"/>
                <a:tab pos="4003040" algn="l"/>
                <a:tab pos="4582160" algn="l"/>
                <a:tab pos="5379085" algn="l"/>
                <a:tab pos="6769100" algn="l"/>
                <a:tab pos="7701915" algn="l"/>
              </a:tabLst>
            </a:pPr>
            <a:r>
              <a:rPr sz="2400" spc="-10" dirty="0">
                <a:latin typeface="Times New Roman"/>
                <a:cs typeface="Times New Roman"/>
              </a:rPr>
              <a:t>Django</a:t>
            </a:r>
            <a:r>
              <a:rPr sz="2400" dirty="0">
                <a:latin typeface="Times New Roman"/>
                <a:cs typeface="Times New Roman"/>
              </a:rPr>
              <a:t>	</a:t>
            </a:r>
            <a:r>
              <a:rPr sz="2400" spc="-10" dirty="0">
                <a:latin typeface="Times New Roman"/>
                <a:cs typeface="Times New Roman"/>
              </a:rPr>
              <a:t>system</a:t>
            </a:r>
            <a:r>
              <a:rPr sz="2400" dirty="0">
                <a:latin typeface="Times New Roman"/>
                <a:cs typeface="Times New Roman"/>
              </a:rPr>
              <a:t>	</a:t>
            </a:r>
            <a:r>
              <a:rPr sz="2400" spc="-25" dirty="0">
                <a:latin typeface="Times New Roman"/>
                <a:cs typeface="Times New Roman"/>
              </a:rPr>
              <a:t>is</a:t>
            </a:r>
            <a:r>
              <a:rPr sz="2400" dirty="0">
                <a:latin typeface="Times New Roman"/>
                <a:cs typeface="Times New Roman"/>
              </a:rPr>
              <a:t>	</a:t>
            </a:r>
            <a:r>
              <a:rPr sz="2400" spc="-25" dirty="0">
                <a:latin typeface="Times New Roman"/>
                <a:cs typeface="Times New Roman"/>
              </a:rPr>
              <a:t>one</a:t>
            </a:r>
            <a:r>
              <a:rPr sz="2400" dirty="0">
                <a:latin typeface="Times New Roman"/>
                <a:cs typeface="Times New Roman"/>
              </a:rPr>
              <a:t>	</a:t>
            </a:r>
            <a:r>
              <a:rPr sz="2400" spc="-25" dirty="0">
                <a:latin typeface="Times New Roman"/>
                <a:cs typeface="Times New Roman"/>
              </a:rPr>
              <a:t>of</a:t>
            </a:r>
            <a:r>
              <a:rPr sz="2400" dirty="0">
                <a:latin typeface="Times New Roman"/>
                <a:cs typeface="Times New Roman"/>
              </a:rPr>
              <a:t>	</a:t>
            </a:r>
            <a:r>
              <a:rPr sz="2400" spc="-25" dirty="0">
                <a:latin typeface="Times New Roman"/>
                <a:cs typeface="Times New Roman"/>
              </a:rPr>
              <a:t>the</a:t>
            </a:r>
            <a:r>
              <a:rPr sz="2400" dirty="0">
                <a:latin typeface="Times New Roman"/>
                <a:cs typeface="Times New Roman"/>
              </a:rPr>
              <a:t>	</a:t>
            </a:r>
            <a:r>
              <a:rPr sz="2400" spc="-20" dirty="0">
                <a:latin typeface="Times New Roman"/>
                <a:cs typeface="Times New Roman"/>
              </a:rPr>
              <a:t>most</a:t>
            </a:r>
            <a:r>
              <a:rPr sz="2400" dirty="0">
                <a:latin typeface="Times New Roman"/>
                <a:cs typeface="Times New Roman"/>
              </a:rPr>
              <a:t>	</a:t>
            </a:r>
            <a:r>
              <a:rPr sz="2400" spc="-10" dirty="0">
                <a:latin typeface="Times New Roman"/>
                <a:cs typeface="Times New Roman"/>
              </a:rPr>
              <a:t>important</a:t>
            </a:r>
            <a:r>
              <a:rPr sz="2400" dirty="0">
                <a:latin typeface="Times New Roman"/>
                <a:cs typeface="Times New Roman"/>
              </a:rPr>
              <a:t>	</a:t>
            </a:r>
            <a:r>
              <a:rPr sz="2400" spc="-10" dirty="0">
                <a:latin typeface="Times New Roman"/>
                <a:cs typeface="Times New Roman"/>
              </a:rPr>
              <a:t>topics</a:t>
            </a:r>
            <a:r>
              <a:rPr sz="2400" dirty="0">
                <a:latin typeface="Times New Roman"/>
                <a:cs typeface="Times New Roman"/>
              </a:rPr>
              <a:t>	</a:t>
            </a:r>
            <a:r>
              <a:rPr sz="2400" spc="-25" dirty="0">
                <a:latin typeface="Times New Roman"/>
                <a:cs typeface="Times New Roman"/>
              </a:rPr>
              <a:t>for </a:t>
            </a:r>
            <a:r>
              <a:rPr sz="2400" dirty="0">
                <a:latin typeface="Times New Roman"/>
                <a:cs typeface="Times New Roman"/>
              </a:rPr>
              <a:t>Placement</a:t>
            </a:r>
            <a:r>
              <a:rPr sz="2400" spc="-35" dirty="0">
                <a:latin typeface="Times New Roman"/>
                <a:cs typeface="Times New Roman"/>
              </a:rPr>
              <a:t> </a:t>
            </a:r>
            <a:r>
              <a:rPr sz="2400" spc="-10" dirty="0">
                <a:latin typeface="Times New Roman"/>
                <a:cs typeface="Times New Roman"/>
              </a:rPr>
              <a:t>preparation.</a:t>
            </a:r>
            <a:endParaRPr sz="2400">
              <a:latin typeface="Times New Roman"/>
              <a:cs typeface="Times New Roman"/>
            </a:endParaRPr>
          </a:p>
          <a:p>
            <a:pPr marL="12700">
              <a:lnSpc>
                <a:spcPct val="100000"/>
              </a:lnSpc>
              <a:spcBef>
                <a:spcPts val="805"/>
              </a:spcBef>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following</a:t>
            </a:r>
            <a:r>
              <a:rPr sz="2400" spc="-5"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most</a:t>
            </a:r>
            <a:r>
              <a:rPr sz="2400" spc="5" dirty="0">
                <a:latin typeface="Times New Roman"/>
                <a:cs typeface="Times New Roman"/>
              </a:rPr>
              <a:t> </a:t>
            </a:r>
            <a:r>
              <a:rPr sz="2400" dirty="0">
                <a:latin typeface="Times New Roman"/>
                <a:cs typeface="Times New Roman"/>
              </a:rPr>
              <a:t>important</a:t>
            </a:r>
            <a:r>
              <a:rPr sz="2400" spc="-25" dirty="0">
                <a:latin typeface="Times New Roman"/>
                <a:cs typeface="Times New Roman"/>
              </a:rPr>
              <a:t> </a:t>
            </a:r>
            <a:r>
              <a:rPr sz="2400" dirty="0">
                <a:latin typeface="Times New Roman"/>
                <a:cs typeface="Times New Roman"/>
              </a:rPr>
              <a:t>topics</a:t>
            </a:r>
            <a:r>
              <a:rPr sz="2400" spc="-3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focus</a:t>
            </a:r>
            <a:r>
              <a:rPr sz="2400" spc="-10" dirty="0">
                <a:latin typeface="Times New Roman"/>
                <a:cs typeface="Times New Roman"/>
              </a:rPr>
              <a:t> upon:</a:t>
            </a:r>
            <a:endParaRPr sz="2400">
              <a:latin typeface="Times New Roman"/>
              <a:cs typeface="Times New Roman"/>
            </a:endParaRPr>
          </a:p>
          <a:p>
            <a:pPr marL="354965" indent="-342265">
              <a:lnSpc>
                <a:spcPct val="100000"/>
              </a:lnSpc>
              <a:spcBef>
                <a:spcPts val="805"/>
              </a:spcBef>
              <a:buFont typeface="Arial MT"/>
              <a:buChar char="•"/>
              <a:tabLst>
                <a:tab pos="354965" algn="l"/>
              </a:tabLst>
            </a:pPr>
            <a:r>
              <a:rPr sz="2400" dirty="0">
                <a:latin typeface="Times New Roman"/>
                <a:cs typeface="Times New Roman"/>
              </a:rPr>
              <a:t>Django</a:t>
            </a:r>
            <a:r>
              <a:rPr sz="2400" spc="-45" dirty="0">
                <a:latin typeface="Times New Roman"/>
                <a:cs typeface="Times New Roman"/>
              </a:rPr>
              <a:t> </a:t>
            </a:r>
            <a:r>
              <a:rPr sz="2400" spc="-10" dirty="0">
                <a:latin typeface="Times New Roman"/>
                <a:cs typeface="Times New Roman"/>
              </a:rPr>
              <a:t>ORM and Models</a:t>
            </a:r>
            <a:endParaRPr sz="2400">
              <a:latin typeface="Times New Roman"/>
              <a:cs typeface="Times New Roman"/>
            </a:endParaRPr>
          </a:p>
          <a:p>
            <a:pPr marL="353695" indent="-340995">
              <a:lnSpc>
                <a:spcPct val="100000"/>
              </a:lnSpc>
              <a:spcBef>
                <a:spcPts val="790"/>
              </a:spcBef>
              <a:buFont typeface="Arial MT"/>
              <a:buChar char="•"/>
              <a:tabLst>
                <a:tab pos="353695" algn="l"/>
              </a:tabLst>
            </a:pPr>
            <a:r>
              <a:rPr sz="2400" dirty="0">
                <a:latin typeface="Times New Roman"/>
                <a:cs typeface="Times New Roman"/>
              </a:rPr>
              <a:t>Views</a:t>
            </a:r>
            <a:r>
              <a:rPr sz="2400" spc="-30" dirty="0">
                <a:latin typeface="Times New Roman"/>
                <a:cs typeface="Times New Roman"/>
              </a:rPr>
              <a:t> </a:t>
            </a:r>
            <a:r>
              <a:rPr sz="2400" spc="-10" dirty="0">
                <a:latin typeface="Times New Roman"/>
                <a:cs typeface="Times New Roman"/>
              </a:rPr>
              <a:t>and URL Routing</a:t>
            </a:r>
            <a:endParaRPr sz="2400">
              <a:latin typeface="Times New Roman"/>
              <a:cs typeface="Times New Roman"/>
            </a:endParaRPr>
          </a:p>
          <a:p>
            <a:pPr marL="353695" indent="-340995">
              <a:lnSpc>
                <a:spcPct val="100000"/>
              </a:lnSpc>
              <a:spcBef>
                <a:spcPts val="805"/>
              </a:spcBef>
              <a:buFont typeface="Arial MT"/>
              <a:buChar char="•"/>
              <a:tabLst>
                <a:tab pos="353695" algn="l"/>
              </a:tabLst>
            </a:pPr>
            <a:r>
              <a:rPr sz="2400" spc="-10" dirty="0">
                <a:latin typeface="Times New Roman"/>
                <a:cs typeface="Times New Roman"/>
              </a:rPr>
              <a:t>Templates and DTL</a:t>
            </a:r>
            <a:endParaRPr sz="2400">
              <a:latin typeface="Times New Roman"/>
              <a:cs typeface="Times New Roman"/>
            </a:endParaRPr>
          </a:p>
          <a:p>
            <a:pPr marL="353695" indent="-340995">
              <a:lnSpc>
                <a:spcPct val="100000"/>
              </a:lnSpc>
              <a:spcBef>
                <a:spcPts val="805"/>
              </a:spcBef>
              <a:buFont typeface="Arial MT"/>
              <a:buChar char="•"/>
              <a:tabLst>
                <a:tab pos="353695" algn="l"/>
              </a:tabLst>
            </a:pPr>
            <a:r>
              <a:rPr sz="2400" dirty="0">
                <a:latin typeface="Times New Roman"/>
                <a:cs typeface="Times New Roman"/>
              </a:rPr>
              <a:t>Forms</a:t>
            </a:r>
            <a:r>
              <a:rPr sz="2400" spc="-2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spc="-10" dirty="0">
                <a:latin typeface="Times New Roman"/>
                <a:cs typeface="Times New Roman"/>
              </a:rPr>
              <a:t>CSRF Protection</a:t>
            </a:r>
            <a:endParaRPr sz="2400">
              <a:latin typeface="Times New Roman"/>
              <a:cs typeface="Times New Roman"/>
            </a:endParaRPr>
          </a:p>
          <a:p>
            <a:pPr marL="353695" indent="-340995">
              <a:lnSpc>
                <a:spcPct val="100000"/>
              </a:lnSpc>
              <a:spcBef>
                <a:spcPts val="795"/>
              </a:spcBef>
              <a:buFont typeface="Arial MT"/>
              <a:buChar char="•"/>
              <a:tabLst>
                <a:tab pos="353695" algn="l"/>
              </a:tabLst>
            </a:pPr>
            <a:r>
              <a:rPr sz="2400" dirty="0">
                <a:latin typeface="Times New Roman"/>
                <a:cs typeface="Times New Roman"/>
              </a:rPr>
              <a:t>Migrations</a:t>
            </a:r>
            <a:r>
              <a:rPr sz="2400" spc="-35" dirty="0">
                <a:latin typeface="Times New Roman"/>
                <a:cs typeface="Times New Roman"/>
              </a:rPr>
              <a:t> </a:t>
            </a:r>
            <a:r>
              <a:rPr sz="2400" spc="-10" dirty="0">
                <a:latin typeface="Times New Roman"/>
                <a:cs typeface="Times New Roman"/>
              </a:rPr>
              <a:t>and Database Design</a:t>
            </a:r>
            <a:endParaRPr sz="2400">
              <a:latin typeface="Times New Roman"/>
              <a:cs typeface="Times New Roman"/>
            </a:endParaRPr>
          </a:p>
          <a:p>
            <a:pPr marL="353695" indent="-340995">
              <a:lnSpc>
                <a:spcPct val="100000"/>
              </a:lnSpc>
              <a:spcBef>
                <a:spcPts val="805"/>
              </a:spcBef>
              <a:buFont typeface="Arial MT"/>
              <a:buChar char="•"/>
              <a:tabLst>
                <a:tab pos="353695" algn="l"/>
              </a:tabLst>
            </a:pPr>
            <a:r>
              <a:rPr sz="2400" dirty="0">
                <a:latin typeface="Times New Roman"/>
                <a:cs typeface="Times New Roman"/>
              </a:rPr>
              <a:t>Authentication</a:t>
            </a:r>
            <a:r>
              <a:rPr sz="2400" spc="-3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Sessions</a:t>
            </a:r>
            <a:endParaRPr sz="2400">
              <a:latin typeface="Times New Roman"/>
              <a:cs typeface="Times New Roman"/>
            </a:endParaRPr>
          </a:p>
          <a:p>
            <a:pPr marL="353695" indent="-340995">
              <a:lnSpc>
                <a:spcPct val="100000"/>
              </a:lnSpc>
              <a:spcBef>
                <a:spcPts val="805"/>
              </a:spcBef>
              <a:buFont typeface="Arial MT"/>
              <a:buChar char="•"/>
              <a:tabLst>
                <a:tab pos="353695" algn="l"/>
              </a:tabLst>
            </a:pPr>
            <a:r>
              <a:rPr sz="2400" spc="-10" dirty="0">
                <a:latin typeface="Times New Roman"/>
                <a:cs typeface="Times New Roman"/>
              </a:rPr>
              <a:t>MVT Architecture</a:t>
            </a:r>
            <a:endParaRPr sz="2400">
              <a:latin typeface="Times New Roman"/>
              <a:cs typeface="Times New Roman"/>
            </a:endParaRPr>
          </a:p>
        </p:txBody>
      </p:sp>
      <p:pic>
        <p:nvPicPr>
          <p:cNvPr id="4" name="object 4"/>
          <p:cNvPicPr/>
          <p:nvPr/>
        </p:nvPicPr>
        <p:blipFill>
          <a:blip r:embed="rId2" cstate="print"/>
          <a:stretch>
            <a:fillRect/>
          </a:stretch>
        </p:blipFill>
        <p:spPr>
          <a:xfrm>
            <a:off x="2133600" y="1270974"/>
            <a:ext cx="7076694" cy="40300"/>
          </a:xfrm>
          <a:prstGeom prst="rect">
            <a:avLst/>
          </a:prstGeom>
        </p:spPr>
      </p:pic>
    </p:spTree>
    <p:extLst>
      <p:ext uri="{BB962C8B-B14F-4D97-AF65-F5344CB8AC3E}">
        <p14:creationId xmlns:p14="http://schemas.microsoft.com/office/powerpoint/2010/main" val="2841147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60194" y="544195"/>
            <a:ext cx="4914265" cy="574040"/>
          </a:xfrm>
          <a:prstGeom prst="rect">
            <a:avLst/>
          </a:prstGeom>
        </p:spPr>
        <p:txBody>
          <a:bodyPr vert="horz" wrap="square" lIns="0" tIns="12700" rIns="0" bIns="0" rtlCol="0">
            <a:spAutoFit/>
          </a:bodyPr>
          <a:lstStyle/>
          <a:p>
            <a:pPr marL="12700">
              <a:lnSpc>
                <a:spcPct val="100000"/>
              </a:lnSpc>
              <a:spcBef>
                <a:spcPts val="100"/>
              </a:spcBef>
            </a:pPr>
            <a:r>
              <a:rPr sz="3600" u="none" dirty="0">
                <a:solidFill>
                  <a:srgbClr val="C00000"/>
                </a:solidFill>
              </a:rPr>
              <a:t>Importance</a:t>
            </a:r>
            <a:r>
              <a:rPr sz="3600" u="none" spc="-90" dirty="0">
                <a:solidFill>
                  <a:srgbClr val="C00000"/>
                </a:solidFill>
              </a:rPr>
              <a:t> </a:t>
            </a:r>
            <a:r>
              <a:rPr sz="3600" u="none" dirty="0">
                <a:solidFill>
                  <a:srgbClr val="C00000"/>
                </a:solidFill>
              </a:rPr>
              <a:t>of</a:t>
            </a:r>
            <a:r>
              <a:rPr sz="3600" u="none" spc="-85" dirty="0">
                <a:solidFill>
                  <a:srgbClr val="C00000"/>
                </a:solidFill>
              </a:rPr>
              <a:t> </a:t>
            </a:r>
            <a:r>
              <a:rPr sz="3600" u="none" dirty="0">
                <a:solidFill>
                  <a:srgbClr val="C00000"/>
                </a:solidFill>
              </a:rPr>
              <a:t>the</a:t>
            </a:r>
            <a:r>
              <a:rPr sz="3600" u="none" spc="-85" dirty="0">
                <a:solidFill>
                  <a:srgbClr val="C00000"/>
                </a:solidFill>
              </a:rPr>
              <a:t> </a:t>
            </a:r>
            <a:r>
              <a:rPr sz="3600" u="none" spc="-10" dirty="0">
                <a:solidFill>
                  <a:srgbClr val="C00000"/>
                </a:solidFill>
              </a:rPr>
              <a:t>course</a:t>
            </a:r>
            <a:endParaRPr sz="3600" dirty="0"/>
          </a:p>
        </p:txBody>
      </p:sp>
      <p:sp>
        <p:nvSpPr>
          <p:cNvPr id="3" name="object 3"/>
          <p:cNvSpPr txBox="1"/>
          <p:nvPr/>
        </p:nvSpPr>
        <p:spPr>
          <a:xfrm>
            <a:off x="1926717" y="1478407"/>
            <a:ext cx="8485505" cy="1944370"/>
          </a:xfrm>
          <a:prstGeom prst="rect">
            <a:avLst/>
          </a:prstGeom>
        </p:spPr>
        <p:txBody>
          <a:bodyPr vert="horz" wrap="square" lIns="0" tIns="12700" rIns="0" bIns="0" rtlCol="0">
            <a:spAutoFit/>
          </a:bodyPr>
          <a:lstStyle/>
          <a:p>
            <a:pPr marL="580390" marR="5080" indent="-568325" algn="just">
              <a:lnSpc>
                <a:spcPct val="100000"/>
              </a:lnSpc>
              <a:spcBef>
                <a:spcPts val="100"/>
              </a:spcBef>
              <a:buFont typeface="Arial MT"/>
              <a:buChar char="•"/>
              <a:tabLst>
                <a:tab pos="584200" algn="l"/>
              </a:tabLst>
            </a:pPr>
            <a:r>
              <a:rPr sz="2400" dirty="0">
                <a:latin typeface="Times New Roman"/>
                <a:cs typeface="Times New Roman"/>
              </a:rPr>
              <a:t>Many</a:t>
            </a:r>
            <a:r>
              <a:rPr sz="2400" spc="355" dirty="0">
                <a:latin typeface="Times New Roman"/>
                <a:cs typeface="Times New Roman"/>
              </a:rPr>
              <a:t> </a:t>
            </a:r>
            <a:r>
              <a:rPr sz="2400" dirty="0">
                <a:latin typeface="Times New Roman"/>
                <a:cs typeface="Times New Roman"/>
              </a:rPr>
              <a:t>recruiters</a:t>
            </a:r>
            <a:r>
              <a:rPr sz="2400" spc="360" dirty="0">
                <a:latin typeface="Times New Roman"/>
                <a:cs typeface="Times New Roman"/>
              </a:rPr>
              <a:t> </a:t>
            </a:r>
            <a:r>
              <a:rPr sz="2400" dirty="0">
                <a:latin typeface="Times New Roman"/>
                <a:cs typeface="Times New Roman"/>
              </a:rPr>
              <a:t>(</a:t>
            </a:r>
            <a:r>
              <a:rPr sz="2400" u="sng" dirty="0">
                <a:uFill>
                  <a:solidFill>
                    <a:srgbClr val="000000"/>
                  </a:solidFill>
                </a:uFill>
                <a:latin typeface="Times New Roman"/>
                <a:cs typeface="Times New Roman"/>
              </a:rPr>
              <a:t>like</a:t>
            </a:r>
            <a:r>
              <a:rPr sz="2400" u="sng" spc="35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TCS,</a:t>
            </a:r>
            <a:r>
              <a:rPr sz="2400" u="sng" spc="35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CTS,</a:t>
            </a:r>
            <a:r>
              <a:rPr sz="2400" u="sng" spc="37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HCL,</a:t>
            </a:r>
            <a:r>
              <a:rPr sz="2400" u="sng" spc="35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IBM,</a:t>
            </a:r>
            <a:r>
              <a:rPr sz="2400" u="sng" spc="35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Tech</a:t>
            </a:r>
            <a:r>
              <a:rPr sz="2400" u="sng" spc="360" dirty="0">
                <a:uFill>
                  <a:solidFill>
                    <a:srgbClr val="000000"/>
                  </a:solidFill>
                </a:uFill>
                <a:latin typeface="Times New Roman"/>
                <a:cs typeface="Times New Roman"/>
              </a:rPr>
              <a:t> </a:t>
            </a:r>
            <a:r>
              <a:rPr sz="2400" u="sng" spc="-10" dirty="0">
                <a:uFill>
                  <a:solidFill>
                    <a:srgbClr val="000000"/>
                  </a:solidFill>
                </a:uFill>
                <a:latin typeface="Times New Roman"/>
                <a:cs typeface="Times New Roman"/>
              </a:rPr>
              <a:t>Mahindra,</a:t>
            </a:r>
            <a:r>
              <a:rPr sz="2400" spc="-10" dirty="0">
                <a:latin typeface="Times New Roman"/>
                <a:cs typeface="Times New Roman"/>
              </a:rPr>
              <a:t> 	</a:t>
            </a:r>
            <a:r>
              <a:rPr sz="2400" u="sng" dirty="0">
                <a:uFill>
                  <a:solidFill>
                    <a:srgbClr val="000000"/>
                  </a:solidFill>
                </a:uFill>
                <a:latin typeface="Times New Roman"/>
                <a:cs typeface="Times New Roman"/>
              </a:rPr>
              <a:t>Amdocs,</a:t>
            </a:r>
            <a:r>
              <a:rPr sz="2400" u="sng" spc="5"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etc.</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ask</a:t>
            </a:r>
            <a:r>
              <a:rPr sz="2400" spc="15" dirty="0">
                <a:latin typeface="Times New Roman"/>
                <a:cs typeface="Times New Roman"/>
              </a:rPr>
              <a:t>  </a:t>
            </a:r>
            <a:r>
              <a:rPr sz="2400" dirty="0">
                <a:latin typeface="Times New Roman"/>
                <a:cs typeface="Times New Roman"/>
              </a:rPr>
              <a:t>about</a:t>
            </a:r>
            <a:r>
              <a:rPr sz="2400" spc="10" dirty="0">
                <a:latin typeface="Times New Roman"/>
                <a:cs typeface="Times New Roman"/>
              </a:rPr>
              <a:t>  </a:t>
            </a:r>
            <a:r>
              <a:rPr sz="2400" dirty="0">
                <a:latin typeface="Times New Roman"/>
                <a:cs typeface="Times New Roman"/>
              </a:rPr>
              <a:t>Django and web development</a:t>
            </a:r>
            <a:r>
              <a:rPr sz="2400" spc="10"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Technical 	</a:t>
            </a:r>
            <a:r>
              <a:rPr sz="2400" dirty="0">
                <a:latin typeface="Times New Roman"/>
                <a:cs typeface="Times New Roman"/>
              </a:rPr>
              <a:t>Quiz</a:t>
            </a:r>
            <a:r>
              <a:rPr sz="2400" spc="-1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Technical</a:t>
            </a:r>
            <a:r>
              <a:rPr sz="2400" spc="-20" dirty="0">
                <a:latin typeface="Times New Roman"/>
                <a:cs typeface="Times New Roman"/>
              </a:rPr>
              <a:t> </a:t>
            </a:r>
            <a:r>
              <a:rPr sz="2400" dirty="0">
                <a:latin typeface="Times New Roman"/>
                <a:cs typeface="Times New Roman"/>
              </a:rPr>
              <a:t>Interview</a:t>
            </a:r>
            <a:r>
              <a:rPr sz="2400" spc="-25" dirty="0">
                <a:latin typeface="Times New Roman"/>
                <a:cs typeface="Times New Roman"/>
              </a:rPr>
              <a:t> </a:t>
            </a:r>
            <a:r>
              <a:rPr sz="2400" spc="-10" dirty="0">
                <a:latin typeface="Times New Roman"/>
                <a:cs typeface="Times New Roman"/>
              </a:rPr>
              <a:t>round.</a:t>
            </a:r>
            <a:endParaRPr sz="2400" dirty="0">
              <a:latin typeface="Times New Roman"/>
              <a:cs typeface="Times New Roman"/>
            </a:endParaRPr>
          </a:p>
          <a:p>
            <a:pPr marL="580390" marR="8255" indent="-568325" algn="just">
              <a:lnSpc>
                <a:spcPct val="100400"/>
              </a:lnSpc>
              <a:spcBef>
                <a:spcPts val="685"/>
              </a:spcBef>
              <a:buFont typeface="Arial MT"/>
              <a:buChar char="•"/>
              <a:tabLst>
                <a:tab pos="584200" algn="l"/>
              </a:tabLst>
            </a:pPr>
            <a:r>
              <a:rPr sz="2400" dirty="0">
                <a:latin typeface="Times New Roman"/>
                <a:cs typeface="Times New Roman"/>
              </a:rPr>
              <a:t>This</a:t>
            </a:r>
            <a:r>
              <a:rPr sz="2400" spc="170" dirty="0">
                <a:latin typeface="Times New Roman"/>
                <a:cs typeface="Times New Roman"/>
              </a:rPr>
              <a:t> </a:t>
            </a:r>
            <a:r>
              <a:rPr sz="2400" dirty="0">
                <a:latin typeface="Times New Roman"/>
                <a:cs typeface="Times New Roman"/>
              </a:rPr>
              <a:t>course</a:t>
            </a:r>
            <a:r>
              <a:rPr sz="2400" spc="160" dirty="0">
                <a:latin typeface="Times New Roman"/>
                <a:cs typeface="Times New Roman"/>
              </a:rPr>
              <a:t> </a:t>
            </a:r>
            <a:r>
              <a:rPr sz="2400" dirty="0">
                <a:latin typeface="Times New Roman"/>
                <a:cs typeface="Times New Roman"/>
              </a:rPr>
              <a:t>is</a:t>
            </a:r>
            <a:r>
              <a:rPr sz="2400" spc="170" dirty="0">
                <a:latin typeface="Times New Roman"/>
                <a:cs typeface="Times New Roman"/>
              </a:rPr>
              <a:t> </a:t>
            </a:r>
            <a:r>
              <a:rPr sz="2400" dirty="0">
                <a:latin typeface="Times New Roman"/>
                <a:cs typeface="Times New Roman"/>
              </a:rPr>
              <a:t>essential</a:t>
            </a:r>
            <a:r>
              <a:rPr sz="2400" spc="165" dirty="0">
                <a:latin typeface="Times New Roman"/>
                <a:cs typeface="Times New Roman"/>
              </a:rPr>
              <a:t> </a:t>
            </a:r>
            <a:r>
              <a:rPr sz="2400" dirty="0">
                <a:latin typeface="Times New Roman"/>
                <a:cs typeface="Times New Roman"/>
              </a:rPr>
              <a:t>for</a:t>
            </a:r>
            <a:r>
              <a:rPr sz="2400" spc="170" dirty="0">
                <a:latin typeface="Times New Roman"/>
                <a:cs typeface="Times New Roman"/>
              </a:rPr>
              <a:t> </a:t>
            </a:r>
            <a:r>
              <a:rPr sz="2400" dirty="0">
                <a:latin typeface="Times New Roman"/>
                <a:cs typeface="Times New Roman"/>
              </a:rPr>
              <a:t>aspiring web developers, since Django is one of the most widely used Python frameworks for building scalable, production-grade web applications in the industry.</a:t>
            </a:r>
          </a:p>
        </p:txBody>
      </p:sp>
      <p:grpSp>
        <p:nvGrpSpPr>
          <p:cNvPr id="4" name="object 4"/>
          <p:cNvGrpSpPr/>
          <p:nvPr/>
        </p:nvGrpSpPr>
        <p:grpSpPr>
          <a:xfrm>
            <a:off x="2116835" y="1249680"/>
            <a:ext cx="7094855" cy="61594"/>
            <a:chOff x="2116835" y="1249680"/>
            <a:chExt cx="7094855" cy="61594"/>
          </a:xfrm>
        </p:grpSpPr>
        <p:pic>
          <p:nvPicPr>
            <p:cNvPr id="5" name="object 5"/>
            <p:cNvPicPr/>
            <p:nvPr/>
          </p:nvPicPr>
          <p:blipFill>
            <a:blip r:embed="rId2" cstate="print"/>
            <a:stretch>
              <a:fillRect/>
            </a:stretch>
          </p:blipFill>
          <p:spPr>
            <a:xfrm>
              <a:off x="2133599" y="1270974"/>
              <a:ext cx="7076694" cy="40300"/>
            </a:xfrm>
            <a:prstGeom prst="rect">
              <a:avLst/>
            </a:prstGeom>
          </p:spPr>
        </p:pic>
        <p:sp>
          <p:nvSpPr>
            <p:cNvPr id="6" name="object 6"/>
            <p:cNvSpPr/>
            <p:nvPr/>
          </p:nvSpPr>
          <p:spPr>
            <a:xfrm>
              <a:off x="2135885" y="1268730"/>
              <a:ext cx="7056755" cy="1905"/>
            </a:xfrm>
            <a:custGeom>
              <a:avLst/>
              <a:gdLst/>
              <a:ahLst/>
              <a:cxnLst/>
              <a:rect l="l" t="t" r="r" b="b"/>
              <a:pathLst>
                <a:path w="7056755" h="1905">
                  <a:moveTo>
                    <a:pt x="0" y="0"/>
                  </a:moveTo>
                  <a:lnTo>
                    <a:pt x="7056373" y="1524"/>
                  </a:lnTo>
                </a:path>
              </a:pathLst>
            </a:custGeom>
            <a:ln w="38100">
              <a:solidFill>
                <a:srgbClr val="F79546"/>
              </a:solidFill>
            </a:ln>
          </p:spPr>
          <p:txBody>
            <a:bodyPr wrap="square" lIns="0" tIns="0" rIns="0" bIns="0" rtlCol="0"/>
            <a:lstStyle/>
            <a:p>
              <a:endParaRPr/>
            </a:p>
          </p:txBody>
        </p:sp>
      </p:grpSp>
    </p:spTree>
    <p:extLst>
      <p:ext uri="{BB962C8B-B14F-4D97-AF65-F5344CB8AC3E}">
        <p14:creationId xmlns:p14="http://schemas.microsoft.com/office/powerpoint/2010/main" val="133345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7375B-890B-0EA4-5ACE-0380CDC1A2A6}"/>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3FA382A6-7738-E115-1AA2-A5BEE6E93E37}"/>
              </a:ext>
            </a:extLst>
          </p:cNvPr>
          <p:cNvSpPr txBox="1">
            <a:spLocks noGrp="1"/>
          </p:cNvSpPr>
          <p:nvPr>
            <p:ph type="title"/>
          </p:nvPr>
        </p:nvSpPr>
        <p:spPr>
          <a:xfrm>
            <a:off x="2060194" y="544195"/>
            <a:ext cx="8836406" cy="566822"/>
          </a:xfrm>
          <a:prstGeom prst="rect">
            <a:avLst/>
          </a:prstGeom>
        </p:spPr>
        <p:txBody>
          <a:bodyPr vert="horz" wrap="square" lIns="0" tIns="12700" rIns="0" bIns="0" rtlCol="0">
            <a:spAutoFit/>
          </a:bodyPr>
          <a:lstStyle/>
          <a:p>
            <a:pPr marL="12700">
              <a:spcBef>
                <a:spcPts val="100"/>
              </a:spcBef>
            </a:pPr>
            <a:r>
              <a:rPr lang="en-US" sz="3600" u="none" dirty="0">
                <a:solidFill>
                  <a:srgbClr val="C00000"/>
                </a:solidFill>
              </a:rPr>
              <a:t>Skill Attainment</a:t>
            </a:r>
            <a:endParaRPr sz="3600" u="none" dirty="0">
              <a:solidFill>
                <a:srgbClr val="C00000"/>
              </a:solidFill>
            </a:endParaRPr>
          </a:p>
        </p:txBody>
      </p:sp>
      <p:grpSp>
        <p:nvGrpSpPr>
          <p:cNvPr id="4" name="object 4">
            <a:extLst>
              <a:ext uri="{FF2B5EF4-FFF2-40B4-BE49-F238E27FC236}">
                <a16:creationId xmlns:a16="http://schemas.microsoft.com/office/drawing/2014/main" id="{70722EDE-1339-8E42-9F67-3140A17EE499}"/>
              </a:ext>
            </a:extLst>
          </p:cNvPr>
          <p:cNvGrpSpPr/>
          <p:nvPr/>
        </p:nvGrpSpPr>
        <p:grpSpPr>
          <a:xfrm>
            <a:off x="2116835" y="1249680"/>
            <a:ext cx="7094855" cy="61594"/>
            <a:chOff x="2116835" y="1249680"/>
            <a:chExt cx="7094855" cy="61594"/>
          </a:xfrm>
        </p:grpSpPr>
        <p:pic>
          <p:nvPicPr>
            <p:cNvPr id="5" name="object 5">
              <a:extLst>
                <a:ext uri="{FF2B5EF4-FFF2-40B4-BE49-F238E27FC236}">
                  <a16:creationId xmlns:a16="http://schemas.microsoft.com/office/drawing/2014/main" id="{BA5A04CF-8362-15AA-3EFE-366F11258401}"/>
                </a:ext>
              </a:extLst>
            </p:cNvPr>
            <p:cNvPicPr/>
            <p:nvPr/>
          </p:nvPicPr>
          <p:blipFill>
            <a:blip r:embed="rId2" cstate="print"/>
            <a:stretch>
              <a:fillRect/>
            </a:stretch>
          </p:blipFill>
          <p:spPr>
            <a:xfrm>
              <a:off x="2133599" y="1270974"/>
              <a:ext cx="7076694" cy="40300"/>
            </a:xfrm>
            <a:prstGeom prst="rect">
              <a:avLst/>
            </a:prstGeom>
          </p:spPr>
        </p:pic>
        <p:sp>
          <p:nvSpPr>
            <p:cNvPr id="6" name="object 6">
              <a:extLst>
                <a:ext uri="{FF2B5EF4-FFF2-40B4-BE49-F238E27FC236}">
                  <a16:creationId xmlns:a16="http://schemas.microsoft.com/office/drawing/2014/main" id="{BC8FB478-7A99-9695-FA7B-E7C7B9D97896}"/>
                </a:ext>
              </a:extLst>
            </p:cNvPr>
            <p:cNvSpPr/>
            <p:nvPr/>
          </p:nvSpPr>
          <p:spPr>
            <a:xfrm>
              <a:off x="2135885" y="1268730"/>
              <a:ext cx="7056755" cy="1905"/>
            </a:xfrm>
            <a:custGeom>
              <a:avLst/>
              <a:gdLst/>
              <a:ahLst/>
              <a:cxnLst/>
              <a:rect l="l" t="t" r="r" b="b"/>
              <a:pathLst>
                <a:path w="7056755" h="1905">
                  <a:moveTo>
                    <a:pt x="0" y="0"/>
                  </a:moveTo>
                  <a:lnTo>
                    <a:pt x="7056373" y="1524"/>
                  </a:lnTo>
                </a:path>
              </a:pathLst>
            </a:custGeom>
            <a:ln w="38100">
              <a:solidFill>
                <a:srgbClr val="F79546"/>
              </a:solidFill>
            </a:ln>
          </p:spPr>
          <p:txBody>
            <a:bodyPr wrap="square" lIns="0" tIns="0" rIns="0" bIns="0" rtlCol="0"/>
            <a:lstStyle/>
            <a:p>
              <a:endParaRPr/>
            </a:p>
          </p:txBody>
        </p:sp>
      </p:grpSp>
      <p:sp>
        <p:nvSpPr>
          <p:cNvPr id="10" name="TextBox 9">
            <a:extLst>
              <a:ext uri="{FF2B5EF4-FFF2-40B4-BE49-F238E27FC236}">
                <a16:creationId xmlns:a16="http://schemas.microsoft.com/office/drawing/2014/main" id="{44D19573-A864-2F56-9681-138A5CF7FC1F}"/>
              </a:ext>
            </a:extLst>
          </p:cNvPr>
          <p:cNvSpPr txBox="1"/>
          <p:nvPr/>
        </p:nvSpPr>
        <p:spPr>
          <a:xfrm>
            <a:off x="1447800" y="1676400"/>
            <a:ext cx="8306585" cy="28069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proficiency in Django project setup, app structuring, and the MVT architecture.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Apply views, URL routing, templates, and Django's Template Language techniques.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Django forms, CSRF protection, and data validation for secure user input handling.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and build data models, migrations, and ORM-based database interactions.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Build industry-relevant competencies for Web Development, Backend Engineering, and Full-Stack Python roles.</a:t>
            </a:r>
          </a:p>
        </p:txBody>
      </p:sp>
    </p:spTree>
    <p:extLst>
      <p:ext uri="{BB962C8B-B14F-4D97-AF65-F5344CB8AC3E}">
        <p14:creationId xmlns:p14="http://schemas.microsoft.com/office/powerpoint/2010/main" val="387782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2205" y="1533601"/>
            <a:ext cx="4532630" cy="1671955"/>
          </a:xfrm>
          <a:prstGeom prst="rect">
            <a:avLst/>
          </a:prstGeom>
        </p:spPr>
        <p:txBody>
          <a:bodyPr vert="horz" wrap="square" lIns="0" tIns="12700" rIns="0" bIns="0" rtlCol="0">
            <a:spAutoFit/>
          </a:bodyPr>
          <a:lstStyle/>
          <a:p>
            <a:pPr marL="12700" marR="5080">
              <a:lnSpc>
                <a:spcPct val="100000"/>
              </a:lnSpc>
              <a:spcBef>
                <a:spcPts val="100"/>
              </a:spcBef>
            </a:pPr>
            <a:r>
              <a:rPr sz="5400" u="none" spc="-10" dirty="0">
                <a:latin typeface="Calibri"/>
                <a:cs typeface="Calibri"/>
              </a:rPr>
              <a:t>EDUCATION REVOLUTION</a:t>
            </a:r>
            <a:r>
              <a:rPr sz="5400" u="none" spc="-240" dirty="0">
                <a:latin typeface="Calibri"/>
                <a:cs typeface="Calibri"/>
              </a:rPr>
              <a:t> </a:t>
            </a:r>
            <a:r>
              <a:rPr sz="5400" u="none" spc="-50" dirty="0">
                <a:latin typeface="Calibri"/>
                <a:cs typeface="Calibri"/>
              </a:rPr>
              <a:t>@</a:t>
            </a:r>
            <a:endParaRPr sz="5400">
              <a:latin typeface="Calibri"/>
              <a:cs typeface="Calibri"/>
            </a:endParaRPr>
          </a:p>
        </p:txBody>
      </p:sp>
      <p:sp>
        <p:nvSpPr>
          <p:cNvPr id="3" name="object 3"/>
          <p:cNvSpPr txBox="1"/>
          <p:nvPr/>
        </p:nvSpPr>
        <p:spPr>
          <a:xfrm>
            <a:off x="6308216" y="6008014"/>
            <a:ext cx="3902710" cy="695325"/>
          </a:xfrm>
          <a:prstGeom prst="rect">
            <a:avLst/>
          </a:prstGeom>
        </p:spPr>
        <p:txBody>
          <a:bodyPr vert="horz" wrap="square" lIns="0" tIns="12065" rIns="0" bIns="0" rtlCol="0">
            <a:spAutoFit/>
          </a:bodyPr>
          <a:lstStyle/>
          <a:p>
            <a:pPr marL="12700">
              <a:lnSpc>
                <a:spcPct val="100000"/>
              </a:lnSpc>
              <a:spcBef>
                <a:spcPts val="95"/>
              </a:spcBef>
            </a:pPr>
            <a:r>
              <a:rPr sz="4400" b="1" spc="-10" dirty="0">
                <a:solidFill>
                  <a:srgbClr val="FF0000"/>
                </a:solidFill>
                <a:latin typeface="Calibri"/>
                <a:cs typeface="Calibri"/>
              </a:rPr>
              <a:t>“…</a:t>
            </a:r>
            <a:r>
              <a:rPr sz="3200" spc="-10" dirty="0">
                <a:solidFill>
                  <a:srgbClr val="FF0000"/>
                </a:solidFill>
                <a:latin typeface="Calibri"/>
                <a:cs typeface="Calibri"/>
              </a:rPr>
              <a:t>Gamified</a:t>
            </a:r>
            <a:r>
              <a:rPr sz="3200" spc="-140" dirty="0">
                <a:solidFill>
                  <a:srgbClr val="FF0000"/>
                </a:solidFill>
                <a:latin typeface="Calibri"/>
                <a:cs typeface="Calibri"/>
              </a:rPr>
              <a:t> </a:t>
            </a:r>
            <a:r>
              <a:rPr sz="3200" spc="-10" dirty="0">
                <a:solidFill>
                  <a:srgbClr val="FF0000"/>
                </a:solidFill>
                <a:latin typeface="Calibri"/>
                <a:cs typeface="Calibri"/>
              </a:rPr>
              <a:t>Learning</a:t>
            </a:r>
            <a:r>
              <a:rPr sz="4400" spc="-10" dirty="0">
                <a:solidFill>
                  <a:srgbClr val="FF0000"/>
                </a:solidFill>
                <a:latin typeface="Calibri"/>
                <a:cs typeface="Calibri"/>
              </a:rPr>
              <a:t>”</a:t>
            </a:r>
            <a:endParaRPr sz="4400">
              <a:latin typeface="Calibri"/>
              <a:cs typeface="Calibri"/>
            </a:endParaRPr>
          </a:p>
        </p:txBody>
      </p:sp>
      <p:pic>
        <p:nvPicPr>
          <p:cNvPr id="4" name="object 4"/>
          <p:cNvPicPr/>
          <p:nvPr/>
        </p:nvPicPr>
        <p:blipFill>
          <a:blip r:embed="rId2" cstate="print"/>
          <a:stretch>
            <a:fillRect/>
          </a:stretch>
        </p:blipFill>
        <p:spPr>
          <a:xfrm>
            <a:off x="0" y="0"/>
            <a:ext cx="4233672" cy="6857998"/>
          </a:xfrm>
          <a:prstGeom prst="rect">
            <a:avLst/>
          </a:prstGeom>
        </p:spPr>
      </p:pic>
      <p:pic>
        <p:nvPicPr>
          <p:cNvPr id="5" name="object 5"/>
          <p:cNvPicPr/>
          <p:nvPr/>
        </p:nvPicPr>
        <p:blipFill>
          <a:blip r:embed="rId3" cstate="print"/>
          <a:stretch>
            <a:fillRect/>
          </a:stretch>
        </p:blipFill>
        <p:spPr>
          <a:xfrm>
            <a:off x="9086088" y="2606039"/>
            <a:ext cx="2057400" cy="637031"/>
          </a:xfrm>
          <a:prstGeom prst="rect">
            <a:avLst/>
          </a:prstGeom>
        </p:spPr>
      </p:pic>
    </p:spTree>
    <p:extLst>
      <p:ext uri="{BB962C8B-B14F-4D97-AF65-F5344CB8AC3E}">
        <p14:creationId xmlns:p14="http://schemas.microsoft.com/office/powerpoint/2010/main" val="688931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574CC-62CA-8BC1-5132-683DDC429505}"/>
              </a:ext>
            </a:extLst>
          </p:cNvPr>
          <p:cNvSpPr>
            <a:spLocks noGrp="1"/>
          </p:cNvSpPr>
          <p:nvPr>
            <p:ph type="title"/>
          </p:nvPr>
        </p:nvSpPr>
        <p:spPr>
          <a:xfrm>
            <a:off x="838200" y="914400"/>
            <a:ext cx="10515600" cy="776290"/>
          </a:xfrm>
        </p:spPr>
        <p:txBody>
          <a:bodyPr>
            <a:normAutofit/>
          </a:bodyPr>
          <a:lstStyle/>
          <a:p>
            <a:pPr algn="ctr"/>
            <a:r>
              <a:rPr lang="en-US" sz="4800" u="none" dirty="0"/>
              <a:t>Recognition of Prior Learning (RPL)</a:t>
            </a:r>
            <a:endParaRPr lang="en-IN" sz="4600" b="1" dirty="0"/>
          </a:p>
        </p:txBody>
      </p:sp>
      <p:sp>
        <p:nvSpPr>
          <p:cNvPr id="3" name="Content Placeholder 2">
            <a:extLst>
              <a:ext uri="{FF2B5EF4-FFF2-40B4-BE49-F238E27FC236}">
                <a16:creationId xmlns:a16="http://schemas.microsoft.com/office/drawing/2014/main" id="{6EF8BF5D-9D4A-831C-191C-EB346AD05CF2}"/>
              </a:ext>
            </a:extLst>
          </p:cNvPr>
          <p:cNvSpPr>
            <a:spLocks noGrp="1"/>
          </p:cNvSpPr>
          <p:nvPr>
            <p:ph idx="1"/>
          </p:nvPr>
        </p:nvSpPr>
        <p:spPr>
          <a:xfrm>
            <a:off x="838200" y="1929384"/>
            <a:ext cx="10515600" cy="4251960"/>
          </a:xfrm>
        </p:spPr>
        <p:txBody>
          <a:bodyPr>
            <a:normAutofit/>
          </a:bodyPr>
          <a:lstStyle/>
          <a:p>
            <a:r>
              <a:rPr lang="en-US" sz="2200" dirty="0">
                <a:latin typeface="Times New Roman" panose="02020603050405020304" pitchFamily="18" charset="0"/>
                <a:ea typeface="Times New Roman" panose="02020603050405020304" pitchFamily="18" charset="0"/>
              </a:rPr>
              <a:t>Process of extending course exemptions to students on the basis of prior knowledge attained by student through</a:t>
            </a:r>
          </a:p>
          <a:p>
            <a:r>
              <a:rPr lang="en-US" sz="2200" dirty="0">
                <a:latin typeface="Times New Roman" panose="02020603050405020304" pitchFamily="18" charset="0"/>
                <a:ea typeface="Times New Roman" panose="02020603050405020304" pitchFamily="18" charset="0"/>
              </a:rPr>
              <a:t>•Experience/ Training</a:t>
            </a:r>
          </a:p>
          <a:p>
            <a:r>
              <a:rPr lang="en-US" sz="2200" dirty="0">
                <a:latin typeface="Times New Roman" panose="02020603050405020304" pitchFamily="18" charset="0"/>
                <a:ea typeface="Times New Roman" panose="02020603050405020304" pitchFamily="18" charset="0"/>
              </a:rPr>
              <a:t>•Certification</a:t>
            </a:r>
          </a:p>
          <a:p>
            <a:r>
              <a:rPr lang="en-US" sz="2200" dirty="0">
                <a:latin typeface="Times New Roman" panose="02020603050405020304" pitchFamily="18" charset="0"/>
                <a:ea typeface="Times New Roman" panose="02020603050405020304" pitchFamily="18" charset="0"/>
              </a:rPr>
              <a:t>•Internship/ Apprenticeship etc. (Exam Based Exemption)</a:t>
            </a:r>
            <a:endParaRPr lang="en-IN" sz="2200" dirty="0"/>
          </a:p>
        </p:txBody>
      </p:sp>
      <p:pic>
        <p:nvPicPr>
          <p:cNvPr id="4" name="Object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5200" y="85725"/>
            <a:ext cx="22352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1088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574CC-62CA-8BC1-5132-683DDC429505}"/>
              </a:ext>
            </a:extLst>
          </p:cNvPr>
          <p:cNvSpPr>
            <a:spLocks noGrp="1"/>
          </p:cNvSpPr>
          <p:nvPr>
            <p:ph type="title"/>
          </p:nvPr>
        </p:nvSpPr>
        <p:spPr>
          <a:xfrm>
            <a:off x="838200" y="914400"/>
            <a:ext cx="10515600" cy="776290"/>
          </a:xfrm>
        </p:spPr>
        <p:txBody>
          <a:bodyPr>
            <a:normAutofit/>
          </a:bodyPr>
          <a:lstStyle/>
          <a:p>
            <a:pPr algn="ctr"/>
            <a:r>
              <a:rPr lang="en-IN" sz="4800" u="none" dirty="0" err="1"/>
              <a:t>Upto</a:t>
            </a:r>
            <a:r>
              <a:rPr lang="en-IN" sz="4800" u="none" dirty="0"/>
              <a:t> 10 % Attendance Benefit</a:t>
            </a:r>
            <a:endParaRPr lang="en-IN" sz="4600" b="1" dirty="0"/>
          </a:p>
        </p:txBody>
      </p:sp>
      <p:sp>
        <p:nvSpPr>
          <p:cNvPr id="3" name="Content Placeholder 2">
            <a:extLst>
              <a:ext uri="{FF2B5EF4-FFF2-40B4-BE49-F238E27FC236}">
                <a16:creationId xmlns:a16="http://schemas.microsoft.com/office/drawing/2014/main" id="{6EF8BF5D-9D4A-831C-191C-EB346AD05CF2}"/>
              </a:ext>
            </a:extLst>
          </p:cNvPr>
          <p:cNvSpPr>
            <a:spLocks noGrp="1"/>
          </p:cNvSpPr>
          <p:nvPr>
            <p:ph idx="1"/>
          </p:nvPr>
        </p:nvSpPr>
        <p:spPr>
          <a:xfrm>
            <a:off x="838200" y="1929384"/>
            <a:ext cx="10515600" cy="4251960"/>
          </a:xfrm>
        </p:spPr>
        <p:txBody>
          <a:bodyPr>
            <a:normAutofit/>
          </a:bodyPr>
          <a:lstStyle/>
          <a:p>
            <a:r>
              <a:rPr lang="en-US" sz="2200" dirty="0">
                <a:latin typeface="Times New Roman" panose="02020603050405020304" pitchFamily="18" charset="0"/>
                <a:ea typeface="Times New Roman" panose="02020603050405020304" pitchFamily="18" charset="0"/>
              </a:rPr>
              <a:t>1. The 10% Attendance Benefit allows eligible students to receive up to a 10% relaxation in attendance requirements for approved academic, or professional</a:t>
            </a:r>
          </a:p>
          <a:p>
            <a:r>
              <a:rPr lang="en-US" sz="2200" dirty="0">
                <a:latin typeface="Times New Roman" panose="02020603050405020304" pitchFamily="18" charset="0"/>
                <a:ea typeface="Times New Roman" panose="02020603050405020304" pitchFamily="18" charset="0"/>
              </a:rPr>
              <a:t>accomplishments.</a:t>
            </a:r>
          </a:p>
          <a:p>
            <a:r>
              <a:rPr lang="en-US" sz="2200" dirty="0">
                <a:latin typeface="Times New Roman" panose="02020603050405020304" pitchFamily="18" charset="0"/>
                <a:ea typeface="Times New Roman" panose="02020603050405020304" pitchFamily="18" charset="0"/>
              </a:rPr>
              <a:t>2. Minimum 7.5 CGPA (by end of term) is mandatory</a:t>
            </a:r>
          </a:p>
          <a:p>
            <a:r>
              <a:rPr lang="en-US" sz="2200" dirty="0">
                <a:latin typeface="Times New Roman" panose="02020603050405020304" pitchFamily="18" charset="0"/>
                <a:ea typeface="Times New Roman" panose="02020603050405020304" pitchFamily="18" charset="0"/>
              </a:rPr>
              <a:t>3. Students must maintain a minimum of 60% attendance without any bonus/Duty leave by the end of the term</a:t>
            </a:r>
          </a:p>
          <a:p>
            <a:r>
              <a:rPr lang="en-US" sz="2200" dirty="0">
                <a:latin typeface="Times New Roman" panose="02020603050405020304" pitchFamily="18" charset="0"/>
                <a:ea typeface="Times New Roman" panose="02020603050405020304" pitchFamily="18" charset="0"/>
              </a:rPr>
              <a:t>4. The student must have no record of indiscipline to be eligible for this benefit.</a:t>
            </a:r>
          </a:p>
          <a:p>
            <a:r>
              <a:rPr lang="en-US" sz="2200" dirty="0">
                <a:latin typeface="Times New Roman" panose="02020603050405020304" pitchFamily="18" charset="0"/>
                <a:ea typeface="Times New Roman" panose="02020603050405020304" pitchFamily="18" charset="0"/>
              </a:rPr>
              <a:t>5. Benefit shall be finally granted only upon the final approval of the Standing Committee after verification of submitted documents &amp; progress of the student.</a:t>
            </a:r>
          </a:p>
          <a:p>
            <a:r>
              <a:rPr lang="en-US" sz="2200" dirty="0">
                <a:latin typeface="Times New Roman" panose="02020603050405020304" pitchFamily="18" charset="0"/>
                <a:ea typeface="Times New Roman" panose="02020603050405020304" pitchFamily="18" charset="0"/>
              </a:rPr>
              <a:t>6. Attendance related benefits must be used for academic purposes that can enhance your learning, skill development and overall academic progression.</a:t>
            </a:r>
            <a:endParaRPr lang="en-IN" sz="2200" dirty="0"/>
          </a:p>
        </p:txBody>
      </p:sp>
      <p:pic>
        <p:nvPicPr>
          <p:cNvPr id="4" name="Object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5200" y="85725"/>
            <a:ext cx="22352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692497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574CC-62CA-8BC1-5132-683DDC429505}"/>
              </a:ext>
            </a:extLst>
          </p:cNvPr>
          <p:cNvSpPr>
            <a:spLocks noGrp="1"/>
          </p:cNvSpPr>
          <p:nvPr>
            <p:ph type="title"/>
          </p:nvPr>
        </p:nvSpPr>
        <p:spPr>
          <a:xfrm>
            <a:off x="838200" y="914400"/>
            <a:ext cx="10515600" cy="776290"/>
          </a:xfrm>
        </p:spPr>
        <p:txBody>
          <a:bodyPr>
            <a:normAutofit fontScale="90000"/>
          </a:bodyPr>
          <a:lstStyle/>
          <a:p>
            <a:pPr algn="ctr"/>
            <a:r>
              <a:rPr lang="en-US" sz="4800" u="none" dirty="0"/>
              <a:t>Duty Leave (DL) under EDU Revolution</a:t>
            </a:r>
            <a:endParaRPr lang="en-IN" sz="4600" b="1" dirty="0"/>
          </a:p>
        </p:txBody>
      </p:sp>
      <p:sp>
        <p:nvSpPr>
          <p:cNvPr id="3" name="Content Placeholder 2">
            <a:extLst>
              <a:ext uri="{FF2B5EF4-FFF2-40B4-BE49-F238E27FC236}">
                <a16:creationId xmlns:a16="http://schemas.microsoft.com/office/drawing/2014/main" id="{6EF8BF5D-9D4A-831C-191C-EB346AD05CF2}"/>
              </a:ext>
            </a:extLst>
          </p:cNvPr>
          <p:cNvSpPr>
            <a:spLocks noGrp="1"/>
          </p:cNvSpPr>
          <p:nvPr>
            <p:ph idx="1"/>
          </p:nvPr>
        </p:nvSpPr>
        <p:spPr>
          <a:xfrm>
            <a:off x="838200" y="1929384"/>
            <a:ext cx="10515600" cy="4251960"/>
          </a:xfrm>
        </p:spPr>
        <p:txBody>
          <a:bodyPr>
            <a:normAutofit/>
          </a:bodyPr>
          <a:lstStyle/>
          <a:p>
            <a:r>
              <a:rPr lang="en-US" sz="2200" dirty="0">
                <a:latin typeface="Times New Roman" panose="02020603050405020304" pitchFamily="18" charset="0"/>
                <a:ea typeface="Times New Roman" panose="02020603050405020304" pitchFamily="18" charset="0"/>
              </a:rPr>
              <a:t>1. Duty Leave (DL) refers to the formal approval granted to students for participation in recognized academic, co-curricular, or professional activities conducted during class time.</a:t>
            </a:r>
          </a:p>
          <a:p>
            <a:r>
              <a:rPr lang="en-US" sz="2200" dirty="0">
                <a:latin typeface="Times New Roman" panose="02020603050405020304" pitchFamily="18" charset="0"/>
                <a:ea typeface="Times New Roman" panose="02020603050405020304" pitchFamily="18" charset="0"/>
              </a:rPr>
              <a:t>2.Students must maintain a minimum of 60 % attendance without any bonus/Duty Leave</a:t>
            </a:r>
          </a:p>
          <a:p>
            <a:r>
              <a:rPr lang="en-US" sz="2200" dirty="0">
                <a:latin typeface="Times New Roman" panose="02020603050405020304" pitchFamily="18" charset="0"/>
                <a:ea typeface="Times New Roman" panose="02020603050405020304" pitchFamily="18" charset="0"/>
              </a:rPr>
              <a:t>3. The student must have no record of indiscipline to be eligible for Duty Leave</a:t>
            </a:r>
          </a:p>
          <a:p>
            <a:r>
              <a:rPr lang="en-US" sz="2200" dirty="0">
                <a:latin typeface="Times New Roman" panose="02020603050405020304" pitchFamily="18" charset="0"/>
                <a:ea typeface="Times New Roman" panose="02020603050405020304" pitchFamily="18" charset="0"/>
              </a:rPr>
              <a:t>4. All submitted documents will undergo verification, and Duty Leave shall be granted only upon the final approval of the Standing Committee.</a:t>
            </a:r>
            <a:endParaRPr lang="en-IN" sz="2200" dirty="0"/>
          </a:p>
        </p:txBody>
      </p:sp>
      <p:pic>
        <p:nvPicPr>
          <p:cNvPr id="4" name="Object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5200" y="85725"/>
            <a:ext cx="22352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3618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574CC-62CA-8BC1-5132-683DDC429505}"/>
              </a:ext>
            </a:extLst>
          </p:cNvPr>
          <p:cNvSpPr>
            <a:spLocks noGrp="1"/>
          </p:cNvSpPr>
          <p:nvPr>
            <p:ph type="title"/>
          </p:nvPr>
        </p:nvSpPr>
        <p:spPr>
          <a:xfrm>
            <a:off x="838200" y="914400"/>
            <a:ext cx="10515600" cy="776290"/>
          </a:xfrm>
        </p:spPr>
        <p:txBody>
          <a:bodyPr>
            <a:normAutofit/>
          </a:bodyPr>
          <a:lstStyle/>
          <a:p>
            <a:pPr algn="ctr"/>
            <a:r>
              <a:rPr lang="en-IN" sz="4400" u="none" dirty="0"/>
              <a:t>Grade </a:t>
            </a:r>
            <a:r>
              <a:rPr lang="en-IN" sz="4400" u="none" dirty="0" err="1"/>
              <a:t>Upgradation</a:t>
            </a:r>
            <a:endParaRPr lang="en-IN" sz="4600" b="1" dirty="0"/>
          </a:p>
        </p:txBody>
      </p:sp>
      <p:sp>
        <p:nvSpPr>
          <p:cNvPr id="3" name="Content Placeholder 2">
            <a:extLst>
              <a:ext uri="{FF2B5EF4-FFF2-40B4-BE49-F238E27FC236}">
                <a16:creationId xmlns:a16="http://schemas.microsoft.com/office/drawing/2014/main" id="{6EF8BF5D-9D4A-831C-191C-EB346AD05CF2}"/>
              </a:ext>
            </a:extLst>
          </p:cNvPr>
          <p:cNvSpPr>
            <a:spLocks noGrp="1"/>
          </p:cNvSpPr>
          <p:nvPr>
            <p:ph idx="1"/>
          </p:nvPr>
        </p:nvSpPr>
        <p:spPr>
          <a:xfrm>
            <a:off x="838200" y="1929384"/>
            <a:ext cx="10515600" cy="4251960"/>
          </a:xfrm>
        </p:spPr>
        <p:txBody>
          <a:bodyPr>
            <a:normAutofit lnSpcReduction="10000"/>
          </a:bodyPr>
          <a:lstStyle/>
          <a:p>
            <a:r>
              <a:rPr lang="en-US" sz="2200" dirty="0">
                <a:latin typeface="Times New Roman" panose="02020603050405020304" pitchFamily="18" charset="0"/>
                <a:ea typeface="Times New Roman" panose="02020603050405020304" pitchFamily="18" charset="0"/>
              </a:rPr>
              <a:t>1. Grade </a:t>
            </a:r>
            <a:r>
              <a:rPr lang="en-US" sz="2200" dirty="0" err="1">
                <a:latin typeface="Times New Roman" panose="02020603050405020304" pitchFamily="18" charset="0"/>
                <a:ea typeface="Times New Roman" panose="02020603050405020304" pitchFamily="18" charset="0"/>
              </a:rPr>
              <a:t>Upgradation</a:t>
            </a:r>
            <a:r>
              <a:rPr lang="en-US" sz="2200" dirty="0">
                <a:latin typeface="Times New Roman" panose="02020603050405020304" pitchFamily="18" charset="0"/>
                <a:ea typeface="Times New Roman" panose="02020603050405020304" pitchFamily="18" charset="0"/>
              </a:rPr>
              <a:t> is an academic benefit that enhances a student’s course grade based on eligible academic, research, or co-curricular</a:t>
            </a:r>
          </a:p>
          <a:p>
            <a:r>
              <a:rPr lang="en-US" sz="2200" dirty="0">
                <a:latin typeface="Times New Roman" panose="02020603050405020304" pitchFamily="18" charset="0"/>
                <a:ea typeface="Times New Roman" panose="02020603050405020304" pitchFamily="18" charset="0"/>
              </a:rPr>
              <a:t>accomplishments.</a:t>
            </a:r>
          </a:p>
          <a:p>
            <a:r>
              <a:rPr lang="en-US" sz="2200" dirty="0">
                <a:latin typeface="Times New Roman" panose="02020603050405020304" pitchFamily="18" charset="0"/>
                <a:ea typeface="Times New Roman" panose="02020603050405020304" pitchFamily="18" charset="0"/>
              </a:rPr>
              <a:t>2. No minimum CGPA requirement is applicable for availing the grade-up benefits</a:t>
            </a:r>
          </a:p>
          <a:p>
            <a:r>
              <a:rPr lang="en-US" sz="2200" dirty="0">
                <a:latin typeface="Times New Roman" panose="02020603050405020304" pitchFamily="18" charset="0"/>
                <a:ea typeface="Times New Roman" panose="02020603050405020304" pitchFamily="18" charset="0"/>
              </a:rPr>
              <a:t>3. Grade upgrade benefits must be claimed before </a:t>
            </a:r>
            <a:r>
              <a:rPr lang="en-US" sz="2200" dirty="0" err="1">
                <a:latin typeface="Times New Roman" panose="02020603050405020304" pitchFamily="18" charset="0"/>
                <a:ea typeface="Times New Roman" panose="02020603050405020304" pitchFamily="18" charset="0"/>
              </a:rPr>
              <a:t>programme</a:t>
            </a:r>
            <a:r>
              <a:rPr lang="en-US" sz="2200" dirty="0">
                <a:latin typeface="Times New Roman" panose="02020603050405020304" pitchFamily="18" charset="0"/>
                <a:ea typeface="Times New Roman" panose="02020603050405020304" pitchFamily="18" charset="0"/>
              </a:rPr>
              <a:t> completion and before the final mark sheet is issued</a:t>
            </a:r>
          </a:p>
          <a:p>
            <a:r>
              <a:rPr lang="en-US" sz="2200" dirty="0">
                <a:latin typeface="Times New Roman" panose="02020603050405020304" pitchFamily="18" charset="0"/>
                <a:ea typeface="Times New Roman" panose="02020603050405020304" pitchFamily="18" charset="0"/>
              </a:rPr>
              <a:t>4. All benefits listed are subject to approval and may be revised at any time. Students may submit nominations for consideration; however, no benefit</a:t>
            </a:r>
          </a:p>
          <a:p>
            <a:r>
              <a:rPr lang="en-US" sz="2200" dirty="0">
                <a:latin typeface="Times New Roman" panose="02020603050405020304" pitchFamily="18" charset="0"/>
                <a:ea typeface="Times New Roman" panose="02020603050405020304" pitchFamily="18" charset="0"/>
              </a:rPr>
              <a:t>can be claimed as a matter of right</a:t>
            </a:r>
          </a:p>
          <a:p>
            <a:r>
              <a:rPr lang="en-US" sz="2200" dirty="0">
                <a:latin typeface="Times New Roman" panose="02020603050405020304" pitchFamily="18" charset="0"/>
                <a:ea typeface="Times New Roman" panose="02020603050405020304" pitchFamily="18" charset="0"/>
              </a:rPr>
              <a:t>5. The benefits will be given in the mapped course only as recommended by the standing committee.</a:t>
            </a:r>
          </a:p>
          <a:p>
            <a:r>
              <a:rPr lang="en-US" sz="2200" dirty="0">
                <a:latin typeface="Times New Roman" panose="02020603050405020304" pitchFamily="18" charset="0"/>
                <a:ea typeface="Times New Roman" panose="02020603050405020304" pitchFamily="18" charset="0"/>
              </a:rPr>
              <a:t>6. Academic benefits will be granted in a sequential manner, based on the stage achieved by the student. If a student has already availed the Stage-1</a:t>
            </a:r>
          </a:p>
          <a:p>
            <a:r>
              <a:rPr lang="en-US" sz="2200" dirty="0">
                <a:latin typeface="Times New Roman" panose="02020603050405020304" pitchFamily="18" charset="0"/>
                <a:ea typeface="Times New Roman" panose="02020603050405020304" pitchFamily="18" charset="0"/>
              </a:rPr>
              <a:t>benefit, he/she will be eligible only for the proportionate Stage-2 benefit</a:t>
            </a:r>
            <a:endParaRPr lang="en-IN" sz="2200" dirty="0"/>
          </a:p>
        </p:txBody>
      </p:sp>
      <p:pic>
        <p:nvPicPr>
          <p:cNvPr id="4" name="Object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5200" y="85725"/>
            <a:ext cx="22352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04469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12AB-6C9E-6C91-BF9E-FFC67BA50DB1}"/>
              </a:ext>
            </a:extLst>
          </p:cNvPr>
          <p:cNvSpPr>
            <a:spLocks noGrp="1"/>
          </p:cNvSpPr>
          <p:nvPr>
            <p:ph type="title"/>
          </p:nvPr>
        </p:nvSpPr>
        <p:spPr>
          <a:xfrm>
            <a:off x="838200" y="990600"/>
            <a:ext cx="10515600" cy="700090"/>
          </a:xfrm>
        </p:spPr>
        <p:txBody>
          <a:bodyPr>
            <a:normAutofit fontScale="90000"/>
          </a:bodyPr>
          <a:lstStyle/>
          <a:p>
            <a:pPr algn="ctr"/>
            <a:r>
              <a:rPr lang="en-US" sz="4800" dirty="0"/>
              <a:t>Interfaces and Contact Information</a:t>
            </a:r>
            <a:endParaRPr lang="en-IN" sz="4800" dirty="0"/>
          </a:p>
        </p:txBody>
      </p:sp>
      <p:sp>
        <p:nvSpPr>
          <p:cNvPr id="3" name="Content Placeholder 2">
            <a:extLst>
              <a:ext uri="{FF2B5EF4-FFF2-40B4-BE49-F238E27FC236}">
                <a16:creationId xmlns:a16="http://schemas.microsoft.com/office/drawing/2014/main" id="{2B342FDF-FA96-F233-F9E9-833DCE3966F2}"/>
              </a:ext>
            </a:extLst>
          </p:cNvPr>
          <p:cNvSpPr>
            <a:spLocks noGrp="1"/>
          </p:cNvSpPr>
          <p:nvPr>
            <p:ph idx="1"/>
          </p:nvPr>
        </p:nvSpPr>
        <p:spPr>
          <a:xfrm>
            <a:off x="838200" y="1929384"/>
            <a:ext cx="10515600" cy="4251960"/>
          </a:xfrm>
        </p:spPr>
        <p:txBody>
          <a:bodyPr>
            <a:normAutofit/>
          </a:bodyPr>
          <a:lstStyle/>
          <a:p>
            <a:pPr>
              <a:spcAft>
                <a:spcPts val="1000"/>
              </a:spcAft>
            </a:pPr>
            <a:r>
              <a:rPr lang="en-IN" sz="2200" dirty="0">
                <a:effectLst/>
                <a:latin typeface="Times New Roman" panose="02020603050405020304" pitchFamily="18" charset="0"/>
                <a:ea typeface="Times New Roman" panose="02020603050405020304" pitchFamily="18" charset="0"/>
                <a:cs typeface="Mangal" panose="02040503050203030202" pitchFamily="18" charset="0"/>
              </a:rPr>
              <a:t>UMS link to apply for EDU Revolution initiatives: </a:t>
            </a:r>
            <a:endParaRPr lang="en-IN" sz="2200" dirty="0">
              <a:effectLst/>
              <a:latin typeface="Calibri" panose="020F0502020204030204" pitchFamily="34" charset="0"/>
              <a:ea typeface="Calibri" panose="020F0502020204030204" pitchFamily="34" charset="0"/>
              <a:cs typeface="Mangal" panose="02040503050203030202" pitchFamily="18" charset="0"/>
            </a:endParaRPr>
          </a:p>
          <a:p>
            <a:pPr marL="0" indent="0" algn="ctr">
              <a:spcAft>
                <a:spcPts val="1000"/>
              </a:spcAft>
              <a:buNone/>
            </a:pPr>
            <a:r>
              <a:rPr lang="en-IN" sz="2000" b="1" i="1" dirty="0">
                <a:effectLst/>
                <a:latin typeface="Times New Roman" panose="02020603050405020304" pitchFamily="18" charset="0"/>
                <a:ea typeface="Times New Roman" panose="02020603050405020304" pitchFamily="18" charset="0"/>
                <a:cs typeface="Mangal" panose="02040503050203030202" pitchFamily="18" charset="0"/>
              </a:rPr>
              <a:t>UMS Navigation --- LMS </a:t>
            </a:r>
            <a:r>
              <a:rPr lang="en-IN" sz="2000" b="1" i="1" dirty="0">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a:t>
            </a:r>
            <a:r>
              <a:rPr lang="en-IN" sz="2000" b="1" i="1" dirty="0">
                <a:effectLst/>
                <a:latin typeface="Times New Roman" panose="02020603050405020304" pitchFamily="18" charset="0"/>
                <a:ea typeface="Times New Roman" panose="02020603050405020304" pitchFamily="18" charset="0"/>
                <a:cs typeface="Mangal" panose="02040503050203030202" pitchFamily="18" charset="0"/>
              </a:rPr>
              <a:t>  EDU Revolution</a:t>
            </a:r>
            <a:r>
              <a:rPr lang="en-US" sz="2000" b="1" i="1" dirty="0">
                <a:effectLst/>
                <a:latin typeface="Times New Roman" panose="02020603050405020304" pitchFamily="18" charset="0"/>
                <a:ea typeface="Times New Roman" panose="02020603050405020304" pitchFamily="18" charset="0"/>
                <a:cs typeface="Mangal" panose="02040503050203030202" pitchFamily="18" charset="0"/>
              </a:rPr>
              <a:t>: BE THE CHANGE</a:t>
            </a:r>
          </a:p>
          <a:p>
            <a:pPr marL="0" indent="0" algn="ctr">
              <a:spcAft>
                <a:spcPts val="1000"/>
              </a:spcAft>
              <a:buNone/>
            </a:pPr>
            <a:endParaRPr lang="en-IN" sz="2000" i="1" dirty="0">
              <a:effectLst/>
              <a:latin typeface="Calibri" panose="020F0502020204030204" pitchFamily="34" charset="0"/>
              <a:ea typeface="Calibri" panose="020F0502020204030204" pitchFamily="34" charset="0"/>
              <a:cs typeface="Mangal" panose="02040503050203030202" pitchFamily="18" charset="0"/>
            </a:endParaRPr>
          </a:p>
          <a:p>
            <a:pPr>
              <a:spcAft>
                <a:spcPts val="1000"/>
              </a:spcAft>
            </a:pPr>
            <a:r>
              <a:rPr lang="en-IN" sz="2200" dirty="0">
                <a:effectLst/>
                <a:latin typeface="Times New Roman" panose="02020603050405020304" pitchFamily="18" charset="0"/>
                <a:ea typeface="Times New Roman" panose="02020603050405020304" pitchFamily="18" charset="0"/>
                <a:cs typeface="Mangal" panose="02040503050203030202" pitchFamily="18" charset="0"/>
              </a:rPr>
              <a:t>In case of any query in this regard the student can approach for resolution through RMS at the following path:</a:t>
            </a:r>
            <a:endParaRPr lang="en-IN" sz="2200" dirty="0">
              <a:effectLst/>
              <a:latin typeface="Calibri" panose="020F0502020204030204" pitchFamily="34" charset="0"/>
              <a:ea typeface="Calibri" panose="020F0502020204030204" pitchFamily="34" charset="0"/>
              <a:cs typeface="Mangal" panose="02040503050203030202" pitchFamily="18" charset="0"/>
            </a:endParaRPr>
          </a:p>
          <a:p>
            <a:pPr marL="0" indent="0" algn="ctr">
              <a:spcAft>
                <a:spcPts val="1000"/>
              </a:spcAft>
              <a:buNone/>
            </a:pPr>
            <a:r>
              <a:rPr lang="en-IN" sz="1800" b="1" i="1" dirty="0">
                <a:effectLst/>
                <a:latin typeface="Times New Roman" panose="02020603050405020304" pitchFamily="18" charset="0"/>
                <a:ea typeface="Times New Roman" panose="02020603050405020304" pitchFamily="18" charset="0"/>
                <a:cs typeface="Mangal" panose="02040503050203030202" pitchFamily="18" charset="0"/>
              </a:rPr>
              <a:t>UMS Navigation--- Relationship management system </a:t>
            </a:r>
            <a:r>
              <a:rPr lang="en-IN" sz="1800" b="1" i="1" dirty="0">
                <a:effectLst/>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a:t>
            </a:r>
            <a:r>
              <a:rPr lang="en-IN" sz="1800" b="1" i="1" dirty="0">
                <a:effectLst/>
                <a:latin typeface="Times New Roman" panose="02020603050405020304" pitchFamily="18" charset="0"/>
                <a:ea typeface="Times New Roman" panose="02020603050405020304" pitchFamily="18" charset="0"/>
                <a:cs typeface="Mangal" panose="02040503050203030202" pitchFamily="18" charset="0"/>
              </a:rPr>
              <a:t> EDU Revolution</a:t>
            </a:r>
            <a:r>
              <a:rPr lang="en-US" sz="1800" b="1" i="1" dirty="0">
                <a:effectLst/>
                <a:latin typeface="Times New Roman" panose="02020603050405020304" pitchFamily="18" charset="0"/>
                <a:ea typeface="Times New Roman" panose="02020603050405020304" pitchFamily="18" charset="0"/>
                <a:cs typeface="Mangal" panose="02040503050203030202" pitchFamily="18" charset="0"/>
              </a:rPr>
              <a:t>: BE THE CHANGE</a:t>
            </a:r>
          </a:p>
          <a:p>
            <a:pPr marL="0" indent="0" algn="ctr">
              <a:spcAft>
                <a:spcPts val="1000"/>
              </a:spcAft>
              <a:buNone/>
            </a:pP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spcAft>
                <a:spcPts val="1000"/>
              </a:spcAft>
            </a:pPr>
            <a:r>
              <a:rPr lang="en-US" sz="2200" dirty="0">
                <a:effectLst/>
                <a:latin typeface="Times New Roman" panose="02020603050405020304" pitchFamily="18" charset="0"/>
                <a:ea typeface="Times New Roman" panose="02020603050405020304" pitchFamily="18" charset="0"/>
                <a:cs typeface="Mangal" panose="02040503050203030202" pitchFamily="18" charset="0"/>
              </a:rPr>
              <a:t>OR get your queries resolved  through the </a:t>
            </a:r>
            <a:r>
              <a:rPr lang="en-IN" sz="2200" b="1" dirty="0">
                <a:effectLst/>
                <a:latin typeface="Times New Roman" panose="02020603050405020304" pitchFamily="18" charset="0"/>
                <a:ea typeface="Times New Roman" panose="02020603050405020304" pitchFamily="18" charset="0"/>
                <a:cs typeface="Mangal" panose="02040503050203030202" pitchFamily="18" charset="0"/>
              </a:rPr>
              <a:t>Helpline Number: 01824-520150.</a:t>
            </a:r>
            <a:endParaRPr lang="en-IN" sz="2200" dirty="0">
              <a:effectLst/>
              <a:latin typeface="Calibri" panose="020F0502020204030204" pitchFamily="34" charset="0"/>
              <a:ea typeface="Calibri" panose="020F0502020204030204" pitchFamily="34" charset="0"/>
              <a:cs typeface="Mangal" panose="02040503050203030202" pitchFamily="18" charset="0"/>
            </a:endParaRPr>
          </a:p>
          <a:p>
            <a:endParaRPr lang="en-IN" sz="2200" dirty="0"/>
          </a:p>
        </p:txBody>
      </p:sp>
      <p:pic>
        <p:nvPicPr>
          <p:cNvPr id="4" name="Object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5200" y="85725"/>
            <a:ext cx="22352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73307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767</TotalTime>
  <Words>1877</Words>
  <Application>Microsoft Office PowerPoint</Application>
  <PresentationFormat>Widescreen</PresentationFormat>
  <Paragraphs>158</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Arial MT</vt:lpstr>
      <vt:lpstr>Calibri</vt:lpstr>
      <vt:lpstr>Times New Roman</vt:lpstr>
      <vt:lpstr>Office Theme</vt:lpstr>
      <vt:lpstr>PowerPoint Presentation</vt:lpstr>
      <vt:lpstr>Course Outcomes</vt:lpstr>
      <vt:lpstr>                  Program Outcomes</vt:lpstr>
      <vt:lpstr>Program Outcomes</vt:lpstr>
      <vt:lpstr>Program Outcomes</vt:lpstr>
      <vt:lpstr>Program Specific Outcomes</vt:lpstr>
      <vt:lpstr>Course Contents</vt:lpstr>
      <vt:lpstr>Course Contents</vt:lpstr>
      <vt:lpstr>Course Contents</vt:lpstr>
      <vt:lpstr>Course Contents</vt:lpstr>
      <vt:lpstr>Course Contents</vt:lpstr>
      <vt:lpstr>Course Assessment Model</vt:lpstr>
      <vt:lpstr>Learning Resources</vt:lpstr>
      <vt:lpstr>Course Focus</vt:lpstr>
      <vt:lpstr>Relevancy of Django for Placements </vt:lpstr>
      <vt:lpstr>Importance of the course</vt:lpstr>
      <vt:lpstr>Skill Attainment</vt:lpstr>
      <vt:lpstr>EDUCATION REVOLUTION @</vt:lpstr>
      <vt:lpstr>Recognition of Prior Learning (RPL)</vt:lpstr>
      <vt:lpstr>Upto 10 % Attendance Benefit</vt:lpstr>
      <vt:lpstr>Duty Leave (DL) under EDU Revolution</vt:lpstr>
      <vt:lpstr>Grade Upgradation</vt:lpstr>
      <vt:lpstr>Interfaces and Contact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Aryan- Chauhan</cp:lastModifiedBy>
  <cp:revision>45</cp:revision>
  <dcterms:created xsi:type="dcterms:W3CDTF">2026-07-09T03:50:59Z</dcterms:created>
  <dcterms:modified xsi:type="dcterms:W3CDTF">2026-07-28T10:42:01Z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2026-07-09T00:00:00Z</vt:filetime>
  </property>
  <property fmtid="{D5CDD505-2E9C-101B-9397-08002B2CF9AE}" pid="4" name="Creator">
    <vt:lpwstr>Microsoft® PowerPoint® 2016</vt:lpwstr>
  </property>
  <property fmtid="{D5CDD505-2E9C-101B-9397-08002B2CF9AE}" pid="5" name="LastSaved">
    <vt:filetime>2026-07-09T00:00:00Z</vt:filetime>
  </property>
  <property fmtid="{D5CDD505-2E9C-101B-9397-08002B2CF9AE}" pid="6" name="Producer">
    <vt:lpwstr>Microsoft® PowerPoint® 2016</vt:lpwstr>
  </property>
</Properties>
</file>