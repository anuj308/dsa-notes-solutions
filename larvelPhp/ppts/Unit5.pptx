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S3ga16EoWw/TJPuX9XogwiNzO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CE0554-911B-4F61-9B03-4C9A99B6CD84}">
  <a:tblStyle styleId="{AFCE0554-911B-4F61-9B03-4C9A99B6CD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10798bb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d10798bb0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0de2928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d20de2928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e767c37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d7e767c37d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e767c37d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d7e767c37d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a22193ee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da22193ee1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e767c37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d7e767c37d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0de2928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20de29280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7e767c37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d7e767c37d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0de2928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20de29280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0de2928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d20de29280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20de2928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d20de29280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e767c37d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d7e767c37d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7e767c37d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d7e767c37d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cdn.jsdelivr.net/npm/bootstrap@5.3.0/dist/css/bootstrap.min.cs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2399650" y="1437675"/>
            <a:ext cx="7139700" cy="15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r>
              <a:rPr b="1" lang="en-US" sz="4000">
                <a:latin typeface="Arial Rounded"/>
                <a:ea typeface="Arial Rounded"/>
                <a:cs typeface="Arial Rounded"/>
                <a:sym typeface="Arial Rounded"/>
              </a:rPr>
              <a:t>INT 221 - MVC PROGRAMMING</a:t>
            </a:r>
            <a:endParaRPr b="1" sz="40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127750" y="3220150"/>
            <a:ext cx="10038000" cy="13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13716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4400"/>
              <a:t>Unit 5</a:t>
            </a:r>
            <a:endParaRPr sz="44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0798bb04_0_6"/>
          <p:cNvSpPr txBox="1"/>
          <p:nvPr>
            <p:ph type="title"/>
          </p:nvPr>
        </p:nvSpPr>
        <p:spPr>
          <a:xfrm>
            <a:off x="512875" y="926675"/>
            <a:ext cx="10450200" cy="58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Cross-Site Request Forgery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protection.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Prevents unauthorized form submissions.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Laravel Implementation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@csrf: -&gt; Generates hidden input: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&lt;input type="hidden" name="_token" value="..."&gt;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2"/>
                </a:solidFill>
              </a:rPr>
              <a:t>Method Field</a:t>
            </a:r>
            <a:endParaRPr b="1" sz="300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HTML forms support only: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GET, POST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Laravel allows: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PUT, PATCH, DELETE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Syntax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@method('PUT')</a:t>
            </a:r>
            <a:endParaRPr sz="2000">
              <a:solidFill>
                <a:srgbClr val="292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d10798bb0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d10798bb04_0_6"/>
          <p:cNvSpPr txBox="1"/>
          <p:nvPr/>
        </p:nvSpPr>
        <p:spPr>
          <a:xfrm>
            <a:off x="448325" y="294675"/>
            <a:ext cx="86637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3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CSRF Field</a:t>
            </a:r>
            <a:endParaRPr b="1" i="0" sz="3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0de29280_0_4"/>
          <p:cNvSpPr txBox="1"/>
          <p:nvPr>
            <p:ph type="title"/>
          </p:nvPr>
        </p:nvSpPr>
        <p:spPr>
          <a:xfrm>
            <a:off x="643525" y="125425"/>
            <a:ext cx="10644900" cy="6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accent2"/>
                </a:solidFill>
              </a:rPr>
              <a:t>Laravel Form Validation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Checking user input before processing.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Example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$request-&gt;validate([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'name' =&gt; 'required',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]);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2"/>
                </a:solidFill>
              </a:rPr>
              <a:t>Validation Rules</a:t>
            </a:r>
            <a:endParaRPr b="1" sz="3000">
              <a:solidFill>
                <a:schemeClr val="accen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</a:rPr>
              <a:t> 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</a:rPr>
              <a:t>    							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2"/>
              </a:solidFill>
            </a:endParaRPr>
          </a:p>
        </p:txBody>
      </p:sp>
      <p:pic>
        <p:nvPicPr>
          <p:cNvPr id="99" name="Google Shape;99;g3d20de29280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g3d20de29280_0_4"/>
          <p:cNvGraphicFramePr/>
          <p:nvPr/>
        </p:nvGraphicFramePr>
        <p:xfrm>
          <a:off x="1225800" y="337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{AFCE0554-911B-4F61-9B03-4C9A99B6CD84}</a:tableStyleId>
              </a:tblPr>
              <a:tblGrid>
                <a:gridCol w="3165475"/>
                <a:gridCol w="3165475"/>
              </a:tblGrid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Field must be filled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email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Valid email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min:3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Minimum Length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max:10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Maximum Length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Must be number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7e767c37d_1_20"/>
          <p:cNvSpPr txBox="1"/>
          <p:nvPr>
            <p:ph type="title"/>
          </p:nvPr>
        </p:nvSpPr>
        <p:spPr>
          <a:xfrm>
            <a:off x="643525" y="285150"/>
            <a:ext cx="10644900" cy="6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500">
                <a:solidFill>
                  <a:schemeClr val="accent2"/>
                </a:solidFill>
              </a:rPr>
              <a:t>Error Messages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Default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$errors-&gt;all()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accent2"/>
                </a:solidFill>
              </a:rPr>
              <a:t>Custom Messages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$request-&gt;validate([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'name' =&gt; 'required'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], [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'name.required' =&gt; 'Name is mandatory.'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]);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accent2"/>
                </a:solidFill>
              </a:rPr>
              <a:t>Custom Validation Rules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When default rules are not enough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Example: Name must start with capital letter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accent2"/>
                </a:solidFill>
              </a:rPr>
              <a:t> Repopulating Forms (Old Input)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value="{{ old('name') }}"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Keeps user input after validation error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000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g3d7e767c37d_1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e767c37d_1_45"/>
          <p:cNvSpPr txBox="1"/>
          <p:nvPr>
            <p:ph type="title"/>
          </p:nvPr>
        </p:nvSpPr>
        <p:spPr>
          <a:xfrm>
            <a:off x="730625" y="233100"/>
            <a:ext cx="10450200" cy="6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MINI PROJECT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Student Registration System (Advanced Form Handling), Includes: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CSRF, Method Field, Validation + Rules, Custom Rule, Error Messages, Repopulating Form and Flash Message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PROJECT FLOW (IMPORTANT FOR EXAM)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Form → Submit → Validation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→ Error → Back with old input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→ Success → Store + Show Result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STEP 1: Create Laravel Project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composer create-project laravel/laravel student-app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cd student-app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php artisan serve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Open:  http://127.0.0.1:8000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g3d7e767c37d_1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22193ee1_0_14"/>
          <p:cNvSpPr txBox="1"/>
          <p:nvPr>
            <p:ph type="title"/>
          </p:nvPr>
        </p:nvSpPr>
        <p:spPr>
          <a:xfrm>
            <a:off x="59850" y="496375"/>
            <a:ext cx="10582800" cy="6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STEP 2: Create Controller-&gt;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php artisan make:controller StudentController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STEP 3: Create Custom Validation Rule-&gt;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php artisan make:rule CapitalName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app/Rules/CapitalName.php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&lt;?php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namespace App\Rules;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 Closure;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 Illuminate\Contracts\Validation\ValidationRule;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class CapitalName implements ValidationRule{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public function validate(string $attribute, mixed $value, Closure $fail): void{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if (!ctype_upper(substr($value, 0, 1))) {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  $fail('The :attribute must start with a capital letter.');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}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}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da22193ee1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0"/>
            <a:ext cx="1676400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d7e767c37d_1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d7e767c37d_1_55"/>
          <p:cNvSpPr txBox="1"/>
          <p:nvPr/>
        </p:nvSpPr>
        <p:spPr>
          <a:xfrm>
            <a:off x="323600" y="200550"/>
            <a:ext cx="11381400" cy="6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STEP 4: Define Routes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routes/web.php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use Illuminate\Support\Facades\Route;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use App\Http\Controllers\StudentController;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// Show form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Route::get('/student', [StudentController::class, 'form'])-&gt;name('student.form');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// Submit form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Route::post('/student', [StudentController::class, 'submit'])-&gt;name('student.submit');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// Method field demo (PUT)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Route::put('/student/update', [StudentController::class, 'update'])-&gt;name('student.update');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d20de29280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d20de29280_0_60"/>
          <p:cNvSpPr txBox="1"/>
          <p:nvPr/>
        </p:nvSpPr>
        <p:spPr>
          <a:xfrm>
            <a:off x="323600" y="0"/>
            <a:ext cx="113814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STEP 5: Controller Code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pp/Http/Controllers/StudentController.php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&lt;?php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namespace App\Http\Controllers;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use Illuminate\Http\Request;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use App\Rules\CapitalName;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class StudentController extends Controller{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// Show Form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public function form(){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return view('student_form');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	   // Handle Form Submission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	   public function submit(Request $request){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	 // VALIDATION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	$validated = $request-&gt;validate([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'name' =&gt; ['required', 'min:3', 'max:20', new CapitalName],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'email' =&gt; 'required|email',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'age' =&gt; 'required|numeric|min:18|max:60'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	], 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d7e767c37d_1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d7e767c37d_1_64"/>
          <p:cNvSpPr txBox="1"/>
          <p:nvPr/>
        </p:nvSpPr>
        <p:spPr>
          <a:xfrm>
            <a:off x="525300" y="0"/>
            <a:ext cx="10738500" cy="7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		[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'name.required' =&gt; 'Name is required!',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'name.min' =&gt; 'Name must be at least 3 characters',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'email.required' =&gt; 'Email is required!',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'email.email' =&gt; 'Enter valid email!',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'age.min' =&gt; 'Age must be at least 18',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'age.max' =&gt; 'Age must be less than 60'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]);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// FLASH MESSAGE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session()-&gt;flash('success', 'Student Registered Successfully!');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// PASS DATA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return view('student_result', ['data' =&gt; $validated]);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	}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// Method Field Demo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public function update()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{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return "PUT method called successfully!";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d20de29280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d20de29280_0_65"/>
          <p:cNvSpPr txBox="1"/>
          <p:nvPr/>
        </p:nvSpPr>
        <p:spPr>
          <a:xfrm>
            <a:off x="552425" y="0"/>
            <a:ext cx="11035200" cy="6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STEP 6: Create two views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php artisan make:view student_form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php artisan make:view student_result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STEP 7: Create Form View-&gt;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resources/views/student_form.blade.php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&lt;!DOCTYPE html&gt;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&lt;html&gt;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&lt;head&gt;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&lt;title&gt;Student Form &lt;/title&gt;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&lt;!-- Bootstrap --&gt;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&lt;link href="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https://cdn.jsdelivr.net/npm/bootstrap@5.3.0/dist/css/bootstrap.min.css</a:t>
            </a:r>
            <a:r>
              <a:rPr lang="en-US" sz="1800">
                <a:solidFill>
                  <a:schemeClr val="dk1"/>
                </a:solidFill>
              </a:rPr>
              <a:t>"rel="stylesheet"&gt;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&lt;/head&gt;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&lt;body class="container mt-5"&gt;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&lt;h2&gt;Student Registration &lt;/h2&gt;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&lt;!-- SUCCESS MESSAGE --&gt;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@if(session('success'))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&lt;div class="alert alert-success"&gt;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    {{ session('success') }}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   &lt;/div&gt;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@endif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d20de29280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d20de29280_0_71"/>
          <p:cNvSpPr txBox="1"/>
          <p:nvPr/>
        </p:nvSpPr>
        <p:spPr>
          <a:xfrm>
            <a:off x="525300" y="0"/>
            <a:ext cx="107385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&lt;form action="{{ route('student.submit') }}" method="POST"&gt;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	 &lt;!-- CSRF --&gt;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	@csrf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		&lt;!-- NAME --&gt;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&lt;div class="mb-3"&gt;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&lt;label&gt;Name:&lt;/label&gt;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&lt;input type="text" name="name" class="form-control" value="{{ old('name') }}"&gt;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@error('name')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&lt;small class="text-danger"&gt;{{ $message }}&lt;/small&gt;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@enderror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&lt;/div&gt;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&lt;!-- EMAIL --&gt;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&lt;div class="mb-3"&gt;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&lt;label&gt;Email:&lt;/label&gt;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&lt;input type="email" name="email" class="form-control" value="{{ old('email') }}"&gt;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@error('email')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&lt;small class="text-danger"&gt;{{ $message }}&lt;/small&gt;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@enderror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&lt;/div&gt;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d20de29280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d20de29280_0_76"/>
          <p:cNvSpPr txBox="1"/>
          <p:nvPr/>
        </p:nvSpPr>
        <p:spPr>
          <a:xfrm>
            <a:off x="525300" y="0"/>
            <a:ext cx="10738500" cy="7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&lt;!-- AGE --&gt;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&lt;div class="mb-3"&gt;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&lt;label&gt;Age:&lt;/label&gt;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&lt;input type="number" name="age" class="form-control" value="{{ old('age') }}"&gt;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@error('age')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    &lt;small class="text-danger"&gt;{{ $message }}&lt;/small&gt;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 @enderror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&lt;/div&gt;</a:t>
            </a:r>
            <a:endParaRPr sz="2000">
              <a:solidFill>
                <a:schemeClr val="dk1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&lt;button class="btn btn-primary"&gt;Submit&lt;/button&gt;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&lt;/form&gt;</a:t>
            </a:r>
            <a:r>
              <a:rPr lang="en-US" sz="2000">
                <a:solidFill>
                  <a:schemeClr val="dk1"/>
                </a:solidFill>
              </a:rPr>
              <a:t>&lt;hr&gt;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&lt;!-- METHOD FIELD DEMO --&gt;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&lt;h4&gt;PUT Method Demo&lt;/h4&gt;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&lt;form action="{{ route('student.update') }}" method="POST"&gt;</a:t>
            </a:r>
            <a:endParaRPr sz="20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@csrf</a:t>
            </a:r>
            <a:endParaRPr sz="20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@method('PUT')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&lt;button class="btn btn-warning"&gt;Call PUT Route&lt;/button&gt;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&lt;/form&gt;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&lt;/body&gt;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&lt;/html&gt;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d7e767c37d_1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7e767c37d_1_77"/>
          <p:cNvSpPr txBox="1"/>
          <p:nvPr/>
        </p:nvSpPr>
        <p:spPr>
          <a:xfrm>
            <a:off x="409475" y="0"/>
            <a:ext cx="10648800" cy="6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STEP 8: Create Result View-&gt;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resources/views/student_result.blade.php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&lt;!DOCTYPE html&gt;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&lt;html&gt;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&lt;head&gt;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	&lt;title&gt;Result&lt;/title&gt;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&lt;/head&gt;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&lt;body&gt;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&lt;h2&gt;Student Details&lt;/h2&gt;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Name: {{ $data['name'] }} &lt;br&gt;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Email: {{ $data['email'] }} &lt;br&gt;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Age: {{ $data['age'] }} &lt;br&gt;&lt;br&gt;</a:t>
            </a:r>
            <a:endParaRPr sz="20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&lt;a href="{{ route('student.form') }}"&gt;Back&lt;/a&gt;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&lt;/body&gt;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&lt;/html&gt;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STEP 9: Run Project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php artisan serve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Open: http://127.0.0.1:8000/student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d7e767c37d_1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375" y="125425"/>
            <a:ext cx="1676400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d7e767c37d_1_84"/>
          <p:cNvSpPr txBox="1"/>
          <p:nvPr/>
        </p:nvSpPr>
        <p:spPr>
          <a:xfrm>
            <a:off x="579100" y="299375"/>
            <a:ext cx="85329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1" i="0" sz="5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7e767c37d_1_84"/>
          <p:cNvSpPr txBox="1"/>
          <p:nvPr/>
        </p:nvSpPr>
        <p:spPr>
          <a:xfrm>
            <a:off x="334000" y="213975"/>
            <a:ext cx="11370900" cy="6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TEST CASES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Case 1: Empty Form-&gt; </a:t>
            </a:r>
            <a:r>
              <a:rPr lang="en-US" sz="2000">
                <a:solidFill>
                  <a:schemeClr val="dk1"/>
                </a:solidFill>
              </a:rPr>
              <a:t>Errors appear + old values retained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 Case 2: Name not capital-&gt; </a:t>
            </a:r>
            <a:r>
              <a:rPr lang="en-US" sz="2000">
                <a:solidFill>
                  <a:schemeClr val="dk1"/>
                </a:solidFill>
              </a:rPr>
              <a:t>rabaab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Error: -&gt; The name must start with a capital letter.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Case 3: Correct Data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Name: Rabaab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Email: test@gmail.com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Age: 22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Output: -&gt; Student Registered Successfully!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The next page shows data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Case 4: PUT Button</a:t>
            </a:r>
            <a:endParaRPr b="1" sz="20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Click button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	Output:-&gt;PUT method called successfully!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2025-02-05T09:56:21Z</dcterms:created>
  <dc:creator>Yatika hasija</dc:creator>
</cp:coreProperties>
</file>