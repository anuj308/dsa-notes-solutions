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07" r:id="rId4"/>
    <p:sldId id="308" r:id="rId5"/>
    <p:sldId id="259" r:id="rId6"/>
    <p:sldId id="266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1" r:id="rId17"/>
    <p:sldId id="272" r:id="rId18"/>
    <p:sldId id="273" r:id="rId19"/>
    <p:sldId id="310" r:id="rId20"/>
    <p:sldId id="284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5" r:id="rId39"/>
    <p:sldId id="303" r:id="rId40"/>
    <p:sldId id="304" r:id="rId41"/>
    <p:sldId id="309" r:id="rId42"/>
    <p:sldId id="30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935C-63DC-D0C2-8C0D-B2F5C0744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90CBF-0ED6-11FD-73BA-2C014AA1B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A49DB-4CF9-47C7-ED3D-52813AF8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A37F5-49FC-0C8C-C3E8-180B4127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C4B81-4ABB-4E11-9903-AE0BA99C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131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AD79-ADB1-B5A4-D9CC-7AE934ED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E568D-E3A1-209F-5B08-4F65B92DF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51225-397D-7C56-386A-A989C1E1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7F822-A0A2-5AB9-BB9A-BBCFC2358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7309-E0F8-81B2-C2A3-E69F34F8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0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B4F2-D2C5-0512-2F8E-C3560E3D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7ABA5-1A3C-98BA-308D-7CB562E6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A60C0-AD46-0F1D-6A08-C2567282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61538-C677-C3F3-F8B8-7CD6880F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D880-7727-DBFC-0D6F-AE3C7B7C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34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5C8D-FFEF-09E6-ABA2-B80CD032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6B218-92D3-A4D2-B51B-5C1379AE0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EFD69-8B47-54B1-3CCC-8368FC2D4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2D708-0932-CCBE-C73D-6701F249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C02A7-8E69-AB34-3263-199F7675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4F70E-116D-678B-E93C-AEB8674B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68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619F-C41E-D34C-D3CB-BDA0EEEB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5F416-00E6-57F6-CF7B-2F992E821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C37F2-56F6-049A-B6A5-2C4F705FF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A82CD-AD0C-5F65-8BD2-F415ECDE1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C3040F-0E8B-DF6A-D14E-48581FCD3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88E79-D036-FED5-B435-7531B025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E04E1-67B3-C1FA-269C-4A2E8326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AC80A-C358-C7DF-81A9-2F279458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9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BD48-6FF6-4739-80A7-2F7CF745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768B9-8D02-DE25-6A1C-03D5CC6B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C5368-5755-6DB2-D5D5-7EB06003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41706-37E7-D7B9-4343-363E8635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75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1CFB8C-87C7-857F-0252-F2147BFF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1BE92-04A1-2CA5-11D8-10CC6F4A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08AD1-E3BB-7683-9253-E7CDF3B5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76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3062-ADF3-7DE4-6DA9-58E3F63B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3F5A7-F9E2-10D8-1ECB-FE4A44A4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0ECD2-B9A7-151D-0611-C6CAA4552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048D8-D70B-FF12-9EB2-2FEC1C33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92598-F795-972B-AD11-164772FB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57C69-BCC6-95C4-65AA-C284419C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3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26AC-6CD4-9922-7C76-35C834CD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02C4D-1496-1939-01B6-749B536C5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A3B37-B746-7008-A86C-DC0832356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B2537-2354-C611-0B62-0083FBE2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5D819-28F7-A428-E410-835D36B2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BF2AC-F7C8-5A60-D591-8D2C07A0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44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A718-C30A-86D3-9188-053FA8ED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A421E-CA10-4E78-AABE-AABDDD502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55C22-7464-EA90-FAE2-3A000EE4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280E8-2C18-984E-3955-8A2C241C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273B2-CC8D-0120-6566-C152CD38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712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F6FA0-2342-B096-3CBF-2A37C18CC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53C67-72D8-E162-E540-013D8E07D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BB05A-B0E4-C5B7-1D9F-E8F0D2F2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8F57-6751-9CF6-A689-3A2E527E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39ED3-83E6-0A7A-748C-B3EAE12D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89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7F3BE-388A-38B7-EAB3-F59EDEA0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C5104-8C98-FC7F-D620-374824219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73978-E515-EEF4-D072-891884A7C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DFDE0-5E57-4E42-A735-A3B516400CD5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7DD7-D9BB-8005-BD11-2023A3DBF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557BA-53F2-1CD3-CDDA-808D75668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46F11-3233-4933-8247-1B73F98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3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7038" y="804864"/>
            <a:ext cx="6572250" cy="2192337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n-US" sz="3600" dirty="0">
                <a:latin typeface="Arial Rounded MT Bold" panose="020F0704030504030204" pitchFamily="34" charset="0"/>
              </a:rPr>
            </a:b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600" dirty="0">
                <a:latin typeface="Arial Rounded MT Bold" panose="020F0704030504030204" pitchFamily="34" charset="0"/>
              </a:rPr>
              <a:t>INT 221 - MVC PROGRAMMING</a:t>
            </a:r>
            <a:endParaRPr lang="en-IN" sz="36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620" y="1901032"/>
            <a:ext cx="9890759" cy="2768600"/>
          </a:xfrm>
        </p:spPr>
        <p:txBody>
          <a:bodyPr rtlCol="0">
            <a:normAutofit/>
          </a:bodyPr>
          <a:lstStyle/>
          <a:p>
            <a:pPr marL="0" indent="0" algn="ctr">
              <a:buNone/>
              <a:defRPr/>
            </a:pPr>
            <a:endParaRPr lang="en-US" dirty="0"/>
          </a:p>
          <a:p>
            <a:pPr marL="0" indent="0" algn="ctr">
              <a:buNone/>
              <a:defRPr/>
            </a:pPr>
            <a:endParaRPr lang="en-US" dirty="0"/>
          </a:p>
          <a:p>
            <a:pPr marL="0" indent="0" algn="ctr">
              <a:buNone/>
              <a:defRPr/>
            </a:pPr>
            <a:r>
              <a:rPr lang="en-US" dirty="0"/>
              <a:t>File and Folder Structure</a:t>
            </a:r>
          </a:p>
        </p:txBody>
      </p:sp>
      <p:pic>
        <p:nvPicPr>
          <p:cNvPr id="12292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3A15-143A-80C7-CC45-E966A915D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Directory/Application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3E14-DAD8-FDEE-A1E0-0BDD553DC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Important File and Folder</a:t>
            </a:r>
          </a:p>
          <a:p>
            <a:r>
              <a:rPr lang="en-IN" dirty="0"/>
              <a:t>Where we create MVC Files</a:t>
            </a:r>
          </a:p>
          <a:p>
            <a:r>
              <a:rPr lang="en-IN" dirty="0"/>
              <a:t>Basics of all folders</a:t>
            </a:r>
          </a:p>
          <a:p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8E82394-CBE0-4CE2-394A-C8753E2F0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960" y="681037"/>
            <a:ext cx="16764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834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2421-F930-5975-3E41-D28C5668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Root Directory (Project Name)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29063-608B-48A7-9BFD-5114BC018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we build Project:</a:t>
            </a:r>
            <a:endParaRPr lang="en-IN" dirty="0"/>
          </a:p>
          <a:p>
            <a:pPr marL="0" indent="0">
              <a:buNone/>
            </a:pPr>
            <a:r>
              <a:rPr lang="en-IN" sz="4000" dirty="0" err="1"/>
              <a:t>laravel</a:t>
            </a:r>
            <a:r>
              <a:rPr lang="en-IN" sz="4000" dirty="0"/>
              <a:t> new </a:t>
            </a:r>
            <a:r>
              <a:rPr lang="en-IN" sz="4000" dirty="0" err="1"/>
              <a:t>project_name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88166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3C98-B043-D6B6-3AE8-EC507344E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Directory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EF3CB5-4010-3DAD-72A9-BA4635166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93483"/>
            <a:ext cx="8539480" cy="4854755"/>
          </a:xfrm>
        </p:spPr>
      </p:pic>
    </p:spTree>
    <p:extLst>
      <p:ext uri="{BB962C8B-B14F-4D97-AF65-F5344CB8AC3E}">
        <p14:creationId xmlns:p14="http://schemas.microsoft.com/office/powerpoint/2010/main" val="33453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700A-3422-810A-BFF9-67824C11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4E5-01D6-B9D5-5FD8-C5FF78DA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365125"/>
            <a:ext cx="11008360" cy="1325563"/>
          </a:xfrm>
        </p:spPr>
        <p:txBody>
          <a:bodyPr/>
          <a:lstStyle/>
          <a:p>
            <a:r>
              <a:rPr lang="en-IN" dirty="0" err="1"/>
              <a:t>composer.json</a:t>
            </a:r>
            <a:r>
              <a:rPr lang="en-IN" dirty="0"/>
              <a:t>- </a:t>
            </a:r>
            <a:r>
              <a:rPr lang="en-IN" b="1" dirty="0"/>
              <a:t>Defines Composer dependencies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A692E8-80EF-5684-3546-F2030DE9D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5630" y="1690688"/>
            <a:ext cx="7569490" cy="4618672"/>
          </a:xfr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35A7A2CE-79DD-C335-8C40-55D7A8C1E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160" y="25400"/>
            <a:ext cx="16764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713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8717-4B9D-A943-8F3F-E5F46225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composer.json</a:t>
            </a:r>
            <a:r>
              <a:rPr lang="en-US" dirty="0"/>
              <a:t> file-Project Details and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EEE8E-EEC2-E328-E2E8-94FE308A2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Used to manage the </a:t>
            </a:r>
            <a:r>
              <a:rPr lang="en-US" sz="3600" b="1" dirty="0"/>
              <a:t>project’s PHP dependencies</a:t>
            </a:r>
            <a:r>
              <a:rPr lang="en-US" sz="3600" dirty="0"/>
              <a:t>. It is a JSON file that defines the </a:t>
            </a:r>
            <a:r>
              <a:rPr lang="en-US" sz="3600" b="1" dirty="0"/>
              <a:t>metadata, dependencies, and scripts for the project.</a:t>
            </a:r>
          </a:p>
          <a:p>
            <a:pPr algn="just"/>
            <a:r>
              <a:rPr lang="en-US" sz="3600" dirty="0"/>
              <a:t>When you run Composer commands, like </a:t>
            </a:r>
            <a:r>
              <a:rPr lang="en-US" sz="3600" b="1" dirty="0"/>
              <a:t>composer install or composer update</a:t>
            </a:r>
            <a:r>
              <a:rPr lang="en-US" sz="3600" dirty="0"/>
              <a:t>, the </a:t>
            </a:r>
            <a:r>
              <a:rPr lang="en-US" sz="3600" dirty="0" err="1"/>
              <a:t>composer.json</a:t>
            </a:r>
            <a:r>
              <a:rPr lang="en-US" sz="3600" dirty="0"/>
              <a:t> file guides Composer in fetching and managing dependencies.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94423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967A-F395-5610-4E72-A9BA102A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composer.json</a:t>
            </a:r>
            <a:r>
              <a:rPr lang="en-US" dirty="0"/>
              <a:t> file-</a:t>
            </a:r>
            <a:r>
              <a:rPr lang="en-US" dirty="0" err="1"/>
              <a:t>Beaware</a:t>
            </a:r>
            <a:r>
              <a:rPr lang="en-US" dirty="0"/>
              <a:t> of deleting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D5DE1-BAFF-4EBF-7E44-281F8668C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If deleted, and file can’t be recovered then it is impossible to start the Laravel project</a:t>
            </a:r>
          </a:p>
          <a:p>
            <a:r>
              <a:rPr lang="en-IN" sz="3200" dirty="0"/>
              <a:t>Contains Details of the project</a:t>
            </a:r>
          </a:p>
          <a:p>
            <a:pPr marL="0" indent="0">
              <a:buNone/>
            </a:pPr>
            <a:r>
              <a:rPr lang="en-IN" sz="3200" dirty="0" err="1"/>
              <a:t>Eg.</a:t>
            </a:r>
            <a:r>
              <a:rPr lang="en-IN" sz="3200" dirty="0"/>
              <a:t> Version of PHP, Version of Laravel</a:t>
            </a:r>
          </a:p>
          <a:p>
            <a:r>
              <a:rPr lang="en-IN" sz="3200" dirty="0"/>
              <a:t>Contains dependencies, libraries</a:t>
            </a:r>
          </a:p>
        </p:txBody>
      </p:sp>
    </p:spTree>
    <p:extLst>
      <p:ext uri="{BB962C8B-B14F-4D97-AF65-F5344CB8AC3E}">
        <p14:creationId xmlns:p14="http://schemas.microsoft.com/office/powerpoint/2010/main" val="2811207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8D50-C168-02A2-DE0D-08FC8566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Sections of </a:t>
            </a:r>
            <a:r>
              <a:rPr lang="en-US" dirty="0" err="1"/>
              <a:t>composer.json</a:t>
            </a:r>
            <a:r>
              <a:rPr lang="en-US" dirty="0"/>
              <a:t> in Laravel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999A4-277E-0D29-A68F-CFAC85082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name: Specifies the package name in the format vendor/package.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"name": "</a:t>
            </a:r>
            <a:r>
              <a:rPr lang="en-IN" dirty="0" err="1"/>
              <a:t>laravel</a:t>
            </a:r>
            <a:r>
              <a:rPr lang="en-IN" dirty="0"/>
              <a:t>/</a:t>
            </a:r>
            <a:r>
              <a:rPr lang="en-IN" dirty="0" err="1"/>
              <a:t>laravel</a:t>
            </a:r>
            <a:r>
              <a:rPr lang="en-IN" dirty="0"/>
              <a:t>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5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B293-B818-4E12-3A6F-29C86DE7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description: A short description of the project.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25C64-E424-90D1-DF6A-EF43B01CE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"description": "The Laravel Framework."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20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BBF2-2085-E58B-3EAB-0E327466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require: Lists the dependencies required for the project to work. Laravel uses specific versions of libraries.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B0C5E-EDE3-F17E-F9A1-8B92C6B25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"require": {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php</a:t>
            </a:r>
            <a:r>
              <a:rPr lang="en-US" dirty="0"/>
              <a:t>": "^8.0",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laravel</a:t>
            </a:r>
            <a:r>
              <a:rPr lang="en-US" dirty="0"/>
              <a:t>/framework": "^10.0",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guzzlehttp</a:t>
            </a:r>
            <a:r>
              <a:rPr lang="en-US" dirty="0"/>
              <a:t>/guzzle": "^7.0"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52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E4D7-17C4-DF2D-000F-E11ACCBA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2200" cy="1325563"/>
          </a:xfrm>
        </p:spPr>
        <p:txBody>
          <a:bodyPr/>
          <a:lstStyle/>
          <a:p>
            <a:r>
              <a:rPr lang="en-US" b="1" dirty="0"/>
              <a:t>require-dev: Specifies development dependencies like testing tools.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9A74A-527F-820F-8850-02860FD02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"require-dev": {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fakerphp</a:t>
            </a:r>
            <a:r>
              <a:rPr lang="en-IN" dirty="0"/>
              <a:t>/faker": "^1.9.1",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phpunit</a:t>
            </a:r>
            <a:r>
              <a:rPr lang="en-IN" dirty="0"/>
              <a:t>/</a:t>
            </a:r>
            <a:r>
              <a:rPr lang="en-IN" dirty="0" err="1"/>
              <a:t>phpunit</a:t>
            </a:r>
            <a:r>
              <a:rPr lang="en-IN" dirty="0"/>
              <a:t>": "^9.5"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592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C61B-D438-AA4F-7AB2-0C5FF91B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autoload: Configures the autoloading for PHP classes. Laravel primarily uses the psr-4 autoloading standard.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2CA33-DC32-3444-C928-C0C80A86B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"autoload": {</a:t>
            </a:r>
          </a:p>
          <a:p>
            <a:pPr marL="0" indent="0">
              <a:buNone/>
            </a:pPr>
            <a:r>
              <a:rPr lang="en-IN" dirty="0"/>
              <a:t>    "psr-4": {</a:t>
            </a:r>
          </a:p>
          <a:p>
            <a:pPr marL="0" indent="0">
              <a:buNone/>
            </a:pPr>
            <a:r>
              <a:rPr lang="en-IN" dirty="0"/>
              <a:t>        "App\\": "app/"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25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3524-FF2B-759A-A87C-CFD093F6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autoload-dev: Defines autoloading for development-only files, often used for tests.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BEC97-E056-CAF4-1B66-C4F404F3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"autoload-dev": {</a:t>
            </a:r>
          </a:p>
          <a:p>
            <a:pPr marL="0" indent="0">
              <a:buNone/>
            </a:pPr>
            <a:r>
              <a:rPr lang="en-IN" dirty="0"/>
              <a:t>    "psr-4": {</a:t>
            </a:r>
          </a:p>
          <a:p>
            <a:pPr marL="0" indent="0">
              <a:buNone/>
            </a:pPr>
            <a:r>
              <a:rPr lang="en-IN" dirty="0"/>
              <a:t>        "Tests\\": "tests/"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58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C0C8-14EB-8AE0-1B08-19D3C3D7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13E1C-F510-6045-45C0-3D2D2BCCD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All the dependencies mentioned in the </a:t>
            </a:r>
            <a:r>
              <a:rPr lang="en-IN" sz="3600" dirty="0" err="1"/>
              <a:t>Composer.json</a:t>
            </a:r>
            <a:r>
              <a:rPr lang="en-IN" sz="3600" dirty="0"/>
              <a:t>  file are stored in vendor folder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642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43FC-1F1A-5237-EBC8-A4EAF9F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folder (mentioned in </a:t>
            </a:r>
            <a:r>
              <a:rPr lang="en-US" dirty="0" err="1"/>
              <a:t>composer.json</a:t>
            </a:r>
            <a:r>
              <a:rPr lang="en-US" dirty="0"/>
              <a:t>  and stored in Vendor)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3B072-B8C2-DBB4-7E8D-F322CA329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The vendor folder in a Laravel project is where Composer stores all the </a:t>
            </a:r>
            <a:r>
              <a:rPr lang="en-US" sz="3600" b="1" dirty="0"/>
              <a:t>third-party dependencies required for the application.</a:t>
            </a:r>
          </a:p>
          <a:p>
            <a:pPr algn="just"/>
            <a:r>
              <a:rPr lang="en-US" sz="3600" dirty="0"/>
              <a:t> It is automatically generated and managed by Composer and includes </a:t>
            </a:r>
            <a:r>
              <a:rPr lang="en-US" sz="3600" b="1" dirty="0"/>
              <a:t>libraries, frameworks, and tools specified in the </a:t>
            </a:r>
            <a:r>
              <a:rPr lang="en-US" sz="3600" b="1" dirty="0" err="1"/>
              <a:t>composer.json</a:t>
            </a:r>
            <a:r>
              <a:rPr lang="en-US" sz="3600" b="1" dirty="0"/>
              <a:t> file.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157754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E481-759C-D91A-1860-F0B6CB82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Autoloading: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D2CBF-40BA-7DFD-7356-0D03949A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vendor/</a:t>
            </a:r>
            <a:r>
              <a:rPr lang="en-US" sz="3600" dirty="0" err="1"/>
              <a:t>autoload.php</a:t>
            </a:r>
            <a:r>
              <a:rPr lang="en-US" sz="3600" dirty="0"/>
              <a:t> file is the main entry point for Composer's autoloading mechanism.</a:t>
            </a:r>
          </a:p>
          <a:p>
            <a:r>
              <a:rPr lang="en-US" sz="3600" dirty="0"/>
              <a:t>Laravel's bootstrap/</a:t>
            </a:r>
            <a:r>
              <a:rPr lang="en-US" sz="3600" dirty="0" err="1"/>
              <a:t>app.php</a:t>
            </a:r>
            <a:r>
              <a:rPr lang="en-US" sz="3600" dirty="0"/>
              <a:t> includes this file to autoload all necessary classes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7471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3520-0949-FE3F-0392-C3531BB7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Structure: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E738A-C236-7DE8-E1E5-AEE709DB5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Dependencies are organized in subdirectories based on their namespaces (e.g., vendor/</a:t>
            </a:r>
            <a:r>
              <a:rPr lang="en-US" sz="3600" dirty="0" err="1"/>
              <a:t>symfony</a:t>
            </a:r>
            <a:r>
              <a:rPr lang="en-US" sz="3600" dirty="0"/>
              <a:t>/, vendor/</a:t>
            </a:r>
            <a:r>
              <a:rPr lang="en-US" sz="3600" dirty="0" err="1"/>
              <a:t>laravel</a:t>
            </a:r>
            <a:r>
              <a:rPr lang="en-US" sz="3600" dirty="0"/>
              <a:t>/).</a:t>
            </a:r>
          </a:p>
          <a:p>
            <a:pPr algn="just"/>
            <a:r>
              <a:rPr lang="en-US" sz="3600" dirty="0"/>
              <a:t>It also contains the composer/ directory, which manages autoloading and metadata about the dependencies.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942600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26F6-09A1-62D3-A979-70C5A200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8DC8C-471B-2F47-2806-7868EC23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200" dirty="0"/>
              <a:t>Contains </a:t>
            </a:r>
            <a:r>
              <a:rPr lang="en-IN" sz="3200" b="1" dirty="0"/>
              <a:t>the core code of the project</a:t>
            </a:r>
          </a:p>
          <a:p>
            <a:pPr algn="just"/>
            <a:r>
              <a:rPr lang="en-US" sz="3200" dirty="0"/>
              <a:t>The app folder in Laravel is a key directory where most of your application logic resides. </a:t>
            </a:r>
          </a:p>
          <a:p>
            <a:pPr algn="just"/>
            <a:r>
              <a:rPr lang="en-US" sz="3200" dirty="0"/>
              <a:t>It is where you define the core of your application, including its business logic, controllers, models, service provider and other components.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57221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D0EA-1D95-9077-81EB-9A332CD6E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 Folder in Laravel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311121-F973-A7BA-C962-85B412522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7760" y="1907002"/>
            <a:ext cx="6247759" cy="4157758"/>
          </a:xfrm>
        </p:spPr>
      </p:pic>
    </p:spTree>
    <p:extLst>
      <p:ext uri="{BB962C8B-B14F-4D97-AF65-F5344CB8AC3E}">
        <p14:creationId xmlns:p14="http://schemas.microsoft.com/office/powerpoint/2010/main" val="1466016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E786-5B55-1B1F-A129-3F4DB5E6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66DE6-50D7-6227-71A6-C63179B6B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Stores service provider classes.</a:t>
            </a:r>
          </a:p>
          <a:p>
            <a:r>
              <a:rPr lang="en-IN" dirty="0"/>
              <a:t>Service providers are responsible for bootstrapping your application.</a:t>
            </a:r>
          </a:p>
          <a:p>
            <a:r>
              <a:rPr lang="en-IN" dirty="0"/>
              <a:t>By default, Laravel includes several providers, such as </a:t>
            </a:r>
            <a:r>
              <a:rPr lang="en-IN" dirty="0" err="1"/>
              <a:t>AppServiceProvider</a:t>
            </a:r>
            <a:r>
              <a:rPr lang="en-IN" dirty="0"/>
              <a:t>, </a:t>
            </a:r>
            <a:r>
              <a:rPr lang="en-IN" dirty="0" err="1"/>
              <a:t>AuthServiceProvider</a:t>
            </a:r>
            <a:r>
              <a:rPr lang="en-IN" dirty="0"/>
              <a:t>, and </a:t>
            </a:r>
            <a:r>
              <a:rPr lang="en-IN" dirty="0" err="1"/>
              <a:t>EventServiceProvider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358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250A-A354-A2C5-54A5-E4002AEF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routes/</a:t>
            </a:r>
            <a:r>
              <a:rPr lang="en-US" dirty="0" err="1"/>
              <a:t>web.php</a:t>
            </a:r>
            <a:r>
              <a:rPr lang="en-US" dirty="0"/>
              <a:t> (opened at which link)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95D2-4CFA-F1BC-1098-828FF2CDD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In Laravel, the routes/</a:t>
            </a:r>
            <a:r>
              <a:rPr lang="en-US" sz="3600" dirty="0" err="1"/>
              <a:t>web.php</a:t>
            </a:r>
            <a:r>
              <a:rPr lang="en-US" sz="3600" dirty="0"/>
              <a:t> file is where you define routes for web interfaces of your application. </a:t>
            </a:r>
          </a:p>
          <a:p>
            <a:pPr algn="just"/>
            <a:r>
              <a:rPr lang="en-US" sz="3600" dirty="0"/>
              <a:t>These routes typically respond to requests made via a web browser and are grouped within the web middleware group, which provides features such as session handling, CSRF protection, and cookie encryption.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4057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1C3B-E86D-466F-4631-77B98C49C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Route::get('/</a:t>
            </a:r>
            <a:r>
              <a:rPr lang="en-US" dirty="0" err="1"/>
              <a:t>uri</a:t>
            </a:r>
            <a:r>
              <a:rPr lang="en-US" dirty="0"/>
              <a:t>', function () {</a:t>
            </a:r>
          </a:p>
          <a:p>
            <a:pPr marL="0" indent="0">
              <a:buNone/>
            </a:pPr>
            <a:r>
              <a:rPr lang="en-US" dirty="0"/>
              <a:t>    return 'Response';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BE8683-15A9-AE5F-B272-69EB72ACD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35520"/>
            <a:ext cx="40783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 of </a:t>
            </a:r>
            <a:r>
              <a:rPr lang="en-US" altLang="en-US" sz="3200" dirty="0" err="1">
                <a:latin typeface="Arial" panose="020B0604020202020204" pitchFamily="34" charset="0"/>
              </a:rPr>
              <a:t>web.php</a:t>
            </a:r>
            <a:r>
              <a:rPr lang="en-US" altLang="en-US" sz="32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6653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D588-44B6-A9E4-C380-3DB6AB3A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HTTP Methods: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0CD13-7F9B-6803-2BB8-A40B7BCF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GET: For retrieving data (e.g., showing a form or page).</a:t>
            </a:r>
          </a:p>
          <a:p>
            <a:r>
              <a:rPr lang="en-IN" dirty="0"/>
              <a:t>POST: For submitting data (e.g., processing forms).</a:t>
            </a:r>
          </a:p>
          <a:p>
            <a:r>
              <a:rPr lang="en-IN" dirty="0"/>
              <a:t>PUT/PATCH: For updating data.</a:t>
            </a:r>
          </a:p>
          <a:p>
            <a:r>
              <a:rPr lang="en-IN" dirty="0"/>
              <a:t>DELETE: For deleting data</a:t>
            </a:r>
          </a:p>
        </p:txBody>
      </p:sp>
    </p:spTree>
    <p:extLst>
      <p:ext uri="{BB962C8B-B14F-4D97-AF65-F5344CB8AC3E}">
        <p14:creationId xmlns:p14="http://schemas.microsoft.com/office/powerpoint/2010/main" val="4068734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D3FD-4E34-F5C0-40C3-A1D349701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Route Example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58CE9-0E94-577F-4692-3401712DB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Route::get('/', function () {</a:t>
            </a:r>
          </a:p>
          <a:p>
            <a:pPr marL="0" indent="0">
              <a:buNone/>
            </a:pPr>
            <a:r>
              <a:rPr lang="en-US" dirty="0"/>
              <a:t>    return view('welcome');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846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6F21-C869-EF0E-A18A-95C38A5D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routes/</a:t>
            </a:r>
            <a:r>
              <a:rPr lang="en-US" dirty="0" err="1"/>
              <a:t>console.php</a:t>
            </a:r>
            <a:r>
              <a:rPr lang="en-US" dirty="0"/>
              <a:t> file (</a:t>
            </a:r>
            <a:r>
              <a:rPr lang="en-IN" dirty="0"/>
              <a:t>Console commands)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ABE2E-C2EB-A99B-DD7C-43BC4FC3A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The routes/</a:t>
            </a:r>
            <a:r>
              <a:rPr lang="en-US" sz="3600" dirty="0" err="1"/>
              <a:t>console.php</a:t>
            </a:r>
            <a:r>
              <a:rPr lang="en-US" sz="3600" dirty="0"/>
              <a:t> file in Laravel is where you define all custom Artisan commands for your application. </a:t>
            </a:r>
          </a:p>
          <a:p>
            <a:pPr algn="just"/>
            <a:r>
              <a:rPr lang="en-US" sz="3600" dirty="0"/>
              <a:t>This file allows you to extend and customize the functionality of Laravel's command-line interface (CLI)/terminals.</a:t>
            </a:r>
          </a:p>
          <a:p>
            <a:pPr algn="just"/>
            <a:r>
              <a:rPr lang="en-US" sz="3600" dirty="0"/>
              <a:t>Not used directly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16772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6A42-6E01-1D3B-0BB4-41EF091D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Resources Folder (Contains Views)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D6671-5610-FE43-6549-4B5A1035B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In Laravel, views are used to separate the presentation layer from the business logic of your application. </a:t>
            </a:r>
          </a:p>
          <a:p>
            <a:pPr algn="just"/>
            <a:r>
              <a:rPr lang="en-US" sz="3200" dirty="0"/>
              <a:t>Views are typically HTML templates that are located in the resources/views directory. </a:t>
            </a:r>
          </a:p>
          <a:p>
            <a:pPr algn="just"/>
            <a:r>
              <a:rPr lang="en-US" sz="3200" dirty="0"/>
              <a:t>They allow you to display data passed from controllers or routes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834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3E9C-931D-3928-B782-6D4AA86E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view file in the resources/views directory, e.g., </a:t>
            </a:r>
            <a:r>
              <a:rPr lang="en-US" dirty="0" err="1"/>
              <a:t>welcome.blade.php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AE154-F8A3-E577-5A22-9F55DCA4C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    &lt;title&gt;Laravel&lt;/title&gt;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    &lt;h1&gt;Welcome to Laravel&lt;/h1&gt;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1126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240B9-2E4D-0535-50F1-67FA31FD3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Route::get('/', function () {</a:t>
            </a:r>
          </a:p>
          <a:p>
            <a:pPr marL="0" indent="0">
              <a:buNone/>
            </a:pPr>
            <a:r>
              <a:rPr lang="en-US" dirty="0"/>
              <a:t>    return view('welcome');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D11498-090C-1648-C524-B7C4C1DBF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73965"/>
            <a:ext cx="98555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lang="en-US" altLang="en-US" sz="4000" dirty="0">
                <a:latin typeface="Arial" panose="020B0604020202020204" pitchFamily="34" charset="0"/>
              </a:rPr>
              <a:t>the view() helper function to render it: </a:t>
            </a:r>
          </a:p>
        </p:txBody>
      </p:sp>
    </p:spTree>
    <p:extLst>
      <p:ext uri="{BB962C8B-B14F-4D97-AF65-F5344CB8AC3E}">
        <p14:creationId xmlns:p14="http://schemas.microsoft.com/office/powerpoint/2010/main" val="1810383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230C-718D-77D5-002A-4D50FED4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Passing Data to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620DA-8548-7B35-A21F-E3D537BC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Route::get('/greet', function () {</a:t>
            </a:r>
          </a:p>
          <a:p>
            <a:pPr marL="0" indent="0">
              <a:buNone/>
            </a:pPr>
            <a:r>
              <a:rPr lang="en-US" dirty="0"/>
              <a:t>    return view('greet', ['name' =&gt; 'John']);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298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5759-2D2B-CF20-7222-E08C8B53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view (</a:t>
            </a:r>
            <a:r>
              <a:rPr lang="en-US" dirty="0" err="1"/>
              <a:t>greet.blade.php</a:t>
            </a:r>
            <a:r>
              <a:rPr lang="en-US" dirty="0"/>
              <a:t>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7C07-2A2E-411A-9534-8DB4545A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&lt;h1&gt;Hello, {{ $name }}&lt;/h1&gt;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292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7963-51EA-6E91-6FA1-E2320B01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Alternative Syntax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0466E-EBDE-3BCE-115F-28E42401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view('greet')-&gt;with('name', 'John');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956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57A9-7F9A-ADD4-727B-E3A46C80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Passing multiple variables: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2710D-53AC-D74F-CE3B-8A4FE0517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return view('greet', ['name' =&gt; 'John', 'age' =&gt; 25]);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304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C7A3-3783-3A9A-3184-297D3B2D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2AA00-4AFE-1F93-43D4-8F27F49CD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551304"/>
            <a:ext cx="10581640" cy="4432935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The config folder in Laravel contains configuration files (</a:t>
            </a:r>
            <a:r>
              <a:rPr lang="en-IN" sz="3600" dirty="0"/>
              <a:t>Configuration of cache, application, authorization, login, session ) </a:t>
            </a:r>
            <a:r>
              <a:rPr lang="en-US" sz="3600" dirty="0"/>
              <a:t>for various aspects of your application. </a:t>
            </a:r>
          </a:p>
          <a:p>
            <a:pPr algn="just"/>
            <a:r>
              <a:rPr lang="en-US" sz="3600" dirty="0"/>
              <a:t>These files allow you to define settings and options that your application can use.</a:t>
            </a:r>
          </a:p>
          <a:p>
            <a:pPr algn="just"/>
            <a:r>
              <a:rPr lang="en-US" sz="3600" dirty="0"/>
              <a:t> Each configuration file corresponds to a specific feature or service, such as the database, caching, or mail services.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50141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6FC4-2CE8-27CF-E774-A52F9551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7917D-B084-7CE9-4A94-4FABA4444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27080" cy="4524375"/>
          </a:xfrm>
        </p:spPr>
        <p:txBody>
          <a:bodyPr/>
          <a:lstStyle/>
          <a:p>
            <a:r>
              <a:rPr lang="en-IN" dirty="0"/>
              <a:t>Connection with Database (Connection File) is to be made in </a:t>
            </a:r>
          </a:p>
          <a:p>
            <a:pPr marL="0" indent="0">
              <a:buNone/>
            </a:pPr>
            <a:r>
              <a:rPr lang="en-IN" dirty="0"/>
              <a:t>Config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database.php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In a Laravel project, the config/</a:t>
            </a:r>
            <a:r>
              <a:rPr lang="en-US" dirty="0" err="1"/>
              <a:t>database.php</a:t>
            </a:r>
            <a:r>
              <a:rPr lang="en-US" dirty="0"/>
              <a:t> file contains the database connection settings for the application. This file defines the database connections, including the default connection, credentials, and options for various database drivers like </a:t>
            </a:r>
            <a:r>
              <a:rPr lang="en-US" b="1" dirty="0"/>
              <a:t>MySQL, PostgreSQL, SQLite, and SQL Server.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998565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605AB-6FE9-88BB-D6DD-D49E1AA26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database folder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2FA2-3E12-64AE-C955-C28B0D2A6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 Laravel, the database folder is a directory where database-related resources, such as </a:t>
            </a:r>
            <a:r>
              <a:rPr lang="en-US" sz="3200" b="1" dirty="0"/>
              <a:t>migrations, model factories, seeders, and testing data</a:t>
            </a:r>
            <a:r>
              <a:rPr lang="en-US" sz="3200" dirty="0"/>
              <a:t>, are stored. </a:t>
            </a:r>
          </a:p>
          <a:p>
            <a:r>
              <a:rPr lang="en-US" sz="3200" dirty="0"/>
              <a:t>It is part of Laravel’s scaffolding that helps in database management and testing.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46381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93D9E-6BC9-2E8E-7FA3-843A1ED7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public folder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0566-F34E-4D6E-08AA-A3979D0F7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The public folder in Laravel serves as the entry point for your application. First file that get executed in </a:t>
            </a:r>
            <a:r>
              <a:rPr lang="en-US" sz="3200" b="1" dirty="0" err="1"/>
              <a:t>index.php</a:t>
            </a:r>
            <a:endParaRPr lang="en-US" sz="3200" b="1" dirty="0"/>
          </a:p>
          <a:p>
            <a:pPr algn="just"/>
            <a:r>
              <a:rPr lang="en-IN" sz="3200" dirty="0"/>
              <a:t>configures autoloading</a:t>
            </a:r>
            <a:endParaRPr lang="en-US" sz="3200" dirty="0"/>
          </a:p>
          <a:p>
            <a:pPr algn="just"/>
            <a:r>
              <a:rPr lang="en-US" sz="3200" dirty="0"/>
              <a:t> It is the directory where all public-facing files reside, such as assets, images, </a:t>
            </a:r>
            <a:r>
              <a:rPr lang="en-US" sz="3200" dirty="0" err="1"/>
              <a:t>Javascipt</a:t>
            </a:r>
            <a:r>
              <a:rPr lang="en-US" sz="3200" dirty="0"/>
              <a:t>, CSS and favicon icon and the primary PHP file that handles incoming requests.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66786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861E-FC4C-B07B-6B16-98C4747F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storage folder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842EC-B1B4-909B-C92C-31B0E8217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690688"/>
            <a:ext cx="10795000" cy="48021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storage folder in Laravel is used to store files generated or used by the application (pdf, xlsx).</a:t>
            </a:r>
          </a:p>
          <a:p>
            <a:pPr algn="just"/>
            <a:r>
              <a:rPr lang="en-US" sz="3200" dirty="0"/>
              <a:t> It contains subdirectories for logs (fetch the errors), cached data, file uploads, and other types of files.</a:t>
            </a:r>
          </a:p>
          <a:p>
            <a:pPr algn="just"/>
            <a:r>
              <a:rPr lang="en-US" sz="3200" dirty="0"/>
              <a:t> This folder plays a vital role in Laravel’s functionality, such as caching, file storage, and logging.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59909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5F83-EF74-B6CE-405F-DE006DAE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Tests folder- tests/ (Automated Testing)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75478-4824-DFE0-0A0B-EB02BB856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Contains </a:t>
            </a:r>
            <a:r>
              <a:rPr lang="en-IN" dirty="0" err="1"/>
              <a:t>PHPUnit</a:t>
            </a:r>
            <a:r>
              <a:rPr lang="en-IN" dirty="0"/>
              <a:t> test cases.</a:t>
            </a:r>
          </a:p>
          <a:p>
            <a:r>
              <a:rPr lang="en-IN" dirty="0"/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4219881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BED5-8E5E-B3D0-EB38-AA9848522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Composer.lock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6255-F451-BF0B-1D9E-2769BCCC1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composer.lock</a:t>
            </a:r>
            <a:r>
              <a:rPr lang="en-US" sz="3200" dirty="0"/>
              <a:t> file in Laravel (and any PHP project using Composer) is an important file that ensures consistency in your project’s dependencies. </a:t>
            </a:r>
          </a:p>
          <a:p>
            <a:r>
              <a:rPr lang="en-US" sz="3200" dirty="0"/>
              <a:t>It works alongside the </a:t>
            </a:r>
            <a:r>
              <a:rPr lang="en-US" sz="3200" dirty="0" err="1"/>
              <a:t>composer.json</a:t>
            </a:r>
            <a:r>
              <a:rPr lang="en-US" sz="3200" dirty="0"/>
              <a:t> file to manage package versions and their relationships.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48809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8028-5B24-0C85-E165-680B0977B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F000-9F95-0461-E6CD-56FA0AF6C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Views files  are present in </a:t>
            </a:r>
            <a:r>
              <a:rPr lang="en-IN" dirty="0">
                <a:sym typeface="Wingdings" panose="05000000000000000000" pitchFamily="2" charset="2"/>
              </a:rPr>
              <a:t> resources folder</a:t>
            </a:r>
          </a:p>
          <a:p>
            <a:r>
              <a:rPr lang="en-IN" dirty="0">
                <a:sym typeface="Wingdings" panose="05000000000000000000" pitchFamily="2" charset="2"/>
              </a:rPr>
              <a:t>Models are present in app folder(</a:t>
            </a:r>
            <a:r>
              <a:rPr lang="en-IN" dirty="0" err="1">
                <a:sym typeface="Wingdings" panose="05000000000000000000" pitchFamily="2" charset="2"/>
              </a:rPr>
              <a:t>User.php</a:t>
            </a:r>
            <a:r>
              <a:rPr lang="en-IN" dirty="0">
                <a:sym typeface="Wingdings" panose="05000000000000000000" pitchFamily="2" charset="2"/>
              </a:rPr>
              <a:t>)</a:t>
            </a:r>
          </a:p>
          <a:p>
            <a:r>
              <a:rPr lang="en-IN" dirty="0">
                <a:sym typeface="Wingdings" panose="05000000000000000000" pitchFamily="2" charset="2"/>
              </a:rPr>
              <a:t>Controllers are present in app  Http/Controllers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824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9796-0347-9279-9B92-BAF19F2D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sz="4900" b="1" dirty="0"/>
              <a:t>Summary of Laravel File &amp; Folder Structure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A80B1-B652-14A4-3EFE-9615D2E8B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8548" y="2202818"/>
            <a:ext cx="7414903" cy="3596952"/>
          </a:xfrm>
        </p:spPr>
      </p:pic>
    </p:spTree>
    <p:extLst>
      <p:ext uri="{BB962C8B-B14F-4D97-AF65-F5344CB8AC3E}">
        <p14:creationId xmlns:p14="http://schemas.microsoft.com/office/powerpoint/2010/main" val="1210451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F25C-3216-DA36-8393-9AA6613B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7C218-2D6D-2B89-154A-165FD744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https://www.youtube.com/watch?v=L7QxTLhsuVk&amp;ab_channel=CodeStepByStep</a:t>
            </a:r>
          </a:p>
        </p:txBody>
      </p:sp>
    </p:spTree>
    <p:extLst>
      <p:ext uri="{BB962C8B-B14F-4D97-AF65-F5344CB8AC3E}">
        <p14:creationId xmlns:p14="http://schemas.microsoft.com/office/powerpoint/2010/main" val="667144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1438</Words>
  <Application>Microsoft Office PowerPoint</Application>
  <PresentationFormat>Widescreen</PresentationFormat>
  <Paragraphs>150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Rounded MT Bold</vt:lpstr>
      <vt:lpstr>Calibri</vt:lpstr>
      <vt:lpstr>Calibri Light</vt:lpstr>
      <vt:lpstr>Wingdings</vt:lpstr>
      <vt:lpstr>Office Theme</vt:lpstr>
      <vt:lpstr>  INT 221 - MVC PROGRAMMING</vt:lpstr>
      <vt:lpstr>Directory/Application Structure</vt:lpstr>
      <vt:lpstr> Root Directory (Project Name)</vt:lpstr>
      <vt:lpstr>Directory Structure</vt:lpstr>
      <vt:lpstr>composer.json- Defines Composer dependencies </vt:lpstr>
      <vt:lpstr>composer.json file-Project Details and dependencies</vt:lpstr>
      <vt:lpstr>composer.json file-Beaware of deleting</vt:lpstr>
      <vt:lpstr>Key Sections of composer.json in Laravel</vt:lpstr>
      <vt:lpstr>description: A short description of the project.</vt:lpstr>
      <vt:lpstr>require: Lists the dependencies required for the project to work. Laravel uses specific versions of libraries.</vt:lpstr>
      <vt:lpstr>require-dev: Specifies development dependencies like testing tools.</vt:lpstr>
      <vt:lpstr>autoload: Configures the autoloading for PHP classes. Laravel primarily uses the psr-4 autoloading standard.</vt:lpstr>
      <vt:lpstr>autoload-dev: Defines autoloading for development-only files, often used for tests.</vt:lpstr>
      <vt:lpstr>Vendor</vt:lpstr>
      <vt:lpstr>Vendor folder (mentioned in composer.json  and stored in Vendor)</vt:lpstr>
      <vt:lpstr>Autoloading:</vt:lpstr>
      <vt:lpstr>Organizational Structure:</vt:lpstr>
      <vt:lpstr>App Folder</vt:lpstr>
      <vt:lpstr>App Folder in Laravel</vt:lpstr>
      <vt:lpstr>Providers</vt:lpstr>
      <vt:lpstr>routes/web.php (opened at which link)</vt:lpstr>
      <vt:lpstr>Structure of web.php </vt:lpstr>
      <vt:lpstr>Common HTTP Methods:</vt:lpstr>
      <vt:lpstr>Basic Route Example:</vt:lpstr>
      <vt:lpstr>routes/console.php file (Console commands)</vt:lpstr>
      <vt:lpstr> Resources Folder (Contains Views)</vt:lpstr>
      <vt:lpstr>Create a view file in the resources/views directory, e.g., welcome.blade.php:</vt:lpstr>
      <vt:lpstr>Use the view() helper function to render it: </vt:lpstr>
      <vt:lpstr>Passing Data to Views</vt:lpstr>
      <vt:lpstr>In the view (greet.blade.php):</vt:lpstr>
      <vt:lpstr>Alternative Syntax:</vt:lpstr>
      <vt:lpstr>Passing multiple variables:</vt:lpstr>
      <vt:lpstr>config folder</vt:lpstr>
      <vt:lpstr>Database Folder</vt:lpstr>
      <vt:lpstr>the database folder</vt:lpstr>
      <vt:lpstr>The public folder</vt:lpstr>
      <vt:lpstr>The storage folder</vt:lpstr>
      <vt:lpstr>Tests folder- tests/ (Automated Testing)</vt:lpstr>
      <vt:lpstr>Composer.lock</vt:lpstr>
      <vt:lpstr>PowerPoint Presentation</vt:lpstr>
      <vt:lpstr> Summary of Laravel File &amp; Folder Structure</vt:lpstr>
      <vt:lpstr>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Yatika hasija</dc:creator>
  <cp:lastModifiedBy>Yatika hasija</cp:lastModifiedBy>
  <cp:revision>7</cp:revision>
  <dcterms:created xsi:type="dcterms:W3CDTF">2025-01-13T04:26:47Z</dcterms:created>
  <dcterms:modified xsi:type="dcterms:W3CDTF">2025-02-21T11:26:49Z</dcterms:modified>
</cp:coreProperties>
</file>