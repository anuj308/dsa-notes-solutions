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  <p:sldId id="334" r:id="rId83"/>
    <p:sldId id="335" r:id="rId84"/>
    <p:sldId id="336" r:id="rId85"/>
    <p:sldId id="337" r:id="rId86"/>
    <p:sldId id="338" r:id="rId87"/>
    <p:sldId id="339" r:id="rId88"/>
  </p:sldIdLst>
  <p:sldSz cy="6858000" cx="12192000"/>
  <p:notesSz cx="6858000" cy="9144000"/>
  <p:embeddedFontLst>
    <p:embeddedFont>
      <p:font typeface="Roboto Mono"/>
      <p:regular r:id="rId89"/>
      <p:bold r:id="rId90"/>
      <p:italic r:id="rId91"/>
      <p:boldItalic r:id="rId92"/>
    </p:embeddedFont>
    <p:embeddedFont>
      <p:font typeface="Open Sans"/>
      <p:regular r:id="rId93"/>
      <p:bold r:id="rId94"/>
      <p:italic r:id="rId95"/>
      <p:boldItalic r:id="rId9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7" roundtripDataSignature="AMtx7mig5tboea/m8IBD7j9wVUQsQMhf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95" Type="http://schemas.openxmlformats.org/officeDocument/2006/relationships/font" Target="fonts/OpenSans-italic.fntdata"/><Relationship Id="rId94" Type="http://schemas.openxmlformats.org/officeDocument/2006/relationships/font" Target="fonts/OpenSans-bold.fntdata"/><Relationship Id="rId97" Type="http://customschemas.google.com/relationships/presentationmetadata" Target="metadata"/><Relationship Id="rId96" Type="http://schemas.openxmlformats.org/officeDocument/2006/relationships/font" Target="fonts/OpenSans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91" Type="http://schemas.openxmlformats.org/officeDocument/2006/relationships/font" Target="fonts/RobotoMono-italic.fntdata"/><Relationship Id="rId90" Type="http://schemas.openxmlformats.org/officeDocument/2006/relationships/font" Target="fonts/RobotoMono-bold.fntdata"/><Relationship Id="rId93" Type="http://schemas.openxmlformats.org/officeDocument/2006/relationships/font" Target="fonts/OpenSans-regular.fntdata"/><Relationship Id="rId92" Type="http://schemas.openxmlformats.org/officeDocument/2006/relationships/font" Target="fonts/RobotoMono-bold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8" Type="http://schemas.openxmlformats.org/officeDocument/2006/relationships/slide" Target="slides/slide84.xml"/><Relationship Id="rId87" Type="http://schemas.openxmlformats.org/officeDocument/2006/relationships/slide" Target="slides/slide83.xml"/><Relationship Id="rId89" Type="http://schemas.openxmlformats.org/officeDocument/2006/relationships/font" Target="fonts/RobotoMono-regular.fntdata"/><Relationship Id="rId80" Type="http://schemas.openxmlformats.org/officeDocument/2006/relationships/slide" Target="slides/slide76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69" Type="http://schemas.openxmlformats.org/officeDocument/2006/relationships/slide" Target="slides/slide6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9" Type="http://schemas.openxmlformats.org/officeDocument/2006/relationships/slide" Target="slides/slide55.xml"/><Relationship Id="rId58" Type="http://schemas.openxmlformats.org/officeDocument/2006/relationships/slide" Target="slides/slide5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d7929c4fa7_0_8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d7929c4fa7_0_8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d7929c4fa7_0_4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d7929c4fa7_0_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d7929c4fa7_0_4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d7929c4fa7_0_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d7929c4fa7_0_4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d7929c4fa7_0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d7929c4fa7_0_4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d7929c4fa7_0_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d7929c4fa7_0_5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d7929c4fa7_0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d7929c4fa7_0_4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d7929c4fa7_0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d7929c4fa7_0_4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d7929c4fa7_0_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d7929c4fa7_0_4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d7929c4fa7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d7929c4fa7_0_4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d7929c4fa7_0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d7929c4fa7_0_5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d7929c4fa7_0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d7929c4fa7_0_5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d7929c4fa7_0_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d7929c4fa7_0_5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d7929c4fa7_0_5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d7929c4fa7_0_5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d7929c4fa7_0_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d7929c4fa7_0_5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d7929c4fa7_0_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d7929c4fa7_0_5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d7929c4fa7_0_5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d7929c4fa7_0_5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d7929c4fa7_0_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d7929c4fa7_0_5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d7929c4fa7_0_5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d7929c4fa7_0_6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d7929c4fa7_0_6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d7929c4fa7_0_6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d7929c4fa7_0_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d7929c4fa7_0_6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d7929c4fa7_0_6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d7929c4fa7_0_6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d7929c4fa7_0_6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d7929c4fa7_0_6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d7929c4fa7_0_6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d7929c4fa7_0_6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d7929c4fa7_0_6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d7929c4fa7_0_7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d7929c4fa7_0_7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d7929c4fa7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d7929c4fa7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d7929c4fa7_0_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d7929c4fa7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d7929c4fa7_0_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d7929c4fa7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d7929c4fa7_0_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3d7929c4fa7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d7929c4fa7_0_1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d7929c4fa7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d7929c4fa7_0_1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d7929c4fa7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d7929c4fa7_0_1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3d7929c4fa7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d7929c4fa7_0_2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3d7929c4fa7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d7929c4fa7_0_2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3d7929c4fa7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d7929c4fa7_0_1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3d7929c4fa7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d7929c4fa7_0_2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3d7929c4fa7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d7929c4fa7_0_1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3d7929c4fa7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d7929c4fa7_0_1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3d7929c4fa7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d7929c4fa7_0_3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3d7929c4fa7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d7929c4fa7_0_3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d7929c4fa7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d7929c4fa7_0_1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3d7929c4fa7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d7929c4fa7_0_3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3d7929c4fa7_0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d7929c4fa7_0_1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3d7929c4fa7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d7929c4fa7_0_3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g3d7929c4fa7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d7929c4fa7_0_1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3d7929c4fa7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d7929c4fa7_0_9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3d7929c4fa7_0_9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d7929c4fa7_0_9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3d7929c4fa7_0_9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d7929c4fa7_0_2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3d7929c4fa7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3d7929c4fa7_0_2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7" name="Google Shape;667;g3d7929c4fa7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d7929c4fa7_0_3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3d7929c4fa7_0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3d7929c4fa7_0_9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" name="Google Shape;685;g3d7929c4fa7_0_9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d7929c4fa7_0_2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3" name="Google Shape;693;g3d7929c4fa7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d7929c4fa7_0_9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3d7929c4fa7_0_9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3d7929c4fa7_0_10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1" name="Google Shape;711;g3d7929c4fa7_0_10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d7929c4fa7_0_10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3d7929c4fa7_0_10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3d7929c4fa7_0_10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9" name="Google Shape;729;g3d7929c4fa7_0_10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3d7929c4fa7_0_10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8" name="Google Shape;738;g3d7929c4fa7_0_1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3d7929c4fa7_0_10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g3d7929c4fa7_0_10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3d7929c4fa7_0_2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3d7929c4fa7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3d7929c4fa7_0_2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3d7929c4fa7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3d7929c4fa7_0_4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g3d7929c4fa7_0_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3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3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3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png"/><Relationship Id="rId4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0.png"/><Relationship Id="rId4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8.png"/><Relationship Id="rId4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2.png"/><Relationship Id="rId4" Type="http://schemas.openxmlformats.org/officeDocument/2006/relationships/image" Target="../media/image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3.png"/><Relationship Id="rId4" Type="http://schemas.openxmlformats.org/officeDocument/2006/relationships/image" Target="../media/image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png"/><Relationship Id="rId4" Type="http://schemas.openxmlformats.org/officeDocument/2006/relationships/image" Target="../media/image2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0.png"/><Relationship Id="rId4" Type="http://schemas.openxmlformats.org/officeDocument/2006/relationships/image" Target="../media/image1.png"/><Relationship Id="rId5" Type="http://schemas.openxmlformats.org/officeDocument/2006/relationships/image" Target="../media/image25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7.png"/><Relationship Id="rId4" Type="http://schemas.openxmlformats.org/officeDocument/2006/relationships/image" Target="../media/image1.png"/><Relationship Id="rId5" Type="http://schemas.openxmlformats.org/officeDocument/2006/relationships/image" Target="../media/image26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8.png"/><Relationship Id="rId4" Type="http://schemas.openxmlformats.org/officeDocument/2006/relationships/image" Target="../media/image1.png"/><Relationship Id="rId5" Type="http://schemas.openxmlformats.org/officeDocument/2006/relationships/image" Target="../media/image3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4.png"/><Relationship Id="rId4" Type="http://schemas.openxmlformats.org/officeDocument/2006/relationships/image" Target="../media/image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5.png"/><Relationship Id="rId4" Type="http://schemas.openxmlformats.org/officeDocument/2006/relationships/image" Target="../media/image1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3.png"/><Relationship Id="rId4" Type="http://schemas.openxmlformats.org/officeDocument/2006/relationships/image" Target="../media/image1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2.png"/><Relationship Id="rId4" Type="http://schemas.openxmlformats.org/officeDocument/2006/relationships/image" Target="../media/image1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38.png"/><Relationship Id="rId4" Type="http://schemas.openxmlformats.org/officeDocument/2006/relationships/image" Target="../media/image1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36.png"/><Relationship Id="rId4" Type="http://schemas.openxmlformats.org/officeDocument/2006/relationships/image" Target="../media/image1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37.png"/><Relationship Id="rId4" Type="http://schemas.openxmlformats.org/officeDocument/2006/relationships/image" Target="../media/image1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39.png"/><Relationship Id="rId4" Type="http://schemas.openxmlformats.org/officeDocument/2006/relationships/image" Target="../media/image1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40.png"/><Relationship Id="rId4" Type="http://schemas.openxmlformats.org/officeDocument/2006/relationships/image" Target="../media/image1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41.png"/><Relationship Id="rId4" Type="http://schemas.openxmlformats.org/officeDocument/2006/relationships/image" Target="../media/image1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43.png"/><Relationship Id="rId4" Type="http://schemas.openxmlformats.org/officeDocument/2006/relationships/image" Target="../media/image1.png"/><Relationship Id="rId5" Type="http://schemas.openxmlformats.org/officeDocument/2006/relationships/image" Target="../media/image42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1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46.png"/><Relationship Id="rId4" Type="http://schemas.openxmlformats.org/officeDocument/2006/relationships/image" Target="../media/image1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46.png"/><Relationship Id="rId4" Type="http://schemas.openxmlformats.org/officeDocument/2006/relationships/image" Target="../media/image1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46.png"/><Relationship Id="rId4" Type="http://schemas.openxmlformats.org/officeDocument/2006/relationships/image" Target="../media/image1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46.png"/><Relationship Id="rId4" Type="http://schemas.openxmlformats.org/officeDocument/2006/relationships/image" Target="../media/image1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46.png"/><Relationship Id="rId4" Type="http://schemas.openxmlformats.org/officeDocument/2006/relationships/image" Target="../media/image1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46.png"/><Relationship Id="rId4" Type="http://schemas.openxmlformats.org/officeDocument/2006/relationships/image" Target="../media/image1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46.png"/><Relationship Id="rId4" Type="http://schemas.openxmlformats.org/officeDocument/2006/relationships/image" Target="../media/image1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48.png"/><Relationship Id="rId4" Type="http://schemas.openxmlformats.org/officeDocument/2006/relationships/image" Target="../media/image1.png"/><Relationship Id="rId5" Type="http://schemas.openxmlformats.org/officeDocument/2006/relationships/image" Target="../media/image47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What is Laravel? | Laravel News"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29133"/>
            <a:ext cx="12192000" cy="631873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3858491" y="5934670"/>
            <a:ext cx="447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48625" y="-229125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 sz="6000"/>
              <a:t>Framework?</a:t>
            </a:r>
            <a:endParaRPr b="1" sz="6000"/>
          </a:p>
        </p:txBody>
      </p:sp>
      <p:sp>
        <p:nvSpPr>
          <p:cNvPr id="93" name="Google Shape;93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n-US" sz="6000"/>
              <a:t>A web framework is a software platform that provides a </a:t>
            </a:r>
            <a:r>
              <a:rPr b="1" lang="en-US" sz="6000">
                <a:solidFill>
                  <a:srgbClr val="FF0000"/>
                </a:solidFill>
              </a:rPr>
              <a:t>structured and standardized </a:t>
            </a:r>
            <a:r>
              <a:rPr b="1" lang="en-US" sz="6000"/>
              <a:t>way to build web applications.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 sz="3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t/>
            </a:r>
            <a:endParaRPr b="1" sz="4000"/>
          </a:p>
        </p:txBody>
      </p:sp>
      <p:pic>
        <p:nvPicPr>
          <p:cNvPr id="94" name="Google Shape;9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48625" y="64200"/>
            <a:ext cx="1641650" cy="7709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 sz="6000"/>
              <a:t>Popular Web Frameworks</a:t>
            </a:r>
            <a:endParaRPr b="1" sz="6000"/>
          </a:p>
        </p:txBody>
      </p:sp>
      <p:pic>
        <p:nvPicPr>
          <p:cNvPr id="101" name="Google Shape;101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860800"/>
            <a:ext cx="10264200" cy="463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48625" y="120050"/>
            <a:ext cx="1641650" cy="77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 sz="6000"/>
              <a:t>What is MVC ?</a:t>
            </a:r>
            <a:endParaRPr b="1" sz="6000"/>
          </a:p>
        </p:txBody>
      </p:sp>
      <p:pic>
        <p:nvPicPr>
          <p:cNvPr id="109" name="Google Shape;109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2025" y="1487750"/>
            <a:ext cx="9792900" cy="513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04475" y="139675"/>
            <a:ext cx="1641650" cy="77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275" y="1154775"/>
            <a:ext cx="10666424" cy="508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04500" y="231800"/>
            <a:ext cx="1641650" cy="77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/>
          <p:nvPr>
            <p:ph type="title"/>
          </p:nvPr>
        </p:nvSpPr>
        <p:spPr>
          <a:xfrm>
            <a:off x="838200" y="365125"/>
            <a:ext cx="10515600" cy="12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 sz="6000"/>
              <a:t>Benefits of MVC</a:t>
            </a:r>
            <a:endParaRPr b="1" sz="6000"/>
          </a:p>
        </p:txBody>
      </p:sp>
      <p:pic>
        <p:nvPicPr>
          <p:cNvPr id="124" name="Google Shape;12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690700"/>
            <a:ext cx="9276250" cy="477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34650" y="175925"/>
            <a:ext cx="1641650" cy="77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 sz="6000"/>
              <a:t>Laravel</a:t>
            </a:r>
            <a:endParaRPr b="1" sz="6000"/>
          </a:p>
        </p:txBody>
      </p:sp>
      <p:sp>
        <p:nvSpPr>
          <p:cNvPr id="132" name="Google Shape;132;p9"/>
          <p:cNvSpPr txBox="1"/>
          <p:nvPr>
            <p:ph idx="1" type="body"/>
          </p:nvPr>
        </p:nvSpPr>
        <p:spPr>
          <a:xfrm>
            <a:off x="838200" y="1825625"/>
            <a:ext cx="10515600" cy="45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en-US" sz="4000"/>
              <a:t>Laravel is a PHP-based web framework for building high-end web applications using its significant and graceful syntaxes.</a:t>
            </a:r>
            <a:endParaRPr sz="4000"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4000"/>
              <a:buNone/>
            </a:pPr>
            <a:r>
              <a:rPr lang="en-US" sz="4000">
                <a:solidFill>
                  <a:srgbClr val="FF0000"/>
                </a:solidFill>
              </a:rPr>
              <a:t>Taylor Otwell </a:t>
            </a:r>
            <a:r>
              <a:rPr lang="en-US" sz="4000"/>
              <a:t>developed Laravel in July 2011, and it was released more than five years after the release of the Codeigniter framework.</a:t>
            </a:r>
            <a:endParaRPr sz="4000"/>
          </a:p>
        </p:txBody>
      </p:sp>
      <p:pic>
        <p:nvPicPr>
          <p:cNvPr id="133" name="Google Shape;133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2575" y="134025"/>
            <a:ext cx="1641650" cy="77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40" name="Google Shape;14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8894"/>
            <a:ext cx="12194041" cy="64008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04475" y="217825"/>
            <a:ext cx="1641650" cy="77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8829" y="450401"/>
            <a:ext cx="8475785" cy="5957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48625" y="203850"/>
            <a:ext cx="1641650" cy="77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 sz="6000"/>
              <a:t>Authentication</a:t>
            </a:r>
            <a:endParaRPr b="1" sz="6000"/>
          </a:p>
        </p:txBody>
      </p:sp>
      <p:sp>
        <p:nvSpPr>
          <p:cNvPr id="155" name="Google Shape;155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en-US" sz="4000"/>
              <a:t>Authentication is the most important factor in a web application, and developers need to spend a lot of time writing the authentication code. Laravel contains an </a:t>
            </a:r>
            <a:r>
              <a:rPr lang="en-US" sz="4000">
                <a:solidFill>
                  <a:srgbClr val="FF0000"/>
                </a:solidFill>
              </a:rPr>
              <a:t>inbuilt authentication system</a:t>
            </a:r>
            <a:r>
              <a:rPr lang="en-US" sz="4000"/>
              <a:t>, you only need to configure models, views, and controllers to make the application work.</a:t>
            </a:r>
            <a:endParaRPr/>
          </a:p>
          <a:p>
            <a:pPr indent="-508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56" name="Google Shape;156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48625" y="120050"/>
            <a:ext cx="1641650" cy="77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 sz="6000"/>
              <a:t>Innovative Template Engine</a:t>
            </a:r>
            <a:endParaRPr b="1" sz="6000"/>
          </a:p>
        </p:txBody>
      </p:sp>
      <p:sp>
        <p:nvSpPr>
          <p:cNvPr id="163" name="Google Shape;163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Laravel's innovative template engine, called </a:t>
            </a:r>
            <a:r>
              <a:rPr b="1" lang="en-US" sz="4000"/>
              <a:t>Blade</a:t>
            </a:r>
            <a:r>
              <a:rPr lang="en-US" sz="4000"/>
              <a:t>, is </a:t>
            </a:r>
            <a:r>
              <a:rPr lang="en-US" sz="4000">
                <a:solidFill>
                  <a:srgbClr val="FF0000"/>
                </a:solidFill>
              </a:rPr>
              <a:t>designed to simplify the process of creating and managing views (templates) in web applications</a:t>
            </a:r>
            <a:r>
              <a:rPr lang="en-US" sz="4000"/>
              <a:t>. Blade provides a clean, expressive syntax that allows developers to write views with ease while providing powerful features for dynamic content rendering.</a:t>
            </a:r>
            <a:endParaRPr sz="4000"/>
          </a:p>
        </p:txBody>
      </p:sp>
      <p:pic>
        <p:nvPicPr>
          <p:cNvPr id="164" name="Google Shape;1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76550" y="245750"/>
            <a:ext cx="1641650" cy="77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5"/>
          <p:cNvSpPr txBox="1"/>
          <p:nvPr>
            <p:ph type="title"/>
          </p:nvPr>
        </p:nvSpPr>
        <p:spPr>
          <a:xfrm>
            <a:off x="421625" y="365125"/>
            <a:ext cx="11535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 sz="6000"/>
              <a:t>Effective Object Relational Mapping</a:t>
            </a:r>
            <a:endParaRPr b="1" sz="6000"/>
          </a:p>
        </p:txBody>
      </p:sp>
      <p:sp>
        <p:nvSpPr>
          <p:cNvPr id="171" name="Google Shape;171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rPr lang="en-US" sz="4400"/>
              <a:t>When building applications, developers often use object-oriented programming languages like Python, Java, or php to represent entities and their relationships</a:t>
            </a:r>
            <a:r>
              <a:rPr b="1" lang="en-US" sz="4400">
                <a:solidFill>
                  <a:srgbClr val="FF0000"/>
                </a:solidFill>
              </a:rPr>
              <a:t>. These entities are typically classes that have attributes and methods. However, databases primarily store data in tables with rows and columns</a:t>
            </a:r>
            <a:r>
              <a:rPr lang="en-US" sz="4400"/>
              <a:t>.</a:t>
            </a:r>
            <a:endParaRPr sz="4400"/>
          </a:p>
        </p:txBody>
      </p:sp>
      <p:pic>
        <p:nvPicPr>
          <p:cNvPr id="172" name="Google Shape;1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24625" y="0"/>
            <a:ext cx="1641650" cy="77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"/>
          <p:cNvSpPr txBox="1"/>
          <p:nvPr>
            <p:ph idx="1" type="body"/>
          </p:nvPr>
        </p:nvSpPr>
        <p:spPr>
          <a:xfrm>
            <a:off x="647700" y="1140241"/>
            <a:ext cx="10896600" cy="55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</a:pPr>
            <a:r>
              <a:rPr lang="en-US" sz="4800"/>
              <a:t>ORMs provide a solution to this problem by abstracting the database interactions and mapping the objects to database tables, thereby enabling developers to work with their preferred object-oriented paradigm without worrying about the underlying database structure.</a:t>
            </a:r>
            <a:endParaRPr sz="4800"/>
          </a:p>
        </p:txBody>
      </p:sp>
      <p:sp>
        <p:nvSpPr>
          <p:cNvPr id="179" name="Google Shape;179;p1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0" name="Google Shape;1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18450" y="92125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86" name="Google Shape;186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87" name="Google Shape;18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14" y="152400"/>
            <a:ext cx="12111171" cy="655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9" name="Google Shape;18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50350" y="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"/>
          <p:cNvSpPr txBox="1"/>
          <p:nvPr>
            <p:ph idx="1" type="body"/>
          </p:nvPr>
        </p:nvSpPr>
        <p:spPr>
          <a:xfrm>
            <a:off x="623450" y="1158074"/>
            <a:ext cx="10730400" cy="50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rPr lang="en-US" sz="4400"/>
              <a:t>Laravel's support for the Model-View-Controller (MVC) architectural pattern brings several benefits to web application development. MVC is a software design pattern that </a:t>
            </a:r>
            <a:r>
              <a:rPr b="1" lang="en-US" sz="4400">
                <a:solidFill>
                  <a:srgbClr val="FF0000"/>
                </a:solidFill>
              </a:rPr>
              <a:t>separates the application logic into three interconnected components: Model, View, and Controller</a:t>
            </a:r>
            <a:r>
              <a:rPr lang="en-US" sz="4400"/>
              <a:t>. </a:t>
            </a:r>
            <a:endParaRPr sz="4400"/>
          </a:p>
        </p:txBody>
      </p:sp>
      <p:sp>
        <p:nvSpPr>
          <p:cNvPr id="195" name="Google Shape;195;p1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6" name="Google Shape;1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2575" y="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pen Sans"/>
              <a:buNone/>
            </a:pPr>
            <a:r>
              <a:rPr b="1" lang="en-US" sz="4400">
                <a:latin typeface="Open Sans"/>
                <a:ea typeface="Open Sans"/>
                <a:cs typeface="Open Sans"/>
                <a:sym typeface="Open Sans"/>
              </a:rPr>
              <a:t>Secure Migration System</a:t>
            </a:r>
            <a:endParaRPr/>
          </a:p>
        </p:txBody>
      </p:sp>
      <p:sp>
        <p:nvSpPr>
          <p:cNvPr id="202" name="Google Shape;202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rPr lang="en-US" sz="4400"/>
              <a:t>Laravel's migration system </a:t>
            </a:r>
            <a:r>
              <a:rPr b="1" lang="en-US" sz="4400">
                <a:solidFill>
                  <a:srgbClr val="FF0000"/>
                </a:solidFill>
              </a:rPr>
              <a:t>simplifies the process of managing database changes in a structured and consistent manner</a:t>
            </a:r>
            <a:r>
              <a:rPr lang="en-US" sz="4400"/>
              <a:t>. It promotes version control of the database schema and helps developers work collaboratively, ensuring the security and integrity of the application's database.</a:t>
            </a:r>
            <a:endParaRPr sz="4400"/>
          </a:p>
        </p:txBody>
      </p:sp>
      <p:sp>
        <p:nvSpPr>
          <p:cNvPr id="203" name="Google Shape;203;p2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4" name="Google Shape;2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48625" y="6420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2"/>
          <p:cNvSpPr txBox="1"/>
          <p:nvPr>
            <p:ph idx="1" type="body"/>
          </p:nvPr>
        </p:nvSpPr>
        <p:spPr>
          <a:xfrm>
            <a:off x="803575" y="1401849"/>
            <a:ext cx="10550100" cy="47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400"/>
              <a:t>Laravel seamlessly integrates with </a:t>
            </a:r>
            <a:r>
              <a:rPr b="1" lang="en-US" sz="4400">
                <a:solidFill>
                  <a:srgbClr val="FF0000"/>
                </a:solidFill>
              </a:rPr>
              <a:t>PHPUnit</a:t>
            </a:r>
            <a:r>
              <a:rPr lang="en-US" sz="4400"/>
              <a:t>, one of the most widely used and well-established testing frameworks in the PHP ecosystem. PHPUnit offers a rich set of assertion methods and testing features, making it easier to write clear and concise tests.</a:t>
            </a:r>
            <a:endParaRPr sz="4400"/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44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None/>
            </a:pPr>
            <a:r>
              <a:rPr b="1" lang="en-US" sz="4400">
                <a:solidFill>
                  <a:srgbClr val="FF0000"/>
                </a:solidFill>
              </a:rPr>
              <a:t>Laravel Dusk</a:t>
            </a:r>
            <a:r>
              <a:rPr lang="en-US" sz="4400"/>
              <a:t>, the built-in browser testing tool, provides an excellent way to perform end-to-end tests and </a:t>
            </a:r>
            <a:r>
              <a:rPr b="1" lang="en-US" sz="4400">
                <a:solidFill>
                  <a:srgbClr val="FF0000"/>
                </a:solidFill>
              </a:rPr>
              <a:t>interact with your application as a real user would</a:t>
            </a:r>
            <a:r>
              <a:rPr lang="en-US" sz="4400"/>
              <a:t>.</a:t>
            </a:r>
            <a:endParaRPr sz="4400"/>
          </a:p>
        </p:txBody>
      </p:sp>
      <p:sp>
        <p:nvSpPr>
          <p:cNvPr id="210" name="Google Shape;210;p22"/>
          <p:cNvSpPr txBox="1"/>
          <p:nvPr/>
        </p:nvSpPr>
        <p:spPr>
          <a:xfrm>
            <a:off x="1051575" y="242150"/>
            <a:ext cx="97788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 sz="6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Unique Unit Testing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2" name="Google Shape;21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20700" y="10610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5"/>
          <p:cNvSpPr txBox="1"/>
          <p:nvPr>
            <p:ph type="title"/>
          </p:nvPr>
        </p:nvSpPr>
        <p:spPr>
          <a:xfrm>
            <a:off x="838200" y="35127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 sz="6000"/>
              <a:t>Intact Security</a:t>
            </a:r>
            <a:endParaRPr b="1" sz="6000"/>
          </a:p>
        </p:txBody>
      </p:sp>
      <p:sp>
        <p:nvSpPr>
          <p:cNvPr id="218" name="Google Shape;218;p25"/>
          <p:cNvSpPr txBox="1"/>
          <p:nvPr>
            <p:ph idx="1" type="body"/>
          </p:nvPr>
        </p:nvSpPr>
        <p:spPr>
          <a:xfrm>
            <a:off x="838200" y="204729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rPr lang="en-US" sz="4400"/>
              <a:t>Laravel uses </a:t>
            </a:r>
            <a:r>
              <a:rPr b="1" lang="en-US" sz="4400">
                <a:solidFill>
                  <a:srgbClr val="FF0000"/>
                </a:solidFill>
              </a:rPr>
              <a:t>bcrypt hashing </a:t>
            </a:r>
            <a:r>
              <a:rPr lang="en-US" sz="4400"/>
              <a:t>to securely store user passwords. Bcrypt is a strong and slow hashing algorithm, making it difficult for attackers to crack passwords using brute</a:t>
            </a:r>
            <a:r>
              <a:rPr lang="en-US" sz="4400"/>
              <a:t>-force</a:t>
            </a:r>
            <a:r>
              <a:rPr lang="en-US" sz="4400"/>
              <a:t> attacks.</a:t>
            </a:r>
            <a:endParaRPr sz="4400"/>
          </a:p>
        </p:txBody>
      </p:sp>
      <p:sp>
        <p:nvSpPr>
          <p:cNvPr id="219" name="Google Shape;219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0" name="Google Shape;22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78775" y="175925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6"/>
          <p:cNvSpPr txBox="1"/>
          <p:nvPr>
            <p:ph type="title"/>
          </p:nvPr>
        </p:nvSpPr>
        <p:spPr>
          <a:xfrm>
            <a:off x="838200" y="365125"/>
            <a:ext cx="10515600" cy="10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 sz="6000"/>
              <a:t>Libraries and Modules</a:t>
            </a:r>
            <a:endParaRPr b="1" sz="6000"/>
          </a:p>
        </p:txBody>
      </p:sp>
      <p:sp>
        <p:nvSpPr>
          <p:cNvPr id="226" name="Google Shape;226;p26"/>
          <p:cNvSpPr txBox="1"/>
          <p:nvPr>
            <p:ph idx="1" type="body"/>
          </p:nvPr>
        </p:nvSpPr>
        <p:spPr>
          <a:xfrm>
            <a:off x="564800" y="1690700"/>
            <a:ext cx="10924200" cy="47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/>
              <a:t>Laravel is very </a:t>
            </a:r>
            <a:r>
              <a:rPr lang="en-US" sz="3200"/>
              <a:t>popular,</a:t>
            </a:r>
            <a:r>
              <a:rPr lang="en-US" sz="3200"/>
              <a:t> as </a:t>
            </a:r>
            <a:r>
              <a:rPr b="1" lang="en-US" sz="3200">
                <a:solidFill>
                  <a:srgbClr val="FF0000"/>
                </a:solidFill>
              </a:rPr>
              <a:t>some </a:t>
            </a:r>
            <a:r>
              <a:rPr b="1" lang="en-US" sz="3200">
                <a:solidFill>
                  <a:srgbClr val="FF0000"/>
                </a:solidFill>
              </a:rPr>
              <a:t>object-oriented</a:t>
            </a:r>
            <a:r>
              <a:rPr b="1" lang="en-US" sz="3200">
                <a:solidFill>
                  <a:srgbClr val="FF0000"/>
                </a:solidFill>
              </a:rPr>
              <a:t> </a:t>
            </a:r>
            <a:r>
              <a:rPr b="1" lang="en-US" sz="3200">
                <a:solidFill>
                  <a:srgbClr val="FF0000"/>
                </a:solidFill>
              </a:rPr>
              <a:t>libraries and</a:t>
            </a:r>
            <a:r>
              <a:rPr b="1" lang="en-US" sz="3200">
                <a:solidFill>
                  <a:srgbClr val="FF0000"/>
                </a:solidFill>
              </a:rPr>
              <a:t> pre-installed libraries are added in this </a:t>
            </a:r>
            <a:r>
              <a:rPr b="1" lang="en-US" sz="3200">
                <a:solidFill>
                  <a:srgbClr val="FF0000"/>
                </a:solidFill>
              </a:rPr>
              <a:t>framework;</a:t>
            </a:r>
            <a:r>
              <a:rPr b="1" lang="en-US" sz="3200">
                <a:solidFill>
                  <a:srgbClr val="FF0000"/>
                </a:solidFill>
              </a:rPr>
              <a:t> these pre-installed libraries are not added in other </a:t>
            </a:r>
            <a:r>
              <a:rPr b="1" lang="en-US" sz="3200">
                <a:solidFill>
                  <a:srgbClr val="FF0000"/>
                </a:solidFill>
              </a:rPr>
              <a:t>PHP</a:t>
            </a:r>
            <a:r>
              <a:rPr b="1" lang="en-US" sz="3200">
                <a:solidFill>
                  <a:srgbClr val="FF0000"/>
                </a:solidFill>
              </a:rPr>
              <a:t> frameworks</a:t>
            </a:r>
            <a:r>
              <a:rPr lang="en-US" sz="3200"/>
              <a:t>. One of the most popular libraries is an </a:t>
            </a:r>
            <a:r>
              <a:rPr b="1" lang="en-US" sz="3200">
                <a:solidFill>
                  <a:srgbClr val="FF0000"/>
                </a:solidFill>
              </a:rPr>
              <a:t>authentication library that contains some useful features such as password reset, monitoring active users, </a:t>
            </a:r>
            <a:r>
              <a:rPr b="1" lang="en-US" sz="3200">
                <a:solidFill>
                  <a:srgbClr val="FF0000"/>
                </a:solidFill>
              </a:rPr>
              <a:t>bcrypt</a:t>
            </a:r>
            <a:r>
              <a:rPr b="1" lang="en-US" sz="3200">
                <a:solidFill>
                  <a:srgbClr val="FF0000"/>
                </a:solidFill>
              </a:rPr>
              <a:t> hashing, and CSRF protection</a:t>
            </a:r>
            <a:r>
              <a:rPr lang="en-US" sz="3200"/>
              <a:t>. This framework is divided into several modules that follow the </a:t>
            </a:r>
            <a:r>
              <a:rPr lang="en-US" sz="3200"/>
              <a:t>PHP principles,</a:t>
            </a:r>
            <a:r>
              <a:rPr lang="en-US" sz="3200"/>
              <a:t> allowing the developers to build responsive and modular apps</a:t>
            </a:r>
            <a:r>
              <a:rPr lang="en-US"/>
              <a:t>.</a:t>
            </a:r>
            <a:endParaRPr/>
          </a:p>
        </p:txBody>
      </p:sp>
      <p:sp>
        <p:nvSpPr>
          <p:cNvPr id="227" name="Google Shape;227;p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8" name="Google Shape;22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48625" y="106075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 sz="6000"/>
              <a:t>Artisan</a:t>
            </a:r>
            <a:endParaRPr b="1" sz="6000"/>
          </a:p>
        </p:txBody>
      </p:sp>
      <p:sp>
        <p:nvSpPr>
          <p:cNvPr id="234" name="Google Shape;234;p27"/>
          <p:cNvSpPr txBox="1"/>
          <p:nvPr>
            <p:ph idx="1" type="body"/>
          </p:nvPr>
        </p:nvSpPr>
        <p:spPr>
          <a:xfrm>
            <a:off x="838200" y="1825624"/>
            <a:ext cx="10515600" cy="4667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/>
              <a:t>The Laravel</a:t>
            </a:r>
            <a:r>
              <a:rPr lang="en-US" sz="3600"/>
              <a:t> framework provides a built-in tool for </a:t>
            </a:r>
            <a:r>
              <a:rPr lang="en-US" sz="3600"/>
              <a:t>the command line</a:t>
            </a:r>
            <a:r>
              <a:rPr lang="en-US" sz="3600"/>
              <a:t> known as Artisan that </a:t>
            </a:r>
            <a:r>
              <a:rPr b="1" lang="en-US" sz="3600">
                <a:solidFill>
                  <a:srgbClr val="FF0000"/>
                </a:solidFill>
              </a:rPr>
              <a:t>performs the repetitive programming tasks</a:t>
            </a:r>
            <a:r>
              <a:rPr lang="en-US" sz="3600"/>
              <a:t> that do not allow the </a:t>
            </a:r>
            <a:r>
              <a:rPr lang="en-US" sz="3600"/>
              <a:t>PHP</a:t>
            </a:r>
            <a:r>
              <a:rPr lang="en-US" sz="3600"/>
              <a:t> developers to perform manually. These artisans can also be </a:t>
            </a:r>
            <a:r>
              <a:rPr b="1" lang="en-US" sz="3600">
                <a:solidFill>
                  <a:srgbClr val="FF0000"/>
                </a:solidFill>
              </a:rPr>
              <a:t>used to create the skeleton code, database structure, and </a:t>
            </a:r>
            <a:r>
              <a:rPr b="1" lang="en-US" sz="3600">
                <a:solidFill>
                  <a:srgbClr val="FF0000"/>
                </a:solidFill>
              </a:rPr>
              <a:t>its</a:t>
            </a:r>
            <a:r>
              <a:rPr b="1" lang="en-US" sz="3600">
                <a:solidFill>
                  <a:srgbClr val="FF0000"/>
                </a:solidFill>
              </a:rPr>
              <a:t> migration</a:t>
            </a:r>
            <a:r>
              <a:rPr lang="en-US" sz="3600"/>
              <a:t>, so it makes it easy to manage the database of the system. It also </a:t>
            </a:r>
            <a:r>
              <a:rPr b="1" lang="en-US" sz="3600">
                <a:solidFill>
                  <a:srgbClr val="FF0000"/>
                </a:solidFill>
              </a:rPr>
              <a:t>generates the MVC files through the command line. Artisan also allows the developers to create their own commands</a:t>
            </a:r>
            <a:r>
              <a:rPr lang="en-US" sz="3600"/>
              <a:t>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t/>
            </a:r>
            <a:endParaRPr sz="3600"/>
          </a:p>
        </p:txBody>
      </p:sp>
      <p:sp>
        <p:nvSpPr>
          <p:cNvPr id="235" name="Google Shape;235;p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6" name="Google Shape;23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20675" y="17595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d7929c4fa7_0_85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Requirements for Laravel project</a:t>
            </a:r>
            <a:endParaRPr b="1"/>
          </a:p>
        </p:txBody>
      </p:sp>
      <p:sp>
        <p:nvSpPr>
          <p:cNvPr id="242" name="Google Shape;242;g3d7929c4fa7_0_85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82600" lvl="0" marL="457200" rtl="0" algn="l">
              <a:spcBef>
                <a:spcPts val="1000"/>
              </a:spcBef>
              <a:spcAft>
                <a:spcPts val="0"/>
              </a:spcAft>
              <a:buSzPts val="4000"/>
              <a:buChar char="•"/>
            </a:pPr>
            <a:r>
              <a:rPr lang="en-US" sz="4000"/>
              <a:t>Xampp (supporting php&gt; 8.2)</a:t>
            </a:r>
            <a:endParaRPr sz="4000"/>
          </a:p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SzPts val="4000"/>
              <a:buChar char="•"/>
            </a:pPr>
            <a:r>
              <a:rPr lang="en-US" sz="4000"/>
              <a:t>Composer</a:t>
            </a:r>
            <a:endParaRPr sz="4000"/>
          </a:p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SzPts val="4000"/>
              <a:buChar char="•"/>
            </a:pPr>
            <a:r>
              <a:rPr lang="en-US" sz="4000"/>
              <a:t>VS-Code</a:t>
            </a:r>
            <a:endParaRPr sz="4000"/>
          </a:p>
        </p:txBody>
      </p:sp>
      <p:sp>
        <p:nvSpPr>
          <p:cNvPr id="243" name="Google Shape;243;g3d7929c4fa7_0_85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4" name="Google Shape;244;g3d7929c4fa7_0_8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48625" y="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d7929c4fa7_0_475"/>
          <p:cNvSpPr txBox="1"/>
          <p:nvPr>
            <p:ph type="title"/>
          </p:nvPr>
        </p:nvSpPr>
        <p:spPr>
          <a:xfrm>
            <a:off x="838200" y="222275"/>
            <a:ext cx="10515600" cy="1468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300">
                <a:latin typeface="Arial"/>
                <a:ea typeface="Arial"/>
                <a:cs typeface="Arial"/>
                <a:sym typeface="Arial"/>
              </a:rPr>
              <a:t>GO to apachefriends.org</a:t>
            </a:r>
            <a:endParaRPr sz="3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d7929c4fa7_0_47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g3d7929c4fa7_0_4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130150"/>
            <a:ext cx="10515599" cy="504667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g3d7929c4fa7_0_47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3" name="Google Shape;253;g3d7929c4fa7_0_4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76550" y="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d7929c4fa7_0_48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Arial"/>
                <a:ea typeface="Arial"/>
                <a:cs typeface="Arial"/>
                <a:sym typeface="Arial"/>
              </a:rPr>
              <a:t>Go To XAMPP for Windows</a:t>
            </a:r>
            <a:endParaRPr/>
          </a:p>
        </p:txBody>
      </p:sp>
      <p:sp>
        <p:nvSpPr>
          <p:cNvPr id="259" name="Google Shape;259;g3d7929c4fa7_0_48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g3d7929c4fa7_0_4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825625"/>
            <a:ext cx="10456850" cy="453072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g3d7929c4fa7_0_48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d7929c4fa7_0_48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Arial"/>
                <a:ea typeface="Arial"/>
                <a:cs typeface="Arial"/>
                <a:sym typeface="Arial"/>
              </a:rPr>
              <a:t>XAMPP will start downloading</a:t>
            </a:r>
            <a:endParaRPr/>
          </a:p>
        </p:txBody>
      </p:sp>
      <p:sp>
        <p:nvSpPr>
          <p:cNvPr id="267" name="Google Shape;267;g3d7929c4fa7_0_48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8" name="Google Shape;268;g3d7929c4fa7_0_4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690825"/>
            <a:ext cx="10174350" cy="49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g3d7929c4fa7_0_48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0" name="Google Shape;270;g3d7929c4fa7_0_4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04500" y="161975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9"/>
          <p:cNvSpPr txBox="1"/>
          <p:nvPr>
            <p:ph type="title"/>
          </p:nvPr>
        </p:nvSpPr>
        <p:spPr>
          <a:xfrm>
            <a:off x="638908" y="12809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 sz="6000"/>
              <a:t>Composer</a:t>
            </a:r>
            <a:endParaRPr b="1" sz="6000"/>
          </a:p>
        </p:txBody>
      </p:sp>
      <p:sp>
        <p:nvSpPr>
          <p:cNvPr id="276" name="Google Shape;276;p29"/>
          <p:cNvSpPr txBox="1"/>
          <p:nvPr>
            <p:ph idx="1" type="body"/>
          </p:nvPr>
        </p:nvSpPr>
        <p:spPr>
          <a:xfrm>
            <a:off x="406022" y="488534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For managing the </a:t>
            </a:r>
            <a:r>
              <a:rPr b="1" lang="en-US">
                <a:solidFill>
                  <a:srgbClr val="FF0000"/>
                </a:solidFill>
              </a:rPr>
              <a:t>project's dependencies</a:t>
            </a:r>
            <a:r>
              <a:rPr b="1" lang="en-US"/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Its main purpose is to simplify the process of </a:t>
            </a:r>
            <a:r>
              <a:rPr b="1" lang="en-US">
                <a:solidFill>
                  <a:srgbClr val="FF0000"/>
                </a:solidFill>
              </a:rPr>
              <a:t>including external libraries and packages</a:t>
            </a:r>
            <a:r>
              <a:rPr b="1" lang="en-US"/>
              <a:t> into your Laravel application.</a:t>
            </a:r>
            <a:endParaRPr b="1"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92843" y="1400904"/>
            <a:ext cx="2741957" cy="320039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9" name="Google Shape;279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48625" y="12810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d7929c4fa7_0_49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Arial"/>
                <a:ea typeface="Arial"/>
                <a:cs typeface="Arial"/>
                <a:sym typeface="Arial"/>
              </a:rPr>
              <a:t>Go to getcomposer.org</a:t>
            </a:r>
            <a:endParaRPr b="1"/>
          </a:p>
        </p:txBody>
      </p:sp>
      <p:pic>
        <p:nvPicPr>
          <p:cNvPr id="285" name="Google Shape;285;g3d7929c4fa7_0_4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450" y="1800225"/>
            <a:ext cx="10238100" cy="466547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g3d7929c4fa7_0_49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7" name="Google Shape;287;g3d7929c4fa7_0_4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48625" y="12810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d7929c4fa7_0_50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50">
                <a:latin typeface="Arial"/>
                <a:ea typeface="Arial"/>
                <a:cs typeface="Arial"/>
                <a:sym typeface="Arial"/>
              </a:rPr>
              <a:t>After clicking on Downloads</a:t>
            </a:r>
            <a:r>
              <a:rPr b="1" lang="en-US" sz="2950">
                <a:latin typeface="Arial"/>
                <a:ea typeface="Arial"/>
                <a:cs typeface="Arial"/>
                <a:sym typeface="Arial"/>
              </a:rPr>
              <a:t> run</a:t>
            </a:r>
            <a:r>
              <a:rPr b="1" lang="en-US" sz="2950">
                <a:latin typeface="Arial"/>
                <a:ea typeface="Arial"/>
                <a:cs typeface="Arial"/>
                <a:sym typeface="Arial"/>
              </a:rPr>
              <a:t> Composer-setup.exe file</a:t>
            </a:r>
            <a:endParaRPr b="1"/>
          </a:p>
        </p:txBody>
      </p:sp>
      <p:pic>
        <p:nvPicPr>
          <p:cNvPr id="293" name="Google Shape;293;g3d7929c4fa7_0_5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875" y="1519250"/>
            <a:ext cx="10880600" cy="473695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g3d7929c4fa7_0_50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5" name="Google Shape;295;g3d7929c4fa7_0_5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46400" y="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d7929c4fa7_0_45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Arial"/>
                <a:ea typeface="Arial"/>
                <a:cs typeface="Arial"/>
                <a:sym typeface="Arial"/>
              </a:rPr>
              <a:t>Click on Run</a:t>
            </a:r>
            <a:endParaRPr/>
          </a:p>
        </p:txBody>
      </p:sp>
      <p:pic>
        <p:nvPicPr>
          <p:cNvPr id="301" name="Google Shape;301;g3d7929c4fa7_0_4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3950" y="1479325"/>
            <a:ext cx="10369851" cy="466875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g3d7929c4fa7_0_45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3" name="Google Shape;303;g3d7929c4fa7_0_4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48625" y="12810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d7929c4fa7_0_46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300">
                <a:latin typeface="Arial"/>
                <a:ea typeface="Arial"/>
                <a:cs typeface="Arial"/>
                <a:sym typeface="Arial"/>
              </a:rPr>
              <a:t>Click on Install for all users</a:t>
            </a:r>
            <a:endParaRPr sz="3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9" name="Google Shape;309;g3d7929c4fa7_0_4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2050" y="1928825"/>
            <a:ext cx="10238125" cy="4427525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g3d7929c4fa7_0_46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11" name="Google Shape;311;g3d7929c4fa7_0_4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48625" y="12810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d7929c4fa7_0_46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Arial"/>
                <a:ea typeface="Arial"/>
                <a:cs typeface="Arial"/>
                <a:sym typeface="Arial"/>
              </a:rPr>
              <a:t>Click on Next</a:t>
            </a:r>
            <a:endParaRPr sz="3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7" name="Google Shape;317;g3d7929c4fa7_0_4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8075" y="1088250"/>
            <a:ext cx="10210176" cy="52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g3d7929c4fa7_0_46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19" name="Google Shape;319;g3d7929c4fa7_0_4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48625" y="12810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d7929c4fa7_0_47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300">
                <a:latin typeface="Arial"/>
                <a:ea typeface="Arial"/>
                <a:cs typeface="Arial"/>
                <a:sym typeface="Arial"/>
              </a:rPr>
              <a:t>Click on Check Box and click on Next </a:t>
            </a:r>
            <a:endParaRPr sz="3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5" name="Google Shape;325;g3d7929c4fa7_0_4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8075" y="1381550"/>
            <a:ext cx="10196224" cy="49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g3d7929c4fa7_0_47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27" name="Google Shape;327;g3d7929c4fa7_0_4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48625" y="12810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d7929c4fa7_0_5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300">
                <a:latin typeface="Arial"/>
                <a:ea typeface="Arial"/>
                <a:cs typeface="Arial"/>
                <a:sym typeface="Arial"/>
              </a:rPr>
              <a:t>Click on Install</a:t>
            </a:r>
            <a:endParaRPr sz="3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3" name="Google Shape;333;g3d7929c4fa7_0_5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381550"/>
            <a:ext cx="10579401" cy="4794475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g3d7929c4fa7_0_51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5" name="Google Shape;335;g3d7929c4fa7_0_5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48625" y="12810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d7929c4fa7_0_52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Arial"/>
                <a:ea typeface="Arial"/>
                <a:cs typeface="Arial"/>
                <a:sym typeface="Arial"/>
              </a:rPr>
              <a:t>Click on Next</a:t>
            </a:r>
            <a:endParaRPr/>
          </a:p>
        </p:txBody>
      </p:sp>
      <p:pic>
        <p:nvPicPr>
          <p:cNvPr id="341" name="Google Shape;341;g3d7929c4fa7_0_5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6750" y="1563150"/>
            <a:ext cx="10045800" cy="4916525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g3d7929c4fa7_0_52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43" name="Google Shape;343;g3d7929c4fa7_0_5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48625" y="12810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d7929c4fa7_0_5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300">
                <a:latin typeface="Arial"/>
                <a:ea typeface="Arial"/>
                <a:cs typeface="Arial"/>
                <a:sym typeface="Arial"/>
              </a:rPr>
              <a:t>Click Next</a:t>
            </a:r>
            <a:endParaRPr sz="3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9" name="Google Shape;349;g3d7929c4fa7_0_5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0150" y="1465375"/>
            <a:ext cx="10252075" cy="47489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g3d7929c4fa7_0_52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1" name="Google Shape;351;g3d7929c4fa7_0_5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48625" y="12810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d7929c4fa7_0_540"/>
          <p:cNvSpPr txBox="1"/>
          <p:nvPr>
            <p:ph idx="1" type="body"/>
          </p:nvPr>
        </p:nvSpPr>
        <p:spPr>
          <a:xfrm>
            <a:off x="838200" y="599375"/>
            <a:ext cx="10515600" cy="5577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Arial"/>
                <a:ea typeface="Arial"/>
                <a:cs typeface="Arial"/>
                <a:sym typeface="Arial"/>
              </a:rPr>
              <a:t>Check PHP Version</a:t>
            </a:r>
            <a:endParaRPr sz="3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 </a:t>
            </a:r>
            <a:r>
              <a:rPr lang="en-US" sz="2100">
                <a:latin typeface="Arial"/>
                <a:ea typeface="Arial"/>
                <a:cs typeface="Arial"/>
                <a:sym typeface="Arial"/>
              </a:rPr>
              <a:t>php -v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38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rPr lang="en-US" sz="3300">
                <a:latin typeface="Arial"/>
                <a:ea typeface="Arial"/>
                <a:cs typeface="Arial"/>
                <a:sym typeface="Arial"/>
              </a:rPr>
              <a:t>Check Git Version</a:t>
            </a:r>
            <a:endParaRPr sz="3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git --version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38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rPr lang="en-US" sz="3300">
                <a:latin typeface="Arial"/>
                <a:ea typeface="Arial"/>
                <a:cs typeface="Arial"/>
                <a:sym typeface="Arial"/>
              </a:rPr>
              <a:t>Check Composer Version</a:t>
            </a:r>
            <a:endParaRPr sz="3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380"/>
              <a:buFont typeface="Arial"/>
              <a:buNone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composer --version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52380"/>
              <a:buFont typeface="Arial"/>
              <a:buNone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Or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composer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38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rPr lang="en-US" sz="3300">
                <a:latin typeface="Arial"/>
                <a:ea typeface="Arial"/>
                <a:cs typeface="Arial"/>
                <a:sym typeface="Arial"/>
              </a:rPr>
              <a:t>Check Laravel version</a:t>
            </a:r>
            <a:endParaRPr sz="3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380"/>
              <a:buFont typeface="Arial"/>
              <a:buNone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laravel -v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3d7929c4fa7_0_54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8" name="Google Shape;358;g3d7929c4fa7_0_5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48625" y="12810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1"/>
          <p:cNvSpPr txBox="1"/>
          <p:nvPr>
            <p:ph type="title"/>
          </p:nvPr>
        </p:nvSpPr>
        <p:spPr>
          <a:xfrm>
            <a:off x="838200" y="31823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 sz="6000"/>
              <a:t>Installation of Laravel</a:t>
            </a:r>
            <a:endParaRPr sz="6000"/>
          </a:p>
        </p:txBody>
      </p:sp>
      <p:sp>
        <p:nvSpPr>
          <p:cNvPr id="364" name="Google Shape;364;p3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Global Installation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1- </a:t>
            </a:r>
            <a:r>
              <a:rPr b="1" lang="en-US">
                <a:solidFill>
                  <a:srgbClr val="FF0000"/>
                </a:solidFill>
              </a:rPr>
              <a:t>composer global require laravel/installer </a:t>
            </a:r>
            <a:r>
              <a:rPr lang="en-US"/>
              <a:t>(one-time command)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en-US">
                <a:solidFill>
                  <a:srgbClr val="FF0000"/>
                </a:solidFill>
              </a:rPr>
              <a:t>   </a:t>
            </a:r>
            <a:r>
              <a:rPr lang="en-US"/>
              <a:t>2-</a:t>
            </a:r>
            <a:r>
              <a:rPr b="1" lang="en-US">
                <a:solidFill>
                  <a:srgbClr val="FF0000"/>
                </a:solidFill>
              </a:rPr>
              <a:t> laravel new first-app </a:t>
            </a:r>
            <a:r>
              <a:rPr lang="en-US"/>
              <a:t>(for new app)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Per-project Installation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</a:t>
            </a:r>
            <a:r>
              <a:rPr b="1" lang="en-US">
                <a:solidFill>
                  <a:srgbClr val="FF0000"/>
                </a:solidFill>
              </a:rPr>
              <a:t>composer create-project laravel/laravel first-app </a:t>
            </a:r>
            <a:r>
              <a:rPr lang="en-US"/>
              <a:t>(every time for       new app)</a:t>
            </a:r>
            <a:endParaRPr/>
          </a:p>
        </p:txBody>
      </p:sp>
      <p:sp>
        <p:nvSpPr>
          <p:cNvPr id="365" name="Google Shape;365;p3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66" name="Google Shape;36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48625" y="12810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d7929c4fa7_0_568"/>
          <p:cNvSpPr txBox="1"/>
          <p:nvPr>
            <p:ph type="title"/>
          </p:nvPr>
        </p:nvSpPr>
        <p:spPr>
          <a:xfrm>
            <a:off x="509050" y="365125"/>
            <a:ext cx="108447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Arial"/>
                <a:ea typeface="Arial"/>
                <a:cs typeface="Arial"/>
                <a:sym typeface="Arial"/>
              </a:rPr>
              <a:t>Open the folder in VS Code and run the command </a:t>
            </a:r>
            <a:endParaRPr sz="3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rPr lang="en-US" sz="3300">
                <a:latin typeface="Arial"/>
                <a:ea typeface="Arial"/>
                <a:cs typeface="Arial"/>
                <a:sym typeface="Arial"/>
              </a:rPr>
              <a:t>(Terminal New Terminal)</a:t>
            </a:r>
            <a:endParaRPr sz="3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2" name="Google Shape;372;g3d7929c4fa7_0_5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351" y="1336125"/>
            <a:ext cx="9872874" cy="5267636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g3d7929c4fa7_0_56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74" name="Google Shape;374;g3d7929c4fa7_0_5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48625" y="12810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d7929c4fa7_0_575"/>
          <p:cNvSpPr txBox="1"/>
          <p:nvPr>
            <p:ph type="title"/>
          </p:nvPr>
        </p:nvSpPr>
        <p:spPr>
          <a:xfrm>
            <a:off x="718575" y="753025"/>
            <a:ext cx="10635300" cy="1452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rPr lang="en-US" sz="3300">
                <a:latin typeface="Arial"/>
                <a:ea typeface="Arial"/>
                <a:cs typeface="Arial"/>
                <a:sym typeface="Arial"/>
              </a:rPr>
              <a:t>Issues and solutions- When running the composer global require laravel/installer</a:t>
            </a:r>
            <a:endParaRPr sz="3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g3d7929c4fa7_0_575"/>
          <p:cNvSpPr txBox="1"/>
          <p:nvPr>
            <p:ph idx="1" type="body"/>
          </p:nvPr>
        </p:nvSpPr>
        <p:spPr>
          <a:xfrm>
            <a:off x="838200" y="2079925"/>
            <a:ext cx="10515600" cy="4097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Git installation,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modifying the php.ini file, 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or environment configuration. 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g3d7929c4fa7_0_57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82" name="Google Shape;382;g3d7929c4fa7_0_5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48625" y="12810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d7929c4fa7_0_580"/>
          <p:cNvSpPr txBox="1"/>
          <p:nvPr>
            <p:ph type="title"/>
          </p:nvPr>
        </p:nvSpPr>
        <p:spPr>
          <a:xfrm>
            <a:off x="838200" y="365125"/>
            <a:ext cx="10515600" cy="988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Arial"/>
                <a:ea typeface="Arial"/>
                <a:cs typeface="Arial"/>
                <a:sym typeface="Arial"/>
              </a:rPr>
              <a:t>Problem:</a:t>
            </a:r>
            <a:endParaRPr b="1"/>
          </a:p>
        </p:txBody>
      </p:sp>
      <p:sp>
        <p:nvSpPr>
          <p:cNvPr id="388" name="Google Shape;388;g3d7929c4fa7_0_58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191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000"/>
              <a:buChar char="●"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Composer requires Git to download dependencies (like laravel/installer) from repositories. If Git is not installed or not properly set up, you'll see errors like:bashCopy code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Failed to clone ... repository not found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Need XAMPP Latest Version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composer clear –cache on terminal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Then install composer</a:t>
            </a:r>
            <a:endParaRPr sz="3000"/>
          </a:p>
        </p:txBody>
      </p:sp>
      <p:sp>
        <p:nvSpPr>
          <p:cNvPr id="389" name="Google Shape;389;g3d7929c4fa7_0_58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90" name="Google Shape;390;g3d7929c4fa7_0_5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48625" y="12810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d7929c4fa7_0_596"/>
          <p:cNvSpPr txBox="1"/>
          <p:nvPr>
            <p:ph type="title"/>
          </p:nvPr>
        </p:nvSpPr>
        <p:spPr>
          <a:xfrm>
            <a:off x="838200" y="365125"/>
            <a:ext cx="8679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</p:txBody>
      </p:sp>
      <p:sp>
        <p:nvSpPr>
          <p:cNvPr id="396" name="Google Shape;396;g3d7929c4fa7_0_596"/>
          <p:cNvSpPr txBox="1"/>
          <p:nvPr>
            <p:ph idx="1" type="body"/>
          </p:nvPr>
        </p:nvSpPr>
        <p:spPr>
          <a:xfrm>
            <a:off x="838200" y="1507275"/>
            <a:ext cx="10515600" cy="4669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42243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3300">
                <a:latin typeface="Arial"/>
                <a:ea typeface="Arial"/>
                <a:cs typeface="Arial"/>
                <a:sym typeface="Arial"/>
              </a:rPr>
              <a:t>Verify Git Installation:</a:t>
            </a:r>
            <a:endParaRPr sz="3300">
              <a:latin typeface="Arial"/>
              <a:ea typeface="Arial"/>
              <a:cs typeface="Arial"/>
              <a:sym typeface="Arial"/>
            </a:endParaRPr>
          </a:p>
          <a:p>
            <a:pPr indent="-422433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57142"/>
              <a:buFont typeface="Arial"/>
              <a:buChar char="•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Run git --version in the terminal to check if Git is installed.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422433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57142"/>
              <a:buFont typeface="Arial"/>
              <a:buChar char="•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Install Git:On Windows: Download Git from </a:t>
            </a:r>
            <a:r>
              <a:rPr lang="en-US" sz="2100" u="sng">
                <a:solidFill>
                  <a:srgbClr val="0B4CB4"/>
                </a:solidFill>
                <a:latin typeface="Arial"/>
                <a:ea typeface="Arial"/>
                <a:cs typeface="Arial"/>
                <a:sym typeface="Arial"/>
              </a:rPr>
              <a:t>git-scm.com </a:t>
            </a:r>
            <a:r>
              <a:rPr lang="en-US" sz="2100">
                <a:latin typeface="Arial"/>
                <a:ea typeface="Arial"/>
                <a:cs typeface="Arial"/>
                <a:sym typeface="Arial"/>
              </a:rPr>
              <a:t>and follow the installation instructions.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42243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3300">
                <a:latin typeface="Arial"/>
                <a:ea typeface="Arial"/>
                <a:cs typeface="Arial"/>
                <a:sym typeface="Arial"/>
              </a:rPr>
              <a:t>Modifying php.ini File:</a:t>
            </a:r>
            <a:endParaRPr sz="3300">
              <a:latin typeface="Arial"/>
              <a:ea typeface="Arial"/>
              <a:cs typeface="Arial"/>
              <a:sym typeface="Arial"/>
            </a:endParaRPr>
          </a:p>
          <a:p>
            <a:pPr indent="-422433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57142"/>
              <a:buFont typeface="Arial"/>
              <a:buChar char="•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The php.ini file often needs to be updated, which involves removing the semicolon (;) in front of specific lines to enable extensions.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extension=zip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Remove ; from above line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g3d7929c4fa7_0_59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98" name="Google Shape;398;g3d7929c4fa7_0_5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48625" y="12810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 sz="6000"/>
              <a:t>Running a Laravel app </a:t>
            </a:r>
            <a:endParaRPr b="1" sz="6000"/>
          </a:p>
        </p:txBody>
      </p:sp>
      <p:sp>
        <p:nvSpPr>
          <p:cNvPr id="404" name="Google Shape;404;p32"/>
          <p:cNvSpPr txBox="1"/>
          <p:nvPr>
            <p:ph idx="1" type="body"/>
          </p:nvPr>
        </p:nvSpPr>
        <p:spPr>
          <a:xfrm>
            <a:off x="838200" y="173037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4000"/>
              <a:buNone/>
            </a:pPr>
            <a:r>
              <a:rPr b="1" lang="en-US" sz="4000">
                <a:solidFill>
                  <a:srgbClr val="FF0000"/>
                </a:solidFill>
              </a:rPr>
              <a:t>cd first-app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4000"/>
              <a:buNone/>
            </a:pPr>
            <a:r>
              <a:rPr b="1" lang="en-US" sz="4000">
                <a:solidFill>
                  <a:srgbClr val="FF0000"/>
                </a:solidFill>
              </a:rPr>
              <a:t>php artisan serve</a:t>
            </a:r>
            <a:endParaRPr b="1" sz="40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4000"/>
              <a:buNone/>
            </a:pPr>
            <a:r>
              <a:t/>
            </a:r>
            <a:endParaRPr b="1" sz="4000">
              <a:solidFill>
                <a:srgbClr val="FF0000"/>
              </a:solidFill>
            </a:endParaRPr>
          </a:p>
        </p:txBody>
      </p:sp>
      <p:sp>
        <p:nvSpPr>
          <p:cNvPr id="405" name="Google Shape;405;p3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06" name="Google Shape;40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48625" y="128100"/>
            <a:ext cx="1641650" cy="77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5350" y="3225250"/>
            <a:ext cx="9859275" cy="285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d7929c4fa7_0_615"/>
          <p:cNvSpPr txBox="1"/>
          <p:nvPr>
            <p:ph idx="1" type="body"/>
          </p:nvPr>
        </p:nvSpPr>
        <p:spPr>
          <a:xfrm>
            <a:off x="838200" y="899025"/>
            <a:ext cx="10515600" cy="5277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The artisan serve command in Laravel is a way to start a built-in PHP development server for your Laravel project.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This command is commonly used during local development to quickly serve your application without needing to set up a full web server like Apache.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Starts a local development server at http://127.0.0.1:8000 by default.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It allows developers to test their Laravel application locally in a browser.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Default Port Number: 8000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g3d7929c4fa7_0_61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14" name="Google Shape;414;g3d7929c4fa7_0_6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48625" y="12810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d7929c4fa7_0_63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300">
                <a:latin typeface="Arial"/>
                <a:ea typeface="Arial"/>
                <a:cs typeface="Arial"/>
                <a:sym typeface="Arial"/>
              </a:rPr>
              <a:t>Laravel Home Page</a:t>
            </a:r>
            <a:endParaRPr sz="3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g3d7929c4fa7_0_63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g3d7929c4fa7_0_63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22" name="Google Shape;422;g3d7929c4fa7_0_6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48625" y="128100"/>
            <a:ext cx="1641650" cy="77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g3d7929c4fa7_0_638" title="Screenshot 2026-03-18 at 1.46.23 PM.png"/>
          <p:cNvPicPr preferRelativeResize="0"/>
          <p:nvPr/>
        </p:nvPicPr>
        <p:blipFill rotWithShape="1">
          <a:blip r:embed="rId4">
            <a:alphaModFix/>
          </a:blip>
          <a:srcRect b="8862" l="740" r="5565" t="5595"/>
          <a:stretch/>
        </p:blipFill>
        <p:spPr>
          <a:xfrm>
            <a:off x="509050" y="1283800"/>
            <a:ext cx="11006326" cy="5574202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g3d7929c4fa7_0_638"/>
          <p:cNvSpPr txBox="1"/>
          <p:nvPr/>
        </p:nvSpPr>
        <p:spPr>
          <a:xfrm>
            <a:off x="6040150" y="1968200"/>
            <a:ext cx="572700" cy="2235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g3d7929c4fa7_0_638"/>
          <p:cNvSpPr txBox="1"/>
          <p:nvPr/>
        </p:nvSpPr>
        <p:spPr>
          <a:xfrm>
            <a:off x="5858675" y="2722425"/>
            <a:ext cx="572700" cy="22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d7929c4fa7_0_66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Arial"/>
                <a:ea typeface="Arial"/>
                <a:cs typeface="Arial"/>
                <a:sym typeface="Arial"/>
              </a:rPr>
              <a:t>Artisan</a:t>
            </a:r>
            <a:endParaRPr/>
          </a:p>
        </p:txBody>
      </p:sp>
      <p:sp>
        <p:nvSpPr>
          <p:cNvPr id="431" name="Google Shape;431;g3d7929c4fa7_0_665"/>
          <p:cNvSpPr txBox="1"/>
          <p:nvPr>
            <p:ph idx="1" type="body"/>
          </p:nvPr>
        </p:nvSpPr>
        <p:spPr>
          <a:xfrm>
            <a:off x="838200" y="1395525"/>
            <a:ext cx="10202400" cy="4846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19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Command line interface used in Laravel is called Artisan.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It includes a set of commands which assists in building a web application. 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Artisan is Laravel’s </a:t>
            </a:r>
            <a:r>
              <a:rPr b="1" lang="en-US" sz="2100">
                <a:latin typeface="Arial"/>
                <a:ea typeface="Arial"/>
                <a:cs typeface="Arial"/>
                <a:sym typeface="Arial"/>
              </a:rPr>
              <a:t>command-line interface (CLI)</a:t>
            </a:r>
            <a:r>
              <a:rPr lang="en-US" sz="2100">
                <a:latin typeface="Arial"/>
                <a:ea typeface="Arial"/>
                <a:cs typeface="Arial"/>
                <a:sym typeface="Arial"/>
              </a:rPr>
              <a:t> that provides powerful commands for automating tasks like database migrations, model generation, route listing, and caching. 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It helps developers save time by reducing manual work.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en-US" sz="3300">
                <a:latin typeface="Arial"/>
                <a:ea typeface="Arial"/>
                <a:cs typeface="Arial"/>
                <a:sym typeface="Arial"/>
              </a:rPr>
              <a:t>php artisan list</a:t>
            </a:r>
            <a:endParaRPr sz="3300">
              <a:latin typeface="Arial"/>
              <a:ea typeface="Arial"/>
              <a:cs typeface="Arial"/>
              <a:sym typeface="Arial"/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AutoNum type="alphaLcPeriod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Displaying All Artisan Commands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g3d7929c4fa7_0_66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33" name="Google Shape;433;g3d7929c4fa7_0_6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48625" y="12810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d7929c4fa7_0_655"/>
          <p:cNvSpPr txBox="1"/>
          <p:nvPr>
            <p:ph type="title"/>
          </p:nvPr>
        </p:nvSpPr>
        <p:spPr>
          <a:xfrm>
            <a:off x="838200" y="365125"/>
            <a:ext cx="10515600" cy="771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Arial"/>
                <a:ea typeface="Arial"/>
                <a:cs typeface="Arial"/>
                <a:sym typeface="Arial"/>
              </a:rPr>
              <a:t>A. Application Management</a:t>
            </a:r>
            <a:endParaRPr/>
          </a:p>
        </p:txBody>
      </p:sp>
      <p:pic>
        <p:nvPicPr>
          <p:cNvPr id="439" name="Google Shape;439;g3d7929c4fa7_0_6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775" y="1136125"/>
            <a:ext cx="7841775" cy="2145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g3d7929c4fa7_0_65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41" name="Google Shape;441;g3d7929c4fa7_0_6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48625" y="128100"/>
            <a:ext cx="1641650" cy="770925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g3d7929c4fa7_0_655"/>
          <p:cNvSpPr txBox="1"/>
          <p:nvPr/>
        </p:nvSpPr>
        <p:spPr>
          <a:xfrm>
            <a:off x="774450" y="3462700"/>
            <a:ext cx="7206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chemeClr val="dk1"/>
                </a:solidFill>
              </a:rPr>
              <a:t>B. Route Management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3" name="Google Shape;443;g3d7929c4fa7_0_6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4450" y="4336975"/>
            <a:ext cx="8031250" cy="201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d7929c4fa7_0_683"/>
          <p:cNvSpPr txBox="1"/>
          <p:nvPr>
            <p:ph type="title"/>
          </p:nvPr>
        </p:nvSpPr>
        <p:spPr>
          <a:xfrm>
            <a:off x="838200" y="128100"/>
            <a:ext cx="10515600" cy="771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Arial"/>
                <a:ea typeface="Arial"/>
                <a:cs typeface="Arial"/>
                <a:sym typeface="Arial"/>
              </a:rPr>
              <a:t>C. Model &amp; Database Commands</a:t>
            </a:r>
            <a:endParaRPr/>
          </a:p>
        </p:txBody>
      </p:sp>
      <p:pic>
        <p:nvPicPr>
          <p:cNvPr id="449" name="Google Shape;449;g3d7929c4fa7_0_6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050" y="836825"/>
            <a:ext cx="8251399" cy="33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g3d7929c4fa7_0_68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1" name="Google Shape;451;g3d7929c4fa7_0_6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48625" y="128100"/>
            <a:ext cx="1641650" cy="770925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g3d7929c4fa7_0_683"/>
          <p:cNvSpPr txBox="1"/>
          <p:nvPr/>
        </p:nvSpPr>
        <p:spPr>
          <a:xfrm>
            <a:off x="838200" y="4314725"/>
            <a:ext cx="8093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chemeClr val="dk1"/>
                </a:solidFill>
              </a:rPr>
              <a:t>D. Authentication &amp; Authorization</a:t>
            </a:r>
            <a:endParaRPr/>
          </a:p>
        </p:txBody>
      </p:sp>
      <p:pic>
        <p:nvPicPr>
          <p:cNvPr id="453" name="Google Shape;453;g3d7929c4fa7_0_6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8200" y="5007425"/>
            <a:ext cx="8637950" cy="191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d7929c4fa7_0_697"/>
          <p:cNvSpPr txBox="1"/>
          <p:nvPr>
            <p:ph type="title"/>
          </p:nvPr>
        </p:nvSpPr>
        <p:spPr>
          <a:xfrm>
            <a:off x="838200" y="128100"/>
            <a:ext cx="10515600" cy="708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Arial"/>
                <a:ea typeface="Arial"/>
                <a:cs typeface="Arial"/>
                <a:sym typeface="Arial"/>
              </a:rPr>
              <a:t>E. Caching &amp; Performance Optimization</a:t>
            </a:r>
            <a:endParaRPr/>
          </a:p>
        </p:txBody>
      </p:sp>
      <p:pic>
        <p:nvPicPr>
          <p:cNvPr id="459" name="Google Shape;459;g3d7929c4fa7_0_6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976500"/>
            <a:ext cx="9510425" cy="22704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g3d7929c4fa7_0_69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61" name="Google Shape;461;g3d7929c4fa7_0_6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48625" y="128100"/>
            <a:ext cx="1641650" cy="770925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g3d7929c4fa7_0_697"/>
          <p:cNvSpPr txBox="1"/>
          <p:nvPr/>
        </p:nvSpPr>
        <p:spPr>
          <a:xfrm>
            <a:off x="900150" y="3330800"/>
            <a:ext cx="8226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chemeClr val="dk1"/>
                </a:solidFill>
              </a:rPr>
              <a:t>F. Queues &amp; Jobs</a:t>
            </a:r>
            <a:endParaRPr/>
          </a:p>
        </p:txBody>
      </p:sp>
      <p:pic>
        <p:nvPicPr>
          <p:cNvPr id="463" name="Google Shape;463;g3d7929c4fa7_0_6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4675" y="4107325"/>
            <a:ext cx="9593949" cy="233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d7929c4fa7_0_70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300">
                <a:latin typeface="Arial"/>
                <a:ea typeface="Arial"/>
                <a:cs typeface="Arial"/>
                <a:sym typeface="Arial"/>
              </a:rPr>
              <a:t>G. Event &amp; Listener Commands</a:t>
            </a:r>
            <a:endParaRPr sz="3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9" name="Google Shape;469;g3d7929c4fa7_0_7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9825" y="1493300"/>
            <a:ext cx="9888925" cy="3994675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g3d7929c4fa7_0_70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71" name="Google Shape;471;g3d7929c4fa7_0_70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48625" y="12810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d7929c4fa7_0_32"/>
          <p:cNvSpPr txBox="1"/>
          <p:nvPr>
            <p:ph type="title"/>
          </p:nvPr>
        </p:nvSpPr>
        <p:spPr>
          <a:xfrm>
            <a:off x="439225" y="365125"/>
            <a:ext cx="9909300" cy="848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What does MVC stand for in software development?</a:t>
            </a:r>
            <a:endParaRPr sz="3200"/>
          </a:p>
        </p:txBody>
      </p:sp>
      <p:sp>
        <p:nvSpPr>
          <p:cNvPr id="477" name="Google Shape;477;g3d7929c4fa7_0_32"/>
          <p:cNvSpPr txBox="1"/>
          <p:nvPr>
            <p:ph idx="1" type="body"/>
          </p:nvPr>
        </p:nvSpPr>
        <p:spPr>
          <a:xfrm>
            <a:off x="439225" y="1104325"/>
            <a:ext cx="10914600" cy="50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a) </a:t>
            </a:r>
            <a:r>
              <a:rPr b="1" lang="en-US" sz="2600">
                <a:solidFill>
                  <a:srgbClr val="FB0007"/>
                </a:solidFill>
                <a:latin typeface="Arial"/>
                <a:ea typeface="Arial"/>
                <a:cs typeface="Arial"/>
                <a:sym typeface="Arial"/>
              </a:rPr>
              <a:t>Model-View-Controller</a:t>
            </a:r>
            <a:endParaRPr b="1" sz="2600">
              <a:solidFill>
                <a:srgbClr val="FB000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b) Most Valuable Code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c) Managed View Components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d) Modular-Visual-Creation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Arial"/>
                <a:ea typeface="Arial"/>
                <a:cs typeface="Arial"/>
                <a:sym typeface="Arial"/>
              </a:rPr>
              <a:t>Always Remember……</a:t>
            </a:r>
            <a:endParaRPr sz="3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MVC is indeed a </a:t>
            </a:r>
            <a:r>
              <a:rPr b="1" lang="en-US" sz="3000">
                <a:solidFill>
                  <a:srgbClr val="FB0007"/>
                </a:solidFill>
                <a:latin typeface="Arial"/>
                <a:ea typeface="Arial"/>
                <a:cs typeface="Arial"/>
                <a:sym typeface="Arial"/>
              </a:rPr>
              <a:t>broader design pattern 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that defines the high-level architecture of an application, emphasizing the separation of concerns. However, when implementing the MVC pattern</a:t>
            </a:r>
            <a:r>
              <a:rPr b="1" lang="en-US" sz="3000">
                <a:solidFill>
                  <a:srgbClr val="FB0007"/>
                </a:solidFill>
                <a:latin typeface="Arial"/>
                <a:ea typeface="Arial"/>
                <a:cs typeface="Arial"/>
                <a:sym typeface="Arial"/>
              </a:rPr>
              <a:t>, the actual code is organized into separate layers to achieve modularity, maintainability, and scalability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.</a:t>
            </a:r>
            <a:endParaRPr sz="3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g3d7929c4fa7_0_3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79" name="Google Shape;479;g3d7929c4fa7_0_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48625" y="12810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d7929c4fa7_0_62"/>
          <p:cNvSpPr txBox="1"/>
          <p:nvPr>
            <p:ph type="title"/>
          </p:nvPr>
        </p:nvSpPr>
        <p:spPr>
          <a:xfrm>
            <a:off x="341450" y="194325"/>
            <a:ext cx="10335900" cy="1899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985"/>
              <a:buFont typeface="Arial"/>
              <a:buNone/>
            </a:pPr>
            <a:r>
              <a:rPr lang="en-US" sz="3550">
                <a:latin typeface="Arial"/>
                <a:ea typeface="Arial"/>
                <a:cs typeface="Arial"/>
                <a:sym typeface="Arial"/>
              </a:rPr>
              <a:t>What is the primary purpose of the Model in the MVC architecture?</a:t>
            </a:r>
            <a:endParaRPr sz="35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g3d7929c4fa7_0_62"/>
          <p:cNvSpPr txBox="1"/>
          <p:nvPr>
            <p:ph idx="1" type="body"/>
          </p:nvPr>
        </p:nvSpPr>
        <p:spPr>
          <a:xfrm>
            <a:off x="453200" y="1311725"/>
            <a:ext cx="10900500" cy="48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740"/>
              <a:buFont typeface="Arial"/>
              <a:buNone/>
            </a:pPr>
            <a:r>
              <a:rPr lang="en-US" sz="2700">
                <a:latin typeface="Arial"/>
                <a:ea typeface="Arial"/>
                <a:cs typeface="Arial"/>
                <a:sym typeface="Arial"/>
              </a:rPr>
              <a:t>a) Handles user interactions and presentation logic</a:t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40740"/>
              <a:buFont typeface="Arial"/>
              <a:buNone/>
            </a:pPr>
            <a:r>
              <a:rPr lang="en-US" sz="2700">
                <a:latin typeface="Arial"/>
                <a:ea typeface="Arial"/>
                <a:cs typeface="Arial"/>
                <a:sym typeface="Arial"/>
              </a:rPr>
              <a:t>b) </a:t>
            </a:r>
            <a:r>
              <a:rPr b="1" lang="en-US" sz="2700">
                <a:solidFill>
                  <a:srgbClr val="FB0007"/>
                </a:solidFill>
                <a:latin typeface="Arial"/>
                <a:ea typeface="Arial"/>
                <a:cs typeface="Arial"/>
                <a:sym typeface="Arial"/>
              </a:rPr>
              <a:t>Represents the data and business logic of the application</a:t>
            </a:r>
            <a:endParaRPr b="1" sz="2700">
              <a:solidFill>
                <a:srgbClr val="FB000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40740"/>
              <a:buFont typeface="Arial"/>
              <a:buNone/>
            </a:pPr>
            <a:r>
              <a:rPr lang="en-US" sz="2700">
                <a:latin typeface="Arial"/>
                <a:ea typeface="Arial"/>
                <a:cs typeface="Arial"/>
                <a:sym typeface="Arial"/>
              </a:rPr>
              <a:t>c) Renders the user interface and displays data</a:t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700">
                <a:latin typeface="Arial"/>
                <a:ea typeface="Arial"/>
                <a:cs typeface="Arial"/>
                <a:sym typeface="Arial"/>
              </a:rPr>
              <a:t>d) Manages the communication between the Model and View</a:t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0">
                <a:latin typeface="Arial"/>
                <a:ea typeface="Arial"/>
                <a:cs typeface="Arial"/>
                <a:sym typeface="Arial"/>
              </a:rPr>
              <a:t>What is Laravel?</a:t>
            </a:r>
            <a:endParaRPr sz="49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Arial"/>
                <a:ea typeface="Arial"/>
                <a:cs typeface="Arial"/>
                <a:sym typeface="Arial"/>
              </a:rPr>
              <a:t>a) A programming language</a:t>
            </a:r>
            <a:endParaRPr sz="3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3300">
                <a:latin typeface="Arial"/>
                <a:ea typeface="Arial"/>
                <a:cs typeface="Arial"/>
                <a:sym typeface="Arial"/>
              </a:rPr>
              <a:t>b) A JavaScript library</a:t>
            </a:r>
            <a:endParaRPr sz="3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B0007"/>
                </a:solidFill>
                <a:latin typeface="Arial"/>
                <a:ea typeface="Arial"/>
                <a:cs typeface="Arial"/>
                <a:sym typeface="Arial"/>
              </a:rPr>
              <a:t>c) A PHP web application framework</a:t>
            </a:r>
            <a:endParaRPr b="1" sz="3300">
              <a:solidFill>
                <a:srgbClr val="FB000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rPr lang="en-US" sz="3300">
                <a:latin typeface="Arial"/>
                <a:ea typeface="Arial"/>
                <a:cs typeface="Arial"/>
                <a:sym typeface="Arial"/>
              </a:rPr>
              <a:t>d) A database management system</a:t>
            </a:r>
            <a:endParaRPr sz="49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g3d7929c4fa7_0_6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87" name="Google Shape;487;g3d7929c4fa7_0_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48625" y="12810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d7929c4fa7_0_7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4500">
                <a:latin typeface="Arial"/>
                <a:ea typeface="Arial"/>
                <a:cs typeface="Arial"/>
                <a:sym typeface="Arial"/>
              </a:rPr>
              <a:t>Do you know?</a:t>
            </a:r>
            <a:endParaRPr sz="4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g3d7929c4fa7_0_7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50">
                <a:latin typeface="Arial"/>
                <a:ea typeface="Arial"/>
                <a:cs typeface="Arial"/>
                <a:sym typeface="Arial"/>
              </a:rPr>
              <a:t>Originally, PHP stood for "</a:t>
            </a:r>
            <a:r>
              <a:rPr b="1" lang="en-US" sz="4050">
                <a:solidFill>
                  <a:srgbClr val="FB0007"/>
                </a:solidFill>
                <a:latin typeface="Arial"/>
                <a:ea typeface="Arial"/>
                <a:cs typeface="Arial"/>
                <a:sym typeface="Arial"/>
              </a:rPr>
              <a:t>Personal Home Page</a:t>
            </a:r>
            <a:r>
              <a:rPr lang="en-US" sz="4050">
                <a:latin typeface="Arial"/>
                <a:ea typeface="Arial"/>
                <a:cs typeface="Arial"/>
                <a:sym typeface="Arial"/>
              </a:rPr>
              <a:t>," as it was created to manage Rasmus Lerdorf's personal website in 1994.</a:t>
            </a:r>
            <a:endParaRPr sz="40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g3d7929c4fa7_0_7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95" name="Google Shape;495;g3d7929c4fa7_0_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48625" y="12810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d7929c4fa7_0_87"/>
          <p:cNvSpPr txBox="1"/>
          <p:nvPr>
            <p:ph type="title"/>
          </p:nvPr>
        </p:nvSpPr>
        <p:spPr>
          <a:xfrm>
            <a:off x="537000" y="365125"/>
            <a:ext cx="99168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Which command is used to create a new Laravel project using Composer?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501" name="Google Shape;501;g3d7929c4fa7_0_87"/>
          <p:cNvSpPr txBox="1"/>
          <p:nvPr>
            <p:ph idx="1" type="body"/>
          </p:nvPr>
        </p:nvSpPr>
        <p:spPr>
          <a:xfrm>
            <a:off x="537000" y="1269825"/>
            <a:ext cx="10816800" cy="4907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a) </a:t>
            </a:r>
            <a:r>
              <a:rPr b="1" lang="en-US" sz="3000">
                <a:solidFill>
                  <a:srgbClr val="FB0007"/>
                </a:solidFill>
                <a:latin typeface="Arial"/>
                <a:ea typeface="Arial"/>
                <a:cs typeface="Arial"/>
                <a:sym typeface="Arial"/>
              </a:rPr>
              <a:t>composer create-project Laravel app-name</a:t>
            </a:r>
            <a:endParaRPr b="1" sz="3000">
              <a:solidFill>
                <a:srgbClr val="FB000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b) composer new laravel/laravel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c) </a:t>
            </a:r>
            <a:r>
              <a:rPr b="1" lang="en-US" sz="3000">
                <a:solidFill>
                  <a:srgbClr val="FB0007"/>
                </a:solidFill>
                <a:latin typeface="Arial"/>
                <a:ea typeface="Arial"/>
                <a:cs typeface="Arial"/>
                <a:sym typeface="Arial"/>
              </a:rPr>
              <a:t>laravel new app-name </a:t>
            </a:r>
            <a:endParaRPr b="1" sz="3000">
              <a:solidFill>
                <a:srgbClr val="FB000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d) composer new-project laravel/laravel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t/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US" sz="4500">
                <a:latin typeface="Arial"/>
                <a:ea typeface="Arial"/>
                <a:cs typeface="Arial"/>
                <a:sym typeface="Arial"/>
              </a:rPr>
              <a:t>What is Eloquent in Laravel?</a:t>
            </a:r>
            <a:endParaRPr sz="4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a) A templating engine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b) A database management system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c) A PHP extension for performance optimization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d) </a:t>
            </a:r>
            <a:r>
              <a:rPr b="1" lang="en-US" sz="3000">
                <a:solidFill>
                  <a:srgbClr val="FB0007"/>
                </a:solidFill>
                <a:latin typeface="Arial"/>
                <a:ea typeface="Arial"/>
                <a:cs typeface="Arial"/>
                <a:sym typeface="Arial"/>
              </a:rPr>
              <a:t>An ORM (Object-Relational Mapping) for database interactions</a:t>
            </a:r>
            <a:endParaRPr/>
          </a:p>
        </p:txBody>
      </p:sp>
      <p:sp>
        <p:nvSpPr>
          <p:cNvPr id="502" name="Google Shape;502;g3d7929c4fa7_0_8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03" name="Google Shape;503;g3d7929c4fa7_0_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48625" y="12810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8" name="Google Shape;508;g3d7929c4fa7_0_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300" y="899025"/>
            <a:ext cx="10335875" cy="5891925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g3d7929c4fa7_0_10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10" name="Google Shape;510;g3d7929c4fa7_0_10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48625" y="12810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d7929c4fa7_0_15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4500">
                <a:latin typeface="Arial"/>
                <a:ea typeface="Arial"/>
                <a:cs typeface="Arial"/>
                <a:sym typeface="Arial"/>
              </a:rPr>
              <a:t>Directory Structure</a:t>
            </a:r>
            <a:endParaRPr sz="4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g3d7929c4fa7_0_153"/>
          <p:cNvSpPr txBox="1"/>
          <p:nvPr>
            <p:ph idx="1" type="body"/>
          </p:nvPr>
        </p:nvSpPr>
        <p:spPr>
          <a:xfrm>
            <a:off x="838200" y="1395525"/>
            <a:ext cx="6151800" cy="4781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r>
              <a:rPr lang="en-US" sz="3600">
                <a:latin typeface="Arial"/>
                <a:ea typeface="Arial"/>
                <a:cs typeface="Arial"/>
                <a:sym typeface="Arial"/>
              </a:rPr>
              <a:t>The default Laravel application structure is intended to provide a great starting point for both large and small applications. </a:t>
            </a:r>
            <a:r>
              <a:rPr b="1" lang="en-US" sz="3600">
                <a:solidFill>
                  <a:srgbClr val="FB0007"/>
                </a:solidFill>
                <a:latin typeface="Arial"/>
                <a:ea typeface="Arial"/>
                <a:cs typeface="Arial"/>
                <a:sym typeface="Arial"/>
              </a:rPr>
              <a:t>But you are free to organize your application however you like</a:t>
            </a:r>
            <a:r>
              <a:rPr lang="en-US" sz="3600">
                <a:latin typeface="Arial"/>
                <a:ea typeface="Arial"/>
                <a:cs typeface="Arial"/>
                <a:sym typeface="Arial"/>
              </a:rPr>
              <a:t>.</a:t>
            </a:r>
            <a:endParaRPr sz="3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17" name="Google Shape;517;g3d7929c4fa7_0_1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6622" y="69850"/>
            <a:ext cx="2193655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g3d7929c4fa7_0_15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19" name="Google Shape;519;g3d7929c4fa7_0_1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48625" y="12810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d7929c4fa7_0_16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latin typeface="Arial"/>
                <a:ea typeface="Arial"/>
                <a:cs typeface="Arial"/>
                <a:sym typeface="Arial"/>
              </a:rPr>
              <a:t>App -&gt; Http</a:t>
            </a:r>
            <a:endParaRPr sz="4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4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g3d7929c4fa7_0_163"/>
          <p:cNvSpPr txBox="1"/>
          <p:nvPr>
            <p:ph idx="1" type="body"/>
          </p:nvPr>
        </p:nvSpPr>
        <p:spPr>
          <a:xfrm>
            <a:off x="838200" y="1825625"/>
            <a:ext cx="67383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300">
                <a:latin typeface="Arial"/>
                <a:ea typeface="Arial"/>
                <a:cs typeface="Arial"/>
                <a:sym typeface="Arial"/>
              </a:rPr>
              <a:t>This directory houses the controllers, middleware, and form requests. </a:t>
            </a:r>
            <a:r>
              <a:rPr b="1" lang="en-US" sz="3300">
                <a:solidFill>
                  <a:srgbClr val="FB0007"/>
                </a:solidFill>
                <a:latin typeface="Arial"/>
                <a:ea typeface="Arial"/>
                <a:cs typeface="Arial"/>
                <a:sym typeface="Arial"/>
              </a:rPr>
              <a:t>Controllers handle HTTP requests and responses, middleware provides a way to filter incoming HTTP requests, and form requests handle form validation logic</a:t>
            </a:r>
            <a:r>
              <a:rPr lang="en-US" sz="3300">
                <a:latin typeface="Arial"/>
                <a:ea typeface="Arial"/>
                <a:cs typeface="Arial"/>
                <a:sym typeface="Arial"/>
              </a:rPr>
              <a:t>.</a:t>
            </a:r>
            <a:endParaRPr sz="3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6" name="Google Shape;526;g3d7929c4fa7_0_1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1950" y="2138975"/>
            <a:ext cx="3800475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g3d7929c4fa7_0_163"/>
          <p:cNvSpPr txBox="1"/>
          <p:nvPr/>
        </p:nvSpPr>
        <p:spPr>
          <a:xfrm>
            <a:off x="0" y="0"/>
            <a:ext cx="3000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00">
              <a:solidFill>
                <a:schemeClr val="dk1"/>
              </a:solidFill>
            </a:endParaRPr>
          </a:p>
        </p:txBody>
      </p:sp>
      <p:sp>
        <p:nvSpPr>
          <p:cNvPr id="528" name="Google Shape;528;g3d7929c4fa7_0_16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29" name="Google Shape;529;g3d7929c4fa7_0_1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48625" y="12810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d7929c4fa7_0_26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4500">
                <a:latin typeface="Arial"/>
                <a:ea typeface="Arial"/>
                <a:cs typeface="Arial"/>
                <a:sym typeface="Arial"/>
              </a:rPr>
              <a:t>App -&gt; Models</a:t>
            </a:r>
            <a:endParaRPr sz="4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g3d7929c4fa7_0_26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7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r>
              <a:rPr lang="en-US" sz="3600">
                <a:latin typeface="Arial"/>
                <a:ea typeface="Arial"/>
                <a:cs typeface="Arial"/>
                <a:sym typeface="Arial"/>
              </a:rPr>
              <a:t>In this directory, you define the </a:t>
            </a:r>
            <a:r>
              <a:rPr b="1" lang="en-US" sz="3600">
                <a:solidFill>
                  <a:srgbClr val="FB0007"/>
                </a:solidFill>
                <a:latin typeface="Arial"/>
                <a:ea typeface="Arial"/>
                <a:cs typeface="Arial"/>
                <a:sym typeface="Arial"/>
              </a:rPr>
              <a:t>Eloquent ORM models</a:t>
            </a:r>
            <a:r>
              <a:rPr lang="en-US" sz="3600">
                <a:latin typeface="Arial"/>
                <a:ea typeface="Arial"/>
                <a:cs typeface="Arial"/>
                <a:sym typeface="Arial"/>
              </a:rPr>
              <a:t>. Eloquent is Laravel's built-in ORM that allows you to interact with the database using an expressive syntax.</a:t>
            </a:r>
            <a:endParaRPr sz="3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Arial"/>
                <a:ea typeface="Arial"/>
                <a:cs typeface="Arial"/>
                <a:sym typeface="Arial"/>
              </a:rPr>
              <a:t>Providers</a:t>
            </a:r>
            <a:endParaRPr/>
          </a:p>
          <a:p>
            <a:pPr indent="-377507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US" sz="3350">
                <a:latin typeface="Arial"/>
                <a:ea typeface="Arial"/>
                <a:cs typeface="Arial"/>
                <a:sym typeface="Arial"/>
              </a:rPr>
              <a:t>Stores service provider classes.</a:t>
            </a:r>
            <a:endParaRPr sz="3350">
              <a:latin typeface="Arial"/>
              <a:ea typeface="Arial"/>
              <a:cs typeface="Arial"/>
              <a:sym typeface="Arial"/>
            </a:endParaRPr>
          </a:p>
          <a:p>
            <a:pPr indent="-37750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3350">
                <a:latin typeface="Arial"/>
                <a:ea typeface="Arial"/>
                <a:cs typeface="Arial"/>
                <a:sym typeface="Arial"/>
              </a:rPr>
              <a:t>Service providers are responsible for bootstrapping your application.</a:t>
            </a:r>
            <a:endParaRPr sz="3350">
              <a:latin typeface="Arial"/>
              <a:ea typeface="Arial"/>
              <a:cs typeface="Arial"/>
              <a:sym typeface="Arial"/>
            </a:endParaRPr>
          </a:p>
          <a:p>
            <a:pPr indent="-37750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3350">
                <a:latin typeface="Arial"/>
                <a:ea typeface="Arial"/>
                <a:cs typeface="Arial"/>
                <a:sym typeface="Arial"/>
              </a:rPr>
              <a:t>By default, Laravel includes several providers, such as AppServiceProvider, AuthServiceProvider, and EventServiceProvider.</a:t>
            </a:r>
            <a:endParaRPr sz="33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g3d7929c4fa7_0_26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37" name="Google Shape;537;g3d7929c4fa7_0_2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48625" y="12810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d7929c4fa7_0_26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4500">
                <a:latin typeface="Arial"/>
                <a:ea typeface="Arial"/>
                <a:cs typeface="Arial"/>
                <a:sym typeface="Arial"/>
              </a:rPr>
              <a:t>Do you know ?</a:t>
            </a:r>
            <a:endParaRPr sz="4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g3d7929c4fa7_0_26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latin typeface="Arial"/>
                <a:ea typeface="Arial"/>
                <a:cs typeface="Arial"/>
                <a:sym typeface="Arial"/>
              </a:rPr>
              <a:t>Laravel drew inspiration from several other frameworks, including </a:t>
            </a:r>
            <a:r>
              <a:rPr b="1" lang="en-US" sz="3600">
                <a:solidFill>
                  <a:srgbClr val="FB0007"/>
                </a:solidFill>
                <a:latin typeface="Arial"/>
                <a:ea typeface="Arial"/>
                <a:cs typeface="Arial"/>
                <a:sym typeface="Arial"/>
              </a:rPr>
              <a:t>Ruby on Rails, ASP.NET MVC, and Sinatra</a:t>
            </a:r>
            <a:r>
              <a:rPr lang="en-US" sz="3600">
                <a:latin typeface="Arial"/>
                <a:ea typeface="Arial"/>
                <a:cs typeface="Arial"/>
                <a:sym typeface="Arial"/>
              </a:rPr>
              <a:t>. It combines the best features from these frameworks and adds its own unique elements.</a:t>
            </a:r>
            <a:endParaRPr sz="3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g3d7929c4fa7_0_26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45" name="Google Shape;545;g3d7929c4fa7_0_2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48625" y="12810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d7929c4fa7_0_16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4500">
                <a:latin typeface="Arial"/>
                <a:ea typeface="Arial"/>
                <a:cs typeface="Arial"/>
                <a:sym typeface="Arial"/>
              </a:rPr>
              <a:t>The Bootstrap Directory</a:t>
            </a:r>
            <a:endParaRPr sz="4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g3d7929c4fa7_0_168"/>
          <p:cNvSpPr txBox="1"/>
          <p:nvPr>
            <p:ph idx="1" type="body"/>
          </p:nvPr>
        </p:nvSpPr>
        <p:spPr>
          <a:xfrm>
            <a:off x="838200" y="1521000"/>
            <a:ext cx="7883700" cy="465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The bootstrap directory contains files responsible for </a:t>
            </a:r>
            <a:endParaRPr sz="2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bootstrapping the Laravel application.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600"/>
              <a:buChar char="●"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app.php: This file loads the basic application configuration and </a:t>
            </a:r>
            <a:r>
              <a:rPr b="1" lang="en-US" sz="2600">
                <a:solidFill>
                  <a:srgbClr val="FB0007"/>
                </a:solidFill>
                <a:latin typeface="Arial"/>
                <a:ea typeface="Arial"/>
                <a:cs typeface="Arial"/>
                <a:sym typeface="Arial"/>
              </a:rPr>
              <a:t>creates an instance of the Laravel application</a:t>
            </a:r>
            <a:r>
              <a:rPr lang="en-US" sz="2600">
                <a:latin typeface="Arial"/>
                <a:ea typeface="Arial"/>
                <a:cs typeface="Arial"/>
                <a:sym typeface="Arial"/>
              </a:rPr>
              <a:t>.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cache: The cache directory contains compiled service container and configuration files. These files improve the </a:t>
            </a:r>
            <a:r>
              <a:rPr b="1" lang="en-US" sz="2600">
                <a:solidFill>
                  <a:srgbClr val="FB0007"/>
                </a:solidFill>
                <a:latin typeface="Arial"/>
                <a:ea typeface="Arial"/>
                <a:cs typeface="Arial"/>
                <a:sym typeface="Arial"/>
              </a:rPr>
              <a:t>application's performance by reducing the bootstrapping time</a:t>
            </a:r>
            <a:r>
              <a:rPr lang="en-US" sz="2600">
                <a:latin typeface="Arial"/>
                <a:ea typeface="Arial"/>
                <a:cs typeface="Arial"/>
                <a:sym typeface="Arial"/>
              </a:rPr>
              <a:t>.</a:t>
            </a:r>
            <a:endParaRPr sz="2600"/>
          </a:p>
        </p:txBody>
      </p:sp>
      <p:pic>
        <p:nvPicPr>
          <p:cNvPr id="552" name="Google Shape;552;g3d7929c4fa7_0_1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10600" y="2037800"/>
            <a:ext cx="3295650" cy="200025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g3d7929c4fa7_0_16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54" name="Google Shape;554;g3d7929c4fa7_0_1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48625" y="12810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d7929c4fa7_0_283"/>
          <p:cNvSpPr txBox="1"/>
          <p:nvPr>
            <p:ph type="title"/>
          </p:nvPr>
        </p:nvSpPr>
        <p:spPr>
          <a:xfrm>
            <a:off x="838200" y="365125"/>
            <a:ext cx="9392100" cy="2329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r>
              <a:rPr lang="en-US" sz="3600">
                <a:latin typeface="Arial"/>
                <a:ea typeface="Arial"/>
                <a:cs typeface="Arial"/>
                <a:sym typeface="Arial"/>
              </a:rPr>
              <a:t>In a standard Laravel project, which directory </a:t>
            </a:r>
            <a:r>
              <a:rPr lang="en-US" sz="3600">
                <a:solidFill>
                  <a:srgbClr val="FB0007"/>
                </a:solidFill>
                <a:latin typeface="Arial"/>
                <a:ea typeface="Arial"/>
                <a:cs typeface="Arial"/>
                <a:sym typeface="Arial"/>
              </a:rPr>
              <a:t>contains the main application logic and business-specific code</a:t>
            </a:r>
            <a:r>
              <a:rPr lang="en-US" sz="3600">
                <a:latin typeface="Arial"/>
                <a:ea typeface="Arial"/>
                <a:cs typeface="Arial"/>
                <a:sym typeface="Arial"/>
              </a:rPr>
              <a:t>?</a:t>
            </a:r>
            <a:endParaRPr sz="3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g3d7929c4fa7_0_283"/>
          <p:cNvSpPr txBox="1"/>
          <p:nvPr>
            <p:ph idx="1" type="body"/>
          </p:nvPr>
        </p:nvSpPr>
        <p:spPr>
          <a:xfrm>
            <a:off x="838200" y="2694625"/>
            <a:ext cx="10515600" cy="3482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latin typeface="Arial"/>
                <a:ea typeface="Arial"/>
                <a:cs typeface="Arial"/>
                <a:sym typeface="Arial"/>
              </a:rPr>
              <a:t>a) resources</a:t>
            </a:r>
            <a:endParaRPr sz="3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latin typeface="Arial"/>
                <a:ea typeface="Arial"/>
                <a:cs typeface="Arial"/>
                <a:sym typeface="Arial"/>
              </a:rPr>
              <a:t>b) public</a:t>
            </a:r>
            <a:endParaRPr sz="3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600">
                <a:solidFill>
                  <a:srgbClr val="FB0007"/>
                </a:solidFill>
                <a:latin typeface="Arial"/>
                <a:ea typeface="Arial"/>
                <a:cs typeface="Arial"/>
                <a:sym typeface="Arial"/>
              </a:rPr>
              <a:t>c) app</a:t>
            </a:r>
            <a:endParaRPr b="1" sz="3600">
              <a:solidFill>
                <a:srgbClr val="FB000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latin typeface="Arial"/>
                <a:ea typeface="Arial"/>
                <a:cs typeface="Arial"/>
                <a:sym typeface="Arial"/>
              </a:rPr>
              <a:t>d) database</a:t>
            </a:r>
            <a:endParaRPr sz="3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</p:txBody>
      </p:sp>
      <p:sp>
        <p:nvSpPr>
          <p:cNvPr id="561" name="Google Shape;561;g3d7929c4fa7_0_28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62" name="Google Shape;562;g3d7929c4fa7_0_2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48625" y="12810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d7929c4fa7_0_17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4500">
                <a:latin typeface="Arial"/>
                <a:ea typeface="Arial"/>
                <a:cs typeface="Arial"/>
                <a:sym typeface="Arial"/>
              </a:rPr>
              <a:t>Config Directory</a:t>
            </a:r>
            <a:endParaRPr sz="4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g3d7929c4fa7_0_173"/>
          <p:cNvSpPr txBox="1"/>
          <p:nvPr>
            <p:ph idx="1" type="body"/>
          </p:nvPr>
        </p:nvSpPr>
        <p:spPr>
          <a:xfrm>
            <a:off x="838200" y="1395525"/>
            <a:ext cx="7674300" cy="4781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Arial"/>
                <a:ea typeface="Arial"/>
                <a:cs typeface="Arial"/>
                <a:sym typeface="Arial"/>
              </a:rPr>
              <a:t>The config directory houses various </a:t>
            </a:r>
            <a:r>
              <a:rPr b="1" lang="en-US" sz="3300">
                <a:solidFill>
                  <a:srgbClr val="FB0007"/>
                </a:solidFill>
                <a:latin typeface="Arial"/>
                <a:ea typeface="Arial"/>
                <a:cs typeface="Arial"/>
                <a:sym typeface="Arial"/>
              </a:rPr>
              <a:t>configuration files for different components of the Laravel application</a:t>
            </a:r>
            <a:r>
              <a:rPr lang="en-US" sz="3300">
                <a:latin typeface="Arial"/>
                <a:ea typeface="Arial"/>
                <a:cs typeface="Arial"/>
                <a:sym typeface="Arial"/>
              </a:rPr>
              <a:t>. You can customize settings like database connections, application settings, cache configurations, and more from these files.</a:t>
            </a:r>
            <a:endParaRPr/>
          </a:p>
        </p:txBody>
      </p:sp>
      <p:pic>
        <p:nvPicPr>
          <p:cNvPr id="569" name="Google Shape;569;g3d7929c4fa7_0_1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86825" y="1395525"/>
            <a:ext cx="3305175" cy="5429250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g3d7929c4fa7_0_17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1" name="Google Shape;571;g3d7929c4fa7_0_1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48625" y="12810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d7929c4fa7_0_17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latin typeface="Arial"/>
                <a:ea typeface="Arial"/>
                <a:cs typeface="Arial"/>
                <a:sym typeface="Arial"/>
              </a:rPr>
              <a:t>Database Directory</a:t>
            </a:r>
            <a:endParaRPr/>
          </a:p>
        </p:txBody>
      </p:sp>
      <p:sp>
        <p:nvSpPr>
          <p:cNvPr id="577" name="Google Shape;577;g3d7929c4fa7_0_178"/>
          <p:cNvSpPr txBox="1"/>
          <p:nvPr>
            <p:ph idx="1" type="body"/>
          </p:nvPr>
        </p:nvSpPr>
        <p:spPr>
          <a:xfrm>
            <a:off x="838200" y="1825625"/>
            <a:ext cx="67803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US" sz="4500">
                <a:latin typeface="Arial"/>
                <a:ea typeface="Arial"/>
                <a:cs typeface="Arial"/>
                <a:sym typeface="Arial"/>
              </a:rPr>
              <a:t>The database directory contains </a:t>
            </a:r>
            <a:r>
              <a:rPr b="1" lang="en-US" sz="4500">
                <a:solidFill>
                  <a:srgbClr val="FB0007"/>
                </a:solidFill>
                <a:latin typeface="Arial"/>
                <a:ea typeface="Arial"/>
                <a:cs typeface="Arial"/>
                <a:sym typeface="Arial"/>
              </a:rPr>
              <a:t>database-related files</a:t>
            </a:r>
            <a:r>
              <a:rPr lang="en-US" sz="4500">
                <a:latin typeface="Arial"/>
                <a:ea typeface="Arial"/>
                <a:cs typeface="Arial"/>
                <a:sym typeface="Arial"/>
              </a:rPr>
              <a:t>, including migrations, seeds, and factories.</a:t>
            </a:r>
            <a:endParaRPr sz="4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8" name="Google Shape;578;g3d7929c4fa7_0_1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43225" y="2236113"/>
            <a:ext cx="3028950" cy="3000375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g3d7929c4fa7_0_17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80" name="Google Shape;580;g3d7929c4fa7_0_1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48625" y="12810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d7929c4fa7_0_305"/>
          <p:cNvSpPr txBox="1"/>
          <p:nvPr>
            <p:ph idx="1" type="body"/>
          </p:nvPr>
        </p:nvSpPr>
        <p:spPr>
          <a:xfrm>
            <a:off x="592875" y="320050"/>
            <a:ext cx="11034300" cy="6271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latin typeface="Arial"/>
                <a:ea typeface="Arial"/>
                <a:cs typeface="Arial"/>
                <a:sym typeface="Arial"/>
              </a:rPr>
              <a:t>Database -&gt; Factories</a:t>
            </a:r>
            <a:endParaRPr sz="44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>
                <a:latin typeface="Arial"/>
                <a:ea typeface="Arial"/>
                <a:cs typeface="Arial"/>
                <a:sym typeface="Arial"/>
              </a:rPr>
              <a:t>Factory classes are used to define data blueprints that can be </a:t>
            </a:r>
            <a:r>
              <a:rPr b="1" lang="en-US" sz="3750">
                <a:solidFill>
                  <a:srgbClr val="FB0007"/>
                </a:solidFill>
                <a:latin typeface="Arial"/>
                <a:ea typeface="Arial"/>
                <a:cs typeface="Arial"/>
                <a:sym typeface="Arial"/>
              </a:rPr>
              <a:t>used to create dummy data for testing</a:t>
            </a:r>
            <a:r>
              <a:rPr lang="en-US" sz="3750">
                <a:latin typeface="Arial"/>
                <a:ea typeface="Arial"/>
                <a:cs typeface="Arial"/>
                <a:sym typeface="Arial"/>
              </a:rPr>
              <a:t>.</a:t>
            </a:r>
            <a:endParaRPr sz="37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latin typeface="Arial"/>
                <a:ea typeface="Arial"/>
                <a:cs typeface="Arial"/>
                <a:sym typeface="Arial"/>
              </a:rPr>
              <a:t>Database -&gt; Migration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>
                <a:latin typeface="Arial"/>
                <a:ea typeface="Arial"/>
                <a:cs typeface="Arial"/>
                <a:sym typeface="Arial"/>
              </a:rPr>
              <a:t>Migrations are </a:t>
            </a:r>
            <a:r>
              <a:rPr b="1" lang="en-US" sz="3450">
                <a:solidFill>
                  <a:srgbClr val="FB0007"/>
                </a:solidFill>
                <a:latin typeface="Arial"/>
                <a:ea typeface="Arial"/>
                <a:cs typeface="Arial"/>
                <a:sym typeface="Arial"/>
              </a:rPr>
              <a:t>version control for your database</a:t>
            </a:r>
            <a:r>
              <a:rPr lang="en-US" sz="3450">
                <a:latin typeface="Arial"/>
                <a:ea typeface="Arial"/>
                <a:cs typeface="Arial"/>
                <a:sym typeface="Arial"/>
              </a:rPr>
              <a:t>. They allow you to modify the database schema and </a:t>
            </a:r>
            <a:r>
              <a:rPr b="1" lang="en-US" sz="3450">
                <a:solidFill>
                  <a:srgbClr val="FB0007"/>
                </a:solidFill>
                <a:latin typeface="Arial"/>
                <a:ea typeface="Arial"/>
                <a:cs typeface="Arial"/>
                <a:sym typeface="Arial"/>
              </a:rPr>
              <a:t>keep it in sync with your application code</a:t>
            </a:r>
            <a:r>
              <a:rPr lang="en-US" sz="3450">
                <a:latin typeface="Arial"/>
                <a:ea typeface="Arial"/>
                <a:cs typeface="Arial"/>
                <a:sym typeface="Arial"/>
              </a:rPr>
              <a:t>.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latin typeface="Arial"/>
                <a:ea typeface="Arial"/>
                <a:cs typeface="Arial"/>
                <a:sym typeface="Arial"/>
              </a:rPr>
              <a:t>Database -&gt; Seeds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>
                <a:latin typeface="Arial"/>
                <a:ea typeface="Arial"/>
                <a:cs typeface="Arial"/>
                <a:sym typeface="Arial"/>
              </a:rPr>
              <a:t>Seed classes </a:t>
            </a:r>
            <a:r>
              <a:rPr b="1" lang="en-US" sz="3450">
                <a:solidFill>
                  <a:srgbClr val="FB0007"/>
                </a:solidFill>
                <a:latin typeface="Arial"/>
                <a:ea typeface="Arial"/>
                <a:cs typeface="Arial"/>
                <a:sym typeface="Arial"/>
              </a:rPr>
              <a:t>allow you to populate your database with sample data for testing </a:t>
            </a:r>
            <a:r>
              <a:rPr lang="en-US" sz="3450">
                <a:latin typeface="Arial"/>
                <a:ea typeface="Arial"/>
                <a:cs typeface="Arial"/>
                <a:sym typeface="Arial"/>
              </a:rPr>
              <a:t>or initial setup.</a:t>
            </a:r>
            <a:endParaRPr sz="3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g3d7929c4fa7_0_30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87" name="Google Shape;587;g3d7929c4fa7_0_3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48625" y="12810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d7929c4fa7_0_32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7288"/>
              <a:buFont typeface="Arial"/>
              <a:buNone/>
            </a:pPr>
            <a:br>
              <a:rPr lang="en-US"/>
            </a:br>
            <a:r>
              <a:rPr lang="en-US" sz="2950">
                <a:latin typeface="Arial"/>
                <a:ea typeface="Arial"/>
                <a:cs typeface="Arial"/>
                <a:sym typeface="Arial"/>
              </a:rPr>
              <a:t>In Laravel, where do you define the database schema and migrations for creating and modifying database tables?</a:t>
            </a:r>
            <a:endParaRPr sz="29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g3d7929c4fa7_0_32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a) resources/views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b) app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rgbClr val="FB0007"/>
                </a:solidFill>
                <a:latin typeface="Arial"/>
                <a:ea typeface="Arial"/>
                <a:cs typeface="Arial"/>
                <a:sym typeface="Arial"/>
              </a:rPr>
              <a:t>c) database/migrations</a:t>
            </a:r>
            <a:endParaRPr b="1" sz="3000">
              <a:solidFill>
                <a:srgbClr val="FB000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d) config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g3d7929c4fa7_0_3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95" name="Google Shape;595;g3d7929c4fa7_0_3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48625" y="12810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d7929c4fa7_0_183"/>
          <p:cNvSpPr txBox="1"/>
          <p:nvPr>
            <p:ph type="title"/>
          </p:nvPr>
        </p:nvSpPr>
        <p:spPr>
          <a:xfrm>
            <a:off x="838200" y="128100"/>
            <a:ext cx="10515600" cy="848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latin typeface="Arial"/>
                <a:ea typeface="Arial"/>
                <a:cs typeface="Arial"/>
                <a:sym typeface="Arial"/>
              </a:rPr>
              <a:t>Public Directory</a:t>
            </a:r>
            <a:endParaRPr/>
          </a:p>
        </p:txBody>
      </p:sp>
      <p:sp>
        <p:nvSpPr>
          <p:cNvPr id="601" name="Google Shape;601;g3d7929c4fa7_0_183"/>
          <p:cNvSpPr txBox="1"/>
          <p:nvPr>
            <p:ph idx="1" type="body"/>
          </p:nvPr>
        </p:nvSpPr>
        <p:spPr>
          <a:xfrm>
            <a:off x="117975" y="1130150"/>
            <a:ext cx="8617800" cy="543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5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Font typeface="Arial"/>
              <a:buChar char="•"/>
            </a:pPr>
            <a:r>
              <a:rPr lang="en-US" sz="3100">
                <a:latin typeface="Arial"/>
                <a:ea typeface="Arial"/>
                <a:cs typeface="Arial"/>
                <a:sym typeface="Arial"/>
              </a:rPr>
              <a:t>The public directory is the web server's document root. It </a:t>
            </a:r>
            <a:r>
              <a:rPr b="1" lang="en-US" sz="3100">
                <a:solidFill>
                  <a:srgbClr val="FB0007"/>
                </a:solidFill>
                <a:latin typeface="Arial"/>
                <a:ea typeface="Arial"/>
                <a:cs typeface="Arial"/>
                <a:sym typeface="Arial"/>
              </a:rPr>
              <a:t>contains the index.php file, which is the entry point for all HTTP requests</a:t>
            </a:r>
            <a:r>
              <a:rPr lang="en-US" sz="3100">
                <a:latin typeface="Arial"/>
                <a:ea typeface="Arial"/>
                <a:cs typeface="Arial"/>
                <a:sym typeface="Arial"/>
              </a:rPr>
              <a:t>.  </a:t>
            </a:r>
            <a:endParaRPr sz="3100">
              <a:latin typeface="Arial"/>
              <a:ea typeface="Arial"/>
              <a:cs typeface="Arial"/>
              <a:sym typeface="Arial"/>
            </a:endParaRPr>
          </a:p>
          <a:p>
            <a:pPr indent="-425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Font typeface="Arial"/>
              <a:buChar char="•"/>
            </a:pPr>
            <a:r>
              <a:rPr lang="en-US" sz="3100">
                <a:latin typeface="Arial"/>
                <a:ea typeface="Arial"/>
                <a:cs typeface="Arial"/>
                <a:sym typeface="Arial"/>
              </a:rPr>
              <a:t>configures autoloading</a:t>
            </a:r>
            <a:endParaRPr sz="3100">
              <a:latin typeface="Arial"/>
              <a:ea typeface="Arial"/>
              <a:cs typeface="Arial"/>
              <a:sym typeface="Arial"/>
            </a:endParaRPr>
          </a:p>
          <a:p>
            <a:pPr indent="-425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Font typeface="Arial"/>
              <a:buChar char="•"/>
            </a:pPr>
            <a:r>
              <a:rPr lang="en-US" sz="3100">
                <a:latin typeface="Arial"/>
                <a:ea typeface="Arial"/>
                <a:cs typeface="Arial"/>
                <a:sym typeface="Arial"/>
              </a:rPr>
              <a:t>It is the directory where all public-facing files reside, such as assets, images, Javascipt, CSS and favicon icon and the primary PHP file that handles incoming requests.</a:t>
            </a:r>
            <a:endParaRPr sz="3100"/>
          </a:p>
        </p:txBody>
      </p:sp>
      <p:pic>
        <p:nvPicPr>
          <p:cNvPr id="602" name="Google Shape;602;g3d7929c4fa7_0_1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53500" y="2073563"/>
            <a:ext cx="3238500" cy="2409825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g3d7929c4fa7_0_18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04" name="Google Shape;604;g3d7929c4fa7_0_1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48625" y="12810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d7929c4fa7_0_347"/>
          <p:cNvSpPr txBox="1"/>
          <p:nvPr>
            <p:ph type="title"/>
          </p:nvPr>
        </p:nvSpPr>
        <p:spPr>
          <a:xfrm>
            <a:off x="838200" y="365125"/>
            <a:ext cx="9434100" cy="988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7288"/>
              <a:buFont typeface="Arial"/>
              <a:buNone/>
            </a:pPr>
            <a:r>
              <a:rPr lang="en-US" sz="2950">
                <a:latin typeface="Arial"/>
                <a:ea typeface="Arial"/>
                <a:cs typeface="Arial"/>
                <a:sym typeface="Arial"/>
              </a:rPr>
              <a:t>Which directory is </a:t>
            </a:r>
            <a:r>
              <a:rPr lang="en-US" sz="2950">
                <a:solidFill>
                  <a:srgbClr val="FB0007"/>
                </a:solidFill>
                <a:latin typeface="Arial"/>
                <a:ea typeface="Arial"/>
                <a:cs typeface="Arial"/>
                <a:sym typeface="Arial"/>
              </a:rPr>
              <a:t>used for storing publicly accessible assets such as images, stylesheets, and JavaScript files</a:t>
            </a:r>
            <a:r>
              <a:rPr lang="en-US" sz="2950">
                <a:latin typeface="Arial"/>
                <a:ea typeface="Arial"/>
                <a:cs typeface="Arial"/>
                <a:sym typeface="Arial"/>
              </a:rPr>
              <a:t>?</a:t>
            </a:r>
            <a:endParaRPr sz="29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g3d7929c4fa7_0_347"/>
          <p:cNvSpPr txBox="1"/>
          <p:nvPr>
            <p:ph idx="1" type="body"/>
          </p:nvPr>
        </p:nvSpPr>
        <p:spPr>
          <a:xfrm>
            <a:off x="838200" y="1199975"/>
            <a:ext cx="10515600" cy="4976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latin typeface="Arial"/>
                <a:ea typeface="Arial"/>
                <a:cs typeface="Arial"/>
                <a:sym typeface="Arial"/>
              </a:rPr>
              <a:t>a) resources</a:t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latin typeface="Arial"/>
                <a:ea typeface="Arial"/>
                <a:cs typeface="Arial"/>
                <a:sym typeface="Arial"/>
              </a:rPr>
              <a:t>b) </a:t>
            </a:r>
            <a:r>
              <a:rPr b="1" lang="en-US" sz="2700">
                <a:solidFill>
                  <a:srgbClr val="FB0007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endParaRPr b="1" sz="2700">
              <a:solidFill>
                <a:srgbClr val="FB000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latin typeface="Arial"/>
                <a:ea typeface="Arial"/>
                <a:cs typeface="Arial"/>
                <a:sym typeface="Arial"/>
              </a:rPr>
              <a:t>c) storage</a:t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latin typeface="Arial"/>
                <a:ea typeface="Arial"/>
                <a:cs typeface="Arial"/>
                <a:sym typeface="Arial"/>
              </a:rPr>
              <a:t>d) app</a:t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g3d7929c4fa7_0_34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12" name="Google Shape;612;g3d7929c4fa7_0_3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48625" y="12810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d7929c4fa7_0_18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latin typeface="Arial"/>
                <a:ea typeface="Arial"/>
                <a:cs typeface="Arial"/>
                <a:sym typeface="Arial"/>
              </a:rPr>
              <a:t>Resource Directory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g3d7929c4fa7_0_188"/>
          <p:cNvSpPr txBox="1"/>
          <p:nvPr>
            <p:ph idx="1" type="body"/>
          </p:nvPr>
        </p:nvSpPr>
        <p:spPr>
          <a:xfrm>
            <a:off x="229700" y="1227925"/>
            <a:ext cx="11475300" cy="533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500">
                <a:latin typeface="Arial"/>
                <a:ea typeface="Arial"/>
                <a:cs typeface="Arial"/>
                <a:sym typeface="Arial"/>
              </a:rPr>
              <a:t>he resources directory contains the views, language files, and assets (CSS, JavaScript, and images) for the application.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500"/>
              <a:buChar char="●"/>
            </a:pP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Views</a:t>
            </a:r>
            <a:r>
              <a:rPr lang="en-US" sz="2500">
                <a:latin typeface="Arial"/>
                <a:ea typeface="Arial"/>
                <a:cs typeface="Arial"/>
                <a:sym typeface="Arial"/>
              </a:rPr>
              <a:t>: The views directory </a:t>
            </a:r>
            <a:r>
              <a:rPr b="1" lang="en-US" sz="2500">
                <a:solidFill>
                  <a:srgbClr val="FB0007"/>
                </a:solidFill>
                <a:latin typeface="Arial"/>
                <a:ea typeface="Arial"/>
                <a:cs typeface="Arial"/>
                <a:sym typeface="Arial"/>
              </a:rPr>
              <a:t>stores Blade templates </a:t>
            </a:r>
            <a:r>
              <a:rPr lang="en-US" sz="2500">
                <a:latin typeface="Arial"/>
                <a:ea typeface="Arial"/>
                <a:cs typeface="Arial"/>
                <a:sym typeface="Arial"/>
              </a:rPr>
              <a:t>that define the UI of the application.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Lang</a:t>
            </a:r>
            <a:r>
              <a:rPr lang="en-US" sz="2500">
                <a:latin typeface="Arial"/>
                <a:ea typeface="Arial"/>
                <a:cs typeface="Arial"/>
                <a:sym typeface="Arial"/>
              </a:rPr>
              <a:t>: The lang directory </a:t>
            </a:r>
            <a:r>
              <a:rPr b="1" lang="en-US" sz="2500">
                <a:solidFill>
                  <a:srgbClr val="FB0007"/>
                </a:solidFill>
                <a:latin typeface="Arial"/>
                <a:ea typeface="Arial"/>
                <a:cs typeface="Arial"/>
                <a:sym typeface="Arial"/>
              </a:rPr>
              <a:t>holds language files for localization</a:t>
            </a:r>
            <a:r>
              <a:rPr lang="en-US" sz="2500">
                <a:latin typeface="Arial"/>
                <a:ea typeface="Arial"/>
                <a:cs typeface="Arial"/>
                <a:sym typeface="Arial"/>
              </a:rPr>
              <a:t> and internationalization purposes.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Assets</a:t>
            </a:r>
            <a:r>
              <a:rPr lang="en-US" sz="2500">
                <a:latin typeface="Arial"/>
                <a:ea typeface="Arial"/>
                <a:cs typeface="Arial"/>
                <a:sym typeface="Arial"/>
              </a:rPr>
              <a:t>: The assets directory </a:t>
            </a:r>
            <a:r>
              <a:rPr b="1" lang="en-US" sz="2500">
                <a:solidFill>
                  <a:srgbClr val="FB0007"/>
                </a:solidFill>
                <a:latin typeface="Arial"/>
                <a:ea typeface="Arial"/>
                <a:cs typeface="Arial"/>
                <a:sym typeface="Arial"/>
              </a:rPr>
              <a:t>contains raw CSS, JavaScript, and other assets</a:t>
            </a:r>
            <a:r>
              <a:rPr lang="en-US" sz="2500">
                <a:latin typeface="Arial"/>
                <a:ea typeface="Arial"/>
                <a:cs typeface="Arial"/>
                <a:sym typeface="Arial"/>
              </a:rPr>
              <a:t>. These assets are usually compiled and optimized using Laravel Mix.</a:t>
            </a:r>
            <a:endParaRPr sz="2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9" name="Google Shape;619;g3d7929c4fa7_0_1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1950" y="4905363"/>
            <a:ext cx="3619500" cy="1952625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g3d7929c4fa7_0_18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21" name="Google Shape;621;g3d7929c4fa7_0_1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48625" y="12810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d7929c4fa7_0_36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4950">
                <a:latin typeface="Arial"/>
                <a:ea typeface="Arial"/>
                <a:cs typeface="Arial"/>
                <a:sym typeface="Arial"/>
              </a:rPr>
              <a:t>Do you Know?</a:t>
            </a:r>
            <a:endParaRPr sz="49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g3d7929c4fa7_0_36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500">
                <a:latin typeface="Arial"/>
                <a:ea typeface="Arial"/>
                <a:cs typeface="Arial"/>
                <a:sym typeface="Arial"/>
              </a:rPr>
              <a:t>It takes less than a second (</a:t>
            </a:r>
            <a:r>
              <a:rPr b="1" lang="en-US" sz="4500">
                <a:solidFill>
                  <a:srgbClr val="FB0007"/>
                </a:solidFill>
                <a:latin typeface="Arial"/>
                <a:ea typeface="Arial"/>
                <a:cs typeface="Arial"/>
                <a:sym typeface="Arial"/>
              </a:rPr>
              <a:t>0.9 seconds</a:t>
            </a:r>
            <a:r>
              <a:rPr lang="en-US" sz="4500">
                <a:latin typeface="Arial"/>
                <a:ea typeface="Arial"/>
                <a:cs typeface="Arial"/>
                <a:sym typeface="Arial"/>
              </a:rPr>
              <a:t> to be precise) for users to form their opinions on their initial visit to a web page.</a:t>
            </a:r>
            <a:endParaRPr sz="4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g3d7929c4fa7_0_36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29" name="Google Shape;629;g3d7929c4fa7_0_3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48625" y="12810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d7929c4fa7_0_19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4500">
                <a:latin typeface="Arial"/>
                <a:ea typeface="Arial"/>
                <a:cs typeface="Arial"/>
                <a:sym typeface="Arial"/>
              </a:rPr>
              <a:t>    Routes Directory</a:t>
            </a:r>
            <a:endParaRPr sz="4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g3d7929c4fa7_0_193"/>
          <p:cNvSpPr txBox="1"/>
          <p:nvPr>
            <p:ph idx="1" type="body"/>
          </p:nvPr>
        </p:nvSpPr>
        <p:spPr>
          <a:xfrm>
            <a:off x="838200" y="1116175"/>
            <a:ext cx="7576500" cy="506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latin typeface="Arial"/>
                <a:ea typeface="Arial"/>
                <a:cs typeface="Arial"/>
                <a:sym typeface="Arial"/>
              </a:rPr>
              <a:t>The routes directory contains route definition files.</a:t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indent="-4000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700"/>
              <a:buChar char="●"/>
            </a:pPr>
            <a:r>
              <a:rPr b="1" lang="en-US" sz="2700">
                <a:latin typeface="Arial"/>
                <a:ea typeface="Arial"/>
                <a:cs typeface="Arial"/>
                <a:sym typeface="Arial"/>
              </a:rPr>
              <a:t>web.php</a:t>
            </a:r>
            <a:r>
              <a:rPr lang="en-US" sz="2700">
                <a:latin typeface="Arial"/>
                <a:ea typeface="Arial"/>
                <a:cs typeface="Arial"/>
                <a:sym typeface="Arial"/>
              </a:rPr>
              <a:t>: This file contains routes that are typically associated with web-based user interfaces.</a:t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indent="-4000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b="1" lang="en-US" sz="2700">
                <a:latin typeface="Arial"/>
                <a:ea typeface="Arial"/>
                <a:cs typeface="Arial"/>
                <a:sym typeface="Arial"/>
              </a:rPr>
              <a:t>api.php</a:t>
            </a:r>
            <a:r>
              <a:rPr lang="en-US" sz="2700">
                <a:latin typeface="Arial"/>
                <a:ea typeface="Arial"/>
                <a:cs typeface="Arial"/>
                <a:sym typeface="Arial"/>
              </a:rPr>
              <a:t>: This file contains routes for API endpoints, usually meant to return JSON responses.</a:t>
            </a:r>
            <a:endParaRPr/>
          </a:p>
        </p:txBody>
      </p:sp>
      <p:pic>
        <p:nvPicPr>
          <p:cNvPr id="636" name="Google Shape;636;g3d7929c4fa7_0_1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10600" y="2369350"/>
            <a:ext cx="3181350" cy="1619250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g3d7929c4fa7_0_19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38" name="Google Shape;638;g3d7929c4fa7_0_1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48625" y="12810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d7929c4fa7_0_95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300">
                <a:latin typeface="Arial"/>
                <a:ea typeface="Arial"/>
                <a:cs typeface="Arial"/>
                <a:sym typeface="Arial"/>
              </a:rPr>
              <a:t>routes/web.php (opened at which link)</a:t>
            </a:r>
            <a:endParaRPr sz="3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g3d7929c4fa7_0_956"/>
          <p:cNvSpPr txBox="1"/>
          <p:nvPr>
            <p:ph idx="1" type="body"/>
          </p:nvPr>
        </p:nvSpPr>
        <p:spPr>
          <a:xfrm>
            <a:off x="838200" y="1158075"/>
            <a:ext cx="10515600" cy="5018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191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000"/>
              <a:buChar char="●"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In Laravel, the routes/web.php file is where you define routes for web interfaces of your application. 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These routes typically respond to requests made via a web browser and are grouped within the web middleware group, which provides features such as session handling, CSRF protection, and cookie encryption.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Basic Route Example: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Route::get('/', function () {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    return view('welcome');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});</a:t>
            </a:r>
            <a:endParaRPr sz="3000"/>
          </a:p>
        </p:txBody>
      </p:sp>
      <p:sp>
        <p:nvSpPr>
          <p:cNvPr id="645" name="Google Shape;645;g3d7929c4fa7_0_95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46" name="Google Shape;646;g3d7929c4fa7_0_9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48625" y="12810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d7929c4fa7_0_96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300">
                <a:latin typeface="Arial"/>
                <a:ea typeface="Arial"/>
                <a:cs typeface="Arial"/>
                <a:sym typeface="Arial"/>
              </a:rPr>
              <a:t>routes/console.php file (Console commands)</a:t>
            </a:r>
            <a:endParaRPr sz="3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g3d7929c4fa7_0_96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00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700"/>
              <a:buChar char="●"/>
            </a:pPr>
            <a:r>
              <a:rPr lang="en-US" sz="2700">
                <a:latin typeface="Arial"/>
                <a:ea typeface="Arial"/>
                <a:cs typeface="Arial"/>
                <a:sym typeface="Arial"/>
              </a:rPr>
              <a:t>The routes/console.php file in Laravel is where you define all custom Artisan commands for your application. </a:t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indent="-4000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>
                <a:latin typeface="Arial"/>
                <a:ea typeface="Arial"/>
                <a:cs typeface="Arial"/>
                <a:sym typeface="Arial"/>
              </a:rPr>
              <a:t>This file allows you to extend and customize the functionality of Laravel's command-line interface (CLI)/terminals.</a:t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indent="-4000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>
                <a:latin typeface="Arial"/>
                <a:ea typeface="Arial"/>
                <a:cs typeface="Arial"/>
                <a:sym typeface="Arial"/>
              </a:rPr>
              <a:t>Not used directly</a:t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g3d7929c4fa7_0_96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4" name="Google Shape;654;g3d7929c4fa7_0_9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48625" y="12810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d7929c4fa7_0_208"/>
          <p:cNvSpPr txBox="1"/>
          <p:nvPr>
            <p:ph type="title"/>
          </p:nvPr>
        </p:nvSpPr>
        <p:spPr>
          <a:xfrm>
            <a:off x="453200" y="365125"/>
            <a:ext cx="10900500" cy="890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latin typeface="Arial"/>
                <a:ea typeface="Arial"/>
                <a:cs typeface="Arial"/>
                <a:sym typeface="Arial"/>
              </a:rPr>
              <a:t>Storage Directory</a:t>
            </a:r>
            <a:endParaRPr/>
          </a:p>
        </p:txBody>
      </p:sp>
      <p:sp>
        <p:nvSpPr>
          <p:cNvPr id="660" name="Google Shape;660;g3d7929c4fa7_0_208"/>
          <p:cNvSpPr txBox="1"/>
          <p:nvPr>
            <p:ph idx="1" type="body"/>
          </p:nvPr>
        </p:nvSpPr>
        <p:spPr>
          <a:xfrm>
            <a:off x="397325" y="1255850"/>
            <a:ext cx="7752000" cy="51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The storage directory </a:t>
            </a:r>
            <a:r>
              <a:rPr b="1" lang="en-US" sz="3200">
                <a:solidFill>
                  <a:srgbClr val="FB0007"/>
                </a:solidFill>
                <a:latin typeface="Arial"/>
                <a:ea typeface="Arial"/>
                <a:cs typeface="Arial"/>
                <a:sym typeface="Arial"/>
              </a:rPr>
              <a:t>holds various files generated by the application</a:t>
            </a:r>
            <a:r>
              <a:rPr lang="en-US" sz="3200">
                <a:latin typeface="Arial"/>
                <a:ea typeface="Arial"/>
                <a:cs typeface="Arial"/>
                <a:sym typeface="Arial"/>
              </a:rPr>
              <a:t>, such as logs, cache, sessions, and uploaded files.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latin typeface="Arial"/>
                <a:ea typeface="Arial"/>
                <a:cs typeface="Arial"/>
                <a:sym typeface="Arial"/>
              </a:rPr>
              <a:t> </a:t>
            </a:r>
            <a:endParaRPr sz="4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latin typeface="Arial"/>
                <a:ea typeface="Arial"/>
                <a:cs typeface="Arial"/>
                <a:sym typeface="Arial"/>
              </a:rPr>
              <a:t>Test Directory</a:t>
            </a:r>
            <a:endParaRPr sz="4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>
                <a:latin typeface="Arial"/>
                <a:ea typeface="Arial"/>
                <a:cs typeface="Arial"/>
                <a:sym typeface="Arial"/>
              </a:rPr>
              <a:t>The tests directory </a:t>
            </a:r>
            <a:r>
              <a:rPr b="1" lang="en-US" sz="3750">
                <a:solidFill>
                  <a:srgbClr val="FB0007"/>
                </a:solidFill>
                <a:latin typeface="Arial"/>
                <a:ea typeface="Arial"/>
                <a:cs typeface="Arial"/>
                <a:sym typeface="Arial"/>
              </a:rPr>
              <a:t>contains test cases</a:t>
            </a:r>
            <a:r>
              <a:rPr lang="en-US" sz="3750">
                <a:latin typeface="Arial"/>
                <a:ea typeface="Arial"/>
                <a:cs typeface="Arial"/>
                <a:sym typeface="Arial"/>
              </a:rPr>
              <a:t> for the application.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1" name="Google Shape;661;g3d7929c4fa7_0_2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58200" y="1185450"/>
            <a:ext cx="3733800" cy="2028825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g3d7929c4fa7_0_20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63" name="Google Shape;663;g3d7929c4fa7_0_20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48625" y="128100"/>
            <a:ext cx="1641650" cy="77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4" name="Google Shape;664;g3d7929c4fa7_0_20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15625" y="3962125"/>
            <a:ext cx="3324225" cy="186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d7929c4fa7_0_218"/>
          <p:cNvSpPr txBox="1"/>
          <p:nvPr>
            <p:ph type="title"/>
          </p:nvPr>
        </p:nvSpPr>
        <p:spPr>
          <a:xfrm>
            <a:off x="838200" y="306075"/>
            <a:ext cx="7911600" cy="138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latin typeface="Arial"/>
                <a:ea typeface="Arial"/>
                <a:cs typeface="Arial"/>
                <a:sym typeface="Arial"/>
              </a:rPr>
              <a:t>Vendor Directory</a:t>
            </a:r>
            <a:endParaRPr/>
          </a:p>
        </p:txBody>
      </p:sp>
      <p:sp>
        <p:nvSpPr>
          <p:cNvPr id="670" name="Google Shape;670;g3d7929c4fa7_0_218"/>
          <p:cNvSpPr txBox="1"/>
          <p:nvPr>
            <p:ph idx="1" type="body"/>
          </p:nvPr>
        </p:nvSpPr>
        <p:spPr>
          <a:xfrm>
            <a:off x="746500" y="1825625"/>
            <a:ext cx="5277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Arial"/>
                <a:ea typeface="Arial"/>
                <a:cs typeface="Arial"/>
                <a:sym typeface="Arial"/>
              </a:rPr>
              <a:t>The vendor directory </a:t>
            </a:r>
            <a:r>
              <a:rPr b="1" lang="en-US" sz="3600">
                <a:solidFill>
                  <a:srgbClr val="FB0007"/>
                </a:solidFill>
                <a:latin typeface="Arial"/>
                <a:ea typeface="Arial"/>
                <a:cs typeface="Arial"/>
                <a:sym typeface="Arial"/>
              </a:rPr>
              <a:t>houses all the third-party dependencies installed via Composer</a:t>
            </a:r>
            <a:r>
              <a:rPr lang="en-US" sz="3600">
                <a:latin typeface="Arial"/>
                <a:ea typeface="Arial"/>
                <a:cs typeface="Arial"/>
                <a:sym typeface="Arial"/>
              </a:rPr>
              <a:t>, including Laravel itself.</a:t>
            </a:r>
            <a:endParaRPr sz="3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1" name="Google Shape;671;g3d7929c4fa7_0_218"/>
          <p:cNvPicPr preferRelativeResize="0"/>
          <p:nvPr/>
        </p:nvPicPr>
        <p:blipFill rotWithShape="1">
          <a:blip r:embed="rId3">
            <a:alphaModFix/>
          </a:blip>
          <a:srcRect b="10072" l="0" r="0" t="0"/>
          <a:stretch/>
        </p:blipFill>
        <p:spPr>
          <a:xfrm>
            <a:off x="6429025" y="306075"/>
            <a:ext cx="3187250" cy="6167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2" name="Google Shape;672;g3d7929c4fa7_0_2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48800" y="2217700"/>
            <a:ext cx="2743200" cy="2562225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g3d7929c4fa7_0_21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74" name="Google Shape;674;g3d7929c4fa7_0_2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348625" y="12810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d7929c4fa7_0_390"/>
          <p:cNvSpPr txBox="1"/>
          <p:nvPr>
            <p:ph type="title"/>
          </p:nvPr>
        </p:nvSpPr>
        <p:spPr>
          <a:xfrm>
            <a:off x="838200" y="739050"/>
            <a:ext cx="9448200" cy="135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Arial"/>
                <a:ea typeface="Arial"/>
                <a:cs typeface="Arial"/>
                <a:sym typeface="Arial"/>
              </a:rPr>
              <a:t>Vendor folder (mentioned in composer.json  and stored in Vendor)</a:t>
            </a:r>
            <a:endParaRPr/>
          </a:p>
        </p:txBody>
      </p:sp>
      <p:sp>
        <p:nvSpPr>
          <p:cNvPr id="680" name="Google Shape;680;g3d7929c4fa7_0_390"/>
          <p:cNvSpPr txBox="1"/>
          <p:nvPr>
            <p:ph idx="1" type="body"/>
          </p:nvPr>
        </p:nvSpPr>
        <p:spPr>
          <a:xfrm>
            <a:off x="838200" y="2554825"/>
            <a:ext cx="10515600" cy="3621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00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700"/>
              <a:buChar char="●"/>
            </a:pPr>
            <a:r>
              <a:rPr lang="en-US" sz="2700">
                <a:latin typeface="Arial"/>
                <a:ea typeface="Arial"/>
                <a:cs typeface="Arial"/>
                <a:sym typeface="Arial"/>
              </a:rPr>
              <a:t>The vendor folder in a Laravel project is where Composer stores all the </a:t>
            </a:r>
            <a:r>
              <a:rPr b="1" lang="en-US" sz="2700">
                <a:latin typeface="Arial"/>
                <a:ea typeface="Arial"/>
                <a:cs typeface="Arial"/>
                <a:sym typeface="Arial"/>
              </a:rPr>
              <a:t>third-party dependencies required for the application.</a:t>
            </a:r>
            <a:endParaRPr b="1" sz="2700">
              <a:latin typeface="Arial"/>
              <a:ea typeface="Arial"/>
              <a:cs typeface="Arial"/>
              <a:sym typeface="Arial"/>
            </a:endParaRPr>
          </a:p>
          <a:p>
            <a:pPr indent="-4000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>
                <a:latin typeface="Arial"/>
                <a:ea typeface="Arial"/>
                <a:cs typeface="Arial"/>
                <a:sym typeface="Arial"/>
              </a:rPr>
              <a:t>It is automatically generated and managed by Composer and includes </a:t>
            </a:r>
            <a:r>
              <a:rPr b="1" lang="en-US" sz="2700">
                <a:latin typeface="Arial"/>
                <a:ea typeface="Arial"/>
                <a:cs typeface="Arial"/>
                <a:sym typeface="Arial"/>
              </a:rPr>
              <a:t>libraries, frameworks, and tools specified in the composer.json file.</a:t>
            </a:r>
            <a:endParaRPr b="1" sz="2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g3d7929c4fa7_0_39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82" name="Google Shape;682;g3d7929c4fa7_0_3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48625" y="12810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3d7929c4fa7_0_937"/>
          <p:cNvSpPr txBox="1"/>
          <p:nvPr>
            <p:ph type="title"/>
          </p:nvPr>
        </p:nvSpPr>
        <p:spPr>
          <a:xfrm>
            <a:off x="838200" y="365125"/>
            <a:ext cx="10515600" cy="820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Arial"/>
                <a:ea typeface="Arial"/>
                <a:cs typeface="Arial"/>
                <a:sym typeface="Arial"/>
              </a:rPr>
              <a:t>Autoloading: </a:t>
            </a:r>
            <a:endParaRPr/>
          </a:p>
        </p:txBody>
      </p:sp>
      <p:sp>
        <p:nvSpPr>
          <p:cNvPr id="688" name="Google Shape;688;g3d7929c4fa7_0_937"/>
          <p:cNvSpPr txBox="1"/>
          <p:nvPr>
            <p:ph idx="1" type="body"/>
          </p:nvPr>
        </p:nvSpPr>
        <p:spPr>
          <a:xfrm>
            <a:off x="838200" y="1185925"/>
            <a:ext cx="10515600" cy="4990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00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700"/>
              <a:buChar char="●"/>
            </a:pPr>
            <a:r>
              <a:rPr lang="en-US" sz="2700">
                <a:latin typeface="Arial"/>
                <a:ea typeface="Arial"/>
                <a:cs typeface="Arial"/>
                <a:sym typeface="Arial"/>
              </a:rPr>
              <a:t>The vendor/autoload.php file is the main entry point for Composer's autoloading mechanism.</a:t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>
                <a:latin typeface="Arial"/>
                <a:ea typeface="Arial"/>
                <a:cs typeface="Arial"/>
                <a:sym typeface="Arial"/>
              </a:rPr>
              <a:t>Laravel's bootstrap/app.php includes this file to autoload all necessary classes</a:t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300">
                <a:latin typeface="Arial"/>
                <a:ea typeface="Arial"/>
                <a:cs typeface="Arial"/>
                <a:sym typeface="Arial"/>
              </a:rPr>
              <a:t>Organizational Structure:</a:t>
            </a:r>
            <a:endParaRPr sz="3300">
              <a:latin typeface="Arial"/>
              <a:ea typeface="Arial"/>
              <a:cs typeface="Arial"/>
              <a:sym typeface="Arial"/>
            </a:endParaRPr>
          </a:p>
          <a:p>
            <a:pPr indent="-4000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700"/>
              <a:buChar char="●"/>
            </a:pPr>
            <a:r>
              <a:rPr lang="en-US" sz="2700">
                <a:latin typeface="Arial"/>
                <a:ea typeface="Arial"/>
                <a:cs typeface="Arial"/>
                <a:sym typeface="Arial"/>
              </a:rPr>
              <a:t>Dependencies are organized in subdirectories based on their namespaces (e.g., vendor/symfony/, vendor/laravel/).</a:t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indent="-4000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>
                <a:latin typeface="Arial"/>
                <a:ea typeface="Arial"/>
                <a:cs typeface="Arial"/>
                <a:sym typeface="Arial"/>
              </a:rPr>
              <a:t>It also contains the composer/ directory, which manages autoloading and metadata about the dependencies.</a:t>
            </a:r>
            <a:endParaRPr sz="3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g3d7929c4fa7_0_93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90" name="Google Shape;690;g3d7929c4fa7_0_9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48625" y="12810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d7929c4fa7_0_2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.editorconfig</a:t>
            </a:r>
            <a:endParaRPr/>
          </a:p>
        </p:txBody>
      </p:sp>
      <p:sp>
        <p:nvSpPr>
          <p:cNvPr id="696" name="Google Shape;696;g3d7929c4fa7_0_223"/>
          <p:cNvSpPr txBox="1"/>
          <p:nvPr>
            <p:ph idx="1" type="body"/>
          </p:nvPr>
        </p:nvSpPr>
        <p:spPr>
          <a:xfrm>
            <a:off x="838200" y="1825625"/>
            <a:ext cx="72330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This file is used to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maintain consistent coding styles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across different editors and IDEs in a project.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It allows you to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change settings without modifying code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Stores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database credentials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Keeps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API keys secure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Helps manage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different environments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(local, production)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7" name="Google Shape;697;g3d7929c4fa7_0_2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3400" y="899025"/>
            <a:ext cx="3657600" cy="5822425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g3d7929c4fa7_0_22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99" name="Google Shape;699;g3d7929c4fa7_0_2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48625" y="12810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3d7929c4fa7_0_99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.env </a:t>
            </a:r>
            <a:endParaRPr/>
          </a:p>
        </p:txBody>
      </p:sp>
      <p:sp>
        <p:nvSpPr>
          <p:cNvPr id="705" name="Google Shape;705;g3d7929c4fa7_0_992"/>
          <p:cNvSpPr txBox="1"/>
          <p:nvPr>
            <p:ph idx="1" type="body"/>
          </p:nvPr>
        </p:nvSpPr>
        <p:spPr>
          <a:xfrm>
            <a:off x="838200" y="1825625"/>
            <a:ext cx="68223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US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.env</a:t>
            </a: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 (environment file)</a:t>
            </a:r>
            <a:r>
              <a:rPr lang="en-US" sz="2500">
                <a:latin typeface="Arial"/>
                <a:ea typeface="Arial"/>
                <a:cs typeface="Arial"/>
                <a:sym typeface="Arial"/>
              </a:rPr>
              <a:t> is used to store </a:t>
            </a: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configuration settings and sensitive data</a:t>
            </a:r>
            <a:r>
              <a:rPr lang="en-US" sz="2500">
                <a:latin typeface="Arial"/>
                <a:ea typeface="Arial"/>
                <a:cs typeface="Arial"/>
                <a:sym typeface="Arial"/>
              </a:rPr>
              <a:t> for your application.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latin typeface="Arial"/>
                <a:ea typeface="Arial"/>
                <a:cs typeface="Arial"/>
                <a:sym typeface="Arial"/>
              </a:rPr>
              <a:t>It allows you to </a:t>
            </a: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change settings without modifying code</a:t>
            </a:r>
            <a:endParaRPr b="1" sz="2500"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500"/>
              <a:buChar char="●"/>
            </a:pPr>
            <a:r>
              <a:rPr lang="en-US" sz="2500">
                <a:latin typeface="Arial"/>
                <a:ea typeface="Arial"/>
                <a:cs typeface="Arial"/>
                <a:sym typeface="Arial"/>
              </a:rPr>
              <a:t>Stores </a:t>
            </a: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database credentials</a:t>
            </a:r>
            <a:endParaRPr b="1" sz="2500"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>
                <a:latin typeface="Arial"/>
                <a:ea typeface="Arial"/>
                <a:cs typeface="Arial"/>
                <a:sym typeface="Arial"/>
              </a:rPr>
              <a:t>Keeps </a:t>
            </a: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API keys secure</a:t>
            </a:r>
            <a:endParaRPr b="1" sz="2500"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>
                <a:latin typeface="Arial"/>
                <a:ea typeface="Arial"/>
                <a:cs typeface="Arial"/>
                <a:sym typeface="Arial"/>
              </a:rPr>
              <a:t>Helps manage </a:t>
            </a: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different environments</a:t>
            </a:r>
            <a:r>
              <a:rPr lang="en-US" sz="2500">
                <a:latin typeface="Arial"/>
                <a:ea typeface="Arial"/>
                <a:cs typeface="Arial"/>
                <a:sym typeface="Arial"/>
              </a:rPr>
              <a:t> (local, production)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6" name="Google Shape;706;g3d7929c4fa7_0_9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6025" y="984275"/>
            <a:ext cx="3657600" cy="5737175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g3d7929c4fa7_0_99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08" name="Google Shape;708;g3d7929c4fa7_0_9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48625" y="12810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d7929c4fa7_0_1046"/>
          <p:cNvSpPr txBox="1"/>
          <p:nvPr>
            <p:ph type="title"/>
          </p:nvPr>
        </p:nvSpPr>
        <p:spPr>
          <a:xfrm>
            <a:off x="838200" y="365125"/>
            <a:ext cx="10515600" cy="771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.env.example </a:t>
            </a:r>
            <a:endParaRPr/>
          </a:p>
        </p:txBody>
      </p:sp>
      <p:sp>
        <p:nvSpPr>
          <p:cNvPr id="714" name="Google Shape;714;g3d7929c4fa7_0_1046"/>
          <p:cNvSpPr txBox="1"/>
          <p:nvPr>
            <p:ph idx="1" type="body"/>
          </p:nvPr>
        </p:nvSpPr>
        <p:spPr>
          <a:xfrm>
            <a:off x="215750" y="1136125"/>
            <a:ext cx="7550400" cy="504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500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US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.env.example</a:t>
            </a:r>
            <a:r>
              <a:rPr lang="en-US" sz="2500">
                <a:latin typeface="Arial"/>
                <a:ea typeface="Arial"/>
                <a:cs typeface="Arial"/>
                <a:sym typeface="Arial"/>
              </a:rPr>
              <a:t> file is a </a:t>
            </a: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template of the </a:t>
            </a:r>
            <a:r>
              <a:rPr b="1" lang="en-US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.env</a:t>
            </a: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 file</a:t>
            </a:r>
            <a:r>
              <a:rPr lang="en-US" sz="2500">
                <a:latin typeface="Arial"/>
                <a:ea typeface="Arial"/>
                <a:cs typeface="Arial"/>
                <a:sym typeface="Arial"/>
              </a:rPr>
              <a:t>.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500">
                <a:latin typeface="Arial"/>
                <a:ea typeface="Arial"/>
                <a:cs typeface="Arial"/>
                <a:sym typeface="Arial"/>
              </a:rPr>
              <a:t>It contains </a:t>
            </a: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all required configuration keys</a:t>
            </a:r>
            <a:r>
              <a:rPr lang="en-US" sz="2500">
                <a:latin typeface="Arial"/>
                <a:ea typeface="Arial"/>
                <a:cs typeface="Arial"/>
                <a:sym typeface="Arial"/>
              </a:rPr>
              <a:t>, but </a:t>
            </a: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without real/sensitive values</a:t>
            </a:r>
            <a:endParaRPr b="1" sz="25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873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500"/>
              <a:buChar char="●"/>
            </a:pPr>
            <a:r>
              <a:rPr lang="en-US" sz="2500">
                <a:latin typeface="Arial"/>
                <a:ea typeface="Arial"/>
                <a:cs typeface="Arial"/>
                <a:sym typeface="Arial"/>
              </a:rPr>
              <a:t>Helps other developers know </a:t>
            </a: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which environment variables are needed</a:t>
            </a:r>
            <a:endParaRPr b="1" sz="2500"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>
                <a:latin typeface="Arial"/>
                <a:ea typeface="Arial"/>
                <a:cs typeface="Arial"/>
                <a:sym typeface="Arial"/>
              </a:rPr>
              <a:t>Used when setting up a project for the first time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>
                <a:latin typeface="Arial"/>
                <a:ea typeface="Arial"/>
                <a:cs typeface="Arial"/>
                <a:sym typeface="Arial"/>
              </a:rPr>
              <a:t>Keeps </a:t>
            </a: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secrets safe</a:t>
            </a:r>
            <a:r>
              <a:rPr lang="en-US" sz="2500">
                <a:latin typeface="Arial"/>
                <a:ea typeface="Arial"/>
                <a:cs typeface="Arial"/>
                <a:sym typeface="Arial"/>
              </a:rPr>
              <a:t> (no passwords or API keys inside)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>
                <a:latin typeface="Arial"/>
                <a:ea typeface="Arial"/>
                <a:cs typeface="Arial"/>
                <a:sym typeface="Arial"/>
              </a:rPr>
              <a:t>It looks almost like </a:t>
            </a:r>
            <a:r>
              <a:rPr lang="en-US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.env</a:t>
            </a:r>
            <a:r>
              <a:rPr lang="en-US" sz="2500">
                <a:latin typeface="Arial"/>
                <a:ea typeface="Arial"/>
                <a:cs typeface="Arial"/>
                <a:sym typeface="Arial"/>
              </a:rPr>
              <a:t>, but values are </a:t>
            </a: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dummy/empty</a:t>
            </a:r>
            <a:br>
              <a:rPr lang="en-US" sz="2500">
                <a:latin typeface="Arial"/>
                <a:ea typeface="Arial"/>
                <a:cs typeface="Arial"/>
                <a:sym typeface="Arial"/>
              </a:rPr>
            </a:br>
            <a:endParaRPr sz="2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5" name="Google Shape;715;g3d7929c4fa7_0_10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59325" y="984275"/>
            <a:ext cx="3657600" cy="5873725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g3d7929c4fa7_0_104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17" name="Google Shape;717;g3d7929c4fa7_0_10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48625" y="12810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3d7929c4fa7_0_1000"/>
          <p:cNvSpPr txBox="1"/>
          <p:nvPr>
            <p:ph type="title"/>
          </p:nvPr>
        </p:nvSpPr>
        <p:spPr>
          <a:xfrm>
            <a:off x="838200" y="4999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.gitattributes</a:t>
            </a:r>
            <a:endParaRPr/>
          </a:p>
        </p:txBody>
      </p:sp>
      <p:sp>
        <p:nvSpPr>
          <p:cNvPr id="723" name="Google Shape;723;g3d7929c4fa7_0_1000"/>
          <p:cNvSpPr txBox="1"/>
          <p:nvPr>
            <p:ph idx="1" type="body"/>
          </p:nvPr>
        </p:nvSpPr>
        <p:spPr>
          <a:xfrm>
            <a:off x="838200" y="1825625"/>
            <a:ext cx="72330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4000"/>
              <a:buFont typeface="Arial"/>
              <a:buNone/>
            </a:pPr>
            <a:r>
              <a:rPr lang="en-US" sz="2500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US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.gitattributes</a:t>
            </a:r>
            <a:r>
              <a:rPr lang="en-US" sz="2500">
                <a:latin typeface="Arial"/>
                <a:ea typeface="Arial"/>
                <a:cs typeface="Arial"/>
                <a:sym typeface="Arial"/>
              </a:rPr>
              <a:t> file is used by </a:t>
            </a: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Git</a:t>
            </a:r>
            <a:r>
              <a:rPr lang="en-US" sz="2500">
                <a:latin typeface="Arial"/>
                <a:ea typeface="Arial"/>
                <a:cs typeface="Arial"/>
                <a:sym typeface="Arial"/>
              </a:rPr>
              <a:t> to </a:t>
            </a: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control how files are handled in a repository</a:t>
            </a:r>
            <a:r>
              <a:rPr lang="en-US" sz="2500">
                <a:latin typeface="Arial"/>
                <a:ea typeface="Arial"/>
                <a:cs typeface="Arial"/>
                <a:sym typeface="Arial"/>
              </a:rPr>
              <a:t>.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-37544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US" sz="2500">
                <a:latin typeface="Arial"/>
                <a:ea typeface="Arial"/>
                <a:cs typeface="Arial"/>
                <a:sym typeface="Arial"/>
              </a:rPr>
              <a:t>Line endings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-37544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2500">
                <a:latin typeface="Arial"/>
                <a:ea typeface="Arial"/>
                <a:cs typeface="Arial"/>
                <a:sym typeface="Arial"/>
              </a:rPr>
              <a:t>File merging behavior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-37544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2500">
                <a:latin typeface="Arial"/>
                <a:ea typeface="Arial"/>
                <a:cs typeface="Arial"/>
                <a:sym typeface="Arial"/>
              </a:rPr>
              <a:t>Exporting files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-37544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2500">
                <a:latin typeface="Arial"/>
                <a:ea typeface="Arial"/>
                <a:cs typeface="Arial"/>
                <a:sym typeface="Arial"/>
              </a:rPr>
              <a:t>Language detection (GitHub)</a:t>
            </a:r>
            <a:endParaRPr b="1" sz="2500">
              <a:latin typeface="Arial"/>
              <a:ea typeface="Arial"/>
              <a:cs typeface="Arial"/>
              <a:sym typeface="Arial"/>
            </a:endParaRPr>
          </a:p>
          <a:p>
            <a:pPr indent="-37544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2500">
                <a:latin typeface="Arial"/>
                <a:ea typeface="Arial"/>
                <a:cs typeface="Arial"/>
                <a:sym typeface="Arial"/>
              </a:rPr>
              <a:t>Ensures </a:t>
            </a: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consistent behavior across systems (Windows/Linux/Mac)</a:t>
            </a:r>
            <a:endParaRPr b="1" sz="2500">
              <a:latin typeface="Arial"/>
              <a:ea typeface="Arial"/>
              <a:cs typeface="Arial"/>
              <a:sym typeface="Arial"/>
            </a:endParaRPr>
          </a:p>
          <a:p>
            <a:pPr indent="-37544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2500">
                <a:latin typeface="Arial"/>
                <a:ea typeface="Arial"/>
                <a:cs typeface="Arial"/>
                <a:sym typeface="Arial"/>
              </a:rPr>
              <a:t>Prevents </a:t>
            </a: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merge conflicts</a:t>
            </a:r>
            <a:endParaRPr b="1" sz="2500">
              <a:latin typeface="Arial"/>
              <a:ea typeface="Arial"/>
              <a:cs typeface="Arial"/>
              <a:sym typeface="Arial"/>
            </a:endParaRPr>
          </a:p>
          <a:p>
            <a:pPr indent="-37544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2500">
                <a:latin typeface="Arial"/>
                <a:ea typeface="Arial"/>
                <a:cs typeface="Arial"/>
                <a:sym typeface="Arial"/>
              </a:rPr>
              <a:t>Helps GitHub correctly </a:t>
            </a: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detect languages</a:t>
            </a:r>
            <a:endParaRPr b="1" sz="2500">
              <a:latin typeface="Arial"/>
              <a:ea typeface="Arial"/>
              <a:cs typeface="Arial"/>
              <a:sym typeface="Arial"/>
            </a:endParaRPr>
          </a:p>
          <a:p>
            <a:pPr indent="-37544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2500">
                <a:latin typeface="Arial"/>
                <a:ea typeface="Arial"/>
                <a:cs typeface="Arial"/>
                <a:sym typeface="Arial"/>
              </a:rPr>
              <a:t>Controls what files are included in archives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4" name="Google Shape;724;g3d7929c4fa7_0_1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1200" y="770925"/>
            <a:ext cx="3657600" cy="5856675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g3d7929c4fa7_0_100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26" name="Google Shape;726;g3d7929c4fa7_0_1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46400" y="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3d7929c4fa7_0_1008"/>
          <p:cNvSpPr txBox="1"/>
          <p:nvPr>
            <p:ph type="title"/>
          </p:nvPr>
        </p:nvSpPr>
        <p:spPr>
          <a:xfrm>
            <a:off x="838200" y="82600"/>
            <a:ext cx="10515600" cy="894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composer.json</a:t>
            </a:r>
            <a:endParaRPr/>
          </a:p>
        </p:txBody>
      </p:sp>
      <p:sp>
        <p:nvSpPr>
          <p:cNvPr id="732" name="Google Shape;732;g3d7929c4fa7_0_1008"/>
          <p:cNvSpPr txBox="1"/>
          <p:nvPr>
            <p:ph idx="1" type="body"/>
          </p:nvPr>
        </p:nvSpPr>
        <p:spPr>
          <a:xfrm>
            <a:off x="355425" y="836825"/>
            <a:ext cx="8003400" cy="582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`composer.json`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file is the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main configuration file for Composer (PHP dependency manager)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460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Which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libraries/packages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your project needs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460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How to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autoload classes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460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Project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metadata &amp; scripts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4400"/>
              <a:t>composer.lock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3460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composer.lock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file is generated by Composer and stores the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exact versions of all installed dependencies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in your project.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460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While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composer.json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defines </a:t>
            </a:r>
            <a:r>
              <a:rPr i="1" lang="en-US" sz="2000">
                <a:latin typeface="Arial"/>
                <a:ea typeface="Arial"/>
                <a:cs typeface="Arial"/>
                <a:sym typeface="Arial"/>
              </a:rPr>
              <a:t>what you want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composer.lock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 records what you actually got installed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46075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Exact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package versions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46075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Dependency tree (sub-dependencies)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46075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Download sources (URLs)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46075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Hash for verification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3" name="Google Shape;733;g3d7929c4fa7_0_10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3400" y="976499"/>
            <a:ext cx="3657600" cy="5681125"/>
          </a:xfrm>
          <a:prstGeom prst="rect">
            <a:avLst/>
          </a:prstGeom>
          <a:noFill/>
          <a:ln>
            <a:noFill/>
          </a:ln>
        </p:spPr>
      </p:pic>
      <p:sp>
        <p:nvSpPr>
          <p:cNvPr id="734" name="Google Shape;734;g3d7929c4fa7_0_100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35" name="Google Shape;735;g3d7929c4fa7_0_100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46400" y="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d7929c4fa7_0_1015"/>
          <p:cNvSpPr txBox="1"/>
          <p:nvPr>
            <p:ph type="title"/>
          </p:nvPr>
        </p:nvSpPr>
        <p:spPr>
          <a:xfrm>
            <a:off x="550950" y="124500"/>
            <a:ext cx="10803000" cy="771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package.json</a:t>
            </a:r>
            <a:endParaRPr/>
          </a:p>
        </p:txBody>
      </p:sp>
      <p:sp>
        <p:nvSpPr>
          <p:cNvPr id="741" name="Google Shape;741;g3d7929c4fa7_0_1015"/>
          <p:cNvSpPr txBox="1"/>
          <p:nvPr>
            <p:ph idx="1" type="body"/>
          </p:nvPr>
        </p:nvSpPr>
        <p:spPr>
          <a:xfrm>
            <a:off x="550950" y="895500"/>
            <a:ext cx="7879500" cy="528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package.json</a:t>
            </a:r>
            <a:r>
              <a:rPr lang="en-US" sz="2600">
                <a:latin typeface="Arial"/>
                <a:ea typeface="Arial"/>
                <a:cs typeface="Arial"/>
                <a:sym typeface="Arial"/>
              </a:rPr>
              <a:t> is a file that manages JavaScript dependencies and scripts in a project.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4400"/>
              <a:t>phpunit.xml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US" sz="2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phpunit.xml</a:t>
            </a:r>
            <a:r>
              <a:rPr lang="en-US" sz="2600">
                <a:latin typeface="Arial"/>
                <a:ea typeface="Arial"/>
                <a:cs typeface="Arial"/>
                <a:sym typeface="Arial"/>
              </a:rPr>
              <a:t> file is a </a:t>
            </a:r>
            <a:r>
              <a:rPr b="1" lang="en-US" sz="2600">
                <a:latin typeface="Arial"/>
                <a:ea typeface="Arial"/>
                <a:cs typeface="Arial"/>
                <a:sym typeface="Arial"/>
              </a:rPr>
              <a:t>configuration file for PHPUnit</a:t>
            </a:r>
            <a:r>
              <a:rPr lang="en-US" sz="2600">
                <a:latin typeface="Arial"/>
                <a:ea typeface="Arial"/>
                <a:cs typeface="Arial"/>
                <a:sym typeface="Arial"/>
              </a:rPr>
              <a:t>, which is used for </a:t>
            </a:r>
            <a:r>
              <a:rPr b="1" lang="en-US" sz="2600">
                <a:latin typeface="Arial"/>
                <a:ea typeface="Arial"/>
                <a:cs typeface="Arial"/>
                <a:sym typeface="Arial"/>
              </a:rPr>
              <a:t>testing in PHP/Laravel</a:t>
            </a:r>
            <a:r>
              <a:rPr lang="en-US" sz="2600">
                <a:latin typeface="Arial"/>
                <a:ea typeface="Arial"/>
                <a:cs typeface="Arial"/>
                <a:sym typeface="Arial"/>
              </a:rPr>
              <a:t>.  It defines: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600"/>
              <a:buChar char="●"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Test environment settings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Database config for testing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Test directories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2" name="Google Shape;742;g3d7929c4fa7_0_10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30450" y="770925"/>
            <a:ext cx="3657600" cy="5804700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g3d7929c4fa7_0_101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44" name="Google Shape;744;g3d7929c4fa7_0_10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46400" y="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3d7929c4fa7_0_1061"/>
          <p:cNvSpPr txBox="1"/>
          <p:nvPr>
            <p:ph idx="1" type="body"/>
          </p:nvPr>
        </p:nvSpPr>
        <p:spPr>
          <a:xfrm>
            <a:off x="550950" y="445750"/>
            <a:ext cx="7879500" cy="600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4400"/>
              <a:t>README.md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US" sz="2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README.md</a:t>
            </a:r>
            <a:r>
              <a:rPr lang="en-US" sz="2600">
                <a:latin typeface="Arial"/>
                <a:ea typeface="Arial"/>
                <a:cs typeface="Arial"/>
                <a:sym typeface="Arial"/>
              </a:rPr>
              <a:t> file is a </a:t>
            </a:r>
            <a:r>
              <a:rPr b="1" lang="en-US" sz="2600">
                <a:latin typeface="Arial"/>
                <a:ea typeface="Arial"/>
                <a:cs typeface="Arial"/>
                <a:sym typeface="Arial"/>
              </a:rPr>
              <a:t>documentation file</a:t>
            </a:r>
            <a:r>
              <a:rPr lang="en-US" sz="2600">
                <a:latin typeface="Arial"/>
                <a:ea typeface="Arial"/>
                <a:cs typeface="Arial"/>
                <a:sym typeface="Arial"/>
              </a:rPr>
              <a:t> that explains your project. It is written in </a:t>
            </a:r>
            <a:r>
              <a:rPr b="1" lang="en-US" sz="2600">
                <a:latin typeface="Arial"/>
                <a:ea typeface="Arial"/>
                <a:cs typeface="Arial"/>
                <a:sym typeface="Arial"/>
              </a:rPr>
              <a:t>Markdown (.md)</a:t>
            </a:r>
            <a:r>
              <a:rPr lang="en-US" sz="2600">
                <a:latin typeface="Arial"/>
                <a:ea typeface="Arial"/>
                <a:cs typeface="Arial"/>
                <a:sym typeface="Arial"/>
              </a:rPr>
              <a:t> format and is the </a:t>
            </a:r>
            <a:r>
              <a:rPr b="1" lang="en-US" sz="2600">
                <a:latin typeface="Arial"/>
                <a:ea typeface="Arial"/>
                <a:cs typeface="Arial"/>
                <a:sym typeface="Arial"/>
              </a:rPr>
              <a:t>first file people see</a:t>
            </a:r>
            <a:r>
              <a:rPr lang="en-US" sz="2600">
                <a:latin typeface="Arial"/>
                <a:ea typeface="Arial"/>
                <a:cs typeface="Arial"/>
                <a:sym typeface="Arial"/>
              </a:rPr>
              <a:t> on GitHub.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4400"/>
              <a:t>vite.config.js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US" sz="2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vite.config.js</a:t>
            </a:r>
            <a:r>
              <a:rPr lang="en-US" sz="2600">
                <a:latin typeface="Arial"/>
                <a:ea typeface="Arial"/>
                <a:cs typeface="Arial"/>
                <a:sym typeface="Arial"/>
              </a:rPr>
              <a:t> file is a </a:t>
            </a:r>
            <a:r>
              <a:rPr b="1" lang="en-US" sz="2600">
                <a:latin typeface="Arial"/>
                <a:ea typeface="Arial"/>
                <a:cs typeface="Arial"/>
                <a:sym typeface="Arial"/>
              </a:rPr>
              <a:t>configuration file for Vite</a:t>
            </a:r>
            <a:r>
              <a:rPr lang="en-US" sz="2600">
                <a:latin typeface="Arial"/>
                <a:ea typeface="Arial"/>
                <a:cs typeface="Arial"/>
                <a:sym typeface="Arial"/>
              </a:rPr>
              <a:t>, a modern frontend build tool used in Laravel.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 It controls how your </a:t>
            </a:r>
            <a:r>
              <a:rPr b="1" lang="en-US" sz="2600">
                <a:latin typeface="Arial"/>
                <a:ea typeface="Arial"/>
                <a:cs typeface="Arial"/>
                <a:sym typeface="Arial"/>
              </a:rPr>
              <a:t>CSS, JavaScript, and assets are compiled and served</a:t>
            </a:r>
            <a:endParaRPr b="1" sz="2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0" name="Google Shape;750;g3d7929c4fa7_0_10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30450" y="770925"/>
            <a:ext cx="3657600" cy="5804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g3d7929c4fa7_0_106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52" name="Google Shape;752;g3d7929c4fa7_0_10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46400" y="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3d7929c4fa7_0_23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500">
                <a:latin typeface="Arial"/>
                <a:ea typeface="Arial"/>
                <a:cs typeface="Arial"/>
                <a:sym typeface="Arial"/>
              </a:rPr>
              <a:t>In every Laravel project, you will have two files, </a:t>
            </a:r>
            <a:r>
              <a:rPr b="1" lang="en-US" sz="4500">
                <a:solidFill>
                  <a:srgbClr val="FB0007"/>
                </a:solidFill>
                <a:latin typeface="Arial"/>
                <a:ea typeface="Arial"/>
                <a:cs typeface="Arial"/>
                <a:sym typeface="Arial"/>
              </a:rPr>
              <a:t>composer.json </a:t>
            </a:r>
            <a:r>
              <a:rPr b="1" lang="en-US" sz="4500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US" sz="4500">
                <a:solidFill>
                  <a:srgbClr val="FB0007"/>
                </a:solidFill>
                <a:latin typeface="Arial"/>
                <a:ea typeface="Arial"/>
                <a:cs typeface="Arial"/>
                <a:sym typeface="Arial"/>
              </a:rPr>
              <a:t>composer.lock</a:t>
            </a:r>
            <a:r>
              <a:rPr b="1" lang="en-US" sz="4500">
                <a:latin typeface="Arial"/>
                <a:ea typeface="Arial"/>
                <a:cs typeface="Arial"/>
                <a:sym typeface="Arial"/>
              </a:rPr>
              <a:t>. What is the difference between them?</a:t>
            </a:r>
            <a:endParaRPr b="1" sz="4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g3d7929c4fa7_0_23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59" name="Google Shape;759;g3d7929c4fa7_0_2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46400" y="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3d7929c4fa7_0_238"/>
          <p:cNvSpPr txBox="1"/>
          <p:nvPr>
            <p:ph type="title"/>
          </p:nvPr>
        </p:nvSpPr>
        <p:spPr>
          <a:xfrm>
            <a:off x="243675" y="459700"/>
            <a:ext cx="10202700" cy="1159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In composer.json you specify </a:t>
            </a:r>
            <a:r>
              <a:rPr b="1" lang="en-US" sz="2100">
                <a:solidFill>
                  <a:srgbClr val="FB0007"/>
                </a:solidFill>
                <a:latin typeface="Arial"/>
                <a:ea typeface="Arial"/>
                <a:cs typeface="Arial"/>
                <a:sym typeface="Arial"/>
              </a:rPr>
              <a:t>what packages should be installed, and with what versions</a:t>
            </a:r>
            <a:r>
              <a:rPr lang="en-US" sz="2100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id="765" name="Google Shape;765;g3d7929c4fa7_0_2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0875" y="1035198"/>
            <a:ext cx="5419725" cy="1631375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g3d7929c4fa7_0_23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67" name="Google Shape;767;g3d7929c4fa7_0_2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46400" y="0"/>
            <a:ext cx="1641650" cy="770925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g3d7929c4fa7_0_238"/>
          <p:cNvSpPr txBox="1"/>
          <p:nvPr/>
        </p:nvSpPr>
        <p:spPr>
          <a:xfrm>
            <a:off x="0" y="2855388"/>
            <a:ext cx="119763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Now, </a:t>
            </a:r>
            <a:r>
              <a:rPr b="1" lang="en-US" sz="3000">
                <a:solidFill>
                  <a:srgbClr val="FB0007"/>
                </a:solidFill>
              </a:rPr>
              <a:t>which exact version is installed at any moment</a:t>
            </a:r>
            <a:r>
              <a:rPr lang="en-US" sz="3000">
                <a:solidFill>
                  <a:schemeClr val="dk1"/>
                </a:solidFill>
              </a:rPr>
              <a:t>? Here comes the composer.lock file.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9" name="Google Shape;769;g3d7929c4fa7_0_238"/>
          <p:cNvPicPr preferRelativeResize="0"/>
          <p:nvPr/>
        </p:nvPicPr>
        <p:blipFill rotWithShape="1">
          <a:blip r:embed="rId5">
            <a:alphaModFix/>
          </a:blip>
          <a:srcRect b="28851" l="0" r="0" t="0"/>
          <a:stretch/>
        </p:blipFill>
        <p:spPr>
          <a:xfrm>
            <a:off x="3333750" y="4124125"/>
            <a:ext cx="5524500" cy="2493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3d7929c4fa7_0_419"/>
          <p:cNvSpPr txBox="1"/>
          <p:nvPr>
            <p:ph type="title"/>
          </p:nvPr>
        </p:nvSpPr>
        <p:spPr>
          <a:xfrm>
            <a:off x="523025" y="250200"/>
            <a:ext cx="10196100" cy="1173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Which directory contains the views (templates) used for rendering HTML pages in Laravel?</a:t>
            </a:r>
            <a:endParaRPr sz="2800"/>
          </a:p>
        </p:txBody>
      </p:sp>
      <p:sp>
        <p:nvSpPr>
          <p:cNvPr id="775" name="Google Shape;775;g3d7929c4fa7_0_419"/>
          <p:cNvSpPr txBox="1"/>
          <p:nvPr>
            <p:ph idx="1" type="body"/>
          </p:nvPr>
        </p:nvSpPr>
        <p:spPr>
          <a:xfrm>
            <a:off x="523025" y="1423500"/>
            <a:ext cx="10733100" cy="5209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-US">
                <a:solidFill>
                  <a:srgbClr val="FB0007"/>
                </a:solidFill>
                <a:latin typeface="Arial"/>
                <a:ea typeface="Arial"/>
                <a:cs typeface="Arial"/>
                <a:sym typeface="Arial"/>
              </a:rPr>
              <a:t>a) resources</a:t>
            </a:r>
            <a:endParaRPr b="1">
              <a:solidFill>
                <a:srgbClr val="FB000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b) public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c) app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d) routes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r>
              <a:t/>
            </a:r>
            <a:endParaRPr sz="3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Which directory is used for storing files generated by the application, such as logs, cache, and session data?</a:t>
            </a:r>
            <a:endParaRPr sz="3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Arial"/>
                <a:ea typeface="Arial"/>
                <a:cs typeface="Arial"/>
                <a:sym typeface="Arial"/>
              </a:rPr>
              <a:t>a) resources</a:t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700">
                <a:latin typeface="Arial"/>
                <a:ea typeface="Arial"/>
                <a:cs typeface="Arial"/>
                <a:sym typeface="Arial"/>
              </a:rPr>
              <a:t>b) public</a:t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B0007"/>
                </a:solidFill>
                <a:latin typeface="Arial"/>
                <a:ea typeface="Arial"/>
                <a:cs typeface="Arial"/>
                <a:sym typeface="Arial"/>
              </a:rPr>
              <a:t>c) storage</a:t>
            </a:r>
            <a:endParaRPr b="1" sz="2700">
              <a:solidFill>
                <a:srgbClr val="FB000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700">
                <a:latin typeface="Arial"/>
                <a:ea typeface="Arial"/>
                <a:cs typeface="Arial"/>
                <a:sym typeface="Arial"/>
              </a:rPr>
              <a:t>d) config</a:t>
            </a:r>
            <a:endParaRPr/>
          </a:p>
        </p:txBody>
      </p:sp>
      <p:sp>
        <p:nvSpPr>
          <p:cNvPr id="776" name="Google Shape;776;g3d7929c4fa7_0_41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77" name="Google Shape;777;g3d7929c4fa7_0_4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46400" y="0"/>
            <a:ext cx="1641650" cy="7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2023-07-28T05:26:07Z</dcterms:created>
  <dc:creator>AKASH PUNDIR</dc:creator>
</cp:coreProperties>
</file>