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6858000" cx="12192000"/>
  <p:notesSz cx="6858000" cy="9144000"/>
  <p:embeddedFontLst>
    <p:embeddedFont>
      <p:font typeface="Roboto Mon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41" roundtripDataSignature="AMtx7mgKoD8qLugx32C+Np9YE7vyBq6G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1945102-763D-4103-B686-025F517FB0A6}">
  <a:tblStyle styleId="{11945102-763D-4103-B686-025F517FB0A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boldItalic.fntdata"/><Relationship Id="rId20" Type="http://schemas.openxmlformats.org/officeDocument/2006/relationships/slide" Target="slides/slide14.xml"/><Relationship Id="rId41"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obotoMono-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RobotoMono-italic.fntdata"/><Relationship Id="rId16" Type="http://schemas.openxmlformats.org/officeDocument/2006/relationships/slide" Target="slides/slide10.xml"/><Relationship Id="rId38" Type="http://schemas.openxmlformats.org/officeDocument/2006/relationships/font" Target="fonts/RobotoMono-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d10798bb04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 name="Google Shape;89;g3d10798bb04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d20f8606ae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d20f8606a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d20f8606ae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d20f8606a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7e767c37d_1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 name="Google Shape;109;g3d7e767c37d_1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d20f8606ae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g3d20f8606ae_0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7e767c37d_1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g3d7e767c37d_1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7e767c37d_1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g3d7e767c37d_1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20f8606ae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g3d20f8606ae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d20f8606ae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g3d20f8606ae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20f8606ae_0_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g3d20f8606ae_0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d20de29280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 name="Google Shape;153;g3d20de29280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d20f8606ae_0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 name="Google Shape;160;g3d20f8606ae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20f8606ae_0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g3d20f8606ae_0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d20f8606ae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g3d20f8606ae_0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d20f8606ae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8" name="Google Shape;178;g3d20f8606ae_0_1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d20f8606ae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g3d20f8606ae_0_1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d20f8606ae_0_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g3d20f8606ae_0_1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da4f68f186_0_1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g3da4f68f186_0_1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d20f8606ae_0_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7" name="Google Shape;207;g3d20f8606ae_0_1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d20f8606ae_0_1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4" name="Google Shape;214;g3d20f8606ae_0_1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da4f68f186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g3da4f68f186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da4f68f186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g3da4f68f186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da4f68f186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g3da4f68f186_0_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da4f68f186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g3da4f68f186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da4f68f186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 name="Google Shape;251;g3da4f68f186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da4f68f186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g3da4f68f186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da4f68f186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g3da4f68f186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da4f68f186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6" name="Google Shape;276;g3da4f68f186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da4f68f186_0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7" name="Google Shape;287;g3da4f68f186_0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 name="Google Shape;14;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2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3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3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3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3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6"/>
          <p:cNvSpPr/>
          <p:nvPr>
            <p:ph idx="2" type="pic"/>
          </p:nvPr>
        </p:nvSpPr>
        <p:spPr>
          <a:xfrm>
            <a:off x="5183188" y="987425"/>
            <a:ext cx="6172200" cy="4873625"/>
          </a:xfrm>
          <a:prstGeom prst="rect">
            <a:avLst/>
          </a:prstGeom>
          <a:noFill/>
          <a:ln>
            <a:noFill/>
          </a:ln>
        </p:spPr>
      </p:sp>
      <p:sp>
        <p:nvSpPr>
          <p:cNvPr id="64" name="Google Shape;64;p3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hyperlink" Target="http://127.0.0.1:8000/student?id=1&amp;name=Rabaab"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hyperlink" Target="http://127.0.0.1:8000/insert" TargetMode="External"/><Relationship Id="rId5" Type="http://schemas.openxmlformats.org/officeDocument/2006/relationships/hyperlink" Target="http://127.0.0.1:8000/students" TargetMode="External"/><Relationship Id="rId6" Type="http://schemas.openxmlformats.org/officeDocument/2006/relationships/hyperlink" Target="http://127.0.0.1:8000/student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hyperlink" Target="http://127.0.0.1:8000/insert" TargetMode="External"/><Relationship Id="rId9" Type="http://schemas.openxmlformats.org/officeDocument/2006/relationships/hyperlink" Target="http://127.0.0.1:8000/insert" TargetMode="External"/><Relationship Id="rId5" Type="http://schemas.openxmlformats.org/officeDocument/2006/relationships/hyperlink" Target="http://127.0.0.1:8000/insert" TargetMode="External"/><Relationship Id="rId6" Type="http://schemas.openxmlformats.org/officeDocument/2006/relationships/hyperlink" Target="mailto:test@gmail.com" TargetMode="External"/><Relationship Id="rId7" Type="http://schemas.openxmlformats.org/officeDocument/2006/relationships/hyperlink" Target="http://127.0.0.1:8000/insert" TargetMode="External"/><Relationship Id="rId8" Type="http://schemas.openxmlformats.org/officeDocument/2006/relationships/hyperlink" Target="http://127.0.0.1:8000/inser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title"/>
          </p:nvPr>
        </p:nvSpPr>
        <p:spPr>
          <a:xfrm>
            <a:off x="2399650" y="1437675"/>
            <a:ext cx="7139700" cy="15594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Arial Rounded"/>
              <a:buNone/>
            </a:pPr>
            <a:r>
              <a:rPr b="1" lang="en-US" sz="4000">
                <a:latin typeface="Arial Rounded"/>
                <a:ea typeface="Arial Rounded"/>
                <a:cs typeface="Arial Rounded"/>
                <a:sym typeface="Arial Rounded"/>
              </a:rPr>
              <a:t>INT 221 - MVC PROGRAMMING</a:t>
            </a:r>
            <a:endParaRPr b="1" sz="4000">
              <a:latin typeface="Arial Rounded"/>
              <a:ea typeface="Arial Rounded"/>
              <a:cs typeface="Arial Rounded"/>
              <a:sym typeface="Arial Rounded"/>
            </a:endParaRPr>
          </a:p>
        </p:txBody>
      </p:sp>
      <p:sp>
        <p:nvSpPr>
          <p:cNvPr id="85" name="Google Shape;85;p1"/>
          <p:cNvSpPr txBox="1"/>
          <p:nvPr>
            <p:ph idx="1" type="body"/>
          </p:nvPr>
        </p:nvSpPr>
        <p:spPr>
          <a:xfrm>
            <a:off x="1127750" y="3220150"/>
            <a:ext cx="10038000" cy="13932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1000"/>
              </a:spcBef>
              <a:spcAft>
                <a:spcPts val="0"/>
              </a:spcAft>
              <a:buClr>
                <a:schemeClr val="dk1"/>
              </a:buClr>
              <a:buSzPts val="2800"/>
              <a:buNone/>
            </a:pPr>
            <a:r>
              <a:t/>
            </a:r>
            <a:endParaRPr/>
          </a:p>
          <a:p>
            <a:pPr indent="0" lvl="0" marL="137160" rtl="0" algn="ctr">
              <a:lnSpc>
                <a:spcPct val="90000"/>
              </a:lnSpc>
              <a:spcBef>
                <a:spcPts val="1000"/>
              </a:spcBef>
              <a:spcAft>
                <a:spcPts val="0"/>
              </a:spcAft>
              <a:buClr>
                <a:schemeClr val="dk1"/>
              </a:buClr>
              <a:buSzPts val="2800"/>
              <a:buNone/>
            </a:pPr>
            <a:r>
              <a:rPr b="1" lang="en-US" sz="4400"/>
              <a:t>Unit 6</a:t>
            </a:r>
            <a:endParaRPr sz="4400"/>
          </a:p>
        </p:txBody>
      </p:sp>
      <p:pic>
        <p:nvPicPr>
          <p:cNvPr id="86" name="Google Shape;86;p1"/>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g3d10798bb04_0_6"/>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92" name="Google Shape;92;g3d10798bb04_0_6"/>
          <p:cNvSpPr txBox="1"/>
          <p:nvPr/>
        </p:nvSpPr>
        <p:spPr>
          <a:xfrm>
            <a:off x="548225" y="202125"/>
            <a:ext cx="10083900" cy="9894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000">
                <a:solidFill>
                  <a:srgbClr val="000000"/>
                </a:solidFill>
                <a:latin typeface="Calibri"/>
                <a:ea typeface="Calibri"/>
                <a:cs typeface="Calibri"/>
                <a:sym typeface="Calibri"/>
              </a:rPr>
              <a:t>Laravel's Database Abstraction Layer - Eloquent ORM</a:t>
            </a:r>
            <a:endParaRPr b="1" sz="3000">
              <a:solidFill>
                <a:srgbClr val="000000"/>
              </a:solidFill>
              <a:latin typeface="Calibri"/>
              <a:ea typeface="Calibri"/>
              <a:cs typeface="Calibri"/>
              <a:sym typeface="Calibri"/>
            </a:endParaRPr>
          </a:p>
        </p:txBody>
      </p:sp>
      <p:sp>
        <p:nvSpPr>
          <p:cNvPr id="93" name="Google Shape;93;g3d10798bb04_0_6"/>
          <p:cNvSpPr txBox="1"/>
          <p:nvPr/>
        </p:nvSpPr>
        <p:spPr>
          <a:xfrm>
            <a:off x="548225" y="1042425"/>
            <a:ext cx="10788600" cy="513420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None/>
            </a:pPr>
            <a:r>
              <a:t/>
            </a:r>
            <a:endParaRPr sz="3000">
              <a:solidFill>
                <a:srgbClr val="000000"/>
              </a:solidFill>
              <a:latin typeface="Calibri"/>
              <a:ea typeface="Calibri"/>
              <a:cs typeface="Calibri"/>
              <a:sym typeface="Calibri"/>
            </a:endParaRPr>
          </a:p>
          <a:p>
            <a:pPr indent="0" lvl="0" marL="0" rtl="0" algn="just">
              <a:lnSpc>
                <a:spcPct val="90000"/>
              </a:lnSpc>
              <a:spcBef>
                <a:spcPts val="1000"/>
              </a:spcBef>
              <a:spcAft>
                <a:spcPts val="0"/>
              </a:spcAft>
              <a:buNone/>
            </a:pPr>
            <a:r>
              <a:rPr lang="en-US" sz="3000">
                <a:solidFill>
                  <a:srgbClr val="000000"/>
                </a:solidFill>
                <a:latin typeface="Calibri"/>
                <a:ea typeface="Calibri"/>
                <a:cs typeface="Calibri"/>
                <a:sym typeface="Calibri"/>
              </a:rPr>
              <a:t>Laravel uses an </a:t>
            </a:r>
            <a:r>
              <a:rPr b="1" lang="en-US" sz="3000">
                <a:solidFill>
                  <a:srgbClr val="FF0000"/>
                </a:solidFill>
                <a:latin typeface="Calibri"/>
                <a:ea typeface="Calibri"/>
                <a:cs typeface="Calibri"/>
                <a:sym typeface="Calibri"/>
              </a:rPr>
              <a:t>Object-Relational Mapping (ORM) system called Eloquent</a:t>
            </a:r>
            <a:r>
              <a:rPr lang="en-US" sz="3000">
                <a:solidFill>
                  <a:srgbClr val="000000"/>
                </a:solidFill>
                <a:latin typeface="Calibri"/>
                <a:ea typeface="Calibri"/>
                <a:cs typeface="Calibri"/>
                <a:sym typeface="Calibri"/>
              </a:rPr>
              <a:t>, which provides a high-level, object-oriented way to interact with your database. </a:t>
            </a:r>
            <a:endParaRPr sz="3000">
              <a:solidFill>
                <a:srgbClr val="000000"/>
              </a:solidFill>
              <a:latin typeface="Calibri"/>
              <a:ea typeface="Calibri"/>
              <a:cs typeface="Calibri"/>
              <a:sym typeface="Calibri"/>
            </a:endParaRPr>
          </a:p>
          <a:p>
            <a:pPr indent="0" lvl="0" marL="0" rtl="0" algn="just">
              <a:lnSpc>
                <a:spcPct val="90000"/>
              </a:lnSpc>
              <a:spcBef>
                <a:spcPts val="1000"/>
              </a:spcBef>
              <a:spcAft>
                <a:spcPts val="0"/>
              </a:spcAft>
              <a:buNone/>
            </a:pPr>
            <a:r>
              <a:t/>
            </a:r>
            <a:endParaRPr sz="3000">
              <a:latin typeface="Calibri"/>
              <a:ea typeface="Calibri"/>
              <a:cs typeface="Calibri"/>
              <a:sym typeface="Calibri"/>
            </a:endParaRPr>
          </a:p>
          <a:p>
            <a:pPr indent="0" lvl="0" marL="0" rtl="0" algn="just">
              <a:lnSpc>
                <a:spcPct val="90000"/>
              </a:lnSpc>
              <a:spcBef>
                <a:spcPts val="0"/>
              </a:spcBef>
              <a:spcAft>
                <a:spcPts val="0"/>
              </a:spcAft>
              <a:buNone/>
            </a:pPr>
            <a:r>
              <a:rPr b="1" lang="en-US" sz="3000">
                <a:solidFill>
                  <a:schemeClr val="dk1"/>
                </a:solidFill>
                <a:latin typeface="Calibri"/>
                <a:ea typeface="Calibri"/>
                <a:cs typeface="Calibri"/>
                <a:sym typeface="Calibri"/>
              </a:rPr>
              <a:t>What is Eloquent ORM?</a:t>
            </a:r>
            <a:endParaRPr b="1" sz="3000">
              <a:solidFill>
                <a:schemeClr val="dk1"/>
              </a:solidFill>
              <a:latin typeface="Calibri"/>
              <a:ea typeface="Calibri"/>
              <a:cs typeface="Calibri"/>
              <a:sym typeface="Calibri"/>
            </a:endParaRPr>
          </a:p>
          <a:p>
            <a:pPr indent="0" lvl="0" marL="0" rtl="0" algn="just">
              <a:lnSpc>
                <a:spcPct val="90000"/>
              </a:lnSpc>
              <a:spcBef>
                <a:spcPts val="0"/>
              </a:spcBef>
              <a:spcAft>
                <a:spcPts val="0"/>
              </a:spcAft>
              <a:buNone/>
            </a:pPr>
            <a:r>
              <a:t/>
            </a:r>
            <a:endParaRPr b="1" sz="3000">
              <a:solidFill>
                <a:schemeClr val="dk1"/>
              </a:solidFill>
              <a:latin typeface="Calibri"/>
              <a:ea typeface="Calibri"/>
              <a:cs typeface="Calibri"/>
              <a:sym typeface="Calibri"/>
            </a:endParaRPr>
          </a:p>
          <a:p>
            <a:pPr indent="0" lvl="0" marL="0" rtl="0" algn="just">
              <a:lnSpc>
                <a:spcPct val="90000"/>
              </a:lnSpc>
              <a:spcBef>
                <a:spcPts val="0"/>
              </a:spcBef>
              <a:spcAft>
                <a:spcPts val="0"/>
              </a:spcAft>
              <a:buNone/>
            </a:pPr>
            <a:r>
              <a:rPr lang="en-US" sz="3000">
                <a:solidFill>
                  <a:schemeClr val="dk1"/>
                </a:solidFill>
                <a:latin typeface="Calibri"/>
                <a:ea typeface="Calibri"/>
                <a:cs typeface="Calibri"/>
                <a:sym typeface="Calibri"/>
              </a:rPr>
              <a:t> It allows you to work with database records as if they were objects in your application code. This means you can perform database operations using PHP classes and methods rather than writing SQL queries.</a:t>
            </a:r>
            <a:endParaRPr sz="3000">
              <a:solidFill>
                <a:schemeClr val="dk1"/>
              </a:solidFill>
              <a:latin typeface="Calibri"/>
              <a:ea typeface="Calibri"/>
              <a:cs typeface="Calibri"/>
              <a:sym typeface="Calibri"/>
            </a:endParaRPr>
          </a:p>
          <a:p>
            <a:pPr indent="0" lvl="0" marL="0" rtl="0" algn="just">
              <a:lnSpc>
                <a:spcPct val="90000"/>
              </a:lnSpc>
              <a:spcBef>
                <a:spcPts val="0"/>
              </a:spcBef>
              <a:spcAft>
                <a:spcPts val="0"/>
              </a:spcAft>
              <a:buClr>
                <a:schemeClr val="dk1"/>
              </a:buClr>
              <a:buSzPts val="1100"/>
              <a:buFont typeface="Arial"/>
              <a:buNone/>
            </a:pPr>
            <a:r>
              <a:t/>
            </a:r>
            <a:endParaRPr b="1" sz="3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3d20f8606ae_0_25"/>
          <p:cNvSpPr txBox="1"/>
          <p:nvPr/>
        </p:nvSpPr>
        <p:spPr>
          <a:xfrm>
            <a:off x="426250" y="242775"/>
            <a:ext cx="10927500" cy="679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US" sz="3000">
                <a:solidFill>
                  <a:srgbClr val="000000"/>
                </a:solidFill>
                <a:latin typeface="Calibri"/>
                <a:ea typeface="Calibri"/>
                <a:cs typeface="Calibri"/>
                <a:sym typeface="Calibri"/>
              </a:rPr>
              <a:t>Benefits of Eloquent ORM:</a:t>
            </a:r>
            <a:endParaRPr sz="3000">
              <a:solidFill>
                <a:srgbClr val="000000"/>
              </a:solidFill>
              <a:latin typeface="Calibri"/>
              <a:ea typeface="Calibri"/>
              <a:cs typeface="Calibri"/>
              <a:sym typeface="Calibri"/>
            </a:endParaRPr>
          </a:p>
        </p:txBody>
      </p:sp>
      <p:sp>
        <p:nvSpPr>
          <p:cNvPr id="99" name="Google Shape;99;g3d20f8606ae_0_25"/>
          <p:cNvSpPr txBox="1"/>
          <p:nvPr/>
        </p:nvSpPr>
        <p:spPr>
          <a:xfrm>
            <a:off x="73850" y="1042425"/>
            <a:ext cx="11561100" cy="5895600"/>
          </a:xfrm>
          <a:prstGeom prst="rect">
            <a:avLst/>
          </a:prstGeom>
          <a:noFill/>
          <a:ln>
            <a:noFill/>
          </a:ln>
        </p:spPr>
        <p:txBody>
          <a:bodyPr anchorCtr="0" anchor="t" bIns="45700" lIns="91425" spcFirstLastPara="1" rIns="91425" wrap="square" tIns="45700">
            <a:normAutofit/>
          </a:bodyPr>
          <a:lstStyle/>
          <a:p>
            <a:pPr indent="-273050" lvl="0" marL="228600" rtl="0" algn="just">
              <a:lnSpc>
                <a:spcPct val="90000"/>
              </a:lnSpc>
              <a:spcBef>
                <a:spcPts val="1000"/>
              </a:spcBef>
              <a:spcAft>
                <a:spcPts val="0"/>
              </a:spcAft>
              <a:buClr>
                <a:srgbClr val="000000"/>
              </a:buClr>
              <a:buSzPts val="2500"/>
              <a:buFont typeface="Calibri"/>
              <a:buChar char="•"/>
            </a:pPr>
            <a:r>
              <a:rPr b="1" lang="en-US" sz="2500">
                <a:solidFill>
                  <a:srgbClr val="000000"/>
                </a:solidFill>
                <a:latin typeface="Calibri"/>
                <a:ea typeface="Calibri"/>
                <a:cs typeface="Calibri"/>
                <a:sym typeface="Calibri"/>
              </a:rPr>
              <a:t>Database Abstraction</a:t>
            </a:r>
            <a:r>
              <a:rPr lang="en-US" sz="2500">
                <a:solidFill>
                  <a:srgbClr val="000000"/>
                </a:solidFill>
                <a:latin typeface="Calibri"/>
                <a:ea typeface="Calibri"/>
                <a:cs typeface="Calibri"/>
                <a:sym typeface="Calibri"/>
              </a:rPr>
              <a:t>: Eloquent abstracts the underlying database system, making it easy to switch between different databases (e.g., MySQL, PostgreSQL, SQLite) without changing your application code.</a:t>
            </a:r>
            <a:endParaRPr sz="2500">
              <a:solidFill>
                <a:srgbClr val="000000"/>
              </a:solidFill>
              <a:latin typeface="Calibri"/>
              <a:ea typeface="Calibri"/>
              <a:cs typeface="Calibri"/>
              <a:sym typeface="Calibri"/>
            </a:endParaRPr>
          </a:p>
          <a:p>
            <a:pPr indent="-209550" lvl="0" marL="228600" rtl="0" algn="just">
              <a:lnSpc>
                <a:spcPct val="90000"/>
              </a:lnSpc>
              <a:spcBef>
                <a:spcPts val="1000"/>
              </a:spcBef>
              <a:spcAft>
                <a:spcPts val="0"/>
              </a:spcAft>
              <a:buClr>
                <a:srgbClr val="000000"/>
              </a:buClr>
              <a:buSzPts val="2500"/>
              <a:buChar char="•"/>
            </a:pPr>
            <a:r>
              <a:rPr b="1" lang="en-US" sz="2500">
                <a:solidFill>
                  <a:srgbClr val="000000"/>
                </a:solidFill>
                <a:latin typeface="Calibri"/>
                <a:ea typeface="Calibri"/>
                <a:cs typeface="Calibri"/>
                <a:sym typeface="Calibri"/>
              </a:rPr>
              <a:t>Object-Oriented Approach</a:t>
            </a:r>
            <a:r>
              <a:rPr lang="en-US" sz="2500">
                <a:solidFill>
                  <a:srgbClr val="000000"/>
                </a:solidFill>
                <a:latin typeface="Calibri"/>
                <a:ea typeface="Calibri"/>
                <a:cs typeface="Calibri"/>
                <a:sym typeface="Calibri"/>
              </a:rPr>
              <a:t>: Eloquent models represent database tables as objects, making it intuitive to work with data in your application.</a:t>
            </a:r>
            <a:endParaRPr sz="2500">
              <a:solidFill>
                <a:srgbClr val="000000"/>
              </a:solidFill>
              <a:latin typeface="Calibri"/>
              <a:ea typeface="Calibri"/>
              <a:cs typeface="Calibri"/>
              <a:sym typeface="Calibri"/>
            </a:endParaRPr>
          </a:p>
          <a:p>
            <a:pPr indent="-209550" lvl="0" marL="228600" rtl="0" algn="just">
              <a:lnSpc>
                <a:spcPct val="90000"/>
              </a:lnSpc>
              <a:spcBef>
                <a:spcPts val="1000"/>
              </a:spcBef>
              <a:spcAft>
                <a:spcPts val="0"/>
              </a:spcAft>
              <a:buClr>
                <a:srgbClr val="000000"/>
              </a:buClr>
              <a:buSzPts val="2500"/>
              <a:buChar char="•"/>
            </a:pPr>
            <a:r>
              <a:rPr b="1" lang="en-US" sz="2500">
                <a:solidFill>
                  <a:srgbClr val="000000"/>
                </a:solidFill>
                <a:latin typeface="Calibri"/>
                <a:ea typeface="Calibri"/>
                <a:cs typeface="Calibri"/>
                <a:sym typeface="Calibri"/>
              </a:rPr>
              <a:t>Readable and Maintainable Code</a:t>
            </a:r>
            <a:r>
              <a:rPr lang="en-US" sz="2500">
                <a:solidFill>
                  <a:srgbClr val="000000"/>
                </a:solidFill>
                <a:latin typeface="Calibri"/>
                <a:ea typeface="Calibri"/>
                <a:cs typeface="Calibri"/>
                <a:sym typeface="Calibri"/>
              </a:rPr>
              <a:t>: Eloquent simplifies database interactions, resulting in cleaner and more maintainable code.</a:t>
            </a:r>
            <a:endParaRPr sz="2500">
              <a:solidFill>
                <a:srgbClr val="000000"/>
              </a:solidFill>
              <a:latin typeface="Calibri"/>
              <a:ea typeface="Calibri"/>
              <a:cs typeface="Calibri"/>
              <a:sym typeface="Calibri"/>
            </a:endParaRPr>
          </a:p>
          <a:p>
            <a:pPr indent="0" lvl="0" marL="228600" rtl="0" algn="just">
              <a:lnSpc>
                <a:spcPct val="90000"/>
              </a:lnSpc>
              <a:spcBef>
                <a:spcPts val="1000"/>
              </a:spcBef>
              <a:spcAft>
                <a:spcPts val="0"/>
              </a:spcAft>
              <a:buNone/>
            </a:pPr>
            <a:r>
              <a:t/>
            </a:r>
            <a:endParaRPr sz="2500">
              <a:latin typeface="Calibri"/>
              <a:ea typeface="Calibri"/>
              <a:cs typeface="Calibri"/>
              <a:sym typeface="Calibri"/>
            </a:endParaRPr>
          </a:p>
          <a:p>
            <a:pPr indent="-304800" lvl="0" marL="228600" rtl="0" algn="l">
              <a:lnSpc>
                <a:spcPct val="90000"/>
              </a:lnSpc>
              <a:spcBef>
                <a:spcPts val="0"/>
              </a:spcBef>
              <a:spcAft>
                <a:spcPts val="0"/>
              </a:spcAft>
              <a:buClr>
                <a:srgbClr val="000000"/>
              </a:buClr>
              <a:buSzPts val="3000"/>
              <a:buFont typeface="Calibri"/>
              <a:buChar char="•"/>
            </a:pPr>
            <a:r>
              <a:rPr b="1" lang="en-US" sz="3000">
                <a:solidFill>
                  <a:schemeClr val="dk1"/>
                </a:solidFill>
              </a:rPr>
              <a:t>Benefits of Abstraction-&gt; </a:t>
            </a:r>
            <a:r>
              <a:rPr b="1" lang="en-US" sz="3000">
                <a:solidFill>
                  <a:schemeClr val="dk1"/>
                </a:solidFill>
                <a:latin typeface="Calibri"/>
                <a:ea typeface="Calibri"/>
                <a:cs typeface="Calibri"/>
                <a:sym typeface="Calibri"/>
              </a:rPr>
              <a:t>Database Portability:</a:t>
            </a:r>
            <a:endParaRPr sz="3000">
              <a:solidFill>
                <a:schemeClr val="dk1"/>
              </a:solidFill>
              <a:latin typeface="Calibri"/>
              <a:ea typeface="Calibri"/>
              <a:cs typeface="Calibri"/>
              <a:sym typeface="Calibri"/>
            </a:endParaRPr>
          </a:p>
          <a:p>
            <a:pPr indent="0" lvl="0" marL="228600" rtl="0" algn="just">
              <a:lnSpc>
                <a:spcPct val="90000"/>
              </a:lnSpc>
              <a:spcBef>
                <a:spcPts val="1000"/>
              </a:spcBef>
              <a:spcAft>
                <a:spcPts val="0"/>
              </a:spcAft>
              <a:buNone/>
            </a:pPr>
            <a:r>
              <a:rPr lang="en-US" sz="2500">
                <a:solidFill>
                  <a:schemeClr val="dk1"/>
                </a:solidFill>
                <a:latin typeface="Calibri"/>
                <a:ea typeface="Calibri"/>
                <a:cs typeface="Calibri"/>
                <a:sym typeface="Calibri"/>
              </a:rPr>
              <a:t>With Eloquent, you define your database schema and queries in a database-agnostic way. This means that you can easily switch between different database systems without rewriting your database code. Laravel will handle the database-specific differences behind the scenes, giving you the flexibility to adapt to changing requirements or server configurations.</a:t>
            </a:r>
            <a:endParaRPr b="1" sz="2500">
              <a:solidFill>
                <a:schemeClr val="dk1"/>
              </a:solidFill>
            </a:endParaRPr>
          </a:p>
        </p:txBody>
      </p:sp>
      <p:pic>
        <p:nvPicPr>
          <p:cNvPr id="100" name="Google Shape;100;g3d20f8606ae_0_25"/>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d20f8606ae_0_39"/>
          <p:cNvSpPr txBox="1"/>
          <p:nvPr/>
        </p:nvSpPr>
        <p:spPr>
          <a:xfrm>
            <a:off x="358475" y="0"/>
            <a:ext cx="10449600" cy="6699900"/>
          </a:xfrm>
          <a:prstGeom prst="rect">
            <a:avLst/>
          </a:prstGeom>
          <a:noFill/>
          <a:ln>
            <a:noFill/>
          </a:ln>
        </p:spPr>
        <p:txBody>
          <a:bodyPr anchorCtr="0" anchor="t" bIns="91425" lIns="91425" spcFirstLastPara="1" rIns="91425" wrap="square" tIns="91425">
            <a:spAutoFit/>
          </a:bodyPr>
          <a:lstStyle/>
          <a:p>
            <a:pPr indent="0" lvl="0" marL="0" rtl="0" algn="just">
              <a:lnSpc>
                <a:spcPct val="90000"/>
              </a:lnSpc>
              <a:spcBef>
                <a:spcPts val="0"/>
              </a:spcBef>
              <a:spcAft>
                <a:spcPts val="0"/>
              </a:spcAft>
              <a:buNone/>
            </a:pPr>
            <a:r>
              <a:rPr b="1" lang="en-US" sz="2800">
                <a:solidFill>
                  <a:schemeClr val="dk1"/>
                </a:solidFill>
                <a:latin typeface="Calibri"/>
                <a:ea typeface="Calibri"/>
                <a:cs typeface="Calibri"/>
                <a:sym typeface="Calibri"/>
              </a:rPr>
              <a:t>Ease of Development:</a:t>
            </a:r>
            <a:endParaRPr sz="2800">
              <a:solidFill>
                <a:schemeClr val="dk1"/>
              </a:solidFill>
              <a:latin typeface="Calibri"/>
              <a:ea typeface="Calibri"/>
              <a:cs typeface="Calibri"/>
              <a:sym typeface="Calibri"/>
            </a:endParaRPr>
          </a:p>
          <a:p>
            <a:pPr indent="-209550" lvl="0" marL="228600" rtl="0" algn="just">
              <a:lnSpc>
                <a:spcPct val="90000"/>
              </a:lnSpc>
              <a:spcBef>
                <a:spcPts val="1000"/>
              </a:spcBef>
              <a:spcAft>
                <a:spcPts val="0"/>
              </a:spcAft>
              <a:buClr>
                <a:schemeClr val="dk1"/>
              </a:buClr>
              <a:buSzPts val="2500"/>
              <a:buChar char="•"/>
            </a:pPr>
            <a:r>
              <a:rPr lang="en-US" sz="2500">
                <a:solidFill>
                  <a:schemeClr val="dk1"/>
                </a:solidFill>
                <a:latin typeface="Calibri"/>
                <a:ea typeface="Calibri"/>
                <a:cs typeface="Calibri"/>
                <a:sym typeface="Calibri"/>
              </a:rPr>
              <a:t>Eloquent reduces the complexity of working directly with SQL. You define your database schema using PHP classes, and you query the database using methods on those classes. This approach simplifies the development process, reduces the likelihood of SQL injection vulnerabilities, and makes code more readable and maintainable.</a:t>
            </a:r>
            <a:endParaRPr sz="2500">
              <a:solidFill>
                <a:schemeClr val="dk1"/>
              </a:solidFill>
              <a:latin typeface="Calibri"/>
              <a:ea typeface="Calibri"/>
              <a:cs typeface="Calibri"/>
              <a:sym typeface="Calibri"/>
            </a:endParaRPr>
          </a:p>
          <a:p>
            <a:pPr indent="0" lvl="0" marL="0" rtl="0" algn="l">
              <a:lnSpc>
                <a:spcPct val="115000"/>
              </a:lnSpc>
              <a:spcBef>
                <a:spcPts val="2400"/>
              </a:spcBef>
              <a:spcAft>
                <a:spcPts val="0"/>
              </a:spcAft>
              <a:buClr>
                <a:schemeClr val="dk1"/>
              </a:buClr>
              <a:buSzPts val="1100"/>
              <a:buFont typeface="Arial"/>
              <a:buNone/>
            </a:pPr>
            <a:r>
              <a:rPr b="1" lang="en-US" sz="2500">
                <a:solidFill>
                  <a:schemeClr val="dk1"/>
                </a:solidFill>
              </a:rPr>
              <a:t>Student CRUD API (MySQL + Eloquent)</a:t>
            </a:r>
            <a:endParaRPr b="1" sz="2500">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US" sz="2500">
                <a:solidFill>
                  <a:schemeClr val="dk1"/>
                </a:solidFill>
              </a:rPr>
              <a:t> PART 1: MODEL (Concept)</a:t>
            </a:r>
            <a:endParaRPr b="1" sz="2500">
              <a:solidFill>
                <a:schemeClr val="dk1"/>
              </a:solidFill>
            </a:endParaRPr>
          </a:p>
          <a:p>
            <a:pPr indent="457200" lvl="0" marL="0" rtl="0" algn="l">
              <a:lnSpc>
                <a:spcPct val="100000"/>
              </a:lnSpc>
              <a:spcBef>
                <a:spcPts val="1200"/>
              </a:spcBef>
              <a:spcAft>
                <a:spcPts val="0"/>
              </a:spcAft>
              <a:buClr>
                <a:schemeClr val="dk1"/>
              </a:buClr>
              <a:buSzPts val="1100"/>
              <a:buFont typeface="Arial"/>
              <a:buNone/>
            </a:pPr>
            <a:r>
              <a:rPr lang="en-US" sz="2000">
                <a:solidFill>
                  <a:schemeClr val="dk1"/>
                </a:solidFill>
              </a:rPr>
              <a:t>A </a:t>
            </a:r>
            <a:r>
              <a:rPr b="1" lang="en-US" sz="2000">
                <a:solidFill>
                  <a:schemeClr val="dk1"/>
                </a:solidFill>
              </a:rPr>
              <a:t>Model represents a database table</a:t>
            </a:r>
            <a:r>
              <a:rPr lang="en-US" sz="2000">
                <a:solidFill>
                  <a:schemeClr val="dk1"/>
                </a:solidFill>
              </a:rPr>
              <a:t>.</a:t>
            </a:r>
            <a:endParaRPr sz="2000">
              <a:solidFill>
                <a:schemeClr val="dk1"/>
              </a:solidFill>
            </a:endParaRPr>
          </a:p>
          <a:p>
            <a:pPr indent="457200" lvl="0" marL="0" rtl="0" algn="l">
              <a:lnSpc>
                <a:spcPct val="100000"/>
              </a:lnSpc>
              <a:spcBef>
                <a:spcPts val="1200"/>
              </a:spcBef>
              <a:spcAft>
                <a:spcPts val="0"/>
              </a:spcAft>
              <a:buNone/>
            </a:pPr>
            <a:r>
              <a:rPr lang="en-US" sz="2000">
                <a:solidFill>
                  <a:schemeClr val="dk1"/>
                </a:solidFill>
              </a:rPr>
              <a:t> Example:	</a:t>
            </a:r>
            <a:r>
              <a:rPr lang="en-US" sz="2000">
                <a:solidFill>
                  <a:srgbClr val="188038"/>
                </a:solidFill>
                <a:latin typeface="Roboto Mono"/>
                <a:ea typeface="Roboto Mono"/>
                <a:cs typeface="Roboto Mono"/>
                <a:sym typeface="Roboto Mono"/>
              </a:rPr>
              <a:t>Student</a:t>
            </a:r>
            <a:r>
              <a:rPr lang="en-US" sz="2000">
                <a:solidFill>
                  <a:schemeClr val="dk1"/>
                </a:solidFill>
              </a:rPr>
              <a:t> model → </a:t>
            </a:r>
            <a:r>
              <a:rPr lang="en-US" sz="2000">
                <a:solidFill>
                  <a:srgbClr val="188038"/>
                </a:solidFill>
                <a:latin typeface="Roboto Mono"/>
                <a:ea typeface="Roboto Mono"/>
                <a:cs typeface="Roboto Mono"/>
                <a:sym typeface="Roboto Mono"/>
              </a:rPr>
              <a:t>students</a:t>
            </a:r>
            <a:r>
              <a:rPr lang="en-US" sz="2000">
                <a:solidFill>
                  <a:schemeClr val="dk1"/>
                </a:solidFill>
              </a:rPr>
              <a:t> table</a:t>
            </a:r>
            <a:endParaRPr sz="2000">
              <a:solidFill>
                <a:schemeClr val="dk1"/>
              </a:solidFill>
            </a:endParaRPr>
          </a:p>
          <a:p>
            <a:pPr indent="0" lvl="0" marL="0" rtl="0" algn="l">
              <a:lnSpc>
                <a:spcPct val="115000"/>
              </a:lnSpc>
              <a:spcBef>
                <a:spcPts val="1800"/>
              </a:spcBef>
              <a:spcAft>
                <a:spcPts val="0"/>
              </a:spcAft>
              <a:buNone/>
            </a:pPr>
            <a:r>
              <a:rPr b="1" lang="en-US" sz="2500">
                <a:solidFill>
                  <a:schemeClr val="dk1"/>
                </a:solidFill>
              </a:rPr>
              <a:t>Role of Model:</a:t>
            </a:r>
            <a:endParaRPr b="1" sz="2500">
              <a:solidFill>
                <a:schemeClr val="dk1"/>
              </a:solidFill>
            </a:endParaRPr>
          </a:p>
          <a:p>
            <a:pPr indent="-355600" lvl="0" marL="914400" rtl="0" algn="l">
              <a:lnSpc>
                <a:spcPct val="115000"/>
              </a:lnSpc>
              <a:spcBef>
                <a:spcPts val="1200"/>
              </a:spcBef>
              <a:spcAft>
                <a:spcPts val="0"/>
              </a:spcAft>
              <a:buClr>
                <a:schemeClr val="dk1"/>
              </a:buClr>
              <a:buSzPts val="2000"/>
              <a:buChar char="●"/>
            </a:pPr>
            <a:r>
              <a:rPr lang="en-US" sz="2000">
                <a:solidFill>
                  <a:schemeClr val="dk1"/>
                </a:solidFill>
              </a:rPr>
              <a:t>Connect to DB</a:t>
            </a:r>
            <a:endParaRPr sz="2000">
              <a:solidFill>
                <a:schemeClr val="dk1"/>
              </a:solidFill>
            </a:endParaRPr>
          </a:p>
          <a:p>
            <a:pPr indent="-355600" lvl="0" marL="914400" rtl="0" algn="l">
              <a:lnSpc>
                <a:spcPct val="115000"/>
              </a:lnSpc>
              <a:spcBef>
                <a:spcPts val="0"/>
              </a:spcBef>
              <a:spcAft>
                <a:spcPts val="0"/>
              </a:spcAft>
              <a:buClr>
                <a:schemeClr val="dk1"/>
              </a:buClr>
              <a:buSzPts val="2000"/>
              <a:buChar char="●"/>
            </a:pPr>
            <a:r>
              <a:rPr lang="en-US" sz="2000">
                <a:solidFill>
                  <a:schemeClr val="dk1"/>
                </a:solidFill>
              </a:rPr>
              <a:t>Perform CRUD</a:t>
            </a:r>
            <a:endParaRPr sz="2000">
              <a:solidFill>
                <a:schemeClr val="dk1"/>
              </a:solidFill>
            </a:endParaRPr>
          </a:p>
          <a:p>
            <a:pPr indent="-355600" lvl="0" marL="914400" rtl="0" algn="l">
              <a:lnSpc>
                <a:spcPct val="115000"/>
              </a:lnSpc>
              <a:spcBef>
                <a:spcPts val="0"/>
              </a:spcBef>
              <a:spcAft>
                <a:spcPts val="0"/>
              </a:spcAft>
              <a:buClr>
                <a:schemeClr val="dk1"/>
              </a:buClr>
              <a:buSzPts val="2000"/>
              <a:buChar char="●"/>
            </a:pPr>
            <a:r>
              <a:rPr lang="en-US" sz="2000">
                <a:solidFill>
                  <a:schemeClr val="dk1"/>
                </a:solidFill>
              </a:rPr>
              <a:t>Handle business logic</a:t>
            </a:r>
            <a:endParaRPr sz="2800">
              <a:solidFill>
                <a:schemeClr val="dk1"/>
              </a:solidFill>
              <a:latin typeface="Calibri"/>
              <a:ea typeface="Calibri"/>
              <a:cs typeface="Calibri"/>
              <a:sym typeface="Calibri"/>
            </a:endParaRPr>
          </a:p>
        </p:txBody>
      </p:sp>
      <p:pic>
        <p:nvPicPr>
          <p:cNvPr id="106" name="Google Shape;106;g3d20f8606ae_0_39"/>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d7e767c37d_1_20"/>
          <p:cNvSpPr txBox="1"/>
          <p:nvPr>
            <p:ph type="title"/>
          </p:nvPr>
        </p:nvSpPr>
        <p:spPr>
          <a:xfrm>
            <a:off x="317825" y="285150"/>
            <a:ext cx="10970700" cy="6450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2400"/>
              </a:spcBef>
              <a:spcAft>
                <a:spcPts val="0"/>
              </a:spcAft>
              <a:buNone/>
            </a:pPr>
            <a:r>
              <a:rPr b="1" lang="en-US" sz="3000">
                <a:latin typeface="Arial"/>
                <a:ea typeface="Arial"/>
                <a:cs typeface="Arial"/>
                <a:sym typeface="Arial"/>
              </a:rPr>
              <a:t>STEP 1: Create Laravel Project</a:t>
            </a:r>
            <a:endParaRPr b="1" sz="3000">
              <a:latin typeface="Arial"/>
              <a:ea typeface="Arial"/>
              <a:cs typeface="Arial"/>
              <a:sym typeface="Arial"/>
            </a:endParaRPr>
          </a:p>
          <a:p>
            <a:pPr indent="0" lvl="0" marL="457200" rtl="0" algn="l">
              <a:lnSpc>
                <a:spcPct val="115000"/>
              </a:lnSpc>
              <a:spcBef>
                <a:spcPts val="600"/>
              </a:spcBef>
              <a:spcAft>
                <a:spcPts val="0"/>
              </a:spcAft>
              <a:buNone/>
            </a:pPr>
            <a:r>
              <a:rPr lang="en-US" sz="2000">
                <a:latin typeface="Arial"/>
                <a:ea typeface="Arial"/>
                <a:cs typeface="Arial"/>
                <a:sym typeface="Arial"/>
              </a:rPr>
              <a:t>composer create-project laravel/laravel student-api</a:t>
            </a:r>
            <a:endParaRPr sz="2000">
              <a:latin typeface="Arial"/>
              <a:ea typeface="Arial"/>
              <a:cs typeface="Arial"/>
              <a:sym typeface="Arial"/>
            </a:endParaRPr>
          </a:p>
          <a:p>
            <a:pPr indent="0" lvl="0" marL="457200" rtl="0" algn="l">
              <a:lnSpc>
                <a:spcPct val="115000"/>
              </a:lnSpc>
              <a:spcBef>
                <a:spcPts val="0"/>
              </a:spcBef>
              <a:spcAft>
                <a:spcPts val="0"/>
              </a:spcAft>
              <a:buNone/>
            </a:pPr>
            <a:r>
              <a:rPr lang="en-US" sz="2000">
                <a:latin typeface="Arial"/>
                <a:ea typeface="Arial"/>
                <a:cs typeface="Arial"/>
                <a:sym typeface="Arial"/>
              </a:rPr>
              <a:t>cd student-api</a:t>
            </a:r>
            <a:endParaRPr sz="2000">
              <a:latin typeface="Arial"/>
              <a:ea typeface="Arial"/>
              <a:cs typeface="Arial"/>
              <a:sym typeface="Arial"/>
            </a:endParaRPr>
          </a:p>
          <a:p>
            <a:pPr indent="0" lvl="0" marL="457200" rtl="0" algn="l">
              <a:lnSpc>
                <a:spcPct val="115000"/>
              </a:lnSpc>
              <a:spcBef>
                <a:spcPts val="0"/>
              </a:spcBef>
              <a:spcAft>
                <a:spcPts val="0"/>
              </a:spcAft>
              <a:buNone/>
            </a:pPr>
            <a:r>
              <a:rPr lang="en-US" sz="2000">
                <a:latin typeface="Arial"/>
                <a:ea typeface="Arial"/>
                <a:cs typeface="Arial"/>
                <a:sym typeface="Arial"/>
              </a:rPr>
              <a:t>php artisan serve</a:t>
            </a:r>
            <a:endParaRPr sz="2000">
              <a:latin typeface="Arial"/>
              <a:ea typeface="Arial"/>
              <a:cs typeface="Arial"/>
              <a:sym typeface="Arial"/>
            </a:endParaRPr>
          </a:p>
          <a:p>
            <a:pPr indent="0" lvl="0" marL="0" rtl="0" algn="l">
              <a:lnSpc>
                <a:spcPct val="115000"/>
              </a:lnSpc>
              <a:spcBef>
                <a:spcPts val="2400"/>
              </a:spcBef>
              <a:spcAft>
                <a:spcPts val="0"/>
              </a:spcAft>
              <a:buSzPts val="1100"/>
              <a:buNone/>
            </a:pPr>
            <a:r>
              <a:rPr b="1" lang="en-US" sz="3000">
                <a:latin typeface="Arial"/>
                <a:ea typeface="Arial"/>
                <a:cs typeface="Arial"/>
                <a:sym typeface="Arial"/>
              </a:rPr>
              <a:t>STEP 2: Configure MySQL Database-&gt; open </a:t>
            </a:r>
            <a:r>
              <a:rPr lang="en-US" sz="3000">
                <a:solidFill>
                  <a:srgbClr val="188038"/>
                </a:solidFill>
                <a:latin typeface="Roboto Mono"/>
                <a:ea typeface="Roboto Mono"/>
                <a:cs typeface="Roboto Mono"/>
                <a:sym typeface="Roboto Mono"/>
              </a:rPr>
              <a:t>.env</a:t>
            </a:r>
            <a:endParaRPr sz="3000">
              <a:solidFill>
                <a:srgbClr val="188038"/>
              </a:solidFill>
              <a:latin typeface="Roboto Mono"/>
              <a:ea typeface="Roboto Mono"/>
              <a:cs typeface="Roboto Mono"/>
              <a:sym typeface="Roboto Mono"/>
            </a:endParaRPr>
          </a:p>
          <a:p>
            <a:pPr indent="0" lvl="0" marL="0" rtl="0" algn="l">
              <a:lnSpc>
                <a:spcPct val="115000"/>
              </a:lnSpc>
              <a:spcBef>
                <a:spcPts val="600"/>
              </a:spcBef>
              <a:spcAft>
                <a:spcPts val="0"/>
              </a:spcAft>
              <a:buSzPts val="1100"/>
              <a:buNone/>
            </a:pPr>
            <a:r>
              <a:rPr lang="en-US" sz="2000">
                <a:latin typeface="Arial"/>
                <a:ea typeface="Arial"/>
                <a:cs typeface="Arial"/>
                <a:sym typeface="Arial"/>
              </a:rPr>
              <a:t>DB_CONNECTION=mysql</a:t>
            </a:r>
            <a:endParaRPr sz="2000">
              <a:latin typeface="Arial"/>
              <a:ea typeface="Arial"/>
              <a:cs typeface="Arial"/>
              <a:sym typeface="Arial"/>
            </a:endParaRPr>
          </a:p>
          <a:p>
            <a:pPr indent="0" lvl="0" marL="0" rtl="0" algn="l">
              <a:lnSpc>
                <a:spcPct val="115000"/>
              </a:lnSpc>
              <a:spcBef>
                <a:spcPts val="0"/>
              </a:spcBef>
              <a:spcAft>
                <a:spcPts val="0"/>
              </a:spcAft>
              <a:buSzPts val="1100"/>
              <a:buNone/>
            </a:pPr>
            <a:r>
              <a:rPr lang="en-US" sz="2000">
                <a:latin typeface="Arial"/>
                <a:ea typeface="Arial"/>
                <a:cs typeface="Arial"/>
                <a:sym typeface="Arial"/>
              </a:rPr>
              <a:t>DB_HOST=127.0.0.1</a:t>
            </a:r>
            <a:endParaRPr sz="2000">
              <a:latin typeface="Arial"/>
              <a:ea typeface="Arial"/>
              <a:cs typeface="Arial"/>
              <a:sym typeface="Arial"/>
            </a:endParaRPr>
          </a:p>
          <a:p>
            <a:pPr indent="0" lvl="0" marL="0" rtl="0" algn="l">
              <a:lnSpc>
                <a:spcPct val="115000"/>
              </a:lnSpc>
              <a:spcBef>
                <a:spcPts val="0"/>
              </a:spcBef>
              <a:spcAft>
                <a:spcPts val="0"/>
              </a:spcAft>
              <a:buSzPts val="1100"/>
              <a:buNone/>
            </a:pPr>
            <a:r>
              <a:rPr lang="en-US" sz="2000">
                <a:latin typeface="Arial"/>
                <a:ea typeface="Arial"/>
                <a:cs typeface="Arial"/>
                <a:sym typeface="Arial"/>
              </a:rPr>
              <a:t>DB_PORT=3306</a:t>
            </a:r>
            <a:endParaRPr sz="2000">
              <a:latin typeface="Arial"/>
              <a:ea typeface="Arial"/>
              <a:cs typeface="Arial"/>
              <a:sym typeface="Arial"/>
            </a:endParaRPr>
          </a:p>
          <a:p>
            <a:pPr indent="0" lvl="0" marL="0" rtl="0" algn="l">
              <a:lnSpc>
                <a:spcPct val="115000"/>
              </a:lnSpc>
              <a:spcBef>
                <a:spcPts val="0"/>
              </a:spcBef>
              <a:spcAft>
                <a:spcPts val="0"/>
              </a:spcAft>
              <a:buSzPts val="1100"/>
              <a:buNone/>
            </a:pPr>
            <a:r>
              <a:rPr lang="en-US" sz="2000">
                <a:latin typeface="Arial"/>
                <a:ea typeface="Arial"/>
                <a:cs typeface="Arial"/>
                <a:sym typeface="Arial"/>
              </a:rPr>
              <a:t>DB_DATABASE=student_db</a:t>
            </a:r>
            <a:endParaRPr sz="2000">
              <a:latin typeface="Arial"/>
              <a:ea typeface="Arial"/>
              <a:cs typeface="Arial"/>
              <a:sym typeface="Arial"/>
            </a:endParaRPr>
          </a:p>
          <a:p>
            <a:pPr indent="0" lvl="0" marL="0" rtl="0" algn="l">
              <a:lnSpc>
                <a:spcPct val="115000"/>
              </a:lnSpc>
              <a:spcBef>
                <a:spcPts val="0"/>
              </a:spcBef>
              <a:spcAft>
                <a:spcPts val="0"/>
              </a:spcAft>
              <a:buSzPts val="1100"/>
              <a:buNone/>
            </a:pPr>
            <a:r>
              <a:rPr lang="en-US" sz="2000">
                <a:latin typeface="Arial"/>
                <a:ea typeface="Arial"/>
                <a:cs typeface="Arial"/>
                <a:sym typeface="Arial"/>
              </a:rPr>
              <a:t>DB_USERNAME=root</a:t>
            </a:r>
            <a:endParaRPr sz="2000">
              <a:latin typeface="Arial"/>
              <a:ea typeface="Arial"/>
              <a:cs typeface="Arial"/>
              <a:sym typeface="Arial"/>
            </a:endParaRPr>
          </a:p>
          <a:p>
            <a:pPr indent="0" lvl="0" marL="0" rtl="0" algn="l">
              <a:lnSpc>
                <a:spcPct val="115000"/>
              </a:lnSpc>
              <a:spcBef>
                <a:spcPts val="0"/>
              </a:spcBef>
              <a:spcAft>
                <a:spcPts val="0"/>
              </a:spcAft>
              <a:buSzPts val="1100"/>
              <a:buNone/>
            </a:pPr>
            <a:r>
              <a:rPr lang="en-US" sz="2000">
                <a:latin typeface="Arial"/>
                <a:ea typeface="Arial"/>
                <a:cs typeface="Arial"/>
                <a:sym typeface="Arial"/>
              </a:rPr>
              <a:t>DB_PASSWORD=</a:t>
            </a:r>
            <a:endParaRPr sz="2000">
              <a:latin typeface="Arial"/>
              <a:ea typeface="Arial"/>
              <a:cs typeface="Arial"/>
              <a:sym typeface="Arial"/>
            </a:endParaRPr>
          </a:p>
          <a:p>
            <a:pPr indent="-355600" lvl="0" marL="457200" rtl="0" algn="l">
              <a:lnSpc>
                <a:spcPct val="115000"/>
              </a:lnSpc>
              <a:spcBef>
                <a:spcPts val="1200"/>
              </a:spcBef>
              <a:spcAft>
                <a:spcPts val="0"/>
              </a:spcAft>
              <a:buSzPts val="2000"/>
              <a:buFont typeface="Arial"/>
              <a:buChar char="●"/>
            </a:pPr>
            <a:r>
              <a:rPr lang="en-US" sz="2000">
                <a:latin typeface="Arial"/>
                <a:ea typeface="Arial"/>
                <a:cs typeface="Arial"/>
                <a:sym typeface="Arial"/>
              </a:rPr>
              <a:t> Create a database in MySQL:</a:t>
            </a:r>
            <a:endParaRPr sz="2000">
              <a:latin typeface="Arial"/>
              <a:ea typeface="Arial"/>
              <a:cs typeface="Arial"/>
              <a:sym typeface="Arial"/>
            </a:endParaRPr>
          </a:p>
          <a:p>
            <a:pPr indent="457200" lvl="0" marL="457200" rtl="0" algn="l">
              <a:lnSpc>
                <a:spcPct val="115000"/>
              </a:lnSpc>
              <a:spcBef>
                <a:spcPts val="1200"/>
              </a:spcBef>
              <a:spcAft>
                <a:spcPts val="0"/>
              </a:spcAft>
              <a:buSzPts val="1100"/>
              <a:buNone/>
            </a:pPr>
            <a:r>
              <a:rPr lang="en-US" sz="2000">
                <a:latin typeface="Arial"/>
                <a:ea typeface="Arial"/>
                <a:cs typeface="Arial"/>
                <a:sym typeface="Arial"/>
              </a:rPr>
              <a:t>CREATE DATABASE student_db;</a:t>
            </a:r>
            <a:endParaRPr b="1" sz="2000">
              <a:latin typeface="Arial"/>
              <a:ea typeface="Arial"/>
              <a:cs typeface="Arial"/>
              <a:sym typeface="Arial"/>
            </a:endParaRPr>
          </a:p>
        </p:txBody>
      </p:sp>
      <p:pic>
        <p:nvPicPr>
          <p:cNvPr id="112" name="Google Shape;112;g3d7e767c37d_1_20"/>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d20f8606ae_0_69"/>
          <p:cNvSpPr txBox="1"/>
          <p:nvPr>
            <p:ph type="title"/>
          </p:nvPr>
        </p:nvSpPr>
        <p:spPr>
          <a:xfrm>
            <a:off x="317825" y="0"/>
            <a:ext cx="10970700" cy="6735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2400"/>
              </a:spcBef>
              <a:spcAft>
                <a:spcPts val="0"/>
              </a:spcAft>
              <a:buSzPts val="1100"/>
              <a:buNone/>
            </a:pPr>
            <a:r>
              <a:rPr b="1" lang="en-US" sz="2000">
                <a:latin typeface="Arial"/>
                <a:ea typeface="Arial"/>
                <a:cs typeface="Arial"/>
                <a:sym typeface="Arial"/>
              </a:rPr>
              <a:t>STEP 3: Create Model + Migration + Factory  -&gt; </a:t>
            </a:r>
            <a:r>
              <a:rPr lang="en-US" sz="2000">
                <a:latin typeface="Arial"/>
                <a:ea typeface="Arial"/>
                <a:cs typeface="Arial"/>
                <a:sym typeface="Arial"/>
              </a:rPr>
              <a:t>php artisan make:model Student -mf </a:t>
            </a:r>
            <a:endParaRPr sz="2000">
              <a:latin typeface="Arial"/>
              <a:ea typeface="Arial"/>
              <a:cs typeface="Arial"/>
              <a:sym typeface="Arial"/>
            </a:endParaRPr>
          </a:p>
          <a:p>
            <a:pPr indent="0" lvl="0" marL="0" rtl="0" algn="l">
              <a:lnSpc>
                <a:spcPct val="100000"/>
              </a:lnSpc>
              <a:spcBef>
                <a:spcPts val="600"/>
              </a:spcBef>
              <a:spcAft>
                <a:spcPts val="0"/>
              </a:spcAft>
              <a:buSzPts val="1100"/>
              <a:buNone/>
            </a:pPr>
            <a:r>
              <a:rPr lang="en-US" sz="1800">
                <a:latin typeface="Arial"/>
                <a:ea typeface="Arial"/>
                <a:cs typeface="Arial"/>
                <a:sym typeface="Arial"/>
              </a:rPr>
              <a:t>This creates:</a:t>
            </a:r>
            <a:endParaRPr sz="1800">
              <a:latin typeface="Arial"/>
              <a:ea typeface="Arial"/>
              <a:cs typeface="Arial"/>
              <a:sym typeface="Arial"/>
            </a:endParaRPr>
          </a:p>
          <a:p>
            <a:pPr indent="-342900" lvl="0" marL="457200" rtl="0" algn="l">
              <a:lnSpc>
                <a:spcPct val="100000"/>
              </a:lnSpc>
              <a:spcBef>
                <a:spcPts val="1200"/>
              </a:spcBef>
              <a:spcAft>
                <a:spcPts val="0"/>
              </a:spcAft>
              <a:buSzPts val="1800"/>
              <a:buFont typeface="Arial"/>
              <a:buChar char="●"/>
            </a:pPr>
            <a:r>
              <a:rPr lang="en-US" sz="1800">
                <a:latin typeface="Arial"/>
                <a:ea typeface="Arial"/>
                <a:cs typeface="Arial"/>
                <a:sym typeface="Arial"/>
              </a:rPr>
              <a:t>Model</a:t>
            </a:r>
            <a:endParaRPr sz="1800">
              <a:latin typeface="Arial"/>
              <a:ea typeface="Arial"/>
              <a:cs typeface="Arial"/>
              <a:sym typeface="Arial"/>
            </a:endParaRPr>
          </a:p>
          <a:p>
            <a:pPr indent="-342900" lvl="0" marL="457200" rtl="0" algn="l">
              <a:lnSpc>
                <a:spcPct val="100000"/>
              </a:lnSpc>
              <a:spcBef>
                <a:spcPts val="0"/>
              </a:spcBef>
              <a:spcAft>
                <a:spcPts val="0"/>
              </a:spcAft>
              <a:buSzPts val="1800"/>
              <a:buFont typeface="Arial"/>
              <a:buChar char="●"/>
            </a:pPr>
            <a:r>
              <a:rPr lang="en-US" sz="1800">
                <a:latin typeface="Arial"/>
                <a:ea typeface="Arial"/>
                <a:cs typeface="Arial"/>
                <a:sym typeface="Arial"/>
              </a:rPr>
              <a:t>Migration</a:t>
            </a:r>
            <a:endParaRPr sz="1800">
              <a:latin typeface="Arial"/>
              <a:ea typeface="Arial"/>
              <a:cs typeface="Arial"/>
              <a:sym typeface="Arial"/>
            </a:endParaRPr>
          </a:p>
          <a:p>
            <a:pPr indent="-342900" lvl="0" marL="457200" rtl="0" algn="l">
              <a:lnSpc>
                <a:spcPct val="100000"/>
              </a:lnSpc>
              <a:spcBef>
                <a:spcPts val="0"/>
              </a:spcBef>
              <a:spcAft>
                <a:spcPts val="0"/>
              </a:spcAft>
              <a:buSzPts val="1800"/>
              <a:buFont typeface="Arial"/>
              <a:buChar char="●"/>
            </a:pPr>
            <a:r>
              <a:rPr lang="en-US" sz="1800">
                <a:latin typeface="Arial"/>
                <a:ea typeface="Arial"/>
                <a:cs typeface="Arial"/>
                <a:sym typeface="Arial"/>
              </a:rPr>
              <a:t>Factory </a:t>
            </a:r>
            <a:endParaRPr sz="1800">
              <a:latin typeface="Arial"/>
              <a:ea typeface="Arial"/>
              <a:cs typeface="Arial"/>
              <a:sym typeface="Arial"/>
            </a:endParaRPr>
          </a:p>
          <a:p>
            <a:pPr indent="0" lvl="0" marL="0" rtl="0" algn="l">
              <a:lnSpc>
                <a:spcPct val="115000"/>
              </a:lnSpc>
              <a:spcBef>
                <a:spcPts val="2400"/>
              </a:spcBef>
              <a:spcAft>
                <a:spcPts val="0"/>
              </a:spcAft>
              <a:buNone/>
            </a:pPr>
            <a:r>
              <a:rPr b="1" lang="en-US" sz="2000">
                <a:latin typeface="Arial"/>
                <a:ea typeface="Arial"/>
                <a:cs typeface="Arial"/>
                <a:sym typeface="Arial"/>
              </a:rPr>
              <a:t>STEP 4: Migration (Create Table)-&gt; </a:t>
            </a:r>
            <a:r>
              <a:rPr lang="en-US" sz="2000">
                <a:solidFill>
                  <a:srgbClr val="188038"/>
                </a:solidFill>
                <a:latin typeface="Roboto Mono"/>
                <a:ea typeface="Roboto Mono"/>
                <a:cs typeface="Roboto Mono"/>
                <a:sym typeface="Roboto Mono"/>
              </a:rPr>
              <a:t>database/migrations/...</a:t>
            </a:r>
            <a:endParaRPr sz="2000">
              <a:solidFill>
                <a:srgbClr val="188038"/>
              </a:solidFill>
              <a:latin typeface="Roboto Mono"/>
              <a:ea typeface="Roboto Mono"/>
              <a:cs typeface="Roboto Mono"/>
              <a:sym typeface="Roboto Mono"/>
            </a:endParaRPr>
          </a:p>
          <a:p>
            <a:pPr indent="0" lvl="0" marL="457200" rtl="0" algn="l">
              <a:lnSpc>
                <a:spcPct val="115000"/>
              </a:lnSpc>
              <a:spcBef>
                <a:spcPts val="600"/>
              </a:spcBef>
              <a:spcAft>
                <a:spcPts val="0"/>
              </a:spcAft>
              <a:buNone/>
            </a:pPr>
            <a:r>
              <a:rPr lang="en-US" sz="1800">
                <a:latin typeface="Arial"/>
                <a:ea typeface="Arial"/>
                <a:cs typeface="Arial"/>
                <a:sym typeface="Arial"/>
              </a:rPr>
              <a:t>public function up()</a:t>
            </a:r>
            <a:endParaRPr sz="1800">
              <a:latin typeface="Arial"/>
              <a:ea typeface="Arial"/>
              <a:cs typeface="Arial"/>
              <a:sym typeface="Arial"/>
            </a:endParaRPr>
          </a:p>
          <a:p>
            <a:pPr indent="0" lvl="0" marL="457200" rtl="0" algn="l">
              <a:lnSpc>
                <a:spcPct val="115000"/>
              </a:lnSpc>
              <a:spcBef>
                <a:spcPts val="0"/>
              </a:spcBef>
              <a:spcAft>
                <a:spcPts val="0"/>
              </a:spcAft>
              <a:buNone/>
            </a:pPr>
            <a:r>
              <a:rPr lang="en-US" sz="1800">
                <a:latin typeface="Arial"/>
                <a:ea typeface="Arial"/>
                <a:cs typeface="Arial"/>
                <a:sym typeface="Arial"/>
              </a:rPr>
              <a:t>{</a:t>
            </a:r>
            <a:endParaRPr sz="1800">
              <a:latin typeface="Arial"/>
              <a:ea typeface="Arial"/>
              <a:cs typeface="Arial"/>
              <a:sym typeface="Arial"/>
            </a:endParaRPr>
          </a:p>
          <a:p>
            <a:pPr indent="0" lvl="0" marL="457200" rtl="0" algn="l">
              <a:lnSpc>
                <a:spcPct val="115000"/>
              </a:lnSpc>
              <a:spcBef>
                <a:spcPts val="0"/>
              </a:spcBef>
              <a:spcAft>
                <a:spcPts val="0"/>
              </a:spcAft>
              <a:buNone/>
            </a:pPr>
            <a:r>
              <a:rPr lang="en-US" sz="1800">
                <a:latin typeface="Arial"/>
                <a:ea typeface="Arial"/>
                <a:cs typeface="Arial"/>
                <a:sym typeface="Arial"/>
              </a:rPr>
              <a:t>   Schema::create('students', function (Blueprint $table) {</a:t>
            </a:r>
            <a:endParaRPr sz="1800">
              <a:latin typeface="Arial"/>
              <a:ea typeface="Arial"/>
              <a:cs typeface="Arial"/>
              <a:sym typeface="Arial"/>
            </a:endParaRPr>
          </a:p>
          <a:p>
            <a:pPr indent="0" lvl="0" marL="457200" rtl="0" algn="l">
              <a:lnSpc>
                <a:spcPct val="115000"/>
              </a:lnSpc>
              <a:spcBef>
                <a:spcPts val="0"/>
              </a:spcBef>
              <a:spcAft>
                <a:spcPts val="0"/>
              </a:spcAft>
              <a:buNone/>
            </a:pPr>
            <a:r>
              <a:rPr lang="en-US" sz="1800">
                <a:latin typeface="Arial"/>
                <a:ea typeface="Arial"/>
                <a:cs typeface="Arial"/>
                <a:sym typeface="Arial"/>
              </a:rPr>
              <a:t>       $table-&gt;id();</a:t>
            </a:r>
            <a:endParaRPr sz="1800">
              <a:latin typeface="Arial"/>
              <a:ea typeface="Arial"/>
              <a:cs typeface="Arial"/>
              <a:sym typeface="Arial"/>
            </a:endParaRPr>
          </a:p>
          <a:p>
            <a:pPr indent="0" lvl="0" marL="457200" rtl="0" algn="l">
              <a:lnSpc>
                <a:spcPct val="115000"/>
              </a:lnSpc>
              <a:spcBef>
                <a:spcPts val="0"/>
              </a:spcBef>
              <a:spcAft>
                <a:spcPts val="0"/>
              </a:spcAft>
              <a:buNone/>
            </a:pPr>
            <a:r>
              <a:rPr lang="en-US" sz="1800">
                <a:latin typeface="Arial"/>
                <a:ea typeface="Arial"/>
                <a:cs typeface="Arial"/>
                <a:sym typeface="Arial"/>
              </a:rPr>
              <a:t>       $table-&gt;string('name');</a:t>
            </a:r>
            <a:endParaRPr sz="1800">
              <a:latin typeface="Arial"/>
              <a:ea typeface="Arial"/>
              <a:cs typeface="Arial"/>
              <a:sym typeface="Arial"/>
            </a:endParaRPr>
          </a:p>
          <a:p>
            <a:pPr indent="0" lvl="0" marL="457200" rtl="0" algn="l">
              <a:lnSpc>
                <a:spcPct val="115000"/>
              </a:lnSpc>
              <a:spcBef>
                <a:spcPts val="0"/>
              </a:spcBef>
              <a:spcAft>
                <a:spcPts val="0"/>
              </a:spcAft>
              <a:buNone/>
            </a:pPr>
            <a:r>
              <a:rPr lang="en-US" sz="1800">
                <a:latin typeface="Arial"/>
                <a:ea typeface="Arial"/>
                <a:cs typeface="Arial"/>
                <a:sym typeface="Arial"/>
              </a:rPr>
              <a:t>       $table-&gt;string('email')-&gt;unique();</a:t>
            </a:r>
            <a:endParaRPr sz="1800">
              <a:latin typeface="Arial"/>
              <a:ea typeface="Arial"/>
              <a:cs typeface="Arial"/>
              <a:sym typeface="Arial"/>
            </a:endParaRPr>
          </a:p>
          <a:p>
            <a:pPr indent="0" lvl="0" marL="457200" rtl="0" algn="l">
              <a:lnSpc>
                <a:spcPct val="115000"/>
              </a:lnSpc>
              <a:spcBef>
                <a:spcPts val="0"/>
              </a:spcBef>
              <a:spcAft>
                <a:spcPts val="0"/>
              </a:spcAft>
              <a:buNone/>
            </a:pPr>
            <a:r>
              <a:rPr lang="en-US" sz="1800">
                <a:latin typeface="Arial"/>
                <a:ea typeface="Arial"/>
                <a:cs typeface="Arial"/>
                <a:sym typeface="Arial"/>
              </a:rPr>
              <a:t>       $table-&gt;integer('age');</a:t>
            </a:r>
            <a:endParaRPr sz="1800">
              <a:latin typeface="Arial"/>
              <a:ea typeface="Arial"/>
              <a:cs typeface="Arial"/>
              <a:sym typeface="Arial"/>
            </a:endParaRPr>
          </a:p>
          <a:p>
            <a:pPr indent="0" lvl="0" marL="457200" rtl="0" algn="l">
              <a:lnSpc>
                <a:spcPct val="115000"/>
              </a:lnSpc>
              <a:spcBef>
                <a:spcPts val="0"/>
              </a:spcBef>
              <a:spcAft>
                <a:spcPts val="0"/>
              </a:spcAft>
              <a:buNone/>
            </a:pPr>
            <a:r>
              <a:rPr lang="en-US" sz="1800">
                <a:latin typeface="Arial"/>
                <a:ea typeface="Arial"/>
                <a:cs typeface="Arial"/>
                <a:sym typeface="Arial"/>
              </a:rPr>
              <a:t>       $table-&gt;timestamps();</a:t>
            </a:r>
            <a:endParaRPr sz="1800">
              <a:latin typeface="Arial"/>
              <a:ea typeface="Arial"/>
              <a:cs typeface="Arial"/>
              <a:sym typeface="Arial"/>
            </a:endParaRPr>
          </a:p>
          <a:p>
            <a:pPr indent="0" lvl="0" marL="457200" rtl="0" algn="l">
              <a:lnSpc>
                <a:spcPct val="115000"/>
              </a:lnSpc>
              <a:spcBef>
                <a:spcPts val="0"/>
              </a:spcBef>
              <a:spcAft>
                <a:spcPts val="0"/>
              </a:spcAft>
              <a:buNone/>
            </a:pPr>
            <a:r>
              <a:rPr lang="en-US" sz="1800">
                <a:latin typeface="Arial"/>
                <a:ea typeface="Arial"/>
                <a:cs typeface="Arial"/>
                <a:sym typeface="Arial"/>
              </a:rPr>
              <a:t>   });</a:t>
            </a:r>
            <a:endParaRPr sz="1800">
              <a:latin typeface="Arial"/>
              <a:ea typeface="Arial"/>
              <a:cs typeface="Arial"/>
              <a:sym typeface="Arial"/>
            </a:endParaRPr>
          </a:p>
          <a:p>
            <a:pPr indent="457200" lvl="0" marL="0" rtl="0" algn="l">
              <a:lnSpc>
                <a:spcPct val="115000"/>
              </a:lnSpc>
              <a:spcBef>
                <a:spcPts val="0"/>
              </a:spcBef>
              <a:spcAft>
                <a:spcPts val="0"/>
              </a:spcAft>
              <a:buNone/>
            </a:pPr>
            <a:r>
              <a:rPr lang="en-US" sz="1800">
                <a:latin typeface="Arial"/>
                <a:ea typeface="Arial"/>
                <a:cs typeface="Arial"/>
                <a:sym typeface="Arial"/>
              </a:rPr>
              <a:t>}	</a:t>
            </a:r>
            <a:endParaRPr sz="1800">
              <a:latin typeface="Arial"/>
              <a:ea typeface="Arial"/>
              <a:cs typeface="Arial"/>
              <a:sym typeface="Arial"/>
            </a:endParaRPr>
          </a:p>
          <a:p>
            <a:pPr indent="0" lvl="0" marL="457200" rtl="0" algn="l">
              <a:lnSpc>
                <a:spcPct val="115000"/>
              </a:lnSpc>
              <a:spcBef>
                <a:spcPts val="0"/>
              </a:spcBef>
              <a:spcAft>
                <a:spcPts val="0"/>
              </a:spcAft>
              <a:buNone/>
            </a:pPr>
            <a:r>
              <a:rPr b="1" lang="en-US" sz="2000">
                <a:latin typeface="Arial"/>
                <a:ea typeface="Arial"/>
                <a:cs typeface="Arial"/>
                <a:sym typeface="Arial"/>
              </a:rPr>
              <a:t> Run Migration -&gt; </a:t>
            </a:r>
            <a:r>
              <a:rPr lang="en-US" sz="2000">
                <a:latin typeface="Arial"/>
                <a:ea typeface="Arial"/>
                <a:cs typeface="Arial"/>
                <a:sym typeface="Arial"/>
              </a:rPr>
              <a:t>php artisan migrate -&gt;Table created in MySQL</a:t>
            </a:r>
            <a:endParaRPr sz="2000">
              <a:latin typeface="Arial"/>
              <a:ea typeface="Arial"/>
              <a:cs typeface="Arial"/>
              <a:sym typeface="Arial"/>
            </a:endParaRPr>
          </a:p>
        </p:txBody>
      </p:sp>
      <p:pic>
        <p:nvPicPr>
          <p:cNvPr id="118" name="Google Shape;118;g3d20f8606ae_0_69"/>
          <p:cNvPicPr preferRelativeResize="0"/>
          <p:nvPr/>
        </p:nvPicPr>
        <p:blipFill rotWithShape="1">
          <a:blip r:embed="rId3">
            <a:alphaModFix/>
          </a:blip>
          <a:srcRect b="0" l="0" r="0" t="0"/>
          <a:stretch/>
        </p:blipFill>
        <p:spPr>
          <a:xfrm>
            <a:off x="10376325" y="138975"/>
            <a:ext cx="1676400" cy="679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3d7e767c37d_1_45"/>
          <p:cNvSpPr txBox="1"/>
          <p:nvPr>
            <p:ph type="title"/>
          </p:nvPr>
        </p:nvSpPr>
        <p:spPr>
          <a:xfrm>
            <a:off x="730625" y="233100"/>
            <a:ext cx="10450200" cy="6624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2400"/>
              </a:spcBef>
              <a:spcAft>
                <a:spcPts val="0"/>
              </a:spcAft>
              <a:buClr>
                <a:schemeClr val="dk1"/>
              </a:buClr>
              <a:buSzPts val="1100"/>
              <a:buFont typeface="Arial"/>
              <a:buNone/>
            </a:pPr>
            <a:r>
              <a:rPr b="1" lang="en-US" sz="2000">
                <a:latin typeface="Arial"/>
                <a:ea typeface="Arial"/>
                <a:cs typeface="Arial"/>
                <a:sym typeface="Arial"/>
              </a:rPr>
              <a:t>STEP 5: Model Setup-&gt; </a:t>
            </a:r>
            <a:r>
              <a:rPr lang="en-US" sz="2000">
                <a:solidFill>
                  <a:srgbClr val="188038"/>
                </a:solidFill>
                <a:latin typeface="Roboto Mono"/>
                <a:ea typeface="Roboto Mono"/>
                <a:cs typeface="Roboto Mono"/>
                <a:sym typeface="Roboto Mono"/>
              </a:rPr>
              <a:t>app/Models/Student.php</a:t>
            </a:r>
            <a:endParaRPr sz="2000">
              <a:solidFill>
                <a:srgbClr val="188038"/>
              </a:solidFill>
              <a:latin typeface="Roboto Mono"/>
              <a:ea typeface="Roboto Mono"/>
              <a:cs typeface="Roboto Mono"/>
              <a:sym typeface="Roboto Mono"/>
            </a:endParaRPr>
          </a:p>
          <a:p>
            <a:pPr indent="0" lvl="0" marL="0" rtl="0" algn="l">
              <a:lnSpc>
                <a:spcPct val="115000"/>
              </a:lnSpc>
              <a:spcBef>
                <a:spcPts val="600"/>
              </a:spcBef>
              <a:spcAft>
                <a:spcPts val="0"/>
              </a:spcAft>
              <a:buClr>
                <a:schemeClr val="dk1"/>
              </a:buClr>
              <a:buSzPts val="1100"/>
              <a:buFont typeface="Arial"/>
              <a:buNone/>
            </a:pPr>
            <a:r>
              <a:rPr lang="en-US" sz="2000">
                <a:latin typeface="Arial"/>
                <a:ea typeface="Arial"/>
                <a:cs typeface="Arial"/>
                <a:sym typeface="Arial"/>
              </a:rPr>
              <a:t>&lt;?php</a:t>
            </a:r>
            <a:endParaRPr sz="20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2000">
                <a:latin typeface="Arial"/>
                <a:ea typeface="Arial"/>
                <a:cs typeface="Arial"/>
                <a:sym typeface="Arial"/>
              </a:rPr>
              <a:t>namespace App\Models;</a:t>
            </a:r>
            <a:endParaRPr sz="20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2000">
                <a:latin typeface="Arial"/>
                <a:ea typeface="Arial"/>
                <a:cs typeface="Arial"/>
                <a:sym typeface="Arial"/>
              </a:rPr>
              <a:t>use Illuminate\Database\Eloquent\Model;</a:t>
            </a:r>
            <a:endParaRPr sz="20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2000">
                <a:latin typeface="Arial"/>
                <a:ea typeface="Arial"/>
                <a:cs typeface="Arial"/>
                <a:sym typeface="Arial"/>
              </a:rPr>
              <a:t>use Illuminate\Database\Eloquent\Factories\HasFactory;</a:t>
            </a:r>
            <a:endParaRPr sz="20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2000">
                <a:latin typeface="Arial"/>
                <a:ea typeface="Arial"/>
                <a:cs typeface="Arial"/>
                <a:sym typeface="Arial"/>
              </a:rPr>
              <a:t>class Student extends Model{</a:t>
            </a:r>
            <a:endParaRPr sz="20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2000">
                <a:latin typeface="Arial"/>
                <a:ea typeface="Arial"/>
                <a:cs typeface="Arial"/>
                <a:sym typeface="Arial"/>
              </a:rPr>
              <a:t>   use HasFactory;</a:t>
            </a:r>
            <a:endParaRPr sz="20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2000">
                <a:latin typeface="Arial"/>
                <a:ea typeface="Arial"/>
                <a:cs typeface="Arial"/>
                <a:sym typeface="Arial"/>
              </a:rPr>
              <a:t>   protected $fillable = ['name', 'email', 'age'];</a:t>
            </a:r>
            <a:endParaRPr sz="20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2000">
                <a:latin typeface="Arial"/>
                <a:ea typeface="Arial"/>
                <a:cs typeface="Arial"/>
                <a:sym typeface="Arial"/>
              </a:rPr>
              <a:t>}</a:t>
            </a:r>
            <a:endParaRPr sz="2000">
              <a:latin typeface="Arial"/>
              <a:ea typeface="Arial"/>
              <a:cs typeface="Arial"/>
              <a:sym typeface="Arial"/>
            </a:endParaRPr>
          </a:p>
          <a:p>
            <a:pPr indent="0" lvl="0" marL="0" rtl="0" algn="l">
              <a:lnSpc>
                <a:spcPct val="115000"/>
              </a:lnSpc>
              <a:spcBef>
                <a:spcPts val="2400"/>
              </a:spcBef>
              <a:spcAft>
                <a:spcPts val="0"/>
              </a:spcAft>
              <a:buClr>
                <a:schemeClr val="dk1"/>
              </a:buClr>
              <a:buSzPts val="1100"/>
              <a:buFont typeface="Arial"/>
              <a:buNone/>
            </a:pPr>
            <a:r>
              <a:rPr b="1" lang="en-US" sz="2000">
                <a:latin typeface="Arial"/>
                <a:ea typeface="Arial"/>
                <a:cs typeface="Arial"/>
                <a:sym typeface="Arial"/>
              </a:rPr>
              <a:t>STEP 6: Factory (Fake Data)-&gt;</a:t>
            </a:r>
            <a:r>
              <a:rPr lang="en-US" sz="2000">
                <a:solidFill>
                  <a:srgbClr val="188038"/>
                </a:solidFill>
                <a:latin typeface="Roboto Mono"/>
                <a:ea typeface="Roboto Mono"/>
                <a:cs typeface="Roboto Mono"/>
                <a:sym typeface="Roboto Mono"/>
              </a:rPr>
              <a:t>database/factories/StudentFactory.php</a:t>
            </a:r>
            <a:endParaRPr sz="2000">
              <a:solidFill>
                <a:srgbClr val="188038"/>
              </a:solidFill>
              <a:latin typeface="Roboto Mono"/>
              <a:ea typeface="Roboto Mono"/>
              <a:cs typeface="Roboto Mono"/>
              <a:sym typeface="Roboto Mono"/>
            </a:endParaRPr>
          </a:p>
          <a:p>
            <a:pPr indent="0" lvl="0" marL="0" rtl="0" algn="l">
              <a:lnSpc>
                <a:spcPct val="115000"/>
              </a:lnSpc>
              <a:spcBef>
                <a:spcPts val="600"/>
              </a:spcBef>
              <a:spcAft>
                <a:spcPts val="0"/>
              </a:spcAft>
              <a:buClr>
                <a:schemeClr val="dk1"/>
              </a:buClr>
              <a:buSzPts val="1100"/>
              <a:buFont typeface="Arial"/>
              <a:buNone/>
            </a:pPr>
            <a:r>
              <a:rPr lang="en-US" sz="2000">
                <a:latin typeface="Arial"/>
                <a:ea typeface="Arial"/>
                <a:cs typeface="Arial"/>
                <a:sym typeface="Arial"/>
              </a:rPr>
              <a:t>public function definition(){</a:t>
            </a:r>
            <a:endParaRPr sz="20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2000">
                <a:latin typeface="Arial"/>
                <a:ea typeface="Arial"/>
                <a:cs typeface="Arial"/>
                <a:sym typeface="Arial"/>
              </a:rPr>
              <a:t>   return [</a:t>
            </a:r>
            <a:endParaRPr sz="20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2000">
                <a:latin typeface="Arial"/>
                <a:ea typeface="Arial"/>
                <a:cs typeface="Arial"/>
                <a:sym typeface="Arial"/>
              </a:rPr>
              <a:t>       'name' =&gt; fake()-&gt;name(),</a:t>
            </a:r>
            <a:endParaRPr sz="20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2000">
                <a:latin typeface="Arial"/>
                <a:ea typeface="Arial"/>
                <a:cs typeface="Arial"/>
                <a:sym typeface="Arial"/>
              </a:rPr>
              <a:t>       'email' =&gt; fake()-&gt;unique()-&gt;safeEmail(),</a:t>
            </a:r>
            <a:endParaRPr sz="20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2000">
                <a:latin typeface="Arial"/>
                <a:ea typeface="Arial"/>
                <a:cs typeface="Arial"/>
                <a:sym typeface="Arial"/>
              </a:rPr>
              <a:t>       'age' =&gt; fake()-&gt;numberBetween(18, 30),</a:t>
            </a:r>
            <a:endParaRPr sz="20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2000">
                <a:latin typeface="Arial"/>
                <a:ea typeface="Arial"/>
                <a:cs typeface="Arial"/>
                <a:sym typeface="Arial"/>
              </a:rPr>
              <a:t>   ];</a:t>
            </a:r>
            <a:endParaRPr sz="20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2000">
                <a:latin typeface="Arial"/>
                <a:ea typeface="Arial"/>
                <a:cs typeface="Arial"/>
                <a:sym typeface="Arial"/>
              </a:rPr>
              <a:t>}</a:t>
            </a:r>
            <a:endParaRPr sz="20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t/>
            </a:r>
            <a:endParaRPr b="1" sz="2000">
              <a:latin typeface="Arial"/>
              <a:ea typeface="Arial"/>
              <a:cs typeface="Arial"/>
              <a:sym typeface="Arial"/>
            </a:endParaRPr>
          </a:p>
        </p:txBody>
      </p:sp>
      <p:pic>
        <p:nvPicPr>
          <p:cNvPr id="124" name="Google Shape;124;g3d7e767c37d_1_45"/>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g3d7e767c37d_1_55"/>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130" name="Google Shape;130;g3d7e767c37d_1_55"/>
          <p:cNvSpPr txBox="1"/>
          <p:nvPr/>
        </p:nvSpPr>
        <p:spPr>
          <a:xfrm>
            <a:off x="323600" y="200550"/>
            <a:ext cx="113814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t/>
            </a:r>
            <a:endParaRPr b="1" i="0" sz="2300" u="none" cap="none" strike="noStrike">
              <a:solidFill>
                <a:schemeClr val="dk1"/>
              </a:solidFill>
              <a:latin typeface="Arial"/>
              <a:ea typeface="Arial"/>
              <a:cs typeface="Arial"/>
              <a:sym typeface="Arial"/>
            </a:endParaRPr>
          </a:p>
        </p:txBody>
      </p:sp>
      <p:graphicFrame>
        <p:nvGraphicFramePr>
          <p:cNvPr id="131" name="Google Shape;131;g3d7e767c37d_1_55"/>
          <p:cNvGraphicFramePr/>
          <p:nvPr/>
        </p:nvGraphicFramePr>
        <p:xfrm>
          <a:off x="464125" y="4295075"/>
          <a:ext cx="3000000" cy="3000000"/>
        </p:xfrm>
        <a:graphic>
          <a:graphicData uri="http://schemas.openxmlformats.org/drawingml/2006/table">
            <a:tbl>
              <a:tblPr>
                <a:noFill/>
                <a:tableStyleId>{11945102-763D-4103-B686-025F517FB0A6}</a:tableStyleId>
              </a:tblPr>
              <a:tblGrid>
                <a:gridCol w="1849575"/>
                <a:gridCol w="3824525"/>
                <a:gridCol w="3761850"/>
              </a:tblGrid>
              <a:tr h="431825">
                <a:tc>
                  <a:txBody>
                    <a:bodyPr/>
                    <a:lstStyle/>
                    <a:p>
                      <a:pPr indent="0" lvl="0" marL="0" rtl="0" algn="ctr">
                        <a:lnSpc>
                          <a:spcPct val="115000"/>
                        </a:lnSpc>
                        <a:spcBef>
                          <a:spcPts val="0"/>
                        </a:spcBef>
                        <a:spcAft>
                          <a:spcPts val="0"/>
                        </a:spcAft>
                        <a:buNone/>
                      </a:pPr>
                      <a:r>
                        <a:rPr b="1" lang="en-US" sz="1100"/>
                        <a:t>Feature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US" sz="1100"/>
                        <a:t>Factory</a:t>
                      </a:r>
                      <a:endParaRPr b="1" sz="1100"/>
                    </a:p>
                  </a:txBody>
                  <a:tcPr marT="91425" marB="91425" marR="91425" marL="91425"/>
                </a:tc>
                <a:tc>
                  <a:txBody>
                    <a:bodyPr/>
                    <a:lstStyle/>
                    <a:p>
                      <a:pPr indent="0" lvl="0" marL="0" rtl="0" algn="ctr">
                        <a:lnSpc>
                          <a:spcPct val="115000"/>
                        </a:lnSpc>
                        <a:spcBef>
                          <a:spcPts val="0"/>
                        </a:spcBef>
                        <a:spcAft>
                          <a:spcPts val="0"/>
                        </a:spcAft>
                        <a:buNone/>
                      </a:pPr>
                      <a:r>
                        <a:rPr b="1" lang="en-US" sz="1100"/>
                        <a:t>Seeder</a:t>
                      </a:r>
                      <a:endParaRPr b="1" sz="1100"/>
                    </a:p>
                  </a:txBody>
                  <a:tcPr marT="91425" marB="91425" marR="91425" marL="91425"/>
                </a:tc>
              </a:tr>
              <a:tr h="453875">
                <a:tc>
                  <a:txBody>
                    <a:bodyPr/>
                    <a:lstStyle/>
                    <a:p>
                      <a:pPr indent="0" lvl="0" marL="0" rtl="0" algn="ctr">
                        <a:spcBef>
                          <a:spcPts val="0"/>
                        </a:spcBef>
                        <a:spcAft>
                          <a:spcPts val="0"/>
                        </a:spcAft>
                        <a:buNone/>
                      </a:pPr>
                      <a:r>
                        <a:rPr lang="en-US"/>
                        <a:t>Purpose</a:t>
                      </a:r>
                      <a:endParaRPr/>
                    </a:p>
                  </a:txBody>
                  <a:tcPr marT="91425" marB="91425" marR="91425" marL="91425"/>
                </a:tc>
                <a:tc>
                  <a:txBody>
                    <a:bodyPr/>
                    <a:lstStyle/>
                    <a:p>
                      <a:pPr indent="0" lvl="0" marL="0" rtl="0" algn="ctr">
                        <a:spcBef>
                          <a:spcPts val="0"/>
                        </a:spcBef>
                        <a:spcAft>
                          <a:spcPts val="0"/>
                        </a:spcAft>
                        <a:buNone/>
                      </a:pPr>
                      <a:r>
                        <a:rPr lang="en-US"/>
                        <a:t>Generate fake data</a:t>
                      </a:r>
                      <a:endParaRPr/>
                    </a:p>
                  </a:txBody>
                  <a:tcPr marT="91425" marB="91425" marR="91425" marL="91425"/>
                </a:tc>
                <a:tc>
                  <a:txBody>
                    <a:bodyPr/>
                    <a:lstStyle/>
                    <a:p>
                      <a:pPr indent="0" lvl="0" marL="0" rtl="0" algn="ctr">
                        <a:spcBef>
                          <a:spcPts val="0"/>
                        </a:spcBef>
                        <a:spcAft>
                          <a:spcPts val="0"/>
                        </a:spcAft>
                        <a:buNone/>
                      </a:pPr>
                      <a:r>
                        <a:rPr lang="en-US"/>
                        <a:t>Insert data</a:t>
                      </a:r>
                      <a:endParaRPr/>
                    </a:p>
                  </a:txBody>
                  <a:tcPr marT="91425" marB="91425" marR="91425" marL="91425"/>
                </a:tc>
              </a:tr>
              <a:tr h="453875">
                <a:tc>
                  <a:txBody>
                    <a:bodyPr/>
                    <a:lstStyle/>
                    <a:p>
                      <a:pPr indent="0" lvl="0" marL="0" rtl="0" algn="ctr">
                        <a:spcBef>
                          <a:spcPts val="0"/>
                        </a:spcBef>
                        <a:spcAft>
                          <a:spcPts val="0"/>
                        </a:spcAft>
                        <a:buNone/>
                      </a:pPr>
                      <a:r>
                        <a:rPr lang="en-US"/>
                        <a:t>Usage</a:t>
                      </a:r>
                      <a:endParaRPr/>
                    </a:p>
                  </a:txBody>
                  <a:tcPr marT="91425" marB="91425" marR="91425" marL="91425"/>
                </a:tc>
                <a:tc>
                  <a:txBody>
                    <a:bodyPr/>
                    <a:lstStyle/>
                    <a:p>
                      <a:pPr indent="0" lvl="0" marL="0" rtl="0" algn="ctr">
                        <a:spcBef>
                          <a:spcPts val="0"/>
                        </a:spcBef>
                        <a:spcAft>
                          <a:spcPts val="0"/>
                        </a:spcAft>
                        <a:buNone/>
                      </a:pPr>
                      <a:r>
                        <a:rPr lang="en-US"/>
                        <a:t>Defines structure</a:t>
                      </a:r>
                      <a:endParaRPr/>
                    </a:p>
                  </a:txBody>
                  <a:tcPr marT="91425" marB="91425" marR="91425" marL="91425"/>
                </a:tc>
                <a:tc>
                  <a:txBody>
                    <a:bodyPr/>
                    <a:lstStyle/>
                    <a:p>
                      <a:pPr indent="0" lvl="0" marL="0" rtl="0" algn="ctr">
                        <a:spcBef>
                          <a:spcPts val="0"/>
                        </a:spcBef>
                        <a:spcAft>
                          <a:spcPts val="0"/>
                        </a:spcAft>
                        <a:buNone/>
                      </a:pPr>
                      <a:r>
                        <a:rPr lang="en-US"/>
                        <a:t>Executes insertion</a:t>
                      </a:r>
                      <a:endParaRPr/>
                    </a:p>
                  </a:txBody>
                  <a:tcPr marT="91425" marB="91425" marR="91425" marL="91425"/>
                </a:tc>
              </a:tr>
              <a:tr h="453875">
                <a:tc>
                  <a:txBody>
                    <a:bodyPr/>
                    <a:lstStyle/>
                    <a:p>
                      <a:pPr indent="0" lvl="0" marL="0" rtl="0" algn="ctr">
                        <a:spcBef>
                          <a:spcPts val="0"/>
                        </a:spcBef>
                        <a:spcAft>
                          <a:spcPts val="0"/>
                        </a:spcAft>
                        <a:buNone/>
                      </a:pPr>
                      <a:r>
                        <a:rPr lang="en-US"/>
                        <a:t>Example</a:t>
                      </a:r>
                      <a:endParaRPr/>
                    </a:p>
                  </a:txBody>
                  <a:tcPr marT="91425" marB="91425" marR="91425" marL="91425"/>
                </a:tc>
                <a:tc>
                  <a:txBody>
                    <a:bodyPr/>
                    <a:lstStyle/>
                    <a:p>
                      <a:pPr indent="0" lvl="0" marL="0" rtl="0" algn="ctr">
                        <a:spcBef>
                          <a:spcPts val="0"/>
                        </a:spcBef>
                        <a:spcAft>
                          <a:spcPts val="0"/>
                        </a:spcAft>
                        <a:buNone/>
                      </a:pPr>
                      <a:r>
                        <a:rPr lang="en-US"/>
                        <a:t>fake()-&gt;name()</a:t>
                      </a:r>
                      <a:endParaRPr/>
                    </a:p>
                  </a:txBody>
                  <a:tcPr marT="91425" marB="91425" marR="91425" marL="91425"/>
                </a:tc>
                <a:tc>
                  <a:txBody>
                    <a:bodyPr/>
                    <a:lstStyle/>
                    <a:p>
                      <a:pPr indent="0" lvl="0" marL="0" rtl="0" algn="ctr">
                        <a:spcBef>
                          <a:spcPts val="0"/>
                        </a:spcBef>
                        <a:spcAft>
                          <a:spcPts val="0"/>
                        </a:spcAft>
                        <a:buNone/>
                      </a:pPr>
                      <a:r>
                        <a:rPr lang="en-US"/>
                        <a:t>Student::create()</a:t>
                      </a:r>
                      <a:endParaRPr/>
                    </a:p>
                  </a:txBody>
                  <a:tcPr marT="91425" marB="91425" marR="91425" marL="91425"/>
                </a:tc>
              </a:tr>
              <a:tr h="453875">
                <a:tc>
                  <a:txBody>
                    <a:bodyPr/>
                    <a:lstStyle/>
                    <a:p>
                      <a:pPr indent="0" lvl="0" marL="0" rtl="0" algn="ctr">
                        <a:spcBef>
                          <a:spcPts val="0"/>
                        </a:spcBef>
                        <a:spcAft>
                          <a:spcPts val="0"/>
                        </a:spcAft>
                        <a:buNone/>
                      </a:pPr>
                      <a:r>
                        <a:rPr lang="en-US"/>
                        <a:t>Role</a:t>
                      </a:r>
                      <a:endParaRPr/>
                    </a:p>
                  </a:txBody>
                  <a:tcPr marT="91425" marB="91425" marR="91425" marL="91425"/>
                </a:tc>
                <a:tc>
                  <a:txBody>
                    <a:bodyPr/>
                    <a:lstStyle/>
                    <a:p>
                      <a:pPr indent="0" lvl="0" marL="0" rtl="0" algn="ctr">
                        <a:spcBef>
                          <a:spcPts val="0"/>
                        </a:spcBef>
                        <a:spcAft>
                          <a:spcPts val="0"/>
                        </a:spcAft>
                        <a:buNone/>
                      </a:pPr>
                      <a:r>
                        <a:rPr lang="en-US"/>
                        <a:t>Data generator</a:t>
                      </a:r>
                      <a:endParaRPr/>
                    </a:p>
                  </a:txBody>
                  <a:tcPr marT="91425" marB="91425" marR="91425" marL="91425"/>
                </a:tc>
                <a:tc>
                  <a:txBody>
                    <a:bodyPr/>
                    <a:lstStyle/>
                    <a:p>
                      <a:pPr indent="0" lvl="0" marL="0" rtl="0" algn="ctr">
                        <a:spcBef>
                          <a:spcPts val="0"/>
                        </a:spcBef>
                        <a:spcAft>
                          <a:spcPts val="0"/>
                        </a:spcAft>
                        <a:buNone/>
                      </a:pPr>
                      <a:r>
                        <a:rPr lang="en-US"/>
                        <a:t>Data loader</a:t>
                      </a:r>
                      <a:endParaRPr/>
                    </a:p>
                  </a:txBody>
                  <a:tcPr marT="91425" marB="91425" marR="91425" marL="91425"/>
                </a:tc>
              </a:tr>
            </a:tbl>
          </a:graphicData>
        </a:graphic>
      </p:graphicFrame>
      <p:sp>
        <p:nvSpPr>
          <p:cNvPr id="132" name="Google Shape;132;g3d7e767c37d_1_55"/>
          <p:cNvSpPr txBox="1"/>
          <p:nvPr/>
        </p:nvSpPr>
        <p:spPr>
          <a:xfrm>
            <a:off x="236500" y="125425"/>
            <a:ext cx="10693800" cy="4026600"/>
          </a:xfrm>
          <a:prstGeom prst="rect">
            <a:avLst/>
          </a:prstGeom>
          <a:noFill/>
          <a:ln>
            <a:noFill/>
          </a:ln>
        </p:spPr>
        <p:txBody>
          <a:bodyPr anchorCtr="0" anchor="t" bIns="91425" lIns="91425" spcFirstLastPara="1" rIns="91425" wrap="square" tIns="91425">
            <a:noAutofit/>
          </a:bodyPr>
          <a:lstStyle/>
          <a:p>
            <a:pPr indent="0" lvl="0" marL="0" rtl="0" algn="l">
              <a:spcBef>
                <a:spcPts val="2400"/>
              </a:spcBef>
              <a:spcAft>
                <a:spcPts val="0"/>
              </a:spcAft>
              <a:buClr>
                <a:schemeClr val="dk1"/>
              </a:buClr>
              <a:buSzPts val="1100"/>
              <a:buFont typeface="Arial"/>
              <a:buNone/>
            </a:pPr>
            <a:r>
              <a:rPr b="1" lang="en-US" sz="1800">
                <a:solidFill>
                  <a:schemeClr val="dk1"/>
                </a:solidFill>
              </a:rPr>
              <a:t>STEP 7: Seeder-&gt; </a:t>
            </a:r>
            <a:r>
              <a:rPr lang="en-US" sz="1800">
                <a:solidFill>
                  <a:schemeClr val="dk1"/>
                </a:solidFill>
              </a:rPr>
              <a:t>php artisan make:seeder StudentSeeder</a:t>
            </a:r>
            <a:endParaRPr sz="1800">
              <a:solidFill>
                <a:schemeClr val="dk1"/>
              </a:solidFill>
            </a:endParaRPr>
          </a:p>
          <a:p>
            <a:pPr indent="0" lvl="0" marL="0" rtl="0" algn="l">
              <a:spcBef>
                <a:spcPts val="1200"/>
              </a:spcBef>
              <a:spcAft>
                <a:spcPts val="0"/>
              </a:spcAft>
              <a:buClr>
                <a:schemeClr val="dk1"/>
              </a:buClr>
              <a:buSzPts val="1100"/>
              <a:buFont typeface="Arial"/>
              <a:buNone/>
            </a:pPr>
            <a:r>
              <a:rPr lang="en-US" sz="1800">
                <a:solidFill>
                  <a:srgbClr val="188038"/>
                </a:solidFill>
                <a:latin typeface="Roboto Mono"/>
                <a:ea typeface="Roboto Mono"/>
                <a:cs typeface="Roboto Mono"/>
                <a:sym typeface="Roboto Mono"/>
              </a:rPr>
              <a:t>database/seeders/StudentSeeder.php</a:t>
            </a:r>
            <a:endParaRPr sz="1800">
              <a:solidFill>
                <a:srgbClr val="188038"/>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US" sz="1800">
                <a:solidFill>
                  <a:schemeClr val="dk1"/>
                </a:solidFill>
              </a:rPr>
              <a:t>use App\Models\Student;</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800">
                <a:solidFill>
                  <a:schemeClr val="dk1"/>
                </a:solidFill>
              </a:rPr>
              <a:t>class StudentSeeder extends Seeder{</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800">
                <a:solidFill>
                  <a:schemeClr val="dk1"/>
                </a:solidFill>
              </a:rPr>
              <a:t>   public function run(){</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800">
                <a:solidFill>
                  <a:schemeClr val="dk1"/>
                </a:solidFill>
              </a:rPr>
              <a:t>       Student::factory()-&gt;count(10)-&gt;create();</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800">
                <a:solidFill>
                  <a:schemeClr val="dk1"/>
                </a:solidFill>
              </a:rPr>
              <a:t>   }</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800">
                <a:solidFill>
                  <a:schemeClr val="dk1"/>
                </a:solidFill>
              </a:rPr>
              <a:t>}</a:t>
            </a:r>
            <a:endParaRPr sz="1800">
              <a:solidFill>
                <a:schemeClr val="dk1"/>
              </a:solidFill>
            </a:endParaRPr>
          </a:p>
          <a:p>
            <a:pPr indent="0" lvl="0" marL="457200" rtl="0" algn="l">
              <a:spcBef>
                <a:spcPts val="0"/>
              </a:spcBef>
              <a:spcAft>
                <a:spcPts val="0"/>
              </a:spcAft>
              <a:buClr>
                <a:schemeClr val="dk1"/>
              </a:buClr>
              <a:buSzPts val="1100"/>
              <a:buFont typeface="Arial"/>
              <a:buNone/>
            </a:pPr>
            <a:r>
              <a:rPr b="1" lang="en-US" sz="1800">
                <a:solidFill>
                  <a:schemeClr val="dk1"/>
                </a:solidFill>
              </a:rPr>
              <a:t>Run Seeder-&gt; </a:t>
            </a:r>
            <a:r>
              <a:rPr lang="en-US" sz="1800">
                <a:solidFill>
                  <a:schemeClr val="dk1"/>
                </a:solidFill>
              </a:rPr>
              <a:t>php artisan db:seed --class=StudentSeeder</a:t>
            </a:r>
            <a:endParaRPr sz="1800">
              <a:solidFill>
                <a:schemeClr val="dk1"/>
              </a:solidFill>
            </a:endParaRPr>
          </a:p>
          <a:p>
            <a:pPr indent="-342900" lvl="0" marL="914400" rtl="0" algn="l">
              <a:spcBef>
                <a:spcPts val="1200"/>
              </a:spcBef>
              <a:spcAft>
                <a:spcPts val="0"/>
              </a:spcAft>
              <a:buClr>
                <a:schemeClr val="dk1"/>
              </a:buClr>
              <a:buSzPts val="1800"/>
              <a:buFont typeface="Arial"/>
              <a:buChar char="●"/>
            </a:pPr>
            <a:r>
              <a:rPr lang="en-US" sz="1800">
                <a:solidFill>
                  <a:schemeClr val="dk1"/>
                </a:solidFill>
              </a:rPr>
              <a:t>10 fake students inserted</a:t>
            </a:r>
            <a:endParaRPr sz="1800">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US" sz="1800">
                <a:solidFill>
                  <a:schemeClr val="dk1"/>
                </a:solidFill>
              </a:rPr>
              <a:t>DIFFERENCE: FACTORY vs SEEDER </a:t>
            </a:r>
            <a:endParaRPr b="1" sz="1800">
              <a:solidFill>
                <a:schemeClr val="dk1"/>
              </a:solidFill>
            </a:endParaRPr>
          </a:p>
          <a:p>
            <a:pPr indent="0" lvl="0" marL="0" rtl="0" algn="l">
              <a:lnSpc>
                <a:spcPct val="115000"/>
              </a:lnSpc>
              <a:spcBef>
                <a:spcPts val="2400"/>
              </a:spcBef>
              <a:spcAft>
                <a:spcPts val="0"/>
              </a:spcAft>
              <a:buClr>
                <a:schemeClr val="dk1"/>
              </a:buClr>
              <a:buSzPts val="1100"/>
              <a:buFont typeface="Arial"/>
              <a:buNone/>
            </a:pPr>
            <a:r>
              <a:t/>
            </a:r>
            <a:endParaRPr b="1" sz="1800">
              <a:solidFill>
                <a:schemeClr val="dk1"/>
              </a:solidFill>
            </a:endParaRPr>
          </a:p>
          <a:p>
            <a:pPr indent="0" lvl="0" marL="0" rtl="0" algn="l">
              <a:spcBef>
                <a:spcPts val="60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g3d20f8606ae_0_56"/>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138" name="Google Shape;138;g3d20f8606ae_0_56"/>
          <p:cNvSpPr txBox="1"/>
          <p:nvPr/>
        </p:nvSpPr>
        <p:spPr>
          <a:xfrm>
            <a:off x="323600" y="200550"/>
            <a:ext cx="11381400" cy="634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200"/>
              </a:spcBef>
              <a:spcAft>
                <a:spcPts val="0"/>
              </a:spcAft>
              <a:buClr>
                <a:schemeClr val="dk1"/>
              </a:buClr>
              <a:buSzPts val="1100"/>
              <a:buFont typeface="Arial"/>
              <a:buNone/>
            </a:pPr>
            <a:r>
              <a:rPr b="1" lang="en-US" sz="2000">
                <a:solidFill>
                  <a:schemeClr val="dk1"/>
                </a:solidFill>
              </a:rPr>
              <a:t>Relation:</a:t>
            </a:r>
            <a:endParaRPr b="1" sz="20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lang="en-US" sz="2000">
                <a:solidFill>
                  <a:schemeClr val="dk1"/>
                </a:solidFill>
              </a:rPr>
              <a:t>Factory → creates fake data </a:t>
            </a:r>
            <a:endParaRPr sz="2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2000">
                <a:solidFill>
                  <a:schemeClr val="dk1"/>
                </a:solidFill>
              </a:rPr>
              <a:t>Seeder → inserts it into DB</a:t>
            </a:r>
            <a:endParaRPr sz="2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20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2000">
                <a:solidFill>
                  <a:schemeClr val="dk1"/>
                </a:solidFill>
              </a:rPr>
              <a:t>STEP 8: Create API Controller-&gt; </a:t>
            </a:r>
            <a:r>
              <a:rPr lang="en-US" sz="2000">
                <a:solidFill>
                  <a:schemeClr val="dk1"/>
                </a:solidFill>
              </a:rPr>
              <a:t>php artisan make:controller Api/StudentController</a:t>
            </a:r>
            <a:endParaRPr sz="2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20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2000">
                <a:solidFill>
                  <a:schemeClr val="dk1"/>
                </a:solidFill>
              </a:rPr>
              <a:t>STEP 9: Controller Code -&gt;</a:t>
            </a:r>
            <a:r>
              <a:rPr lang="en-US" sz="2000">
                <a:solidFill>
                  <a:srgbClr val="188038"/>
                </a:solidFill>
                <a:latin typeface="Roboto Mono"/>
                <a:ea typeface="Roboto Mono"/>
                <a:cs typeface="Roboto Mono"/>
                <a:sym typeface="Roboto Mono"/>
              </a:rPr>
              <a:t>app/Http/Controllers/Api/StudentController.php</a:t>
            </a:r>
            <a:endParaRPr sz="2000">
              <a:solidFill>
                <a:srgbClr val="188038"/>
              </a:solidFill>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t/>
            </a:r>
            <a:endParaRPr sz="2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000">
                <a:solidFill>
                  <a:schemeClr val="dk1"/>
                </a:solidFill>
              </a:rPr>
              <a:t>&lt;?php</a:t>
            </a:r>
            <a:endParaRPr sz="2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000">
                <a:solidFill>
                  <a:schemeClr val="dk1"/>
                </a:solidFill>
              </a:rPr>
              <a:t>namespace App\Http\Controllers\Api;</a:t>
            </a:r>
            <a:endParaRPr sz="2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000">
                <a:solidFill>
                  <a:schemeClr val="dk1"/>
                </a:solidFill>
              </a:rPr>
              <a:t>use App\Http\Controllers\Controller;</a:t>
            </a:r>
            <a:endParaRPr sz="2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000">
                <a:solidFill>
                  <a:schemeClr val="dk1"/>
                </a:solidFill>
              </a:rPr>
              <a:t>use Illuminate\Http\Request;</a:t>
            </a:r>
            <a:endParaRPr sz="2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000">
                <a:solidFill>
                  <a:schemeClr val="dk1"/>
                </a:solidFill>
              </a:rPr>
              <a:t>use App\Models\Student;</a:t>
            </a:r>
            <a:endParaRPr sz="2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000">
                <a:solidFill>
                  <a:schemeClr val="dk1"/>
                </a:solidFill>
              </a:rPr>
              <a:t>class StudentController extends Controller{</a:t>
            </a:r>
            <a:endParaRPr sz="2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000">
                <a:solidFill>
                  <a:schemeClr val="dk1"/>
                </a:solidFill>
              </a:rPr>
              <a:t>   // GET ALL</a:t>
            </a:r>
            <a:endParaRPr sz="2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000">
                <a:solidFill>
                  <a:schemeClr val="dk1"/>
                </a:solidFill>
              </a:rPr>
              <a:t>   public function index(){</a:t>
            </a:r>
            <a:endParaRPr sz="2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000">
                <a:solidFill>
                  <a:schemeClr val="dk1"/>
                </a:solidFill>
              </a:rPr>
              <a:t>       return Student::all();</a:t>
            </a:r>
            <a:endParaRPr sz="2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000">
                <a:solidFill>
                  <a:schemeClr val="dk1"/>
                </a:solidFill>
              </a:rPr>
              <a:t>   }</a:t>
            </a:r>
            <a:endParaRPr b="1" sz="20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g3d20f8606ae_0_81"/>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144" name="Google Shape;144;g3d20f8606ae_0_81"/>
          <p:cNvSpPr txBox="1"/>
          <p:nvPr/>
        </p:nvSpPr>
        <p:spPr>
          <a:xfrm>
            <a:off x="323600" y="0"/>
            <a:ext cx="11381400" cy="6834300"/>
          </a:xfrm>
          <a:prstGeom prst="rect">
            <a:avLst/>
          </a:prstGeom>
          <a:noFill/>
          <a:ln>
            <a:noFill/>
          </a:ln>
        </p:spPr>
        <p:txBody>
          <a:bodyPr anchorCtr="0" anchor="t" bIns="91425" lIns="91425" spcFirstLastPara="1" rIns="91425" wrap="square" tIns="91425">
            <a:spAutoFit/>
          </a:bodyPr>
          <a:lstStyle/>
          <a:p>
            <a:pPr indent="457200" lvl="0" marL="0" rtl="0" algn="l">
              <a:lnSpc>
                <a:spcPct val="115000"/>
              </a:lnSpc>
              <a:spcBef>
                <a:spcPts val="0"/>
              </a:spcBef>
              <a:spcAft>
                <a:spcPts val="0"/>
              </a:spcAft>
              <a:buClr>
                <a:schemeClr val="dk1"/>
              </a:buClr>
              <a:buSzPts val="1100"/>
              <a:buFont typeface="Arial"/>
              <a:buNone/>
            </a:pPr>
            <a:r>
              <a:rPr lang="en-US" sz="1800">
                <a:solidFill>
                  <a:schemeClr val="dk1"/>
                </a:solidFill>
              </a:rPr>
              <a:t>// CREATE</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800">
                <a:solidFill>
                  <a:schemeClr val="dk1"/>
                </a:solidFill>
              </a:rPr>
              <a:t>   	public function store(Request $request){</a:t>
            </a:r>
            <a:endParaRPr sz="18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800">
                <a:solidFill>
                  <a:schemeClr val="dk1"/>
                </a:solidFill>
              </a:rPr>
              <a:t>       $request-&gt;validate([</a:t>
            </a:r>
            <a:endParaRPr sz="18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800">
                <a:solidFill>
                  <a:schemeClr val="dk1"/>
                </a:solidFill>
              </a:rPr>
              <a:t>           'name' =&gt; 'required',</a:t>
            </a:r>
            <a:endParaRPr sz="18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800">
                <a:solidFill>
                  <a:schemeClr val="dk1"/>
                </a:solidFill>
              </a:rPr>
              <a:t>           'email' =&gt; 'required|email',</a:t>
            </a:r>
            <a:endParaRPr sz="18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800">
                <a:solidFill>
                  <a:schemeClr val="dk1"/>
                </a:solidFill>
              </a:rPr>
              <a:t>           'age' =&gt; 'required|numeric'</a:t>
            </a:r>
            <a:endParaRPr sz="18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800">
                <a:solidFill>
                  <a:schemeClr val="dk1"/>
                </a:solidFill>
              </a:rPr>
              <a:t>       ]);</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800">
                <a:solidFill>
                  <a:schemeClr val="dk1"/>
                </a:solidFill>
              </a:rPr>
              <a:t>       	$student = Student::create($request-&gt;all());</a:t>
            </a:r>
            <a:endParaRPr sz="18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800">
                <a:solidFill>
                  <a:schemeClr val="dk1"/>
                </a:solidFill>
              </a:rPr>
              <a:t>       return response()-&gt;json([</a:t>
            </a:r>
            <a:endParaRPr sz="1800">
              <a:solidFill>
                <a:schemeClr val="dk1"/>
              </a:solidFill>
            </a:endParaRPr>
          </a:p>
          <a:p>
            <a:pPr indent="0" lvl="0" marL="914400" rtl="0" algn="l">
              <a:lnSpc>
                <a:spcPct val="115000"/>
              </a:lnSpc>
              <a:spcBef>
                <a:spcPts val="0"/>
              </a:spcBef>
              <a:spcAft>
                <a:spcPts val="0"/>
              </a:spcAft>
              <a:buClr>
                <a:schemeClr val="dk1"/>
              </a:buClr>
              <a:buSzPts val="1100"/>
              <a:buFont typeface="Arial"/>
              <a:buNone/>
            </a:pPr>
            <a:r>
              <a:rPr lang="en-US" sz="1800">
                <a:solidFill>
                  <a:schemeClr val="dk1"/>
                </a:solidFill>
              </a:rPr>
              <a:t>           'message' =&gt; 'Student created',</a:t>
            </a:r>
            <a:endParaRPr sz="1800">
              <a:solidFill>
                <a:schemeClr val="dk1"/>
              </a:solidFill>
            </a:endParaRPr>
          </a:p>
          <a:p>
            <a:pPr indent="0" lvl="0" marL="914400" rtl="0" algn="l">
              <a:lnSpc>
                <a:spcPct val="115000"/>
              </a:lnSpc>
              <a:spcBef>
                <a:spcPts val="0"/>
              </a:spcBef>
              <a:spcAft>
                <a:spcPts val="0"/>
              </a:spcAft>
              <a:buClr>
                <a:schemeClr val="dk1"/>
              </a:buClr>
              <a:buSzPts val="1100"/>
              <a:buFont typeface="Arial"/>
              <a:buNone/>
            </a:pPr>
            <a:r>
              <a:rPr lang="en-US" sz="1800">
                <a:solidFill>
                  <a:schemeClr val="dk1"/>
                </a:solidFill>
              </a:rPr>
              <a:t>           'data' =&gt; $student</a:t>
            </a:r>
            <a:endParaRPr sz="18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800">
                <a:solidFill>
                  <a:schemeClr val="dk1"/>
                </a:solidFill>
              </a:rPr>
              <a:t>       ]);</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800">
                <a:solidFill>
                  <a:schemeClr val="dk1"/>
                </a:solidFill>
              </a:rPr>
              <a:t>   	}</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800">
                <a:solidFill>
                  <a:schemeClr val="dk1"/>
                </a:solidFill>
              </a:rPr>
              <a:t>       // GET SINGLE</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800">
                <a:solidFill>
                  <a:schemeClr val="dk1"/>
                </a:solidFill>
              </a:rPr>
              <a:t>       public function show($id){</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800">
                <a:solidFill>
                  <a:schemeClr val="dk1"/>
                </a:solidFill>
              </a:rPr>
              <a:t>       	$student = Student::find($id);</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800">
                <a:solidFill>
                  <a:schemeClr val="dk1"/>
                </a:solidFill>
              </a:rPr>
              <a:t>       	if (!$student) {</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800">
                <a:solidFill>
                  <a:schemeClr val="dk1"/>
                </a:solidFill>
              </a:rPr>
              <a:t>           		return response()-&gt;json(['message' =&gt; 'Not found'], 404);</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800">
                <a:solidFill>
                  <a:schemeClr val="dk1"/>
                </a:solidFill>
              </a:rPr>
              <a:t>       }</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800">
                <a:solidFill>
                  <a:schemeClr val="dk1"/>
                </a:solidFill>
              </a:rPr>
              <a:t>       return $student;</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800">
                <a:solidFill>
                  <a:schemeClr val="dk1"/>
                </a:solidFill>
              </a:rPr>
              <a:t>   	}</a:t>
            </a:r>
            <a:endParaRPr b="1" sz="18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g3d20f8606ae_0_86"/>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150" name="Google Shape;150;g3d20f8606ae_0_86"/>
          <p:cNvSpPr txBox="1"/>
          <p:nvPr/>
        </p:nvSpPr>
        <p:spPr>
          <a:xfrm>
            <a:off x="323600" y="0"/>
            <a:ext cx="11381400" cy="70821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Clr>
                <a:schemeClr val="dk1"/>
              </a:buClr>
              <a:buSzPts val="1100"/>
              <a:buFont typeface="Arial"/>
              <a:buNone/>
            </a:pPr>
            <a:r>
              <a:rPr lang="en-US" sz="1600">
                <a:solidFill>
                  <a:schemeClr val="dk1"/>
                </a:solidFill>
              </a:rPr>
              <a:t>   // UPDATE</a:t>
            </a:r>
            <a:endParaRPr sz="16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800">
                <a:solidFill>
                  <a:schemeClr val="dk1"/>
                </a:solidFill>
              </a:rPr>
              <a:t>   public function update(Request $request, $id){</a:t>
            </a:r>
            <a:endParaRPr sz="18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800">
                <a:solidFill>
                  <a:schemeClr val="dk1"/>
                </a:solidFill>
              </a:rPr>
              <a:t>       	$student = Student::find($id);</a:t>
            </a:r>
            <a:endParaRPr sz="1800">
              <a:solidFill>
                <a:schemeClr val="dk1"/>
              </a:solidFill>
            </a:endParaRPr>
          </a:p>
          <a:p>
            <a:pPr indent="457200" lvl="0" marL="457200" rtl="0" algn="l">
              <a:lnSpc>
                <a:spcPct val="115000"/>
              </a:lnSpc>
              <a:spcBef>
                <a:spcPts val="0"/>
              </a:spcBef>
              <a:spcAft>
                <a:spcPts val="0"/>
              </a:spcAft>
              <a:buClr>
                <a:schemeClr val="dk1"/>
              </a:buClr>
              <a:buSzPts val="1100"/>
              <a:buFont typeface="Arial"/>
              <a:buNone/>
            </a:pPr>
            <a:r>
              <a:rPr lang="en-US" sz="1800">
                <a:solidFill>
                  <a:schemeClr val="dk1"/>
                </a:solidFill>
              </a:rPr>
              <a:t>       if (!$student) {</a:t>
            </a:r>
            <a:endParaRPr sz="18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800">
                <a:solidFill>
                  <a:schemeClr val="dk1"/>
                </a:solidFill>
              </a:rPr>
              <a:t>           		return response()-&gt;json(['message' =&gt; 'Not found'], 404);</a:t>
            </a:r>
            <a:endParaRPr sz="18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800">
                <a:solidFill>
                  <a:schemeClr val="dk1"/>
                </a:solidFill>
              </a:rPr>
              <a:t>       	}</a:t>
            </a:r>
            <a:endParaRPr sz="1800">
              <a:solidFill>
                <a:schemeClr val="dk1"/>
              </a:solidFill>
            </a:endParaRPr>
          </a:p>
          <a:p>
            <a:pPr indent="457200" lvl="0" marL="914400" rtl="0" algn="l">
              <a:lnSpc>
                <a:spcPct val="115000"/>
              </a:lnSpc>
              <a:spcBef>
                <a:spcPts val="0"/>
              </a:spcBef>
              <a:spcAft>
                <a:spcPts val="0"/>
              </a:spcAft>
              <a:buClr>
                <a:schemeClr val="dk1"/>
              </a:buClr>
              <a:buSzPts val="1100"/>
              <a:buFont typeface="Arial"/>
              <a:buNone/>
            </a:pPr>
            <a:r>
              <a:rPr lang="en-US" sz="1800">
                <a:solidFill>
                  <a:schemeClr val="dk1"/>
                </a:solidFill>
              </a:rPr>
              <a:t>$student-&gt;update($request-&gt;all());</a:t>
            </a:r>
            <a:endParaRPr sz="18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800">
                <a:solidFill>
                  <a:schemeClr val="dk1"/>
                </a:solidFill>
              </a:rPr>
              <a:t>      		 return response()-&gt;json([</a:t>
            </a:r>
            <a:endParaRPr sz="1800">
              <a:solidFill>
                <a:schemeClr val="dk1"/>
              </a:solidFill>
            </a:endParaRPr>
          </a:p>
          <a:p>
            <a:pPr indent="0" lvl="0" marL="914400" rtl="0" algn="l">
              <a:lnSpc>
                <a:spcPct val="115000"/>
              </a:lnSpc>
              <a:spcBef>
                <a:spcPts val="0"/>
              </a:spcBef>
              <a:spcAft>
                <a:spcPts val="0"/>
              </a:spcAft>
              <a:buClr>
                <a:schemeClr val="dk1"/>
              </a:buClr>
              <a:buSzPts val="1100"/>
              <a:buFont typeface="Arial"/>
              <a:buNone/>
            </a:pPr>
            <a:r>
              <a:rPr lang="en-US" sz="1800">
                <a:solidFill>
                  <a:schemeClr val="dk1"/>
                </a:solidFill>
              </a:rPr>
              <a:t>           'message' =&gt; 'Updated',</a:t>
            </a:r>
            <a:endParaRPr sz="1800">
              <a:solidFill>
                <a:schemeClr val="dk1"/>
              </a:solidFill>
            </a:endParaRPr>
          </a:p>
          <a:p>
            <a:pPr indent="0" lvl="0" marL="914400" rtl="0" algn="l">
              <a:lnSpc>
                <a:spcPct val="115000"/>
              </a:lnSpc>
              <a:spcBef>
                <a:spcPts val="0"/>
              </a:spcBef>
              <a:spcAft>
                <a:spcPts val="0"/>
              </a:spcAft>
              <a:buClr>
                <a:schemeClr val="dk1"/>
              </a:buClr>
              <a:buSzPts val="1100"/>
              <a:buFont typeface="Arial"/>
              <a:buNone/>
            </a:pPr>
            <a:r>
              <a:rPr lang="en-US" sz="1800">
                <a:solidFill>
                  <a:schemeClr val="dk1"/>
                </a:solidFill>
              </a:rPr>
              <a:t>           'data' =&gt; $student</a:t>
            </a:r>
            <a:endParaRPr sz="1800">
              <a:solidFill>
                <a:schemeClr val="dk1"/>
              </a:solidFill>
            </a:endParaRPr>
          </a:p>
          <a:p>
            <a:pPr indent="0" lvl="0" marL="914400" rtl="0" algn="l">
              <a:lnSpc>
                <a:spcPct val="115000"/>
              </a:lnSpc>
              <a:spcBef>
                <a:spcPts val="0"/>
              </a:spcBef>
              <a:spcAft>
                <a:spcPts val="0"/>
              </a:spcAft>
              <a:buClr>
                <a:schemeClr val="dk1"/>
              </a:buClr>
              <a:buSzPts val="1100"/>
              <a:buFont typeface="Arial"/>
              <a:buNone/>
            </a:pPr>
            <a:r>
              <a:rPr lang="en-US" sz="1800">
                <a:solidFill>
                  <a:schemeClr val="dk1"/>
                </a:solidFill>
              </a:rPr>
              <a:t>       ]);</a:t>
            </a:r>
            <a:endParaRPr sz="18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800">
                <a:solidFill>
                  <a:schemeClr val="dk1"/>
                </a:solidFill>
              </a:rPr>
              <a:t>   }</a:t>
            </a:r>
            <a:endParaRPr sz="18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600">
                <a:solidFill>
                  <a:schemeClr val="dk1"/>
                </a:solidFill>
              </a:rPr>
              <a:t>   // DELETE</a:t>
            </a:r>
            <a:endParaRPr sz="16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800">
                <a:solidFill>
                  <a:schemeClr val="dk1"/>
                </a:solidFill>
              </a:rPr>
              <a:t>   public function destroy($id){</a:t>
            </a:r>
            <a:endParaRPr sz="18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800">
                <a:solidFill>
                  <a:schemeClr val="dk1"/>
                </a:solidFill>
              </a:rPr>
              <a:t>       $student = Student::find($id);</a:t>
            </a:r>
            <a:endParaRPr sz="18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800">
                <a:solidFill>
                  <a:schemeClr val="dk1"/>
                </a:solidFill>
              </a:rPr>
              <a:t>       if (!$student) {</a:t>
            </a:r>
            <a:endParaRPr sz="18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800">
                <a:solidFill>
                  <a:schemeClr val="dk1"/>
                </a:solidFill>
              </a:rPr>
              <a:t>           return response()-&gt;json(['message' =&gt; 'Not found'], 404);</a:t>
            </a:r>
            <a:endParaRPr sz="18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800">
                <a:solidFill>
                  <a:schemeClr val="dk1"/>
                </a:solidFill>
              </a:rPr>
              <a:t>       }</a:t>
            </a:r>
            <a:endParaRPr sz="18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800">
                <a:solidFill>
                  <a:schemeClr val="dk1"/>
                </a:solidFill>
              </a:rPr>
              <a:t>       $student-&gt;delete();</a:t>
            </a:r>
            <a:endParaRPr sz="1800">
              <a:solidFill>
                <a:schemeClr val="dk1"/>
              </a:solidFill>
            </a:endParaRPr>
          </a:p>
          <a:p>
            <a:pPr indent="457200" lvl="0" marL="0" rtl="0" algn="l">
              <a:lnSpc>
                <a:spcPct val="115000"/>
              </a:lnSpc>
              <a:spcBef>
                <a:spcPts val="0"/>
              </a:spcBef>
              <a:spcAft>
                <a:spcPts val="0"/>
              </a:spcAft>
              <a:buClr>
                <a:schemeClr val="dk1"/>
              </a:buClr>
              <a:buSzPts val="1100"/>
              <a:buFont typeface="Arial"/>
              <a:buNone/>
            </a:pPr>
            <a:r>
              <a:rPr lang="en-US" sz="1800">
                <a:solidFill>
                  <a:schemeClr val="dk1"/>
                </a:solidFill>
              </a:rPr>
              <a:t>       return response()-&gt;json(['message' =&gt; 'Deleted']);</a:t>
            </a:r>
            <a:endParaRPr sz="18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800">
                <a:solidFill>
                  <a:schemeClr val="dk1"/>
                </a:solidFill>
              </a:rPr>
              <a:t>   }</a:t>
            </a:r>
            <a:endParaRPr sz="18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800">
                <a:solidFill>
                  <a:schemeClr val="dk1"/>
                </a:solidFill>
              </a:rPr>
              <a:t>}</a:t>
            </a:r>
            <a:endParaRPr b="1" sz="18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g3d20de29280_0_60"/>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156" name="Google Shape;156;g3d20de29280_0_60"/>
          <p:cNvSpPr txBox="1"/>
          <p:nvPr/>
        </p:nvSpPr>
        <p:spPr>
          <a:xfrm>
            <a:off x="323600" y="0"/>
            <a:ext cx="7737900" cy="692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Clr>
                <a:schemeClr val="dk1"/>
              </a:buClr>
              <a:buSzPts val="1100"/>
              <a:buFont typeface="Arial"/>
              <a:buNone/>
            </a:pPr>
            <a:r>
              <a:rPr b="1" lang="en-US" sz="2000">
                <a:solidFill>
                  <a:schemeClr val="dk1"/>
                </a:solidFill>
              </a:rPr>
              <a:t>STEP 10: API Routes-&gt; </a:t>
            </a:r>
            <a:r>
              <a:rPr lang="en-US" sz="2000">
                <a:solidFill>
                  <a:srgbClr val="188038"/>
                </a:solidFill>
                <a:latin typeface="Roboto Mono"/>
                <a:ea typeface="Roboto Mono"/>
                <a:cs typeface="Roboto Mono"/>
                <a:sym typeface="Roboto Mono"/>
              </a:rPr>
              <a:t>routes/api.php</a:t>
            </a:r>
            <a:endParaRPr sz="2000">
              <a:solidFill>
                <a:srgbClr val="188038"/>
              </a:solidFill>
              <a:latin typeface="Roboto Mono"/>
              <a:ea typeface="Roboto Mono"/>
              <a:cs typeface="Roboto Mono"/>
              <a:sym typeface="Roboto Mono"/>
            </a:endParaRPr>
          </a:p>
          <a:p>
            <a:pPr indent="0" lvl="0" marL="0" rtl="0" algn="l">
              <a:lnSpc>
                <a:spcPct val="115000"/>
              </a:lnSpc>
              <a:spcBef>
                <a:spcPts val="600"/>
              </a:spcBef>
              <a:spcAft>
                <a:spcPts val="0"/>
              </a:spcAft>
              <a:buClr>
                <a:schemeClr val="dk1"/>
              </a:buClr>
              <a:buSzPts val="1100"/>
              <a:buFont typeface="Arial"/>
              <a:buNone/>
            </a:pPr>
            <a:r>
              <a:rPr lang="en-US" sz="2000">
                <a:solidFill>
                  <a:schemeClr val="dk1"/>
                </a:solidFill>
              </a:rPr>
              <a:t>use Illuminate\Support\Facades\Route;</a:t>
            </a:r>
            <a:endParaRPr sz="2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000">
                <a:solidFill>
                  <a:schemeClr val="dk1"/>
                </a:solidFill>
              </a:rPr>
              <a:t>use App\Http\Controllers\Api\StudentController;</a:t>
            </a:r>
            <a:endParaRPr sz="2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2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000">
                <a:solidFill>
                  <a:schemeClr val="dk1"/>
                </a:solidFill>
              </a:rPr>
              <a:t>Route::get('/students', [StudentController::class, 'index']);</a:t>
            </a:r>
            <a:endParaRPr sz="2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000">
                <a:solidFill>
                  <a:schemeClr val="dk1"/>
                </a:solidFill>
              </a:rPr>
              <a:t>Route::post('/students', [StudentController::class, 'store']);</a:t>
            </a:r>
            <a:endParaRPr sz="2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000">
                <a:solidFill>
                  <a:schemeClr val="dk1"/>
                </a:solidFill>
              </a:rPr>
              <a:t>Route::get('/students/{id}', [StudentController::class, 'show']);</a:t>
            </a:r>
            <a:endParaRPr sz="2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000">
                <a:solidFill>
                  <a:schemeClr val="dk1"/>
                </a:solidFill>
              </a:rPr>
              <a:t>Route::put('/students/{id}', [StudentController::class, 'update']);</a:t>
            </a:r>
            <a:endParaRPr sz="2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000">
                <a:solidFill>
                  <a:schemeClr val="dk1"/>
                </a:solidFill>
              </a:rPr>
              <a:t>Route::delete('/students/{id}', [StudentController::class, 'destroy']);</a:t>
            </a:r>
            <a:endParaRPr sz="2000">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US" sz="2000">
                <a:solidFill>
                  <a:schemeClr val="dk1"/>
                </a:solidFill>
              </a:rPr>
              <a:t>STEP 11: TEST API (Postman)</a:t>
            </a:r>
            <a:endParaRPr b="1" sz="2000">
              <a:solidFill>
                <a:schemeClr val="dk1"/>
              </a:solidFill>
            </a:endParaRPr>
          </a:p>
          <a:p>
            <a:pPr indent="-355600" lvl="0" marL="457200" rtl="0" algn="l">
              <a:lnSpc>
                <a:spcPct val="115000"/>
              </a:lnSpc>
              <a:spcBef>
                <a:spcPts val="2400"/>
              </a:spcBef>
              <a:spcAft>
                <a:spcPts val="0"/>
              </a:spcAft>
              <a:buClr>
                <a:schemeClr val="dk1"/>
              </a:buClr>
              <a:buSzPts val="2000"/>
              <a:buAutoNum type="arabicPeriod"/>
            </a:pPr>
            <a:r>
              <a:rPr b="1" lang="en-US" sz="2000">
                <a:solidFill>
                  <a:schemeClr val="dk1"/>
                </a:solidFill>
              </a:rPr>
              <a:t>POST (Create)</a:t>
            </a:r>
            <a:endParaRPr b="1" sz="2000">
              <a:solidFill>
                <a:schemeClr val="dk1"/>
              </a:solidFill>
            </a:endParaRPr>
          </a:p>
          <a:p>
            <a:pPr indent="0" lvl="0" marL="457200" rtl="0" algn="l">
              <a:lnSpc>
                <a:spcPct val="115000"/>
              </a:lnSpc>
              <a:spcBef>
                <a:spcPts val="600"/>
              </a:spcBef>
              <a:spcAft>
                <a:spcPts val="0"/>
              </a:spcAft>
              <a:buClr>
                <a:schemeClr val="dk1"/>
              </a:buClr>
              <a:buSzPts val="1100"/>
              <a:buFont typeface="Arial"/>
              <a:buNone/>
            </a:pPr>
            <a:r>
              <a:rPr lang="en-US" sz="2000">
                <a:solidFill>
                  <a:schemeClr val="dk1"/>
                </a:solidFill>
              </a:rPr>
              <a:t>POST /api/students</a:t>
            </a:r>
            <a:endParaRPr sz="20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2000">
                <a:solidFill>
                  <a:schemeClr val="dk1"/>
                </a:solidFill>
              </a:rPr>
              <a:t>{</a:t>
            </a:r>
            <a:endParaRPr sz="20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2000">
                <a:solidFill>
                  <a:schemeClr val="dk1"/>
                </a:solidFill>
              </a:rPr>
              <a:t>   "name": "Rabaab",</a:t>
            </a:r>
            <a:endParaRPr sz="20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2000">
                <a:solidFill>
                  <a:schemeClr val="dk1"/>
                </a:solidFill>
              </a:rPr>
              <a:t>   "email": "test@gmail.com",</a:t>
            </a:r>
            <a:endParaRPr sz="20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2000">
                <a:solidFill>
                  <a:schemeClr val="dk1"/>
                </a:solidFill>
              </a:rPr>
              <a:t>   "age": 22</a:t>
            </a:r>
            <a:endParaRPr sz="20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2000">
                <a:solidFill>
                  <a:schemeClr val="dk1"/>
                </a:solidFill>
              </a:rPr>
              <a:t>}</a:t>
            </a:r>
            <a:endParaRPr b="1" sz="2000">
              <a:solidFill>
                <a:schemeClr val="dk1"/>
              </a:solidFill>
            </a:endParaRPr>
          </a:p>
        </p:txBody>
      </p:sp>
      <p:sp>
        <p:nvSpPr>
          <p:cNvPr id="157" name="Google Shape;157;g3d20de29280_0_60"/>
          <p:cNvSpPr txBox="1"/>
          <p:nvPr/>
        </p:nvSpPr>
        <p:spPr>
          <a:xfrm>
            <a:off x="8061375" y="886550"/>
            <a:ext cx="3095400" cy="5727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US" sz="2000">
                <a:solidFill>
                  <a:schemeClr val="dk1"/>
                </a:solidFill>
              </a:rPr>
              <a:t>2. </a:t>
            </a:r>
            <a:r>
              <a:rPr b="1" lang="en-US" sz="2000">
                <a:solidFill>
                  <a:schemeClr val="dk1"/>
                </a:solidFill>
              </a:rPr>
              <a:t>GET ALL</a:t>
            </a:r>
            <a:endParaRPr b="1" sz="2000">
              <a:solidFill>
                <a:schemeClr val="dk1"/>
              </a:solidFill>
            </a:endParaRPr>
          </a:p>
          <a:p>
            <a:pPr indent="457200" lvl="0" marL="0" rtl="0" algn="l">
              <a:lnSpc>
                <a:spcPct val="115000"/>
              </a:lnSpc>
              <a:spcBef>
                <a:spcPts val="400"/>
              </a:spcBef>
              <a:spcAft>
                <a:spcPts val="0"/>
              </a:spcAft>
              <a:buClr>
                <a:schemeClr val="dk1"/>
              </a:buClr>
              <a:buSzPts val="1100"/>
              <a:buFont typeface="Arial"/>
              <a:buNone/>
            </a:pPr>
            <a:r>
              <a:rPr lang="en-US" sz="2000">
                <a:solidFill>
                  <a:schemeClr val="dk1"/>
                </a:solidFill>
              </a:rPr>
              <a:t>GET /api/students</a:t>
            </a:r>
            <a:endParaRPr sz="20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US" sz="2000">
                <a:solidFill>
                  <a:schemeClr val="dk1"/>
                </a:solidFill>
              </a:rPr>
              <a:t> 3. GET SINGLE</a:t>
            </a:r>
            <a:endParaRPr b="1" sz="2000">
              <a:solidFill>
                <a:schemeClr val="dk1"/>
              </a:solidFill>
            </a:endParaRPr>
          </a:p>
          <a:p>
            <a:pPr indent="457200" lvl="0" marL="0" rtl="0" algn="l">
              <a:lnSpc>
                <a:spcPct val="115000"/>
              </a:lnSpc>
              <a:spcBef>
                <a:spcPts val="400"/>
              </a:spcBef>
              <a:spcAft>
                <a:spcPts val="0"/>
              </a:spcAft>
              <a:buClr>
                <a:schemeClr val="dk1"/>
              </a:buClr>
              <a:buSzPts val="1100"/>
              <a:buFont typeface="Arial"/>
              <a:buNone/>
            </a:pPr>
            <a:r>
              <a:rPr lang="en-US" sz="2000">
                <a:solidFill>
                  <a:schemeClr val="dk1"/>
                </a:solidFill>
              </a:rPr>
              <a:t>GET /api/students/1</a:t>
            </a:r>
            <a:endParaRPr sz="20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US" sz="2000">
                <a:solidFill>
                  <a:schemeClr val="dk1"/>
                </a:solidFill>
              </a:rPr>
              <a:t>4. PUT (Update)</a:t>
            </a:r>
            <a:endParaRPr b="1" sz="2000">
              <a:solidFill>
                <a:schemeClr val="dk1"/>
              </a:solidFill>
            </a:endParaRPr>
          </a:p>
          <a:p>
            <a:pPr indent="0" lvl="0" marL="457200" rtl="0" algn="l">
              <a:lnSpc>
                <a:spcPct val="115000"/>
              </a:lnSpc>
              <a:spcBef>
                <a:spcPts val="400"/>
              </a:spcBef>
              <a:spcAft>
                <a:spcPts val="0"/>
              </a:spcAft>
              <a:buClr>
                <a:schemeClr val="dk1"/>
              </a:buClr>
              <a:buSzPts val="1100"/>
              <a:buFont typeface="Arial"/>
              <a:buNone/>
            </a:pPr>
            <a:r>
              <a:rPr lang="en-US" sz="2000">
                <a:solidFill>
                  <a:schemeClr val="dk1"/>
                </a:solidFill>
              </a:rPr>
              <a:t>PUT /api/students/1</a:t>
            </a:r>
            <a:endParaRPr sz="20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2000">
                <a:solidFill>
                  <a:schemeClr val="dk1"/>
                </a:solidFill>
              </a:rPr>
              <a:t>{</a:t>
            </a:r>
            <a:endParaRPr sz="20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2000">
                <a:solidFill>
                  <a:schemeClr val="dk1"/>
                </a:solidFill>
              </a:rPr>
              <a:t>   "name": "Updated",</a:t>
            </a:r>
            <a:endParaRPr sz="20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2000">
                <a:solidFill>
                  <a:schemeClr val="dk1"/>
                </a:solidFill>
              </a:rPr>
              <a:t>   "age": 25</a:t>
            </a:r>
            <a:endParaRPr sz="20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2000">
                <a:solidFill>
                  <a:schemeClr val="dk1"/>
                </a:solidFill>
              </a:rPr>
              <a:t>}</a:t>
            </a:r>
            <a:endParaRPr sz="20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US" sz="2000">
                <a:solidFill>
                  <a:schemeClr val="dk1"/>
                </a:solidFill>
              </a:rPr>
              <a:t> 5. DELETE</a:t>
            </a:r>
            <a:endParaRPr b="1" sz="20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en-US" sz="2000">
                <a:solidFill>
                  <a:schemeClr val="dk1"/>
                </a:solidFill>
              </a:rPr>
              <a:t>DELETE /api/students/1</a:t>
            </a:r>
            <a:endParaRPr sz="2000">
              <a:solidFill>
                <a:schemeClr val="dk1"/>
              </a:solidFill>
            </a:endParaRPr>
          </a:p>
          <a:p>
            <a:pPr indent="0" lvl="0" marL="0" rtl="0" algn="l">
              <a:spcBef>
                <a:spcPts val="0"/>
              </a:spcBef>
              <a:spcAft>
                <a:spcPts val="0"/>
              </a:spcAft>
              <a:buClr>
                <a:schemeClr val="dk1"/>
              </a:buClr>
              <a:buSzPts val="1100"/>
              <a:buFont typeface="Arial"/>
              <a:buNone/>
            </a:pPr>
            <a:r>
              <a:t/>
            </a:r>
            <a:endParaRPr b="1" sz="2000">
              <a:solidFill>
                <a:schemeClr val="dk1"/>
              </a:solidFill>
            </a:endParaRPr>
          </a:p>
          <a:p>
            <a:pPr indent="0" lvl="0" marL="0" rtl="0" algn="l">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g3d20f8606ae_0_92"/>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163" name="Google Shape;163;g3d20f8606ae_0_92"/>
          <p:cNvSpPr txBox="1"/>
          <p:nvPr/>
        </p:nvSpPr>
        <p:spPr>
          <a:xfrm>
            <a:off x="323600" y="0"/>
            <a:ext cx="11731500" cy="635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Clr>
                <a:schemeClr val="dk1"/>
              </a:buClr>
              <a:buSzPts val="1100"/>
              <a:buFont typeface="Arial"/>
              <a:buNone/>
            </a:pPr>
            <a:r>
              <a:rPr b="1" lang="en-US" sz="2000">
                <a:solidFill>
                  <a:schemeClr val="dk1"/>
                </a:solidFill>
              </a:rPr>
              <a:t>LARAVEL MIGRATION COMMANDS (COMPLETE LIST)</a:t>
            </a:r>
            <a:endParaRPr b="1" sz="2000">
              <a:solidFill>
                <a:schemeClr val="dk1"/>
              </a:solidFill>
            </a:endParaRPr>
          </a:p>
          <a:p>
            <a:pPr indent="0" lvl="0" marL="0" rtl="0" algn="l">
              <a:lnSpc>
                <a:spcPct val="100000"/>
              </a:lnSpc>
              <a:spcBef>
                <a:spcPts val="600"/>
              </a:spcBef>
              <a:spcAft>
                <a:spcPts val="0"/>
              </a:spcAft>
              <a:buClr>
                <a:schemeClr val="dk1"/>
              </a:buClr>
              <a:buSzPts val="1100"/>
              <a:buFont typeface="Arial"/>
              <a:buNone/>
            </a:pPr>
            <a:r>
              <a:rPr b="1" lang="en-US" sz="2000">
                <a:solidFill>
                  <a:schemeClr val="dk1"/>
                </a:solidFill>
              </a:rPr>
              <a:t>1. Create Migration: </a:t>
            </a:r>
            <a:r>
              <a:rPr lang="en-US" sz="2000">
                <a:solidFill>
                  <a:schemeClr val="dk1"/>
                </a:solidFill>
              </a:rPr>
              <a:t>php artisan make:migration create_students_table</a:t>
            </a:r>
            <a:endParaRPr b="1" sz="2000">
              <a:solidFill>
                <a:schemeClr val="dk1"/>
              </a:solidFill>
            </a:endParaRPr>
          </a:p>
          <a:p>
            <a:pPr indent="-355600" lvl="0" marL="914400" rtl="0" algn="l">
              <a:lnSpc>
                <a:spcPct val="100000"/>
              </a:lnSpc>
              <a:spcBef>
                <a:spcPts val="1200"/>
              </a:spcBef>
              <a:spcAft>
                <a:spcPts val="0"/>
              </a:spcAft>
              <a:buClr>
                <a:schemeClr val="dk1"/>
              </a:buClr>
              <a:buSzPts val="2000"/>
              <a:buChar char="●"/>
            </a:pPr>
            <a:r>
              <a:rPr lang="en-US" sz="2000">
                <a:solidFill>
                  <a:schemeClr val="dk1"/>
                </a:solidFill>
              </a:rPr>
              <a:t>Create a new migration file</a:t>
            </a:r>
            <a:endParaRPr sz="2000">
              <a:solidFill>
                <a:schemeClr val="dk1"/>
              </a:solidFill>
            </a:endParaRPr>
          </a:p>
          <a:p>
            <a:pPr indent="-355600" lvl="0" marL="914400" rtl="0" algn="l">
              <a:lnSpc>
                <a:spcPct val="100000"/>
              </a:lnSpc>
              <a:spcBef>
                <a:spcPts val="0"/>
              </a:spcBef>
              <a:spcAft>
                <a:spcPts val="0"/>
              </a:spcAft>
              <a:buClr>
                <a:schemeClr val="dk1"/>
              </a:buClr>
              <a:buSzPts val="2000"/>
              <a:buChar char="●"/>
            </a:pPr>
            <a:r>
              <a:rPr lang="en-US" sz="2000">
                <a:solidFill>
                  <a:schemeClr val="dk1"/>
                </a:solidFill>
              </a:rPr>
              <a:t>Used to define table structure</a:t>
            </a:r>
            <a:endParaRPr sz="2000">
              <a:solidFill>
                <a:schemeClr val="dk1"/>
              </a:solidFill>
            </a:endParaRPr>
          </a:p>
          <a:p>
            <a:pPr indent="0" lvl="0" marL="457200" rtl="0" algn="l">
              <a:lnSpc>
                <a:spcPct val="100000"/>
              </a:lnSpc>
              <a:spcBef>
                <a:spcPts val="1800"/>
              </a:spcBef>
              <a:spcAft>
                <a:spcPts val="0"/>
              </a:spcAft>
              <a:buClr>
                <a:schemeClr val="dk1"/>
              </a:buClr>
              <a:buSzPts val="1100"/>
              <a:buFont typeface="Arial"/>
              <a:buNone/>
            </a:pPr>
            <a:r>
              <a:rPr b="1" lang="en-US" sz="2000">
                <a:solidFill>
                  <a:schemeClr val="dk1"/>
                </a:solidFill>
              </a:rPr>
              <a:t> With table option: </a:t>
            </a:r>
            <a:r>
              <a:rPr lang="en-US" sz="2000">
                <a:solidFill>
                  <a:schemeClr val="dk1"/>
                </a:solidFill>
              </a:rPr>
              <a:t>php artisan make:migration create_students_table --create=students</a:t>
            </a:r>
            <a:endParaRPr sz="2000">
              <a:solidFill>
                <a:schemeClr val="dk1"/>
              </a:solidFill>
            </a:endParaRPr>
          </a:p>
          <a:p>
            <a:pPr indent="0" lvl="0" marL="457200" rtl="0" algn="l">
              <a:lnSpc>
                <a:spcPct val="100000"/>
              </a:lnSpc>
              <a:spcBef>
                <a:spcPts val="1200"/>
              </a:spcBef>
              <a:spcAft>
                <a:spcPts val="0"/>
              </a:spcAft>
              <a:buClr>
                <a:schemeClr val="dk1"/>
              </a:buClr>
              <a:buSzPts val="1100"/>
              <a:buFont typeface="Arial"/>
              <a:buNone/>
            </a:pPr>
            <a:r>
              <a:rPr lang="en-US" sz="2000">
                <a:solidFill>
                  <a:schemeClr val="dk1"/>
                </a:solidFill>
              </a:rPr>
              <a:t> Automatically prepares </a:t>
            </a:r>
            <a:r>
              <a:rPr lang="en-US" sz="2000">
                <a:solidFill>
                  <a:srgbClr val="188038"/>
                </a:solidFill>
                <a:latin typeface="Roboto Mono"/>
                <a:ea typeface="Roboto Mono"/>
                <a:cs typeface="Roboto Mono"/>
                <a:sym typeface="Roboto Mono"/>
              </a:rPr>
              <a:t>Schema::create()</a:t>
            </a:r>
            <a:endParaRPr sz="2000">
              <a:solidFill>
                <a:srgbClr val="188038"/>
              </a:solidFill>
              <a:latin typeface="Roboto Mono"/>
              <a:ea typeface="Roboto Mono"/>
              <a:cs typeface="Roboto Mono"/>
              <a:sym typeface="Roboto Mono"/>
            </a:endParaRPr>
          </a:p>
          <a:p>
            <a:pPr indent="0" lvl="0" marL="457200" rtl="0" algn="l">
              <a:lnSpc>
                <a:spcPct val="115000"/>
              </a:lnSpc>
              <a:spcBef>
                <a:spcPts val="1200"/>
              </a:spcBef>
              <a:spcAft>
                <a:spcPts val="0"/>
              </a:spcAft>
              <a:buClr>
                <a:schemeClr val="dk1"/>
              </a:buClr>
              <a:buSzPts val="1100"/>
              <a:buFont typeface="Arial"/>
              <a:buNone/>
            </a:pPr>
            <a:r>
              <a:rPr b="1" lang="en-US" sz="2000">
                <a:solidFill>
                  <a:schemeClr val="dk1"/>
                </a:solidFill>
              </a:rPr>
              <a:t>Modify existing table: </a:t>
            </a:r>
            <a:r>
              <a:rPr lang="en-US" sz="2000">
                <a:solidFill>
                  <a:schemeClr val="dk1"/>
                </a:solidFill>
              </a:rPr>
              <a:t>php artisan make:migration add_age_to_students_table --table=students</a:t>
            </a:r>
            <a:endParaRPr sz="20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2000">
                <a:solidFill>
                  <a:schemeClr val="dk1"/>
                </a:solidFill>
              </a:rPr>
              <a:t> Used to add columns</a:t>
            </a:r>
            <a:endParaRPr sz="2000">
              <a:solidFill>
                <a:schemeClr val="dk1"/>
              </a:solidFill>
            </a:endParaRPr>
          </a:p>
          <a:p>
            <a:pPr indent="0" lvl="0" marL="457200" rtl="0" algn="l">
              <a:lnSpc>
                <a:spcPct val="115000"/>
              </a:lnSpc>
              <a:spcBef>
                <a:spcPts val="0"/>
              </a:spcBef>
              <a:spcAft>
                <a:spcPts val="0"/>
              </a:spcAft>
              <a:buClr>
                <a:schemeClr val="dk1"/>
              </a:buClr>
              <a:buSzPts val="1100"/>
              <a:buFont typeface="Arial"/>
              <a:buNone/>
            </a:pPr>
            <a:r>
              <a:t/>
            </a:r>
            <a:endParaRPr sz="20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2000">
                <a:solidFill>
                  <a:schemeClr val="dk1"/>
                </a:solidFill>
              </a:rPr>
              <a:t>2. Run Migrations: </a:t>
            </a:r>
            <a:r>
              <a:rPr lang="en-US" sz="2000">
                <a:solidFill>
                  <a:schemeClr val="dk1"/>
                </a:solidFill>
              </a:rPr>
              <a:t>php artisan migrate</a:t>
            </a:r>
            <a:endParaRPr b="1" sz="2000">
              <a:solidFill>
                <a:schemeClr val="dk1"/>
              </a:solidFill>
            </a:endParaRPr>
          </a:p>
          <a:p>
            <a:pPr indent="-355600" lvl="0" marL="914400" rtl="0" algn="l">
              <a:lnSpc>
                <a:spcPct val="115000"/>
              </a:lnSpc>
              <a:spcBef>
                <a:spcPts val="1200"/>
              </a:spcBef>
              <a:spcAft>
                <a:spcPts val="0"/>
              </a:spcAft>
              <a:buClr>
                <a:schemeClr val="dk1"/>
              </a:buClr>
              <a:buSzPts val="2000"/>
              <a:buChar char="●"/>
            </a:pPr>
            <a:r>
              <a:rPr lang="en-US" sz="2000">
                <a:solidFill>
                  <a:schemeClr val="dk1"/>
                </a:solidFill>
              </a:rPr>
              <a:t>Executes all pending migrations</a:t>
            </a:r>
            <a:endParaRPr sz="2000">
              <a:solidFill>
                <a:schemeClr val="dk1"/>
              </a:solidFill>
            </a:endParaRPr>
          </a:p>
          <a:p>
            <a:pPr indent="-355600" lvl="0" marL="914400" rtl="0" algn="l">
              <a:lnSpc>
                <a:spcPct val="115000"/>
              </a:lnSpc>
              <a:spcBef>
                <a:spcPts val="0"/>
              </a:spcBef>
              <a:spcAft>
                <a:spcPts val="0"/>
              </a:spcAft>
              <a:buClr>
                <a:schemeClr val="dk1"/>
              </a:buClr>
              <a:buSzPts val="2000"/>
              <a:buChar char="●"/>
            </a:pPr>
            <a:r>
              <a:rPr lang="en-US" sz="2000">
                <a:solidFill>
                  <a:schemeClr val="dk1"/>
                </a:solidFill>
              </a:rPr>
              <a:t>Creates tables in database</a:t>
            </a:r>
            <a:endParaRPr sz="2000">
              <a:solidFill>
                <a:schemeClr val="dk1"/>
              </a:solidFill>
            </a:endParaRPr>
          </a:p>
          <a:p>
            <a:pPr indent="0" lvl="0" marL="0" rtl="0" algn="l">
              <a:lnSpc>
                <a:spcPct val="100000"/>
              </a:lnSpc>
              <a:spcBef>
                <a:spcPts val="1200"/>
              </a:spcBef>
              <a:spcAft>
                <a:spcPts val="0"/>
              </a:spcAft>
              <a:buNone/>
            </a:pPr>
            <a:r>
              <a:rPr b="1" lang="en-US" sz="2000">
                <a:solidFill>
                  <a:schemeClr val="dk1"/>
                </a:solidFill>
              </a:rPr>
              <a:t>3. Rollback Migrations: </a:t>
            </a:r>
            <a:r>
              <a:rPr lang="en-US" sz="2000">
                <a:solidFill>
                  <a:schemeClr val="dk1"/>
                </a:solidFill>
              </a:rPr>
              <a:t>php artisan migrate:rollback</a:t>
            </a:r>
            <a:endParaRPr b="1" sz="2000">
              <a:solidFill>
                <a:schemeClr val="dk1"/>
              </a:solidFill>
            </a:endParaRPr>
          </a:p>
          <a:p>
            <a:pPr indent="-355600" lvl="0" marL="457200" rtl="0" algn="l">
              <a:lnSpc>
                <a:spcPct val="115000"/>
              </a:lnSpc>
              <a:spcBef>
                <a:spcPts val="1200"/>
              </a:spcBef>
              <a:spcAft>
                <a:spcPts val="0"/>
              </a:spcAft>
              <a:buClr>
                <a:schemeClr val="dk1"/>
              </a:buClr>
              <a:buSzPts val="2000"/>
              <a:buChar char="●"/>
            </a:pPr>
            <a:r>
              <a:rPr lang="en-US" sz="2000">
                <a:solidFill>
                  <a:schemeClr val="dk1"/>
                </a:solidFill>
              </a:rPr>
              <a:t>Undo last batch of migrations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Rollback specific steps: </a:t>
            </a:r>
            <a:r>
              <a:rPr lang="en-US" sz="2000">
                <a:solidFill>
                  <a:schemeClr val="dk1"/>
                </a:solidFill>
              </a:rPr>
              <a:t>php artisan migrate:rollback --step=2</a:t>
            </a:r>
            <a:endParaRPr b="1" sz="20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g3d20f8606ae_0_104"/>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169" name="Google Shape;169;g3d20f8606ae_0_104"/>
          <p:cNvSpPr txBox="1"/>
          <p:nvPr/>
        </p:nvSpPr>
        <p:spPr>
          <a:xfrm>
            <a:off x="507575" y="125425"/>
            <a:ext cx="9559800" cy="64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Clr>
                <a:schemeClr val="dk1"/>
              </a:buClr>
              <a:buSzPts val="1100"/>
              <a:buFont typeface="Arial"/>
              <a:buNone/>
            </a:pPr>
            <a:r>
              <a:rPr b="1" lang="en-US" sz="2000">
                <a:solidFill>
                  <a:schemeClr val="dk1"/>
                </a:solidFill>
              </a:rPr>
              <a:t>4. Refresh Migrations: </a:t>
            </a:r>
            <a:r>
              <a:rPr lang="en-US" sz="2000">
                <a:solidFill>
                  <a:schemeClr val="dk1"/>
                </a:solidFill>
              </a:rPr>
              <a:t>php artisan migrate:refresh</a:t>
            </a:r>
            <a:endParaRPr b="1" sz="2000">
              <a:solidFill>
                <a:schemeClr val="dk1"/>
              </a:solidFill>
            </a:endParaRPr>
          </a:p>
          <a:p>
            <a:pPr indent="-355600" lvl="0" marL="457200" rtl="0" algn="l">
              <a:lnSpc>
                <a:spcPct val="115000"/>
              </a:lnSpc>
              <a:spcBef>
                <a:spcPts val="1200"/>
              </a:spcBef>
              <a:spcAft>
                <a:spcPts val="0"/>
              </a:spcAft>
              <a:buClr>
                <a:schemeClr val="dk1"/>
              </a:buClr>
              <a:buSzPts val="2000"/>
              <a:buChar char="●"/>
            </a:pPr>
            <a:r>
              <a:rPr lang="en-US" sz="2000">
                <a:solidFill>
                  <a:schemeClr val="dk1"/>
                </a:solidFill>
              </a:rPr>
              <a:t>Rollback ALL migrations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Re-run them again</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Useful during development</a:t>
            </a:r>
            <a:endParaRPr sz="2000">
              <a:solidFill>
                <a:schemeClr val="dk1"/>
              </a:solidFill>
            </a:endParaRPr>
          </a:p>
          <a:p>
            <a:pPr indent="0" lvl="0" marL="457200" rtl="0" algn="l">
              <a:lnSpc>
                <a:spcPct val="115000"/>
              </a:lnSpc>
              <a:spcBef>
                <a:spcPts val="1200"/>
              </a:spcBef>
              <a:spcAft>
                <a:spcPts val="0"/>
              </a:spcAft>
              <a:buNone/>
            </a:pPr>
            <a:r>
              <a:rPr b="1" lang="en-US" sz="2000">
                <a:solidFill>
                  <a:schemeClr val="dk1"/>
                </a:solidFill>
              </a:rPr>
              <a:t>With seeding: </a:t>
            </a:r>
            <a:r>
              <a:rPr lang="en-US" sz="2000">
                <a:solidFill>
                  <a:schemeClr val="dk1"/>
                </a:solidFill>
              </a:rPr>
              <a:t>php artisan migrate:refresh --seed</a:t>
            </a:r>
            <a:endParaRPr sz="2000">
              <a:solidFill>
                <a:schemeClr val="dk1"/>
              </a:solidFill>
            </a:endParaRPr>
          </a:p>
          <a:p>
            <a:pPr indent="0" lvl="0" marL="457200" rtl="0" algn="l">
              <a:lnSpc>
                <a:spcPct val="115000"/>
              </a:lnSpc>
              <a:spcBef>
                <a:spcPts val="1200"/>
              </a:spcBef>
              <a:spcAft>
                <a:spcPts val="0"/>
              </a:spcAft>
              <a:buNone/>
            </a:pPr>
            <a:r>
              <a:t/>
            </a:r>
            <a:endParaRPr sz="2000">
              <a:solidFill>
                <a:schemeClr val="dk1"/>
              </a:solidFill>
            </a:endParaRPr>
          </a:p>
          <a:p>
            <a:pPr indent="0" lvl="0" marL="0" rtl="0" algn="l">
              <a:lnSpc>
                <a:spcPct val="115000"/>
              </a:lnSpc>
              <a:spcBef>
                <a:spcPts val="1200"/>
              </a:spcBef>
              <a:spcAft>
                <a:spcPts val="0"/>
              </a:spcAft>
              <a:buNone/>
            </a:pPr>
            <a:r>
              <a:rPr b="1" lang="en-US" sz="2000">
                <a:solidFill>
                  <a:schemeClr val="dk1"/>
                </a:solidFill>
              </a:rPr>
              <a:t>5. Fresh Migration: </a:t>
            </a:r>
            <a:r>
              <a:rPr lang="en-US" sz="2000">
                <a:solidFill>
                  <a:schemeClr val="dk1"/>
                </a:solidFill>
              </a:rPr>
              <a:t>php artisan migrate:fresh</a:t>
            </a:r>
            <a:endParaRPr b="1" sz="2000">
              <a:solidFill>
                <a:schemeClr val="dk1"/>
              </a:solidFill>
            </a:endParaRPr>
          </a:p>
          <a:p>
            <a:pPr indent="-355600" lvl="0" marL="457200" rtl="0" algn="l">
              <a:lnSpc>
                <a:spcPct val="115000"/>
              </a:lnSpc>
              <a:spcBef>
                <a:spcPts val="1200"/>
              </a:spcBef>
              <a:spcAft>
                <a:spcPts val="0"/>
              </a:spcAft>
              <a:buClr>
                <a:schemeClr val="dk1"/>
              </a:buClr>
              <a:buSzPts val="2000"/>
              <a:buChar char="●"/>
            </a:pPr>
            <a:r>
              <a:rPr lang="en-US" sz="2000">
                <a:solidFill>
                  <a:schemeClr val="dk1"/>
                </a:solidFill>
              </a:rPr>
              <a:t>Drops ALL tables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Recreates from scratch</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Faster than refresh</a:t>
            </a:r>
            <a:endParaRPr sz="2000">
              <a:solidFill>
                <a:schemeClr val="dk1"/>
              </a:solidFill>
            </a:endParaRPr>
          </a:p>
          <a:p>
            <a:pPr indent="0" lvl="0" marL="457200" rtl="0" algn="l">
              <a:lnSpc>
                <a:spcPct val="115000"/>
              </a:lnSpc>
              <a:spcBef>
                <a:spcPts val="1200"/>
              </a:spcBef>
              <a:spcAft>
                <a:spcPts val="0"/>
              </a:spcAft>
              <a:buNone/>
            </a:pPr>
            <a:r>
              <a:rPr b="1" lang="en-US" sz="2000">
                <a:solidFill>
                  <a:schemeClr val="dk1"/>
                </a:solidFill>
              </a:rPr>
              <a:t>With seeding: </a:t>
            </a:r>
            <a:r>
              <a:rPr lang="en-US" sz="2000">
                <a:solidFill>
                  <a:schemeClr val="dk1"/>
                </a:solidFill>
              </a:rPr>
              <a:t>php artisan migrate:fresh --seed</a:t>
            </a:r>
            <a:endParaRPr sz="2000">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US" sz="2000">
                <a:solidFill>
                  <a:schemeClr val="dk1"/>
                </a:solidFill>
              </a:rPr>
              <a:t>6. Reset Migrations: </a:t>
            </a:r>
            <a:r>
              <a:rPr lang="en-US" sz="2000">
                <a:solidFill>
                  <a:schemeClr val="dk1"/>
                </a:solidFill>
              </a:rPr>
              <a:t>php artisan migrate:reset</a:t>
            </a:r>
            <a:endParaRPr sz="2000">
              <a:solidFill>
                <a:schemeClr val="dk1"/>
              </a:solidFill>
            </a:endParaRPr>
          </a:p>
          <a:p>
            <a:pPr indent="-355600" lvl="0" marL="457200" rtl="0" algn="l">
              <a:lnSpc>
                <a:spcPct val="115000"/>
              </a:lnSpc>
              <a:spcBef>
                <a:spcPts val="1200"/>
              </a:spcBef>
              <a:spcAft>
                <a:spcPts val="0"/>
              </a:spcAft>
              <a:buClr>
                <a:schemeClr val="dk1"/>
              </a:buClr>
              <a:buSzPts val="2000"/>
              <a:buChar char="●"/>
            </a:pPr>
            <a:r>
              <a:rPr lang="en-US" sz="2000">
                <a:solidFill>
                  <a:schemeClr val="dk1"/>
                </a:solidFill>
              </a:rPr>
              <a:t>Rollback ALL migrations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Does NOT re-run them</a:t>
            </a:r>
            <a:endParaRPr b="1" sz="20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g3d20f8606ae_0_110"/>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175" name="Google Shape;175;g3d20f8606ae_0_110"/>
          <p:cNvSpPr txBox="1"/>
          <p:nvPr/>
        </p:nvSpPr>
        <p:spPr>
          <a:xfrm>
            <a:off x="323600" y="418975"/>
            <a:ext cx="11485200" cy="588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Clr>
                <a:schemeClr val="dk1"/>
              </a:buClr>
              <a:buSzPts val="1100"/>
              <a:buFont typeface="Arial"/>
              <a:buNone/>
            </a:pPr>
            <a:r>
              <a:rPr b="1" lang="en-US" sz="2000">
                <a:solidFill>
                  <a:schemeClr val="dk1"/>
                </a:solidFill>
              </a:rPr>
              <a:t>7. Migration Status: </a:t>
            </a:r>
            <a:r>
              <a:rPr lang="en-US" sz="2000">
                <a:solidFill>
                  <a:schemeClr val="dk1"/>
                </a:solidFill>
              </a:rPr>
              <a:t>php artisan migrate:status</a:t>
            </a:r>
            <a:endParaRPr b="1" sz="2000">
              <a:solidFill>
                <a:schemeClr val="dk1"/>
              </a:solidFill>
            </a:endParaRPr>
          </a:p>
          <a:p>
            <a:pPr indent="-355600" lvl="0" marL="457200" rtl="0" algn="l">
              <a:lnSpc>
                <a:spcPct val="115000"/>
              </a:lnSpc>
              <a:spcBef>
                <a:spcPts val="1200"/>
              </a:spcBef>
              <a:spcAft>
                <a:spcPts val="0"/>
              </a:spcAft>
              <a:buClr>
                <a:schemeClr val="dk1"/>
              </a:buClr>
              <a:buSzPts val="2000"/>
              <a:buChar char="●"/>
            </a:pPr>
            <a:r>
              <a:rPr lang="en-US" sz="2000">
                <a:solidFill>
                  <a:schemeClr val="dk1"/>
                </a:solidFill>
              </a:rPr>
              <a:t>Shows which migrations are run or pending</a:t>
            </a:r>
            <a:endParaRPr sz="2000">
              <a:solidFill>
                <a:schemeClr val="dk1"/>
              </a:solidFill>
            </a:endParaRPr>
          </a:p>
          <a:p>
            <a:pPr indent="0" lvl="0" marL="457200" rtl="0" algn="l">
              <a:lnSpc>
                <a:spcPct val="115000"/>
              </a:lnSpc>
              <a:spcBef>
                <a:spcPts val="1200"/>
              </a:spcBef>
              <a:spcAft>
                <a:spcPts val="0"/>
              </a:spcAft>
              <a:buNone/>
            </a:pPr>
            <a:r>
              <a:t/>
            </a:r>
            <a:endParaRPr sz="2000">
              <a:solidFill>
                <a:schemeClr val="dk1"/>
              </a:solidFill>
            </a:endParaRPr>
          </a:p>
          <a:p>
            <a:pPr indent="0" lvl="0" marL="0" rtl="0" algn="l">
              <a:lnSpc>
                <a:spcPct val="115000"/>
              </a:lnSpc>
              <a:spcBef>
                <a:spcPts val="1200"/>
              </a:spcBef>
              <a:spcAft>
                <a:spcPts val="0"/>
              </a:spcAft>
              <a:buNone/>
            </a:pPr>
            <a:r>
              <a:rPr b="1" lang="en-US" sz="2000">
                <a:solidFill>
                  <a:schemeClr val="dk1"/>
                </a:solidFill>
              </a:rPr>
              <a:t>8. Run Specific Migration: </a:t>
            </a:r>
            <a:r>
              <a:rPr lang="en-US" sz="2000">
                <a:solidFill>
                  <a:schemeClr val="dk1"/>
                </a:solidFill>
              </a:rPr>
              <a:t>php artisan migrate --path=database/migrations/filename.php</a:t>
            </a:r>
            <a:endParaRPr b="1" sz="2000">
              <a:solidFill>
                <a:schemeClr val="dk1"/>
              </a:solidFill>
            </a:endParaRPr>
          </a:p>
          <a:p>
            <a:pPr indent="-355600" lvl="0" marL="457200" rtl="0" algn="l">
              <a:lnSpc>
                <a:spcPct val="115000"/>
              </a:lnSpc>
              <a:spcBef>
                <a:spcPts val="1200"/>
              </a:spcBef>
              <a:spcAft>
                <a:spcPts val="0"/>
              </a:spcAft>
              <a:buClr>
                <a:schemeClr val="dk1"/>
              </a:buClr>
              <a:buSzPts val="2000"/>
              <a:buChar char="●"/>
            </a:pPr>
            <a:r>
              <a:rPr lang="en-US" sz="2000">
                <a:solidFill>
                  <a:schemeClr val="dk1"/>
                </a:solidFill>
              </a:rPr>
              <a:t>Run a specific migration file</a:t>
            </a:r>
            <a:endParaRPr sz="2000">
              <a:solidFill>
                <a:schemeClr val="dk1"/>
              </a:solidFill>
            </a:endParaRPr>
          </a:p>
          <a:p>
            <a:pPr indent="0" lvl="0" marL="457200" rtl="0" algn="l">
              <a:lnSpc>
                <a:spcPct val="115000"/>
              </a:lnSpc>
              <a:spcBef>
                <a:spcPts val="1200"/>
              </a:spcBef>
              <a:spcAft>
                <a:spcPts val="0"/>
              </a:spcAft>
              <a:buNone/>
            </a:pPr>
            <a:r>
              <a:t/>
            </a:r>
            <a:endParaRPr sz="2000">
              <a:solidFill>
                <a:schemeClr val="dk1"/>
              </a:solidFill>
            </a:endParaRPr>
          </a:p>
          <a:p>
            <a:pPr indent="0" lvl="0" marL="0" rtl="0" algn="l">
              <a:lnSpc>
                <a:spcPct val="115000"/>
              </a:lnSpc>
              <a:spcBef>
                <a:spcPts val="2400"/>
              </a:spcBef>
              <a:spcAft>
                <a:spcPts val="0"/>
              </a:spcAft>
              <a:buNone/>
            </a:pPr>
            <a:r>
              <a:rPr b="1" lang="en-US" sz="2000">
                <a:solidFill>
                  <a:schemeClr val="dk1"/>
                </a:solidFill>
              </a:rPr>
              <a:t>9. Pretend Migration (Dry Run): </a:t>
            </a:r>
            <a:r>
              <a:rPr lang="en-US" sz="2000">
                <a:solidFill>
                  <a:schemeClr val="dk1"/>
                </a:solidFill>
              </a:rPr>
              <a:t>php artisan migrate --pretend</a:t>
            </a:r>
            <a:endParaRPr b="1" sz="2000">
              <a:solidFill>
                <a:schemeClr val="dk1"/>
              </a:solidFill>
            </a:endParaRPr>
          </a:p>
          <a:p>
            <a:pPr indent="-355600" lvl="0" marL="457200" rtl="0" algn="l">
              <a:lnSpc>
                <a:spcPct val="115000"/>
              </a:lnSpc>
              <a:spcBef>
                <a:spcPts val="1200"/>
              </a:spcBef>
              <a:spcAft>
                <a:spcPts val="0"/>
              </a:spcAft>
              <a:buClr>
                <a:schemeClr val="dk1"/>
              </a:buClr>
              <a:buSzPts val="2000"/>
              <a:buChar char="●"/>
            </a:pPr>
            <a:r>
              <a:rPr lang="en-US" sz="2000">
                <a:solidFill>
                  <a:schemeClr val="dk1"/>
                </a:solidFill>
              </a:rPr>
              <a:t>Shows SQL queries without executing</a:t>
            </a:r>
            <a:endParaRPr sz="2000">
              <a:solidFill>
                <a:schemeClr val="dk1"/>
              </a:solidFill>
            </a:endParaRPr>
          </a:p>
          <a:p>
            <a:pPr indent="0" lvl="0" marL="457200" rtl="0" algn="l">
              <a:lnSpc>
                <a:spcPct val="115000"/>
              </a:lnSpc>
              <a:spcBef>
                <a:spcPts val="1200"/>
              </a:spcBef>
              <a:spcAft>
                <a:spcPts val="0"/>
              </a:spcAft>
              <a:buNone/>
            </a:pPr>
            <a:r>
              <a:t/>
            </a:r>
            <a:endParaRPr sz="2000">
              <a:solidFill>
                <a:schemeClr val="dk1"/>
              </a:solidFill>
            </a:endParaRPr>
          </a:p>
          <a:p>
            <a:pPr indent="0" lvl="0" marL="0" rtl="0" algn="l">
              <a:lnSpc>
                <a:spcPct val="115000"/>
              </a:lnSpc>
              <a:spcBef>
                <a:spcPts val="2400"/>
              </a:spcBef>
              <a:spcAft>
                <a:spcPts val="0"/>
              </a:spcAft>
              <a:buNone/>
            </a:pPr>
            <a:r>
              <a:rPr b="1" lang="en-US" sz="2000">
                <a:solidFill>
                  <a:schemeClr val="dk1"/>
                </a:solidFill>
              </a:rPr>
              <a:t>10. Seed with Migration: </a:t>
            </a:r>
            <a:r>
              <a:rPr lang="en-US" sz="2000">
                <a:solidFill>
                  <a:schemeClr val="dk1"/>
                </a:solidFill>
              </a:rPr>
              <a:t>php artisan migrate --seed</a:t>
            </a:r>
            <a:endParaRPr b="1" sz="2000">
              <a:solidFill>
                <a:schemeClr val="dk1"/>
              </a:solidFill>
            </a:endParaRPr>
          </a:p>
          <a:p>
            <a:pPr indent="-355600" lvl="0" marL="457200" rtl="0" algn="l">
              <a:lnSpc>
                <a:spcPct val="115000"/>
              </a:lnSpc>
              <a:spcBef>
                <a:spcPts val="1200"/>
              </a:spcBef>
              <a:spcAft>
                <a:spcPts val="0"/>
              </a:spcAft>
              <a:buClr>
                <a:schemeClr val="dk1"/>
              </a:buClr>
              <a:buSzPts val="2000"/>
              <a:buChar char="●"/>
            </a:pPr>
            <a:r>
              <a:rPr lang="en-US" sz="2000">
                <a:solidFill>
                  <a:schemeClr val="dk1"/>
                </a:solidFill>
              </a:rPr>
              <a:t>Run migrations + seed data</a:t>
            </a:r>
            <a:endParaRPr b="1" sz="20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g3d20f8606ae_0_116"/>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181" name="Google Shape;181;g3d20f8606ae_0_116"/>
          <p:cNvSpPr txBox="1"/>
          <p:nvPr/>
        </p:nvSpPr>
        <p:spPr>
          <a:xfrm>
            <a:off x="323600" y="0"/>
            <a:ext cx="7737900" cy="5388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Clr>
                <a:schemeClr val="dk1"/>
              </a:buClr>
              <a:buSzPts val="1100"/>
              <a:buFont typeface="Arial"/>
              <a:buNone/>
            </a:pPr>
            <a:r>
              <a:t/>
            </a:r>
            <a:endParaRPr b="1" sz="2300">
              <a:solidFill>
                <a:schemeClr val="dk1"/>
              </a:solidFill>
            </a:endParaRPr>
          </a:p>
        </p:txBody>
      </p:sp>
      <p:sp>
        <p:nvSpPr>
          <p:cNvPr id="182" name="Google Shape;182;g3d20f8606ae_0_116"/>
          <p:cNvSpPr txBox="1"/>
          <p:nvPr/>
        </p:nvSpPr>
        <p:spPr>
          <a:xfrm>
            <a:off x="0" y="0"/>
            <a:ext cx="11223300" cy="61467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b="1" lang="en-US" sz="3000">
                <a:solidFill>
                  <a:schemeClr val="dk1"/>
                </a:solidFill>
              </a:rPr>
              <a:t>Query String</a:t>
            </a:r>
            <a:endParaRPr b="1" sz="3000">
              <a:solidFill>
                <a:schemeClr val="dk1"/>
              </a:solidFill>
            </a:endParaRPr>
          </a:p>
          <a:p>
            <a:pPr indent="0" lvl="0" marL="914400" rtl="0" algn="l">
              <a:lnSpc>
                <a:spcPct val="115000"/>
              </a:lnSpc>
              <a:spcBef>
                <a:spcPts val="0"/>
              </a:spcBef>
              <a:spcAft>
                <a:spcPts val="0"/>
              </a:spcAft>
              <a:buNone/>
            </a:pPr>
            <a:r>
              <a:rPr lang="en-US" sz="2000">
                <a:solidFill>
                  <a:schemeClr val="dk1"/>
                </a:solidFill>
              </a:rPr>
              <a:t>A </a:t>
            </a:r>
            <a:r>
              <a:rPr b="1" lang="en-US" sz="2000">
                <a:solidFill>
                  <a:schemeClr val="dk1"/>
                </a:solidFill>
              </a:rPr>
              <a:t>query string</a:t>
            </a:r>
            <a:r>
              <a:rPr lang="en-US" sz="2000">
                <a:solidFill>
                  <a:schemeClr val="dk1"/>
                </a:solidFill>
              </a:rPr>
              <a:t> is data passed in the URL </a:t>
            </a:r>
            <a:r>
              <a:rPr lang="en-US" sz="2000">
                <a:solidFill>
                  <a:schemeClr val="dk1"/>
                </a:solidFill>
              </a:rPr>
              <a:t>after </a:t>
            </a:r>
            <a:r>
              <a:rPr b="1" lang="en-US" sz="2000">
                <a:solidFill>
                  <a:schemeClr val="dk1"/>
                </a:solidFill>
              </a:rPr>
              <a:t>"?".</a:t>
            </a:r>
            <a:endParaRPr b="1" sz="2000">
              <a:solidFill>
                <a:srgbClr val="188038"/>
              </a:solidFill>
              <a:latin typeface="Roboto Mono"/>
              <a:ea typeface="Roboto Mono"/>
              <a:cs typeface="Roboto Mono"/>
              <a:sym typeface="Roboto Mono"/>
            </a:endParaRPr>
          </a:p>
          <a:p>
            <a:pPr indent="-355600" lvl="0" marL="1371600" rtl="0" algn="l">
              <a:lnSpc>
                <a:spcPct val="100000"/>
              </a:lnSpc>
              <a:spcBef>
                <a:spcPts val="2400"/>
              </a:spcBef>
              <a:spcAft>
                <a:spcPts val="0"/>
              </a:spcAft>
              <a:buClr>
                <a:schemeClr val="dk1"/>
              </a:buClr>
              <a:buSzPts val="2000"/>
              <a:buChar char="●"/>
            </a:pPr>
            <a:r>
              <a:rPr b="1" lang="en-US" sz="2000">
                <a:solidFill>
                  <a:schemeClr val="dk1"/>
                </a:solidFill>
              </a:rPr>
              <a:t>Example:</a:t>
            </a:r>
            <a:endParaRPr b="1" sz="2000">
              <a:solidFill>
                <a:schemeClr val="dk1"/>
              </a:solidFill>
            </a:endParaRPr>
          </a:p>
          <a:p>
            <a:pPr indent="0" lvl="0" marL="1371600" rtl="0" algn="l">
              <a:lnSpc>
                <a:spcPct val="100000"/>
              </a:lnSpc>
              <a:spcBef>
                <a:spcPts val="600"/>
              </a:spcBef>
              <a:spcAft>
                <a:spcPts val="0"/>
              </a:spcAft>
              <a:buNone/>
            </a:pPr>
            <a:r>
              <a:rPr lang="en-US" sz="2000" u="sng">
                <a:solidFill>
                  <a:schemeClr val="hlink"/>
                </a:solidFill>
                <a:hlinkClick r:id="rId4"/>
              </a:rPr>
              <a:t>http://127.0.0.1:8000/student?id=1&amp;name=Rabaab</a:t>
            </a:r>
            <a:endParaRPr sz="2000">
              <a:solidFill>
                <a:schemeClr val="dk1"/>
              </a:solidFill>
            </a:endParaRPr>
          </a:p>
          <a:p>
            <a:pPr indent="0" lvl="0" marL="1371600" rtl="0" algn="l">
              <a:lnSpc>
                <a:spcPct val="100000"/>
              </a:lnSpc>
              <a:spcBef>
                <a:spcPts val="0"/>
              </a:spcBef>
              <a:spcAft>
                <a:spcPts val="0"/>
              </a:spcAft>
              <a:buNone/>
            </a:pPr>
            <a:r>
              <a:t/>
            </a:r>
            <a:endParaRPr sz="2000">
              <a:solidFill>
                <a:schemeClr val="dk1"/>
              </a:solidFill>
            </a:endParaRPr>
          </a:p>
          <a:p>
            <a:pPr indent="0" lvl="0" marL="1371600" rtl="0" algn="l">
              <a:lnSpc>
                <a:spcPct val="100000"/>
              </a:lnSpc>
              <a:spcBef>
                <a:spcPts val="0"/>
              </a:spcBef>
              <a:spcAft>
                <a:spcPts val="0"/>
              </a:spcAft>
              <a:buNone/>
            </a:pPr>
            <a:r>
              <a:rPr lang="en-US" sz="2000">
                <a:solidFill>
                  <a:schemeClr val="dk1"/>
                </a:solidFill>
              </a:rPr>
              <a:t>Here:</a:t>
            </a:r>
            <a:endParaRPr sz="2000">
              <a:solidFill>
                <a:schemeClr val="dk1"/>
              </a:solidFill>
            </a:endParaRPr>
          </a:p>
          <a:p>
            <a:pPr indent="-355600" lvl="0" marL="1828800" rtl="0" algn="l">
              <a:lnSpc>
                <a:spcPct val="100000"/>
              </a:lnSpc>
              <a:spcBef>
                <a:spcPts val="1200"/>
              </a:spcBef>
              <a:spcAft>
                <a:spcPts val="0"/>
              </a:spcAft>
              <a:buClr>
                <a:schemeClr val="dk1"/>
              </a:buClr>
              <a:buSzPts val="2000"/>
              <a:buChar char="●"/>
            </a:pPr>
            <a:r>
              <a:rPr lang="en-US" sz="2000">
                <a:solidFill>
                  <a:srgbClr val="188038"/>
                </a:solidFill>
                <a:latin typeface="Roboto Mono"/>
                <a:ea typeface="Roboto Mono"/>
                <a:cs typeface="Roboto Mono"/>
                <a:sym typeface="Roboto Mono"/>
              </a:rPr>
              <a:t>id=1</a:t>
            </a:r>
            <a:endParaRPr sz="2000">
              <a:solidFill>
                <a:srgbClr val="188038"/>
              </a:solidFill>
              <a:latin typeface="Roboto Mono"/>
              <a:ea typeface="Roboto Mono"/>
              <a:cs typeface="Roboto Mono"/>
              <a:sym typeface="Roboto Mono"/>
            </a:endParaRPr>
          </a:p>
          <a:p>
            <a:pPr indent="-355600" lvl="0" marL="1828800" rtl="0" algn="l">
              <a:lnSpc>
                <a:spcPct val="100000"/>
              </a:lnSpc>
              <a:spcBef>
                <a:spcPts val="0"/>
              </a:spcBef>
              <a:spcAft>
                <a:spcPts val="0"/>
              </a:spcAft>
              <a:buClr>
                <a:schemeClr val="dk1"/>
              </a:buClr>
              <a:buSzPts val="2000"/>
              <a:buChar char="●"/>
            </a:pPr>
            <a:r>
              <a:rPr lang="en-US" sz="2000">
                <a:solidFill>
                  <a:srgbClr val="188038"/>
                </a:solidFill>
                <a:latin typeface="Roboto Mono"/>
                <a:ea typeface="Roboto Mono"/>
                <a:cs typeface="Roboto Mono"/>
                <a:sym typeface="Roboto Mono"/>
              </a:rPr>
              <a:t>name=Rabaab </a:t>
            </a:r>
            <a:endParaRPr sz="2000">
              <a:solidFill>
                <a:srgbClr val="188038"/>
              </a:solidFill>
              <a:latin typeface="Roboto Mono"/>
              <a:ea typeface="Roboto Mono"/>
              <a:cs typeface="Roboto Mono"/>
              <a:sym typeface="Roboto Mono"/>
            </a:endParaRPr>
          </a:p>
          <a:p>
            <a:pPr indent="457200" lvl="0" marL="457200" rtl="0" algn="l">
              <a:lnSpc>
                <a:spcPct val="115000"/>
              </a:lnSpc>
              <a:spcBef>
                <a:spcPts val="1800"/>
              </a:spcBef>
              <a:spcAft>
                <a:spcPts val="0"/>
              </a:spcAft>
              <a:buNone/>
            </a:pPr>
            <a:r>
              <a:rPr b="1" lang="en-US" sz="2000">
                <a:solidFill>
                  <a:schemeClr val="dk1"/>
                </a:solidFill>
              </a:rPr>
              <a:t>Syntax: </a:t>
            </a:r>
            <a:r>
              <a:rPr lang="en-US" sz="2000">
                <a:solidFill>
                  <a:schemeClr val="dk1"/>
                </a:solidFill>
              </a:rPr>
              <a:t>?key=value&amp;key2=value2</a:t>
            </a:r>
            <a:endParaRPr sz="2000">
              <a:solidFill>
                <a:schemeClr val="dk1"/>
              </a:solidFill>
            </a:endParaRPr>
          </a:p>
          <a:p>
            <a:pPr indent="457200" lvl="0" marL="457200" rtl="0" algn="l">
              <a:lnSpc>
                <a:spcPct val="115000"/>
              </a:lnSpc>
              <a:spcBef>
                <a:spcPts val="400"/>
              </a:spcBef>
              <a:spcAft>
                <a:spcPts val="0"/>
              </a:spcAft>
              <a:buNone/>
            </a:pPr>
            <a:r>
              <a:t/>
            </a:r>
            <a:endParaRPr sz="2000">
              <a:solidFill>
                <a:schemeClr val="dk1"/>
              </a:solidFill>
            </a:endParaRPr>
          </a:p>
          <a:p>
            <a:pPr indent="0" lvl="0" marL="457200" rtl="0" algn="l">
              <a:lnSpc>
                <a:spcPct val="115000"/>
              </a:lnSpc>
              <a:spcBef>
                <a:spcPts val="0"/>
              </a:spcBef>
              <a:spcAft>
                <a:spcPts val="0"/>
              </a:spcAft>
              <a:buNone/>
            </a:pPr>
            <a:r>
              <a:rPr b="1" lang="en-US" sz="3000">
                <a:solidFill>
                  <a:schemeClr val="dk1"/>
                </a:solidFill>
              </a:rPr>
              <a:t> Why Use a Query String?</a:t>
            </a:r>
            <a:endParaRPr sz="3000">
              <a:solidFill>
                <a:schemeClr val="dk1"/>
              </a:solidFill>
            </a:endParaRPr>
          </a:p>
          <a:p>
            <a:pPr indent="-355600" lvl="0" marL="914400" rtl="0" algn="l">
              <a:lnSpc>
                <a:spcPct val="115000"/>
              </a:lnSpc>
              <a:spcBef>
                <a:spcPts val="1200"/>
              </a:spcBef>
              <a:spcAft>
                <a:spcPts val="0"/>
              </a:spcAft>
              <a:buClr>
                <a:schemeClr val="dk1"/>
              </a:buClr>
              <a:buSzPts val="2000"/>
              <a:buChar char="●"/>
            </a:pPr>
            <a:r>
              <a:rPr lang="en-US" sz="2000">
                <a:solidFill>
                  <a:schemeClr val="dk1"/>
                </a:solidFill>
              </a:rPr>
              <a:t>Pass data via URL</a:t>
            </a:r>
            <a:endParaRPr sz="2000">
              <a:solidFill>
                <a:schemeClr val="dk1"/>
              </a:solidFill>
            </a:endParaRPr>
          </a:p>
          <a:p>
            <a:pPr indent="-355600" lvl="0" marL="914400" rtl="0" algn="l">
              <a:lnSpc>
                <a:spcPct val="115000"/>
              </a:lnSpc>
              <a:spcBef>
                <a:spcPts val="0"/>
              </a:spcBef>
              <a:spcAft>
                <a:spcPts val="0"/>
              </a:spcAft>
              <a:buClr>
                <a:schemeClr val="dk1"/>
              </a:buClr>
              <a:buSzPts val="2000"/>
              <a:buChar char="●"/>
            </a:pPr>
            <a:r>
              <a:rPr lang="en-US" sz="2000">
                <a:solidFill>
                  <a:schemeClr val="dk1"/>
                </a:solidFill>
              </a:rPr>
              <a:t>Filter/search data</a:t>
            </a:r>
            <a:endParaRPr sz="2000">
              <a:solidFill>
                <a:schemeClr val="dk1"/>
              </a:solidFill>
            </a:endParaRPr>
          </a:p>
          <a:p>
            <a:pPr indent="-355600" lvl="0" marL="914400" rtl="0" algn="l">
              <a:lnSpc>
                <a:spcPct val="115000"/>
              </a:lnSpc>
              <a:spcBef>
                <a:spcPts val="0"/>
              </a:spcBef>
              <a:spcAft>
                <a:spcPts val="0"/>
              </a:spcAft>
              <a:buClr>
                <a:schemeClr val="dk1"/>
              </a:buClr>
              <a:buSzPts val="2000"/>
              <a:buChar char="●"/>
            </a:pPr>
            <a:r>
              <a:rPr lang="en-US" sz="2000">
                <a:solidFill>
                  <a:schemeClr val="dk1"/>
                </a:solidFill>
              </a:rPr>
              <a:t>Identify record (like id)</a:t>
            </a:r>
            <a:endParaRPr sz="2000">
              <a:solidFill>
                <a:srgbClr val="188038"/>
              </a:solidFill>
              <a:latin typeface="Roboto Mono"/>
              <a:ea typeface="Roboto Mono"/>
              <a:cs typeface="Roboto Mono"/>
              <a:sym typeface="Roboto Mon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g3d20f8606ae_0_122"/>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188" name="Google Shape;188;g3d20f8606ae_0_122"/>
          <p:cNvSpPr txBox="1"/>
          <p:nvPr/>
        </p:nvSpPr>
        <p:spPr>
          <a:xfrm>
            <a:off x="323600" y="0"/>
            <a:ext cx="7737900" cy="5388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Clr>
                <a:schemeClr val="dk1"/>
              </a:buClr>
              <a:buSzPts val="1100"/>
              <a:buFont typeface="Arial"/>
              <a:buNone/>
            </a:pPr>
            <a:r>
              <a:t/>
            </a:r>
            <a:endParaRPr b="1" sz="2300">
              <a:solidFill>
                <a:schemeClr val="dk1"/>
              </a:solidFill>
            </a:endParaRPr>
          </a:p>
        </p:txBody>
      </p:sp>
      <p:sp>
        <p:nvSpPr>
          <p:cNvPr id="189" name="Google Shape;189;g3d20f8606ae_0_122"/>
          <p:cNvSpPr txBox="1"/>
          <p:nvPr/>
        </p:nvSpPr>
        <p:spPr>
          <a:xfrm>
            <a:off x="0" y="0"/>
            <a:ext cx="10689900" cy="59310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2400"/>
              </a:spcBef>
              <a:spcAft>
                <a:spcPts val="0"/>
              </a:spcAft>
              <a:buNone/>
            </a:pPr>
            <a:r>
              <a:rPr b="1" lang="en-US" sz="3000">
                <a:solidFill>
                  <a:schemeClr val="dk1"/>
                </a:solidFill>
              </a:rPr>
              <a:t>Access Query String in Laravel</a:t>
            </a:r>
            <a:endParaRPr b="1" sz="3000">
              <a:solidFill>
                <a:schemeClr val="dk1"/>
              </a:solidFill>
            </a:endParaRPr>
          </a:p>
          <a:p>
            <a:pPr indent="0" lvl="0" marL="914400" rtl="0" algn="l">
              <a:lnSpc>
                <a:spcPct val="115000"/>
              </a:lnSpc>
              <a:spcBef>
                <a:spcPts val="1800"/>
              </a:spcBef>
              <a:spcAft>
                <a:spcPts val="0"/>
              </a:spcAft>
              <a:buNone/>
            </a:pPr>
            <a:r>
              <a:rPr b="1" lang="en-US" sz="2000">
                <a:solidFill>
                  <a:schemeClr val="dk1"/>
                </a:solidFill>
              </a:rPr>
              <a:t>In Controller:</a:t>
            </a:r>
            <a:endParaRPr b="1" sz="2000">
              <a:solidFill>
                <a:schemeClr val="dk1"/>
              </a:solidFill>
            </a:endParaRPr>
          </a:p>
          <a:p>
            <a:pPr indent="0" lvl="0" marL="914400" rtl="0" algn="l">
              <a:lnSpc>
                <a:spcPct val="115000"/>
              </a:lnSpc>
              <a:spcBef>
                <a:spcPts val="400"/>
              </a:spcBef>
              <a:spcAft>
                <a:spcPts val="0"/>
              </a:spcAft>
              <a:buNone/>
            </a:pPr>
            <a:r>
              <a:rPr lang="en-US" sz="2000">
                <a:solidFill>
                  <a:schemeClr val="dk1"/>
                </a:solidFill>
              </a:rPr>
              <a:t>$request-&gt;query('id');</a:t>
            </a:r>
            <a:endParaRPr sz="2000">
              <a:solidFill>
                <a:schemeClr val="dk1"/>
              </a:solidFill>
            </a:endParaRPr>
          </a:p>
          <a:p>
            <a:pPr indent="0" lvl="0" marL="914400" rtl="0" algn="l">
              <a:lnSpc>
                <a:spcPct val="115000"/>
              </a:lnSpc>
              <a:spcBef>
                <a:spcPts val="1200"/>
              </a:spcBef>
              <a:spcAft>
                <a:spcPts val="0"/>
              </a:spcAft>
              <a:buNone/>
            </a:pPr>
            <a:r>
              <a:rPr lang="en-US" sz="2000">
                <a:solidFill>
                  <a:schemeClr val="dk1"/>
                </a:solidFill>
              </a:rPr>
              <a:t>OR</a:t>
            </a:r>
            <a:endParaRPr sz="2000">
              <a:solidFill>
                <a:schemeClr val="dk1"/>
              </a:solidFill>
            </a:endParaRPr>
          </a:p>
          <a:p>
            <a:pPr indent="0" lvl="0" marL="914400" rtl="0" algn="l">
              <a:lnSpc>
                <a:spcPct val="115000"/>
              </a:lnSpc>
              <a:spcBef>
                <a:spcPts val="1200"/>
              </a:spcBef>
              <a:spcAft>
                <a:spcPts val="0"/>
              </a:spcAft>
              <a:buNone/>
            </a:pPr>
            <a:r>
              <a:rPr lang="en-US" sz="2000">
                <a:solidFill>
                  <a:schemeClr val="dk1"/>
                </a:solidFill>
              </a:rPr>
              <a:t>$_GET['id'];</a:t>
            </a:r>
            <a:endParaRPr sz="2000">
              <a:solidFill>
                <a:schemeClr val="dk1"/>
              </a:solidFill>
            </a:endParaRPr>
          </a:p>
          <a:p>
            <a:pPr indent="0" lvl="0" marL="914400" rtl="0" algn="l">
              <a:lnSpc>
                <a:spcPct val="115000"/>
              </a:lnSpc>
              <a:spcBef>
                <a:spcPts val="0"/>
              </a:spcBef>
              <a:spcAft>
                <a:spcPts val="0"/>
              </a:spcAft>
              <a:buNone/>
            </a:pPr>
            <a:r>
              <a:t/>
            </a:r>
            <a:endParaRPr sz="1100">
              <a:solidFill>
                <a:schemeClr val="dk1"/>
              </a:solidFill>
            </a:endParaRPr>
          </a:p>
          <a:p>
            <a:pPr indent="0" lvl="0" marL="457200" rtl="0" algn="l">
              <a:lnSpc>
                <a:spcPct val="115000"/>
              </a:lnSpc>
              <a:spcBef>
                <a:spcPts val="2400"/>
              </a:spcBef>
              <a:spcAft>
                <a:spcPts val="0"/>
              </a:spcAft>
              <a:buNone/>
            </a:pPr>
            <a:r>
              <a:rPr b="1" lang="en-US" sz="3000">
                <a:solidFill>
                  <a:schemeClr val="dk1"/>
                </a:solidFill>
              </a:rPr>
              <a:t>Access Query String in Laravel</a:t>
            </a:r>
            <a:endParaRPr b="1" sz="3000">
              <a:solidFill>
                <a:schemeClr val="dk1"/>
              </a:solidFill>
            </a:endParaRPr>
          </a:p>
          <a:p>
            <a:pPr indent="0" lvl="0" marL="914400" rtl="0" algn="l">
              <a:lnSpc>
                <a:spcPct val="115000"/>
              </a:lnSpc>
              <a:spcBef>
                <a:spcPts val="1800"/>
              </a:spcBef>
              <a:spcAft>
                <a:spcPts val="0"/>
              </a:spcAft>
              <a:buNone/>
            </a:pPr>
            <a:r>
              <a:rPr b="1" lang="en-US" sz="2000">
                <a:solidFill>
                  <a:schemeClr val="dk1"/>
                </a:solidFill>
              </a:rPr>
              <a:t>In Controller:</a:t>
            </a:r>
            <a:endParaRPr b="1" sz="2000">
              <a:solidFill>
                <a:schemeClr val="dk1"/>
              </a:solidFill>
            </a:endParaRPr>
          </a:p>
          <a:p>
            <a:pPr indent="0" lvl="0" marL="914400" rtl="0" algn="l">
              <a:lnSpc>
                <a:spcPct val="115000"/>
              </a:lnSpc>
              <a:spcBef>
                <a:spcPts val="400"/>
              </a:spcBef>
              <a:spcAft>
                <a:spcPts val="0"/>
              </a:spcAft>
              <a:buNone/>
            </a:pPr>
            <a:r>
              <a:rPr lang="en-US" sz="2000">
                <a:solidFill>
                  <a:schemeClr val="dk1"/>
                </a:solidFill>
              </a:rPr>
              <a:t>$request-&gt;query('id');</a:t>
            </a:r>
            <a:endParaRPr sz="2000">
              <a:solidFill>
                <a:schemeClr val="dk1"/>
              </a:solidFill>
            </a:endParaRPr>
          </a:p>
          <a:p>
            <a:pPr indent="0" lvl="0" marL="914400" rtl="0" algn="l">
              <a:lnSpc>
                <a:spcPct val="115000"/>
              </a:lnSpc>
              <a:spcBef>
                <a:spcPts val="1200"/>
              </a:spcBef>
              <a:spcAft>
                <a:spcPts val="0"/>
              </a:spcAft>
              <a:buNone/>
            </a:pPr>
            <a:r>
              <a:rPr lang="en-US" sz="2000">
                <a:solidFill>
                  <a:schemeClr val="dk1"/>
                </a:solidFill>
              </a:rPr>
              <a:t>OR</a:t>
            </a:r>
            <a:endParaRPr sz="2000">
              <a:solidFill>
                <a:schemeClr val="dk1"/>
              </a:solidFill>
            </a:endParaRPr>
          </a:p>
          <a:p>
            <a:pPr indent="0" lvl="0" marL="914400" rtl="0" algn="l">
              <a:lnSpc>
                <a:spcPct val="115000"/>
              </a:lnSpc>
              <a:spcBef>
                <a:spcPts val="1200"/>
              </a:spcBef>
              <a:spcAft>
                <a:spcPts val="0"/>
              </a:spcAft>
              <a:buNone/>
            </a:pPr>
            <a:r>
              <a:rPr lang="en-US" sz="2000">
                <a:solidFill>
                  <a:schemeClr val="dk1"/>
                </a:solidFill>
              </a:rPr>
              <a:t>$_GET['id'];</a:t>
            </a:r>
            <a:endParaRPr sz="20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g3d20f8606ae_0_127"/>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195" name="Google Shape;195;g3d20f8606ae_0_127"/>
          <p:cNvSpPr txBox="1"/>
          <p:nvPr/>
        </p:nvSpPr>
        <p:spPr>
          <a:xfrm>
            <a:off x="323600" y="0"/>
            <a:ext cx="9364500" cy="5388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Clr>
                <a:schemeClr val="dk1"/>
              </a:buClr>
              <a:buSzPts val="1100"/>
              <a:buFont typeface="Arial"/>
              <a:buNone/>
            </a:pPr>
            <a:r>
              <a:rPr b="1" lang="en-US" sz="2300">
                <a:solidFill>
                  <a:schemeClr val="dk1"/>
                </a:solidFill>
              </a:rPr>
              <a:t>Difference between MongoDB and MySQL with laravel</a:t>
            </a:r>
            <a:endParaRPr b="1" sz="2300">
              <a:solidFill>
                <a:schemeClr val="dk1"/>
              </a:solidFill>
            </a:endParaRPr>
          </a:p>
        </p:txBody>
      </p:sp>
      <p:graphicFrame>
        <p:nvGraphicFramePr>
          <p:cNvPr id="196" name="Google Shape;196;g3d20f8606ae_0_127"/>
          <p:cNvGraphicFramePr/>
          <p:nvPr/>
        </p:nvGraphicFramePr>
        <p:xfrm>
          <a:off x="898663" y="804875"/>
          <a:ext cx="3000000" cy="3000000"/>
        </p:xfrm>
        <a:graphic>
          <a:graphicData uri="http://schemas.openxmlformats.org/drawingml/2006/table">
            <a:tbl>
              <a:tblPr>
                <a:noFill/>
                <a:tableStyleId>{11945102-763D-4103-B686-025F517FB0A6}</a:tableStyleId>
              </a:tblPr>
              <a:tblGrid>
                <a:gridCol w="3771925"/>
                <a:gridCol w="4442450"/>
              </a:tblGrid>
              <a:tr h="296750">
                <a:tc>
                  <a:txBody>
                    <a:bodyPr/>
                    <a:lstStyle/>
                    <a:p>
                      <a:pPr indent="0" lvl="0" marL="0" rtl="0" algn="ctr">
                        <a:spcBef>
                          <a:spcPts val="0"/>
                        </a:spcBef>
                        <a:spcAft>
                          <a:spcPts val="0"/>
                        </a:spcAft>
                        <a:buNone/>
                      </a:pPr>
                      <a:r>
                        <a:rPr lang="en-US" sz="2000"/>
                        <a:t>MySQL</a:t>
                      </a:r>
                      <a:endParaRPr sz="2000"/>
                    </a:p>
                  </a:txBody>
                  <a:tcPr marT="91425" marB="91425" marR="91425" marL="91425"/>
                </a:tc>
                <a:tc>
                  <a:txBody>
                    <a:bodyPr/>
                    <a:lstStyle/>
                    <a:p>
                      <a:pPr indent="0" lvl="0" marL="0" rtl="0" algn="ctr">
                        <a:spcBef>
                          <a:spcPts val="0"/>
                        </a:spcBef>
                        <a:spcAft>
                          <a:spcPts val="0"/>
                        </a:spcAft>
                        <a:buNone/>
                      </a:pPr>
                      <a:r>
                        <a:rPr lang="en-US" sz="2000"/>
                        <a:t>MongoDB</a:t>
                      </a:r>
                      <a:endParaRPr sz="2000"/>
                    </a:p>
                  </a:txBody>
                  <a:tcPr marT="91425" marB="91425" marR="91425" marL="91425"/>
                </a:tc>
              </a:tr>
              <a:tr h="438875">
                <a:tc>
                  <a:txBody>
                    <a:bodyPr/>
                    <a:lstStyle/>
                    <a:p>
                      <a:pPr indent="0" lvl="0" marL="0" rtl="0" algn="ctr">
                        <a:spcBef>
                          <a:spcPts val="0"/>
                        </a:spcBef>
                        <a:spcAft>
                          <a:spcPts val="0"/>
                        </a:spcAft>
                        <a:buNone/>
                      </a:pPr>
                      <a:r>
                        <a:rPr lang="en-US" sz="2000"/>
                        <a:t>Tables</a:t>
                      </a:r>
                      <a:endParaRPr sz="2000"/>
                    </a:p>
                  </a:txBody>
                  <a:tcPr marT="91425" marB="91425" marR="91425" marL="91425"/>
                </a:tc>
                <a:tc>
                  <a:txBody>
                    <a:bodyPr/>
                    <a:lstStyle/>
                    <a:p>
                      <a:pPr indent="0" lvl="0" marL="0" rtl="0" algn="ctr">
                        <a:spcBef>
                          <a:spcPts val="0"/>
                        </a:spcBef>
                        <a:spcAft>
                          <a:spcPts val="0"/>
                        </a:spcAft>
                        <a:buNone/>
                      </a:pPr>
                      <a:r>
                        <a:rPr lang="en-US" sz="2000"/>
                        <a:t>Collections</a:t>
                      </a:r>
                      <a:endParaRPr sz="2000"/>
                    </a:p>
                  </a:txBody>
                  <a:tcPr marT="91425" marB="91425" marR="91425" marL="91425"/>
                </a:tc>
              </a:tr>
              <a:tr h="438875">
                <a:tc>
                  <a:txBody>
                    <a:bodyPr/>
                    <a:lstStyle/>
                    <a:p>
                      <a:pPr indent="0" lvl="0" marL="0" rtl="0" algn="ctr">
                        <a:spcBef>
                          <a:spcPts val="0"/>
                        </a:spcBef>
                        <a:spcAft>
                          <a:spcPts val="0"/>
                        </a:spcAft>
                        <a:buNone/>
                      </a:pPr>
                      <a:r>
                        <a:rPr lang="en-US" sz="2000"/>
                        <a:t>Rows</a:t>
                      </a:r>
                      <a:endParaRPr sz="2000"/>
                    </a:p>
                  </a:txBody>
                  <a:tcPr marT="91425" marB="91425" marR="91425" marL="91425"/>
                </a:tc>
                <a:tc>
                  <a:txBody>
                    <a:bodyPr/>
                    <a:lstStyle/>
                    <a:p>
                      <a:pPr indent="0" lvl="0" marL="0" rtl="0" algn="ctr">
                        <a:spcBef>
                          <a:spcPts val="0"/>
                        </a:spcBef>
                        <a:spcAft>
                          <a:spcPts val="0"/>
                        </a:spcAft>
                        <a:buNone/>
                      </a:pPr>
                      <a:r>
                        <a:rPr lang="en-US" sz="2000"/>
                        <a:t>Documents</a:t>
                      </a:r>
                      <a:endParaRPr sz="2000"/>
                    </a:p>
                  </a:txBody>
                  <a:tcPr marT="91425" marB="91425" marR="91425" marL="91425"/>
                </a:tc>
              </a:tr>
              <a:tr h="438875">
                <a:tc>
                  <a:txBody>
                    <a:bodyPr/>
                    <a:lstStyle/>
                    <a:p>
                      <a:pPr indent="0" lvl="0" marL="0" rtl="0" algn="ctr">
                        <a:spcBef>
                          <a:spcPts val="0"/>
                        </a:spcBef>
                        <a:spcAft>
                          <a:spcPts val="0"/>
                        </a:spcAft>
                        <a:buNone/>
                      </a:pPr>
                      <a:r>
                        <a:rPr lang="en-US" sz="2000"/>
                        <a:t>Fixed schema</a:t>
                      </a:r>
                      <a:endParaRPr sz="2000"/>
                    </a:p>
                  </a:txBody>
                  <a:tcPr marT="91425" marB="91425" marR="91425" marL="91425"/>
                </a:tc>
                <a:tc>
                  <a:txBody>
                    <a:bodyPr/>
                    <a:lstStyle/>
                    <a:p>
                      <a:pPr indent="0" lvl="0" marL="0" rtl="0" algn="ctr">
                        <a:spcBef>
                          <a:spcPts val="0"/>
                        </a:spcBef>
                        <a:spcAft>
                          <a:spcPts val="0"/>
                        </a:spcAft>
                        <a:buNone/>
                      </a:pPr>
                      <a:r>
                        <a:rPr lang="en-US" sz="2000"/>
                        <a:t>Flexible schema</a:t>
                      </a:r>
                      <a:endParaRPr sz="2000"/>
                    </a:p>
                  </a:txBody>
                  <a:tcPr marT="91425" marB="91425" marR="91425" marL="91425"/>
                </a:tc>
              </a:tr>
              <a:tr h="438875">
                <a:tc>
                  <a:txBody>
                    <a:bodyPr/>
                    <a:lstStyle/>
                    <a:p>
                      <a:pPr indent="0" lvl="0" marL="0" rtl="0" algn="ctr">
                        <a:spcBef>
                          <a:spcPts val="0"/>
                        </a:spcBef>
                        <a:spcAft>
                          <a:spcPts val="0"/>
                        </a:spcAft>
                        <a:buNone/>
                      </a:pPr>
                      <a:r>
                        <a:rPr lang="en-US" sz="2000"/>
                        <a:t>SQL queries</a:t>
                      </a:r>
                      <a:endParaRPr sz="2000"/>
                    </a:p>
                  </a:txBody>
                  <a:tcPr marT="91425" marB="91425" marR="91425" marL="91425"/>
                </a:tc>
                <a:tc>
                  <a:txBody>
                    <a:bodyPr/>
                    <a:lstStyle/>
                    <a:p>
                      <a:pPr indent="0" lvl="0" marL="0" rtl="0" algn="ctr">
                        <a:spcBef>
                          <a:spcPts val="0"/>
                        </a:spcBef>
                        <a:spcAft>
                          <a:spcPts val="0"/>
                        </a:spcAft>
                        <a:buNone/>
                      </a:pPr>
                      <a:r>
                        <a:rPr lang="en-US" sz="2000"/>
                        <a:t>JSON-based</a:t>
                      </a:r>
                      <a:endParaRPr sz="2000"/>
                    </a:p>
                  </a:txBody>
                  <a:tcPr marT="91425" marB="91425" marR="91425" marL="91425"/>
                </a:tc>
              </a:tr>
            </a:tbl>
          </a:graphicData>
        </a:graphic>
      </p:graphicFrame>
      <p:sp>
        <p:nvSpPr>
          <p:cNvPr id="197" name="Google Shape;197;g3d20f8606ae_0_127"/>
          <p:cNvSpPr txBox="1"/>
          <p:nvPr/>
        </p:nvSpPr>
        <p:spPr>
          <a:xfrm>
            <a:off x="575625" y="3615200"/>
            <a:ext cx="10833900" cy="28902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2400"/>
              </a:spcBef>
              <a:spcAft>
                <a:spcPts val="0"/>
              </a:spcAft>
              <a:buClr>
                <a:schemeClr val="dk1"/>
              </a:buClr>
              <a:buSzPts val="1100"/>
              <a:buFont typeface="Arial"/>
              <a:buNone/>
            </a:pPr>
            <a:r>
              <a:rPr b="1" lang="en-US" sz="2300">
                <a:solidFill>
                  <a:schemeClr val="dk1"/>
                </a:solidFill>
              </a:rPr>
              <a:t>Benefits</a:t>
            </a:r>
            <a:r>
              <a:rPr b="1" lang="en-US" sz="2300">
                <a:solidFill>
                  <a:schemeClr val="dk1"/>
                </a:solidFill>
              </a:rPr>
              <a:t> Use MongoDB with Laravel</a:t>
            </a:r>
            <a:endParaRPr sz="1100">
              <a:solidFill>
                <a:schemeClr val="dk1"/>
              </a:solidFill>
            </a:endParaRPr>
          </a:p>
          <a:p>
            <a:pPr indent="-342900" lvl="0" marL="914400" rtl="0" algn="l">
              <a:lnSpc>
                <a:spcPct val="115000"/>
              </a:lnSpc>
              <a:spcBef>
                <a:spcPts val="1200"/>
              </a:spcBef>
              <a:spcAft>
                <a:spcPts val="0"/>
              </a:spcAft>
              <a:buClr>
                <a:schemeClr val="dk1"/>
              </a:buClr>
              <a:buSzPts val="1800"/>
              <a:buChar char="●"/>
            </a:pPr>
            <a:r>
              <a:rPr lang="en-US" sz="1800">
                <a:solidFill>
                  <a:schemeClr val="dk1"/>
                </a:solidFill>
              </a:rPr>
              <a:t>Flexible structure</a:t>
            </a:r>
            <a:endParaRPr sz="1800">
              <a:solidFill>
                <a:schemeClr val="dk1"/>
              </a:solidFill>
            </a:endParaRPr>
          </a:p>
          <a:p>
            <a:pPr indent="-342900" lvl="0" marL="914400" rtl="0" algn="l">
              <a:lnSpc>
                <a:spcPct val="115000"/>
              </a:lnSpc>
              <a:spcBef>
                <a:spcPts val="0"/>
              </a:spcBef>
              <a:spcAft>
                <a:spcPts val="0"/>
              </a:spcAft>
              <a:buClr>
                <a:schemeClr val="dk1"/>
              </a:buClr>
              <a:buSzPts val="1800"/>
              <a:buChar char="●"/>
            </a:pPr>
            <a:r>
              <a:rPr lang="en-US" sz="1800">
                <a:solidFill>
                  <a:schemeClr val="dk1"/>
                </a:solidFill>
              </a:rPr>
              <a:t>Faster for large data</a:t>
            </a:r>
            <a:endParaRPr sz="1800">
              <a:solidFill>
                <a:schemeClr val="dk1"/>
              </a:solidFill>
            </a:endParaRPr>
          </a:p>
          <a:p>
            <a:pPr indent="-342900" lvl="0" marL="914400" rtl="0" algn="l">
              <a:lnSpc>
                <a:spcPct val="115000"/>
              </a:lnSpc>
              <a:spcBef>
                <a:spcPts val="0"/>
              </a:spcBef>
              <a:spcAft>
                <a:spcPts val="0"/>
              </a:spcAft>
              <a:buClr>
                <a:schemeClr val="dk1"/>
              </a:buClr>
              <a:buSzPts val="1800"/>
              <a:buChar char="●"/>
            </a:pPr>
            <a:r>
              <a:rPr lang="en-US" sz="1800">
                <a:solidFill>
                  <a:schemeClr val="dk1"/>
                </a:solidFill>
              </a:rPr>
              <a:t>JSON-friendly</a:t>
            </a:r>
            <a:endParaRPr sz="1800">
              <a:solidFill>
                <a:schemeClr val="dk1"/>
              </a:solidFill>
            </a:endParaRPr>
          </a:p>
          <a:p>
            <a:pPr indent="-342900" lvl="0" marL="914400" rtl="0" algn="l">
              <a:lnSpc>
                <a:spcPct val="115000"/>
              </a:lnSpc>
              <a:spcBef>
                <a:spcPts val="0"/>
              </a:spcBef>
              <a:spcAft>
                <a:spcPts val="0"/>
              </a:spcAft>
              <a:buClr>
                <a:schemeClr val="dk1"/>
              </a:buClr>
              <a:buSzPts val="1800"/>
              <a:buChar char="●"/>
            </a:pPr>
            <a:r>
              <a:rPr lang="en-US" sz="1800">
                <a:solidFill>
                  <a:schemeClr val="dk1"/>
                </a:solidFill>
              </a:rPr>
              <a:t>No migrations required</a:t>
            </a:r>
            <a:endParaRPr sz="1800">
              <a:solidFill>
                <a:schemeClr val="dk1"/>
              </a:solidFill>
            </a:endParaRPr>
          </a:p>
          <a:p>
            <a:pPr indent="0" lvl="0" marL="45720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45720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g3da4f68f186_0_139"/>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203" name="Google Shape;203;g3da4f68f186_0_139"/>
          <p:cNvSpPr txBox="1"/>
          <p:nvPr/>
        </p:nvSpPr>
        <p:spPr>
          <a:xfrm>
            <a:off x="323600" y="0"/>
            <a:ext cx="9364500" cy="5388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Clr>
                <a:schemeClr val="dk1"/>
              </a:buClr>
              <a:buSzPts val="1100"/>
              <a:buFont typeface="Arial"/>
              <a:buNone/>
            </a:pPr>
            <a:r>
              <a:t/>
            </a:r>
            <a:endParaRPr b="1" sz="2300">
              <a:solidFill>
                <a:schemeClr val="dk1"/>
              </a:solidFill>
            </a:endParaRPr>
          </a:p>
        </p:txBody>
      </p:sp>
      <p:sp>
        <p:nvSpPr>
          <p:cNvPr id="204" name="Google Shape;204;g3da4f68f186_0_139"/>
          <p:cNvSpPr txBox="1"/>
          <p:nvPr/>
        </p:nvSpPr>
        <p:spPr>
          <a:xfrm>
            <a:off x="575625" y="125425"/>
            <a:ext cx="11465400" cy="66009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2400"/>
              </a:spcBef>
              <a:spcAft>
                <a:spcPts val="0"/>
              </a:spcAft>
              <a:buNone/>
            </a:pPr>
            <a:r>
              <a:rPr b="1" lang="en-US" sz="2300">
                <a:solidFill>
                  <a:schemeClr val="dk1"/>
                </a:solidFill>
              </a:rPr>
              <a:t>IMPORTANT</a:t>
            </a:r>
            <a:endParaRPr b="1" sz="2300">
              <a:solidFill>
                <a:schemeClr val="dk1"/>
              </a:solidFill>
            </a:endParaRPr>
          </a:p>
          <a:p>
            <a:pPr indent="-355600" lvl="0" marL="457200" rtl="0" algn="just">
              <a:lnSpc>
                <a:spcPct val="115000"/>
              </a:lnSpc>
              <a:spcBef>
                <a:spcPts val="1200"/>
              </a:spcBef>
              <a:spcAft>
                <a:spcPts val="0"/>
              </a:spcAft>
              <a:buClr>
                <a:schemeClr val="dk1"/>
              </a:buClr>
              <a:buSzPts val="2000"/>
              <a:buChar char="●"/>
            </a:pPr>
            <a:r>
              <a:rPr lang="en-US" sz="2000">
                <a:solidFill>
                  <a:schemeClr val="dk1"/>
                </a:solidFill>
              </a:rPr>
              <a:t>Laravel </a:t>
            </a:r>
            <a:r>
              <a:rPr b="1" lang="en-US" sz="2000">
                <a:solidFill>
                  <a:schemeClr val="dk1"/>
                </a:solidFill>
              </a:rPr>
              <a:t>does NOT support MongoDB by default</a:t>
            </a:r>
            <a:endParaRPr b="1" sz="2000">
              <a:solidFill>
                <a:schemeClr val="dk1"/>
              </a:solidFill>
            </a:endParaRPr>
          </a:p>
          <a:p>
            <a:pPr indent="-355600" lvl="0" marL="457200" rtl="0" algn="just">
              <a:lnSpc>
                <a:spcPct val="115000"/>
              </a:lnSpc>
              <a:spcBef>
                <a:spcPts val="0"/>
              </a:spcBef>
              <a:spcAft>
                <a:spcPts val="0"/>
              </a:spcAft>
              <a:buClr>
                <a:schemeClr val="dk1"/>
              </a:buClr>
              <a:buSzPts val="2000"/>
              <a:buChar char="●"/>
            </a:pPr>
            <a:r>
              <a:rPr lang="en-US" sz="2000">
                <a:solidFill>
                  <a:schemeClr val="dk1"/>
                </a:solidFill>
              </a:rPr>
              <a:t>We use a package:  mongodb/laravel-mongodb</a:t>
            </a:r>
            <a:endParaRPr sz="2000">
              <a:solidFill>
                <a:schemeClr val="dk1"/>
              </a:solidFill>
            </a:endParaRPr>
          </a:p>
          <a:p>
            <a:pPr indent="0" lvl="0" marL="0" rtl="0" algn="l">
              <a:lnSpc>
                <a:spcPct val="115000"/>
              </a:lnSpc>
              <a:spcBef>
                <a:spcPts val="1200"/>
              </a:spcBef>
              <a:spcAft>
                <a:spcPts val="0"/>
              </a:spcAft>
              <a:buNone/>
            </a:pPr>
            <a:r>
              <a:rPr b="1" lang="en-US" sz="2300">
                <a:solidFill>
                  <a:schemeClr val="dk1"/>
                </a:solidFill>
              </a:rPr>
              <a:t>STEP-BY-STEP SETUP</a:t>
            </a:r>
            <a:endParaRPr b="1" sz="2300">
              <a:solidFill>
                <a:schemeClr val="dk1"/>
              </a:solidFill>
            </a:endParaRPr>
          </a:p>
          <a:p>
            <a:pPr indent="457200" lvl="0" marL="0" rtl="0" algn="l">
              <a:lnSpc>
                <a:spcPct val="115000"/>
              </a:lnSpc>
              <a:spcBef>
                <a:spcPts val="0"/>
              </a:spcBef>
              <a:spcAft>
                <a:spcPts val="0"/>
              </a:spcAft>
              <a:buNone/>
            </a:pPr>
            <a:r>
              <a:rPr b="1" lang="en-US" sz="2300">
                <a:solidFill>
                  <a:schemeClr val="dk1"/>
                </a:solidFill>
              </a:rPr>
              <a:t>STEP 1: Install Laravel Project: </a:t>
            </a:r>
            <a:r>
              <a:rPr lang="en-US" sz="2000">
                <a:solidFill>
                  <a:schemeClr val="dk1"/>
                </a:solidFill>
              </a:rPr>
              <a:t>composer create-project laravel/laravel mongo-app</a:t>
            </a:r>
            <a:endParaRPr sz="2000">
              <a:solidFill>
                <a:schemeClr val="dk1"/>
              </a:solidFill>
            </a:endParaRPr>
          </a:p>
          <a:p>
            <a:pPr indent="0" lvl="0" marL="4572000" rtl="0" algn="l">
              <a:lnSpc>
                <a:spcPct val="115000"/>
              </a:lnSpc>
              <a:spcBef>
                <a:spcPts val="0"/>
              </a:spcBef>
              <a:spcAft>
                <a:spcPts val="0"/>
              </a:spcAft>
              <a:buNone/>
            </a:pPr>
            <a:r>
              <a:rPr lang="en-US" sz="2000">
                <a:solidFill>
                  <a:schemeClr val="dk1"/>
                </a:solidFill>
              </a:rPr>
              <a:t>    cd mongo-app</a:t>
            </a:r>
            <a:endParaRPr sz="2000">
              <a:solidFill>
                <a:schemeClr val="dk1"/>
              </a:solidFill>
            </a:endParaRPr>
          </a:p>
          <a:p>
            <a:pPr indent="457200" lvl="0" marL="0" rtl="0" algn="l">
              <a:lnSpc>
                <a:spcPct val="115000"/>
              </a:lnSpc>
              <a:spcBef>
                <a:spcPts val="2400"/>
              </a:spcBef>
              <a:spcAft>
                <a:spcPts val="0"/>
              </a:spcAft>
              <a:buNone/>
            </a:pPr>
            <a:r>
              <a:rPr b="1" lang="en-US" sz="2500">
                <a:solidFill>
                  <a:schemeClr val="dk1"/>
                </a:solidFill>
              </a:rPr>
              <a:t>STEP 2: Install MongoDB Package: </a:t>
            </a:r>
            <a:r>
              <a:rPr lang="en-US" sz="2000">
                <a:solidFill>
                  <a:schemeClr val="dk1"/>
                </a:solidFill>
              </a:rPr>
              <a:t>composer require mongodb/laravel-mongodb</a:t>
            </a:r>
            <a:endParaRPr sz="2000">
              <a:solidFill>
                <a:schemeClr val="dk1"/>
              </a:solidFill>
            </a:endParaRPr>
          </a:p>
          <a:p>
            <a:pPr indent="457200" lvl="0" marL="0" rtl="0" algn="l">
              <a:lnSpc>
                <a:spcPct val="115000"/>
              </a:lnSpc>
              <a:spcBef>
                <a:spcPts val="2400"/>
              </a:spcBef>
              <a:spcAft>
                <a:spcPts val="0"/>
              </a:spcAft>
              <a:buNone/>
            </a:pPr>
            <a:r>
              <a:rPr b="1" lang="en-US" sz="2500">
                <a:solidFill>
                  <a:schemeClr val="dk1"/>
                </a:solidFill>
              </a:rPr>
              <a:t>STEP 3: Configure Database (.env)</a:t>
            </a:r>
            <a:endParaRPr sz="2500">
              <a:solidFill>
                <a:schemeClr val="dk1"/>
              </a:solidFill>
              <a:latin typeface="Calibri"/>
              <a:ea typeface="Calibri"/>
              <a:cs typeface="Calibri"/>
              <a:sym typeface="Calibri"/>
            </a:endParaRPr>
          </a:p>
          <a:p>
            <a:pPr indent="0" lvl="0" marL="914400" rtl="0" algn="l">
              <a:lnSpc>
                <a:spcPct val="115000"/>
              </a:lnSpc>
              <a:spcBef>
                <a:spcPts val="600"/>
              </a:spcBef>
              <a:spcAft>
                <a:spcPts val="0"/>
              </a:spcAft>
              <a:buNone/>
            </a:pPr>
            <a:r>
              <a:rPr lang="en-US" sz="2000">
                <a:solidFill>
                  <a:schemeClr val="dk1"/>
                </a:solidFill>
              </a:rPr>
              <a:t>DB_CONNECTION=mongodb</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DB_HOST=127.0.0.1</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DB_PORT=27017</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DB_DATABASE=laravel_mongo</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DB_USERNAME=</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DB_PASSWORD=</a:t>
            </a:r>
            <a:endParaRPr sz="2000">
              <a:solidFill>
                <a:schemeClr val="dk1"/>
              </a:solidFill>
            </a:endParaRPr>
          </a:p>
          <a:p>
            <a:pPr indent="0" lvl="0" marL="0" rtl="0" algn="just">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g3d20f8606ae_0_137"/>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210" name="Google Shape;210;g3d20f8606ae_0_137"/>
          <p:cNvSpPr txBox="1"/>
          <p:nvPr/>
        </p:nvSpPr>
        <p:spPr>
          <a:xfrm>
            <a:off x="323600" y="0"/>
            <a:ext cx="7737900" cy="5388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Clr>
                <a:schemeClr val="dk1"/>
              </a:buClr>
              <a:buSzPts val="1100"/>
              <a:buFont typeface="Arial"/>
              <a:buNone/>
            </a:pPr>
            <a:r>
              <a:t/>
            </a:r>
            <a:endParaRPr b="1" sz="2300">
              <a:solidFill>
                <a:schemeClr val="dk1"/>
              </a:solidFill>
            </a:endParaRPr>
          </a:p>
        </p:txBody>
      </p:sp>
      <p:sp>
        <p:nvSpPr>
          <p:cNvPr id="211" name="Google Shape;211;g3d20f8606ae_0_137"/>
          <p:cNvSpPr txBox="1"/>
          <p:nvPr/>
        </p:nvSpPr>
        <p:spPr>
          <a:xfrm>
            <a:off x="323600" y="0"/>
            <a:ext cx="11485200" cy="6883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000">
                <a:solidFill>
                  <a:schemeClr val="dk1"/>
                </a:solidFill>
              </a:rPr>
              <a:t>STEP 4: Configure database.php: </a:t>
            </a:r>
            <a:r>
              <a:rPr lang="en-US" sz="2000">
                <a:solidFill>
                  <a:srgbClr val="188038"/>
                </a:solidFill>
                <a:latin typeface="Roboto Mono"/>
                <a:ea typeface="Roboto Mono"/>
                <a:cs typeface="Roboto Mono"/>
                <a:sym typeface="Roboto Mono"/>
              </a:rPr>
              <a:t>config/database.php -&gt; </a:t>
            </a:r>
            <a:r>
              <a:rPr lang="en-US" sz="2000">
                <a:solidFill>
                  <a:schemeClr val="dk1"/>
                </a:solidFill>
              </a:rPr>
              <a:t>Add: </a:t>
            </a:r>
            <a:endParaRPr sz="2000">
              <a:solidFill>
                <a:schemeClr val="dk1"/>
              </a:solidFill>
            </a:endParaRPr>
          </a:p>
          <a:p>
            <a:pPr indent="0" lvl="0" marL="457200" rtl="0" algn="l">
              <a:lnSpc>
                <a:spcPct val="115000"/>
              </a:lnSpc>
              <a:spcBef>
                <a:spcPts val="600"/>
              </a:spcBef>
              <a:spcAft>
                <a:spcPts val="0"/>
              </a:spcAft>
              <a:buNone/>
            </a:pPr>
            <a:r>
              <a:rPr lang="en-US" sz="1800">
                <a:solidFill>
                  <a:schemeClr val="dk1"/>
                </a:solidFill>
              </a:rPr>
              <a:t>'mongodb' =&gt; [</a:t>
            </a:r>
            <a:endParaRPr sz="1800">
              <a:solidFill>
                <a:schemeClr val="dk1"/>
              </a:solidFill>
            </a:endParaRPr>
          </a:p>
          <a:p>
            <a:pPr indent="0" lvl="0" marL="457200" rtl="0" algn="l">
              <a:lnSpc>
                <a:spcPct val="115000"/>
              </a:lnSpc>
              <a:spcBef>
                <a:spcPts val="0"/>
              </a:spcBef>
              <a:spcAft>
                <a:spcPts val="0"/>
              </a:spcAft>
              <a:buNone/>
            </a:pPr>
            <a:r>
              <a:rPr lang="en-US" sz="1800">
                <a:solidFill>
                  <a:schemeClr val="dk1"/>
                </a:solidFill>
              </a:rPr>
              <a:t>   'driver' =&gt; 'mongodb',</a:t>
            </a:r>
            <a:endParaRPr sz="1800">
              <a:solidFill>
                <a:schemeClr val="dk1"/>
              </a:solidFill>
            </a:endParaRPr>
          </a:p>
          <a:p>
            <a:pPr indent="0" lvl="0" marL="457200" rtl="0" algn="l">
              <a:lnSpc>
                <a:spcPct val="115000"/>
              </a:lnSpc>
              <a:spcBef>
                <a:spcPts val="0"/>
              </a:spcBef>
              <a:spcAft>
                <a:spcPts val="0"/>
              </a:spcAft>
              <a:buNone/>
            </a:pPr>
            <a:r>
              <a:rPr lang="en-US" sz="1800">
                <a:solidFill>
                  <a:schemeClr val="dk1"/>
                </a:solidFill>
              </a:rPr>
              <a:t>   'host' =&gt; env('DB_HOST', '127.0.0.1'),</a:t>
            </a:r>
            <a:endParaRPr sz="1800">
              <a:solidFill>
                <a:schemeClr val="dk1"/>
              </a:solidFill>
            </a:endParaRPr>
          </a:p>
          <a:p>
            <a:pPr indent="0" lvl="0" marL="457200" rtl="0" algn="l">
              <a:lnSpc>
                <a:spcPct val="115000"/>
              </a:lnSpc>
              <a:spcBef>
                <a:spcPts val="0"/>
              </a:spcBef>
              <a:spcAft>
                <a:spcPts val="0"/>
              </a:spcAft>
              <a:buNone/>
            </a:pPr>
            <a:r>
              <a:rPr lang="en-US" sz="1800">
                <a:solidFill>
                  <a:schemeClr val="dk1"/>
                </a:solidFill>
              </a:rPr>
              <a:t>   'port' =&gt; env('DB_PORT', 27017),</a:t>
            </a:r>
            <a:endParaRPr sz="1800">
              <a:solidFill>
                <a:schemeClr val="dk1"/>
              </a:solidFill>
            </a:endParaRPr>
          </a:p>
          <a:p>
            <a:pPr indent="0" lvl="0" marL="457200" rtl="0" algn="l">
              <a:lnSpc>
                <a:spcPct val="115000"/>
              </a:lnSpc>
              <a:spcBef>
                <a:spcPts val="0"/>
              </a:spcBef>
              <a:spcAft>
                <a:spcPts val="0"/>
              </a:spcAft>
              <a:buNone/>
            </a:pPr>
            <a:r>
              <a:rPr lang="en-US" sz="1800">
                <a:solidFill>
                  <a:schemeClr val="dk1"/>
                </a:solidFill>
              </a:rPr>
              <a:t>   'database' =&gt; env('DB_DATABASE'),</a:t>
            </a:r>
            <a:endParaRPr sz="1800">
              <a:solidFill>
                <a:schemeClr val="dk1"/>
              </a:solidFill>
            </a:endParaRPr>
          </a:p>
          <a:p>
            <a:pPr indent="0" lvl="0" marL="457200" rtl="0" algn="l">
              <a:lnSpc>
                <a:spcPct val="115000"/>
              </a:lnSpc>
              <a:spcBef>
                <a:spcPts val="0"/>
              </a:spcBef>
              <a:spcAft>
                <a:spcPts val="0"/>
              </a:spcAft>
              <a:buNone/>
            </a:pPr>
            <a:r>
              <a:rPr lang="en-US" sz="1800">
                <a:solidFill>
                  <a:schemeClr val="dk1"/>
                </a:solidFill>
              </a:rPr>
              <a:t>],</a:t>
            </a:r>
            <a:endParaRPr sz="1800">
              <a:solidFill>
                <a:schemeClr val="dk1"/>
              </a:solidFill>
            </a:endParaRPr>
          </a:p>
          <a:p>
            <a:pPr indent="0" lvl="0" marL="0" rtl="0" algn="l">
              <a:lnSpc>
                <a:spcPct val="100000"/>
              </a:lnSpc>
              <a:spcBef>
                <a:spcPts val="0"/>
              </a:spcBef>
              <a:spcAft>
                <a:spcPts val="0"/>
              </a:spcAft>
              <a:buNone/>
            </a:pPr>
            <a:r>
              <a:rPr b="1" lang="en-US" sz="2000">
                <a:solidFill>
                  <a:schemeClr val="dk1"/>
                </a:solidFill>
              </a:rPr>
              <a:t>STEP 5: Create Model : </a:t>
            </a:r>
            <a:r>
              <a:rPr lang="en-US" sz="2000">
                <a:solidFill>
                  <a:schemeClr val="dk1"/>
                </a:solidFill>
              </a:rPr>
              <a:t>php artisan make:model Student</a:t>
            </a:r>
            <a:endParaRPr sz="2000">
              <a:solidFill>
                <a:schemeClr val="dk1"/>
              </a:solidFill>
            </a:endParaRPr>
          </a:p>
          <a:p>
            <a:pPr indent="0" lvl="0" marL="0" rtl="0" algn="l">
              <a:lnSpc>
                <a:spcPct val="100000"/>
              </a:lnSpc>
              <a:spcBef>
                <a:spcPts val="0"/>
              </a:spcBef>
              <a:spcAft>
                <a:spcPts val="0"/>
              </a:spcAft>
              <a:buNone/>
            </a:pPr>
            <a:r>
              <a:rPr b="1" lang="en-US" sz="2000">
                <a:solidFill>
                  <a:srgbClr val="188038"/>
                </a:solidFill>
                <a:latin typeface="Roboto Mono"/>
                <a:ea typeface="Roboto Mono"/>
                <a:cs typeface="Roboto Mono"/>
                <a:sym typeface="Roboto Mono"/>
              </a:rPr>
              <a:t>app/Models/Student.php</a:t>
            </a:r>
            <a:endParaRPr b="1" sz="2000">
              <a:solidFill>
                <a:srgbClr val="188038"/>
              </a:solidFill>
              <a:latin typeface="Roboto Mono"/>
              <a:ea typeface="Roboto Mono"/>
              <a:cs typeface="Roboto Mono"/>
              <a:sym typeface="Roboto Mono"/>
            </a:endParaRPr>
          </a:p>
          <a:p>
            <a:pPr indent="0" lvl="0" marL="457200" rtl="0" algn="l">
              <a:lnSpc>
                <a:spcPct val="100000"/>
              </a:lnSpc>
              <a:spcBef>
                <a:spcPts val="0"/>
              </a:spcBef>
              <a:spcAft>
                <a:spcPts val="0"/>
              </a:spcAft>
              <a:buNone/>
            </a:pPr>
            <a:r>
              <a:rPr lang="en-US" sz="1800">
                <a:solidFill>
                  <a:schemeClr val="dk1"/>
                </a:solidFill>
              </a:rPr>
              <a:t>&lt;?php</a:t>
            </a:r>
            <a:endParaRPr sz="1800">
              <a:solidFill>
                <a:schemeClr val="dk1"/>
              </a:solidFill>
            </a:endParaRPr>
          </a:p>
          <a:p>
            <a:pPr indent="0" lvl="0" marL="457200" rtl="0" algn="l">
              <a:lnSpc>
                <a:spcPct val="115000"/>
              </a:lnSpc>
              <a:spcBef>
                <a:spcPts val="0"/>
              </a:spcBef>
              <a:spcAft>
                <a:spcPts val="0"/>
              </a:spcAft>
              <a:buNone/>
            </a:pPr>
            <a:r>
              <a:rPr lang="en-US" sz="1800">
                <a:solidFill>
                  <a:schemeClr val="dk1"/>
                </a:solidFill>
              </a:rPr>
              <a:t>namespace App\Models;</a:t>
            </a:r>
            <a:endParaRPr sz="1800">
              <a:solidFill>
                <a:schemeClr val="dk1"/>
              </a:solidFill>
            </a:endParaRPr>
          </a:p>
          <a:p>
            <a:pPr indent="0" lvl="0" marL="457200" rtl="0" algn="l">
              <a:lnSpc>
                <a:spcPct val="115000"/>
              </a:lnSpc>
              <a:spcBef>
                <a:spcPts val="0"/>
              </a:spcBef>
              <a:spcAft>
                <a:spcPts val="0"/>
              </a:spcAft>
              <a:buNone/>
            </a:pPr>
            <a:r>
              <a:rPr lang="en-US" sz="1800">
                <a:solidFill>
                  <a:schemeClr val="dk1"/>
                </a:solidFill>
              </a:rPr>
              <a:t>use MongoDB\Laravel\Eloquent\Model;</a:t>
            </a:r>
            <a:endParaRPr sz="1800">
              <a:solidFill>
                <a:schemeClr val="dk1"/>
              </a:solidFill>
            </a:endParaRPr>
          </a:p>
          <a:p>
            <a:pPr indent="0" lvl="0" marL="457200" rtl="0" algn="l">
              <a:lnSpc>
                <a:spcPct val="115000"/>
              </a:lnSpc>
              <a:spcBef>
                <a:spcPts val="0"/>
              </a:spcBef>
              <a:spcAft>
                <a:spcPts val="0"/>
              </a:spcAft>
              <a:buNone/>
            </a:pPr>
            <a:r>
              <a:rPr lang="en-US" sz="1800">
                <a:solidFill>
                  <a:schemeClr val="dk1"/>
                </a:solidFill>
              </a:rPr>
              <a:t>class Student extends Model{</a:t>
            </a:r>
            <a:endParaRPr sz="1800">
              <a:solidFill>
                <a:schemeClr val="dk1"/>
              </a:solidFill>
            </a:endParaRPr>
          </a:p>
          <a:p>
            <a:pPr indent="0" lvl="0" marL="914400" rtl="0" algn="l">
              <a:lnSpc>
                <a:spcPct val="115000"/>
              </a:lnSpc>
              <a:spcBef>
                <a:spcPts val="0"/>
              </a:spcBef>
              <a:spcAft>
                <a:spcPts val="0"/>
              </a:spcAft>
              <a:buNone/>
            </a:pPr>
            <a:r>
              <a:rPr lang="en-US" sz="1800">
                <a:solidFill>
                  <a:schemeClr val="dk1"/>
                </a:solidFill>
              </a:rPr>
              <a:t>   protected $connection = 'mongodb';</a:t>
            </a:r>
            <a:endParaRPr sz="1800">
              <a:solidFill>
                <a:schemeClr val="dk1"/>
              </a:solidFill>
            </a:endParaRPr>
          </a:p>
          <a:p>
            <a:pPr indent="0" lvl="0" marL="914400" rtl="0" algn="l">
              <a:lnSpc>
                <a:spcPct val="115000"/>
              </a:lnSpc>
              <a:spcBef>
                <a:spcPts val="0"/>
              </a:spcBef>
              <a:spcAft>
                <a:spcPts val="0"/>
              </a:spcAft>
              <a:buNone/>
            </a:pPr>
            <a:r>
              <a:rPr lang="en-US" sz="1800">
                <a:solidFill>
                  <a:schemeClr val="dk1"/>
                </a:solidFill>
              </a:rPr>
              <a:t>   protected $collection = 'students';</a:t>
            </a:r>
            <a:endParaRPr sz="1800">
              <a:solidFill>
                <a:schemeClr val="dk1"/>
              </a:solidFill>
            </a:endParaRPr>
          </a:p>
          <a:p>
            <a:pPr indent="0" lvl="0" marL="914400" rtl="0" algn="l">
              <a:lnSpc>
                <a:spcPct val="115000"/>
              </a:lnSpc>
              <a:spcBef>
                <a:spcPts val="0"/>
              </a:spcBef>
              <a:spcAft>
                <a:spcPts val="0"/>
              </a:spcAft>
              <a:buNone/>
            </a:pPr>
            <a:r>
              <a:rPr lang="en-US" sz="1800">
                <a:solidFill>
                  <a:schemeClr val="dk1"/>
                </a:solidFill>
              </a:rPr>
              <a:t>   protected $fillable = [</a:t>
            </a:r>
            <a:endParaRPr sz="1800">
              <a:solidFill>
                <a:schemeClr val="dk1"/>
              </a:solidFill>
            </a:endParaRPr>
          </a:p>
          <a:p>
            <a:pPr indent="0" lvl="0" marL="3200400" rtl="0" algn="l">
              <a:lnSpc>
                <a:spcPct val="115000"/>
              </a:lnSpc>
              <a:spcBef>
                <a:spcPts val="0"/>
              </a:spcBef>
              <a:spcAft>
                <a:spcPts val="0"/>
              </a:spcAft>
              <a:buNone/>
            </a:pPr>
            <a:r>
              <a:rPr lang="en-US" sz="1800">
                <a:solidFill>
                  <a:schemeClr val="dk1"/>
                </a:solidFill>
              </a:rPr>
              <a:t>       'name',</a:t>
            </a:r>
            <a:endParaRPr sz="1800">
              <a:solidFill>
                <a:schemeClr val="dk1"/>
              </a:solidFill>
            </a:endParaRPr>
          </a:p>
          <a:p>
            <a:pPr indent="0" lvl="0" marL="3200400" rtl="0" algn="l">
              <a:lnSpc>
                <a:spcPct val="115000"/>
              </a:lnSpc>
              <a:spcBef>
                <a:spcPts val="0"/>
              </a:spcBef>
              <a:spcAft>
                <a:spcPts val="0"/>
              </a:spcAft>
              <a:buNone/>
            </a:pPr>
            <a:r>
              <a:rPr lang="en-US" sz="1800">
                <a:solidFill>
                  <a:schemeClr val="dk1"/>
                </a:solidFill>
              </a:rPr>
              <a:t>       'email',</a:t>
            </a:r>
            <a:endParaRPr sz="1800">
              <a:solidFill>
                <a:schemeClr val="dk1"/>
              </a:solidFill>
            </a:endParaRPr>
          </a:p>
          <a:p>
            <a:pPr indent="0" lvl="0" marL="3200400" rtl="0" algn="l">
              <a:lnSpc>
                <a:spcPct val="115000"/>
              </a:lnSpc>
              <a:spcBef>
                <a:spcPts val="0"/>
              </a:spcBef>
              <a:spcAft>
                <a:spcPts val="0"/>
              </a:spcAft>
              <a:buNone/>
            </a:pPr>
            <a:r>
              <a:rPr lang="en-US" sz="1800">
                <a:solidFill>
                  <a:schemeClr val="dk1"/>
                </a:solidFill>
              </a:rPr>
              <a:t>       'age'</a:t>
            </a:r>
            <a:endParaRPr sz="1800">
              <a:solidFill>
                <a:schemeClr val="dk1"/>
              </a:solidFill>
            </a:endParaRPr>
          </a:p>
          <a:p>
            <a:pPr indent="0" lvl="0" marL="914400" rtl="0" algn="l">
              <a:lnSpc>
                <a:spcPct val="115000"/>
              </a:lnSpc>
              <a:spcBef>
                <a:spcPts val="0"/>
              </a:spcBef>
              <a:spcAft>
                <a:spcPts val="0"/>
              </a:spcAft>
              <a:buNone/>
            </a:pPr>
            <a:r>
              <a:rPr lang="en-US" sz="1800">
                <a:solidFill>
                  <a:schemeClr val="dk1"/>
                </a:solidFill>
              </a:rPr>
              <a:t>   ];</a:t>
            </a:r>
            <a:endParaRPr sz="1800">
              <a:solidFill>
                <a:schemeClr val="dk1"/>
              </a:solidFill>
            </a:endParaRPr>
          </a:p>
          <a:p>
            <a:pPr indent="0" lvl="0" marL="457200" rtl="0" algn="l">
              <a:lnSpc>
                <a:spcPct val="115000"/>
              </a:lnSpc>
              <a:spcBef>
                <a:spcPts val="0"/>
              </a:spcBef>
              <a:spcAft>
                <a:spcPts val="0"/>
              </a:spcAft>
              <a:buNone/>
            </a:pPr>
            <a:r>
              <a:rPr lang="en-US" sz="1800">
                <a:solidFill>
                  <a:schemeClr val="dk1"/>
                </a:solidFill>
              </a:rPr>
              <a:t>}</a:t>
            </a:r>
            <a:endParaRPr sz="20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id="216" name="Google Shape;216;g3d20f8606ae_0_142"/>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217" name="Google Shape;217;g3d20f8606ae_0_142"/>
          <p:cNvSpPr txBox="1"/>
          <p:nvPr/>
        </p:nvSpPr>
        <p:spPr>
          <a:xfrm>
            <a:off x="323600" y="0"/>
            <a:ext cx="7737900" cy="5388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Clr>
                <a:schemeClr val="dk1"/>
              </a:buClr>
              <a:buSzPts val="1100"/>
              <a:buFont typeface="Arial"/>
              <a:buNone/>
            </a:pPr>
            <a:r>
              <a:t/>
            </a:r>
            <a:endParaRPr b="1" sz="2300">
              <a:solidFill>
                <a:schemeClr val="dk1"/>
              </a:solidFill>
            </a:endParaRPr>
          </a:p>
        </p:txBody>
      </p:sp>
      <p:sp>
        <p:nvSpPr>
          <p:cNvPr id="218" name="Google Shape;218;g3d20f8606ae_0_142"/>
          <p:cNvSpPr txBox="1"/>
          <p:nvPr/>
        </p:nvSpPr>
        <p:spPr>
          <a:xfrm>
            <a:off x="0" y="0"/>
            <a:ext cx="11808900" cy="681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500">
                <a:solidFill>
                  <a:schemeClr val="dk1"/>
                </a:solidFill>
              </a:rPr>
              <a:t>STEP 6: No Migration Needed </a:t>
            </a:r>
            <a:endParaRPr sz="2500">
              <a:solidFill>
                <a:schemeClr val="dk1"/>
              </a:solidFill>
            </a:endParaRPr>
          </a:p>
          <a:p>
            <a:pPr indent="0" lvl="0" marL="0" rtl="0" algn="l">
              <a:lnSpc>
                <a:spcPct val="115000"/>
              </a:lnSpc>
              <a:spcBef>
                <a:spcPts val="0"/>
              </a:spcBef>
              <a:spcAft>
                <a:spcPts val="0"/>
              </a:spcAft>
              <a:buNone/>
            </a:pPr>
            <a:r>
              <a:rPr lang="en-US" sz="2000">
                <a:solidFill>
                  <a:schemeClr val="dk1"/>
                </a:solidFill>
              </a:rPr>
              <a:t> MongoDB automatically creates </a:t>
            </a:r>
            <a:r>
              <a:rPr lang="en-US" sz="2000">
                <a:solidFill>
                  <a:schemeClr val="dk1"/>
                </a:solidFill>
              </a:rPr>
              <a:t>a collection</a:t>
            </a:r>
            <a:r>
              <a:rPr lang="en-US" sz="2000">
                <a:solidFill>
                  <a:schemeClr val="dk1"/>
                </a:solidFill>
              </a:rPr>
              <a:t> when data is inserted.</a:t>
            </a:r>
            <a:endParaRPr sz="2000">
              <a:solidFill>
                <a:schemeClr val="dk1"/>
              </a:solidFill>
            </a:endParaRPr>
          </a:p>
          <a:p>
            <a:pPr indent="0" lvl="0" marL="0" rtl="0" algn="l">
              <a:lnSpc>
                <a:spcPct val="115000"/>
              </a:lnSpc>
              <a:spcBef>
                <a:spcPts val="2400"/>
              </a:spcBef>
              <a:spcAft>
                <a:spcPts val="0"/>
              </a:spcAft>
              <a:buNone/>
            </a:pPr>
            <a:r>
              <a:rPr b="1" lang="en-US" sz="2500">
                <a:solidFill>
                  <a:schemeClr val="dk1"/>
                </a:solidFill>
              </a:rPr>
              <a:t>STEP 7: Create Controller: </a:t>
            </a:r>
            <a:r>
              <a:rPr lang="en-US" sz="2000">
                <a:solidFill>
                  <a:schemeClr val="dk1"/>
                </a:solidFill>
              </a:rPr>
              <a:t>php artisan make:controller StudentController</a:t>
            </a:r>
            <a:endParaRPr sz="2000">
              <a:solidFill>
                <a:schemeClr val="dk1"/>
              </a:solidFill>
            </a:endParaRPr>
          </a:p>
          <a:p>
            <a:pPr indent="0" lvl="0" marL="0" rtl="0" algn="l">
              <a:lnSpc>
                <a:spcPct val="100000"/>
              </a:lnSpc>
              <a:spcBef>
                <a:spcPts val="2400"/>
              </a:spcBef>
              <a:spcAft>
                <a:spcPts val="0"/>
              </a:spcAft>
              <a:buNone/>
            </a:pPr>
            <a:r>
              <a:rPr b="1" lang="en-US" sz="2500">
                <a:solidFill>
                  <a:schemeClr val="dk1"/>
                </a:solidFill>
              </a:rPr>
              <a:t>STEP 8: Controller Example</a:t>
            </a:r>
            <a:endParaRPr b="1" sz="2500">
              <a:solidFill>
                <a:schemeClr val="dk1"/>
              </a:solidFill>
            </a:endParaRPr>
          </a:p>
          <a:p>
            <a:pPr indent="0" lvl="0" marL="457200" rtl="0" algn="l">
              <a:lnSpc>
                <a:spcPct val="100000"/>
              </a:lnSpc>
              <a:spcBef>
                <a:spcPts val="600"/>
              </a:spcBef>
              <a:spcAft>
                <a:spcPts val="0"/>
              </a:spcAft>
              <a:buNone/>
            </a:pPr>
            <a:r>
              <a:rPr lang="en-US" sz="2000">
                <a:solidFill>
                  <a:schemeClr val="dk1"/>
                </a:solidFill>
              </a:rPr>
              <a:t>use App\Models\Student;</a:t>
            </a:r>
            <a:endParaRPr sz="2000">
              <a:solidFill>
                <a:schemeClr val="dk1"/>
              </a:solidFill>
            </a:endParaRPr>
          </a:p>
          <a:p>
            <a:pPr indent="0" lvl="0" marL="457200" rtl="0" algn="l">
              <a:lnSpc>
                <a:spcPct val="100000"/>
              </a:lnSpc>
              <a:spcBef>
                <a:spcPts val="0"/>
              </a:spcBef>
              <a:spcAft>
                <a:spcPts val="0"/>
              </a:spcAft>
              <a:buNone/>
            </a:pPr>
            <a:r>
              <a:rPr lang="en-US" sz="2000">
                <a:solidFill>
                  <a:schemeClr val="dk1"/>
                </a:solidFill>
              </a:rPr>
              <a:t>class StudentController extends Controller{</a:t>
            </a:r>
            <a:endParaRPr sz="2000">
              <a:solidFill>
                <a:schemeClr val="dk1"/>
              </a:solidFill>
            </a:endParaRPr>
          </a:p>
          <a:p>
            <a:pPr indent="0" lvl="0" marL="914400" rtl="0" algn="l">
              <a:lnSpc>
                <a:spcPct val="100000"/>
              </a:lnSpc>
              <a:spcBef>
                <a:spcPts val="0"/>
              </a:spcBef>
              <a:spcAft>
                <a:spcPts val="0"/>
              </a:spcAft>
              <a:buNone/>
            </a:pPr>
            <a:r>
              <a:rPr lang="en-US" sz="2000">
                <a:solidFill>
                  <a:schemeClr val="dk1"/>
                </a:solidFill>
              </a:rPr>
              <a:t>   public function insert() {</a:t>
            </a:r>
            <a:endParaRPr sz="2000">
              <a:solidFill>
                <a:schemeClr val="dk1"/>
              </a:solidFill>
            </a:endParaRPr>
          </a:p>
          <a:p>
            <a:pPr indent="0" lvl="0" marL="1371600" rtl="0" algn="l">
              <a:lnSpc>
                <a:spcPct val="100000"/>
              </a:lnSpc>
              <a:spcBef>
                <a:spcPts val="0"/>
              </a:spcBef>
              <a:spcAft>
                <a:spcPts val="0"/>
              </a:spcAft>
              <a:buNone/>
            </a:pPr>
            <a:r>
              <a:rPr lang="en-US" sz="2000">
                <a:solidFill>
                  <a:schemeClr val="dk1"/>
                </a:solidFill>
              </a:rPr>
              <a:t>       Student::create([</a:t>
            </a:r>
            <a:endParaRPr sz="2000">
              <a:solidFill>
                <a:schemeClr val="dk1"/>
              </a:solidFill>
            </a:endParaRPr>
          </a:p>
          <a:p>
            <a:pPr indent="0" lvl="0" marL="1371600" rtl="0" algn="l">
              <a:lnSpc>
                <a:spcPct val="100000"/>
              </a:lnSpc>
              <a:spcBef>
                <a:spcPts val="0"/>
              </a:spcBef>
              <a:spcAft>
                <a:spcPts val="0"/>
              </a:spcAft>
              <a:buNone/>
            </a:pPr>
            <a:r>
              <a:rPr lang="en-US" sz="2000">
                <a:solidFill>
                  <a:schemeClr val="dk1"/>
                </a:solidFill>
              </a:rPr>
              <a:t>           'name' =&gt; 'Rabaab',</a:t>
            </a:r>
            <a:endParaRPr sz="2000">
              <a:solidFill>
                <a:schemeClr val="dk1"/>
              </a:solidFill>
            </a:endParaRPr>
          </a:p>
          <a:p>
            <a:pPr indent="0" lvl="0" marL="1371600" rtl="0" algn="l">
              <a:lnSpc>
                <a:spcPct val="100000"/>
              </a:lnSpc>
              <a:spcBef>
                <a:spcPts val="0"/>
              </a:spcBef>
              <a:spcAft>
                <a:spcPts val="0"/>
              </a:spcAft>
              <a:buNone/>
            </a:pPr>
            <a:r>
              <a:rPr lang="en-US" sz="2000">
                <a:solidFill>
                  <a:schemeClr val="dk1"/>
                </a:solidFill>
              </a:rPr>
              <a:t>           'email' =&gt; 'test@gmail.com',</a:t>
            </a:r>
            <a:endParaRPr sz="2000">
              <a:solidFill>
                <a:schemeClr val="dk1"/>
              </a:solidFill>
            </a:endParaRPr>
          </a:p>
          <a:p>
            <a:pPr indent="0" lvl="0" marL="1371600" rtl="0" algn="l">
              <a:lnSpc>
                <a:spcPct val="100000"/>
              </a:lnSpc>
              <a:spcBef>
                <a:spcPts val="0"/>
              </a:spcBef>
              <a:spcAft>
                <a:spcPts val="0"/>
              </a:spcAft>
              <a:buNone/>
            </a:pPr>
            <a:r>
              <a:rPr lang="en-US" sz="2000">
                <a:solidFill>
                  <a:schemeClr val="dk1"/>
                </a:solidFill>
              </a:rPr>
              <a:t>           'age' =&gt; 22</a:t>
            </a:r>
            <a:endParaRPr sz="2000">
              <a:solidFill>
                <a:schemeClr val="dk1"/>
              </a:solidFill>
            </a:endParaRPr>
          </a:p>
          <a:p>
            <a:pPr indent="0" lvl="0" marL="1371600" rtl="0" algn="l">
              <a:lnSpc>
                <a:spcPct val="100000"/>
              </a:lnSpc>
              <a:spcBef>
                <a:spcPts val="0"/>
              </a:spcBef>
              <a:spcAft>
                <a:spcPts val="0"/>
              </a:spcAft>
              <a:buNone/>
            </a:pPr>
            <a:r>
              <a:rPr lang="en-US" sz="2000">
                <a:solidFill>
                  <a:schemeClr val="dk1"/>
                </a:solidFill>
              </a:rPr>
              <a:t>       ]);</a:t>
            </a:r>
            <a:endParaRPr sz="2000">
              <a:solidFill>
                <a:schemeClr val="dk1"/>
              </a:solidFill>
            </a:endParaRPr>
          </a:p>
          <a:p>
            <a:pPr indent="0" lvl="0" marL="914400" rtl="0" algn="l">
              <a:lnSpc>
                <a:spcPct val="100000"/>
              </a:lnSpc>
              <a:spcBef>
                <a:spcPts val="0"/>
              </a:spcBef>
              <a:spcAft>
                <a:spcPts val="0"/>
              </a:spcAft>
              <a:buNone/>
            </a:pPr>
            <a:r>
              <a:rPr lang="en-US" sz="2000">
                <a:solidFill>
                  <a:schemeClr val="dk1"/>
                </a:solidFill>
              </a:rPr>
              <a:t>    return "Inserted into </a:t>
            </a:r>
            <a:r>
              <a:rPr lang="en-US" sz="2000">
                <a:solidFill>
                  <a:schemeClr val="dk1"/>
                </a:solidFill>
              </a:rPr>
              <a:t>MongoDB"</a:t>
            </a:r>
            <a:endParaRPr sz="2000">
              <a:solidFill>
                <a:schemeClr val="dk1"/>
              </a:solidFill>
            </a:endParaRPr>
          </a:p>
          <a:p>
            <a:pPr indent="0" lvl="0" marL="457200" rtl="0" algn="l">
              <a:lnSpc>
                <a:spcPct val="100000"/>
              </a:lnSpc>
              <a:spcBef>
                <a:spcPts val="0"/>
              </a:spcBef>
              <a:spcAft>
                <a:spcPts val="0"/>
              </a:spcAft>
              <a:buNone/>
            </a:pPr>
            <a:r>
              <a:rPr lang="en-US" sz="2000">
                <a:solidFill>
                  <a:schemeClr val="dk1"/>
                </a:solidFill>
              </a:rPr>
              <a:t>   }</a:t>
            </a:r>
            <a:endParaRPr sz="2000">
              <a:solidFill>
                <a:schemeClr val="dk1"/>
              </a:solidFill>
            </a:endParaRPr>
          </a:p>
          <a:p>
            <a:pPr indent="0" lvl="0" marL="457200" rtl="0" algn="l">
              <a:lnSpc>
                <a:spcPct val="100000"/>
              </a:lnSpc>
              <a:spcBef>
                <a:spcPts val="0"/>
              </a:spcBef>
              <a:spcAft>
                <a:spcPts val="0"/>
              </a:spcAft>
              <a:buNone/>
            </a:pPr>
            <a:r>
              <a:rPr lang="en-US" sz="2000">
                <a:solidFill>
                  <a:schemeClr val="dk1"/>
                </a:solidFill>
              </a:rPr>
              <a:t>   public function </a:t>
            </a:r>
            <a:r>
              <a:rPr lang="en-US" sz="2000">
                <a:solidFill>
                  <a:schemeClr val="dk1"/>
                </a:solidFill>
              </a:rPr>
              <a:t>getData() {</a:t>
            </a:r>
            <a:endParaRPr sz="2000">
              <a:solidFill>
                <a:schemeClr val="dk1"/>
              </a:solidFill>
            </a:endParaRPr>
          </a:p>
          <a:p>
            <a:pPr indent="0" lvl="0" marL="0" rtl="0" algn="l">
              <a:lnSpc>
                <a:spcPct val="100000"/>
              </a:lnSpc>
              <a:spcBef>
                <a:spcPts val="0"/>
              </a:spcBef>
              <a:spcAft>
                <a:spcPts val="0"/>
              </a:spcAft>
              <a:buNone/>
            </a:pPr>
            <a:r>
              <a:rPr lang="en-US" sz="2000">
                <a:solidFill>
                  <a:schemeClr val="dk1"/>
                </a:solidFill>
              </a:rPr>
              <a:t>       	return Student::all();</a:t>
            </a:r>
            <a:endParaRPr sz="2000">
              <a:solidFill>
                <a:schemeClr val="dk1"/>
              </a:solidFill>
            </a:endParaRPr>
          </a:p>
          <a:p>
            <a:pPr indent="457200" lvl="0" marL="0" rtl="0" algn="l">
              <a:lnSpc>
                <a:spcPct val="100000"/>
              </a:lnSpc>
              <a:spcBef>
                <a:spcPts val="0"/>
              </a:spcBef>
              <a:spcAft>
                <a:spcPts val="0"/>
              </a:spcAft>
              <a:buNone/>
            </a:pPr>
            <a:r>
              <a:rPr lang="en-US" sz="2000">
                <a:solidFill>
                  <a:schemeClr val="dk1"/>
                </a:solidFill>
              </a:rPr>
              <a:t>}</a:t>
            </a:r>
            <a:endParaRPr sz="2000">
              <a:solidFill>
                <a:schemeClr val="dk1"/>
              </a:solidFill>
            </a:endParaRPr>
          </a:p>
          <a:p>
            <a:pPr indent="0" lvl="0" marL="0" rtl="0" algn="l">
              <a:lnSpc>
                <a:spcPct val="100000"/>
              </a:lnSpc>
              <a:spcBef>
                <a:spcPts val="0"/>
              </a:spcBef>
              <a:spcAft>
                <a:spcPts val="0"/>
              </a:spcAft>
              <a:buNone/>
            </a:pPr>
            <a:r>
              <a:rPr lang="en-US" sz="2000">
                <a:solidFill>
                  <a:schemeClr val="dk1"/>
                </a:solidFill>
              </a:rPr>
              <a:t>}</a:t>
            </a:r>
            <a:endParaRPr sz="20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id="223" name="Google Shape;223;g3da4f68f186_0_32"/>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224" name="Google Shape;224;g3da4f68f186_0_32"/>
          <p:cNvSpPr txBox="1"/>
          <p:nvPr/>
        </p:nvSpPr>
        <p:spPr>
          <a:xfrm>
            <a:off x="323600" y="0"/>
            <a:ext cx="7737900" cy="5388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Clr>
                <a:schemeClr val="dk1"/>
              </a:buClr>
              <a:buSzPts val="1100"/>
              <a:buFont typeface="Arial"/>
              <a:buNone/>
            </a:pPr>
            <a:r>
              <a:t/>
            </a:r>
            <a:endParaRPr b="1" sz="2300">
              <a:solidFill>
                <a:schemeClr val="dk1"/>
              </a:solidFill>
            </a:endParaRPr>
          </a:p>
        </p:txBody>
      </p:sp>
      <p:sp>
        <p:nvSpPr>
          <p:cNvPr id="225" name="Google Shape;225;g3da4f68f186_0_32"/>
          <p:cNvSpPr txBox="1"/>
          <p:nvPr/>
        </p:nvSpPr>
        <p:spPr>
          <a:xfrm>
            <a:off x="0" y="0"/>
            <a:ext cx="10998900" cy="68862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2400"/>
              </a:spcBef>
              <a:spcAft>
                <a:spcPts val="0"/>
              </a:spcAft>
              <a:buNone/>
            </a:pPr>
            <a:r>
              <a:rPr b="1" lang="en-US" sz="2500">
                <a:solidFill>
                  <a:schemeClr val="dk1"/>
                </a:solidFill>
              </a:rPr>
              <a:t>STEP 9: Routes: </a:t>
            </a:r>
            <a:r>
              <a:rPr lang="en-US" sz="2000">
                <a:solidFill>
                  <a:srgbClr val="188038"/>
                </a:solidFill>
                <a:latin typeface="Roboto Mono"/>
                <a:ea typeface="Roboto Mono"/>
                <a:cs typeface="Roboto Mono"/>
                <a:sym typeface="Roboto Mono"/>
              </a:rPr>
              <a:t>routes/web.php</a:t>
            </a:r>
            <a:endParaRPr sz="2000">
              <a:solidFill>
                <a:srgbClr val="188038"/>
              </a:solidFill>
              <a:latin typeface="Roboto Mono"/>
              <a:ea typeface="Roboto Mono"/>
              <a:cs typeface="Roboto Mono"/>
              <a:sym typeface="Roboto Mono"/>
            </a:endParaRPr>
          </a:p>
          <a:p>
            <a:pPr indent="0" lvl="0" marL="914400" rtl="0" algn="l">
              <a:lnSpc>
                <a:spcPct val="115000"/>
              </a:lnSpc>
              <a:spcBef>
                <a:spcPts val="600"/>
              </a:spcBef>
              <a:spcAft>
                <a:spcPts val="0"/>
              </a:spcAft>
              <a:buNone/>
            </a:pPr>
            <a:r>
              <a:rPr lang="en-US" sz="2000">
                <a:solidFill>
                  <a:schemeClr val="dk1"/>
                </a:solidFill>
              </a:rPr>
              <a:t>use App\Http\Controllers\StudentController;</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Route::get('/insert', [StudentController::class, 'insert']);</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Route::get('/students', [StudentController::class, 'getData']);</a:t>
            </a:r>
            <a:endParaRPr sz="2000">
              <a:solidFill>
                <a:schemeClr val="dk1"/>
              </a:solidFill>
            </a:endParaRPr>
          </a:p>
          <a:p>
            <a:pPr indent="0" lvl="0" marL="457200" rtl="0" algn="l">
              <a:lnSpc>
                <a:spcPct val="115000"/>
              </a:lnSpc>
              <a:spcBef>
                <a:spcPts val="0"/>
              </a:spcBef>
              <a:spcAft>
                <a:spcPts val="0"/>
              </a:spcAft>
              <a:buNone/>
            </a:pPr>
            <a:r>
              <a:rPr b="1" lang="en-US" sz="2300">
                <a:solidFill>
                  <a:schemeClr val="dk1"/>
                </a:solidFill>
              </a:rPr>
              <a:t>STEP 10: Start MongoDB Server: </a:t>
            </a:r>
            <a:r>
              <a:rPr lang="en-US" sz="2000">
                <a:solidFill>
                  <a:schemeClr val="dk1"/>
                </a:solidFill>
              </a:rPr>
              <a:t>mongod</a:t>
            </a:r>
            <a:endParaRPr sz="2000">
              <a:solidFill>
                <a:schemeClr val="dk1"/>
              </a:solidFill>
            </a:endParaRPr>
          </a:p>
          <a:p>
            <a:pPr indent="0" lvl="0" marL="457200" rtl="0" algn="l">
              <a:lnSpc>
                <a:spcPct val="115000"/>
              </a:lnSpc>
              <a:spcBef>
                <a:spcPts val="2400"/>
              </a:spcBef>
              <a:spcAft>
                <a:spcPts val="0"/>
              </a:spcAft>
              <a:buNone/>
            </a:pPr>
            <a:r>
              <a:rPr b="1" lang="en-US" sz="2300">
                <a:solidFill>
                  <a:schemeClr val="dk1"/>
                </a:solidFill>
              </a:rPr>
              <a:t>OUTPUT</a:t>
            </a:r>
            <a:endParaRPr b="1" sz="2300">
              <a:solidFill>
                <a:schemeClr val="dk1"/>
              </a:solidFill>
            </a:endParaRPr>
          </a:p>
          <a:p>
            <a:pPr indent="457200" lvl="0" marL="914400" rtl="0" algn="l">
              <a:lnSpc>
                <a:spcPct val="115000"/>
              </a:lnSpc>
              <a:spcBef>
                <a:spcPts val="600"/>
              </a:spcBef>
              <a:spcAft>
                <a:spcPts val="0"/>
              </a:spcAft>
              <a:buNone/>
            </a:pPr>
            <a:r>
              <a:rPr b="1" lang="en-US" sz="1800">
                <a:solidFill>
                  <a:schemeClr val="dk1"/>
                </a:solidFill>
              </a:rPr>
              <a:t>Insert: </a:t>
            </a:r>
            <a:r>
              <a:rPr lang="en-US" sz="1800" u="sng">
                <a:solidFill>
                  <a:schemeClr val="hlink"/>
                </a:solidFill>
                <a:hlinkClick r:id="rId4"/>
              </a:rPr>
              <a:t>http://127.0.0.1:8000/insert</a:t>
            </a:r>
            <a:endParaRPr sz="1800">
              <a:solidFill>
                <a:schemeClr val="dk1"/>
              </a:solidFill>
            </a:endParaRPr>
          </a:p>
          <a:p>
            <a:pPr indent="457200" lvl="0" marL="914400" rtl="0" algn="l">
              <a:lnSpc>
                <a:spcPct val="115000"/>
              </a:lnSpc>
              <a:spcBef>
                <a:spcPts val="0"/>
              </a:spcBef>
              <a:spcAft>
                <a:spcPts val="0"/>
              </a:spcAft>
              <a:buNone/>
            </a:pPr>
            <a:r>
              <a:rPr lang="en-US" sz="1800">
                <a:solidFill>
                  <a:schemeClr val="dk1"/>
                </a:solidFill>
              </a:rPr>
              <a:t>Output:   nserted into MongoDB</a:t>
            </a:r>
            <a:endParaRPr sz="1800">
              <a:solidFill>
                <a:schemeClr val="dk1"/>
              </a:solidFill>
            </a:endParaRPr>
          </a:p>
          <a:p>
            <a:pPr indent="457200" lvl="0" marL="914400" rtl="0" algn="l">
              <a:lnSpc>
                <a:spcPct val="100000"/>
              </a:lnSpc>
              <a:spcBef>
                <a:spcPts val="1800"/>
              </a:spcBef>
              <a:spcAft>
                <a:spcPts val="0"/>
              </a:spcAft>
              <a:buNone/>
            </a:pPr>
            <a:r>
              <a:rPr b="1" lang="en-US" sz="1800">
                <a:solidFill>
                  <a:schemeClr val="dk1"/>
                </a:solidFill>
              </a:rPr>
              <a:t>Fetch Data: </a:t>
            </a:r>
            <a:r>
              <a:rPr lang="en-US" sz="1800" u="sng">
                <a:solidFill>
                  <a:schemeClr val="hlink"/>
                </a:solidFill>
                <a:hlinkClick r:id="rId5"/>
              </a:rPr>
              <a:t>http://127.0.0.1:8000/student</a:t>
            </a:r>
            <a:r>
              <a:rPr lang="en-US" sz="1800" u="sng">
                <a:solidFill>
                  <a:schemeClr val="hlink"/>
                </a:solidFill>
                <a:hlinkClick r:id="rId6"/>
              </a:rPr>
              <a:t>s</a:t>
            </a:r>
            <a:endParaRPr sz="1800">
              <a:solidFill>
                <a:schemeClr val="dk1"/>
              </a:solidFill>
            </a:endParaRPr>
          </a:p>
          <a:p>
            <a:pPr indent="457200" lvl="0" marL="914400" rtl="0" algn="l">
              <a:lnSpc>
                <a:spcPct val="100000"/>
              </a:lnSpc>
              <a:spcBef>
                <a:spcPts val="1800"/>
              </a:spcBef>
              <a:spcAft>
                <a:spcPts val="0"/>
              </a:spcAft>
              <a:buNone/>
            </a:pPr>
            <a:r>
              <a:rPr lang="en-US" sz="1800">
                <a:solidFill>
                  <a:schemeClr val="dk1"/>
                </a:solidFill>
              </a:rPr>
              <a:t>Output:</a:t>
            </a:r>
            <a:endParaRPr sz="1800">
              <a:solidFill>
                <a:schemeClr val="dk1"/>
              </a:solidFill>
            </a:endParaRPr>
          </a:p>
          <a:p>
            <a:pPr indent="0" lvl="0" marL="1371600" rtl="0" algn="l">
              <a:lnSpc>
                <a:spcPct val="100000"/>
              </a:lnSpc>
              <a:spcBef>
                <a:spcPts val="400"/>
              </a:spcBef>
              <a:spcAft>
                <a:spcPts val="0"/>
              </a:spcAft>
              <a:buNone/>
            </a:pPr>
            <a:r>
              <a:rPr lang="en-US" sz="1800">
                <a:solidFill>
                  <a:schemeClr val="dk1"/>
                </a:solidFill>
              </a:rPr>
              <a:t>[</a:t>
            </a:r>
            <a:endParaRPr sz="1800">
              <a:solidFill>
                <a:schemeClr val="dk1"/>
              </a:solidFill>
            </a:endParaRPr>
          </a:p>
          <a:p>
            <a:pPr indent="0" lvl="0" marL="1371600" rtl="0" algn="l">
              <a:lnSpc>
                <a:spcPct val="100000"/>
              </a:lnSpc>
              <a:spcBef>
                <a:spcPts val="0"/>
              </a:spcBef>
              <a:spcAft>
                <a:spcPts val="0"/>
              </a:spcAft>
              <a:buNone/>
            </a:pPr>
            <a:r>
              <a:rPr lang="en-US" sz="1800">
                <a:solidFill>
                  <a:schemeClr val="dk1"/>
                </a:solidFill>
              </a:rPr>
              <a:t> {</a:t>
            </a:r>
            <a:endParaRPr sz="1800">
              <a:solidFill>
                <a:schemeClr val="dk1"/>
              </a:solidFill>
            </a:endParaRPr>
          </a:p>
          <a:p>
            <a:pPr indent="0" lvl="0" marL="1371600" rtl="0" algn="l">
              <a:lnSpc>
                <a:spcPct val="100000"/>
              </a:lnSpc>
              <a:spcBef>
                <a:spcPts val="0"/>
              </a:spcBef>
              <a:spcAft>
                <a:spcPts val="0"/>
              </a:spcAft>
              <a:buNone/>
            </a:pPr>
            <a:r>
              <a:rPr lang="en-US" sz="1800">
                <a:solidFill>
                  <a:schemeClr val="dk1"/>
                </a:solidFill>
              </a:rPr>
              <a:t>   "_id": "abc123",</a:t>
            </a:r>
            <a:endParaRPr sz="1800">
              <a:solidFill>
                <a:schemeClr val="dk1"/>
              </a:solidFill>
            </a:endParaRPr>
          </a:p>
          <a:p>
            <a:pPr indent="0" lvl="0" marL="1371600" rtl="0" algn="l">
              <a:lnSpc>
                <a:spcPct val="100000"/>
              </a:lnSpc>
              <a:spcBef>
                <a:spcPts val="0"/>
              </a:spcBef>
              <a:spcAft>
                <a:spcPts val="0"/>
              </a:spcAft>
              <a:buNone/>
            </a:pPr>
            <a:r>
              <a:rPr lang="en-US" sz="1800">
                <a:solidFill>
                  <a:schemeClr val="dk1"/>
                </a:solidFill>
              </a:rPr>
              <a:t>   "name": "Rabaab",</a:t>
            </a:r>
            <a:endParaRPr sz="1800">
              <a:solidFill>
                <a:schemeClr val="dk1"/>
              </a:solidFill>
            </a:endParaRPr>
          </a:p>
          <a:p>
            <a:pPr indent="0" lvl="0" marL="1371600" rtl="0" algn="l">
              <a:lnSpc>
                <a:spcPct val="100000"/>
              </a:lnSpc>
              <a:spcBef>
                <a:spcPts val="0"/>
              </a:spcBef>
              <a:spcAft>
                <a:spcPts val="0"/>
              </a:spcAft>
              <a:buNone/>
            </a:pPr>
            <a:r>
              <a:rPr lang="en-US" sz="1800">
                <a:solidFill>
                  <a:schemeClr val="dk1"/>
                </a:solidFill>
              </a:rPr>
              <a:t>   "email": "test@gmail.com",</a:t>
            </a:r>
            <a:endParaRPr sz="1800">
              <a:solidFill>
                <a:schemeClr val="dk1"/>
              </a:solidFill>
            </a:endParaRPr>
          </a:p>
          <a:p>
            <a:pPr indent="0" lvl="0" marL="1371600" rtl="0" algn="l">
              <a:lnSpc>
                <a:spcPct val="100000"/>
              </a:lnSpc>
              <a:spcBef>
                <a:spcPts val="0"/>
              </a:spcBef>
              <a:spcAft>
                <a:spcPts val="0"/>
              </a:spcAft>
              <a:buNone/>
            </a:pPr>
            <a:r>
              <a:rPr lang="en-US" sz="1800">
                <a:solidFill>
                  <a:schemeClr val="dk1"/>
                </a:solidFill>
              </a:rPr>
              <a:t>   "age": 22</a:t>
            </a:r>
            <a:endParaRPr sz="1800">
              <a:solidFill>
                <a:schemeClr val="dk1"/>
              </a:solidFill>
            </a:endParaRPr>
          </a:p>
          <a:p>
            <a:pPr indent="0" lvl="0" marL="1371600" rtl="0" algn="l">
              <a:lnSpc>
                <a:spcPct val="100000"/>
              </a:lnSpc>
              <a:spcBef>
                <a:spcPts val="0"/>
              </a:spcBef>
              <a:spcAft>
                <a:spcPts val="0"/>
              </a:spcAft>
              <a:buNone/>
            </a:pPr>
            <a:r>
              <a:rPr lang="en-US" sz="1800">
                <a:solidFill>
                  <a:schemeClr val="dk1"/>
                </a:solidFill>
              </a:rPr>
              <a:t> }</a:t>
            </a:r>
            <a:endParaRPr sz="1800">
              <a:solidFill>
                <a:schemeClr val="dk1"/>
              </a:solidFill>
            </a:endParaRPr>
          </a:p>
          <a:p>
            <a:pPr indent="0" lvl="0" marL="1371600" rtl="0" algn="l">
              <a:lnSpc>
                <a:spcPct val="100000"/>
              </a:lnSpc>
              <a:spcBef>
                <a:spcPts val="0"/>
              </a:spcBef>
              <a:spcAft>
                <a:spcPts val="0"/>
              </a:spcAft>
              <a:buNone/>
            </a:pPr>
            <a:r>
              <a:rPr lang="en-US" sz="1800">
                <a:solidFill>
                  <a:schemeClr val="dk1"/>
                </a:solidFill>
              </a:rPr>
              <a:t>]</a:t>
            </a:r>
            <a:endParaRPr sz="11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g3da4f68f186_0_27"/>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231" name="Google Shape;231;g3da4f68f186_0_27"/>
          <p:cNvSpPr txBox="1"/>
          <p:nvPr/>
        </p:nvSpPr>
        <p:spPr>
          <a:xfrm>
            <a:off x="323600" y="0"/>
            <a:ext cx="7737900" cy="5388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Clr>
                <a:schemeClr val="dk1"/>
              </a:buClr>
              <a:buSzPts val="1100"/>
              <a:buFont typeface="Arial"/>
              <a:buNone/>
            </a:pPr>
            <a:r>
              <a:t/>
            </a:r>
            <a:endParaRPr b="1" sz="2300">
              <a:solidFill>
                <a:schemeClr val="dk1"/>
              </a:solidFill>
            </a:endParaRPr>
          </a:p>
        </p:txBody>
      </p:sp>
      <p:sp>
        <p:nvSpPr>
          <p:cNvPr id="232" name="Google Shape;232;g3da4f68f186_0_27"/>
          <p:cNvSpPr txBox="1"/>
          <p:nvPr/>
        </p:nvSpPr>
        <p:spPr>
          <a:xfrm>
            <a:off x="0" y="0"/>
            <a:ext cx="12192000" cy="621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500">
                <a:solidFill>
                  <a:schemeClr val="dk1"/>
                </a:solidFill>
              </a:rPr>
              <a:t>HOW IT WORKS-&gt; </a:t>
            </a:r>
            <a:r>
              <a:rPr lang="en-US" sz="2500">
                <a:solidFill>
                  <a:schemeClr val="dk1"/>
                </a:solidFill>
              </a:rPr>
              <a:t>Laravel Model → MongoDB Collection → Document stored</a:t>
            </a:r>
            <a:endParaRPr sz="2500">
              <a:solidFill>
                <a:schemeClr val="dk1"/>
              </a:solidFill>
            </a:endParaRPr>
          </a:p>
          <a:p>
            <a:pPr indent="0" lvl="0" marL="457200" rtl="0" algn="l">
              <a:lnSpc>
                <a:spcPct val="115000"/>
              </a:lnSpc>
              <a:spcBef>
                <a:spcPts val="600"/>
              </a:spcBef>
              <a:spcAft>
                <a:spcPts val="0"/>
              </a:spcAft>
              <a:buNone/>
            </a:pPr>
            <a:r>
              <a:t/>
            </a:r>
            <a:endParaRPr b="1" sz="2500">
              <a:solidFill>
                <a:schemeClr val="dk1"/>
              </a:solidFill>
            </a:endParaRPr>
          </a:p>
          <a:p>
            <a:pPr indent="0" lvl="0" marL="457200" rtl="0" algn="l">
              <a:lnSpc>
                <a:spcPct val="115000"/>
              </a:lnSpc>
              <a:spcBef>
                <a:spcPts val="0"/>
              </a:spcBef>
              <a:spcAft>
                <a:spcPts val="0"/>
              </a:spcAft>
              <a:buNone/>
            </a:pPr>
            <a:r>
              <a:rPr b="1" lang="en-US" sz="2500">
                <a:solidFill>
                  <a:schemeClr val="dk1"/>
                </a:solidFill>
              </a:rPr>
              <a:t>PROJECT: Student CRUD</a:t>
            </a:r>
            <a:endParaRPr b="1" sz="2500">
              <a:solidFill>
                <a:schemeClr val="dk1"/>
              </a:solidFill>
            </a:endParaRPr>
          </a:p>
          <a:p>
            <a:pPr indent="0" lvl="0" marL="457200" rtl="0" algn="l">
              <a:lnSpc>
                <a:spcPct val="115000"/>
              </a:lnSpc>
              <a:spcBef>
                <a:spcPts val="0"/>
              </a:spcBef>
              <a:spcAft>
                <a:spcPts val="0"/>
              </a:spcAft>
              <a:buNone/>
            </a:pPr>
            <a:r>
              <a:rPr b="1" lang="en-US" sz="2500">
                <a:solidFill>
                  <a:schemeClr val="dk1"/>
                </a:solidFill>
              </a:rPr>
              <a:t>(MongoDB + Resource Controller + Query String)</a:t>
            </a:r>
            <a:endParaRPr b="1" sz="2500">
              <a:solidFill>
                <a:schemeClr val="dk1"/>
              </a:solidFill>
            </a:endParaRPr>
          </a:p>
          <a:p>
            <a:pPr indent="0" lvl="0" marL="457200" rtl="0" algn="l">
              <a:lnSpc>
                <a:spcPct val="100000"/>
              </a:lnSpc>
              <a:spcBef>
                <a:spcPts val="1800"/>
              </a:spcBef>
              <a:spcAft>
                <a:spcPts val="0"/>
              </a:spcAft>
              <a:buNone/>
            </a:pPr>
            <a:r>
              <a:rPr b="1" lang="en-US" sz="2500">
                <a:solidFill>
                  <a:schemeClr val="dk1"/>
                </a:solidFill>
              </a:rPr>
              <a:t>PROJECT IDEA</a:t>
            </a:r>
            <a:endParaRPr sz="2500">
              <a:solidFill>
                <a:schemeClr val="dk1"/>
              </a:solidFill>
            </a:endParaRPr>
          </a:p>
          <a:p>
            <a:pPr indent="-387350" lvl="0" marL="914400" rtl="0" algn="l">
              <a:lnSpc>
                <a:spcPct val="100000"/>
              </a:lnSpc>
              <a:spcBef>
                <a:spcPts val="1200"/>
              </a:spcBef>
              <a:spcAft>
                <a:spcPts val="0"/>
              </a:spcAft>
              <a:buClr>
                <a:schemeClr val="dk1"/>
              </a:buClr>
              <a:buSzPts val="2500"/>
              <a:buChar char="●"/>
            </a:pPr>
            <a:r>
              <a:rPr lang="en-US" sz="2500">
                <a:solidFill>
                  <a:schemeClr val="dk1"/>
                </a:solidFill>
              </a:rPr>
              <a:t>Use </a:t>
            </a:r>
            <a:r>
              <a:rPr b="1" lang="en-US" sz="2500">
                <a:solidFill>
                  <a:schemeClr val="dk1"/>
                </a:solidFill>
              </a:rPr>
              <a:t>MongoDB database</a:t>
            </a:r>
            <a:endParaRPr b="1" sz="2500">
              <a:solidFill>
                <a:schemeClr val="dk1"/>
              </a:solidFill>
            </a:endParaRPr>
          </a:p>
          <a:p>
            <a:pPr indent="-387350" lvl="0" marL="914400" rtl="0" algn="l">
              <a:lnSpc>
                <a:spcPct val="100000"/>
              </a:lnSpc>
              <a:spcBef>
                <a:spcPts val="0"/>
              </a:spcBef>
              <a:spcAft>
                <a:spcPts val="0"/>
              </a:spcAft>
              <a:buClr>
                <a:schemeClr val="dk1"/>
              </a:buClr>
              <a:buSzPts val="2500"/>
              <a:buChar char="●"/>
            </a:pPr>
            <a:r>
              <a:rPr lang="en-US" sz="2500">
                <a:solidFill>
                  <a:schemeClr val="dk1"/>
                </a:solidFill>
              </a:rPr>
              <a:t>Use </a:t>
            </a:r>
            <a:r>
              <a:rPr b="1" lang="en-US" sz="2500">
                <a:solidFill>
                  <a:schemeClr val="dk1"/>
                </a:solidFill>
              </a:rPr>
              <a:t>Resource Controller</a:t>
            </a:r>
            <a:endParaRPr b="1" sz="2500">
              <a:solidFill>
                <a:schemeClr val="dk1"/>
              </a:solidFill>
            </a:endParaRPr>
          </a:p>
          <a:p>
            <a:pPr indent="-387350" lvl="0" marL="914400" rtl="0" algn="l">
              <a:lnSpc>
                <a:spcPct val="100000"/>
              </a:lnSpc>
              <a:spcBef>
                <a:spcPts val="0"/>
              </a:spcBef>
              <a:spcAft>
                <a:spcPts val="0"/>
              </a:spcAft>
              <a:buClr>
                <a:schemeClr val="dk1"/>
              </a:buClr>
              <a:buSzPts val="2500"/>
              <a:buChar char="●"/>
            </a:pPr>
            <a:r>
              <a:rPr lang="en-US" sz="2500">
                <a:solidFill>
                  <a:schemeClr val="dk1"/>
                </a:solidFill>
              </a:rPr>
              <a:t>Use </a:t>
            </a:r>
            <a:r>
              <a:rPr b="1" lang="en-US" sz="2500">
                <a:solidFill>
                  <a:schemeClr val="dk1"/>
                </a:solidFill>
              </a:rPr>
              <a:t>Query String (</a:t>
            </a:r>
            <a:r>
              <a:rPr b="1" lang="en-US" sz="2500">
                <a:solidFill>
                  <a:srgbClr val="188038"/>
                </a:solidFill>
                <a:latin typeface="Roboto Mono"/>
                <a:ea typeface="Roboto Mono"/>
                <a:cs typeface="Roboto Mono"/>
                <a:sym typeface="Roboto Mono"/>
              </a:rPr>
              <a:t>?id=1</a:t>
            </a:r>
            <a:r>
              <a:rPr b="1" lang="en-US" sz="2500">
                <a:solidFill>
                  <a:schemeClr val="dk1"/>
                </a:solidFill>
              </a:rPr>
              <a:t>) instead of route params</a:t>
            </a:r>
            <a:endParaRPr b="1" sz="2500">
              <a:solidFill>
                <a:schemeClr val="dk1"/>
              </a:solidFill>
            </a:endParaRPr>
          </a:p>
          <a:p>
            <a:pPr indent="-387350" lvl="0" marL="914400" rtl="0" algn="l">
              <a:lnSpc>
                <a:spcPct val="100000"/>
              </a:lnSpc>
              <a:spcBef>
                <a:spcPts val="0"/>
              </a:spcBef>
              <a:spcAft>
                <a:spcPts val="0"/>
              </a:spcAft>
              <a:buClr>
                <a:schemeClr val="dk1"/>
              </a:buClr>
              <a:buSzPts val="2500"/>
              <a:buChar char="●"/>
            </a:pPr>
            <a:r>
              <a:rPr lang="en-US" sz="2500">
                <a:solidFill>
                  <a:schemeClr val="dk1"/>
                </a:solidFill>
              </a:rPr>
              <a:t>Perform </a:t>
            </a:r>
            <a:r>
              <a:rPr b="1" lang="en-US" sz="2500">
                <a:solidFill>
                  <a:schemeClr val="dk1"/>
                </a:solidFill>
              </a:rPr>
              <a:t>CRUD operations</a:t>
            </a:r>
            <a:endParaRPr b="1" sz="2500">
              <a:solidFill>
                <a:schemeClr val="dk1"/>
              </a:solidFill>
            </a:endParaRPr>
          </a:p>
          <a:p>
            <a:pPr indent="0" lvl="0" marL="457200" rtl="0" algn="l">
              <a:lnSpc>
                <a:spcPct val="115000"/>
              </a:lnSpc>
              <a:spcBef>
                <a:spcPts val="2400"/>
              </a:spcBef>
              <a:spcAft>
                <a:spcPts val="0"/>
              </a:spcAft>
              <a:buNone/>
            </a:pPr>
            <a:r>
              <a:rPr b="1" lang="en-US" sz="2500">
                <a:solidFill>
                  <a:schemeClr val="dk1"/>
                </a:solidFill>
              </a:rPr>
              <a:t>STEP 1: Create Project: </a:t>
            </a:r>
            <a:r>
              <a:rPr lang="en-US" sz="2000">
                <a:solidFill>
                  <a:schemeClr val="dk1"/>
                </a:solidFill>
              </a:rPr>
              <a:t>composer create-project laravel/laravel mongo-query-crud</a:t>
            </a:r>
            <a:endParaRPr sz="2000">
              <a:solidFill>
                <a:schemeClr val="dk1"/>
              </a:solidFill>
            </a:endParaRPr>
          </a:p>
          <a:p>
            <a:pPr indent="457200" lvl="0" marL="3657600" rtl="0" algn="l">
              <a:lnSpc>
                <a:spcPct val="115000"/>
              </a:lnSpc>
              <a:spcBef>
                <a:spcPts val="600"/>
              </a:spcBef>
              <a:spcAft>
                <a:spcPts val="0"/>
              </a:spcAft>
              <a:buNone/>
            </a:pPr>
            <a:r>
              <a:rPr lang="en-US" sz="2000">
                <a:solidFill>
                  <a:schemeClr val="dk1"/>
                </a:solidFill>
              </a:rPr>
              <a:t>cd mongo-query-crud</a:t>
            </a:r>
            <a:endParaRPr sz="2000">
              <a:solidFill>
                <a:schemeClr val="dk1"/>
              </a:solidFill>
            </a:endParaRPr>
          </a:p>
          <a:p>
            <a:pPr indent="0" lvl="0" marL="457200" rtl="0" algn="l">
              <a:lnSpc>
                <a:spcPct val="115000"/>
              </a:lnSpc>
              <a:spcBef>
                <a:spcPts val="2400"/>
              </a:spcBef>
              <a:spcAft>
                <a:spcPts val="600"/>
              </a:spcAft>
              <a:buNone/>
            </a:pPr>
            <a:r>
              <a:rPr b="1" lang="en-US" sz="2500">
                <a:solidFill>
                  <a:schemeClr val="dk1"/>
                </a:solidFill>
              </a:rPr>
              <a:t>STEP 2: Install MongoDB Package: </a:t>
            </a:r>
            <a:r>
              <a:rPr lang="en-US" sz="2000">
                <a:solidFill>
                  <a:schemeClr val="dk1"/>
                </a:solidFill>
              </a:rPr>
              <a:t>composer require mongodb/laravel-mongodb</a:t>
            </a:r>
            <a:endParaRPr sz="20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g3da4f68f186_0_51"/>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238" name="Google Shape;238;g3da4f68f186_0_51"/>
          <p:cNvSpPr txBox="1"/>
          <p:nvPr/>
        </p:nvSpPr>
        <p:spPr>
          <a:xfrm>
            <a:off x="323600" y="0"/>
            <a:ext cx="7737900" cy="5388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Clr>
                <a:schemeClr val="dk1"/>
              </a:buClr>
              <a:buSzPts val="1100"/>
              <a:buFont typeface="Arial"/>
              <a:buNone/>
            </a:pPr>
            <a:r>
              <a:t/>
            </a:r>
            <a:endParaRPr b="1" sz="2300">
              <a:solidFill>
                <a:schemeClr val="dk1"/>
              </a:solidFill>
            </a:endParaRPr>
          </a:p>
        </p:txBody>
      </p:sp>
      <p:sp>
        <p:nvSpPr>
          <p:cNvPr id="239" name="Google Shape;239;g3da4f68f186_0_51"/>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240" name="Google Shape;240;g3da4f68f186_0_51"/>
          <p:cNvSpPr txBox="1"/>
          <p:nvPr/>
        </p:nvSpPr>
        <p:spPr>
          <a:xfrm>
            <a:off x="0" y="0"/>
            <a:ext cx="11251500" cy="6609600"/>
          </a:xfrm>
          <a:prstGeom prst="rect">
            <a:avLst/>
          </a:prstGeom>
          <a:noFill/>
          <a:ln>
            <a:noFill/>
          </a:ln>
        </p:spPr>
        <p:txBody>
          <a:bodyPr anchorCtr="0" anchor="t" bIns="91425" lIns="91425" spcFirstLastPara="1" rIns="91425" wrap="square" tIns="91425">
            <a:spAutoFit/>
          </a:bodyPr>
          <a:lstStyle/>
          <a:p>
            <a:pPr indent="0" lvl="0" marL="457200" rtl="0" algn="l">
              <a:lnSpc>
                <a:spcPct val="100000"/>
              </a:lnSpc>
              <a:spcBef>
                <a:spcPts val="2400"/>
              </a:spcBef>
              <a:spcAft>
                <a:spcPts val="0"/>
              </a:spcAft>
              <a:buNone/>
            </a:pPr>
            <a:r>
              <a:rPr b="1" lang="en-US" sz="2300">
                <a:solidFill>
                  <a:schemeClr val="dk1"/>
                </a:solidFill>
              </a:rPr>
              <a:t> STEP 3: Configure </a:t>
            </a:r>
            <a:r>
              <a:rPr b="1" lang="en-US" sz="2300">
                <a:solidFill>
                  <a:srgbClr val="188038"/>
                </a:solidFill>
                <a:latin typeface="Roboto Mono"/>
                <a:ea typeface="Roboto Mono"/>
                <a:cs typeface="Roboto Mono"/>
                <a:sym typeface="Roboto Mono"/>
              </a:rPr>
              <a:t>.env</a:t>
            </a:r>
            <a:endParaRPr b="1" sz="2300">
              <a:solidFill>
                <a:srgbClr val="188038"/>
              </a:solidFill>
              <a:latin typeface="Roboto Mono"/>
              <a:ea typeface="Roboto Mono"/>
              <a:cs typeface="Roboto Mono"/>
              <a:sym typeface="Roboto Mono"/>
            </a:endParaRPr>
          </a:p>
          <a:p>
            <a:pPr indent="0" lvl="0" marL="1371600" rtl="0" algn="l">
              <a:lnSpc>
                <a:spcPct val="100000"/>
              </a:lnSpc>
              <a:spcBef>
                <a:spcPts val="600"/>
              </a:spcBef>
              <a:spcAft>
                <a:spcPts val="0"/>
              </a:spcAft>
              <a:buNone/>
            </a:pPr>
            <a:r>
              <a:rPr lang="en-US" sz="1600">
                <a:solidFill>
                  <a:schemeClr val="dk1"/>
                </a:solidFill>
              </a:rPr>
              <a:t>DB_CONNECTION=mongodb</a:t>
            </a:r>
            <a:endParaRPr sz="1600">
              <a:solidFill>
                <a:schemeClr val="dk1"/>
              </a:solidFill>
            </a:endParaRPr>
          </a:p>
          <a:p>
            <a:pPr indent="0" lvl="0" marL="1371600" rtl="0" algn="l">
              <a:lnSpc>
                <a:spcPct val="100000"/>
              </a:lnSpc>
              <a:spcBef>
                <a:spcPts val="0"/>
              </a:spcBef>
              <a:spcAft>
                <a:spcPts val="0"/>
              </a:spcAft>
              <a:buNone/>
            </a:pPr>
            <a:r>
              <a:rPr lang="en-US" sz="1600">
                <a:solidFill>
                  <a:schemeClr val="dk1"/>
                </a:solidFill>
              </a:rPr>
              <a:t>DB_HOST=127.0.0.1</a:t>
            </a:r>
            <a:endParaRPr sz="1600">
              <a:solidFill>
                <a:schemeClr val="dk1"/>
              </a:solidFill>
            </a:endParaRPr>
          </a:p>
          <a:p>
            <a:pPr indent="0" lvl="0" marL="1371600" rtl="0" algn="l">
              <a:lnSpc>
                <a:spcPct val="100000"/>
              </a:lnSpc>
              <a:spcBef>
                <a:spcPts val="0"/>
              </a:spcBef>
              <a:spcAft>
                <a:spcPts val="0"/>
              </a:spcAft>
              <a:buNone/>
            </a:pPr>
            <a:r>
              <a:rPr lang="en-US" sz="1600">
                <a:solidFill>
                  <a:schemeClr val="dk1"/>
                </a:solidFill>
              </a:rPr>
              <a:t>DB_PORT=27017</a:t>
            </a:r>
            <a:endParaRPr sz="1600">
              <a:solidFill>
                <a:schemeClr val="dk1"/>
              </a:solidFill>
            </a:endParaRPr>
          </a:p>
          <a:p>
            <a:pPr indent="0" lvl="0" marL="1371600" rtl="0" algn="l">
              <a:lnSpc>
                <a:spcPct val="100000"/>
              </a:lnSpc>
              <a:spcBef>
                <a:spcPts val="0"/>
              </a:spcBef>
              <a:spcAft>
                <a:spcPts val="0"/>
              </a:spcAft>
              <a:buNone/>
            </a:pPr>
            <a:r>
              <a:rPr lang="en-US" sz="1600">
                <a:solidFill>
                  <a:schemeClr val="dk1"/>
                </a:solidFill>
              </a:rPr>
              <a:t>DB_DATABASE=student_db</a:t>
            </a:r>
            <a:endParaRPr sz="1600">
              <a:solidFill>
                <a:schemeClr val="dk1"/>
              </a:solidFill>
            </a:endParaRPr>
          </a:p>
          <a:p>
            <a:pPr indent="0" lvl="0" marL="457200" rtl="0" algn="l">
              <a:lnSpc>
                <a:spcPct val="100000"/>
              </a:lnSpc>
              <a:spcBef>
                <a:spcPts val="2400"/>
              </a:spcBef>
              <a:spcAft>
                <a:spcPts val="0"/>
              </a:spcAft>
              <a:buNone/>
            </a:pPr>
            <a:r>
              <a:rPr b="1" lang="en-US" sz="2300">
                <a:solidFill>
                  <a:schemeClr val="dk1"/>
                </a:solidFill>
              </a:rPr>
              <a:t>STEP 4: Configure </a:t>
            </a:r>
            <a:r>
              <a:rPr b="1" lang="en-US" sz="2300">
                <a:solidFill>
                  <a:srgbClr val="188038"/>
                </a:solidFill>
                <a:latin typeface="Roboto Mono"/>
                <a:ea typeface="Roboto Mono"/>
                <a:cs typeface="Roboto Mono"/>
                <a:sym typeface="Roboto Mono"/>
              </a:rPr>
              <a:t>database.php</a:t>
            </a:r>
            <a:endParaRPr b="1" sz="2300">
              <a:solidFill>
                <a:srgbClr val="188038"/>
              </a:solidFill>
              <a:latin typeface="Roboto Mono"/>
              <a:ea typeface="Roboto Mono"/>
              <a:cs typeface="Roboto Mono"/>
              <a:sym typeface="Roboto Mono"/>
            </a:endParaRPr>
          </a:p>
          <a:p>
            <a:pPr indent="0" lvl="0" marL="1371600" rtl="0" algn="l">
              <a:lnSpc>
                <a:spcPct val="115000"/>
              </a:lnSpc>
              <a:spcBef>
                <a:spcPts val="600"/>
              </a:spcBef>
              <a:spcAft>
                <a:spcPts val="0"/>
              </a:spcAft>
              <a:buNone/>
            </a:pPr>
            <a:r>
              <a:rPr lang="en-US" sz="1600">
                <a:solidFill>
                  <a:schemeClr val="dk1"/>
                </a:solidFill>
              </a:rPr>
              <a:t>'mongodb' =&gt; [</a:t>
            </a:r>
            <a:endParaRPr sz="1600">
              <a:solidFill>
                <a:schemeClr val="dk1"/>
              </a:solidFill>
            </a:endParaRPr>
          </a:p>
          <a:p>
            <a:pPr indent="0" lvl="0" marL="1371600" rtl="0" algn="l">
              <a:lnSpc>
                <a:spcPct val="115000"/>
              </a:lnSpc>
              <a:spcBef>
                <a:spcPts val="0"/>
              </a:spcBef>
              <a:spcAft>
                <a:spcPts val="0"/>
              </a:spcAft>
              <a:buNone/>
            </a:pPr>
            <a:r>
              <a:rPr lang="en-US" sz="1600">
                <a:solidFill>
                  <a:schemeClr val="dk1"/>
                </a:solidFill>
              </a:rPr>
              <a:t>   'driver' =&gt; 'mongodb',</a:t>
            </a:r>
            <a:endParaRPr sz="1600">
              <a:solidFill>
                <a:schemeClr val="dk1"/>
              </a:solidFill>
            </a:endParaRPr>
          </a:p>
          <a:p>
            <a:pPr indent="0" lvl="0" marL="1371600" rtl="0" algn="l">
              <a:lnSpc>
                <a:spcPct val="115000"/>
              </a:lnSpc>
              <a:spcBef>
                <a:spcPts val="0"/>
              </a:spcBef>
              <a:spcAft>
                <a:spcPts val="0"/>
              </a:spcAft>
              <a:buNone/>
            </a:pPr>
            <a:r>
              <a:rPr lang="en-US" sz="1600">
                <a:solidFill>
                  <a:schemeClr val="dk1"/>
                </a:solidFill>
              </a:rPr>
              <a:t>   'host' =&gt; env('DB_HOST'),</a:t>
            </a:r>
            <a:endParaRPr sz="1600">
              <a:solidFill>
                <a:schemeClr val="dk1"/>
              </a:solidFill>
            </a:endParaRPr>
          </a:p>
          <a:p>
            <a:pPr indent="0" lvl="0" marL="1371600" rtl="0" algn="l">
              <a:lnSpc>
                <a:spcPct val="115000"/>
              </a:lnSpc>
              <a:spcBef>
                <a:spcPts val="0"/>
              </a:spcBef>
              <a:spcAft>
                <a:spcPts val="0"/>
              </a:spcAft>
              <a:buNone/>
            </a:pPr>
            <a:r>
              <a:rPr lang="en-US" sz="1600">
                <a:solidFill>
                  <a:schemeClr val="dk1"/>
                </a:solidFill>
              </a:rPr>
              <a:t>   'port' =&gt; env('DB_PORT'),</a:t>
            </a:r>
            <a:endParaRPr sz="1600">
              <a:solidFill>
                <a:schemeClr val="dk1"/>
              </a:solidFill>
            </a:endParaRPr>
          </a:p>
          <a:p>
            <a:pPr indent="0" lvl="0" marL="1371600" rtl="0" algn="l">
              <a:lnSpc>
                <a:spcPct val="115000"/>
              </a:lnSpc>
              <a:spcBef>
                <a:spcPts val="0"/>
              </a:spcBef>
              <a:spcAft>
                <a:spcPts val="0"/>
              </a:spcAft>
              <a:buNone/>
            </a:pPr>
            <a:r>
              <a:rPr lang="en-US" sz="1600">
                <a:solidFill>
                  <a:schemeClr val="dk1"/>
                </a:solidFill>
              </a:rPr>
              <a:t>   'database' =&gt; env('DB_DATABASE'),</a:t>
            </a:r>
            <a:endParaRPr sz="1600">
              <a:solidFill>
                <a:schemeClr val="dk1"/>
              </a:solidFill>
            </a:endParaRPr>
          </a:p>
          <a:p>
            <a:pPr indent="0" lvl="0" marL="1371600" rtl="0" algn="l">
              <a:lnSpc>
                <a:spcPct val="115000"/>
              </a:lnSpc>
              <a:spcBef>
                <a:spcPts val="0"/>
              </a:spcBef>
              <a:spcAft>
                <a:spcPts val="0"/>
              </a:spcAft>
              <a:buNone/>
            </a:pPr>
            <a:r>
              <a:rPr lang="en-US" sz="1600">
                <a:solidFill>
                  <a:schemeClr val="dk1"/>
                </a:solidFill>
              </a:rPr>
              <a:t>],</a:t>
            </a:r>
            <a:endParaRPr sz="1600">
              <a:solidFill>
                <a:schemeClr val="dk1"/>
              </a:solidFill>
            </a:endParaRPr>
          </a:p>
          <a:p>
            <a:pPr indent="0" lvl="0" marL="457200" rtl="0" algn="l">
              <a:lnSpc>
                <a:spcPct val="100000"/>
              </a:lnSpc>
              <a:spcBef>
                <a:spcPts val="0"/>
              </a:spcBef>
              <a:spcAft>
                <a:spcPts val="0"/>
              </a:spcAft>
              <a:buNone/>
            </a:pPr>
            <a:r>
              <a:rPr b="1" lang="en-US" sz="2300">
                <a:solidFill>
                  <a:schemeClr val="dk1"/>
                </a:solidFill>
              </a:rPr>
              <a:t>STEP 5: Create Model: </a:t>
            </a:r>
            <a:r>
              <a:rPr lang="en-US" sz="2000">
                <a:solidFill>
                  <a:schemeClr val="dk1"/>
                </a:solidFill>
              </a:rPr>
              <a:t>php artisan make:model Student</a:t>
            </a:r>
            <a:endParaRPr sz="2000">
              <a:solidFill>
                <a:schemeClr val="dk1"/>
              </a:solidFill>
            </a:endParaRPr>
          </a:p>
          <a:p>
            <a:pPr indent="0" lvl="0" marL="457200" rtl="0" algn="l">
              <a:lnSpc>
                <a:spcPct val="100000"/>
              </a:lnSpc>
              <a:spcBef>
                <a:spcPts val="0"/>
              </a:spcBef>
              <a:spcAft>
                <a:spcPts val="0"/>
              </a:spcAft>
              <a:buNone/>
            </a:pPr>
            <a:r>
              <a:rPr b="1" lang="en-US" sz="1600">
                <a:solidFill>
                  <a:srgbClr val="188038"/>
                </a:solidFill>
                <a:latin typeface="Roboto Mono"/>
                <a:ea typeface="Roboto Mono"/>
                <a:cs typeface="Roboto Mono"/>
                <a:sym typeface="Roboto Mono"/>
              </a:rPr>
              <a:t>app/Models/Student.php</a:t>
            </a:r>
            <a:endParaRPr b="1" sz="1600">
              <a:solidFill>
                <a:srgbClr val="188038"/>
              </a:solidFill>
              <a:latin typeface="Roboto Mono"/>
              <a:ea typeface="Roboto Mono"/>
              <a:cs typeface="Roboto Mono"/>
              <a:sym typeface="Roboto Mono"/>
            </a:endParaRPr>
          </a:p>
          <a:p>
            <a:pPr indent="0" lvl="0" marL="914400" rtl="0" algn="l">
              <a:lnSpc>
                <a:spcPct val="100000"/>
              </a:lnSpc>
              <a:spcBef>
                <a:spcPts val="0"/>
              </a:spcBef>
              <a:spcAft>
                <a:spcPts val="0"/>
              </a:spcAft>
              <a:buNone/>
            </a:pPr>
            <a:r>
              <a:rPr lang="en-US" sz="1600">
                <a:solidFill>
                  <a:schemeClr val="dk1"/>
                </a:solidFill>
              </a:rPr>
              <a:t>&lt;?php</a:t>
            </a:r>
            <a:endParaRPr sz="1600">
              <a:solidFill>
                <a:schemeClr val="dk1"/>
              </a:solidFill>
            </a:endParaRPr>
          </a:p>
          <a:p>
            <a:pPr indent="0" lvl="0" marL="914400" rtl="0" algn="l">
              <a:lnSpc>
                <a:spcPct val="100000"/>
              </a:lnSpc>
              <a:spcBef>
                <a:spcPts val="0"/>
              </a:spcBef>
              <a:spcAft>
                <a:spcPts val="0"/>
              </a:spcAft>
              <a:buNone/>
            </a:pPr>
            <a:r>
              <a:rPr lang="en-US" sz="1600">
                <a:solidFill>
                  <a:schemeClr val="dk1"/>
                </a:solidFill>
              </a:rPr>
              <a:t>namespace App\Models;</a:t>
            </a:r>
            <a:endParaRPr sz="1600">
              <a:solidFill>
                <a:schemeClr val="dk1"/>
              </a:solidFill>
            </a:endParaRPr>
          </a:p>
          <a:p>
            <a:pPr indent="0" lvl="0" marL="914400" rtl="0" algn="l">
              <a:lnSpc>
                <a:spcPct val="100000"/>
              </a:lnSpc>
              <a:spcBef>
                <a:spcPts val="0"/>
              </a:spcBef>
              <a:spcAft>
                <a:spcPts val="0"/>
              </a:spcAft>
              <a:buNone/>
            </a:pPr>
            <a:r>
              <a:rPr lang="en-US" sz="1600">
                <a:solidFill>
                  <a:schemeClr val="dk1"/>
                </a:solidFill>
              </a:rPr>
              <a:t>use MongoDB\Laravel\Eloquent\Model;</a:t>
            </a:r>
            <a:endParaRPr sz="1600">
              <a:solidFill>
                <a:schemeClr val="dk1"/>
              </a:solidFill>
            </a:endParaRPr>
          </a:p>
          <a:p>
            <a:pPr indent="0" lvl="0" marL="914400" rtl="0" algn="l">
              <a:lnSpc>
                <a:spcPct val="100000"/>
              </a:lnSpc>
              <a:spcBef>
                <a:spcPts val="0"/>
              </a:spcBef>
              <a:spcAft>
                <a:spcPts val="0"/>
              </a:spcAft>
              <a:buNone/>
            </a:pPr>
            <a:r>
              <a:rPr lang="en-US" sz="1600">
                <a:solidFill>
                  <a:schemeClr val="dk1"/>
                </a:solidFill>
              </a:rPr>
              <a:t>class Student extends Model{</a:t>
            </a:r>
            <a:endParaRPr sz="1600">
              <a:solidFill>
                <a:schemeClr val="dk1"/>
              </a:solidFill>
            </a:endParaRPr>
          </a:p>
          <a:p>
            <a:pPr indent="0" lvl="0" marL="1371600" rtl="0" algn="l">
              <a:lnSpc>
                <a:spcPct val="100000"/>
              </a:lnSpc>
              <a:spcBef>
                <a:spcPts val="0"/>
              </a:spcBef>
              <a:spcAft>
                <a:spcPts val="0"/>
              </a:spcAft>
              <a:buNone/>
            </a:pPr>
            <a:r>
              <a:rPr lang="en-US" sz="1600">
                <a:solidFill>
                  <a:schemeClr val="dk1"/>
                </a:solidFill>
              </a:rPr>
              <a:t>   protected $connection = 'mongodb';</a:t>
            </a:r>
            <a:endParaRPr sz="1600">
              <a:solidFill>
                <a:schemeClr val="dk1"/>
              </a:solidFill>
            </a:endParaRPr>
          </a:p>
          <a:p>
            <a:pPr indent="0" lvl="0" marL="1371600" rtl="0" algn="l">
              <a:lnSpc>
                <a:spcPct val="100000"/>
              </a:lnSpc>
              <a:spcBef>
                <a:spcPts val="0"/>
              </a:spcBef>
              <a:spcAft>
                <a:spcPts val="0"/>
              </a:spcAft>
              <a:buNone/>
            </a:pPr>
            <a:r>
              <a:rPr lang="en-US" sz="1600">
                <a:solidFill>
                  <a:schemeClr val="dk1"/>
                </a:solidFill>
              </a:rPr>
              <a:t>   protected $collection = 'students';</a:t>
            </a:r>
            <a:endParaRPr sz="1600">
              <a:solidFill>
                <a:schemeClr val="dk1"/>
              </a:solidFill>
            </a:endParaRPr>
          </a:p>
          <a:p>
            <a:pPr indent="0" lvl="0" marL="1371600" rtl="0" algn="l">
              <a:lnSpc>
                <a:spcPct val="100000"/>
              </a:lnSpc>
              <a:spcBef>
                <a:spcPts val="0"/>
              </a:spcBef>
              <a:spcAft>
                <a:spcPts val="0"/>
              </a:spcAft>
              <a:buNone/>
            </a:pPr>
            <a:r>
              <a:rPr lang="en-US" sz="1600">
                <a:solidFill>
                  <a:schemeClr val="dk1"/>
                </a:solidFill>
              </a:rPr>
              <a:t>   protected $fillable = ['name', 'email', 'age'];</a:t>
            </a:r>
            <a:endParaRPr sz="1600">
              <a:solidFill>
                <a:schemeClr val="dk1"/>
              </a:solidFill>
            </a:endParaRPr>
          </a:p>
          <a:p>
            <a:pPr indent="0" lvl="0" marL="914400" rtl="0" algn="l">
              <a:lnSpc>
                <a:spcPct val="100000"/>
              </a:lnSpc>
              <a:spcBef>
                <a:spcPts val="0"/>
              </a:spcBef>
              <a:spcAft>
                <a:spcPts val="0"/>
              </a:spcAft>
              <a:buNone/>
            </a:pPr>
            <a:r>
              <a:rPr lang="en-US" sz="1600">
                <a:solidFill>
                  <a:schemeClr val="dk1"/>
                </a:solidFill>
              </a:rPr>
              <a:t>}</a:t>
            </a:r>
            <a:endParaRPr sz="16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g3da4f68f186_0_65"/>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246" name="Google Shape;246;g3da4f68f186_0_65"/>
          <p:cNvSpPr txBox="1"/>
          <p:nvPr/>
        </p:nvSpPr>
        <p:spPr>
          <a:xfrm>
            <a:off x="323600" y="0"/>
            <a:ext cx="7737900" cy="5388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Clr>
                <a:schemeClr val="dk1"/>
              </a:buClr>
              <a:buSzPts val="1100"/>
              <a:buFont typeface="Arial"/>
              <a:buNone/>
            </a:pPr>
            <a:r>
              <a:t/>
            </a:r>
            <a:endParaRPr b="1" sz="2300">
              <a:solidFill>
                <a:schemeClr val="dk1"/>
              </a:solidFill>
            </a:endParaRPr>
          </a:p>
        </p:txBody>
      </p:sp>
      <p:sp>
        <p:nvSpPr>
          <p:cNvPr id="247" name="Google Shape;247;g3da4f68f186_0_65"/>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248" name="Google Shape;248;g3da4f68f186_0_65"/>
          <p:cNvSpPr txBox="1"/>
          <p:nvPr/>
        </p:nvSpPr>
        <p:spPr>
          <a:xfrm>
            <a:off x="0" y="267125"/>
            <a:ext cx="11693700" cy="634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300">
                <a:solidFill>
                  <a:schemeClr val="dk1"/>
                </a:solidFill>
              </a:rPr>
              <a:t>STEP 6: Create Resource Controller: </a:t>
            </a:r>
            <a:endParaRPr b="1" sz="2300">
              <a:solidFill>
                <a:schemeClr val="dk1"/>
              </a:solidFill>
            </a:endParaRPr>
          </a:p>
          <a:p>
            <a:pPr indent="457200" lvl="0" marL="0" rtl="0" algn="l">
              <a:lnSpc>
                <a:spcPct val="115000"/>
              </a:lnSpc>
              <a:spcBef>
                <a:spcPts val="0"/>
              </a:spcBef>
              <a:spcAft>
                <a:spcPts val="0"/>
              </a:spcAft>
              <a:buNone/>
            </a:pPr>
            <a:r>
              <a:rPr lang="en-US" sz="1900">
                <a:solidFill>
                  <a:schemeClr val="dk1"/>
                </a:solidFill>
              </a:rPr>
              <a:t>p</a:t>
            </a:r>
            <a:r>
              <a:rPr lang="en-US" sz="1900">
                <a:solidFill>
                  <a:schemeClr val="dk1"/>
                </a:solidFill>
              </a:rPr>
              <a:t>hp artisan make:controller StudentController --resource</a:t>
            </a:r>
            <a:endParaRPr sz="1900">
              <a:solidFill>
                <a:schemeClr val="dk1"/>
              </a:solidFill>
            </a:endParaRPr>
          </a:p>
          <a:p>
            <a:pPr indent="0" lvl="0" marL="0" rtl="0" algn="l">
              <a:lnSpc>
                <a:spcPct val="100000"/>
              </a:lnSpc>
              <a:spcBef>
                <a:spcPts val="2400"/>
              </a:spcBef>
              <a:spcAft>
                <a:spcPts val="0"/>
              </a:spcAft>
              <a:buNone/>
            </a:pPr>
            <a:r>
              <a:rPr b="1" lang="en-US" sz="2300">
                <a:solidFill>
                  <a:schemeClr val="dk1"/>
                </a:solidFill>
              </a:rPr>
              <a:t>STEP 7: Define Resource Route: </a:t>
            </a:r>
            <a:r>
              <a:rPr lang="en-US" sz="1800">
                <a:solidFill>
                  <a:srgbClr val="188038"/>
                </a:solidFill>
                <a:latin typeface="Roboto Mono"/>
                <a:ea typeface="Roboto Mono"/>
                <a:cs typeface="Roboto Mono"/>
                <a:sym typeface="Roboto Mono"/>
              </a:rPr>
              <a:t>routes/web.php</a:t>
            </a:r>
            <a:endParaRPr sz="1800">
              <a:solidFill>
                <a:srgbClr val="188038"/>
              </a:solidFill>
              <a:latin typeface="Roboto Mono"/>
              <a:ea typeface="Roboto Mono"/>
              <a:cs typeface="Roboto Mono"/>
              <a:sym typeface="Roboto Mono"/>
            </a:endParaRPr>
          </a:p>
          <a:p>
            <a:pPr indent="0" lvl="0" marL="457200" rtl="0" algn="l">
              <a:lnSpc>
                <a:spcPct val="100000"/>
              </a:lnSpc>
              <a:spcBef>
                <a:spcPts val="600"/>
              </a:spcBef>
              <a:spcAft>
                <a:spcPts val="0"/>
              </a:spcAft>
              <a:buNone/>
            </a:pPr>
            <a:r>
              <a:rPr lang="en-US" sz="1900">
                <a:solidFill>
                  <a:schemeClr val="dk1"/>
                </a:solidFill>
              </a:rPr>
              <a:t>use App\Http\Controllers\StudentController;</a:t>
            </a:r>
            <a:endParaRPr sz="1900">
              <a:solidFill>
                <a:schemeClr val="dk1"/>
              </a:solidFill>
            </a:endParaRPr>
          </a:p>
          <a:p>
            <a:pPr indent="0" lvl="0" marL="457200" rtl="0" algn="l">
              <a:lnSpc>
                <a:spcPct val="100000"/>
              </a:lnSpc>
              <a:spcBef>
                <a:spcPts val="0"/>
              </a:spcBef>
              <a:spcAft>
                <a:spcPts val="0"/>
              </a:spcAft>
              <a:buNone/>
            </a:pPr>
            <a:r>
              <a:rPr lang="en-US" sz="1900">
                <a:solidFill>
                  <a:schemeClr val="dk1"/>
                </a:solidFill>
              </a:rPr>
              <a:t>Route::resource('students', StudentController::class);</a:t>
            </a:r>
            <a:endParaRPr sz="1900">
              <a:solidFill>
                <a:schemeClr val="dk1"/>
              </a:solidFill>
            </a:endParaRPr>
          </a:p>
          <a:p>
            <a:pPr indent="0" lvl="0" marL="0" rtl="0" algn="l">
              <a:lnSpc>
                <a:spcPct val="115000"/>
              </a:lnSpc>
              <a:spcBef>
                <a:spcPts val="2400"/>
              </a:spcBef>
              <a:spcAft>
                <a:spcPts val="0"/>
              </a:spcAft>
              <a:buNone/>
            </a:pPr>
            <a:r>
              <a:rPr b="1" lang="en-US" sz="2200">
                <a:solidFill>
                  <a:schemeClr val="dk1"/>
                </a:solidFill>
              </a:rPr>
              <a:t>STEP 8: Controller Code:</a:t>
            </a:r>
            <a:r>
              <a:rPr lang="en-US" sz="2200">
                <a:solidFill>
                  <a:srgbClr val="188038"/>
                </a:solidFill>
                <a:latin typeface="Roboto Mono"/>
                <a:ea typeface="Roboto Mono"/>
                <a:cs typeface="Roboto Mono"/>
                <a:sym typeface="Roboto Mono"/>
              </a:rPr>
              <a:t>app/Http/Controllers/StudentController.php</a:t>
            </a:r>
            <a:endParaRPr sz="2200">
              <a:solidFill>
                <a:srgbClr val="188038"/>
              </a:solidFill>
              <a:latin typeface="Roboto Mono"/>
              <a:ea typeface="Roboto Mono"/>
              <a:cs typeface="Roboto Mono"/>
              <a:sym typeface="Roboto Mono"/>
            </a:endParaRPr>
          </a:p>
          <a:p>
            <a:pPr indent="0" lvl="0" marL="457200" rtl="0" algn="l">
              <a:lnSpc>
                <a:spcPct val="115000"/>
              </a:lnSpc>
              <a:spcBef>
                <a:spcPts val="600"/>
              </a:spcBef>
              <a:spcAft>
                <a:spcPts val="0"/>
              </a:spcAft>
              <a:buNone/>
            </a:pPr>
            <a:r>
              <a:rPr lang="en-US" sz="1900">
                <a:solidFill>
                  <a:schemeClr val="dk1"/>
                </a:solidFill>
              </a:rPr>
              <a:t>&lt;?php</a:t>
            </a:r>
            <a:endParaRPr sz="1900">
              <a:solidFill>
                <a:schemeClr val="dk1"/>
              </a:solidFill>
            </a:endParaRPr>
          </a:p>
          <a:p>
            <a:pPr indent="0" lvl="0" marL="457200" rtl="0" algn="l">
              <a:lnSpc>
                <a:spcPct val="115000"/>
              </a:lnSpc>
              <a:spcBef>
                <a:spcPts val="0"/>
              </a:spcBef>
              <a:spcAft>
                <a:spcPts val="0"/>
              </a:spcAft>
              <a:buNone/>
            </a:pPr>
            <a:r>
              <a:rPr lang="en-US" sz="1900">
                <a:solidFill>
                  <a:schemeClr val="dk1"/>
                </a:solidFill>
              </a:rPr>
              <a:t>namespace App\Http\Controllers;</a:t>
            </a:r>
            <a:endParaRPr sz="1900">
              <a:solidFill>
                <a:schemeClr val="dk1"/>
              </a:solidFill>
            </a:endParaRPr>
          </a:p>
          <a:p>
            <a:pPr indent="0" lvl="0" marL="457200" rtl="0" algn="l">
              <a:lnSpc>
                <a:spcPct val="115000"/>
              </a:lnSpc>
              <a:spcBef>
                <a:spcPts val="0"/>
              </a:spcBef>
              <a:spcAft>
                <a:spcPts val="0"/>
              </a:spcAft>
              <a:buNone/>
            </a:pPr>
            <a:r>
              <a:rPr lang="en-US" sz="1900">
                <a:solidFill>
                  <a:schemeClr val="dk1"/>
                </a:solidFill>
              </a:rPr>
              <a:t>use Illuminate\Http\Request;</a:t>
            </a:r>
            <a:endParaRPr sz="1900">
              <a:solidFill>
                <a:schemeClr val="dk1"/>
              </a:solidFill>
            </a:endParaRPr>
          </a:p>
          <a:p>
            <a:pPr indent="0" lvl="0" marL="457200" rtl="0" algn="l">
              <a:lnSpc>
                <a:spcPct val="115000"/>
              </a:lnSpc>
              <a:spcBef>
                <a:spcPts val="0"/>
              </a:spcBef>
              <a:spcAft>
                <a:spcPts val="0"/>
              </a:spcAft>
              <a:buNone/>
            </a:pPr>
            <a:r>
              <a:rPr lang="en-US" sz="1900">
                <a:solidFill>
                  <a:schemeClr val="dk1"/>
                </a:solidFill>
              </a:rPr>
              <a:t>use App\Models\Student;</a:t>
            </a:r>
            <a:endParaRPr sz="1900">
              <a:solidFill>
                <a:schemeClr val="dk1"/>
              </a:solidFill>
            </a:endParaRPr>
          </a:p>
          <a:p>
            <a:pPr indent="0" lvl="0" marL="457200" rtl="0" algn="l">
              <a:lnSpc>
                <a:spcPct val="115000"/>
              </a:lnSpc>
              <a:spcBef>
                <a:spcPts val="0"/>
              </a:spcBef>
              <a:spcAft>
                <a:spcPts val="0"/>
              </a:spcAft>
              <a:buNone/>
            </a:pPr>
            <a:r>
              <a:rPr lang="en-US" sz="1900">
                <a:solidFill>
                  <a:schemeClr val="dk1"/>
                </a:solidFill>
              </a:rPr>
              <a:t>class StudentController extends Controller {</a:t>
            </a:r>
            <a:endParaRPr sz="1900">
              <a:solidFill>
                <a:schemeClr val="dk1"/>
              </a:solidFill>
            </a:endParaRPr>
          </a:p>
          <a:p>
            <a:pPr indent="0" lvl="0" marL="457200" rtl="0" algn="l">
              <a:lnSpc>
                <a:spcPct val="115000"/>
              </a:lnSpc>
              <a:spcBef>
                <a:spcPts val="0"/>
              </a:spcBef>
              <a:spcAft>
                <a:spcPts val="0"/>
              </a:spcAft>
              <a:buNone/>
            </a:pPr>
            <a:r>
              <a:rPr lang="en-US" sz="1900">
                <a:solidFill>
                  <a:schemeClr val="dk1"/>
                </a:solidFill>
              </a:rPr>
              <a:t>   // READ ALL</a:t>
            </a:r>
            <a:endParaRPr sz="1900">
              <a:solidFill>
                <a:schemeClr val="dk1"/>
              </a:solidFill>
            </a:endParaRPr>
          </a:p>
          <a:p>
            <a:pPr indent="0" lvl="0" marL="457200" rtl="0" algn="l">
              <a:lnSpc>
                <a:spcPct val="115000"/>
              </a:lnSpc>
              <a:spcBef>
                <a:spcPts val="0"/>
              </a:spcBef>
              <a:spcAft>
                <a:spcPts val="0"/>
              </a:spcAft>
              <a:buNone/>
            </a:pPr>
            <a:r>
              <a:rPr lang="en-US" sz="1900">
                <a:solidFill>
                  <a:schemeClr val="dk1"/>
                </a:solidFill>
              </a:rPr>
              <a:t>   public function index() {</a:t>
            </a:r>
            <a:endParaRPr sz="1900">
              <a:solidFill>
                <a:schemeClr val="dk1"/>
              </a:solidFill>
            </a:endParaRPr>
          </a:p>
          <a:p>
            <a:pPr indent="0" lvl="0" marL="457200" rtl="0" algn="l">
              <a:lnSpc>
                <a:spcPct val="115000"/>
              </a:lnSpc>
              <a:spcBef>
                <a:spcPts val="0"/>
              </a:spcBef>
              <a:spcAft>
                <a:spcPts val="0"/>
              </a:spcAft>
              <a:buNone/>
            </a:pPr>
            <a:r>
              <a:rPr lang="en-US" sz="1900">
                <a:solidFill>
                  <a:schemeClr val="dk1"/>
                </a:solidFill>
              </a:rPr>
              <a:t>       $students = Student::all();</a:t>
            </a:r>
            <a:endParaRPr sz="1900">
              <a:solidFill>
                <a:schemeClr val="dk1"/>
              </a:solidFill>
            </a:endParaRPr>
          </a:p>
          <a:p>
            <a:pPr indent="0" lvl="0" marL="457200" rtl="0" algn="l">
              <a:lnSpc>
                <a:spcPct val="115000"/>
              </a:lnSpc>
              <a:spcBef>
                <a:spcPts val="0"/>
              </a:spcBef>
              <a:spcAft>
                <a:spcPts val="0"/>
              </a:spcAft>
              <a:buNone/>
            </a:pPr>
            <a:r>
              <a:rPr lang="en-US" sz="1900">
                <a:solidFill>
                  <a:schemeClr val="dk1"/>
                </a:solidFill>
              </a:rPr>
              <a:t>       return view('students.index', compact('students'));</a:t>
            </a:r>
            <a:endParaRPr sz="1900">
              <a:solidFill>
                <a:schemeClr val="dk1"/>
              </a:solidFill>
            </a:endParaRPr>
          </a:p>
          <a:p>
            <a:pPr indent="0" lvl="0" marL="457200" rtl="0" algn="l">
              <a:lnSpc>
                <a:spcPct val="115000"/>
              </a:lnSpc>
              <a:spcBef>
                <a:spcPts val="0"/>
              </a:spcBef>
              <a:spcAft>
                <a:spcPts val="0"/>
              </a:spcAft>
              <a:buNone/>
            </a:pPr>
            <a:r>
              <a:rPr lang="en-US" sz="1900">
                <a:solidFill>
                  <a:schemeClr val="dk1"/>
                </a:solidFill>
              </a:rPr>
              <a:t>   }</a:t>
            </a:r>
            <a:endParaRPr b="1" sz="19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g3da4f68f186_0_73"/>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254" name="Google Shape;254;g3da4f68f186_0_73"/>
          <p:cNvSpPr txBox="1"/>
          <p:nvPr/>
        </p:nvSpPr>
        <p:spPr>
          <a:xfrm>
            <a:off x="323600" y="0"/>
            <a:ext cx="7737900" cy="5388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Clr>
                <a:schemeClr val="dk1"/>
              </a:buClr>
              <a:buSzPts val="1100"/>
              <a:buFont typeface="Arial"/>
              <a:buNone/>
            </a:pPr>
            <a:r>
              <a:t/>
            </a:r>
            <a:endParaRPr b="1" sz="2300">
              <a:solidFill>
                <a:schemeClr val="dk1"/>
              </a:solidFill>
            </a:endParaRPr>
          </a:p>
        </p:txBody>
      </p:sp>
      <p:sp>
        <p:nvSpPr>
          <p:cNvPr id="255" name="Google Shape;255;g3da4f68f186_0_73"/>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256" name="Google Shape;256;g3da4f68f186_0_73"/>
          <p:cNvSpPr txBox="1"/>
          <p:nvPr/>
        </p:nvSpPr>
        <p:spPr>
          <a:xfrm>
            <a:off x="0" y="0"/>
            <a:ext cx="11204100" cy="6864900"/>
          </a:xfrm>
          <a:prstGeom prst="rect">
            <a:avLst/>
          </a:prstGeom>
          <a:noFill/>
          <a:ln>
            <a:noFill/>
          </a:ln>
        </p:spPr>
        <p:txBody>
          <a:bodyPr anchorCtr="0" anchor="t" bIns="91425" lIns="91425" spcFirstLastPara="1" rIns="91425" wrap="square" tIns="91425">
            <a:spAutoFit/>
          </a:bodyPr>
          <a:lstStyle/>
          <a:p>
            <a:pPr indent="0" lvl="0" marL="914400" rtl="0" algn="l">
              <a:lnSpc>
                <a:spcPct val="115000"/>
              </a:lnSpc>
              <a:spcBef>
                <a:spcPts val="0"/>
              </a:spcBef>
              <a:spcAft>
                <a:spcPts val="0"/>
              </a:spcAft>
              <a:buNone/>
            </a:pPr>
            <a:r>
              <a:rPr lang="en-US" sz="1100">
                <a:solidFill>
                  <a:schemeClr val="dk1"/>
                </a:solidFill>
              </a:rPr>
              <a:t>    </a:t>
            </a:r>
            <a:r>
              <a:rPr lang="en-US" sz="2000">
                <a:solidFill>
                  <a:schemeClr val="dk1"/>
                </a:solidFill>
              </a:rPr>
              <a:t>// SHOW FORM</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public function create(){</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return view('students.create');</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 INSERT</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public function store(Request $request){</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Student::create([</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'name' =&gt; $request-&gt;query('name'),</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'email' =&gt; $request-&gt;query('email'),</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'age' =&gt; $request-&gt;query('age')</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return redirect()-&gt;route('students.index');</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a:t>
            </a:r>
            <a:endParaRPr sz="2000">
              <a:solidFill>
                <a:schemeClr val="dk1"/>
              </a:solidFill>
            </a:endParaRPr>
          </a:p>
          <a:p>
            <a:pPr indent="457200" lvl="0" marL="457200" rtl="0" algn="l">
              <a:lnSpc>
                <a:spcPct val="115000"/>
              </a:lnSpc>
              <a:spcBef>
                <a:spcPts val="0"/>
              </a:spcBef>
              <a:spcAft>
                <a:spcPts val="0"/>
              </a:spcAft>
              <a:buNone/>
            </a:pPr>
            <a:r>
              <a:rPr lang="en-US" sz="2000">
                <a:solidFill>
                  <a:schemeClr val="dk1"/>
                </a:solidFill>
              </a:rPr>
              <a:t>   // EDIT FORM (using query string)</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public function edit(Request $request){</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$id = $request-&gt;query('id');</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$student = Student::find($id);</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return view('students.edit', compact('student'));</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a:t>
            </a:r>
            <a:endParaRPr b="1" sz="2000">
              <a:solidFill>
                <a:srgbClr val="188038"/>
              </a:solidFill>
              <a:latin typeface="Roboto Mono"/>
              <a:ea typeface="Roboto Mono"/>
              <a:cs typeface="Roboto Mono"/>
              <a:sym typeface="Roboto Mon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id="261" name="Google Shape;261;g3da4f68f186_0_81"/>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262" name="Google Shape;262;g3da4f68f186_0_81"/>
          <p:cNvSpPr txBox="1"/>
          <p:nvPr/>
        </p:nvSpPr>
        <p:spPr>
          <a:xfrm>
            <a:off x="323600" y="0"/>
            <a:ext cx="7737900" cy="5388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Clr>
                <a:schemeClr val="dk1"/>
              </a:buClr>
              <a:buSzPts val="1100"/>
              <a:buFont typeface="Arial"/>
              <a:buNone/>
            </a:pPr>
            <a:r>
              <a:t/>
            </a:r>
            <a:endParaRPr b="1" sz="2300">
              <a:solidFill>
                <a:schemeClr val="dk1"/>
              </a:solidFill>
            </a:endParaRPr>
          </a:p>
        </p:txBody>
      </p:sp>
      <p:sp>
        <p:nvSpPr>
          <p:cNvPr id="263" name="Google Shape;263;g3da4f68f186_0_81"/>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264" name="Google Shape;264;g3da4f68f186_0_81"/>
          <p:cNvSpPr txBox="1"/>
          <p:nvPr/>
        </p:nvSpPr>
        <p:spPr>
          <a:xfrm>
            <a:off x="0" y="0"/>
            <a:ext cx="10035600" cy="6510900"/>
          </a:xfrm>
          <a:prstGeom prst="rect">
            <a:avLst/>
          </a:prstGeom>
          <a:noFill/>
          <a:ln>
            <a:noFill/>
          </a:ln>
        </p:spPr>
        <p:txBody>
          <a:bodyPr anchorCtr="0" anchor="t" bIns="91425" lIns="91425" spcFirstLastPara="1" rIns="91425" wrap="square" tIns="91425">
            <a:spAutoFit/>
          </a:bodyPr>
          <a:lstStyle/>
          <a:p>
            <a:pPr indent="0" lvl="0" marL="914400" rtl="0" algn="l">
              <a:lnSpc>
                <a:spcPct val="115000"/>
              </a:lnSpc>
              <a:spcBef>
                <a:spcPts val="0"/>
              </a:spcBef>
              <a:spcAft>
                <a:spcPts val="0"/>
              </a:spcAft>
              <a:buNone/>
            </a:pPr>
            <a:r>
              <a:rPr lang="en-US" sz="2000">
                <a:solidFill>
                  <a:schemeClr val="dk1"/>
                </a:solidFill>
              </a:rPr>
              <a:t>   // UPDATE</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public function update(Request $request) {</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$id = $request-&gt;query('id');</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$student = Student::find($id);</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$student-&gt;update([</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'name' =&gt; $request-&gt;query('name'),</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'email' =&gt; $request-&gt;query('email'),</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'age' =&gt; $request-&gt;query('age')</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return redirect()-&gt;route('students.index');</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 DELETE</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public function destroy(Request $request){</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$id = $request-&gt;query('id');</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Student::destroy($id);</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return redirect()-&gt;route('students.index');</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   }</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a:t>
            </a:r>
            <a:endParaRPr b="1" sz="2000">
              <a:solidFill>
                <a:srgbClr val="188038"/>
              </a:solidFill>
              <a:latin typeface="Roboto Mono"/>
              <a:ea typeface="Roboto Mono"/>
              <a:cs typeface="Roboto Mono"/>
              <a:sym typeface="Roboto Mon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g3da4f68f186_0_88"/>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270" name="Google Shape;270;g3da4f68f186_0_88"/>
          <p:cNvSpPr txBox="1"/>
          <p:nvPr/>
        </p:nvSpPr>
        <p:spPr>
          <a:xfrm>
            <a:off x="323600" y="0"/>
            <a:ext cx="7737900" cy="5388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Clr>
                <a:schemeClr val="dk1"/>
              </a:buClr>
              <a:buSzPts val="1100"/>
              <a:buFont typeface="Arial"/>
              <a:buNone/>
            </a:pPr>
            <a:r>
              <a:t/>
            </a:r>
            <a:endParaRPr b="1" sz="2300">
              <a:solidFill>
                <a:schemeClr val="dk1"/>
              </a:solidFill>
            </a:endParaRPr>
          </a:p>
        </p:txBody>
      </p:sp>
      <p:sp>
        <p:nvSpPr>
          <p:cNvPr id="271" name="Google Shape;271;g3da4f68f186_0_88"/>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272" name="Google Shape;272;g3da4f68f186_0_88"/>
          <p:cNvSpPr txBox="1"/>
          <p:nvPr/>
        </p:nvSpPr>
        <p:spPr>
          <a:xfrm>
            <a:off x="0" y="0"/>
            <a:ext cx="30000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b="1" sz="1700">
              <a:solidFill>
                <a:srgbClr val="188038"/>
              </a:solidFill>
              <a:latin typeface="Roboto Mono"/>
              <a:ea typeface="Roboto Mono"/>
              <a:cs typeface="Roboto Mono"/>
              <a:sym typeface="Roboto Mono"/>
            </a:endParaRPr>
          </a:p>
        </p:txBody>
      </p:sp>
      <p:sp>
        <p:nvSpPr>
          <p:cNvPr id="273" name="Google Shape;273;g3da4f68f186_0_88"/>
          <p:cNvSpPr txBox="1"/>
          <p:nvPr/>
        </p:nvSpPr>
        <p:spPr>
          <a:xfrm>
            <a:off x="0" y="0"/>
            <a:ext cx="10256700" cy="695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300">
                <a:solidFill>
                  <a:schemeClr val="dk1"/>
                </a:solidFill>
              </a:rPr>
              <a:t>STEP 9: Views: </a:t>
            </a:r>
            <a:r>
              <a:rPr b="1" lang="en-US" sz="2000">
                <a:solidFill>
                  <a:srgbClr val="188038"/>
                </a:solidFill>
                <a:latin typeface="Roboto Mono"/>
                <a:ea typeface="Roboto Mono"/>
                <a:cs typeface="Roboto Mono"/>
                <a:sym typeface="Roboto Mono"/>
              </a:rPr>
              <a:t>php artisan make:view students.index</a:t>
            </a:r>
            <a:endParaRPr b="1" sz="2000">
              <a:solidFill>
                <a:srgbClr val="188038"/>
              </a:solidFill>
              <a:latin typeface="Roboto Mono"/>
              <a:ea typeface="Roboto Mono"/>
              <a:cs typeface="Roboto Mono"/>
              <a:sym typeface="Roboto Mono"/>
            </a:endParaRPr>
          </a:p>
          <a:p>
            <a:pPr indent="457200" lvl="0" marL="0" rtl="0" algn="l">
              <a:lnSpc>
                <a:spcPct val="115000"/>
              </a:lnSpc>
              <a:spcBef>
                <a:spcPts val="0"/>
              </a:spcBef>
              <a:spcAft>
                <a:spcPts val="0"/>
              </a:spcAft>
              <a:buClr>
                <a:schemeClr val="dk1"/>
              </a:buClr>
              <a:buSzPts val="1100"/>
              <a:buFont typeface="Arial"/>
              <a:buNone/>
            </a:pPr>
            <a:r>
              <a:rPr b="1" lang="en-US" sz="2000">
                <a:solidFill>
                  <a:srgbClr val="188038"/>
                </a:solidFill>
                <a:latin typeface="Roboto Mono"/>
                <a:ea typeface="Roboto Mono"/>
                <a:cs typeface="Roboto Mono"/>
                <a:sym typeface="Roboto Mono"/>
              </a:rPr>
              <a:t>resources/views/students/index.blade.php</a:t>
            </a:r>
            <a:endParaRPr b="1" sz="2000">
              <a:solidFill>
                <a:srgbClr val="188038"/>
              </a:solidFill>
              <a:latin typeface="Roboto Mono"/>
              <a:ea typeface="Roboto Mono"/>
              <a:cs typeface="Roboto Mono"/>
              <a:sym typeface="Roboto Mono"/>
            </a:endParaRPr>
          </a:p>
          <a:p>
            <a:pPr indent="0" lvl="0" marL="914400" rtl="0" algn="l">
              <a:lnSpc>
                <a:spcPct val="115000"/>
              </a:lnSpc>
              <a:spcBef>
                <a:spcPts val="0"/>
              </a:spcBef>
              <a:spcAft>
                <a:spcPts val="0"/>
              </a:spcAft>
              <a:buClr>
                <a:schemeClr val="dk1"/>
              </a:buClr>
              <a:buSzPts val="1100"/>
              <a:buFont typeface="Arial"/>
              <a:buNone/>
            </a:pPr>
            <a:r>
              <a:rPr lang="en-US" sz="1800">
                <a:solidFill>
                  <a:schemeClr val="dk1"/>
                </a:solidFill>
              </a:rPr>
              <a:t>&lt;h2&gt;Student List&lt;/h2&gt;</a:t>
            </a:r>
            <a:endParaRPr sz="1800">
              <a:solidFill>
                <a:schemeClr val="dk1"/>
              </a:solidFill>
            </a:endParaRPr>
          </a:p>
          <a:p>
            <a:pPr indent="0" lvl="0" marL="914400" rtl="0" algn="l">
              <a:lnSpc>
                <a:spcPct val="115000"/>
              </a:lnSpc>
              <a:spcBef>
                <a:spcPts val="0"/>
              </a:spcBef>
              <a:spcAft>
                <a:spcPts val="0"/>
              </a:spcAft>
              <a:buClr>
                <a:schemeClr val="dk1"/>
              </a:buClr>
              <a:buSzPts val="1100"/>
              <a:buFont typeface="Arial"/>
              <a:buNone/>
            </a:pPr>
            <a:r>
              <a:rPr lang="en-US" sz="1800">
                <a:solidFill>
                  <a:schemeClr val="dk1"/>
                </a:solidFill>
              </a:rPr>
              <a:t>&lt;a href="/students/create"&gt;Add Student&lt;/a&gt;</a:t>
            </a:r>
            <a:endParaRPr sz="1800">
              <a:solidFill>
                <a:schemeClr val="dk1"/>
              </a:solidFill>
            </a:endParaRPr>
          </a:p>
          <a:p>
            <a:pPr indent="457200" lvl="0" marL="457200" rtl="0" algn="l">
              <a:lnSpc>
                <a:spcPct val="115000"/>
              </a:lnSpc>
              <a:spcBef>
                <a:spcPts val="0"/>
              </a:spcBef>
              <a:spcAft>
                <a:spcPts val="0"/>
              </a:spcAft>
              <a:buNone/>
            </a:pPr>
            <a:r>
              <a:rPr lang="en-US" sz="1800">
                <a:solidFill>
                  <a:schemeClr val="dk1"/>
                </a:solidFill>
              </a:rPr>
              <a:t>&lt;table border="1"&gt;</a:t>
            </a:r>
            <a:endParaRPr sz="1800">
              <a:solidFill>
                <a:schemeClr val="dk1"/>
              </a:solidFill>
            </a:endParaRPr>
          </a:p>
          <a:p>
            <a:pPr indent="0" lvl="0" marL="1371600" rtl="0" algn="l">
              <a:lnSpc>
                <a:spcPct val="115000"/>
              </a:lnSpc>
              <a:spcBef>
                <a:spcPts val="0"/>
              </a:spcBef>
              <a:spcAft>
                <a:spcPts val="0"/>
              </a:spcAft>
              <a:buNone/>
            </a:pPr>
            <a:r>
              <a:rPr lang="en-US" sz="1800">
                <a:solidFill>
                  <a:schemeClr val="dk1"/>
                </a:solidFill>
              </a:rPr>
              <a:t>&lt;tr&gt;</a:t>
            </a:r>
            <a:endParaRPr sz="1800">
              <a:solidFill>
                <a:schemeClr val="dk1"/>
              </a:solidFill>
            </a:endParaRPr>
          </a:p>
          <a:p>
            <a:pPr indent="0" lvl="0" marL="1828800" rtl="0" algn="l">
              <a:lnSpc>
                <a:spcPct val="115000"/>
              </a:lnSpc>
              <a:spcBef>
                <a:spcPts val="0"/>
              </a:spcBef>
              <a:spcAft>
                <a:spcPts val="0"/>
              </a:spcAft>
              <a:buNone/>
            </a:pPr>
            <a:r>
              <a:rPr lang="en-US" sz="1800">
                <a:solidFill>
                  <a:schemeClr val="dk1"/>
                </a:solidFill>
              </a:rPr>
              <a:t>   &lt;th&gt;Name&lt;/th&gt;</a:t>
            </a:r>
            <a:endParaRPr sz="1800">
              <a:solidFill>
                <a:schemeClr val="dk1"/>
              </a:solidFill>
            </a:endParaRPr>
          </a:p>
          <a:p>
            <a:pPr indent="0" lvl="0" marL="1828800" rtl="0" algn="l">
              <a:lnSpc>
                <a:spcPct val="115000"/>
              </a:lnSpc>
              <a:spcBef>
                <a:spcPts val="0"/>
              </a:spcBef>
              <a:spcAft>
                <a:spcPts val="0"/>
              </a:spcAft>
              <a:buNone/>
            </a:pPr>
            <a:r>
              <a:rPr lang="en-US" sz="1800">
                <a:solidFill>
                  <a:schemeClr val="dk1"/>
                </a:solidFill>
              </a:rPr>
              <a:t>   &lt;th&gt;Email&lt;/th&gt;</a:t>
            </a:r>
            <a:endParaRPr sz="1800">
              <a:solidFill>
                <a:schemeClr val="dk1"/>
              </a:solidFill>
            </a:endParaRPr>
          </a:p>
          <a:p>
            <a:pPr indent="0" lvl="0" marL="1828800" rtl="0" algn="l">
              <a:lnSpc>
                <a:spcPct val="115000"/>
              </a:lnSpc>
              <a:spcBef>
                <a:spcPts val="0"/>
              </a:spcBef>
              <a:spcAft>
                <a:spcPts val="0"/>
              </a:spcAft>
              <a:buNone/>
            </a:pPr>
            <a:r>
              <a:rPr lang="en-US" sz="1800">
                <a:solidFill>
                  <a:schemeClr val="dk1"/>
                </a:solidFill>
              </a:rPr>
              <a:t>   &lt;th&gt;Action&lt;/th&gt;</a:t>
            </a:r>
            <a:endParaRPr sz="1800">
              <a:solidFill>
                <a:schemeClr val="dk1"/>
              </a:solidFill>
            </a:endParaRPr>
          </a:p>
          <a:p>
            <a:pPr indent="0" lvl="0" marL="1371600" rtl="0" algn="l">
              <a:lnSpc>
                <a:spcPct val="115000"/>
              </a:lnSpc>
              <a:spcBef>
                <a:spcPts val="0"/>
              </a:spcBef>
              <a:spcAft>
                <a:spcPts val="0"/>
              </a:spcAft>
              <a:buNone/>
            </a:pPr>
            <a:r>
              <a:rPr lang="en-US" sz="1800">
                <a:solidFill>
                  <a:schemeClr val="dk1"/>
                </a:solidFill>
              </a:rPr>
              <a:t>&lt;/tr&gt;</a:t>
            </a:r>
            <a:endParaRPr sz="1800">
              <a:solidFill>
                <a:schemeClr val="dk1"/>
              </a:solidFill>
            </a:endParaRPr>
          </a:p>
          <a:p>
            <a:pPr indent="0" lvl="0" marL="914400" rtl="0" algn="l">
              <a:lnSpc>
                <a:spcPct val="115000"/>
              </a:lnSpc>
              <a:spcBef>
                <a:spcPts val="0"/>
              </a:spcBef>
              <a:spcAft>
                <a:spcPts val="0"/>
              </a:spcAft>
              <a:buNone/>
            </a:pPr>
            <a:r>
              <a:rPr lang="en-US" sz="1800">
                <a:solidFill>
                  <a:schemeClr val="dk1"/>
                </a:solidFill>
              </a:rPr>
              <a:t>@foreach($students as $s)</a:t>
            </a:r>
            <a:endParaRPr sz="1800">
              <a:solidFill>
                <a:schemeClr val="dk1"/>
              </a:solidFill>
            </a:endParaRPr>
          </a:p>
          <a:p>
            <a:pPr indent="0" lvl="0" marL="1371600" rtl="0" algn="l">
              <a:lnSpc>
                <a:spcPct val="115000"/>
              </a:lnSpc>
              <a:spcBef>
                <a:spcPts val="0"/>
              </a:spcBef>
              <a:spcAft>
                <a:spcPts val="0"/>
              </a:spcAft>
              <a:buNone/>
            </a:pPr>
            <a:r>
              <a:rPr lang="en-US" sz="1800">
                <a:solidFill>
                  <a:schemeClr val="dk1"/>
                </a:solidFill>
              </a:rPr>
              <a:t>&lt;tr&gt;</a:t>
            </a:r>
            <a:endParaRPr sz="1800">
              <a:solidFill>
                <a:schemeClr val="dk1"/>
              </a:solidFill>
            </a:endParaRPr>
          </a:p>
          <a:p>
            <a:pPr indent="0" lvl="0" marL="1828800" rtl="0" algn="l">
              <a:lnSpc>
                <a:spcPct val="115000"/>
              </a:lnSpc>
              <a:spcBef>
                <a:spcPts val="0"/>
              </a:spcBef>
              <a:spcAft>
                <a:spcPts val="0"/>
              </a:spcAft>
              <a:buNone/>
            </a:pPr>
            <a:r>
              <a:rPr lang="en-US" sz="1800">
                <a:solidFill>
                  <a:schemeClr val="dk1"/>
                </a:solidFill>
              </a:rPr>
              <a:t>   &lt;td&gt;{{ $s-&gt;name }}&lt;/td&gt;</a:t>
            </a:r>
            <a:endParaRPr sz="1800">
              <a:solidFill>
                <a:schemeClr val="dk1"/>
              </a:solidFill>
            </a:endParaRPr>
          </a:p>
          <a:p>
            <a:pPr indent="0" lvl="0" marL="1828800" rtl="0" algn="l">
              <a:lnSpc>
                <a:spcPct val="115000"/>
              </a:lnSpc>
              <a:spcBef>
                <a:spcPts val="0"/>
              </a:spcBef>
              <a:spcAft>
                <a:spcPts val="0"/>
              </a:spcAft>
              <a:buNone/>
            </a:pPr>
            <a:r>
              <a:rPr lang="en-US" sz="1800">
                <a:solidFill>
                  <a:schemeClr val="dk1"/>
                </a:solidFill>
              </a:rPr>
              <a:t>   &lt;td&gt;{{ $s-&gt;email }}&lt;/td&gt;</a:t>
            </a:r>
            <a:endParaRPr sz="1800">
              <a:solidFill>
                <a:schemeClr val="dk1"/>
              </a:solidFill>
            </a:endParaRPr>
          </a:p>
          <a:p>
            <a:pPr indent="0" lvl="0" marL="1828800" rtl="0" algn="l">
              <a:lnSpc>
                <a:spcPct val="115000"/>
              </a:lnSpc>
              <a:spcBef>
                <a:spcPts val="0"/>
              </a:spcBef>
              <a:spcAft>
                <a:spcPts val="0"/>
              </a:spcAft>
              <a:buNone/>
            </a:pPr>
            <a:r>
              <a:rPr lang="en-US" sz="1800">
                <a:solidFill>
                  <a:schemeClr val="dk1"/>
                </a:solidFill>
              </a:rPr>
              <a:t>   &lt;td&gt;</a:t>
            </a:r>
            <a:endParaRPr sz="1800">
              <a:solidFill>
                <a:schemeClr val="dk1"/>
              </a:solidFill>
            </a:endParaRPr>
          </a:p>
          <a:p>
            <a:pPr indent="0" lvl="0" marL="2286000" rtl="0" algn="l">
              <a:lnSpc>
                <a:spcPct val="115000"/>
              </a:lnSpc>
              <a:spcBef>
                <a:spcPts val="0"/>
              </a:spcBef>
              <a:spcAft>
                <a:spcPts val="0"/>
              </a:spcAft>
              <a:buNone/>
            </a:pPr>
            <a:r>
              <a:rPr lang="en-US" sz="1800">
                <a:solidFill>
                  <a:schemeClr val="dk1"/>
                </a:solidFill>
              </a:rPr>
              <a:t>       &lt;a href="/students/{{ $s-&gt;_id }}/edit?id={{ $s-&gt;_id }}"&gt;Edit&lt;/a&gt;</a:t>
            </a:r>
            <a:endParaRPr sz="1800">
              <a:solidFill>
                <a:schemeClr val="dk1"/>
              </a:solidFill>
            </a:endParaRPr>
          </a:p>
          <a:p>
            <a:pPr indent="0" lvl="0" marL="2286000" rtl="0" algn="l">
              <a:lnSpc>
                <a:spcPct val="115000"/>
              </a:lnSpc>
              <a:spcBef>
                <a:spcPts val="0"/>
              </a:spcBef>
              <a:spcAft>
                <a:spcPts val="0"/>
              </a:spcAft>
              <a:buNone/>
            </a:pPr>
            <a:r>
              <a:rPr lang="en-US" sz="1800">
                <a:solidFill>
                  <a:schemeClr val="dk1"/>
                </a:solidFill>
              </a:rPr>
              <a:t>       &lt;a href="/students/{{ $s-&gt;_id }}?id={{ $s-&gt;_id }}"&gt;Delete&lt;/a&gt;</a:t>
            </a:r>
            <a:endParaRPr sz="1800">
              <a:solidFill>
                <a:schemeClr val="dk1"/>
              </a:solidFill>
            </a:endParaRPr>
          </a:p>
          <a:p>
            <a:pPr indent="0" lvl="0" marL="1828800" rtl="0" algn="l">
              <a:lnSpc>
                <a:spcPct val="115000"/>
              </a:lnSpc>
              <a:spcBef>
                <a:spcPts val="0"/>
              </a:spcBef>
              <a:spcAft>
                <a:spcPts val="0"/>
              </a:spcAft>
              <a:buNone/>
            </a:pPr>
            <a:r>
              <a:rPr lang="en-US" sz="1800">
                <a:solidFill>
                  <a:schemeClr val="dk1"/>
                </a:solidFill>
              </a:rPr>
              <a:t>   &lt;/td&gt;</a:t>
            </a:r>
            <a:endParaRPr sz="1800">
              <a:solidFill>
                <a:schemeClr val="dk1"/>
              </a:solidFill>
            </a:endParaRPr>
          </a:p>
          <a:p>
            <a:pPr indent="0" lvl="0" marL="1371600" rtl="0" algn="l">
              <a:lnSpc>
                <a:spcPct val="115000"/>
              </a:lnSpc>
              <a:spcBef>
                <a:spcPts val="0"/>
              </a:spcBef>
              <a:spcAft>
                <a:spcPts val="0"/>
              </a:spcAft>
              <a:buNone/>
            </a:pPr>
            <a:r>
              <a:rPr lang="en-US" sz="1800">
                <a:solidFill>
                  <a:schemeClr val="dk1"/>
                </a:solidFill>
              </a:rPr>
              <a:t>&lt;/tr&gt;</a:t>
            </a:r>
            <a:endParaRPr sz="1800">
              <a:solidFill>
                <a:schemeClr val="dk1"/>
              </a:solidFill>
            </a:endParaRPr>
          </a:p>
          <a:p>
            <a:pPr indent="0" lvl="0" marL="914400" rtl="0" algn="l">
              <a:lnSpc>
                <a:spcPct val="115000"/>
              </a:lnSpc>
              <a:spcBef>
                <a:spcPts val="0"/>
              </a:spcBef>
              <a:spcAft>
                <a:spcPts val="0"/>
              </a:spcAft>
              <a:buNone/>
            </a:pPr>
            <a:r>
              <a:rPr lang="en-US" sz="1800">
                <a:solidFill>
                  <a:schemeClr val="dk1"/>
                </a:solidFill>
              </a:rPr>
              <a:t>@endforeach</a:t>
            </a:r>
            <a:endParaRPr sz="1800">
              <a:solidFill>
                <a:schemeClr val="dk1"/>
              </a:solidFill>
            </a:endParaRPr>
          </a:p>
          <a:p>
            <a:pPr indent="0" lvl="0" marL="914400" rtl="0" algn="l">
              <a:lnSpc>
                <a:spcPct val="115000"/>
              </a:lnSpc>
              <a:spcBef>
                <a:spcPts val="0"/>
              </a:spcBef>
              <a:spcAft>
                <a:spcPts val="0"/>
              </a:spcAft>
              <a:buClr>
                <a:schemeClr val="dk1"/>
              </a:buClr>
              <a:buSzPts val="1100"/>
              <a:buFont typeface="Arial"/>
              <a:buNone/>
            </a:pPr>
            <a:r>
              <a:rPr lang="en-US" sz="1800">
                <a:solidFill>
                  <a:schemeClr val="dk1"/>
                </a:solidFill>
              </a:rPr>
              <a:t>&lt;/table&gt;</a:t>
            </a:r>
            <a:endParaRPr sz="18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id="278" name="Google Shape;278;g3da4f68f186_0_103"/>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279" name="Google Shape;279;g3da4f68f186_0_103"/>
          <p:cNvSpPr txBox="1"/>
          <p:nvPr/>
        </p:nvSpPr>
        <p:spPr>
          <a:xfrm>
            <a:off x="323600" y="0"/>
            <a:ext cx="7737900" cy="5388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Clr>
                <a:schemeClr val="dk1"/>
              </a:buClr>
              <a:buSzPts val="1100"/>
              <a:buFont typeface="Arial"/>
              <a:buNone/>
            </a:pPr>
            <a:r>
              <a:t/>
            </a:r>
            <a:endParaRPr b="1" sz="2300">
              <a:solidFill>
                <a:schemeClr val="dk1"/>
              </a:solidFill>
            </a:endParaRPr>
          </a:p>
        </p:txBody>
      </p:sp>
      <p:sp>
        <p:nvSpPr>
          <p:cNvPr id="280" name="Google Shape;280;g3da4f68f186_0_103"/>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281" name="Google Shape;281;g3da4f68f186_0_103"/>
          <p:cNvSpPr txBox="1"/>
          <p:nvPr/>
        </p:nvSpPr>
        <p:spPr>
          <a:xfrm>
            <a:off x="0" y="0"/>
            <a:ext cx="30000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b="1" sz="1700">
              <a:solidFill>
                <a:srgbClr val="188038"/>
              </a:solidFill>
              <a:latin typeface="Roboto Mono"/>
              <a:ea typeface="Roboto Mono"/>
              <a:cs typeface="Roboto Mono"/>
              <a:sym typeface="Roboto Mono"/>
            </a:endParaRPr>
          </a:p>
        </p:txBody>
      </p:sp>
      <p:sp>
        <p:nvSpPr>
          <p:cNvPr id="282" name="Google Shape;282;g3da4f68f186_0_103"/>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283" name="Google Shape;283;g3da4f68f186_0_103"/>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284" name="Google Shape;284;g3da4f68f186_0_103"/>
          <p:cNvSpPr txBox="1"/>
          <p:nvPr/>
        </p:nvSpPr>
        <p:spPr>
          <a:xfrm>
            <a:off x="0" y="0"/>
            <a:ext cx="11709600" cy="631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1900">
                <a:solidFill>
                  <a:srgbClr val="188038"/>
                </a:solidFill>
                <a:latin typeface="Roboto Mono"/>
                <a:ea typeface="Roboto Mono"/>
                <a:cs typeface="Roboto Mono"/>
                <a:sym typeface="Roboto Mono"/>
              </a:rPr>
              <a:t>php artisan make:view students/create </a:t>
            </a:r>
            <a:endParaRPr b="1" sz="1900">
              <a:solidFill>
                <a:srgbClr val="188038"/>
              </a:solidFill>
              <a:latin typeface="Roboto Mono"/>
              <a:ea typeface="Roboto Mono"/>
              <a:cs typeface="Roboto Mono"/>
              <a:sym typeface="Roboto Mono"/>
            </a:endParaRPr>
          </a:p>
          <a:p>
            <a:pPr indent="457200" lvl="0" marL="0" rtl="0" algn="l">
              <a:lnSpc>
                <a:spcPct val="115000"/>
              </a:lnSpc>
              <a:spcBef>
                <a:spcPts val="400"/>
              </a:spcBef>
              <a:spcAft>
                <a:spcPts val="0"/>
              </a:spcAft>
              <a:buNone/>
            </a:pPr>
            <a:r>
              <a:rPr b="1" lang="en-US" sz="1900">
                <a:solidFill>
                  <a:srgbClr val="188038"/>
                </a:solidFill>
                <a:latin typeface="Roboto Mono"/>
                <a:ea typeface="Roboto Mono"/>
                <a:cs typeface="Roboto Mono"/>
                <a:sym typeface="Roboto Mono"/>
              </a:rPr>
              <a:t>resources/views/students/create.blade.php</a:t>
            </a:r>
            <a:endParaRPr b="1" sz="1900">
              <a:solidFill>
                <a:srgbClr val="188038"/>
              </a:solidFill>
              <a:latin typeface="Roboto Mono"/>
              <a:ea typeface="Roboto Mono"/>
              <a:cs typeface="Roboto Mono"/>
              <a:sym typeface="Roboto Mono"/>
            </a:endParaRPr>
          </a:p>
          <a:p>
            <a:pPr indent="0" lvl="0" marL="457200" rtl="0" algn="l">
              <a:lnSpc>
                <a:spcPct val="115000"/>
              </a:lnSpc>
              <a:spcBef>
                <a:spcPts val="0"/>
              </a:spcBef>
              <a:spcAft>
                <a:spcPts val="0"/>
              </a:spcAft>
              <a:buNone/>
            </a:pPr>
            <a:r>
              <a:rPr lang="en-US" sz="1800">
                <a:solidFill>
                  <a:schemeClr val="dk1"/>
                </a:solidFill>
              </a:rPr>
              <a:t>&lt;h2&gt;Add Student&lt;/h2&gt;</a:t>
            </a:r>
            <a:endParaRPr sz="1800">
              <a:solidFill>
                <a:schemeClr val="dk1"/>
              </a:solidFill>
            </a:endParaRPr>
          </a:p>
          <a:p>
            <a:pPr indent="0" lvl="0" marL="914400" rtl="0" algn="l">
              <a:lnSpc>
                <a:spcPct val="115000"/>
              </a:lnSpc>
              <a:spcBef>
                <a:spcPts val="0"/>
              </a:spcBef>
              <a:spcAft>
                <a:spcPts val="0"/>
              </a:spcAft>
              <a:buNone/>
            </a:pPr>
            <a:r>
              <a:rPr lang="en-US" sz="1800">
                <a:solidFill>
                  <a:schemeClr val="dk1"/>
                </a:solidFill>
              </a:rPr>
              <a:t>&lt;form action="/students" method="GET"&gt;</a:t>
            </a:r>
            <a:endParaRPr sz="1800">
              <a:solidFill>
                <a:schemeClr val="dk1"/>
              </a:solidFill>
            </a:endParaRPr>
          </a:p>
          <a:p>
            <a:pPr indent="0" lvl="0" marL="1371600" rtl="0" algn="l">
              <a:lnSpc>
                <a:spcPct val="115000"/>
              </a:lnSpc>
              <a:spcBef>
                <a:spcPts val="0"/>
              </a:spcBef>
              <a:spcAft>
                <a:spcPts val="0"/>
              </a:spcAft>
              <a:buNone/>
            </a:pPr>
            <a:r>
              <a:rPr lang="en-US" sz="1800">
                <a:solidFill>
                  <a:schemeClr val="dk1"/>
                </a:solidFill>
              </a:rPr>
              <a:t>   Name: &lt;input type="text" name="name"&gt;&lt;br&gt;</a:t>
            </a:r>
            <a:endParaRPr sz="1800">
              <a:solidFill>
                <a:schemeClr val="dk1"/>
              </a:solidFill>
            </a:endParaRPr>
          </a:p>
          <a:p>
            <a:pPr indent="0" lvl="0" marL="1371600" rtl="0" algn="l">
              <a:lnSpc>
                <a:spcPct val="115000"/>
              </a:lnSpc>
              <a:spcBef>
                <a:spcPts val="0"/>
              </a:spcBef>
              <a:spcAft>
                <a:spcPts val="0"/>
              </a:spcAft>
              <a:buNone/>
            </a:pPr>
            <a:r>
              <a:rPr lang="en-US" sz="1800">
                <a:solidFill>
                  <a:schemeClr val="dk1"/>
                </a:solidFill>
              </a:rPr>
              <a:t>   Email: &lt;input type="email" name="email"&gt;&lt;br&gt;</a:t>
            </a:r>
            <a:endParaRPr sz="1800">
              <a:solidFill>
                <a:schemeClr val="dk1"/>
              </a:solidFill>
            </a:endParaRPr>
          </a:p>
          <a:p>
            <a:pPr indent="0" lvl="0" marL="1371600" rtl="0" algn="l">
              <a:lnSpc>
                <a:spcPct val="115000"/>
              </a:lnSpc>
              <a:spcBef>
                <a:spcPts val="0"/>
              </a:spcBef>
              <a:spcAft>
                <a:spcPts val="0"/>
              </a:spcAft>
              <a:buNone/>
            </a:pPr>
            <a:r>
              <a:rPr lang="en-US" sz="1800">
                <a:solidFill>
                  <a:schemeClr val="dk1"/>
                </a:solidFill>
              </a:rPr>
              <a:t>   Age: &lt;input type="number" name="age"&gt;&lt;br&gt;</a:t>
            </a:r>
            <a:endParaRPr sz="1800">
              <a:solidFill>
                <a:schemeClr val="dk1"/>
              </a:solidFill>
            </a:endParaRPr>
          </a:p>
          <a:p>
            <a:pPr indent="0" lvl="0" marL="1371600" rtl="0" algn="l">
              <a:lnSpc>
                <a:spcPct val="115000"/>
              </a:lnSpc>
              <a:spcBef>
                <a:spcPts val="0"/>
              </a:spcBef>
              <a:spcAft>
                <a:spcPts val="0"/>
              </a:spcAft>
              <a:buNone/>
            </a:pPr>
            <a:r>
              <a:rPr lang="en-US" sz="1800">
                <a:solidFill>
                  <a:schemeClr val="dk1"/>
                </a:solidFill>
              </a:rPr>
              <a:t>   &lt;button&gt;Add&lt;/button&gt;</a:t>
            </a:r>
            <a:endParaRPr sz="1800">
              <a:solidFill>
                <a:schemeClr val="dk1"/>
              </a:solidFill>
            </a:endParaRPr>
          </a:p>
          <a:p>
            <a:pPr indent="0" lvl="0" marL="914400" rtl="0" algn="l">
              <a:lnSpc>
                <a:spcPct val="115000"/>
              </a:lnSpc>
              <a:spcBef>
                <a:spcPts val="0"/>
              </a:spcBef>
              <a:spcAft>
                <a:spcPts val="0"/>
              </a:spcAft>
              <a:buNone/>
            </a:pPr>
            <a:r>
              <a:rPr lang="en-US" sz="1800">
                <a:solidFill>
                  <a:schemeClr val="dk1"/>
                </a:solidFill>
              </a:rPr>
              <a:t>&lt;/form&gt;</a:t>
            </a:r>
            <a:endParaRPr sz="1800">
              <a:solidFill>
                <a:schemeClr val="dk1"/>
              </a:solidFill>
            </a:endParaRPr>
          </a:p>
          <a:p>
            <a:pPr indent="0" lvl="0" marL="0" rtl="0" algn="l">
              <a:lnSpc>
                <a:spcPct val="115000"/>
              </a:lnSpc>
              <a:spcBef>
                <a:spcPts val="0"/>
              </a:spcBef>
              <a:spcAft>
                <a:spcPts val="0"/>
              </a:spcAft>
              <a:buNone/>
            </a:pPr>
            <a:r>
              <a:rPr b="1" lang="en-US" sz="1900">
                <a:solidFill>
                  <a:srgbClr val="188038"/>
                </a:solidFill>
                <a:latin typeface="Roboto Mono"/>
                <a:ea typeface="Roboto Mono"/>
                <a:cs typeface="Roboto Mono"/>
                <a:sym typeface="Roboto Mono"/>
              </a:rPr>
              <a:t>php artisan make:view students/edit</a:t>
            </a:r>
            <a:endParaRPr b="1" sz="1900">
              <a:solidFill>
                <a:srgbClr val="188038"/>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n-US" sz="1900">
                <a:solidFill>
                  <a:srgbClr val="188038"/>
                </a:solidFill>
                <a:latin typeface="Roboto Mono"/>
                <a:ea typeface="Roboto Mono"/>
                <a:cs typeface="Roboto Mono"/>
                <a:sym typeface="Roboto Mono"/>
              </a:rPr>
              <a:t> resources/views/students/</a:t>
            </a:r>
            <a:r>
              <a:rPr b="1" lang="en-US" sz="1800">
                <a:solidFill>
                  <a:srgbClr val="188038"/>
                </a:solidFill>
                <a:latin typeface="Roboto Mono"/>
                <a:ea typeface="Roboto Mono"/>
                <a:cs typeface="Roboto Mono"/>
                <a:sym typeface="Roboto Mono"/>
              </a:rPr>
              <a:t>edit.blade.php</a:t>
            </a:r>
            <a:endParaRPr b="1" sz="1800">
              <a:solidFill>
                <a:srgbClr val="188038"/>
              </a:solidFill>
              <a:latin typeface="Roboto Mono"/>
              <a:ea typeface="Roboto Mono"/>
              <a:cs typeface="Roboto Mono"/>
              <a:sym typeface="Roboto Mono"/>
            </a:endParaRPr>
          </a:p>
          <a:p>
            <a:pPr indent="0" lvl="0" marL="457200" rtl="0" algn="l">
              <a:lnSpc>
                <a:spcPct val="115000"/>
              </a:lnSpc>
              <a:spcBef>
                <a:spcPts val="0"/>
              </a:spcBef>
              <a:spcAft>
                <a:spcPts val="0"/>
              </a:spcAft>
              <a:buNone/>
            </a:pPr>
            <a:r>
              <a:rPr lang="en-US" sz="1800">
                <a:solidFill>
                  <a:schemeClr val="dk1"/>
                </a:solidFill>
              </a:rPr>
              <a:t>&lt;h2&gt;Edit Student&lt;/h2&gt;</a:t>
            </a:r>
            <a:endParaRPr sz="1800">
              <a:solidFill>
                <a:schemeClr val="dk1"/>
              </a:solidFill>
            </a:endParaRPr>
          </a:p>
          <a:p>
            <a:pPr indent="457200" lvl="0" marL="457200" rtl="0" algn="l">
              <a:lnSpc>
                <a:spcPct val="115000"/>
              </a:lnSpc>
              <a:spcBef>
                <a:spcPts val="0"/>
              </a:spcBef>
              <a:spcAft>
                <a:spcPts val="0"/>
              </a:spcAft>
              <a:buNone/>
            </a:pPr>
            <a:r>
              <a:rPr lang="en-US" sz="1800">
                <a:solidFill>
                  <a:schemeClr val="dk1"/>
                </a:solidFill>
              </a:rPr>
              <a:t>&lt;form action="/students/update" method="GET"&gt;</a:t>
            </a:r>
            <a:endParaRPr sz="1800">
              <a:solidFill>
                <a:schemeClr val="dk1"/>
              </a:solidFill>
            </a:endParaRPr>
          </a:p>
          <a:p>
            <a:pPr indent="0" lvl="0" marL="914400" rtl="0" algn="l">
              <a:lnSpc>
                <a:spcPct val="115000"/>
              </a:lnSpc>
              <a:spcBef>
                <a:spcPts val="0"/>
              </a:spcBef>
              <a:spcAft>
                <a:spcPts val="0"/>
              </a:spcAft>
              <a:buNone/>
            </a:pPr>
            <a:r>
              <a:rPr lang="en-US" sz="1800">
                <a:solidFill>
                  <a:schemeClr val="dk1"/>
                </a:solidFill>
              </a:rPr>
              <a:t>   	&lt;input type="hidden" name="id" value="{{ $student-&gt;_id }}"&gt;</a:t>
            </a:r>
            <a:endParaRPr sz="1800">
              <a:solidFill>
                <a:schemeClr val="dk1"/>
              </a:solidFill>
            </a:endParaRPr>
          </a:p>
          <a:p>
            <a:pPr indent="0" lvl="0" marL="1371600" rtl="0" algn="l">
              <a:lnSpc>
                <a:spcPct val="115000"/>
              </a:lnSpc>
              <a:spcBef>
                <a:spcPts val="0"/>
              </a:spcBef>
              <a:spcAft>
                <a:spcPts val="0"/>
              </a:spcAft>
              <a:buNone/>
            </a:pPr>
            <a:r>
              <a:rPr lang="en-US" sz="1800">
                <a:solidFill>
                  <a:schemeClr val="dk1"/>
                </a:solidFill>
              </a:rPr>
              <a:t>   Name: &lt;input type="text" name="name" value="{{ $student-&gt;name }}"&gt;&lt;br&gt;</a:t>
            </a:r>
            <a:endParaRPr sz="1800">
              <a:solidFill>
                <a:schemeClr val="dk1"/>
              </a:solidFill>
            </a:endParaRPr>
          </a:p>
          <a:p>
            <a:pPr indent="0" lvl="0" marL="1371600" rtl="0" algn="l">
              <a:lnSpc>
                <a:spcPct val="115000"/>
              </a:lnSpc>
              <a:spcBef>
                <a:spcPts val="0"/>
              </a:spcBef>
              <a:spcAft>
                <a:spcPts val="0"/>
              </a:spcAft>
              <a:buNone/>
            </a:pPr>
            <a:r>
              <a:rPr lang="en-US" sz="1800">
                <a:solidFill>
                  <a:schemeClr val="dk1"/>
                </a:solidFill>
              </a:rPr>
              <a:t>   Email: &lt;input type="email" name="email" value="{{ $student-&gt;email }}"&gt;&lt;br&gt;</a:t>
            </a:r>
            <a:endParaRPr sz="1800">
              <a:solidFill>
                <a:schemeClr val="dk1"/>
              </a:solidFill>
            </a:endParaRPr>
          </a:p>
          <a:p>
            <a:pPr indent="0" lvl="0" marL="1371600" rtl="0" algn="l">
              <a:lnSpc>
                <a:spcPct val="115000"/>
              </a:lnSpc>
              <a:spcBef>
                <a:spcPts val="0"/>
              </a:spcBef>
              <a:spcAft>
                <a:spcPts val="0"/>
              </a:spcAft>
              <a:buNone/>
            </a:pPr>
            <a:r>
              <a:rPr lang="en-US" sz="1800">
                <a:solidFill>
                  <a:schemeClr val="dk1"/>
                </a:solidFill>
              </a:rPr>
              <a:t>   Age: &lt;input type="number" name="age" value="{{ $student-&gt;age }}"&gt;&lt;br&gt;</a:t>
            </a:r>
            <a:endParaRPr sz="1800">
              <a:solidFill>
                <a:schemeClr val="dk1"/>
              </a:solidFill>
            </a:endParaRPr>
          </a:p>
          <a:p>
            <a:pPr indent="0" lvl="0" marL="914400" rtl="0" algn="l">
              <a:lnSpc>
                <a:spcPct val="115000"/>
              </a:lnSpc>
              <a:spcBef>
                <a:spcPts val="0"/>
              </a:spcBef>
              <a:spcAft>
                <a:spcPts val="0"/>
              </a:spcAft>
              <a:buNone/>
            </a:pPr>
            <a:r>
              <a:rPr lang="en-US" sz="1800">
                <a:solidFill>
                  <a:schemeClr val="dk1"/>
                </a:solidFill>
              </a:rPr>
              <a:t>   	&lt;button&gt;Update&lt;/button&gt;</a:t>
            </a:r>
            <a:endParaRPr sz="1800">
              <a:solidFill>
                <a:schemeClr val="dk1"/>
              </a:solidFill>
            </a:endParaRPr>
          </a:p>
          <a:p>
            <a:pPr indent="0" lvl="0" marL="914400" rtl="0" algn="l">
              <a:lnSpc>
                <a:spcPct val="115000"/>
              </a:lnSpc>
              <a:spcBef>
                <a:spcPts val="0"/>
              </a:spcBef>
              <a:spcAft>
                <a:spcPts val="0"/>
              </a:spcAft>
              <a:buNone/>
            </a:pPr>
            <a:r>
              <a:rPr lang="en-US" sz="1800">
                <a:solidFill>
                  <a:schemeClr val="dk1"/>
                </a:solidFill>
              </a:rPr>
              <a:t>&lt;/form&gt;</a:t>
            </a:r>
            <a:endParaRPr sz="18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id="289" name="Google Shape;289;g3da4f68f186_0_111"/>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290" name="Google Shape;290;g3da4f68f186_0_111"/>
          <p:cNvSpPr txBox="1"/>
          <p:nvPr/>
        </p:nvSpPr>
        <p:spPr>
          <a:xfrm>
            <a:off x="323600" y="0"/>
            <a:ext cx="7737900" cy="5388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Clr>
                <a:schemeClr val="dk1"/>
              </a:buClr>
              <a:buSzPts val="1100"/>
              <a:buFont typeface="Arial"/>
              <a:buNone/>
            </a:pPr>
            <a:r>
              <a:t/>
            </a:r>
            <a:endParaRPr b="1" sz="2300">
              <a:solidFill>
                <a:schemeClr val="dk1"/>
              </a:solidFill>
            </a:endParaRPr>
          </a:p>
        </p:txBody>
      </p:sp>
      <p:sp>
        <p:nvSpPr>
          <p:cNvPr id="291" name="Google Shape;291;g3da4f68f186_0_111"/>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292" name="Google Shape;292;g3da4f68f186_0_111"/>
          <p:cNvSpPr txBox="1"/>
          <p:nvPr/>
        </p:nvSpPr>
        <p:spPr>
          <a:xfrm>
            <a:off x="0" y="0"/>
            <a:ext cx="30000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b="1" sz="1700">
              <a:solidFill>
                <a:srgbClr val="188038"/>
              </a:solidFill>
              <a:latin typeface="Roboto Mono"/>
              <a:ea typeface="Roboto Mono"/>
              <a:cs typeface="Roboto Mono"/>
              <a:sym typeface="Roboto Mono"/>
            </a:endParaRPr>
          </a:p>
        </p:txBody>
      </p:sp>
      <p:sp>
        <p:nvSpPr>
          <p:cNvPr id="293" name="Google Shape;293;g3da4f68f186_0_111"/>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294" name="Google Shape;294;g3da4f68f186_0_111"/>
          <p:cNvSpPr txBox="1"/>
          <p:nvPr/>
        </p:nvSpPr>
        <p:spPr>
          <a:xfrm>
            <a:off x="0" y="0"/>
            <a:ext cx="11283000" cy="6649500"/>
          </a:xfrm>
          <a:prstGeom prst="rect">
            <a:avLst/>
          </a:prstGeom>
          <a:noFill/>
          <a:ln>
            <a:noFill/>
          </a:ln>
        </p:spPr>
        <p:txBody>
          <a:bodyPr anchorCtr="0" anchor="t" bIns="91425" lIns="91425" spcFirstLastPara="1" rIns="91425" wrap="square" tIns="91425">
            <a:spAutoFit/>
          </a:bodyPr>
          <a:lstStyle/>
          <a:p>
            <a:pPr indent="457200" lvl="0" marL="0" rtl="0" algn="l">
              <a:lnSpc>
                <a:spcPct val="115000"/>
              </a:lnSpc>
              <a:spcBef>
                <a:spcPts val="0"/>
              </a:spcBef>
              <a:spcAft>
                <a:spcPts val="0"/>
              </a:spcAft>
              <a:buNone/>
            </a:pPr>
            <a:r>
              <a:rPr b="1" lang="en-US" sz="2000">
                <a:solidFill>
                  <a:schemeClr val="dk1"/>
                </a:solidFill>
              </a:rPr>
              <a:t>php </a:t>
            </a:r>
            <a:r>
              <a:rPr b="1" lang="en-US" sz="2000">
                <a:solidFill>
                  <a:schemeClr val="dk1"/>
                </a:solidFill>
              </a:rPr>
              <a:t>artisan</a:t>
            </a:r>
            <a:r>
              <a:rPr b="1" lang="en-US" sz="2000">
                <a:solidFill>
                  <a:schemeClr val="dk1"/>
                </a:solidFill>
              </a:rPr>
              <a:t> serve-&gt; open: </a:t>
            </a:r>
            <a:r>
              <a:rPr lang="en-US" sz="2000" u="sng">
                <a:solidFill>
                  <a:schemeClr val="hlink"/>
                </a:solidFill>
                <a:hlinkClick r:id="rId4"/>
              </a:rPr>
              <a:t>http://127.0.0.1:8000</a:t>
            </a:r>
            <a:endParaRPr b="1" sz="2000">
              <a:solidFill>
                <a:schemeClr val="dk1"/>
              </a:solidFill>
            </a:endParaRPr>
          </a:p>
          <a:p>
            <a:pPr indent="457200" lvl="0" marL="0" rtl="0" algn="l">
              <a:lnSpc>
                <a:spcPct val="115000"/>
              </a:lnSpc>
              <a:spcBef>
                <a:spcPts val="1800"/>
              </a:spcBef>
              <a:spcAft>
                <a:spcPts val="0"/>
              </a:spcAft>
              <a:buNone/>
            </a:pPr>
            <a:r>
              <a:rPr b="1" lang="en-US" sz="2000">
                <a:solidFill>
                  <a:schemeClr val="dk1"/>
                </a:solidFill>
              </a:rPr>
              <a:t>Insert:  </a:t>
            </a:r>
            <a:r>
              <a:rPr lang="en-US" sz="2000" u="sng">
                <a:solidFill>
                  <a:schemeClr val="hlink"/>
                </a:solidFill>
                <a:hlinkClick r:id="rId5"/>
              </a:rPr>
              <a:t>http://127.0.0.1:8000</a:t>
            </a:r>
            <a:r>
              <a:rPr lang="en-US" sz="2000">
                <a:solidFill>
                  <a:schemeClr val="dk1"/>
                </a:solidFill>
              </a:rPr>
              <a:t>/students?name=Rabaab&amp;email=</a:t>
            </a:r>
            <a:r>
              <a:rPr lang="en-US" sz="2000" u="sng">
                <a:solidFill>
                  <a:schemeClr val="hlink"/>
                </a:solidFill>
                <a:hlinkClick r:id="rId6"/>
              </a:rPr>
              <a:t>test@gmail.com</a:t>
            </a:r>
            <a:r>
              <a:rPr lang="en-US" sz="2000">
                <a:solidFill>
                  <a:schemeClr val="dk1"/>
                </a:solidFill>
              </a:rPr>
              <a:t>&amp;age=22</a:t>
            </a:r>
            <a:endParaRPr sz="2000">
              <a:solidFill>
                <a:schemeClr val="dk1"/>
              </a:solidFill>
            </a:endParaRPr>
          </a:p>
          <a:p>
            <a:pPr indent="0" lvl="0" marL="457200" rtl="0" algn="l">
              <a:lnSpc>
                <a:spcPct val="115000"/>
              </a:lnSpc>
              <a:spcBef>
                <a:spcPts val="400"/>
              </a:spcBef>
              <a:spcAft>
                <a:spcPts val="0"/>
              </a:spcAft>
              <a:buNone/>
            </a:pPr>
            <a:r>
              <a:rPr b="1" lang="en-US" sz="2000">
                <a:solidFill>
                  <a:schemeClr val="dk1"/>
                </a:solidFill>
              </a:rPr>
              <a:t>Edit:  </a:t>
            </a:r>
            <a:r>
              <a:rPr lang="en-US" sz="2000" u="sng">
                <a:solidFill>
                  <a:schemeClr val="hlink"/>
                </a:solidFill>
                <a:hlinkClick r:id="rId7"/>
              </a:rPr>
              <a:t>http://127.0.0.1:8000</a:t>
            </a:r>
            <a:r>
              <a:rPr lang="en-US" sz="2000">
                <a:solidFill>
                  <a:schemeClr val="dk1"/>
                </a:solidFill>
              </a:rPr>
              <a:t>/students/{id}/edit?id=abc123</a:t>
            </a:r>
            <a:endParaRPr sz="2000">
              <a:solidFill>
                <a:schemeClr val="dk1"/>
              </a:solidFill>
            </a:endParaRPr>
          </a:p>
          <a:p>
            <a:pPr indent="457200" lvl="0" marL="0" rtl="0" algn="l">
              <a:lnSpc>
                <a:spcPct val="115000"/>
              </a:lnSpc>
              <a:spcBef>
                <a:spcPts val="0"/>
              </a:spcBef>
              <a:spcAft>
                <a:spcPts val="0"/>
              </a:spcAft>
              <a:buNone/>
            </a:pPr>
            <a:r>
              <a:rPr b="1" lang="en-US" sz="2000">
                <a:solidFill>
                  <a:schemeClr val="dk1"/>
                </a:solidFill>
              </a:rPr>
              <a:t>Update</a:t>
            </a:r>
            <a:r>
              <a:rPr b="1" lang="en-US" sz="2000">
                <a:solidFill>
                  <a:schemeClr val="dk1"/>
                </a:solidFill>
              </a:rPr>
              <a:t> </a:t>
            </a:r>
            <a:r>
              <a:rPr lang="en-US" sz="2000" u="sng">
                <a:solidFill>
                  <a:schemeClr val="hlink"/>
                </a:solidFill>
                <a:hlinkClick r:id="rId8"/>
              </a:rPr>
              <a:t>http://127.0.0.1:8000</a:t>
            </a:r>
            <a:r>
              <a:rPr lang="en-US" sz="2000">
                <a:solidFill>
                  <a:schemeClr val="dk1"/>
                </a:solidFill>
              </a:rPr>
              <a:t>/students/update?id=abc123&amp;name=Updated</a:t>
            </a:r>
            <a:endParaRPr sz="2000">
              <a:solidFill>
                <a:schemeClr val="dk1"/>
              </a:solidFill>
            </a:endParaRPr>
          </a:p>
          <a:p>
            <a:pPr indent="0" lvl="0" marL="457200" rtl="0" algn="l">
              <a:lnSpc>
                <a:spcPct val="115000"/>
              </a:lnSpc>
              <a:spcBef>
                <a:spcPts val="0"/>
              </a:spcBef>
              <a:spcAft>
                <a:spcPts val="0"/>
              </a:spcAft>
              <a:buNone/>
            </a:pPr>
            <a:r>
              <a:rPr b="1" lang="en-US" sz="2000">
                <a:solidFill>
                  <a:schemeClr val="dk1"/>
                </a:solidFill>
              </a:rPr>
              <a:t>Delete</a:t>
            </a:r>
            <a:r>
              <a:rPr b="1" lang="en-US" sz="2000">
                <a:solidFill>
                  <a:schemeClr val="dk1"/>
                </a:solidFill>
              </a:rPr>
              <a:t> </a:t>
            </a:r>
            <a:r>
              <a:rPr lang="en-US" sz="2000" u="sng">
                <a:solidFill>
                  <a:schemeClr val="hlink"/>
                </a:solidFill>
                <a:hlinkClick r:id="rId9"/>
              </a:rPr>
              <a:t>http://127.0.0.1:8000</a:t>
            </a:r>
            <a:r>
              <a:rPr lang="en-US" sz="2000">
                <a:solidFill>
                  <a:schemeClr val="dk1"/>
                </a:solidFill>
              </a:rPr>
              <a:t>/students/{id}?id=abc123</a:t>
            </a:r>
            <a:endParaRPr sz="2000">
              <a:solidFill>
                <a:schemeClr val="dk1"/>
              </a:solidFill>
            </a:endParaRPr>
          </a:p>
          <a:p>
            <a:pPr indent="-355600" lvl="0" marL="457200" rtl="0" algn="l">
              <a:lnSpc>
                <a:spcPct val="115000"/>
              </a:lnSpc>
              <a:spcBef>
                <a:spcPts val="1800"/>
              </a:spcBef>
              <a:spcAft>
                <a:spcPts val="0"/>
              </a:spcAft>
              <a:buClr>
                <a:schemeClr val="dk1"/>
              </a:buClr>
              <a:buSzPts val="2000"/>
              <a:buChar char="●"/>
            </a:pPr>
            <a:r>
              <a:rPr b="1" lang="en-US" sz="2000">
                <a:solidFill>
                  <a:schemeClr val="dk1"/>
                </a:solidFill>
              </a:rPr>
              <a:t>Resource Controller normally uses:</a:t>
            </a:r>
            <a:endParaRPr b="1" sz="2000">
              <a:solidFill>
                <a:schemeClr val="dk1"/>
              </a:solidFill>
            </a:endParaRPr>
          </a:p>
          <a:p>
            <a:pPr indent="0" lvl="0" marL="457200" rtl="0" algn="l">
              <a:lnSpc>
                <a:spcPct val="115000"/>
              </a:lnSpc>
              <a:spcBef>
                <a:spcPts val="400"/>
              </a:spcBef>
              <a:spcAft>
                <a:spcPts val="0"/>
              </a:spcAft>
              <a:buNone/>
            </a:pPr>
            <a:r>
              <a:rPr lang="en-US" sz="2000">
                <a:solidFill>
                  <a:schemeClr val="dk1"/>
                </a:solidFill>
              </a:rPr>
              <a:t>/students/{id}</a:t>
            </a:r>
            <a:endParaRPr sz="2000">
              <a:solidFill>
                <a:schemeClr val="dk1"/>
              </a:solidFill>
            </a:endParaRPr>
          </a:p>
          <a:p>
            <a:pPr indent="0" lvl="0" marL="914400" rtl="0" algn="l">
              <a:lnSpc>
                <a:spcPct val="115000"/>
              </a:lnSpc>
              <a:spcBef>
                <a:spcPts val="0"/>
              </a:spcBef>
              <a:spcAft>
                <a:spcPts val="0"/>
              </a:spcAft>
              <a:buNone/>
            </a:pPr>
            <a:r>
              <a:rPr lang="en-US" sz="2000">
                <a:solidFill>
                  <a:schemeClr val="dk1"/>
                </a:solidFill>
              </a:rPr>
              <a:t>But here we override using:</a:t>
            </a:r>
            <a:endParaRPr sz="2000">
              <a:solidFill>
                <a:schemeClr val="dk1"/>
              </a:solidFill>
            </a:endParaRPr>
          </a:p>
          <a:p>
            <a:pPr indent="457200" lvl="0" marL="457200" rtl="0" algn="l">
              <a:lnSpc>
                <a:spcPct val="115000"/>
              </a:lnSpc>
              <a:spcBef>
                <a:spcPts val="0"/>
              </a:spcBef>
              <a:spcAft>
                <a:spcPts val="0"/>
              </a:spcAft>
              <a:buNone/>
            </a:pPr>
            <a:r>
              <a:rPr lang="en-US" sz="2000">
                <a:solidFill>
                  <a:schemeClr val="dk1"/>
                </a:solidFill>
              </a:rPr>
              <a:t>?id=abc123</a:t>
            </a:r>
            <a:endParaRPr sz="2000">
              <a:solidFill>
                <a:schemeClr val="dk1"/>
              </a:solidFill>
            </a:endParaRPr>
          </a:p>
          <a:p>
            <a:pPr indent="-355600" lvl="0" marL="457200" rtl="0" algn="l">
              <a:lnSpc>
                <a:spcPct val="115000"/>
              </a:lnSpc>
              <a:spcBef>
                <a:spcPts val="1800"/>
              </a:spcBef>
              <a:spcAft>
                <a:spcPts val="0"/>
              </a:spcAft>
              <a:buClr>
                <a:schemeClr val="dk1"/>
              </a:buClr>
              <a:buSzPts val="2000"/>
              <a:buChar char="●"/>
            </a:pPr>
            <a:r>
              <a:rPr b="1" lang="en-US" sz="2000">
                <a:solidFill>
                  <a:schemeClr val="dk1"/>
                </a:solidFill>
              </a:rPr>
              <a:t>MongoDB ID:</a:t>
            </a:r>
            <a:endParaRPr b="1" sz="2000">
              <a:solidFill>
                <a:schemeClr val="dk1"/>
              </a:solidFill>
            </a:endParaRPr>
          </a:p>
          <a:p>
            <a:pPr indent="457200" lvl="0" marL="0" rtl="0" algn="l">
              <a:lnSpc>
                <a:spcPct val="115000"/>
              </a:lnSpc>
              <a:spcBef>
                <a:spcPts val="400"/>
              </a:spcBef>
              <a:spcAft>
                <a:spcPts val="0"/>
              </a:spcAft>
              <a:buNone/>
            </a:pPr>
            <a:r>
              <a:rPr lang="en-US" sz="2000">
                <a:solidFill>
                  <a:schemeClr val="dk1"/>
                </a:solidFill>
              </a:rPr>
              <a:t>_id instead of id</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 Query String Drawback</a:t>
            </a:r>
            <a:endParaRPr b="1" sz="2000">
              <a:solidFill>
                <a:schemeClr val="dk1"/>
              </a:solidFill>
            </a:endParaRPr>
          </a:p>
          <a:p>
            <a:pPr indent="0" lvl="0" marL="457200" rtl="0" algn="l">
              <a:lnSpc>
                <a:spcPct val="115000"/>
              </a:lnSpc>
              <a:spcBef>
                <a:spcPts val="0"/>
              </a:spcBef>
              <a:spcAft>
                <a:spcPts val="0"/>
              </a:spcAft>
              <a:buNone/>
            </a:pPr>
            <a:r>
              <a:rPr lang="en-US" sz="2000">
                <a:solidFill>
                  <a:schemeClr val="dk1"/>
                </a:solidFill>
              </a:rPr>
              <a:t> Not secure</a:t>
            </a:r>
            <a:br>
              <a:rPr lang="en-US" sz="2000">
                <a:solidFill>
                  <a:schemeClr val="dk1"/>
                </a:solidFill>
              </a:rPr>
            </a:br>
            <a:r>
              <a:rPr lang="en-US" sz="2000">
                <a:solidFill>
                  <a:schemeClr val="dk1"/>
                </a:solidFill>
              </a:rPr>
              <a:t> Visible in URL</a:t>
            </a:r>
            <a:br>
              <a:rPr lang="en-US" sz="2000">
                <a:solidFill>
                  <a:schemeClr val="dk1"/>
                </a:solidFill>
              </a:rPr>
            </a:br>
            <a:r>
              <a:rPr lang="en-US" sz="2000">
                <a:solidFill>
                  <a:schemeClr val="dk1"/>
                </a:solidFill>
              </a:rPr>
              <a:t> Not REST standard</a:t>
            </a:r>
            <a:endParaRPr sz="2000">
              <a:solidFill>
                <a:schemeClr val="dk1"/>
              </a:solidFill>
            </a:endParaRPr>
          </a:p>
          <a:p>
            <a:pPr indent="0" lvl="0" marL="0" rtl="0" algn="l">
              <a:lnSpc>
                <a:spcPct val="115000"/>
              </a:lnSpc>
              <a:spcBef>
                <a:spcPts val="0"/>
              </a:spcBef>
              <a:spcAft>
                <a:spcPts val="0"/>
              </a:spcAft>
              <a:buNone/>
            </a:pPr>
            <a:r>
              <a:t/>
            </a:r>
            <a:endParaRPr sz="20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2025-02-05T09:56:21Z</dcterms:created>
  <dc:creator>Yatika hasija</dc:creator>
</cp:coreProperties>
</file>