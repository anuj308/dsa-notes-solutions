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6858000" cx="12192000"/>
  <p:notesSz cx="6858000" cy="9144000"/>
  <p:embeddedFontLst>
    <p:embeddedFont>
      <p:font typeface="Source Code Pro"/>
      <p:regular r:id="rId71"/>
      <p:bold r:id="rId72"/>
      <p:italic r:id="rId73"/>
      <p:boldItalic r:id="rId74"/>
    </p:embeddedFont>
    <p:embeddedFont>
      <p:font typeface="Roboto Mono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79" roundtripDataSignature="AMtx7mjREfMfFaGSYyrHIoE4qgu8w/bw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italic.fntdata"/><Relationship Id="rId72" Type="http://schemas.openxmlformats.org/officeDocument/2006/relationships/font" Target="fonts/SourceCodePro-bold.fntdata"/><Relationship Id="rId31" Type="http://schemas.openxmlformats.org/officeDocument/2006/relationships/slide" Target="slides/slide26.xml"/><Relationship Id="rId75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74" Type="http://schemas.openxmlformats.org/officeDocument/2006/relationships/font" Target="fonts/SourceCodePro-boldItalic.fntdata"/><Relationship Id="rId33" Type="http://schemas.openxmlformats.org/officeDocument/2006/relationships/slide" Target="slides/slide28.xml"/><Relationship Id="rId77" Type="http://schemas.openxmlformats.org/officeDocument/2006/relationships/font" Target="fonts/RobotoMono-italic.fntdata"/><Relationship Id="rId32" Type="http://schemas.openxmlformats.org/officeDocument/2006/relationships/slide" Target="slides/slide27.xml"/><Relationship Id="rId76" Type="http://schemas.openxmlformats.org/officeDocument/2006/relationships/font" Target="fonts/RobotoMono-bold.fntdata"/><Relationship Id="rId35" Type="http://schemas.openxmlformats.org/officeDocument/2006/relationships/slide" Target="slides/slide30.xml"/><Relationship Id="rId79" Type="http://customschemas.google.com/relationships/presentationmetadata" Target="metadata"/><Relationship Id="rId34" Type="http://schemas.openxmlformats.org/officeDocument/2006/relationships/slide" Target="slides/slide29.xml"/><Relationship Id="rId78" Type="http://schemas.openxmlformats.org/officeDocument/2006/relationships/font" Target="fonts/RobotoMono-boldItalic.fntdata"/><Relationship Id="rId71" Type="http://schemas.openxmlformats.org/officeDocument/2006/relationships/font" Target="fonts/SourceCodePro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10798bb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d10798bb0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7e767c37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d7e767c37d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e767c37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d7e767c37d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e767c37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d7e767c37d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7e767c37d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d7e767c37d_1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7e767c37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d7e767c37d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7e767c37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d7e767c37d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e767c37d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d7e767c37d_1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7e767c37d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7e767c37d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1e0da6b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da1e0da6b8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a1e0da6b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da1e0da6b8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1e0da6b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da1e0da6b8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a1e0da6b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da1e0da6b8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a1e0da6b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da1e0da6b8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a1e0da6b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a1e0da6b8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7e767c37d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d7e767c37d_1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7e767c37d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d7e767c37d_1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7e767c37d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d7e767c37d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7e767c37d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d7e767c37d_1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7e767c37d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7e767c37d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7e767c37d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d7e767c37d_1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7e767c37d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7e767c37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7e767c37d_1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7e767c37d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7e767c37d_1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7e767c37d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7e767c37d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7e767c37d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7e767c37d_1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7e767c37d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7e767c37d_1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7e767c37d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7e767c37d_1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7e767c37d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7e767c37d_1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7e767c37d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7e767c37d_1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7e767c37d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7e767c37d_1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7e767c37d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7e767c37d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7e767c37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7e767c37d_1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7e767c37d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7e767c37d_1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7e767c37d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7e767c37d_1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7e767c37d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7e767c37d_1_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7e767c37d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7e767c37d_1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7e767c37d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7e767c37d_1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7e767c37d_1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a1e0da6b8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a1e0da6b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a1e0da6b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a1e0da6b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a1e0da6b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a1e0da6b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a1e0da6b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a1e0da6b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a1e0da6b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a1e0da6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a1e0da6b8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da1e0da6b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7e767c37d_1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d7e767c37d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7e767c37d_1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7e767c37d_1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7e767c37d_1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7e767c37d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a1e0da6b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a1e0da6b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7e767c37d_1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d7e767c37d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a1e0da6b8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da1e0da6b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a1e0da6b8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da1e0da6b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a1e0da6b8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a1e0da6b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a1e0da6b8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da1e0da6b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a1e0da6b8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da1e0da6b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a1e0da6b8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da1e0da6b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a1e0da6b8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a1e0da6b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a1e0da6b8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a1e0da6b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a1e0da6b8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a1e0da6b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a1e0da6b8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a1e0da6b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a1e0da6b8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da1e0da6b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a1e0da6b8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da1e0da6b8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a1e0da6b8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a1e0da6b8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a1e0da6b8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da1e0da6b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a1e0da6b8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a1e0da6b8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localhost:8000/students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127.0.0.1:8000" TargetMode="External"/><Relationship Id="rId4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127.0.0.1:8000/dashboard" TargetMode="External"/><Relationship Id="rId4" Type="http://schemas.openxmlformats.org/officeDocument/2006/relationships/hyperlink" Target="http://127.0.0.1:8000/register" TargetMode="External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admin.localhost:8000" TargetMode="External"/><Relationship Id="rId4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127.0.0.1:8000/home" TargetMode="External"/><Relationship Id="rId4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967038" y="804864"/>
            <a:ext cx="6572250" cy="219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Rounded"/>
              <a:buNone/>
            </a:pPr>
            <a:r>
              <a:rPr b="1" lang="en-US" sz="4000">
                <a:latin typeface="Arial Rounded"/>
                <a:ea typeface="Arial Rounded"/>
                <a:cs typeface="Arial Rounded"/>
                <a:sym typeface="Arial Rounded"/>
              </a:rPr>
              <a:t>INT 221 - MVC PROGRAMMING</a:t>
            </a:r>
            <a:endParaRPr b="1" sz="40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127750" y="3220150"/>
            <a:ext cx="100380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13716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4400"/>
              <a:t>Unit 3 </a:t>
            </a:r>
            <a:endParaRPr sz="440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0798bb04_0_6"/>
          <p:cNvSpPr txBox="1"/>
          <p:nvPr>
            <p:ph type="title"/>
          </p:nvPr>
        </p:nvSpPr>
        <p:spPr>
          <a:xfrm>
            <a:off x="838200" y="1573675"/>
            <a:ext cx="10450200" cy="48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38290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In Laravel, a controller is a crucial component used to handle HTTP requests and define the application's response logic. Controllers serve as an intermediary between routes and the actual business logic of your application.</a:t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Instead of defining all of your request handling logic as closures in your route files, you may wish to organize this behavior using "controller" classes. </a:t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Controllers can group related request handling logic into a single class.</a:t>
            </a:r>
            <a:endParaRPr b="1" sz="2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2962"/>
              <a:buFont typeface="Calibri"/>
              <a:buNone/>
            </a:pPr>
            <a:r>
              <a:t/>
            </a:r>
            <a:endParaRPr b="1" sz="2700"/>
          </a:p>
        </p:txBody>
      </p:sp>
      <p:pic>
        <p:nvPicPr>
          <p:cNvPr id="92" name="Google Shape;92;g3d10798bb0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d10798bb04_0_6"/>
          <p:cNvSpPr txBox="1"/>
          <p:nvPr/>
        </p:nvSpPr>
        <p:spPr>
          <a:xfrm>
            <a:off x="579100" y="428275"/>
            <a:ext cx="85329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7e767c37d_1_14"/>
          <p:cNvSpPr txBox="1"/>
          <p:nvPr>
            <p:ph type="title"/>
          </p:nvPr>
        </p:nvSpPr>
        <p:spPr>
          <a:xfrm>
            <a:off x="838200" y="1105525"/>
            <a:ext cx="10450200" cy="53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38290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For example, a UserController class might handle all incoming requests related to users, including showing, creating, updating, and deleting users. </a:t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By default, controllers are stored in the app/Http/Controllers directory.</a:t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en-US" sz="2700">
                <a:latin typeface="Arial"/>
                <a:ea typeface="Arial"/>
                <a:cs typeface="Arial"/>
                <a:sym typeface="Arial"/>
              </a:rPr>
              <a:t> handles request logic and connects: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Route → Controller → View/Response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 Keeps code clean (follows MVC pattern)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3829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1000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Avoids writing logic in routes</a:t>
            </a:r>
            <a:endParaRPr b="1" sz="2700"/>
          </a:p>
        </p:txBody>
      </p:sp>
      <p:pic>
        <p:nvPicPr>
          <p:cNvPr id="99" name="Google Shape;99;g3d7e767c37d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d7e767c37d_1_14"/>
          <p:cNvSpPr txBox="1"/>
          <p:nvPr/>
        </p:nvSpPr>
        <p:spPr>
          <a:xfrm>
            <a:off x="579100" y="125425"/>
            <a:ext cx="8532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7e767c37d_1_20"/>
          <p:cNvSpPr txBox="1"/>
          <p:nvPr>
            <p:ph type="title"/>
          </p:nvPr>
        </p:nvSpPr>
        <p:spPr>
          <a:xfrm>
            <a:off x="838200" y="420125"/>
            <a:ext cx="10450200" cy="6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php artisan make:controller StudentController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 File created at: app/Http/Controllers/StudentController.php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Basic Controller Structure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namespace App\Http\Controllers;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Illuminate\Http\Request;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class StudentController extends Controller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{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public function index()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{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return "All Students";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}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}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index()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→ method (action)</a:t>
            </a:r>
            <a:endParaRPr b="1" sz="2700"/>
          </a:p>
        </p:txBody>
      </p:sp>
      <p:pic>
        <p:nvPicPr>
          <p:cNvPr id="106" name="Google Shape;106;g3d7e767c37d_1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e767c37d_1_39"/>
          <p:cNvSpPr txBox="1"/>
          <p:nvPr>
            <p:ph type="title"/>
          </p:nvPr>
        </p:nvSpPr>
        <p:spPr>
          <a:xfrm>
            <a:off x="838200" y="1050750"/>
            <a:ext cx="10450200" cy="56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7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routes/web.php</a:t>
            </a:r>
            <a:endParaRPr sz="27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use App\Http\Controllers\StudentController;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Route::get('/students', [StudentController::class, 'index']);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make sure project is running: php artisan serve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Now open: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http://localhost:8000/students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Arial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Output: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All Students</a:t>
            </a:r>
            <a:endParaRPr b="1" sz="27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d7e767c37d_1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d7e767c37d_1_39"/>
          <p:cNvSpPr txBox="1"/>
          <p:nvPr/>
        </p:nvSpPr>
        <p:spPr>
          <a:xfrm>
            <a:off x="579100" y="428275"/>
            <a:ext cx="85329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Controller with Route</a:t>
            </a:r>
            <a:endParaRPr b="1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e767c37d_1_45"/>
          <p:cNvSpPr txBox="1"/>
          <p:nvPr>
            <p:ph type="title"/>
          </p:nvPr>
        </p:nvSpPr>
        <p:spPr>
          <a:xfrm>
            <a:off x="838200" y="695550"/>
            <a:ext cx="10450200" cy="58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6576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Controller: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public function index()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{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$students = [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['id' =&gt; 1, 'name' =&gt; 'Ravi'],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['id' =&gt; 2, 'name' =&gt; 'Aman']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];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return view('students', compact('students'));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}</a:t>
            </a:r>
            <a:endParaRPr b="1" sz="24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6576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View (</a:t>
            </a: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resources/views/students.blade.php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@foreach($students as $student)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&lt;p&gt;{{ $student['name'] }}&lt;/p&gt;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@endforeach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6576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Data passed using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compact()</a:t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Calibri"/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9" name="Google Shape;119;g3d7e767c37d_1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d7e767c37d_1_45"/>
          <p:cNvSpPr txBox="1"/>
          <p:nvPr/>
        </p:nvSpPr>
        <p:spPr>
          <a:xfrm>
            <a:off x="579100" y="125425"/>
            <a:ext cx="85329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Passing Data from Controller to View</a:t>
            </a:r>
            <a:endParaRPr b="1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d7e767c37d_1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d7e767c37d_1_55"/>
          <p:cNvSpPr txBox="1"/>
          <p:nvPr/>
        </p:nvSpPr>
        <p:spPr>
          <a:xfrm>
            <a:off x="579100" y="125425"/>
            <a:ext cx="94272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  <a:highlight>
                  <a:schemeClr val="lt1"/>
                </a:highlight>
              </a:rPr>
              <a:t>Dynamic Route + Controller (Single Student)</a:t>
            </a:r>
            <a:endParaRPr b="1" i="0" sz="3200" u="none" cap="none" strike="noStrike">
              <a:solidFill>
                <a:schemeClr val="accent2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7e767c37d_1_55"/>
          <p:cNvSpPr txBox="1"/>
          <p:nvPr/>
        </p:nvSpPr>
        <p:spPr>
          <a:xfrm>
            <a:off x="579100" y="914125"/>
            <a:ext cx="10656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Route: </a:t>
            </a:r>
            <a:r>
              <a:rPr lang="en-US" sz="2200">
                <a:solidFill>
                  <a:schemeClr val="dk1"/>
                </a:solidFill>
              </a:rPr>
              <a:t>Route::get('/student/{id}', [StudentController::class, 'show']);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Controller: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public function show($id)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$students = [      ['id' =&gt; 1, 'name' =&gt; 'Ravi'],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				['id' =&gt; 2, 'name' =&gt; 'Aman']    ];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foreach ($students as $student)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if ($student['id'] == $id)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    return view('student-detail', compact('student'));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}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}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return "Student not found";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Fetch specific student using ID: like 127.0.0.1:8000/student/1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d7e767c37d_1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7e767c37d_1_64"/>
          <p:cNvSpPr txBox="1"/>
          <p:nvPr/>
        </p:nvSpPr>
        <p:spPr>
          <a:xfrm>
            <a:off x="579100" y="428275"/>
            <a:ext cx="85329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Multiple Methods in Controller</a:t>
            </a:r>
            <a:endParaRPr b="1" sz="3200">
              <a:solidFill>
                <a:schemeClr val="accent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1" sz="5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d7e767c37d_1_64"/>
          <p:cNvSpPr txBox="1"/>
          <p:nvPr/>
        </p:nvSpPr>
        <p:spPr>
          <a:xfrm>
            <a:off x="579100" y="1173700"/>
            <a:ext cx="10738500" cy="51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class StudentController extends Controller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public function index()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{		return "All Students"; 		 }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public function create()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{		return "Create Student Form";	}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public function store(Request $request)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{			return "Student Saved";		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Common CRUD methods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d7e767c37d_1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d7e767c37d_1_77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Resource </a:t>
            </a: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Controller 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7e767c37d_1_77"/>
          <p:cNvSpPr txBox="1"/>
          <p:nvPr/>
        </p:nvSpPr>
        <p:spPr>
          <a:xfrm>
            <a:off x="675525" y="1378600"/>
            <a:ext cx="10382700" cy="54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Creation: php artisan make:controller StudentController --resource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Auto-generates: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index()     // show all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create()    // form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store()     // save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show()      // single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edit()      // edit form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update()    // update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destroy()   // delete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Route:</a:t>
            </a:r>
            <a:endParaRPr b="1"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Route::resource('students', StudentController::class);</a:t>
            </a:r>
            <a:endParaRPr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Automatically creates all routes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d7e767c37d_1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d7e767c37d_1_84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7e767c37d_1_84"/>
          <p:cNvSpPr txBox="1"/>
          <p:nvPr/>
        </p:nvSpPr>
        <p:spPr>
          <a:xfrm>
            <a:off x="334000" y="1323950"/>
            <a:ext cx="11370900" cy="55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Middleware </a:t>
            </a:r>
            <a:r>
              <a:rPr lang="en-US" sz="2000">
                <a:solidFill>
                  <a:schemeClr val="dk1"/>
                </a:solidFill>
              </a:rPr>
              <a:t> is a mechanism that acts as a </a:t>
            </a:r>
            <a:r>
              <a:rPr b="1" lang="en-US" sz="2000">
                <a:solidFill>
                  <a:schemeClr val="dk1"/>
                </a:solidFill>
              </a:rPr>
              <a:t>filter for HTTP requests</a:t>
            </a:r>
            <a:r>
              <a:rPr lang="en-US" sz="2000">
                <a:solidFill>
                  <a:schemeClr val="dk1"/>
                </a:solidFill>
              </a:rPr>
              <a:t> entering your application. It allows you to inspect, modify, allow, or deny requests </a:t>
            </a:r>
            <a:r>
              <a:rPr b="1" lang="en-US" sz="2000">
                <a:solidFill>
                  <a:schemeClr val="dk1"/>
                </a:solidFill>
              </a:rPr>
              <a:t>before they reach the controller</a:t>
            </a:r>
            <a:r>
              <a:rPr lang="en-US" sz="2000">
                <a:solidFill>
                  <a:schemeClr val="dk1"/>
                </a:solidFill>
              </a:rPr>
              <a:t>, and also modify responses </a:t>
            </a:r>
            <a:r>
              <a:rPr b="1" lang="en-US" sz="2000">
                <a:solidFill>
                  <a:schemeClr val="dk1"/>
                </a:solidFill>
              </a:rPr>
              <a:t>before they are sent back to the user</a:t>
            </a:r>
            <a:r>
              <a:rPr lang="en-US" sz="2000">
                <a:solidFill>
                  <a:schemeClr val="dk1"/>
                </a:solidFill>
              </a:rPr>
              <a:t>. Middleware is a layer between </a:t>
            </a:r>
            <a:r>
              <a:rPr b="1" lang="en-US" sz="2000">
                <a:solidFill>
                  <a:schemeClr val="dk1"/>
                </a:solidFill>
              </a:rPr>
              <a:t>request and response</a:t>
            </a:r>
            <a:r>
              <a:rPr lang="en-US" sz="2000">
                <a:solidFill>
                  <a:schemeClr val="dk1"/>
                </a:solidFill>
              </a:rPr>
              <a:t> that checks conditions like authentication, validation, or permissions before allowing access to routes.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Working Flow</a:t>
            </a:r>
            <a:endParaRPr b="1"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Request → Middleware → Controller → Response → Middleware → Browser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age.check</a:t>
            </a:r>
            <a:r>
              <a:rPr lang="en-US" sz="2000">
                <a:solidFill>
                  <a:schemeClr val="dk1"/>
                </a:solidFill>
              </a:rPr>
              <a:t> → </a:t>
            </a:r>
            <a:r>
              <a:rPr b="1" lang="en-US" sz="2000">
                <a:solidFill>
                  <a:schemeClr val="dk1"/>
                </a:solidFill>
              </a:rPr>
              <a:t>apply on complete project (global middleware)</a:t>
            </a:r>
            <a:br>
              <a:rPr b="1"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country.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</a:t>
            </a:r>
            <a:r>
              <a:rPr lang="en-US" sz="2000">
                <a:solidFill>
                  <a:schemeClr val="dk1"/>
                </a:solidFill>
              </a:rPr>
              <a:t> → </a:t>
            </a:r>
            <a:r>
              <a:rPr b="1" lang="en-US" sz="2000">
                <a:solidFill>
                  <a:schemeClr val="dk1"/>
                </a:solidFill>
              </a:rPr>
              <a:t>apply on specific route + route group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STEP 1: Create Middleware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Run commands: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php artisan make:middleware Agecheck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php artisan make:middleware Countrycheck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da1e0da6b8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da1e0da6b8_0_132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a1e0da6b8_0_132"/>
          <p:cNvSpPr txBox="1"/>
          <p:nvPr/>
        </p:nvSpPr>
        <p:spPr>
          <a:xfrm>
            <a:off x="334000" y="1323950"/>
            <a:ext cx="11762400" cy="53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STEP 2: Write Agecheck (GLOBAL)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app/Http/Middleware/Agecheck.php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&lt;?php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namespace App\Http\Middleware;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use Closure;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use Illuminate\Http\Request;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class Agecheck{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public function handle(Request $request, Closure $next){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$age = $request-&gt;age;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if ($age &lt; 18) 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    return "Not allowed (Age &lt; 18)";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return $next($request);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da1e0da6b8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da1e0da6b8_0_139"/>
          <p:cNvSpPr txBox="1"/>
          <p:nvPr/>
        </p:nvSpPr>
        <p:spPr>
          <a:xfrm>
            <a:off x="579100" y="50125"/>
            <a:ext cx="85329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a1e0da6b8_0_139"/>
          <p:cNvSpPr txBox="1"/>
          <p:nvPr/>
        </p:nvSpPr>
        <p:spPr>
          <a:xfrm>
            <a:off x="334000" y="729550"/>
            <a:ext cx="11762400" cy="5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STEP 3: Write Countrycheck (ROUTE)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app/Http/Middleware/Countrycheck.php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&lt;?php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namespace App\Http\Middleware;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use Closure;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use Illuminate\Http\Request;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class Countrycheck{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public function handle(Request $request, Closure $next){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$country = $request-&gt;country;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if ($country != "India") 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    return "Access denied (Only India allowed)";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return $next($request);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}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da1e0da6b8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da1e0da6b8_0_146"/>
          <p:cNvSpPr txBox="1"/>
          <p:nvPr/>
        </p:nvSpPr>
        <p:spPr>
          <a:xfrm>
            <a:off x="579100" y="0"/>
            <a:ext cx="8532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da1e0da6b8_0_146"/>
          <p:cNvSpPr txBox="1"/>
          <p:nvPr/>
        </p:nvSpPr>
        <p:spPr>
          <a:xfrm>
            <a:off x="334000" y="1323950"/>
            <a:ext cx="11762400" cy="51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STEP 4: Register Middleware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bootstrap/app.php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use Illuminate\Foundation\Configuration\Middleware;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-&gt;withMiddleware(function (Middleware $middleware) 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//Global middleware (runs on all routes)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$middleware-&gt;append(\App\Http\Middleware\Agecheck::class);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// Alias for route-specific middleware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$middleware-&gt;alias([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'country.check' =&gt; \App\Http\Middleware\Countrycheck::class,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]);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});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da1e0da6b8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da1e0da6b8_0_158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a1e0da6b8_0_158"/>
          <p:cNvSpPr txBox="1"/>
          <p:nvPr/>
        </p:nvSpPr>
        <p:spPr>
          <a:xfrm>
            <a:off x="334000" y="1323950"/>
            <a:ext cx="7344900" cy="59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STEP 5: Define Routes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Routes/web.php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1. Normal Route (Only Agecheck applies automatically)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Route::get('/home', function () 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return "Home Page";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});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URL: http://127.0.0.1:8000/home?age=20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2. Single Route with Countrycheck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Route::get('/profile', function () 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return "User Profile";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})-&gt;middleware('country.check');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URL: http://127.0.0.1:8000/profile?age=20&amp;country=India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77" name="Google Shape;177;g3da1e0da6b8_0_158"/>
          <p:cNvSpPr txBox="1"/>
          <p:nvPr/>
        </p:nvSpPr>
        <p:spPr>
          <a:xfrm>
            <a:off x="7625825" y="1236450"/>
            <a:ext cx="3822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/home?age=15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 Output: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Not allowed (Age &lt; 18)</a:t>
            </a:r>
            <a:endParaRPr sz="2000"/>
          </a:p>
        </p:txBody>
      </p:sp>
      <p:sp>
        <p:nvSpPr>
          <p:cNvPr id="178" name="Google Shape;178;g3da1e0da6b8_0_158"/>
          <p:cNvSpPr txBox="1"/>
          <p:nvPr/>
        </p:nvSpPr>
        <p:spPr>
          <a:xfrm>
            <a:off x="7678900" y="2960750"/>
            <a:ext cx="4200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/profile?age=20&amp;country=USA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Output: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Access denied (Only India allowed)</a:t>
            </a:r>
            <a:endParaRPr sz="2000"/>
          </a:p>
        </p:txBody>
      </p:sp>
      <p:sp>
        <p:nvSpPr>
          <p:cNvPr id="179" name="Google Shape;179;g3da1e0da6b8_0_158"/>
          <p:cNvSpPr txBox="1"/>
          <p:nvPr/>
        </p:nvSpPr>
        <p:spPr>
          <a:xfrm>
            <a:off x="7756300" y="4618725"/>
            <a:ext cx="4123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/profile?age=20&amp;country=India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Output: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User Profile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da1e0da6b8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da1e0da6b8_0_166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a1e0da6b8_0_166"/>
          <p:cNvSpPr txBox="1"/>
          <p:nvPr/>
        </p:nvSpPr>
        <p:spPr>
          <a:xfrm>
            <a:off x="334000" y="1323950"/>
            <a:ext cx="11762400" cy="5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Route Group with Countrycheck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Route::middleware(['country.check']) -&gt;group(function () 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Route::get('/dashboard', function () 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return "Dashboard";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});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Route::get('/settings', function () 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return "Settings";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});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});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URLs: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http://127.0.0.1:8000/dashboard?age=20&amp;country=India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http://127.0.0.1:8000/settings?age=20&amp;country=India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da1e0da6b8_0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da1e0da6b8_0_124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Controller Middleware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a1e0da6b8_0_124"/>
          <p:cNvSpPr txBox="1"/>
          <p:nvPr/>
        </p:nvSpPr>
        <p:spPr>
          <a:xfrm>
            <a:off x="334000" y="1323950"/>
            <a:ext cx="117624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Controller middleware is used to </a:t>
            </a:r>
            <a:r>
              <a:rPr b="1" lang="en-US" sz="2200">
                <a:solidFill>
                  <a:schemeClr val="dk1"/>
                </a:solidFill>
              </a:rPr>
              <a:t>filter requests before they reach controller methods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Applied inside controller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Controls access (auth, role, etc.)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 Runs </a:t>
            </a:r>
            <a:r>
              <a:rPr b="1" lang="en-US" sz="2200">
                <a:solidFill>
                  <a:schemeClr val="dk1"/>
                </a:solidFill>
              </a:rPr>
              <a:t>before method execution</a:t>
            </a:r>
            <a:endParaRPr b="1"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 Middleware registered in </a:t>
            </a:r>
            <a:r>
              <a:rPr b="1"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bootstrap/app.php</a:t>
            </a:r>
            <a:endParaRPr b="1"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Used in controller via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$this-&gt;middleware()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Create Middleware: </a:t>
            </a:r>
            <a:r>
              <a:rPr lang="en-US" sz="2200">
                <a:solidFill>
                  <a:schemeClr val="dk1"/>
                </a:solidFill>
              </a:rPr>
              <a:t>php artisan make:middleware CheckRole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middleware created at: app/Http/Middleware/CheckRole.php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d7e767c37d_1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7e767c37d_1_92"/>
          <p:cNvSpPr txBox="1"/>
          <p:nvPr/>
        </p:nvSpPr>
        <p:spPr>
          <a:xfrm>
            <a:off x="579100" y="299375"/>
            <a:ext cx="85329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3400">
                <a:solidFill>
                  <a:schemeClr val="accent2"/>
                </a:solidFill>
                <a:highlight>
                  <a:schemeClr val="lt1"/>
                </a:highlight>
              </a:rPr>
              <a:t>Write Middleware Logic</a:t>
            </a:r>
            <a:r>
              <a:rPr b="1" lang="en-US" sz="3400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3400" u="none" cap="none" strike="noStrike">
              <a:solidFill>
                <a:schemeClr val="accent2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7e767c37d_1_92"/>
          <p:cNvSpPr txBox="1"/>
          <p:nvPr/>
        </p:nvSpPr>
        <p:spPr>
          <a:xfrm>
            <a:off x="634525" y="968775"/>
            <a:ext cx="10382700" cy="5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namespace App\Http\Middleware;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use Closure;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use Illuminate\Http\Request;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class CheckRole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{		public function handle(Request $request, Closure $next)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		{	 // Example logic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		if ($request-&gt;user() &amp;&amp; $request-&gt;user()-&gt;role === 'admin')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    				return $next($request);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			}</a:t>
            </a:r>
            <a:endParaRPr sz="22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return redirect('/home')-&gt;with('error', 'Unauthorized Access');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		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Allows only admin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Others redirected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d7e767c37d_1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d7e767c37d_1_120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3400">
                <a:solidFill>
                  <a:schemeClr val="accent2"/>
                </a:solidFill>
                <a:highlight>
                  <a:schemeClr val="lt1"/>
                </a:highlight>
              </a:rPr>
              <a:t>Register</a:t>
            </a:r>
            <a:r>
              <a:rPr b="1" lang="en-US" sz="3400">
                <a:solidFill>
                  <a:schemeClr val="accent2"/>
                </a:solidFill>
                <a:highlight>
                  <a:schemeClr val="lt1"/>
                </a:highlight>
              </a:rPr>
              <a:t> Middleware Logic</a:t>
            </a:r>
            <a:r>
              <a:rPr b="1" lang="en-US" sz="3400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3400" u="none" cap="none" strike="noStrike">
              <a:solidFill>
                <a:schemeClr val="accent2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7e767c37d_1_120"/>
          <p:cNvSpPr txBox="1"/>
          <p:nvPr/>
        </p:nvSpPr>
        <p:spPr>
          <a:xfrm>
            <a:off x="675525" y="1009750"/>
            <a:ext cx="103827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Open: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bootstrap/app.php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-&gt;withMiddleware(function ($middleware)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$middleware-&gt;alias([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'role' =&gt; \App\Http\Middleware\CheckRole::class,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]);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✔ Alias name =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 Create Controller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php artisan make:controller AdminController</a:t>
            </a:r>
            <a:endParaRPr b="1"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d7e767c37d_1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d7e767c37d_1_99"/>
          <p:cNvSpPr txBox="1"/>
          <p:nvPr/>
        </p:nvSpPr>
        <p:spPr>
          <a:xfrm>
            <a:off x="579100" y="125425"/>
            <a:ext cx="85329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4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Apply Middleware in</a:t>
            </a:r>
            <a:r>
              <a:rPr b="1" lang="en-US" sz="4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Controller </a:t>
            </a:r>
            <a:endParaRPr b="1" i="0" sz="4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d7e767c37d_1_99"/>
          <p:cNvSpPr txBox="1"/>
          <p:nvPr/>
        </p:nvSpPr>
        <p:spPr>
          <a:xfrm>
            <a:off x="675525" y="804875"/>
            <a:ext cx="10382700" cy="5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namespace App\Http\Controllers;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class AdminController extends Controller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	public function __construct()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	{		$this-&gt;middleware('role');		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	public function dashboard()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	{		return "Admin Dashboard";		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Middleware applied to all methods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Define Route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use App\Http\Controllers\AdminController;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Route::get('/admin', [AdminController::class, 'dashboard']);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d7e767c37d_1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d7e767c37d_1_126"/>
          <p:cNvSpPr txBox="1"/>
          <p:nvPr/>
        </p:nvSpPr>
        <p:spPr>
          <a:xfrm>
            <a:off x="579100" y="299375"/>
            <a:ext cx="85329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Demonstration</a:t>
            </a: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7e767c37d_1_126"/>
          <p:cNvSpPr txBox="1"/>
          <p:nvPr/>
        </p:nvSpPr>
        <p:spPr>
          <a:xfrm>
            <a:off x="675525" y="1378600"/>
            <a:ext cx="10382700" cy="57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2200">
                <a:solidFill>
                  <a:schemeClr val="dk1"/>
                </a:solidFill>
              </a:rPr>
              <a:t>Case 1: Admin user</a:t>
            </a:r>
            <a:endParaRPr b="1"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$request-&gt;user()-&gt;role = 'admin';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Output: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Admin Dashboard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Case 2: Normal user</a:t>
            </a:r>
            <a:endParaRPr b="1"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$request-&gt;user()-&gt;role = 'user';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Redirect: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/home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Message: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Unauthorized Access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d7e767c37d_1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d7e767c37d_1_106"/>
          <p:cNvSpPr txBox="1"/>
          <p:nvPr/>
        </p:nvSpPr>
        <p:spPr>
          <a:xfrm>
            <a:off x="579100" y="125425"/>
            <a:ext cx="9495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Controller Middleware Variations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d7e767c37d_1_106"/>
          <p:cNvSpPr txBox="1"/>
          <p:nvPr/>
        </p:nvSpPr>
        <p:spPr>
          <a:xfrm>
            <a:off x="675525" y="1023425"/>
            <a:ext cx="10382700" cy="57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 1. Apply to Specific Methods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public function __construct(){		</a:t>
            </a:r>
            <a:endParaRPr sz="22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$this-&gt;middleware('role')-&gt;only('dashboard');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2. Exclude Methods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public function __construct(){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	$this-&gt;middleware('role')-&gt;except(['index']);	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3. </a:t>
            </a:r>
            <a:r>
              <a:rPr b="1" lang="en-US" sz="2200">
                <a:solidFill>
                  <a:schemeClr val="dk1"/>
                </a:solidFill>
              </a:rPr>
              <a:t>Multiple Middleware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$this-&gt;middleware(['auth', 'role']);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 4. Middleware with Parameter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$this-&gt;middleware('role:admin');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d7e767c37d_1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d7e767c37d_1_113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Contd… </a:t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7e767c37d_1_113"/>
          <p:cNvSpPr txBox="1"/>
          <p:nvPr/>
        </p:nvSpPr>
        <p:spPr>
          <a:xfrm>
            <a:off x="675525" y="1501575"/>
            <a:ext cx="10382700" cy="52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5. Inline Middleware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public function __construct(){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$this-&gt;middleware(function ($request, $next)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if (auth()-&gt;check())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    return $next($request);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return redirect('/login');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FLOW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Request → Route → Controller → Middleware → Method → Response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7e767c37d_1_70"/>
          <p:cNvSpPr txBox="1"/>
          <p:nvPr>
            <p:ph type="title"/>
          </p:nvPr>
        </p:nvSpPr>
        <p:spPr>
          <a:xfrm>
            <a:off x="838200" y="125425"/>
            <a:ext cx="10515600" cy="102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BLADE TEMPLATES</a:t>
            </a:r>
            <a:endParaRPr sz="4000"/>
          </a:p>
        </p:txBody>
      </p:sp>
      <p:sp>
        <p:nvSpPr>
          <p:cNvPr id="241" name="Google Shape;241;g3d7e767c37d_1_70"/>
          <p:cNvSpPr txBox="1"/>
          <p:nvPr>
            <p:ph idx="1" type="body"/>
          </p:nvPr>
        </p:nvSpPr>
        <p:spPr>
          <a:xfrm>
            <a:off x="838200" y="1050750"/>
            <a:ext cx="10515600" cy="556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Blade is the simple, yet powerful templating engine that is included with Laravel.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92934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Blade template files use the .blade.php file extension and are typically stored in the resources/views directory.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You may display data that is passed to your Blade views by wrapping the variable in curly braces. For example, given the following route: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Route::get('/', function () {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    return view('welcome', ['name' =&gt; 'Samantha']);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sz="2200">
              <a:solidFill>
                <a:srgbClr val="D253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253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92934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You may display the contents of the name variable like so: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4319" lvl="0" marL="64008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Hello, {{ $name }}.</a:t>
            </a:r>
            <a:endParaRPr sz="22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d7e767c37d_1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d7e767c37d_1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d7e767c37d_1_133"/>
          <p:cNvSpPr txBox="1"/>
          <p:nvPr/>
        </p:nvSpPr>
        <p:spPr>
          <a:xfrm>
            <a:off x="457200" y="190075"/>
            <a:ext cx="8229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Blade Directives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249" name="Google Shape;249;g3d7e767c37d_1_133"/>
          <p:cNvSpPr txBox="1"/>
          <p:nvPr/>
        </p:nvSpPr>
        <p:spPr>
          <a:xfrm>
            <a:off x="457200" y="927775"/>
            <a:ext cx="11475300" cy="5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just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Blade directives are short PHP snippets that are used to extend the functionality of Blade templates. They are prefixed with an '@' symbol and can be used to perform a variety of tasks, such as:</a:t>
            </a:r>
            <a:endParaRPr sz="2400">
              <a:solidFill>
                <a:srgbClr val="292934"/>
              </a:solidFill>
            </a:endParaRPr>
          </a:p>
          <a:p>
            <a:pPr indent="-53339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-182880" lvl="0" marL="182880" rtl="0" algn="just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b="1" lang="en-US" sz="2400">
                <a:solidFill>
                  <a:srgbClr val="292934"/>
                </a:solidFill>
              </a:rPr>
              <a:t>Conditional logic: </a:t>
            </a:r>
            <a:r>
              <a:rPr lang="en-US" sz="2400">
                <a:solidFill>
                  <a:srgbClr val="292934"/>
                </a:solidFill>
              </a:rPr>
              <a:t>The </a:t>
            </a:r>
            <a:r>
              <a:rPr lang="en-US" sz="2400">
                <a:solidFill>
                  <a:srgbClr val="FF0000"/>
                </a:solidFill>
              </a:rPr>
              <a:t>@if </a:t>
            </a:r>
            <a:r>
              <a:rPr lang="en-US" sz="2400">
                <a:solidFill>
                  <a:srgbClr val="292934"/>
                </a:solidFill>
              </a:rPr>
              <a:t>and </a:t>
            </a:r>
            <a:r>
              <a:rPr lang="en-US" sz="2400">
                <a:solidFill>
                  <a:srgbClr val="FF0000"/>
                </a:solidFill>
              </a:rPr>
              <a:t>@else </a:t>
            </a:r>
            <a:r>
              <a:rPr lang="en-US" sz="2400">
                <a:solidFill>
                  <a:srgbClr val="292934"/>
                </a:solidFill>
              </a:rPr>
              <a:t>directives can be used to conditionally render output.</a:t>
            </a:r>
            <a:endParaRPr sz="2400">
              <a:solidFill>
                <a:srgbClr val="292934"/>
              </a:solidFill>
            </a:endParaRPr>
          </a:p>
          <a:p>
            <a:pPr indent="0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-182880" lvl="0" marL="182880" rtl="0" algn="just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b="1" lang="en-US" sz="2400">
                <a:solidFill>
                  <a:srgbClr val="292934"/>
                </a:solidFill>
              </a:rPr>
              <a:t>Loops: </a:t>
            </a:r>
            <a:r>
              <a:rPr lang="en-US" sz="2400">
                <a:solidFill>
                  <a:srgbClr val="292934"/>
                </a:solidFill>
              </a:rPr>
              <a:t>The </a:t>
            </a:r>
            <a:r>
              <a:rPr lang="en-US" sz="2400">
                <a:solidFill>
                  <a:srgbClr val="FF0000"/>
                </a:solidFill>
              </a:rPr>
              <a:t>@foreach </a:t>
            </a:r>
            <a:r>
              <a:rPr lang="en-US" sz="2400">
                <a:solidFill>
                  <a:srgbClr val="292934"/>
                </a:solidFill>
              </a:rPr>
              <a:t>and </a:t>
            </a:r>
            <a:r>
              <a:rPr lang="en-US" sz="2400">
                <a:solidFill>
                  <a:srgbClr val="FF0000"/>
                </a:solidFill>
              </a:rPr>
              <a:t>@forelse </a:t>
            </a:r>
            <a:r>
              <a:rPr lang="en-US" sz="2400">
                <a:solidFill>
                  <a:srgbClr val="292934"/>
                </a:solidFill>
              </a:rPr>
              <a:t>directives can be used to loop through collections of data.</a:t>
            </a:r>
            <a:endParaRPr sz="2400">
              <a:solidFill>
                <a:srgbClr val="292934"/>
              </a:solidFill>
            </a:endParaRPr>
          </a:p>
          <a:p>
            <a:pPr indent="0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-182880" lvl="0" marL="182880" rtl="0" algn="just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b="1" lang="en-US" sz="2400">
                <a:solidFill>
                  <a:srgbClr val="292934"/>
                </a:solidFill>
              </a:rPr>
              <a:t>Including other views: </a:t>
            </a:r>
            <a:r>
              <a:rPr lang="en-US" sz="2400">
                <a:solidFill>
                  <a:srgbClr val="292934"/>
                </a:solidFill>
              </a:rPr>
              <a:t>The </a:t>
            </a:r>
            <a:r>
              <a:rPr lang="en-US" sz="2400">
                <a:solidFill>
                  <a:srgbClr val="FF0000"/>
                </a:solidFill>
              </a:rPr>
              <a:t>@include </a:t>
            </a:r>
            <a:r>
              <a:rPr lang="en-US" sz="2400">
                <a:solidFill>
                  <a:srgbClr val="292934"/>
                </a:solidFill>
              </a:rPr>
              <a:t>directive can be used to include the contents of another view file.</a:t>
            </a:r>
            <a:endParaRPr sz="2400">
              <a:solidFill>
                <a:srgbClr val="292934"/>
              </a:solidFill>
            </a:endParaRPr>
          </a:p>
          <a:p>
            <a:pPr indent="0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-182880" lvl="0" marL="182880" rtl="0" algn="just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b="1" lang="en-US" sz="2400">
                <a:solidFill>
                  <a:srgbClr val="292934"/>
                </a:solidFill>
              </a:rPr>
              <a:t>Rendering expressions: </a:t>
            </a:r>
            <a:r>
              <a:rPr lang="en-US" sz="2400">
                <a:solidFill>
                  <a:srgbClr val="292934"/>
                </a:solidFill>
              </a:rPr>
              <a:t>The </a:t>
            </a:r>
            <a:r>
              <a:rPr lang="en-US" sz="2400">
                <a:solidFill>
                  <a:srgbClr val="FF0000"/>
                </a:solidFill>
              </a:rPr>
              <a:t>@php </a:t>
            </a:r>
            <a:r>
              <a:rPr lang="en-US" sz="2400">
                <a:solidFill>
                  <a:srgbClr val="292934"/>
                </a:solidFill>
              </a:rPr>
              <a:t>and </a:t>
            </a:r>
            <a:r>
              <a:rPr lang="en-US" sz="2400">
                <a:solidFill>
                  <a:srgbClr val="FF0000"/>
                </a:solidFill>
              </a:rPr>
              <a:t>@endphp </a:t>
            </a:r>
            <a:r>
              <a:rPr lang="en-US" sz="2400">
                <a:solidFill>
                  <a:srgbClr val="292934"/>
                </a:solidFill>
              </a:rPr>
              <a:t>directives can be used to render PHP expressions.</a:t>
            </a:r>
            <a:endParaRPr sz="2400">
              <a:solidFill>
                <a:srgbClr val="292934"/>
              </a:solidFill>
            </a:endParaRPr>
          </a:p>
          <a:p>
            <a:pPr indent="-53339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d7e767c37d_1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7e767c37d_1_139"/>
          <p:cNvSpPr txBox="1"/>
          <p:nvPr/>
        </p:nvSpPr>
        <p:spPr>
          <a:xfrm>
            <a:off x="457200" y="285700"/>
            <a:ext cx="82296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Loops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256" name="Google Shape;256;g3d7e767c37d_1_139"/>
          <p:cNvSpPr txBox="1"/>
          <p:nvPr/>
        </p:nvSpPr>
        <p:spPr>
          <a:xfrm>
            <a:off x="457200" y="1242000"/>
            <a:ext cx="10683000" cy="5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2595" lvl="0" marL="182880" rtl="0" algn="just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Blade provides simple directives for working with PHP's loop structures.</a:t>
            </a:r>
            <a:endParaRPr sz="2400">
              <a:solidFill>
                <a:srgbClr val="292934"/>
              </a:solidFill>
            </a:endParaRPr>
          </a:p>
          <a:p>
            <a:pPr indent="-63055" lvl="0" marL="18288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@foreach ($users as $user)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&lt;p&gt;This is user {{ $user}}&lt;/p&gt;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@endforeach</a:t>
            </a:r>
            <a:endParaRPr sz="2400">
              <a:solidFill>
                <a:srgbClr val="D2533C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2533C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@forelse ($users as $user)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&lt;li&gt;{{ $user}}&lt;/li&gt;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@empty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&lt;p&gt;No users&lt;/p&gt;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@endforelse</a:t>
            </a:r>
            <a:endParaRPr sz="24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d7e767c37d_1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7e767c37d_1_153"/>
          <p:cNvSpPr txBox="1"/>
          <p:nvPr/>
        </p:nvSpPr>
        <p:spPr>
          <a:xfrm>
            <a:off x="457200" y="299375"/>
            <a:ext cx="8229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If Statements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263" name="Google Shape;263;g3d7e767c37d_1_153"/>
          <p:cNvSpPr txBox="1"/>
          <p:nvPr/>
        </p:nvSpPr>
        <p:spPr>
          <a:xfrm>
            <a:off x="457200" y="1132700"/>
            <a:ext cx="11133900" cy="53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just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You may construct if statements using the @if, @elseif, @else, and @endif directives.</a:t>
            </a:r>
            <a:endParaRPr sz="2400">
              <a:solidFill>
                <a:srgbClr val="292934"/>
              </a:solidFill>
            </a:endParaRPr>
          </a:p>
          <a:p>
            <a:pPr indent="-53339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@if (count($records) === 1)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I have one record!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@elseif (count($records) &gt; 1)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I have multiple records!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@else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I don't have any records!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@endif</a:t>
            </a:r>
            <a:endParaRPr sz="24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d7e767c37d_1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d7e767c37d_1_161"/>
          <p:cNvSpPr txBox="1"/>
          <p:nvPr/>
        </p:nvSpPr>
        <p:spPr>
          <a:xfrm>
            <a:off x="457200" y="272050"/>
            <a:ext cx="82296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If </a:t>
            </a:r>
            <a:r>
              <a:rPr b="1" lang="en-US" sz="4000">
                <a:solidFill>
                  <a:srgbClr val="D2533C"/>
                </a:solidFill>
              </a:rPr>
              <a:t>Statements (contd.)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270" name="Google Shape;270;g3d7e767c37d_1_161"/>
          <p:cNvSpPr txBox="1"/>
          <p:nvPr/>
        </p:nvSpPr>
        <p:spPr>
          <a:xfrm>
            <a:off x="457200" y="1600200"/>
            <a:ext cx="111747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just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In addition to the conditional directives already discussed, the @isset and @empty directives may be used as convenient shortcuts for their respective PHP functions:</a:t>
            </a:r>
            <a:endParaRPr sz="2400">
              <a:solidFill>
                <a:srgbClr val="292934"/>
              </a:solidFill>
            </a:endParaRPr>
          </a:p>
          <a:p>
            <a:pPr indent="-53339" lvl="0" marL="18288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@isset($records)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// $records is defined and is not null...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@endisset</a:t>
            </a:r>
            <a:endParaRPr sz="2400">
              <a:solidFill>
                <a:srgbClr val="D2533C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2533C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@empty($records)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// $records is "empty"...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@endempty</a:t>
            </a:r>
            <a:endParaRPr sz="24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d7e767c37d_1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d7e767c37d_1_169"/>
          <p:cNvSpPr txBox="1"/>
          <p:nvPr/>
        </p:nvSpPr>
        <p:spPr>
          <a:xfrm>
            <a:off x="457200" y="125425"/>
            <a:ext cx="82296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Switch Statements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277" name="Google Shape;277;g3d7e767c37d_1_169"/>
          <p:cNvSpPr txBox="1"/>
          <p:nvPr/>
        </p:nvSpPr>
        <p:spPr>
          <a:xfrm>
            <a:off x="457200" y="941425"/>
            <a:ext cx="11283900" cy="5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02310" lvl="0" marL="182880" rtl="0" algn="just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Switch statements can be constructed using the @switch, @case, @break, @default and @endswitch directives:</a:t>
            </a:r>
            <a:endParaRPr sz="2400">
              <a:solidFill>
                <a:srgbClr val="292934"/>
              </a:solidFill>
            </a:endParaRPr>
          </a:p>
          <a:p>
            <a:pPr indent="-72770" lvl="0" marL="18288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@switch($i)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@case(1)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    First case...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    @break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2533C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@case(2)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    Second case...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    @break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2533C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@default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        Default case...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just">
              <a:spcBef>
                <a:spcPts val="40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533C"/>
                </a:solidFill>
              </a:rPr>
              <a:t>@endswitch</a:t>
            </a:r>
            <a:endParaRPr sz="24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d7e767c37d_1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d7e767c37d_1_177"/>
          <p:cNvSpPr txBox="1"/>
          <p:nvPr/>
        </p:nvSpPr>
        <p:spPr>
          <a:xfrm>
            <a:off x="457200" y="313025"/>
            <a:ext cx="8838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Now Some Practical of blade directives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284" name="Google Shape;284;g3d7e767c37d_1_177"/>
          <p:cNvSpPr txBox="1"/>
          <p:nvPr/>
        </p:nvSpPr>
        <p:spPr>
          <a:xfrm>
            <a:off x="402300" y="1213025"/>
            <a:ext cx="115302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Step 1 – Make a Controller using Artisan</a:t>
            </a:r>
            <a:endParaRPr sz="2400">
              <a:solidFill>
                <a:srgbClr val="292934"/>
              </a:solidFill>
            </a:endParaRPr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b="1" lang="en-US" sz="2400">
                <a:solidFill>
                  <a:srgbClr val="292934"/>
                </a:solidFill>
              </a:rPr>
              <a:t>php artisan make:controller UserController</a:t>
            </a:r>
            <a:endParaRPr b="1" sz="2400">
              <a:solidFill>
                <a:srgbClr val="292934"/>
              </a:solidFill>
            </a:endParaRPr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92934"/>
              </a:solidFill>
            </a:endParaRPr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Step 2 – Make a route in web.php and don’t forget to include the UserController in web.php</a:t>
            </a:r>
            <a:endParaRPr sz="2400">
              <a:solidFill>
                <a:srgbClr val="292934"/>
              </a:solidFill>
            </a:endParaRPr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Route::get('/profile', [UserController::class, 'showProfile']);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215264" lvl="0" marL="182880" rtl="0" algn="l"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Char char="•"/>
            </a:pPr>
            <a:r>
              <a:rPr lang="en-US" sz="2400">
                <a:solidFill>
                  <a:srgbClr val="292934"/>
                </a:solidFill>
              </a:rPr>
              <a:t>Step 3, Now in UserController class let’s define the function showProfile()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showProfile() {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$username = 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'Mr Stark'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$isAdmin = </a:t>
            </a: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$items = [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'Item 1'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'Item 2'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'Item 3'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view(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'profile'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compact(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'username'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'isAdmin'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'items'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}</a:t>
            </a:r>
            <a:endParaRPr sz="2400">
              <a:solidFill>
                <a:srgbClr val="29293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d7e767c37d_1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d7e767c37d_1_193"/>
          <p:cNvSpPr txBox="1"/>
          <p:nvPr/>
        </p:nvSpPr>
        <p:spPr>
          <a:xfrm>
            <a:off x="0" y="299375"/>
            <a:ext cx="11413500" cy="6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200">
                <a:solidFill>
                  <a:srgbClr val="292934"/>
                </a:solidFill>
              </a:rPr>
              <a:t>Step 4- define a view in resources/view folder ‘pr</a:t>
            </a:r>
            <a:r>
              <a:rPr lang="en-US" sz="2000">
                <a:solidFill>
                  <a:srgbClr val="292934"/>
                </a:solidFill>
              </a:rPr>
              <a:t>ofile.blade.php’</a:t>
            </a:r>
            <a:endParaRPr sz="20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&lt;!DOCTYPE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E50000"/>
                </a:solidFill>
              </a:rPr>
              <a:t>html</a:t>
            </a:r>
            <a:r>
              <a:rPr lang="en-US" sz="2000">
                <a:solidFill>
                  <a:srgbClr val="800000"/>
                </a:solidFill>
              </a:rPr>
              <a:t>&gt;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&lt;html&gt;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&lt;head&gt;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			 </a:t>
            </a:r>
            <a:r>
              <a:rPr lang="en-US" sz="2000">
                <a:solidFill>
                  <a:srgbClr val="800000"/>
                </a:solidFill>
              </a:rPr>
              <a:t>&lt;title&gt;</a:t>
            </a:r>
            <a:r>
              <a:rPr lang="en-US" sz="2000">
                <a:solidFill>
                  <a:schemeClr val="dk1"/>
                </a:solidFill>
              </a:rPr>
              <a:t>User Profile</a:t>
            </a:r>
            <a:r>
              <a:rPr lang="en-US" sz="2000">
                <a:solidFill>
                  <a:srgbClr val="800000"/>
                </a:solidFill>
              </a:rPr>
              <a:t>&lt;/title&gt;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&lt;/head&gt;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&lt;body&gt;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</a:t>
            </a:r>
            <a:r>
              <a:rPr lang="en-US" sz="2000">
                <a:solidFill>
                  <a:srgbClr val="800000"/>
                </a:solidFill>
              </a:rPr>
              <a:t>&lt;h1&gt;</a:t>
            </a:r>
            <a:r>
              <a:rPr lang="en-US" sz="2000">
                <a:solidFill>
                  <a:schemeClr val="dk1"/>
                </a:solidFill>
              </a:rPr>
              <a:t>Welcome to your profile, {{ $username }}</a:t>
            </a:r>
            <a:r>
              <a:rPr lang="en-US" sz="2000">
                <a:solidFill>
                  <a:srgbClr val="800000"/>
                </a:solidFill>
              </a:rPr>
              <a:t>&lt;/h1&gt;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    		</a:t>
            </a:r>
            <a:r>
              <a:rPr lang="en-US" sz="2000">
                <a:solidFill>
                  <a:srgbClr val="0000FF"/>
                </a:solidFill>
              </a:rPr>
              <a:t>@if</a:t>
            </a:r>
            <a:r>
              <a:rPr lang="en-US" sz="2000">
                <a:solidFill>
                  <a:schemeClr val="dk1"/>
                </a:solidFill>
              </a:rPr>
              <a:t>($isAdmin)</a:t>
            </a:r>
            <a:endParaRPr sz="2000">
              <a:solidFill>
                <a:srgbClr val="292934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    		</a:t>
            </a:r>
            <a:r>
              <a:rPr lang="en-US" sz="2000">
                <a:solidFill>
                  <a:srgbClr val="800000"/>
                </a:solidFill>
              </a:rPr>
              <a:t>&lt;p&gt;</a:t>
            </a:r>
            <a:r>
              <a:rPr lang="en-US" sz="2000">
                <a:solidFill>
                  <a:schemeClr val="dk1"/>
                </a:solidFill>
              </a:rPr>
              <a:t>You are an administrator.</a:t>
            </a:r>
            <a:r>
              <a:rPr lang="en-US" sz="2000">
                <a:solidFill>
                  <a:srgbClr val="800000"/>
                </a:solidFill>
              </a:rPr>
              <a:t>&lt;/p&gt;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		</a:t>
            </a:r>
            <a:r>
              <a:rPr lang="en-US" sz="2000">
                <a:solidFill>
                  <a:srgbClr val="0000FF"/>
                </a:solidFill>
              </a:rPr>
              <a:t>@else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    		</a:t>
            </a:r>
            <a:r>
              <a:rPr lang="en-US" sz="2000">
                <a:solidFill>
                  <a:srgbClr val="800000"/>
                </a:solidFill>
              </a:rPr>
              <a:t>&lt;p&gt;</a:t>
            </a:r>
            <a:r>
              <a:rPr lang="en-US" sz="2000">
                <a:solidFill>
                  <a:schemeClr val="dk1"/>
                </a:solidFill>
              </a:rPr>
              <a:t>You are not an administrator.</a:t>
            </a:r>
            <a:r>
              <a:rPr lang="en-US" sz="2000">
                <a:solidFill>
                  <a:srgbClr val="800000"/>
                </a:solidFill>
              </a:rPr>
              <a:t>&lt;/p&gt;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		</a:t>
            </a:r>
            <a:r>
              <a:rPr lang="en-US" sz="2000">
                <a:solidFill>
                  <a:srgbClr val="0000FF"/>
                </a:solidFill>
              </a:rPr>
              <a:t>@endif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    		</a:t>
            </a:r>
            <a:r>
              <a:rPr lang="en-US" sz="2000">
                <a:solidFill>
                  <a:srgbClr val="800000"/>
                </a:solidFill>
              </a:rPr>
              <a:t>&lt;ul&gt;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  	  </a:t>
            </a:r>
            <a:r>
              <a:rPr lang="en-US" sz="2000">
                <a:solidFill>
                  <a:srgbClr val="0000FF"/>
                </a:solidFill>
              </a:rPr>
              <a:t>@foreach</a:t>
            </a:r>
            <a:r>
              <a:rPr lang="en-US" sz="2000">
                <a:solidFill>
                  <a:schemeClr val="dk1"/>
                </a:solidFill>
              </a:rPr>
              <a:t>($items as $item)</a:t>
            </a:r>
            <a:endParaRPr sz="2000">
              <a:solidFill>
                <a:srgbClr val="292934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        	</a:t>
            </a:r>
            <a:r>
              <a:rPr lang="en-US" sz="2000">
                <a:solidFill>
                  <a:srgbClr val="800000"/>
                </a:solidFill>
              </a:rPr>
              <a:t>&lt;li&gt;</a:t>
            </a:r>
            <a:r>
              <a:rPr lang="en-US" sz="2000">
                <a:solidFill>
                  <a:schemeClr val="dk1"/>
                </a:solidFill>
              </a:rPr>
              <a:t>{{ $item }}</a:t>
            </a:r>
            <a:r>
              <a:rPr lang="en-US" sz="2000">
                <a:solidFill>
                  <a:srgbClr val="800000"/>
                </a:solidFill>
              </a:rPr>
              <a:t>&lt;/li&gt;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    	</a:t>
            </a:r>
            <a:r>
              <a:rPr lang="en-US" sz="2000">
                <a:solidFill>
                  <a:srgbClr val="0000FF"/>
                </a:solidFill>
              </a:rPr>
              <a:t>@endforeach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    </a:t>
            </a:r>
            <a:r>
              <a:rPr lang="en-US" sz="2000">
                <a:solidFill>
                  <a:srgbClr val="800000"/>
                </a:solidFill>
              </a:rPr>
              <a:t>&lt;/ul&gt;</a:t>
            </a:r>
            <a:endParaRPr sz="2000">
              <a:solidFill>
                <a:srgbClr val="292934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g3d7e767c37d_1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d7e767c37d_1_198"/>
          <p:cNvSpPr txBox="1"/>
          <p:nvPr/>
        </p:nvSpPr>
        <p:spPr>
          <a:xfrm>
            <a:off x="497925" y="326675"/>
            <a:ext cx="10847100" cy="6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 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&lt;hr&gt;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		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&lt;h2&gt;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Additional Blade Directives: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		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@unless directive 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@unless($isAdmin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2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			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You don't have admin privileges.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		@endunless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@empty directive 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	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@empty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($additionalData)</a:t>
            </a:r>
            <a:endParaRPr sz="2200">
              <a:solidFill>
                <a:srgbClr val="292934"/>
              </a:solidFill>
            </a:endParaRPr>
          </a:p>
          <a:p>
            <a:pPr indent="0" lvl="0" marL="91440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Additional data is empty.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@endempty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@for directive 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	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&lt;h3&gt;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Looping with for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&lt;/h3&gt;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		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($i = </a:t>
            </a:r>
            <a:r>
              <a:rPr lang="en-US" sz="2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$i &lt;= </a:t>
            </a:r>
            <a:r>
              <a:rPr lang="en-US" sz="2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$i++)</a:t>
            </a:r>
            <a:endParaRPr sz="22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Iteration {{ $i }}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sz="2200">
              <a:solidFill>
                <a:srgbClr val="29293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d7e767c37d_1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d7e767c37d_1_257"/>
          <p:cNvSpPr txBox="1"/>
          <p:nvPr/>
        </p:nvSpPr>
        <p:spPr>
          <a:xfrm>
            <a:off x="497925" y="736525"/>
            <a:ext cx="10847100" cy="6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  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($i = </a:t>
            </a:r>
            <a:r>
              <a:rPr lang="en-US" sz="2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$i &lt;= </a:t>
            </a:r>
            <a:r>
              <a:rPr lang="en-US" sz="2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$i++)</a:t>
            </a:r>
            <a:endParaRPr sz="22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Iteration {{ $i }}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@include directive 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{{--&lt;h3&gt;Including Sub-Views:&lt;/h3&gt;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    @include('partials.footer')--}}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Blade Comments 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This is a Blade comment --}}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64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34"/>
              </a:solidFill>
            </a:endParaRPr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34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7e767c37d_1_28"/>
          <p:cNvSpPr txBox="1"/>
          <p:nvPr/>
        </p:nvSpPr>
        <p:spPr>
          <a:xfrm>
            <a:off x="457200" y="285700"/>
            <a:ext cx="95901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What file extension is typically used for Blade template files in Laravel?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08" name="Google Shape;308;g3d7e767c37d_1_28"/>
          <p:cNvSpPr txBox="1"/>
          <p:nvPr/>
        </p:nvSpPr>
        <p:spPr>
          <a:xfrm>
            <a:off x="457200" y="996100"/>
            <a:ext cx="10942500" cy="54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292934"/>
              </a:solidFill>
            </a:endParaRPr>
          </a:p>
          <a:p>
            <a:pPr indent="-280035" lvl="0" marL="182880" rtl="0" algn="l">
              <a:spcBef>
                <a:spcPts val="720"/>
              </a:spcBef>
              <a:spcAft>
                <a:spcPts val="0"/>
              </a:spcAft>
              <a:buClr>
                <a:srgbClr val="292934"/>
              </a:buClr>
              <a:buSzPct val="100000"/>
              <a:buChar char="•"/>
            </a:pPr>
            <a:r>
              <a:rPr lang="en-US" sz="3600">
                <a:solidFill>
                  <a:srgbClr val="292934"/>
                </a:solidFill>
              </a:rPr>
              <a:t> </a:t>
            </a:r>
            <a:r>
              <a:rPr lang="en-US" sz="3600">
                <a:solidFill>
                  <a:srgbClr val="292934"/>
                </a:solidFill>
              </a:rPr>
              <a:t>a) .php</a:t>
            </a:r>
            <a:endParaRPr sz="3600">
              <a:solidFill>
                <a:srgbClr val="292934"/>
              </a:solidFill>
            </a:endParaRPr>
          </a:p>
          <a:p>
            <a:pPr indent="-280035" lvl="0" marL="182880" rtl="0" algn="l">
              <a:spcBef>
                <a:spcPts val="720"/>
              </a:spcBef>
              <a:spcAft>
                <a:spcPts val="0"/>
              </a:spcAft>
              <a:buClr>
                <a:srgbClr val="292934"/>
              </a:buClr>
              <a:buSzPct val="100000"/>
              <a:buChar char="•"/>
            </a:pPr>
            <a:r>
              <a:rPr b="1" lang="en-US" sz="3600">
                <a:solidFill>
                  <a:srgbClr val="00B050"/>
                </a:solidFill>
              </a:rPr>
              <a:t>b) .blade.php</a:t>
            </a:r>
            <a:endParaRPr b="1" sz="3600">
              <a:solidFill>
                <a:srgbClr val="00B050"/>
              </a:solidFill>
            </a:endParaRPr>
          </a:p>
          <a:p>
            <a:pPr indent="-165163" lvl="0" marL="182880" rtl="0" algn="l">
              <a:spcBef>
                <a:spcPts val="720"/>
              </a:spcBef>
              <a:spcAft>
                <a:spcPts val="0"/>
              </a:spcAft>
              <a:buClr>
                <a:srgbClr val="93A299"/>
              </a:buClr>
              <a:buSzPct val="85000"/>
              <a:buChar char="•"/>
            </a:pPr>
            <a:r>
              <a:rPr lang="en-US" sz="3600">
                <a:solidFill>
                  <a:srgbClr val="292934"/>
                </a:solidFill>
              </a:rPr>
              <a:t>c) .tpl</a:t>
            </a:r>
            <a:endParaRPr sz="3600">
              <a:solidFill>
                <a:srgbClr val="292934"/>
              </a:solidFill>
            </a:endParaRPr>
          </a:p>
          <a:p>
            <a:pPr indent="-165163" lvl="0" marL="182880" rtl="0" algn="l">
              <a:spcBef>
                <a:spcPts val="720"/>
              </a:spcBef>
              <a:spcAft>
                <a:spcPts val="0"/>
              </a:spcAft>
              <a:buClr>
                <a:srgbClr val="93A299"/>
              </a:buClr>
              <a:buSzPct val="85000"/>
              <a:buChar char="•"/>
            </a:pPr>
            <a:r>
              <a:rPr lang="en-US" sz="3600">
                <a:solidFill>
                  <a:srgbClr val="292934"/>
                </a:solidFill>
              </a:rPr>
              <a:t>d) .view</a:t>
            </a:r>
            <a:endParaRPr sz="3600">
              <a:solidFill>
                <a:srgbClr val="292934"/>
              </a:solidFill>
            </a:endParaRPr>
          </a:p>
          <a:p>
            <a:pPr indent="0" lvl="0" marL="18288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292934"/>
              </a:solidFill>
            </a:endParaRPr>
          </a:p>
          <a:p>
            <a:pPr indent="-280035" lvl="0" marL="182880" rtl="0" algn="l"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ct val="90000"/>
              <a:buChar char="•"/>
            </a:pPr>
            <a:r>
              <a:rPr b="1" lang="en-US" sz="4000">
                <a:solidFill>
                  <a:srgbClr val="D2533C"/>
                </a:solidFill>
              </a:rPr>
              <a:t>How can you display a variable named $name in a Blade template?</a:t>
            </a:r>
            <a:endParaRPr b="1" sz="4000">
              <a:solidFill>
                <a:srgbClr val="D2533C"/>
              </a:solidFill>
            </a:endParaRPr>
          </a:p>
          <a:p>
            <a:pPr indent="-232537" lvl="0" marL="182880" rtl="0" algn="l">
              <a:spcBef>
                <a:spcPts val="640"/>
              </a:spcBef>
              <a:spcAft>
                <a:spcPts val="0"/>
              </a:spcAft>
              <a:buClr>
                <a:srgbClr val="93A299"/>
              </a:buClr>
              <a:buSzPct val="85000"/>
              <a:buChar char="•"/>
            </a:pPr>
            <a:r>
              <a:rPr lang="en-US" sz="3200">
                <a:solidFill>
                  <a:srgbClr val="292934"/>
                </a:solidFill>
              </a:rPr>
              <a:t>a) Hello, $name.</a:t>
            </a:r>
            <a:endParaRPr sz="2400">
              <a:solidFill>
                <a:srgbClr val="292934"/>
              </a:solidFill>
            </a:endParaRPr>
          </a:p>
          <a:p>
            <a:pPr indent="-232537" lvl="0" marL="182880" rtl="0" algn="l">
              <a:spcBef>
                <a:spcPts val="640"/>
              </a:spcBef>
              <a:spcAft>
                <a:spcPts val="0"/>
              </a:spcAft>
              <a:buClr>
                <a:srgbClr val="93A299"/>
              </a:buClr>
              <a:buSzPct val="85000"/>
              <a:buChar char="•"/>
            </a:pPr>
            <a:r>
              <a:rPr lang="en-US" sz="3200">
                <a:solidFill>
                  <a:srgbClr val="292934"/>
                </a:solidFill>
              </a:rPr>
              <a:t>b) Hello, {!! $name !!}.</a:t>
            </a:r>
            <a:endParaRPr sz="2400">
              <a:solidFill>
                <a:srgbClr val="292934"/>
              </a:solidFill>
            </a:endParaRPr>
          </a:p>
          <a:p>
            <a:pPr indent="-232537" lvl="0" marL="182880" rtl="0" algn="l">
              <a:spcBef>
                <a:spcPts val="640"/>
              </a:spcBef>
              <a:spcAft>
                <a:spcPts val="0"/>
              </a:spcAft>
              <a:buClr>
                <a:srgbClr val="93A299"/>
              </a:buClr>
              <a:buSzPct val="85000"/>
              <a:buChar char="•"/>
            </a:pPr>
            <a:r>
              <a:rPr b="1" lang="en-US" sz="3200">
                <a:solidFill>
                  <a:srgbClr val="00B050"/>
                </a:solidFill>
              </a:rPr>
              <a:t>c) Hello, {{ $name }}.</a:t>
            </a:r>
            <a:endParaRPr sz="2400">
              <a:solidFill>
                <a:srgbClr val="292934"/>
              </a:solidFill>
            </a:endParaRPr>
          </a:p>
          <a:p>
            <a:pPr indent="-232537" lvl="0" marL="182880" rtl="0" algn="l">
              <a:spcBef>
                <a:spcPts val="640"/>
              </a:spcBef>
              <a:spcAft>
                <a:spcPts val="0"/>
              </a:spcAft>
              <a:buClr>
                <a:srgbClr val="93A299"/>
              </a:buClr>
              <a:buSzPct val="85000"/>
              <a:buChar char="•"/>
            </a:pPr>
            <a:r>
              <a:rPr lang="en-US" sz="3200">
                <a:solidFill>
                  <a:srgbClr val="292934"/>
                </a:solidFill>
              </a:rPr>
              <a:t>d) Hello, {{$naame}}.</a:t>
            </a:r>
            <a:endParaRPr sz="3600">
              <a:solidFill>
                <a:srgbClr val="292934"/>
              </a:solidFill>
            </a:endParaRPr>
          </a:p>
        </p:txBody>
      </p:sp>
      <p:pic>
        <p:nvPicPr>
          <p:cNvPr id="309" name="Google Shape;309;g3d7e767c37d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7e767c37d_1_219"/>
          <p:cNvSpPr txBox="1"/>
          <p:nvPr/>
        </p:nvSpPr>
        <p:spPr>
          <a:xfrm>
            <a:off x="457200" y="260625"/>
            <a:ext cx="11562300" cy="6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Which symbol is used to prefix Blade directives in Laravel?</a:t>
            </a:r>
            <a:endParaRPr sz="36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92934"/>
                </a:solidFill>
              </a:rPr>
              <a:t>a) #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92934"/>
                </a:solidFill>
              </a:rPr>
              <a:t>b) $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92934"/>
                </a:solidFill>
              </a:rPr>
              <a:t>c) !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d) @</a:t>
            </a:r>
            <a:endParaRPr b="1" sz="3600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How do you create a loop in a Blade template to iterate through an array called $users?</a:t>
            </a:r>
            <a:br>
              <a:rPr b="1" lang="en-US" sz="4000">
                <a:solidFill>
                  <a:srgbClr val="D2533C"/>
                </a:solidFill>
              </a:rPr>
            </a:br>
            <a:r>
              <a:rPr lang="en-US" sz="3200">
                <a:solidFill>
                  <a:srgbClr val="292934"/>
                </a:solidFill>
              </a:rPr>
              <a:t>a) @for ($user in $users)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b) @foreach ($user as $users)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c) @loop ($users as $user)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d) @foreach ($users as $user)</a:t>
            </a:r>
            <a:endParaRPr b="1" sz="3600">
              <a:solidFill>
                <a:srgbClr val="00B050"/>
              </a:solidFill>
            </a:endParaRPr>
          </a:p>
        </p:txBody>
      </p:sp>
      <p:pic>
        <p:nvPicPr>
          <p:cNvPr id="315" name="Google Shape;315;g3d7e767c37d_1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7e767c37d_1_233"/>
          <p:cNvSpPr txBox="1"/>
          <p:nvPr/>
        </p:nvSpPr>
        <p:spPr>
          <a:xfrm>
            <a:off x="457200" y="125425"/>
            <a:ext cx="96753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Which Blade directive is used to check if a variable is set and not null?</a:t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21" name="Google Shape;321;g3d7e767c37d_1_233"/>
          <p:cNvSpPr txBox="1"/>
          <p:nvPr/>
        </p:nvSpPr>
        <p:spPr>
          <a:xfrm>
            <a:off x="457200" y="1108075"/>
            <a:ext cx="10950300" cy="5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a) @isset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b) @empty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c) @ifset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d) @nullcheck</a:t>
            </a:r>
            <a:endParaRPr sz="32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4000">
                <a:solidFill>
                  <a:srgbClr val="D2533C"/>
                </a:solidFill>
              </a:rPr>
            </a:br>
            <a:br>
              <a:rPr b="1" lang="en-US" sz="4000">
                <a:solidFill>
                  <a:srgbClr val="D2533C"/>
                </a:solidFill>
              </a:rPr>
            </a:br>
            <a:r>
              <a:rPr b="1" lang="en-US" sz="4000">
                <a:solidFill>
                  <a:srgbClr val="D2533C"/>
                </a:solidFill>
              </a:rPr>
              <a:t>Which Blade directive is used for executing a loop with a defined number of iterations?</a:t>
            </a:r>
            <a:br>
              <a:rPr b="1" lang="en-US" sz="4000">
                <a:solidFill>
                  <a:srgbClr val="D2533C"/>
                </a:solidFill>
              </a:rPr>
            </a:br>
            <a:r>
              <a:rPr lang="en-US" sz="3200">
                <a:solidFill>
                  <a:srgbClr val="292934"/>
                </a:solidFill>
              </a:rPr>
              <a:t>a) @while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b) @loop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c) @for</a:t>
            </a:r>
            <a:endParaRPr sz="24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92934"/>
                </a:solidFill>
              </a:rPr>
              <a:t>d) @foreach</a:t>
            </a:r>
            <a:endParaRPr sz="3200">
              <a:solidFill>
                <a:srgbClr val="29293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  <a:p>
            <a:pPr indent="0" lvl="0" marL="18288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2934"/>
              </a:solidFill>
            </a:endParaRPr>
          </a:p>
        </p:txBody>
      </p:sp>
      <p:pic>
        <p:nvPicPr>
          <p:cNvPr id="322" name="Google Shape;322;g3d7e767c37d_1_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g3d7e767c37d_1_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d7e767c37d_1_240"/>
          <p:cNvSpPr txBox="1"/>
          <p:nvPr/>
        </p:nvSpPr>
        <p:spPr>
          <a:xfrm>
            <a:off x="607225" y="1337625"/>
            <a:ext cx="10314300" cy="4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Template Inheritance in Laravel is a </a:t>
            </a:r>
            <a:r>
              <a:rPr b="1" lang="en-US" sz="2200">
                <a:solidFill>
                  <a:schemeClr val="dk1"/>
                </a:solidFill>
              </a:rPr>
              <a:t>Blade feature</a:t>
            </a:r>
            <a:r>
              <a:rPr lang="en-US" sz="2200">
                <a:solidFill>
                  <a:schemeClr val="dk1"/>
                </a:solidFill>
              </a:rPr>
              <a:t> that allows you to create a </a:t>
            </a:r>
            <a:r>
              <a:rPr b="1" lang="en-US" sz="2200">
                <a:solidFill>
                  <a:schemeClr val="dk1"/>
                </a:solidFill>
              </a:rPr>
              <a:t>master layout</a:t>
            </a:r>
            <a:r>
              <a:rPr lang="en-US" sz="2200">
                <a:solidFill>
                  <a:schemeClr val="dk1"/>
                </a:solidFill>
              </a:rPr>
              <a:t> and reuse it across multiple pages.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 It helps avoid code repetition (DRY principle)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 It means: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Create one </a:t>
            </a:r>
            <a:r>
              <a:rPr b="1" lang="en-US" sz="2200">
                <a:solidFill>
                  <a:schemeClr val="dk1"/>
                </a:solidFill>
              </a:rPr>
              <a:t>main layout (parent)</a:t>
            </a:r>
            <a:br>
              <a:rPr b="1" lang="en-US" sz="2200">
                <a:solidFill>
                  <a:schemeClr val="dk1"/>
                </a:solidFill>
              </a:rPr>
            </a:br>
            <a:endParaRPr b="1"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Other pages (</a:t>
            </a:r>
            <a:r>
              <a:rPr b="1" lang="en-US" sz="2200">
                <a:solidFill>
                  <a:schemeClr val="dk1"/>
                </a:solidFill>
              </a:rPr>
              <a:t>child views</a:t>
            </a:r>
            <a:r>
              <a:rPr lang="en-US" sz="2200">
                <a:solidFill>
                  <a:schemeClr val="dk1"/>
                </a:solidFill>
              </a:rPr>
              <a:t>) extend it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Master Layout → Child Views → Final Output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9" name="Google Shape;329;g3d7e767c37d_1_240"/>
          <p:cNvSpPr txBox="1"/>
          <p:nvPr/>
        </p:nvSpPr>
        <p:spPr>
          <a:xfrm>
            <a:off x="279350" y="0"/>
            <a:ext cx="901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2533C"/>
                </a:solidFill>
              </a:rPr>
              <a:t>Template Inheritance</a:t>
            </a:r>
            <a:endParaRPr b="1" sz="40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7e767c37d_1_266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35" name="Google Shape;335;g3d7e767c37d_1_266"/>
          <p:cNvSpPr txBox="1"/>
          <p:nvPr/>
        </p:nvSpPr>
        <p:spPr>
          <a:xfrm>
            <a:off x="457200" y="125425"/>
            <a:ext cx="5136300" cy="6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STEP 1: Create Master Layout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resources/views/layouts/app.blade.php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&lt;!DOCTYPE html&gt;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&lt;html&gt;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&lt;head&gt;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	&lt;title&gt;@yield('title')&lt;/title&gt;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&lt;/head&gt;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&lt;body&gt;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&lt;header&gt;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    	&lt;h1&gt;My Website&lt;/h1&gt;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&lt;/header&gt;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&lt;nav&gt;</a:t>
            </a:r>
            <a:endParaRPr sz="13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    &lt;a href="/"&gt;Home&lt;/a&gt;</a:t>
            </a:r>
            <a:endParaRPr sz="13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    &lt;a href="/about"&gt;About&lt;/a&gt;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&lt;/nav&gt;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&lt;hr&gt;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&lt;div&gt;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   	 @yield('content')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&lt;/div&gt;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&lt;footer&gt;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    	&lt;p&gt;© 2026 My Website&lt;/p&gt;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   &lt;/footer&gt;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&lt;/body&gt;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&lt;/html&gt;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@yield()</a:t>
            </a:r>
            <a:r>
              <a:rPr lang="en-US" sz="1300">
                <a:solidFill>
                  <a:schemeClr val="dk1"/>
                </a:solidFill>
              </a:rPr>
              <a:t> → placeholder for child content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36" name="Google Shape;336;g3d7e767c37d_1_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d7e767c37d_1_266"/>
          <p:cNvSpPr txBox="1"/>
          <p:nvPr/>
        </p:nvSpPr>
        <p:spPr>
          <a:xfrm>
            <a:off x="5675575" y="125425"/>
            <a:ext cx="49077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STEP 2: Create Child View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resources/views/home.blade.php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@extends('layouts.app')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@section('title')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  Home Page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@endsection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@section('content')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  &lt;h2&gt;Welcome to Home Page&lt;/h2&gt;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@endsection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@extends</a:t>
            </a:r>
            <a:r>
              <a:rPr lang="en-US" sz="1300">
                <a:solidFill>
                  <a:schemeClr val="dk1"/>
                </a:solidFill>
              </a:rPr>
              <a:t> → inherit layout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@section</a:t>
            </a:r>
            <a:r>
              <a:rPr lang="en-US" sz="1300">
                <a:solidFill>
                  <a:schemeClr val="dk1"/>
                </a:solidFill>
              </a:rPr>
              <a:t> → fill content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8" name="Google Shape;338;g3d7e767c37d_1_266"/>
          <p:cNvSpPr txBox="1"/>
          <p:nvPr/>
        </p:nvSpPr>
        <p:spPr>
          <a:xfrm>
            <a:off x="5675575" y="3605400"/>
            <a:ext cx="43032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STEP 3: Route + Controller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Route::get('/', function () {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return view('home');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});</a:t>
            </a:r>
            <a:r>
              <a:rPr b="1" lang="en-US" sz="2300">
                <a:solidFill>
                  <a:schemeClr val="dk1"/>
                </a:solidFill>
              </a:rPr>
              <a:t> OUTPUT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Final rendered page: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My Website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-----------------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Welcome to Home Page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-----------------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© 2026 My Website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7e767c37d_1_284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44" name="Google Shape;344;g3d7e767c37d_1_284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47826"/>
              <a:buNone/>
            </a:pPr>
            <a:r>
              <a:rPr b="1" lang="en-US" sz="2300">
                <a:solidFill>
                  <a:schemeClr val="dk1"/>
                </a:solidFill>
              </a:rPr>
              <a:t>IMPORTANT BLADE DIRECTIVES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1.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@extends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@extends('layouts.app')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Inherit layout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2.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@section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@section('content')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Data here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@endsection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Define section content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 3.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@yield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@yield('content')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Display section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4.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@include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@include('partials.header')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Include reusable parts (header/footer)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45" name="Google Shape;345;g3d7e767c37d_1_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7e767c37d_1_305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51" name="Google Shape;351;g3d7e767c37d_1_305"/>
          <p:cNvSpPr txBox="1"/>
          <p:nvPr/>
        </p:nvSpPr>
        <p:spPr>
          <a:xfrm>
            <a:off x="457200" y="272150"/>
            <a:ext cx="11195700" cy="6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</a:rPr>
              <a:t>Secure Routing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In </a:t>
            </a:r>
            <a:r>
              <a:rPr b="1" lang="en-US" sz="2200">
                <a:solidFill>
                  <a:schemeClr val="dk1"/>
                </a:solidFill>
              </a:rPr>
              <a:t>Laravel</a:t>
            </a:r>
            <a:r>
              <a:rPr lang="en-US" sz="2200">
                <a:solidFill>
                  <a:schemeClr val="dk1"/>
                </a:solidFill>
              </a:rPr>
              <a:t>, </a:t>
            </a:r>
            <a:r>
              <a:rPr i="1" lang="en-US" sz="2200">
                <a:solidFill>
                  <a:schemeClr val="dk1"/>
                </a:solidFill>
              </a:rPr>
              <a:t>secure routes</a:t>
            </a:r>
            <a:r>
              <a:rPr lang="en-US" sz="2200">
                <a:solidFill>
                  <a:schemeClr val="dk1"/>
                </a:solidFill>
              </a:rPr>
              <a:t> means protecting routes so only authorized or authenticated users can access them. This is mainly done using </a:t>
            </a:r>
            <a:r>
              <a:rPr b="1" lang="en-US" sz="2200">
                <a:solidFill>
                  <a:schemeClr val="dk1"/>
                </a:solidFill>
              </a:rPr>
              <a:t>middleware</a:t>
            </a:r>
            <a:r>
              <a:rPr lang="en-US" sz="2200">
                <a:solidFill>
                  <a:schemeClr val="dk1"/>
                </a:solidFill>
              </a:rPr>
              <a:t>, especially authentication and authorization middleware.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Secure routes are routes that: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Require </a:t>
            </a:r>
            <a:r>
              <a:rPr b="1" lang="en-US" sz="2200">
                <a:solidFill>
                  <a:schemeClr val="dk1"/>
                </a:solidFill>
              </a:rPr>
              <a:t>login (authentication)</a:t>
            </a:r>
            <a:endParaRPr b="1"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Restrict access based on </a:t>
            </a:r>
            <a:r>
              <a:rPr b="1" lang="en-US" sz="2200">
                <a:solidFill>
                  <a:schemeClr val="dk1"/>
                </a:solidFill>
              </a:rPr>
              <a:t>roles/permissions</a:t>
            </a:r>
            <a:endParaRPr b="1"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Prevent unauthorized users from accessing sensitive pages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Using Middleware for Secure Routes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Laravel provides built-in middleware like: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</a:t>
            </a:r>
            <a:r>
              <a:rPr lang="en-US" sz="2200">
                <a:solidFill>
                  <a:schemeClr val="dk1"/>
                </a:solidFill>
              </a:rPr>
              <a:t> → only logged-in users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verified</a:t>
            </a:r>
            <a:r>
              <a:rPr lang="en-US" sz="2200">
                <a:solidFill>
                  <a:schemeClr val="dk1"/>
                </a:solidFill>
              </a:rPr>
              <a:t> → email verified users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throttle</a:t>
            </a:r>
            <a:r>
              <a:rPr lang="en-US" sz="2200">
                <a:solidFill>
                  <a:schemeClr val="dk1"/>
                </a:solidFill>
              </a:rPr>
              <a:t> → rate limiting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custom middleware → role-based security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352" name="Google Shape;352;g3d7e767c37d_1_3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a1e0da6b8_0_7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58" name="Google Shape;358;g3da1e0da6b8_0_7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Example 1: Secure Route with Authentication</a:t>
            </a:r>
            <a:endParaRPr b="1" sz="17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use Illuminate\Support\Facades\Route;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Route::get('/dashboard', function () {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return "Welcome to dashboard";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en-US" sz="1800">
                <a:solidFill>
                  <a:schemeClr val="dk1"/>
                </a:solidFill>
              </a:rPr>
              <a:t>})-&gt;middleware('auth');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Only logged-in users can access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/dashboard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Example 2: Group Secure Routes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Route::middleware(['auth']) -&gt;group(function () {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Route::get('/profile', function () {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    return "User Profile";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});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Route::get('/settings', function () {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    return "Settings Page";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	   });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});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All routes inside the group are protected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1111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59" name="Google Shape;359;g3da1e0da6b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a1e0da6b8_0_29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65" name="Google Shape;365;g3da1e0da6b8_0_29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1: Create Laravel Project (if not already)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composer create-project laravel/laravel myApp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cd myApp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2: Install Authentication (Breeze)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composer require laravel/breeze --dev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php artisan breeze:install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php artisan migrate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npm install &amp;&amp; npm run dev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This automatically sets up: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chemeClr val="dk1"/>
                </a:solidFill>
              </a:rPr>
              <a:t>Login / Register pages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chemeClr val="dk1"/>
                </a:solidFill>
              </a:rPr>
              <a:t>Auth controllers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</a:t>
            </a:r>
            <a:r>
              <a:rPr lang="en-US" sz="2200">
                <a:solidFill>
                  <a:schemeClr val="dk1"/>
                </a:solidFill>
              </a:rPr>
              <a:t> middleware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366" name="Google Shape;366;g3da1e0da6b8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a1e0da6b8_0_36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72" name="Google Shape;372;g3da1e0da6b8_0_36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3: Run Server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php artisan serve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Open: 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http://127.0.0.1:8000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4: Add Secure Route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routes/web.php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use Illuminate\Support\Facades\Route;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Route::get('/',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return "Home Page";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//  ADD THIS ROUTE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Route::get('/dashboard',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return "Welcome Dashboard";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})-&gt;middleware(['auth'])-&gt;name('dashboard')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373" name="Google Shape;373;g3da1e0da6b8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a1e0da6b8_0_43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79" name="Google Shape;379;g3da1e0da6b8_0_43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5: Test Auth Middleware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Case 1: Not Logged In 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Open: 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http://127.0.0.1:8000/dashboard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Output: Redirect to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/login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Case 2: Logged In 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Open: </a:t>
            </a:r>
            <a:r>
              <a:rPr lang="en-US" sz="2200" u="sng">
                <a:solidFill>
                  <a:schemeClr val="hlink"/>
                </a:solidFill>
                <a:hlinkClick r:id="rId4"/>
              </a:rPr>
              <a:t>http://127.0.0.1:8000/register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Create account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Login</a:t>
            </a:r>
            <a:endParaRPr sz="22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Open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/dashboard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Output:</a:t>
            </a:r>
            <a:endParaRPr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This is Secure Dashboard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380" name="Google Shape;380;g3da1e0da6b8_0_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a1e0da6b8_0_0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86" name="Google Shape;386;g3da1e0da6b8_0_0"/>
          <p:cNvSpPr txBox="1"/>
          <p:nvPr/>
        </p:nvSpPr>
        <p:spPr>
          <a:xfrm>
            <a:off x="457200" y="220100"/>
            <a:ext cx="10423500" cy="6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6: Using Controller 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Create Controller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php artisan make:controller DashboardController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app/Http/Controllers/DashboardController.php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namespace App\Http\Controllers;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use Illuminate\Http\Request;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class DashboardController extends Controller{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public function __construct(){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// Apply auth middleware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$this-&gt;middleware('auth');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}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public function index(){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return "Secure Dashboard from Controller";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387" name="Google Shape;387;g3da1e0da6b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a1e0da6b8_0_5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393" name="Google Shape;393;g3da1e0da6b8_0_51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Add Route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routes/web.php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use App\Http\Controllers\DashboardController;</a:t>
            </a:r>
            <a:endParaRPr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Route::get('/dashboard', [DashboardController::class, 'index']);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STEP 7: Route Group (Best Practice)</a:t>
            </a:r>
            <a:endParaRPr b="1"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Route::middleware(['auth']) -&gt;group(function () {</a:t>
            </a:r>
            <a:endParaRPr sz="22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Route::get('/profile',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return "Profile Page";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Route::get('/settings',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return "Settings Page";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   	});</a:t>
            </a:r>
            <a:endParaRPr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394" name="Google Shape;394;g3da1e0da6b8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7e767c37d_1_31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00" name="Google Shape;400;g3d7e767c37d_1_311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Domain Routing?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Domain routing allows you to handle </a:t>
            </a:r>
            <a:r>
              <a:rPr b="1" lang="en-US" sz="2200">
                <a:solidFill>
                  <a:schemeClr val="dk1"/>
                </a:solidFill>
              </a:rPr>
              <a:t>different domains or subdomains</a:t>
            </a:r>
            <a:r>
              <a:rPr lang="en-US" sz="2200">
                <a:solidFill>
                  <a:schemeClr val="dk1"/>
                </a:solidFill>
              </a:rPr>
              <a:t> in the same Laravel app.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example.com        → Main site 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admin.example.com  → Admin panel 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api.example.com    → API routes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Basic Domain Routing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routes/web.php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Route::domain('admin.localhost')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Route::get('/',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return "Admin Panel";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01" name="Google Shape;401;g3d7e767c37d_1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7e767c37d_1_317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07" name="Google Shape;407;g3d7e767c37d_1_317"/>
          <p:cNvSpPr txBox="1"/>
          <p:nvPr/>
        </p:nvSpPr>
        <p:spPr>
          <a:xfrm>
            <a:off x="457200" y="727625"/>
            <a:ext cx="10423500" cy="57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Access in Browser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u="sng">
                <a:solidFill>
                  <a:schemeClr val="hlink"/>
                </a:solidFill>
                <a:hlinkClick r:id="rId3"/>
              </a:rPr>
              <a:t>http://admin.localhost:8000</a:t>
            </a:r>
            <a:endParaRPr sz="22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You will see: </a:t>
            </a:r>
            <a:r>
              <a:rPr b="1" lang="en-US" sz="2200">
                <a:solidFill>
                  <a:schemeClr val="dk1"/>
                </a:solidFill>
              </a:rPr>
              <a:t>Admin Panel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Important Setup : Add domain in hosts file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1. Windows: C:\Windows\System32\drivers\etc\hosts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2. Mac/Linux: /etc/hosts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Add: 127.0.0.1 admin.localhost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08" name="Google Shape;408;g3d7e767c37d_1_3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7e767c37d_1_323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14" name="Google Shape;414;g3d7e767c37d_1_323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Multiple Domain Routing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Route::domain('admin.localhost')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Route::get('/dashboard',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return "Admin Dashboard";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Route::domain('user.localhost')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Route::get('/dashboard',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return "User Dashboard";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15" name="Google Shape;415;g3d7e767c37d_1_3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a1e0da6b8_0_66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21" name="Google Shape;421;g3da1e0da6b8_0_66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</a:rPr>
              <a:t>Dynamic Subdomain Routing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Route::domain('{account}.localhost')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   Route::get('/', function ($account) {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       return "Welcome " . $account;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Output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http://abc.localhost:8000 → Welcome abc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http://xyz.localhost:8000 → Welcome xyz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Using Controller (Optional)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Route::domain('admin.localhost')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Route::get('/home', [HomeController::class, 'home']);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22" name="Google Shape;422;g3da1e0da6b8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7e767c37d_1_329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28" name="Google Shape;428;g3d7e767c37d_1_329"/>
          <p:cNvSpPr txBox="1"/>
          <p:nvPr/>
        </p:nvSpPr>
        <p:spPr>
          <a:xfrm>
            <a:off x="397250" y="351150"/>
            <a:ext cx="10483500" cy="6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Route Groups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 groups allow you to </a:t>
            </a:r>
            <a:r>
              <a:rPr b="1" lang="en-US" sz="2200">
                <a:solidFill>
                  <a:schemeClr val="dk1"/>
                </a:solidFill>
              </a:rPr>
              <a:t>apply common properties</a:t>
            </a:r>
            <a:r>
              <a:rPr lang="en-US" sz="2200">
                <a:solidFill>
                  <a:schemeClr val="dk1"/>
                </a:solidFill>
              </a:rPr>
              <a:t> (middleware, prefix, namespace, etc.) to multiple routes.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Basic Syntax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Route::group([],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Route::get('/home',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return "Home";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Route::get('/about',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return "About";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429" name="Google Shape;429;g3d7e767c37d_1_3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a1e0da6b8_0_85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35" name="Google Shape;435;g3da1e0da6b8_0_85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Example with Middleware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Route::middleware(['age.check']) -&gt;group(function () {</a:t>
            </a:r>
            <a:endParaRPr sz="2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Route::get('/home',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return "Home Page";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Route::get('/dashboard',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return "Dashboard";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Middleware applies to </a:t>
            </a:r>
            <a:r>
              <a:rPr b="1" lang="en-US" sz="2200">
                <a:solidFill>
                  <a:schemeClr val="dk1"/>
                </a:solidFill>
              </a:rPr>
              <a:t>all routes inside the group.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</a:rPr>
              <a:t>Request → Group Middleware → Route → Response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36" name="Google Shape;436;g3da1e0da6b8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a1e0da6b8_0_79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42" name="Google Shape;442;g3da1e0da6b8_0_79"/>
          <p:cNvSpPr txBox="1"/>
          <p:nvPr/>
        </p:nvSpPr>
        <p:spPr>
          <a:xfrm>
            <a:off x="457200" y="220675"/>
            <a:ext cx="10423500" cy="6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Route Prefixing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Adds a </a:t>
            </a:r>
            <a:r>
              <a:rPr b="1" lang="en-US" sz="2200">
                <a:solidFill>
                  <a:schemeClr val="dk1"/>
                </a:solidFill>
              </a:rPr>
              <a:t>common URL path</a:t>
            </a:r>
            <a:r>
              <a:rPr lang="en-US" sz="2200">
                <a:solidFill>
                  <a:schemeClr val="dk1"/>
                </a:solidFill>
              </a:rPr>
              <a:t> before all routes in a group.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Basic Prefix Example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Route::prefix('admin')-&gt;group(function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Route::get('/dashboard',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	 return "Admin Dashboard";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Route::get('/users',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return "Admin Users";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	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 Output URLs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/admin/dashboard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/admin/users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43" name="Google Shape;443;g3da1e0da6b8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a1e0da6b8_0_96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49" name="Google Shape;449;g3da1e0da6b8_0_96"/>
          <p:cNvSpPr txBox="1"/>
          <p:nvPr/>
        </p:nvSpPr>
        <p:spPr>
          <a:xfrm>
            <a:off x="457200" y="449650"/>
            <a:ext cx="107439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Combine Group + Prefix + Middleware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Route::prefix('admin')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-&gt;middleware(['age.check'])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Route::get('/dashboard',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    		return "Admin Dashboard";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Route::get('/settings',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    		return "Admin Settings";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/admin → admin panel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/user → user panel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</a:rPr>
              <a:t>/api → API routes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50" name="Google Shape;450;g3da1e0da6b8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a1e0da6b8_0_103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56" name="Google Shape;456;g3da1e0da6b8_0_103"/>
          <p:cNvSpPr txBox="1"/>
          <p:nvPr/>
        </p:nvSpPr>
        <p:spPr>
          <a:xfrm>
            <a:off x="457200" y="449650"/>
            <a:ext cx="10423500" cy="6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Nested Groups (Advanced)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Route::prefix('admin')-&gt;group(function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	 Route::prefix('users') -&gt;group(function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Route::get('/',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    		return "All Users";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Route::get('/create', function () 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    		return "Create User";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 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   	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});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/admin/users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</a:rPr>
              <a:t>/admin/users/create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457" name="Google Shape;457;g3da1e0da6b8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a1e0da6b8_0_117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63" name="Google Shape;463;g3da1e0da6b8_0_117"/>
          <p:cNvSpPr txBox="1"/>
          <p:nvPr/>
        </p:nvSpPr>
        <p:spPr>
          <a:xfrm>
            <a:off x="457200" y="742600"/>
            <a:ext cx="10887300" cy="5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Route::prefix('admin')-&gt;middleware(['age.check']) -&gt;group(function () {</a:t>
            </a:r>
            <a:endParaRPr sz="2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Route::get('/dashboard', function () {</a:t>
            </a:r>
            <a:endParaRPr sz="27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return "Dashboard";</a:t>
            </a:r>
            <a:endParaRPr sz="2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});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700">
                <a:solidFill>
                  <a:schemeClr val="dk1"/>
                </a:solidFill>
              </a:rPr>
              <a:t>});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464" name="Google Shape;464;g3da1e0da6b8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a1e0da6b8_0_192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70" name="Google Shape;470;g3da1e0da6b8_0_192"/>
          <p:cNvSpPr txBox="1"/>
          <p:nvPr/>
        </p:nvSpPr>
        <p:spPr>
          <a:xfrm>
            <a:off x="457200" y="125425"/>
            <a:ext cx="10887300" cy="6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solidFill>
                  <a:schemeClr val="dk1"/>
                </a:solidFill>
              </a:rPr>
              <a:t>URL Generation: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URL generation means creating </a:t>
            </a:r>
            <a:r>
              <a:rPr b="1" lang="en-US" sz="2000">
                <a:solidFill>
                  <a:schemeClr val="dk1"/>
                </a:solidFill>
              </a:rPr>
              <a:t>links (URLs)</a:t>
            </a:r>
            <a:r>
              <a:rPr lang="en-US" sz="2000">
                <a:solidFill>
                  <a:schemeClr val="dk1"/>
                </a:solidFill>
              </a:rPr>
              <a:t> to routes, controllers, or assets using Laravel helper functions instead of writing hardcoded URLs.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URL generation in Laravel is the process of dynamically creating URLs using helper functions like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url()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route()</a:t>
            </a:r>
            <a:r>
              <a:rPr lang="en-US" sz="2000">
                <a:solidFill>
                  <a:schemeClr val="dk1"/>
                </a:solidFill>
              </a:rPr>
              <a:t>, and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asset()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Avoid hardcoding URLs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Easy maintenance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It works even if route changes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Cleaner code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300"/>
              <a:buAutoNum type="arabicPeriod"/>
            </a:pPr>
            <a:r>
              <a:rPr b="1" lang="en-US" sz="2300">
                <a:solidFill>
                  <a:schemeClr val="dk1"/>
                </a:solidFill>
              </a:rPr>
              <a:t>Using </a:t>
            </a:r>
            <a:r>
              <a:rPr b="1"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url()</a:t>
            </a:r>
            <a:r>
              <a:rPr b="1" lang="en-US" sz="2300">
                <a:solidFill>
                  <a:schemeClr val="dk1"/>
                </a:solidFill>
              </a:rPr>
              <a:t> Helper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$url = url('/home');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Output: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http://127.0.0.1:8000/home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71" name="Google Shape;471;g3da1e0da6b8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a1e0da6b8_0_198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77" name="Google Shape;477;g3da1e0da6b8_0_198"/>
          <p:cNvSpPr txBox="1"/>
          <p:nvPr/>
        </p:nvSpPr>
        <p:spPr>
          <a:xfrm>
            <a:off x="457200" y="454325"/>
            <a:ext cx="10887300" cy="6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Using </a:t>
            </a:r>
            <a:r>
              <a:rPr b="1" lang="en-US" sz="4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route()</a:t>
            </a:r>
            <a:r>
              <a:rPr b="1" lang="en-US" sz="4000">
                <a:solidFill>
                  <a:schemeClr val="dk1"/>
                </a:solidFill>
              </a:rPr>
              <a:t> Helper </a:t>
            </a:r>
            <a:endParaRPr b="1" sz="4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50">
                <a:solidFill>
                  <a:schemeClr val="dk1"/>
                </a:solidFill>
              </a:rPr>
              <a:t>Step 1: Define Named Route</a:t>
            </a:r>
            <a:endParaRPr b="1" sz="2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50">
                <a:solidFill>
                  <a:schemeClr val="dk1"/>
                </a:solidFill>
              </a:rPr>
              <a:t>Route::get('/home', function () {</a:t>
            </a:r>
            <a:endParaRPr sz="2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50">
                <a:solidFill>
                  <a:schemeClr val="dk1"/>
                </a:solidFill>
              </a:rPr>
              <a:t>   	return "Home";</a:t>
            </a:r>
            <a:endParaRPr sz="2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50">
                <a:solidFill>
                  <a:schemeClr val="dk1"/>
                </a:solidFill>
              </a:rPr>
              <a:t>})-&gt;name('home');</a:t>
            </a:r>
            <a:endParaRPr sz="23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50">
                <a:solidFill>
                  <a:schemeClr val="dk1"/>
                </a:solidFill>
              </a:rPr>
              <a:t>Step 2: Generate URL</a:t>
            </a:r>
            <a:endParaRPr b="1" sz="2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50">
                <a:solidFill>
                  <a:schemeClr val="dk1"/>
                </a:solidFill>
              </a:rPr>
              <a:t>$url = route('home');</a:t>
            </a:r>
            <a:endParaRPr sz="2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50">
                <a:solidFill>
                  <a:schemeClr val="dk1"/>
                </a:solidFill>
              </a:rPr>
              <a:t>Output:</a:t>
            </a:r>
            <a:endParaRPr sz="2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50" u="sng">
                <a:solidFill>
                  <a:schemeClr val="hlink"/>
                </a:solidFill>
                <a:hlinkClick r:id="rId3"/>
              </a:rPr>
              <a:t>http://127.0.0.1:8000/home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478" name="Google Shape;478;g3da1e0da6b8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a1e0da6b8_0_204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84" name="Google Shape;484;g3da1e0da6b8_0_204"/>
          <p:cNvSpPr txBox="1"/>
          <p:nvPr/>
        </p:nvSpPr>
        <p:spPr>
          <a:xfrm>
            <a:off x="457200" y="207075"/>
            <a:ext cx="10887300" cy="6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Route with Parameters</a:t>
            </a:r>
            <a:endParaRPr b="1" sz="2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Route::get('/user/{id}', function ($id) 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	return $id;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})-&gt;name('user');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Generate URL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$url = route('user', ['id' =&gt; 5]);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Output: /user/5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Using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asset()</a:t>
            </a:r>
            <a:r>
              <a:rPr b="1" lang="en-US" sz="2500">
                <a:solidFill>
                  <a:schemeClr val="dk1"/>
                </a:solidFill>
              </a:rPr>
              <a:t> (for CSS, JS, images)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echo asset('css/style.css');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Output: http://127.0.0.1:8000/css/style.css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85" name="Google Shape;485;g3da1e0da6b8_0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a1e0da6b8_0_210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91" name="Google Shape;491;g3da1e0da6b8_0_210"/>
          <p:cNvSpPr txBox="1"/>
          <p:nvPr/>
        </p:nvSpPr>
        <p:spPr>
          <a:xfrm>
            <a:off x="457200" y="742600"/>
            <a:ext cx="10887300" cy="5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Using </a:t>
            </a:r>
            <a:r>
              <a:rPr b="1" lang="en-US" sz="2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action()</a:t>
            </a:r>
            <a:r>
              <a:rPr b="1" lang="en-US" sz="2700">
                <a:solidFill>
                  <a:schemeClr val="dk1"/>
                </a:solidFill>
              </a:rPr>
              <a:t> (Controller URL)</a:t>
            </a:r>
            <a:endParaRPr b="1" sz="2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use App\Http\Controllers\HomeController;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$url = action([HomeController::class, 'home']);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In Blade 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&lt;a href="{{ url('/home') }}"&gt;Home&lt;/a&gt;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&lt;a href="{{ route('home') }}"&gt;Home&lt;/a&gt;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&lt;a href="{{ route('user', 5) }}"&gt;User&lt;/a&gt;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&lt;link rel="stylesheet" href="{{ asset('css/style.css') }}"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492" name="Google Shape;492;g3da1e0da6b8_0_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a1e0da6b8_0_224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sp>
        <p:nvSpPr>
          <p:cNvPr id="498" name="Google Shape;498;g3da1e0da6b8_0_224"/>
          <p:cNvSpPr txBox="1"/>
          <p:nvPr/>
        </p:nvSpPr>
        <p:spPr>
          <a:xfrm>
            <a:off x="457200" y="742600"/>
            <a:ext cx="10887300" cy="5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499" name="Google Shape;499;g3da1e0da6b8_0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da1e0da6b8_0_224"/>
          <p:cNvSpPr txBox="1"/>
          <p:nvPr/>
        </p:nvSpPr>
        <p:spPr>
          <a:xfrm>
            <a:off x="838200" y="191175"/>
            <a:ext cx="10515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Current URL: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da1e0da6b8_0_224"/>
          <p:cNvSpPr txBox="1"/>
          <p:nvPr/>
        </p:nvSpPr>
        <p:spPr>
          <a:xfrm>
            <a:off x="838200" y="870675"/>
            <a:ext cx="10515600" cy="5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876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retrieve and display the current URL, you can do the following: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7876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an existing Blade view file or create a new one (e.g., resources/views/current-url.blade.php).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7876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your Blade view file, add the following code to display the current URL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876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 current.blade.php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15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&lt;title&gt;</a:t>
            </a: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Current URL Example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Current URL: {{ url()-&gt;current() }}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2150">
              <a:solidFill>
                <a:srgbClr val="8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1162"/>
              <a:buFont typeface="Arial"/>
              <a:buNone/>
            </a:pP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Current URL: {{ url()-&gt;previous() }}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Current URL: {{ url()-&gt;full() }}</a:t>
            </a: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2150">
              <a:solidFill>
                <a:srgbClr val="8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2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21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a1e0da6b8_0_242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D2533C"/>
              </a:solidFill>
            </a:endParaRPr>
          </a:p>
        </p:txBody>
      </p:sp>
      <p:pic>
        <p:nvPicPr>
          <p:cNvPr id="507" name="Google Shape;507;g3da1e0da6b8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da1e0da6b8_0_242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da1e0da6b8_0_242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da1e0da6b8_0_242"/>
          <p:cNvSpPr txBox="1"/>
          <p:nvPr/>
        </p:nvSpPr>
        <p:spPr>
          <a:xfrm>
            <a:off x="838200" y="125425"/>
            <a:ext cx="10515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web.php and in UserController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da1e0da6b8_0_242"/>
          <p:cNvSpPr txBox="1"/>
          <p:nvPr/>
        </p:nvSpPr>
        <p:spPr>
          <a:xfrm>
            <a:off x="721600" y="1183075"/>
            <a:ext cx="10632000" cy="56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 web.php</a:t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lang="en-US" sz="2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Route to display the current URL example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Ro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ute::get(</a:t>
            </a:r>
            <a:r>
              <a:rPr lang="en-US" sz="2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'/current-url'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, [UserController::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'currentUrl’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UserController function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 currentUrl()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    {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 view(</a:t>
            </a:r>
            <a:r>
              <a:rPr lang="en-US" sz="2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'current'</a:t>
            </a: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Output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URL: http://localhost:8000/current-url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a1e0da6b8_0_280"/>
          <p:cNvSpPr txBox="1"/>
          <p:nvPr/>
        </p:nvSpPr>
        <p:spPr>
          <a:xfrm>
            <a:off x="734625" y="363250"/>
            <a:ext cx="106194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Generating Framework URLs: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da1e0da6b8_0_280"/>
          <p:cNvSpPr txBox="1"/>
          <p:nvPr/>
        </p:nvSpPr>
        <p:spPr>
          <a:xfrm>
            <a:off x="734275" y="1196050"/>
            <a:ext cx="10619400" cy="4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generate framework URLs for named routes and controller actions, follow these steps: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an existing Blade view file or create a new one (e.g., resources/views/framework-urls.blade.php).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your Blade view file, you can generate URLs using the route() and action() functions. For example: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g3da1e0da6b8_0_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a1e0da6b8_0_254"/>
          <p:cNvSpPr txBox="1"/>
          <p:nvPr/>
        </p:nvSpPr>
        <p:spPr>
          <a:xfrm>
            <a:off x="1138025" y="701575"/>
            <a:ext cx="9773100" cy="5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&lt;title&gt;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Framework URLs Example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@php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App\Http\Controllers\UserController;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@endphp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Profile URL: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"{{ route(</a:t>
            </a:r>
            <a:r>
              <a:rPr lang="en-US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'profile'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}}"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Profile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&lt;/a&gt;&lt;/p&gt;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User Edit URL: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"{{ action([UserController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class, </a:t>
            </a:r>
            <a:r>
              <a:rPr lang="en-US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'showProfile'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]) }}"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 Profile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&lt;/a&gt;&lt;/p&gt;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g3da1e0da6b8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a1e0da6b8_0_289"/>
          <p:cNvSpPr txBox="1"/>
          <p:nvPr/>
        </p:nvSpPr>
        <p:spPr>
          <a:xfrm>
            <a:off x="942825" y="428300"/>
            <a:ext cx="104109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Asset URLs: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da1e0da6b8_0_289"/>
          <p:cNvSpPr txBox="1"/>
          <p:nvPr/>
        </p:nvSpPr>
        <p:spPr>
          <a:xfrm>
            <a:off x="227100" y="1287175"/>
            <a:ext cx="11581800" cy="50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generate URLs for asset files (CSS, JavaScript, images), follow these steps: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&lt;title&gt;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Asset URLs Example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&lt;link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"stylesheet"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"{{ asset(</a:t>
            </a:r>
            <a:r>
              <a:rPr lang="en-US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'css/style.css'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}}"</a:t>
            </a: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&lt;!-- Your HTML content here --&gt;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g3da1e0da6b8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a1e0da6b8_0_296"/>
          <p:cNvSpPr txBox="1"/>
          <p:nvPr/>
        </p:nvSpPr>
        <p:spPr>
          <a:xfrm>
            <a:off x="331201" y="389275"/>
            <a:ext cx="107730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Generation Shortcuts: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da1e0da6b8_0_296"/>
          <p:cNvSpPr txBox="1"/>
          <p:nvPr/>
        </p:nvSpPr>
        <p:spPr>
          <a:xfrm>
            <a:off x="461350" y="1325875"/>
            <a:ext cx="11142000" cy="5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Laravel provides shortcuts for generating URLs directly in Blade templates. You can use these shortcuts within your Blade views. For example:</a:t>
            </a:r>
            <a:endParaRPr sz="3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&lt;title&gt;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Shortcuts Example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About Us: 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&lt;a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"{{ url(</a:t>
            </a:r>
            <a:r>
              <a:rPr lang="en-US" sz="2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‘/admin/dashboard'</a:t>
            </a:r>
            <a:r>
              <a:rPr lang="en-US" sz="2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}}"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AboutUs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&lt;/a&gt;&lt;/p&gt;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Profile: 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&lt;a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"{{ route(</a:t>
            </a:r>
            <a:r>
              <a:rPr lang="en-US" sz="2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'profile'</a:t>
            </a:r>
            <a:r>
              <a:rPr lang="en-US" sz="2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}}"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Profile</a:t>
            </a: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&lt;/a&gt;&lt;/p&gt;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g3da1e0da6b8_0_2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2025-02-05T09:56:21Z</dcterms:created>
  <dc:creator>Yatika hasija</dc:creator>
</cp:coreProperties>
</file>