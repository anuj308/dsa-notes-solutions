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Lst>
  <p:sldSz cy="6858000" cx="12192000"/>
  <p:notesSz cx="6858000" cy="9144000"/>
  <p:embeddedFontLst>
    <p:embeddedFont>
      <p:font typeface="Arimo"/>
      <p:regular r:id="rId79"/>
      <p:bold r:id="rId80"/>
      <p:italic r:id="rId81"/>
      <p:boldItalic r:id="rId82"/>
    </p:embeddedFont>
    <p:embeddedFont>
      <p:font typeface="Nunito"/>
      <p:regular r:id="rId83"/>
      <p:bold r:id="rId84"/>
      <p:italic r:id="rId85"/>
      <p:boldItalic r:id="rId86"/>
    </p:embeddedFont>
    <p:embeddedFont>
      <p:font typeface="Roboto Mono"/>
      <p:regular r:id="rId87"/>
      <p:bold r:id="rId88"/>
      <p:italic r:id="rId89"/>
      <p:boldItalic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91" roundtripDataSignature="AMtx7micwOk9NIzOD3gzQiBBKyf/+Kix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Nunito-bold.fntdata"/><Relationship Id="rId83" Type="http://schemas.openxmlformats.org/officeDocument/2006/relationships/font" Target="fonts/Nunito-regular.fntdata"/><Relationship Id="rId42" Type="http://schemas.openxmlformats.org/officeDocument/2006/relationships/slide" Target="slides/slide37.xml"/><Relationship Id="rId86" Type="http://schemas.openxmlformats.org/officeDocument/2006/relationships/font" Target="fonts/Nunito-boldItalic.fntdata"/><Relationship Id="rId41" Type="http://schemas.openxmlformats.org/officeDocument/2006/relationships/slide" Target="slides/slide36.xml"/><Relationship Id="rId85" Type="http://schemas.openxmlformats.org/officeDocument/2006/relationships/font" Target="fonts/Nunito-italic.fntdata"/><Relationship Id="rId44" Type="http://schemas.openxmlformats.org/officeDocument/2006/relationships/slide" Target="slides/slide39.xml"/><Relationship Id="rId88" Type="http://schemas.openxmlformats.org/officeDocument/2006/relationships/font" Target="fonts/RobotoMono-bold.fntdata"/><Relationship Id="rId43" Type="http://schemas.openxmlformats.org/officeDocument/2006/relationships/slide" Target="slides/slide38.xml"/><Relationship Id="rId87" Type="http://schemas.openxmlformats.org/officeDocument/2006/relationships/font" Target="fonts/RobotoMono-regular.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RobotoMono-italic.fntdata"/><Relationship Id="rId80" Type="http://schemas.openxmlformats.org/officeDocument/2006/relationships/font" Target="fonts/Arimo-bold.fntdata"/><Relationship Id="rId82" Type="http://schemas.openxmlformats.org/officeDocument/2006/relationships/font" Target="fonts/Arimo-boldItalic.fntdata"/><Relationship Id="rId81" Type="http://schemas.openxmlformats.org/officeDocument/2006/relationships/font" Target="fonts/Arim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font" Target="fonts/Arimo-regular.fntdata"/><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customschemas.google.com/relationships/presentationmetadata" Target="metadata"/><Relationship Id="rId90" Type="http://schemas.openxmlformats.org/officeDocument/2006/relationships/font" Target="fonts/RobotoMono-boldItalic.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10798bb0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g3d10798bb04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10798bb0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g3d10798bb04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d10798bb04_0_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d10798bb04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10798bb04_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d10798bb04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d10798bb04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d10798bb04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d10798bb04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d10798bb0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d10798bb04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d10798bb0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d10798bb04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d10798bb0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d10798bb04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d10798bb04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d10798bb04_0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d10798bb04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d10798bb04_0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d10798bb04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d10798bb04_3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d10798bb04_3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d10798bb04_3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d10798bb04_3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d10798bb04_3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d10798bb04_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d10798bb04_3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d10798bb04_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d10798bb04_3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d10798bb04_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10798bb04_3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10798bb04_3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d10798bb04_3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d10798bb04_3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d10798bb04_3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d10798bb04_3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d10798bb04_3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3d10798bb04_3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d10798bb04_3_1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d10798bb04_3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d10798bb04_3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d10798bb04_3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d10798bb04_3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d10798bb04_3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d10798bb04_3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d10798bb04_3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d10798bb04_3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d10798bb04_3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d10798bb04_3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g3d10798bb04_3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d10798bb04_3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d10798bb04_3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d10798bb04_1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3d10798bb04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d10798bb04_1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d10798bb04_1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d10798bb04_1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d10798bb04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d10798bb04_1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d10798bb04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d10798bb04_1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d10798bb04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d10798bb04_1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d10798bb04_1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d10798bb04_1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d10798bb04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d10798bb04_1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d10798bb04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3d10798bb04_1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3d10798bb04_1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d10798bb04_1_1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d10798bb04_1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d10798bb04_1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d10798bb04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d10798bb04_1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d10798bb04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d10798bb04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d10798bb04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d10798bb04_0_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d10798bb04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d7ce474ce2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d7ce474ce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d7ce474ce2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3d7ce474ce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d7ce474ce2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d7ce474ce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d7ce474ce2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d7ce474ce2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d7ce474ce2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d7ce474ce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d7ce474ce2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g3d7ce474ce2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d7ce474ce2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d7ce474ce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d7ce474ce2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d7ce474ce2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3d7ce474ce2_0_1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3d7ce474ce2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d7ce474ce2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d7ce474ce2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d7ce474ce2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d7ce474ce2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d7ce474ce2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d7ce474ce2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d7ce474ce2_0_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d7ce474ce2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d7ce474ce2_0_1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d7ce474ce2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d7ce474ce2_0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d7ce474ce2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d7ce474ce2_0_1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d7ce474ce2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3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3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3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6"/>
          <p:cNvSpPr/>
          <p:nvPr>
            <p:ph idx="2" type="pic"/>
          </p:nvPr>
        </p:nvSpPr>
        <p:spPr>
          <a:xfrm>
            <a:off x="5183188" y="987425"/>
            <a:ext cx="6172200" cy="4873625"/>
          </a:xfrm>
          <a:prstGeom prst="rect">
            <a:avLst/>
          </a:prstGeom>
          <a:noFill/>
          <a:ln>
            <a:noFill/>
          </a:ln>
        </p:spPr>
      </p:sp>
      <p:sp>
        <p:nvSpPr>
          <p:cNvPr id="64" name="Google Shape;64;p3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7.png"/><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4.png"/><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7.png"/><Relationship Id="rId4" Type="http://schemas.openxmlformats.org/officeDocument/2006/relationships/image" Target="../media/image1.png"/><Relationship Id="rId5" Type="http://schemas.openxmlformats.org/officeDocument/2006/relationships/image" Target="../media/image1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8.png"/><Relationship Id="rId4" Type="http://schemas.openxmlformats.org/officeDocument/2006/relationships/image" Target="../media/image15.png"/><Relationship Id="rId5"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6.png"/><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hyperlink" Target="http://127.0.0.1:8000/name/lpu/about" TargetMode="External"/><Relationship Id="rId4"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20.png"/><Relationship Id="rId4"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21.png"/><Relationship Id="rId4"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23.png"/><Relationship Id="rId4"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2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hyperlink" Target="http://127.0.0.1:8000/" TargetMode="External"/><Relationship Id="rId4" Type="http://schemas.openxmlformats.org/officeDocument/2006/relationships/image" Target="../media/image19.png"/><Relationship Id="rId5"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title"/>
          </p:nvPr>
        </p:nvSpPr>
        <p:spPr>
          <a:xfrm>
            <a:off x="2967038" y="804864"/>
            <a:ext cx="6572250" cy="219233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Arial Rounded"/>
              <a:buNone/>
            </a:pPr>
            <a:r>
              <a:rPr b="1" lang="en-US" sz="4000">
                <a:latin typeface="Arial Rounded"/>
                <a:ea typeface="Arial Rounded"/>
                <a:cs typeface="Arial Rounded"/>
                <a:sym typeface="Arial Rounded"/>
              </a:rPr>
              <a:t>INT 221 - MVC PROGRAMMING</a:t>
            </a:r>
            <a:endParaRPr b="1" sz="4000">
              <a:latin typeface="Arial Rounded"/>
              <a:ea typeface="Arial Rounded"/>
              <a:cs typeface="Arial Rounded"/>
              <a:sym typeface="Arial Rounded"/>
            </a:endParaRPr>
          </a:p>
        </p:txBody>
      </p:sp>
      <p:sp>
        <p:nvSpPr>
          <p:cNvPr id="85" name="Google Shape;85;p1"/>
          <p:cNvSpPr txBox="1"/>
          <p:nvPr>
            <p:ph idx="1" type="body"/>
          </p:nvPr>
        </p:nvSpPr>
        <p:spPr>
          <a:xfrm>
            <a:off x="1127750" y="3220150"/>
            <a:ext cx="10038000" cy="1393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2800"/>
              <a:buNone/>
            </a:pPr>
            <a:r>
              <a:t/>
            </a:r>
            <a:endParaRPr/>
          </a:p>
          <a:p>
            <a:pPr indent="0" lvl="0" marL="137160" rtl="0" algn="ctr">
              <a:lnSpc>
                <a:spcPct val="90000"/>
              </a:lnSpc>
              <a:spcBef>
                <a:spcPts val="1000"/>
              </a:spcBef>
              <a:spcAft>
                <a:spcPts val="0"/>
              </a:spcAft>
              <a:buClr>
                <a:schemeClr val="dk1"/>
              </a:buClr>
              <a:buSzPts val="2800"/>
              <a:buNone/>
            </a:pPr>
            <a:r>
              <a:rPr b="1" lang="en-US" sz="4400"/>
              <a:t>Unit 2 </a:t>
            </a:r>
            <a:endParaRPr sz="4400"/>
          </a:p>
        </p:txBody>
      </p:sp>
      <p:pic>
        <p:nvPicPr>
          <p:cNvPr id="86" name="Google Shape;86;p1"/>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title"/>
          </p:nvPr>
        </p:nvSpPr>
        <p:spPr>
          <a:xfrm>
            <a:off x="838200" y="2031825"/>
            <a:ext cx="5257800" cy="3837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Seems but not true</a:t>
            </a:r>
            <a:br>
              <a:rPr b="1" lang="en-US"/>
            </a:br>
            <a:r>
              <a:rPr b="1" lang="en-US"/>
              <a:t>General Answer</a:t>
            </a:r>
            <a:br>
              <a:rPr b="1" lang="en-US"/>
            </a:br>
            <a:r>
              <a:rPr b="1" lang="en-US"/>
              <a:t>But it is not True</a:t>
            </a:r>
            <a:endParaRPr/>
          </a:p>
        </p:txBody>
      </p:sp>
      <p:grpSp>
        <p:nvGrpSpPr>
          <p:cNvPr id="92" name="Google Shape;92;p2"/>
          <p:cNvGrpSpPr/>
          <p:nvPr/>
        </p:nvGrpSpPr>
        <p:grpSpPr>
          <a:xfrm>
            <a:off x="6864461" y="1681025"/>
            <a:ext cx="4767714" cy="4538626"/>
            <a:chOff x="2174000" y="2645"/>
            <a:chExt cx="3780000" cy="5416021"/>
          </a:xfrm>
        </p:grpSpPr>
        <p:sp>
          <p:nvSpPr>
            <p:cNvPr id="93" name="Google Shape;93;p2"/>
            <p:cNvSpPr/>
            <p:nvPr/>
          </p:nvSpPr>
          <p:spPr>
            <a:xfrm>
              <a:off x="2894000" y="2645"/>
              <a:ext cx="2340000" cy="1746250"/>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txBox="1"/>
            <p:nvPr/>
          </p:nvSpPr>
          <p:spPr>
            <a:xfrm>
              <a:off x="2894000" y="2645"/>
              <a:ext cx="2340000" cy="1746300"/>
            </a:xfrm>
            <a:prstGeom prst="rect">
              <a:avLst/>
            </a:prstGeom>
            <a:noFill/>
            <a:ln>
              <a:noFill/>
            </a:ln>
          </p:spPr>
          <p:txBody>
            <a:bodyPr anchorCtr="0" anchor="ctr" bIns="165100" lIns="165100" spcFirstLastPara="1" rIns="165100" wrap="square" tIns="165100">
              <a:noAutofit/>
            </a:bodyPr>
            <a:lstStyle/>
            <a:p>
              <a:pPr indent="0" lvl="0" marL="0" marR="0" rtl="0" algn="ctr">
                <a:lnSpc>
                  <a:spcPct val="90000"/>
                </a:lnSpc>
                <a:spcBef>
                  <a:spcPts val="0"/>
                </a:spcBef>
                <a:spcAft>
                  <a:spcPts val="0"/>
                </a:spcAft>
                <a:buNone/>
              </a:pPr>
              <a:r>
                <a:rPr b="0" i="0" lang="en-US" sz="6500" u="none" cap="none" strike="noStrike">
                  <a:solidFill>
                    <a:schemeClr val="lt1"/>
                  </a:solidFill>
                  <a:latin typeface="Calibri"/>
                  <a:ea typeface="Calibri"/>
                  <a:cs typeface="Calibri"/>
                  <a:sym typeface="Calibri"/>
                </a:rPr>
                <a:t>Route</a:t>
              </a:r>
              <a:endParaRPr/>
            </a:p>
          </p:txBody>
        </p:sp>
        <p:sp>
          <p:nvSpPr>
            <p:cNvPr id="95" name="Google Shape;95;p2"/>
            <p:cNvSpPr/>
            <p:nvPr/>
          </p:nvSpPr>
          <p:spPr>
            <a:xfrm>
              <a:off x="2174000" y="1836208"/>
              <a:ext cx="3780000" cy="1746250"/>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txBox="1"/>
            <p:nvPr/>
          </p:nvSpPr>
          <p:spPr>
            <a:xfrm>
              <a:off x="2174000" y="1836208"/>
              <a:ext cx="3780000" cy="1746250"/>
            </a:xfrm>
            <a:prstGeom prst="rect">
              <a:avLst/>
            </a:prstGeom>
            <a:noFill/>
            <a:ln>
              <a:noFill/>
            </a:ln>
          </p:spPr>
          <p:txBody>
            <a:bodyPr anchorCtr="0" anchor="ctr" bIns="165100" lIns="165100" spcFirstLastPara="1" rIns="165100" wrap="square" tIns="165100">
              <a:noAutofit/>
            </a:bodyPr>
            <a:lstStyle/>
            <a:p>
              <a:pPr indent="0" lvl="0" marL="0" marR="0" rtl="0" algn="ctr">
                <a:lnSpc>
                  <a:spcPct val="90000"/>
                </a:lnSpc>
                <a:spcBef>
                  <a:spcPts val="0"/>
                </a:spcBef>
                <a:spcAft>
                  <a:spcPts val="0"/>
                </a:spcAft>
                <a:buNone/>
              </a:pPr>
              <a:r>
                <a:rPr b="0" i="0" lang="en-US" sz="6500" u="none" cap="none" strike="noStrike">
                  <a:solidFill>
                    <a:schemeClr val="lt1"/>
                  </a:solidFill>
                  <a:latin typeface="Calibri"/>
                  <a:ea typeface="Calibri"/>
                  <a:cs typeface="Calibri"/>
                  <a:sym typeface="Calibri"/>
                </a:rPr>
                <a:t>Controller</a:t>
              </a:r>
              <a:endParaRPr/>
            </a:p>
          </p:txBody>
        </p:sp>
        <p:sp>
          <p:nvSpPr>
            <p:cNvPr id="97" name="Google Shape;97;p2"/>
            <p:cNvSpPr/>
            <p:nvPr/>
          </p:nvSpPr>
          <p:spPr>
            <a:xfrm>
              <a:off x="2367282" y="3672416"/>
              <a:ext cx="3393434" cy="1746250"/>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txBox="1"/>
            <p:nvPr/>
          </p:nvSpPr>
          <p:spPr>
            <a:xfrm>
              <a:off x="2367282" y="3672416"/>
              <a:ext cx="3393434" cy="1746250"/>
            </a:xfrm>
            <a:prstGeom prst="rect">
              <a:avLst/>
            </a:prstGeom>
            <a:noFill/>
            <a:ln>
              <a:noFill/>
            </a:ln>
          </p:spPr>
          <p:txBody>
            <a:bodyPr anchorCtr="0" anchor="ctr" bIns="165100" lIns="165100" spcFirstLastPara="1" rIns="165100" wrap="square" tIns="165100">
              <a:noAutofit/>
            </a:bodyPr>
            <a:lstStyle/>
            <a:p>
              <a:pPr indent="0" lvl="0" marL="0" marR="0" rtl="0" algn="ctr">
                <a:lnSpc>
                  <a:spcPct val="90000"/>
                </a:lnSpc>
                <a:spcBef>
                  <a:spcPts val="0"/>
                </a:spcBef>
                <a:spcAft>
                  <a:spcPts val="0"/>
                </a:spcAft>
                <a:buNone/>
              </a:pPr>
              <a:r>
                <a:rPr b="0" i="0" lang="en-US" sz="6500" u="none" cap="none" strike="noStrike">
                  <a:solidFill>
                    <a:schemeClr val="lt1"/>
                  </a:solidFill>
                  <a:latin typeface="Calibri"/>
                  <a:ea typeface="Calibri"/>
                  <a:cs typeface="Calibri"/>
                  <a:sym typeface="Calibri"/>
                </a:rPr>
                <a:t>View</a:t>
              </a:r>
              <a:endParaRPr/>
            </a:p>
          </p:txBody>
        </p:sp>
      </p:grpSp>
      <p:pic>
        <p:nvPicPr>
          <p:cNvPr id="99" name="Google Shape;99;p2"/>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100" name="Google Shape;100;p2"/>
          <p:cNvSpPr txBox="1"/>
          <p:nvPr/>
        </p:nvSpPr>
        <p:spPr>
          <a:xfrm>
            <a:off x="579100" y="428275"/>
            <a:ext cx="8532900" cy="10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5000">
                <a:solidFill>
                  <a:schemeClr val="dk1"/>
                </a:solidFill>
                <a:latin typeface="Calibri"/>
                <a:ea typeface="Calibri"/>
                <a:cs typeface="Calibri"/>
                <a:sym typeface="Calibri"/>
              </a:rPr>
              <a:t> Laravel Request Lifecycle</a:t>
            </a:r>
            <a:endParaRPr b="1" sz="5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d10798bb04_0_6"/>
          <p:cNvSpPr txBox="1"/>
          <p:nvPr>
            <p:ph type="title"/>
          </p:nvPr>
        </p:nvSpPr>
        <p:spPr>
          <a:xfrm>
            <a:off x="838200" y="1573675"/>
            <a:ext cx="10450200" cy="42951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Arial"/>
              <a:buNone/>
            </a:pPr>
            <a:r>
              <a:rPr lang="en-US" sz="4800"/>
              <a:t>a </a:t>
            </a:r>
            <a:r>
              <a:rPr b="1" lang="en-US" sz="4800">
                <a:solidFill>
                  <a:srgbClr val="FF0000"/>
                </a:solidFill>
              </a:rPr>
              <a:t>sequence of events and actions that occur during the execution of a request</a:t>
            </a:r>
            <a:r>
              <a:rPr lang="en-US" sz="4800"/>
              <a:t>. Each request goes through several stages, and Laravel provides various mechanisms to perform actions at different points in this lifecycle</a:t>
            </a:r>
            <a:endParaRPr sz="4800"/>
          </a:p>
          <a:p>
            <a:pPr indent="0" lvl="0" marL="0" rtl="0" algn="l">
              <a:lnSpc>
                <a:spcPct val="90000"/>
              </a:lnSpc>
              <a:spcBef>
                <a:spcPts val="0"/>
              </a:spcBef>
              <a:spcAft>
                <a:spcPts val="0"/>
              </a:spcAft>
              <a:buClr>
                <a:schemeClr val="dk1"/>
              </a:buClr>
              <a:buSzPct val="100000"/>
              <a:buFont typeface="Calibri"/>
              <a:buNone/>
            </a:pPr>
            <a:r>
              <a:t/>
            </a:r>
            <a:endParaRPr b="1"/>
          </a:p>
        </p:txBody>
      </p:sp>
      <p:pic>
        <p:nvPicPr>
          <p:cNvPr id="106" name="Google Shape;106;g3d10798bb04_0_6"/>
          <p:cNvPicPr preferRelativeResize="0"/>
          <p:nvPr/>
        </p:nvPicPr>
        <p:blipFill rotWithShape="1">
          <a:blip r:embed="rId3">
            <a:alphaModFix/>
          </a:blip>
          <a:srcRect b="0" l="0" r="0" t="0"/>
          <a:stretch/>
        </p:blipFill>
        <p:spPr>
          <a:xfrm>
            <a:off x="10132375" y="125425"/>
            <a:ext cx="1676400" cy="679450"/>
          </a:xfrm>
          <a:prstGeom prst="rect">
            <a:avLst/>
          </a:prstGeom>
          <a:noFill/>
          <a:ln>
            <a:noFill/>
          </a:ln>
        </p:spPr>
      </p:pic>
      <p:sp>
        <p:nvSpPr>
          <p:cNvPr id="107" name="Google Shape;107;g3d10798bb04_0_6"/>
          <p:cNvSpPr txBox="1"/>
          <p:nvPr/>
        </p:nvSpPr>
        <p:spPr>
          <a:xfrm>
            <a:off x="579100" y="428275"/>
            <a:ext cx="8532900" cy="10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5000">
                <a:solidFill>
                  <a:schemeClr val="dk1"/>
                </a:solidFill>
                <a:latin typeface="Calibri"/>
                <a:ea typeface="Calibri"/>
                <a:cs typeface="Calibri"/>
                <a:sym typeface="Calibri"/>
              </a:rPr>
              <a:t>Lifecycle</a:t>
            </a:r>
            <a:endParaRPr b="1" sz="5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3"/>
          <p:cNvSpPr txBox="1"/>
          <p:nvPr>
            <p:ph type="title"/>
          </p:nvPr>
        </p:nvSpPr>
        <p:spPr>
          <a:xfrm>
            <a:off x="550475" y="365125"/>
            <a:ext cx="10803300" cy="779100"/>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Calibri"/>
              <a:buNone/>
            </a:pPr>
            <a:r>
              <a:rPr b="1" lang="en-US" sz="6000"/>
              <a:t>Index.php – The </a:t>
            </a:r>
            <a:r>
              <a:rPr b="1" lang="en-US" sz="6000">
                <a:solidFill>
                  <a:srgbClr val="FF0000"/>
                </a:solidFill>
              </a:rPr>
              <a:t>ENTRY</a:t>
            </a:r>
            <a:r>
              <a:rPr b="1" lang="en-US" sz="6000"/>
              <a:t> point</a:t>
            </a:r>
            <a:endParaRPr b="1"/>
          </a:p>
        </p:txBody>
      </p:sp>
      <p:sp>
        <p:nvSpPr>
          <p:cNvPr id="113" name="Google Shape;113;p3"/>
          <p:cNvSpPr txBox="1"/>
          <p:nvPr>
            <p:ph idx="1" type="body"/>
          </p:nvPr>
        </p:nvSpPr>
        <p:spPr>
          <a:xfrm>
            <a:off x="550500" y="1444800"/>
            <a:ext cx="11201100" cy="53403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spcBef>
                <a:spcPts val="1000"/>
              </a:spcBef>
              <a:spcAft>
                <a:spcPts val="0"/>
              </a:spcAft>
              <a:buNone/>
            </a:pPr>
            <a:r>
              <a:rPr lang="en-US" sz="4400"/>
              <a:t>All </a:t>
            </a:r>
            <a:r>
              <a:rPr b="1" lang="en-US" sz="4400">
                <a:solidFill>
                  <a:srgbClr val="FF0000"/>
                </a:solidFill>
              </a:rPr>
              <a:t>requests are directed to this file by your web server </a:t>
            </a:r>
            <a:r>
              <a:rPr lang="en-US" sz="4400"/>
              <a:t>(Apache / Nginx) configuration. The index.php file doesn't contain much code. Rather, it is a </a:t>
            </a:r>
            <a:r>
              <a:rPr b="1" lang="en-US" sz="4400">
                <a:solidFill>
                  <a:srgbClr val="FF0000"/>
                </a:solidFill>
              </a:rPr>
              <a:t>starting point for loading the rest of the framework</a:t>
            </a:r>
            <a:r>
              <a:rPr lang="en-US" sz="4400"/>
              <a:t>.</a:t>
            </a:r>
            <a:endParaRPr sz="4400"/>
          </a:p>
          <a:p>
            <a:pPr indent="0" lvl="0" marL="0" rtl="0" algn="just">
              <a:spcBef>
                <a:spcPts val="1000"/>
              </a:spcBef>
              <a:spcAft>
                <a:spcPts val="0"/>
              </a:spcAft>
              <a:buNone/>
            </a:pPr>
            <a:r>
              <a:t/>
            </a:r>
            <a:endParaRPr sz="4400"/>
          </a:p>
          <a:p>
            <a:pPr indent="0" lvl="0" marL="0" rtl="0" algn="just">
              <a:spcBef>
                <a:spcPts val="0"/>
              </a:spcBef>
              <a:spcAft>
                <a:spcPts val="0"/>
              </a:spcAft>
              <a:buNone/>
            </a:pPr>
            <a:r>
              <a:rPr lang="en-US" sz="4800"/>
              <a:t>The </a:t>
            </a:r>
            <a:r>
              <a:rPr b="1" lang="en-US" sz="4800"/>
              <a:t>index.php </a:t>
            </a:r>
            <a:r>
              <a:rPr lang="en-US" sz="4800"/>
              <a:t>file </a:t>
            </a:r>
            <a:r>
              <a:rPr lang="en-US" sz="4800">
                <a:solidFill>
                  <a:srgbClr val="171616"/>
                </a:solidFill>
              </a:rPr>
              <a:t>loads the Composer-generated </a:t>
            </a:r>
            <a:r>
              <a:rPr b="1" lang="en-US" sz="4800">
                <a:solidFill>
                  <a:srgbClr val="FF0000"/>
                </a:solidFill>
              </a:rPr>
              <a:t>autoloader definition and</a:t>
            </a:r>
            <a:r>
              <a:rPr lang="en-US" sz="4800"/>
              <a:t> then </a:t>
            </a:r>
            <a:r>
              <a:rPr b="1" lang="en-US" sz="4800">
                <a:solidFill>
                  <a:srgbClr val="FF0000"/>
                </a:solidFill>
              </a:rPr>
              <a:t>retrieves an instance of the Laravel application</a:t>
            </a:r>
            <a:r>
              <a:rPr lang="en-US" sz="4800">
                <a:solidFill>
                  <a:srgbClr val="0C0C0C"/>
                </a:solidFill>
              </a:rPr>
              <a:t> from bootstrap/app.php</a:t>
            </a:r>
            <a:r>
              <a:rPr lang="en-US" sz="4800"/>
              <a:t>.</a:t>
            </a:r>
            <a:endParaRPr b="1"/>
          </a:p>
        </p:txBody>
      </p:sp>
      <p:pic>
        <p:nvPicPr>
          <p:cNvPr id="114" name="Google Shape;114;p3"/>
          <p:cNvPicPr preferRelativeResize="0"/>
          <p:nvPr/>
        </p:nvPicPr>
        <p:blipFill rotWithShape="1">
          <a:blip r:embed="rId3">
            <a:alphaModFix/>
          </a:blip>
          <a:srcRect b="0" l="0" r="0" t="0"/>
          <a:stretch/>
        </p:blipFill>
        <p:spPr>
          <a:xfrm>
            <a:off x="10075100" y="100050"/>
            <a:ext cx="1676400" cy="679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Structure of index.php file</a:t>
            </a:r>
            <a:endParaRPr/>
          </a:p>
        </p:txBody>
      </p:sp>
      <p:pic>
        <p:nvPicPr>
          <p:cNvPr id="120" name="Google Shape;120;p5"/>
          <p:cNvPicPr preferRelativeResize="0"/>
          <p:nvPr>
            <p:ph idx="1" type="body"/>
          </p:nvPr>
        </p:nvPicPr>
        <p:blipFill rotWithShape="1">
          <a:blip r:embed="rId3">
            <a:alphaModFix/>
          </a:blip>
          <a:srcRect b="0" l="0" r="0" t="0"/>
          <a:stretch/>
        </p:blipFill>
        <p:spPr>
          <a:xfrm>
            <a:off x="1493520" y="1825625"/>
            <a:ext cx="8589021" cy="4687488"/>
          </a:xfrm>
          <a:prstGeom prst="rect">
            <a:avLst/>
          </a:prstGeom>
          <a:noFill/>
          <a:ln>
            <a:noFill/>
          </a:ln>
        </p:spPr>
      </p:pic>
      <p:pic>
        <p:nvPicPr>
          <p:cNvPr id="121" name="Google Shape;121;p5"/>
          <p:cNvPicPr preferRelativeResize="0"/>
          <p:nvPr/>
        </p:nvPicPr>
        <p:blipFill rotWithShape="1">
          <a:blip r:embed="rId4">
            <a:alphaModFix/>
          </a:blip>
          <a:srcRect b="0" l="0" r="0" t="0"/>
          <a:stretch/>
        </p:blipFill>
        <p:spPr>
          <a:xfrm>
            <a:off x="10075100" y="100050"/>
            <a:ext cx="1676400" cy="679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d10798bb04_0_21"/>
          <p:cNvSpPr txBox="1"/>
          <p:nvPr>
            <p:ph type="title"/>
          </p:nvPr>
        </p:nvSpPr>
        <p:spPr>
          <a:xfrm>
            <a:off x="579100" y="365125"/>
            <a:ext cx="10774800" cy="1325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6000"/>
              <a:buFont typeface="Calibri"/>
              <a:buNone/>
            </a:pPr>
            <a:r>
              <a:rPr b="1" lang="en-US" sz="6000"/>
              <a:t>Composer Autoloader</a:t>
            </a:r>
            <a:endParaRPr/>
          </a:p>
        </p:txBody>
      </p:sp>
      <p:pic>
        <p:nvPicPr>
          <p:cNvPr id="127" name="Google Shape;127;g3d10798bb04_0_21"/>
          <p:cNvPicPr preferRelativeResize="0"/>
          <p:nvPr/>
        </p:nvPicPr>
        <p:blipFill rotWithShape="1">
          <a:blip r:embed="rId3">
            <a:alphaModFix/>
          </a:blip>
          <a:srcRect b="0" l="0" r="0" t="0"/>
          <a:stretch/>
        </p:blipFill>
        <p:spPr>
          <a:xfrm>
            <a:off x="10075100" y="100050"/>
            <a:ext cx="1676400" cy="679450"/>
          </a:xfrm>
          <a:prstGeom prst="rect">
            <a:avLst/>
          </a:prstGeom>
          <a:noFill/>
          <a:ln>
            <a:noFill/>
          </a:ln>
        </p:spPr>
      </p:pic>
      <p:sp>
        <p:nvSpPr>
          <p:cNvPr id="128" name="Google Shape;128;g3d10798bb04_0_21"/>
          <p:cNvSpPr txBox="1"/>
          <p:nvPr/>
        </p:nvSpPr>
        <p:spPr>
          <a:xfrm>
            <a:off x="450250" y="1906150"/>
            <a:ext cx="10903500" cy="3509400"/>
          </a:xfrm>
          <a:prstGeom prst="rect">
            <a:avLst/>
          </a:prstGeom>
          <a:noFill/>
          <a:ln>
            <a:noFill/>
          </a:ln>
        </p:spPr>
        <p:txBody>
          <a:bodyPr anchorCtr="0" anchor="t" bIns="91425" lIns="91425" spcFirstLastPara="1" rIns="91425" wrap="square" tIns="91425">
            <a:spAutoFit/>
          </a:bodyPr>
          <a:lstStyle/>
          <a:p>
            <a:pPr indent="0" lvl="0" marL="0" rtl="0" algn="just">
              <a:lnSpc>
                <a:spcPct val="90000"/>
              </a:lnSpc>
              <a:spcBef>
                <a:spcPts val="1000"/>
              </a:spcBef>
              <a:spcAft>
                <a:spcPts val="0"/>
              </a:spcAft>
              <a:buNone/>
            </a:pPr>
            <a:r>
              <a:rPr lang="en-US" sz="4000">
                <a:solidFill>
                  <a:schemeClr val="dk1"/>
                </a:solidFill>
                <a:latin typeface="Calibri"/>
                <a:ea typeface="Calibri"/>
                <a:cs typeface="Calibri"/>
                <a:sym typeface="Calibri"/>
              </a:rPr>
              <a:t>An autoloader in Laravel is like a </a:t>
            </a:r>
            <a:r>
              <a:rPr b="1" lang="en-US" sz="4000">
                <a:solidFill>
                  <a:schemeClr val="dk1"/>
                </a:solidFill>
                <a:latin typeface="Calibri"/>
                <a:ea typeface="Calibri"/>
                <a:cs typeface="Calibri"/>
                <a:sym typeface="Calibri"/>
              </a:rPr>
              <a:t>smart library organizer for your code</a:t>
            </a:r>
            <a:r>
              <a:rPr lang="en-US" sz="4000">
                <a:solidFill>
                  <a:schemeClr val="dk1"/>
                </a:solidFill>
                <a:latin typeface="Calibri"/>
                <a:ea typeface="Calibri"/>
                <a:cs typeface="Calibri"/>
                <a:sym typeface="Calibri"/>
              </a:rPr>
              <a:t>. It </a:t>
            </a:r>
            <a:r>
              <a:rPr b="1" lang="en-US" sz="4000">
                <a:solidFill>
                  <a:srgbClr val="FF0000"/>
                </a:solidFill>
                <a:latin typeface="Calibri"/>
                <a:ea typeface="Calibri"/>
                <a:cs typeface="Calibri"/>
                <a:sym typeface="Calibri"/>
              </a:rPr>
              <a:t>automatically finds and loads the right files when you use different parts of your Laravel project</a:t>
            </a:r>
            <a:r>
              <a:rPr lang="en-US" sz="4000">
                <a:solidFill>
                  <a:schemeClr val="dk1"/>
                </a:solidFill>
                <a:latin typeface="Calibri"/>
                <a:ea typeface="Calibri"/>
                <a:cs typeface="Calibri"/>
                <a:sym typeface="Calibri"/>
              </a:rPr>
              <a:t>. This way, you don't have to search for and include files manually, making your coding life easier and more organized.</a:t>
            </a:r>
            <a:endParaRPr sz="40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Bootstrap -&gt; app.php </a:t>
            </a:r>
            <a:br>
              <a:rPr lang="en-US"/>
            </a:br>
            <a:r>
              <a:rPr b="1" lang="en-US"/>
              <a:t>(Instances are made here)</a:t>
            </a:r>
            <a:endParaRPr b="1"/>
          </a:p>
        </p:txBody>
      </p:sp>
      <p:pic>
        <p:nvPicPr>
          <p:cNvPr id="134" name="Google Shape;134;p8"/>
          <p:cNvPicPr preferRelativeResize="0"/>
          <p:nvPr>
            <p:ph idx="1" type="body"/>
          </p:nvPr>
        </p:nvPicPr>
        <p:blipFill rotWithShape="1">
          <a:blip r:embed="rId3">
            <a:alphaModFix/>
          </a:blip>
          <a:srcRect b="0" l="0" r="0" t="0"/>
          <a:stretch/>
        </p:blipFill>
        <p:spPr>
          <a:xfrm>
            <a:off x="2582139" y="1825625"/>
            <a:ext cx="6267221" cy="3880461"/>
          </a:xfrm>
          <a:prstGeom prst="rect">
            <a:avLst/>
          </a:prstGeom>
          <a:noFill/>
          <a:ln>
            <a:noFill/>
          </a:ln>
        </p:spPr>
      </p:pic>
      <p:sp>
        <p:nvSpPr>
          <p:cNvPr id="135" name="Google Shape;135;p8"/>
          <p:cNvSpPr txBox="1"/>
          <p:nvPr/>
        </p:nvSpPr>
        <p:spPr>
          <a:xfrm>
            <a:off x="985520" y="5680011"/>
            <a:ext cx="1036828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Calibri"/>
                <a:ea typeface="Calibri"/>
                <a:cs typeface="Calibri"/>
                <a:sym typeface="Calibri"/>
              </a:rPr>
              <a:t>The bootstrap/app.php file sets up the Laravel application instance. It binds essential interfaces and prepares Laravel's service container.</a:t>
            </a:r>
            <a:endParaRPr b="1" sz="2400">
              <a:solidFill>
                <a:schemeClr val="dk1"/>
              </a:solidFill>
              <a:latin typeface="Calibri"/>
              <a:ea typeface="Calibri"/>
              <a:cs typeface="Calibri"/>
              <a:sym typeface="Calibri"/>
            </a:endParaRPr>
          </a:p>
        </p:txBody>
      </p:sp>
      <p:pic>
        <p:nvPicPr>
          <p:cNvPr id="136" name="Google Shape;136;p8"/>
          <p:cNvPicPr preferRelativeResize="0"/>
          <p:nvPr/>
        </p:nvPicPr>
        <p:blipFill rotWithShape="1">
          <a:blip r:embed="rId4">
            <a:alphaModFix/>
          </a:blip>
          <a:srcRect b="0" l="0" r="0" t="0"/>
          <a:stretch/>
        </p:blipFill>
        <p:spPr>
          <a:xfrm>
            <a:off x="10075100" y="100050"/>
            <a:ext cx="1676400" cy="679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0"/>
          <p:cNvSpPr txBox="1"/>
          <p:nvPr>
            <p:ph type="title"/>
          </p:nvPr>
        </p:nvSpPr>
        <p:spPr>
          <a:xfrm>
            <a:off x="564800" y="365125"/>
            <a:ext cx="107889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Request</a:t>
            </a:r>
            <a:r>
              <a:rPr lang="en-US"/>
              <a:t> is now sent to bootstrap/app.php</a:t>
            </a:r>
            <a:endParaRPr/>
          </a:p>
        </p:txBody>
      </p:sp>
      <p:sp>
        <p:nvSpPr>
          <p:cNvPr id="142" name="Google Shape;142;p10"/>
          <p:cNvSpPr txBox="1"/>
          <p:nvPr>
            <p:ph idx="1" type="body"/>
          </p:nvPr>
        </p:nvSpPr>
        <p:spPr>
          <a:xfrm>
            <a:off x="636375" y="1387550"/>
            <a:ext cx="10717500" cy="5340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rPr lang="en-US" sz="3600"/>
              <a:t>Two  based on the request </a:t>
            </a:r>
            <a:r>
              <a:rPr lang="en-US" sz="3600"/>
              <a:t>for</a:t>
            </a:r>
            <a:r>
              <a:rPr lang="en-US" sz="3600"/>
              <a:t> routing: </a:t>
            </a:r>
            <a:endParaRPr/>
          </a:p>
          <a:p>
            <a:pPr indent="-457200" lvl="0" marL="457200" rtl="0" algn="l">
              <a:lnSpc>
                <a:spcPct val="90000"/>
              </a:lnSpc>
              <a:spcBef>
                <a:spcPts val="1000"/>
              </a:spcBef>
              <a:spcAft>
                <a:spcPts val="0"/>
              </a:spcAft>
              <a:buSzPts val="3600"/>
              <a:buChar char="•"/>
            </a:pPr>
            <a:r>
              <a:rPr lang="en-US" sz="3600"/>
              <a:t>Web routing-&gt; routes/web.php (hitting</a:t>
            </a:r>
            <a:r>
              <a:rPr lang="en-US" sz="3600"/>
              <a:t> the URL via web browser)	</a:t>
            </a:r>
            <a:endParaRPr sz="3600"/>
          </a:p>
          <a:p>
            <a:pPr indent="-457200" lvl="0" marL="457200" rtl="0" algn="l">
              <a:lnSpc>
                <a:spcPct val="90000"/>
              </a:lnSpc>
              <a:spcBef>
                <a:spcPts val="0"/>
              </a:spcBef>
              <a:spcAft>
                <a:spcPts val="0"/>
              </a:spcAft>
              <a:buSzPts val="3600"/>
              <a:buChar char="•"/>
            </a:pPr>
            <a:r>
              <a:rPr lang="en-US" sz="3600"/>
              <a:t>command -&gt; routes/console.php</a:t>
            </a:r>
            <a:r>
              <a:rPr lang="en-US" sz="3600"/>
              <a:t> </a:t>
            </a:r>
            <a:endParaRPr sz="3600"/>
          </a:p>
          <a:p>
            <a:pPr indent="-457200" lvl="0" marL="457200" rtl="0" algn="l">
              <a:lnSpc>
                <a:spcPct val="90000"/>
              </a:lnSpc>
              <a:spcBef>
                <a:spcPts val="0"/>
              </a:spcBef>
              <a:spcAft>
                <a:spcPts val="0"/>
              </a:spcAft>
              <a:buSzPts val="3600"/>
              <a:buChar char="•"/>
            </a:pPr>
            <a:r>
              <a:t/>
            </a:r>
            <a:endParaRPr sz="3600"/>
          </a:p>
          <a:p>
            <a:pPr indent="0" lvl="0" marL="0" rtl="0" algn="l">
              <a:spcBef>
                <a:spcPts val="0"/>
              </a:spcBef>
              <a:spcAft>
                <a:spcPts val="0"/>
              </a:spcAft>
              <a:buNone/>
            </a:pPr>
            <a:r>
              <a:rPr lang="en-US" sz="4400"/>
              <a:t>Service Provider</a:t>
            </a:r>
            <a:endParaRPr sz="4400"/>
          </a:p>
          <a:p>
            <a:pPr indent="-279400" lvl="0" marL="228600" rtl="0" algn="l">
              <a:spcBef>
                <a:spcPts val="0"/>
              </a:spcBef>
              <a:spcAft>
                <a:spcPts val="0"/>
              </a:spcAft>
              <a:buSzPts val="3600"/>
              <a:buChar char="•"/>
            </a:pPr>
            <a:r>
              <a:rPr lang="en-US" sz="3600"/>
              <a:t>the request is sent to Service Providers </a:t>
            </a:r>
            <a:endParaRPr sz="3600"/>
          </a:p>
          <a:p>
            <a:pPr indent="-279400" lvl="0" marL="228600" rtl="0" algn="l">
              <a:spcBef>
                <a:spcPts val="1000"/>
              </a:spcBef>
              <a:spcAft>
                <a:spcPts val="0"/>
              </a:spcAft>
              <a:buSzPts val="3600"/>
              <a:buChar char="•"/>
            </a:pPr>
            <a:r>
              <a:rPr lang="en-US" sz="3600"/>
              <a:t>Implement core functionality e.g. Mailing, Sessions etc.</a:t>
            </a:r>
            <a:endParaRPr sz="3600"/>
          </a:p>
        </p:txBody>
      </p:sp>
      <p:pic>
        <p:nvPicPr>
          <p:cNvPr id="143" name="Google Shape;143;p10"/>
          <p:cNvPicPr preferRelativeResize="0"/>
          <p:nvPr/>
        </p:nvPicPr>
        <p:blipFill rotWithShape="1">
          <a:blip r:embed="rId3">
            <a:alphaModFix/>
          </a:blip>
          <a:srcRect b="0" l="0" r="0" t="0"/>
          <a:stretch/>
        </p:blipFill>
        <p:spPr>
          <a:xfrm>
            <a:off x="10232600" y="57275"/>
            <a:ext cx="1676400" cy="679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4"/>
          <p:cNvSpPr txBox="1"/>
          <p:nvPr>
            <p:ph type="title"/>
          </p:nvPr>
        </p:nvSpPr>
        <p:spPr>
          <a:xfrm>
            <a:off x="838200" y="365125"/>
            <a:ext cx="10515600" cy="907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bootstrap/providers.php</a:t>
            </a:r>
            <a:endParaRPr/>
          </a:p>
        </p:txBody>
      </p:sp>
      <p:sp>
        <p:nvSpPr>
          <p:cNvPr id="149" name="Google Shape;149;p14"/>
          <p:cNvSpPr txBox="1"/>
          <p:nvPr>
            <p:ph idx="1" type="body"/>
          </p:nvPr>
        </p:nvSpPr>
        <p:spPr>
          <a:xfrm>
            <a:off x="838200" y="1272927"/>
            <a:ext cx="10515600" cy="49041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600"/>
              <a:buChar char="•"/>
            </a:pPr>
            <a:r>
              <a:rPr lang="en-US" sz="3600"/>
              <a:t>You can find a list of the user-defined or third-party service providers that your application is using in the bootstrap/providers.php file.</a:t>
            </a:r>
            <a:endParaRPr sz="3600"/>
          </a:p>
          <a:p>
            <a:pPr indent="0" lvl="0" marL="228600" rtl="0" algn="l">
              <a:lnSpc>
                <a:spcPct val="90000"/>
              </a:lnSpc>
              <a:spcBef>
                <a:spcPts val="0"/>
              </a:spcBef>
              <a:spcAft>
                <a:spcPts val="0"/>
              </a:spcAft>
              <a:buNone/>
            </a:pPr>
            <a:r>
              <a:t/>
            </a:r>
            <a:endParaRPr sz="3600"/>
          </a:p>
          <a:p>
            <a:pPr indent="0" lvl="0" marL="228600" rtl="0" algn="l">
              <a:spcBef>
                <a:spcPts val="0"/>
              </a:spcBef>
              <a:spcAft>
                <a:spcPts val="0"/>
              </a:spcAft>
              <a:buNone/>
            </a:pPr>
            <a:r>
              <a:rPr lang="en-US" sz="4400"/>
              <a:t>Service providers</a:t>
            </a:r>
            <a:endParaRPr sz="4400"/>
          </a:p>
          <a:p>
            <a:pPr indent="-342900" lvl="0" marL="228600" rtl="0" algn="just">
              <a:spcBef>
                <a:spcPts val="0"/>
              </a:spcBef>
              <a:spcAft>
                <a:spcPts val="0"/>
              </a:spcAft>
              <a:buSzPts val="3600"/>
              <a:buChar char="•"/>
            </a:pPr>
            <a:r>
              <a:rPr lang="en-US" sz="3600"/>
              <a:t>Service providers are responsible for bootstrapping all of the framework's various components, such as the database, queue, validation, and routing components, event management, session management.</a:t>
            </a:r>
            <a:endParaRPr sz="3600"/>
          </a:p>
        </p:txBody>
      </p:sp>
      <p:pic>
        <p:nvPicPr>
          <p:cNvPr id="150" name="Google Shape;150;p14"/>
          <p:cNvPicPr preferRelativeResize="0"/>
          <p:nvPr/>
        </p:nvPicPr>
        <p:blipFill rotWithShape="1">
          <a:blip r:embed="rId3">
            <a:alphaModFix/>
          </a:blip>
          <a:srcRect b="0" l="0" r="0" t="0"/>
          <a:stretch/>
        </p:blipFill>
        <p:spPr>
          <a:xfrm>
            <a:off x="9946250" y="200275"/>
            <a:ext cx="1676400" cy="679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Laravel comes with some default service providers:-</a:t>
            </a:r>
            <a:endParaRPr/>
          </a:p>
        </p:txBody>
      </p:sp>
      <p:sp>
        <p:nvSpPr>
          <p:cNvPr id="156" name="Google Shape;156;p15"/>
          <p:cNvSpPr txBox="1"/>
          <p:nvPr>
            <p:ph idx="1" type="body"/>
          </p:nvPr>
        </p:nvSpPr>
        <p:spPr>
          <a:xfrm>
            <a:off x="944700" y="1984850"/>
            <a:ext cx="10515600" cy="3324600"/>
          </a:xfrm>
          <a:prstGeom prst="rect">
            <a:avLst/>
          </a:prstGeom>
          <a:noFill/>
          <a:ln>
            <a:noFill/>
          </a:ln>
        </p:spPr>
        <p:txBody>
          <a:bodyPr anchorCtr="0" anchor="ctr" bIns="45700" lIns="91425" spcFirstLastPara="1" rIns="91425" wrap="square" tIns="45700">
            <a:spAutoFit/>
          </a:bodyPr>
          <a:lstStyle/>
          <a:p>
            <a:pPr indent="-222250" lvl="0" marL="0" marR="0" rtl="0" algn="l">
              <a:lnSpc>
                <a:spcPct val="100000"/>
              </a:lnSpc>
              <a:spcBef>
                <a:spcPts val="0"/>
              </a:spcBef>
              <a:spcAft>
                <a:spcPts val="0"/>
              </a:spcAft>
              <a:buClr>
                <a:schemeClr val="dk1"/>
              </a:buClr>
              <a:buSzPts val="3500"/>
              <a:buFont typeface="Arimo"/>
              <a:buChar char="•"/>
            </a:pPr>
            <a:r>
              <a:rPr b="0" i="0" lang="en-US" sz="3500" u="none" cap="none" strike="noStrike">
                <a:solidFill>
                  <a:schemeClr val="dk1"/>
                </a:solidFill>
                <a:latin typeface="Arimo"/>
                <a:ea typeface="Arimo"/>
                <a:cs typeface="Arimo"/>
                <a:sym typeface="Arimo"/>
              </a:rPr>
              <a:t>App\Providers\AppServiceProvider.php </a:t>
            </a:r>
            <a:endParaRPr sz="3500"/>
          </a:p>
          <a:p>
            <a:pPr indent="0" lvl="0" marL="0" marR="0" rtl="0" algn="l">
              <a:lnSpc>
                <a:spcPct val="100000"/>
              </a:lnSpc>
              <a:spcBef>
                <a:spcPts val="0"/>
              </a:spcBef>
              <a:spcAft>
                <a:spcPts val="0"/>
              </a:spcAft>
              <a:buClr>
                <a:schemeClr val="dk1"/>
              </a:buClr>
              <a:buSzPts val="4400"/>
              <a:buNone/>
            </a:pPr>
            <a:r>
              <a:rPr b="0" i="0" lang="en-US" sz="3500" u="none" cap="none" strike="noStrike">
                <a:solidFill>
                  <a:schemeClr val="dk1"/>
                </a:solidFill>
                <a:latin typeface="Arimo"/>
                <a:ea typeface="Arimo"/>
                <a:cs typeface="Arimo"/>
                <a:sym typeface="Arimo"/>
              </a:rPr>
              <a:t>(in Laravel-11)</a:t>
            </a:r>
            <a:endParaRPr b="0" i="0" sz="3500" u="none" cap="none" strike="noStrike">
              <a:solidFill>
                <a:schemeClr val="dk1"/>
              </a:solidFill>
            </a:endParaRPr>
          </a:p>
          <a:p>
            <a:pPr indent="-222250" lvl="0" marL="0" marR="0" rtl="0" algn="l">
              <a:lnSpc>
                <a:spcPct val="100000"/>
              </a:lnSpc>
              <a:spcBef>
                <a:spcPts val="0"/>
              </a:spcBef>
              <a:spcAft>
                <a:spcPts val="0"/>
              </a:spcAft>
              <a:buClr>
                <a:schemeClr val="dk1"/>
              </a:buClr>
              <a:buSzPts val="3500"/>
              <a:buFont typeface="Arimo"/>
              <a:buChar char="•"/>
            </a:pPr>
            <a:r>
              <a:rPr b="0" i="0" lang="en-US" sz="3500" u="none" cap="none" strike="noStrike">
                <a:solidFill>
                  <a:schemeClr val="dk1"/>
                </a:solidFill>
                <a:latin typeface="Arimo"/>
                <a:ea typeface="Arimo"/>
                <a:cs typeface="Arimo"/>
                <a:sym typeface="Arimo"/>
              </a:rPr>
              <a:t>App\Providers\AuthServiceProvider.php</a:t>
            </a:r>
            <a:endParaRPr b="0" i="0" sz="3500" u="none" cap="none" strike="noStrike">
              <a:solidFill>
                <a:schemeClr val="dk1"/>
              </a:solidFill>
            </a:endParaRPr>
          </a:p>
          <a:p>
            <a:pPr indent="-222250" lvl="0" marL="0" marR="0" rtl="0" algn="l">
              <a:lnSpc>
                <a:spcPct val="100000"/>
              </a:lnSpc>
              <a:spcBef>
                <a:spcPts val="0"/>
              </a:spcBef>
              <a:spcAft>
                <a:spcPts val="0"/>
              </a:spcAft>
              <a:buClr>
                <a:schemeClr val="dk1"/>
              </a:buClr>
              <a:buSzPts val="3500"/>
              <a:buFont typeface="Arimo"/>
              <a:buChar char="•"/>
            </a:pPr>
            <a:r>
              <a:rPr b="0" i="0" lang="en-US" sz="3500" u="none" cap="none" strike="noStrike">
                <a:solidFill>
                  <a:schemeClr val="dk1"/>
                </a:solidFill>
                <a:latin typeface="Arimo"/>
                <a:ea typeface="Arimo"/>
                <a:cs typeface="Arimo"/>
                <a:sym typeface="Arimo"/>
              </a:rPr>
              <a:t>App\Providers\BroadcastServiceProvider.php</a:t>
            </a:r>
            <a:endParaRPr b="0" i="0" sz="3500" u="none" cap="none" strike="noStrike">
              <a:solidFill>
                <a:schemeClr val="dk1"/>
              </a:solidFill>
            </a:endParaRPr>
          </a:p>
          <a:p>
            <a:pPr indent="-222250" lvl="0" marL="0" marR="0" rtl="0" algn="l">
              <a:lnSpc>
                <a:spcPct val="100000"/>
              </a:lnSpc>
              <a:spcBef>
                <a:spcPts val="0"/>
              </a:spcBef>
              <a:spcAft>
                <a:spcPts val="0"/>
              </a:spcAft>
              <a:buClr>
                <a:schemeClr val="dk1"/>
              </a:buClr>
              <a:buSzPts val="3500"/>
              <a:buFont typeface="Arimo"/>
              <a:buChar char="•"/>
            </a:pPr>
            <a:r>
              <a:rPr b="0" i="0" lang="en-US" sz="3500" u="none" cap="none" strike="noStrike">
                <a:solidFill>
                  <a:schemeClr val="dk1"/>
                </a:solidFill>
                <a:latin typeface="Arimo"/>
                <a:ea typeface="Arimo"/>
                <a:cs typeface="Arimo"/>
                <a:sym typeface="Arimo"/>
              </a:rPr>
              <a:t>App\Providers\EventServiceProvider.php</a:t>
            </a:r>
            <a:endParaRPr b="0" i="0" sz="3500" u="none" cap="none" strike="noStrike">
              <a:solidFill>
                <a:schemeClr val="dk1"/>
              </a:solidFill>
            </a:endParaRPr>
          </a:p>
          <a:p>
            <a:pPr indent="-222250" lvl="0" marL="0" marR="0" rtl="0" algn="l">
              <a:lnSpc>
                <a:spcPct val="100000"/>
              </a:lnSpc>
              <a:spcBef>
                <a:spcPts val="0"/>
              </a:spcBef>
              <a:spcAft>
                <a:spcPts val="0"/>
              </a:spcAft>
              <a:buClr>
                <a:schemeClr val="dk1"/>
              </a:buClr>
              <a:buSzPts val="3500"/>
              <a:buFont typeface="Arimo"/>
              <a:buChar char="•"/>
            </a:pPr>
            <a:r>
              <a:rPr b="0" i="0" lang="en-US" sz="3500" u="none" cap="none" strike="noStrike">
                <a:solidFill>
                  <a:schemeClr val="dk1"/>
                </a:solidFill>
                <a:latin typeface="Arimo"/>
                <a:ea typeface="Arimo"/>
                <a:cs typeface="Arimo"/>
                <a:sym typeface="Arimo"/>
              </a:rPr>
              <a:t>App\Providers\RouteServiceProvider.php</a:t>
            </a:r>
            <a:r>
              <a:rPr b="0" i="0" lang="en-US" sz="3500" u="none" cap="none" strike="noStrike">
                <a:solidFill>
                  <a:schemeClr val="dk1"/>
                </a:solidFill>
              </a:rPr>
              <a:t> </a:t>
            </a:r>
            <a:endParaRPr b="0" i="0" sz="3500" u="none" cap="none" strike="noStrike">
              <a:solidFill>
                <a:schemeClr val="dk1"/>
              </a:solidFill>
              <a:latin typeface="Arial"/>
              <a:ea typeface="Arial"/>
              <a:cs typeface="Arial"/>
              <a:sym typeface="Arial"/>
            </a:endParaRPr>
          </a:p>
        </p:txBody>
      </p:sp>
      <p:pic>
        <p:nvPicPr>
          <p:cNvPr id="157" name="Google Shape;157;p15"/>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6"/>
          <p:cNvSpPr txBox="1"/>
          <p:nvPr>
            <p:ph idx="1" type="body"/>
          </p:nvPr>
        </p:nvSpPr>
        <p:spPr>
          <a:xfrm>
            <a:off x="665000" y="1825625"/>
            <a:ext cx="10952700" cy="4351200"/>
          </a:xfrm>
          <a:prstGeom prst="rect">
            <a:avLst/>
          </a:prstGeom>
          <a:noFill/>
          <a:ln>
            <a:noFill/>
          </a:ln>
        </p:spPr>
        <p:txBody>
          <a:bodyPr anchorCtr="0" anchor="t" bIns="45700" lIns="91425" spcFirstLastPara="1" rIns="91425" wrap="square" tIns="45700">
            <a:normAutofit/>
          </a:bodyPr>
          <a:lstStyle/>
          <a:p>
            <a:pPr indent="-457200" lvl="0" marL="457200" rtl="0" algn="l">
              <a:lnSpc>
                <a:spcPct val="90000"/>
              </a:lnSpc>
              <a:spcBef>
                <a:spcPts val="0"/>
              </a:spcBef>
              <a:spcAft>
                <a:spcPts val="0"/>
              </a:spcAft>
              <a:buSzPts val="3600"/>
              <a:buChar char="•"/>
            </a:pPr>
            <a:r>
              <a:rPr lang="en-US" sz="3600"/>
              <a:t>Laravel loads all registered service providers to initialize core services like database, authentication, routing, etc.</a:t>
            </a:r>
            <a:endParaRPr sz="3600"/>
          </a:p>
          <a:p>
            <a:pPr indent="0" lvl="0" marL="228600" rtl="0" algn="l">
              <a:lnSpc>
                <a:spcPct val="90000"/>
              </a:lnSpc>
              <a:spcBef>
                <a:spcPts val="0"/>
              </a:spcBef>
              <a:spcAft>
                <a:spcPts val="0"/>
              </a:spcAft>
              <a:buNone/>
            </a:pPr>
            <a:r>
              <a:t/>
            </a:r>
            <a:endParaRPr sz="3600"/>
          </a:p>
          <a:p>
            <a:pPr indent="0" lvl="0" marL="0" rtl="0" algn="l">
              <a:spcBef>
                <a:spcPts val="0"/>
              </a:spcBef>
              <a:spcAft>
                <a:spcPts val="0"/>
              </a:spcAft>
              <a:buNone/>
            </a:pPr>
            <a:r>
              <a:rPr lang="en-US" sz="4400"/>
              <a:t>Providers</a:t>
            </a:r>
            <a:endParaRPr sz="4400"/>
          </a:p>
          <a:p>
            <a:pPr indent="-431800" lvl="0" marL="457200" rtl="0" algn="l">
              <a:spcBef>
                <a:spcPts val="0"/>
              </a:spcBef>
              <a:spcAft>
                <a:spcPts val="0"/>
              </a:spcAft>
              <a:buSzPts val="3200"/>
              <a:buChar char="•"/>
            </a:pPr>
            <a:r>
              <a:rPr lang="en-US" sz="3200"/>
              <a:t>Config-&gt; Appserviceprovider—to declare the global variables (custom stuff)</a:t>
            </a:r>
            <a:endParaRPr sz="3600"/>
          </a:p>
        </p:txBody>
      </p:sp>
      <p:sp>
        <p:nvSpPr>
          <p:cNvPr id="163" name="Google Shape;163;p16"/>
          <p:cNvSpPr txBox="1"/>
          <p:nvPr>
            <p:ph type="title"/>
          </p:nvPr>
        </p:nvSpPr>
        <p:spPr>
          <a:xfrm>
            <a:off x="994300" y="91275"/>
            <a:ext cx="9396000" cy="14469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4400"/>
              <a:buFont typeface="Arial"/>
              <a:buNone/>
            </a:pPr>
            <a:r>
              <a:rPr b="0" i="0" lang="en-US" u="none" cap="none" strike="noStrike">
                <a:solidFill>
                  <a:schemeClr val="dk1"/>
                </a:solidFill>
                <a:latin typeface="Arial"/>
                <a:ea typeface="Arial"/>
                <a:cs typeface="Arial"/>
                <a:sym typeface="Arial"/>
              </a:rPr>
              <a:t>Service Providers Loading</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 (</a:t>
            </a:r>
            <a:r>
              <a:rPr lang="en-US">
                <a:latin typeface="Arial"/>
                <a:ea typeface="Arial"/>
                <a:cs typeface="Arial"/>
                <a:sym typeface="Arial"/>
              </a:rPr>
              <a:t>bootstrap/providers.php) </a:t>
            </a:r>
            <a:endParaRPr/>
          </a:p>
        </p:txBody>
      </p:sp>
      <p:pic>
        <p:nvPicPr>
          <p:cNvPr id="164" name="Google Shape;164;p16"/>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Routes (routes/web.php) </a:t>
            </a:r>
            <a:endParaRPr/>
          </a:p>
        </p:txBody>
      </p:sp>
      <p:sp>
        <p:nvSpPr>
          <p:cNvPr id="170" name="Google Shape;170;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3600"/>
              <a:buChar char="•"/>
            </a:pPr>
            <a:r>
              <a:rPr lang="en-US" sz="3600"/>
              <a:t>Once the application has been bootstrapped and all service providers have been registered, the Request will be handed off to the </a:t>
            </a:r>
            <a:r>
              <a:rPr b="1" lang="en-US" sz="3600"/>
              <a:t>route</a:t>
            </a:r>
            <a:r>
              <a:rPr lang="en-US" sz="3600"/>
              <a:t>r for dispatching. </a:t>
            </a:r>
            <a:endParaRPr/>
          </a:p>
          <a:p>
            <a:pPr indent="-228600" lvl="0" marL="228600" rtl="0" algn="just">
              <a:lnSpc>
                <a:spcPct val="90000"/>
              </a:lnSpc>
              <a:spcBef>
                <a:spcPts val="1000"/>
              </a:spcBef>
              <a:spcAft>
                <a:spcPts val="0"/>
              </a:spcAft>
              <a:buClr>
                <a:schemeClr val="dk1"/>
              </a:buClr>
              <a:buSzPts val="3600"/>
              <a:buChar char="•"/>
            </a:pPr>
            <a:r>
              <a:rPr lang="en-US" sz="3600"/>
              <a:t>The router will dispatch the request to a </a:t>
            </a:r>
            <a:r>
              <a:rPr b="1" lang="en-US" sz="3600"/>
              <a:t>route or controller, as well as run any route specific middleware.</a:t>
            </a:r>
            <a:endParaRPr/>
          </a:p>
          <a:p>
            <a:pPr indent="-228600" lvl="0" marL="228600" rtl="0" algn="just">
              <a:lnSpc>
                <a:spcPct val="90000"/>
              </a:lnSpc>
              <a:spcBef>
                <a:spcPts val="1000"/>
              </a:spcBef>
              <a:spcAft>
                <a:spcPts val="0"/>
              </a:spcAft>
              <a:buClr>
                <a:schemeClr val="dk1"/>
              </a:buClr>
              <a:buSzPts val="3600"/>
              <a:buChar char="•"/>
            </a:pPr>
            <a:r>
              <a:rPr b="1" lang="en-US" sz="3600"/>
              <a:t>Laravel finds the appropriate route that matches the request URL.</a:t>
            </a:r>
            <a:endParaRPr b="1" sz="3600"/>
          </a:p>
        </p:txBody>
      </p:sp>
      <p:pic>
        <p:nvPicPr>
          <p:cNvPr id="171" name="Google Shape;171;p18"/>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Middleware (using construct method)</a:t>
            </a:r>
            <a:endParaRPr/>
          </a:p>
        </p:txBody>
      </p:sp>
      <p:sp>
        <p:nvSpPr>
          <p:cNvPr id="177" name="Google Shape;17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3200"/>
              <a:buChar char="•"/>
            </a:pPr>
            <a:r>
              <a:rPr b="1" lang="en-US" sz="3200"/>
              <a:t>Middleware</a:t>
            </a:r>
            <a:r>
              <a:rPr lang="en-US" sz="3200"/>
              <a:t> </a:t>
            </a:r>
            <a:r>
              <a:rPr lang="en-US" sz="3200"/>
              <a:t>provides</a:t>
            </a:r>
            <a:r>
              <a:rPr lang="en-US" sz="3200"/>
              <a:t> a convenient mechanism for filtering or examining HTTP requests entering your application.</a:t>
            </a:r>
            <a:endParaRPr/>
          </a:p>
          <a:p>
            <a:pPr indent="-228600" lvl="0" marL="228600" rtl="0" algn="just">
              <a:lnSpc>
                <a:spcPct val="90000"/>
              </a:lnSpc>
              <a:spcBef>
                <a:spcPts val="1000"/>
              </a:spcBef>
              <a:spcAft>
                <a:spcPts val="0"/>
              </a:spcAft>
              <a:buClr>
                <a:schemeClr val="dk1"/>
              </a:buClr>
              <a:buSzPts val="3200"/>
              <a:buChar char="•"/>
            </a:pPr>
            <a:r>
              <a:rPr lang="en-US" sz="3200"/>
              <a:t> For example, Laravel includes a middleware that verifies if the user of your application is authenticated. </a:t>
            </a:r>
            <a:endParaRPr/>
          </a:p>
          <a:p>
            <a:pPr indent="-228600" lvl="0" marL="228600" rtl="0" algn="just">
              <a:lnSpc>
                <a:spcPct val="90000"/>
              </a:lnSpc>
              <a:spcBef>
                <a:spcPts val="1000"/>
              </a:spcBef>
              <a:spcAft>
                <a:spcPts val="0"/>
              </a:spcAft>
              <a:buClr>
                <a:schemeClr val="dk1"/>
              </a:buClr>
              <a:buSzPts val="3200"/>
              <a:buChar char="•"/>
            </a:pPr>
            <a:r>
              <a:rPr lang="en-US" sz="3200"/>
              <a:t>If the user is not authenticated, the middleware will redirect the user to the login screen. However, if the user is authenticated, the middleware will allow the request to proceed further into the application. </a:t>
            </a:r>
            <a:endParaRPr sz="3200"/>
          </a:p>
        </p:txBody>
      </p:sp>
      <p:pic>
        <p:nvPicPr>
          <p:cNvPr id="178" name="Google Shape;178;p19"/>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Middleware Execution</a:t>
            </a:r>
            <a:endParaRPr/>
          </a:p>
        </p:txBody>
      </p:sp>
      <p:sp>
        <p:nvSpPr>
          <p:cNvPr id="184" name="Google Shape;184;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Authenticate users.</a:t>
            </a:r>
            <a:endParaRPr/>
          </a:p>
          <a:p>
            <a:pPr indent="-228600" lvl="0" marL="228600" rtl="0" algn="l">
              <a:lnSpc>
                <a:spcPct val="90000"/>
              </a:lnSpc>
              <a:spcBef>
                <a:spcPts val="1000"/>
              </a:spcBef>
              <a:spcAft>
                <a:spcPts val="0"/>
              </a:spcAft>
              <a:buClr>
                <a:schemeClr val="dk1"/>
              </a:buClr>
              <a:buSzPts val="2800"/>
              <a:buChar char="•"/>
            </a:pPr>
            <a:r>
              <a:rPr lang="en-US"/>
              <a:t>Log requests.</a:t>
            </a:r>
            <a:endParaRPr/>
          </a:p>
          <a:p>
            <a:pPr indent="-228600" lvl="0" marL="228600" rtl="0" algn="l">
              <a:lnSpc>
                <a:spcPct val="90000"/>
              </a:lnSpc>
              <a:spcBef>
                <a:spcPts val="1000"/>
              </a:spcBef>
              <a:spcAft>
                <a:spcPts val="0"/>
              </a:spcAft>
              <a:buClr>
                <a:schemeClr val="dk1"/>
              </a:buClr>
              <a:buSzPts val="2800"/>
              <a:buChar char="•"/>
            </a:pPr>
            <a:r>
              <a:rPr lang="en-US"/>
              <a:t>Validate input data.</a:t>
            </a:r>
            <a:endParaRPr/>
          </a:p>
        </p:txBody>
      </p:sp>
      <p:pic>
        <p:nvPicPr>
          <p:cNvPr id="185" name="Google Shape;185;p20"/>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public function handle($request, Closure $next)</a:t>
            </a:r>
            <a:endParaRPr/>
          </a:p>
          <a:p>
            <a:pPr indent="0" lvl="0" marL="0" rtl="0" algn="l">
              <a:lnSpc>
                <a:spcPct val="90000"/>
              </a:lnSpc>
              <a:spcBef>
                <a:spcPts val="1000"/>
              </a:spcBef>
              <a:spcAft>
                <a:spcPts val="0"/>
              </a:spcAft>
              <a:buClr>
                <a:schemeClr val="dk1"/>
              </a:buClr>
              <a:buSzPts val="2800"/>
              <a:buNone/>
            </a:pPr>
            <a:r>
              <a:rPr lang="en-US"/>
              <a:t>{    if ($request-&gt;age &lt; 18) { </a:t>
            </a:r>
            <a:endParaRPr/>
          </a:p>
          <a:p>
            <a:pPr indent="0" lvl="0" marL="0" rtl="0" algn="l">
              <a:lnSpc>
                <a:spcPct val="90000"/>
              </a:lnSpc>
              <a:spcBef>
                <a:spcPts val="1000"/>
              </a:spcBef>
              <a:spcAft>
                <a:spcPts val="0"/>
              </a:spcAft>
              <a:buClr>
                <a:schemeClr val="dk1"/>
              </a:buClr>
              <a:buSzPts val="2800"/>
              <a:buNone/>
            </a:pPr>
            <a:r>
              <a:rPr lang="en-US"/>
              <a:t>       return response('Unauthorized', 403);</a:t>
            </a:r>
            <a:endParaRPr/>
          </a:p>
          <a:p>
            <a:pPr indent="0" lvl="0" marL="0" rtl="0" algn="l">
              <a:lnSpc>
                <a:spcPct val="90000"/>
              </a:lnSpc>
              <a:spcBef>
                <a:spcPts val="1000"/>
              </a:spcBef>
              <a:spcAft>
                <a:spcPts val="0"/>
              </a:spcAft>
              <a:buClr>
                <a:schemeClr val="dk1"/>
              </a:buClr>
              <a:buSzPts val="2800"/>
              <a:buNone/>
            </a:pPr>
            <a:r>
              <a:rPr lang="en-US"/>
              <a:t>    }    </a:t>
            </a:r>
            <a:endParaRPr/>
          </a:p>
          <a:p>
            <a:pPr indent="0" lvl="0" marL="0" rtl="0" algn="l">
              <a:lnSpc>
                <a:spcPct val="90000"/>
              </a:lnSpc>
              <a:spcBef>
                <a:spcPts val="1000"/>
              </a:spcBef>
              <a:spcAft>
                <a:spcPts val="0"/>
              </a:spcAft>
              <a:buClr>
                <a:schemeClr val="dk1"/>
              </a:buClr>
              <a:buSzPts val="2800"/>
              <a:buNone/>
            </a:pPr>
            <a:r>
              <a:rPr lang="en-US"/>
              <a:t>return $next($request);</a:t>
            </a:r>
            <a:endParaRPr/>
          </a:p>
          <a:p>
            <a:pPr indent="0" lvl="0" marL="0" rtl="0" algn="l">
              <a:lnSpc>
                <a:spcPct val="90000"/>
              </a:lnSpc>
              <a:spcBef>
                <a:spcPts val="1000"/>
              </a:spcBef>
              <a:spcAft>
                <a:spcPts val="0"/>
              </a:spcAft>
              <a:buClr>
                <a:schemeClr val="dk1"/>
              </a:buClr>
              <a:buSzPts val="2800"/>
              <a:buNone/>
            </a:pPr>
            <a:r>
              <a:rPr lang="en-US"/>
              <a:t>}</a:t>
            </a:r>
            <a:endParaRPr/>
          </a:p>
        </p:txBody>
      </p:sp>
      <p:sp>
        <p:nvSpPr>
          <p:cNvPr id="191" name="Google Shape;191;p21"/>
          <p:cNvSpPr txBox="1"/>
          <p:nvPr>
            <p:ph type="title"/>
          </p:nvPr>
        </p:nvSpPr>
        <p:spPr>
          <a:xfrm>
            <a:off x="415200" y="12"/>
            <a:ext cx="9913200" cy="14469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4400"/>
              <a:buFont typeface="Arial"/>
              <a:buNone/>
            </a:pPr>
            <a:r>
              <a:rPr b="0" i="0" lang="en-US" u="none" cap="none" strike="noStrike">
                <a:solidFill>
                  <a:schemeClr val="dk1"/>
                </a:solidFill>
                <a:latin typeface="Arial"/>
                <a:ea typeface="Arial"/>
                <a:cs typeface="Arial"/>
                <a:sym typeface="Arial"/>
              </a:rPr>
              <a:t>Example Middleware</a:t>
            </a:r>
            <a:br>
              <a:rPr b="0" i="0" lang="en-US" u="none" cap="none" strike="noStrike">
                <a:solidFill>
                  <a:schemeClr val="dk1"/>
                </a:solidFill>
                <a:latin typeface="Arial"/>
                <a:ea typeface="Arial"/>
                <a:cs typeface="Arial"/>
                <a:sym typeface="Arial"/>
              </a:rPr>
            </a:br>
            <a:r>
              <a:rPr b="0" i="0" lang="en-US" u="none" cap="none" strike="noStrike">
                <a:solidFill>
                  <a:schemeClr val="dk1"/>
                </a:solidFill>
                <a:latin typeface="Arial"/>
                <a:ea typeface="Arial"/>
                <a:cs typeface="Arial"/>
                <a:sym typeface="Arial"/>
              </a:rPr>
              <a:t> (</a:t>
            </a:r>
            <a:r>
              <a:rPr lang="en-US">
                <a:latin typeface="Arial"/>
                <a:ea typeface="Arial"/>
                <a:cs typeface="Arial"/>
                <a:sym typeface="Arial"/>
              </a:rPr>
              <a:t>app/Http/Middleware/CheckAge.php) </a:t>
            </a:r>
            <a:endParaRPr/>
          </a:p>
        </p:txBody>
      </p:sp>
      <p:pic>
        <p:nvPicPr>
          <p:cNvPr id="192" name="Google Shape;192;p21"/>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2"/>
          <p:cNvSpPr txBox="1"/>
          <p:nvPr>
            <p:ph type="title"/>
          </p:nvPr>
        </p:nvSpPr>
        <p:spPr>
          <a:xfrm>
            <a:off x="838200" y="365125"/>
            <a:ext cx="10515600" cy="1065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Controller</a:t>
            </a:r>
            <a:endParaRPr/>
          </a:p>
        </p:txBody>
      </p:sp>
      <p:sp>
        <p:nvSpPr>
          <p:cNvPr id="198" name="Google Shape;198;p22"/>
          <p:cNvSpPr txBox="1"/>
          <p:nvPr>
            <p:ph idx="1" type="body"/>
          </p:nvPr>
        </p:nvSpPr>
        <p:spPr>
          <a:xfrm>
            <a:off x="838200" y="1358901"/>
            <a:ext cx="10515600" cy="48180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Char char="•"/>
            </a:pPr>
            <a:r>
              <a:rPr lang="en-US" sz="3200"/>
              <a:t>In Laravel, controllers are found in the app/Http/Controllers directory. </a:t>
            </a:r>
            <a:endParaRPr/>
          </a:p>
          <a:p>
            <a:pPr indent="-228600" lvl="0" marL="228600" rtl="0" algn="l">
              <a:lnSpc>
                <a:spcPct val="90000"/>
              </a:lnSpc>
              <a:spcBef>
                <a:spcPts val="1000"/>
              </a:spcBef>
              <a:spcAft>
                <a:spcPts val="0"/>
              </a:spcAft>
              <a:buClr>
                <a:schemeClr val="dk1"/>
              </a:buClr>
              <a:buSzPts val="3200"/>
              <a:buChar char="•"/>
            </a:pPr>
            <a:r>
              <a:rPr lang="en-US" sz="3200"/>
              <a:t>They help organize request handling logic by grouping related functions into classes.</a:t>
            </a:r>
            <a:endParaRPr sz="3200"/>
          </a:p>
          <a:p>
            <a:pPr indent="0" lvl="0" marL="228600" rtl="0" algn="l">
              <a:lnSpc>
                <a:spcPct val="90000"/>
              </a:lnSpc>
              <a:spcBef>
                <a:spcPts val="1000"/>
              </a:spcBef>
              <a:spcAft>
                <a:spcPts val="0"/>
              </a:spcAft>
              <a:buNone/>
            </a:pPr>
            <a:r>
              <a:t/>
            </a:r>
            <a:endParaRPr sz="3200"/>
          </a:p>
          <a:p>
            <a:pPr indent="0" lvl="0" marL="0" rtl="0" algn="l">
              <a:spcBef>
                <a:spcPts val="0"/>
              </a:spcBef>
              <a:spcAft>
                <a:spcPts val="0"/>
              </a:spcAft>
              <a:buNone/>
            </a:pPr>
            <a:r>
              <a:rPr lang="en-US" sz="4400"/>
              <a:t>View</a:t>
            </a:r>
            <a:endParaRPr sz="4400"/>
          </a:p>
          <a:p>
            <a:pPr indent="-228600" lvl="0" marL="228600" rtl="0" algn="l">
              <a:spcBef>
                <a:spcPts val="0"/>
              </a:spcBef>
              <a:spcAft>
                <a:spcPts val="0"/>
              </a:spcAft>
              <a:buSzPts val="2800"/>
              <a:buChar char="•"/>
            </a:pPr>
            <a:r>
              <a:rPr lang="en-US"/>
              <a:t>If the route returns an HTML view, Laravel loads a Blade template.</a:t>
            </a:r>
            <a:endParaRPr/>
          </a:p>
          <a:p>
            <a:pPr indent="0" lvl="0" marL="0" rtl="0" algn="l">
              <a:lnSpc>
                <a:spcPct val="90000"/>
              </a:lnSpc>
              <a:spcBef>
                <a:spcPts val="1000"/>
              </a:spcBef>
              <a:spcAft>
                <a:spcPts val="0"/>
              </a:spcAft>
              <a:buNone/>
            </a:pPr>
            <a:r>
              <a:t/>
            </a:r>
            <a:endParaRPr sz="3200"/>
          </a:p>
        </p:txBody>
      </p:sp>
      <p:pic>
        <p:nvPicPr>
          <p:cNvPr id="199" name="Google Shape;199;p22"/>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(resources/views/home.blade.php)</a:t>
            </a:r>
            <a:endParaRPr/>
          </a:p>
        </p:txBody>
      </p:sp>
      <p:sp>
        <p:nvSpPr>
          <p:cNvPr id="205" name="Google Shape;205;p2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None/>
            </a:pPr>
            <a:r>
              <a:rPr lang="en-US"/>
              <a:t>&lt;!DOCTYPE html&gt;</a:t>
            </a:r>
            <a:endParaRPr/>
          </a:p>
          <a:p>
            <a:pPr indent="0" lvl="0" marL="0" rtl="0" algn="l">
              <a:lnSpc>
                <a:spcPct val="90000"/>
              </a:lnSpc>
              <a:spcBef>
                <a:spcPts val="1000"/>
              </a:spcBef>
              <a:spcAft>
                <a:spcPts val="0"/>
              </a:spcAft>
              <a:buClr>
                <a:schemeClr val="dk1"/>
              </a:buClr>
              <a:buSzPct val="100000"/>
              <a:buNone/>
            </a:pPr>
            <a:r>
              <a:rPr lang="en-US"/>
              <a:t>&lt;html&gt;</a:t>
            </a:r>
            <a:endParaRPr/>
          </a:p>
          <a:p>
            <a:pPr indent="0" lvl="0" marL="0" rtl="0" algn="l">
              <a:lnSpc>
                <a:spcPct val="90000"/>
              </a:lnSpc>
              <a:spcBef>
                <a:spcPts val="1000"/>
              </a:spcBef>
              <a:spcAft>
                <a:spcPts val="0"/>
              </a:spcAft>
              <a:buClr>
                <a:schemeClr val="dk1"/>
              </a:buClr>
              <a:buSzPct val="100000"/>
              <a:buNone/>
            </a:pPr>
            <a:r>
              <a:rPr lang="en-US"/>
              <a:t>&lt;head&gt;   </a:t>
            </a:r>
            <a:endParaRPr/>
          </a:p>
          <a:p>
            <a:pPr indent="0" lvl="0" marL="0" rtl="0" algn="l">
              <a:lnSpc>
                <a:spcPct val="90000"/>
              </a:lnSpc>
              <a:spcBef>
                <a:spcPts val="1000"/>
              </a:spcBef>
              <a:spcAft>
                <a:spcPts val="0"/>
              </a:spcAft>
              <a:buClr>
                <a:schemeClr val="dk1"/>
              </a:buClr>
              <a:buSzPct val="100000"/>
              <a:buNone/>
            </a:pPr>
            <a:r>
              <a:rPr lang="en-US"/>
              <a:t> &lt;title&gt;</a:t>
            </a:r>
            <a:endParaRPr/>
          </a:p>
          <a:p>
            <a:pPr indent="0" lvl="0" marL="0" rtl="0" algn="l">
              <a:lnSpc>
                <a:spcPct val="90000"/>
              </a:lnSpc>
              <a:spcBef>
                <a:spcPts val="1000"/>
              </a:spcBef>
              <a:spcAft>
                <a:spcPts val="0"/>
              </a:spcAft>
              <a:buClr>
                <a:schemeClr val="dk1"/>
              </a:buClr>
              <a:buSzPct val="100000"/>
              <a:buNone/>
            </a:pPr>
            <a:r>
              <a:rPr lang="en-US"/>
              <a:t>{{ $title }}</a:t>
            </a:r>
            <a:endParaRPr/>
          </a:p>
          <a:p>
            <a:pPr indent="0" lvl="0" marL="0" rtl="0" algn="l">
              <a:lnSpc>
                <a:spcPct val="90000"/>
              </a:lnSpc>
              <a:spcBef>
                <a:spcPts val="1000"/>
              </a:spcBef>
              <a:spcAft>
                <a:spcPts val="0"/>
              </a:spcAft>
              <a:buClr>
                <a:schemeClr val="dk1"/>
              </a:buClr>
              <a:buSzPct val="100000"/>
              <a:buNone/>
            </a:pPr>
            <a:r>
              <a:rPr lang="en-US"/>
              <a:t>&lt;/title&gt;</a:t>
            </a:r>
            <a:endParaRPr/>
          </a:p>
          <a:p>
            <a:pPr indent="0" lvl="0" marL="0" rtl="0" algn="l">
              <a:lnSpc>
                <a:spcPct val="90000"/>
              </a:lnSpc>
              <a:spcBef>
                <a:spcPts val="1000"/>
              </a:spcBef>
              <a:spcAft>
                <a:spcPts val="0"/>
              </a:spcAft>
              <a:buClr>
                <a:schemeClr val="dk1"/>
              </a:buClr>
              <a:buSzPct val="100000"/>
              <a:buNone/>
            </a:pPr>
            <a:r>
              <a:rPr lang="en-US"/>
              <a:t>&lt;/head&gt;</a:t>
            </a:r>
            <a:endParaRPr/>
          </a:p>
          <a:p>
            <a:pPr indent="0" lvl="0" marL="0" rtl="0" algn="l">
              <a:lnSpc>
                <a:spcPct val="90000"/>
              </a:lnSpc>
              <a:spcBef>
                <a:spcPts val="1000"/>
              </a:spcBef>
              <a:spcAft>
                <a:spcPts val="0"/>
              </a:spcAft>
              <a:buClr>
                <a:schemeClr val="dk1"/>
              </a:buClr>
              <a:buSzPct val="100000"/>
              <a:buNone/>
            </a:pPr>
            <a:r>
              <a:rPr lang="en-US"/>
              <a:t>&lt;body&gt;    </a:t>
            </a:r>
            <a:endParaRPr/>
          </a:p>
          <a:p>
            <a:pPr indent="0" lvl="0" marL="0" rtl="0" algn="l">
              <a:lnSpc>
                <a:spcPct val="90000"/>
              </a:lnSpc>
              <a:spcBef>
                <a:spcPts val="1000"/>
              </a:spcBef>
              <a:spcAft>
                <a:spcPts val="0"/>
              </a:spcAft>
              <a:buClr>
                <a:schemeClr val="dk1"/>
              </a:buClr>
              <a:buSzPct val="100000"/>
              <a:buNone/>
            </a:pPr>
            <a:r>
              <a:rPr lang="en-US"/>
              <a:t>&lt;h1&gt;Hello, Laravel!&lt;/h1&gt;</a:t>
            </a:r>
            <a:endParaRPr/>
          </a:p>
          <a:p>
            <a:pPr indent="0" lvl="0" marL="0" rtl="0" algn="l">
              <a:lnSpc>
                <a:spcPct val="90000"/>
              </a:lnSpc>
              <a:spcBef>
                <a:spcPts val="1000"/>
              </a:spcBef>
              <a:spcAft>
                <a:spcPts val="0"/>
              </a:spcAft>
              <a:buClr>
                <a:schemeClr val="dk1"/>
              </a:buClr>
              <a:buSzPct val="100000"/>
              <a:buNone/>
            </a:pPr>
            <a:r>
              <a:rPr lang="en-US"/>
              <a:t>&lt;/body&gt;</a:t>
            </a:r>
            <a:endParaRPr/>
          </a:p>
          <a:p>
            <a:pPr indent="0" lvl="0" marL="0" rtl="0" algn="l">
              <a:lnSpc>
                <a:spcPct val="90000"/>
              </a:lnSpc>
              <a:spcBef>
                <a:spcPts val="1000"/>
              </a:spcBef>
              <a:spcAft>
                <a:spcPts val="0"/>
              </a:spcAft>
              <a:buClr>
                <a:schemeClr val="dk1"/>
              </a:buClr>
              <a:buSzPct val="100000"/>
              <a:buNone/>
            </a:pPr>
            <a:r>
              <a:rPr lang="en-US"/>
              <a:t>&lt;/html&gt;</a:t>
            </a:r>
            <a:endParaRPr/>
          </a:p>
        </p:txBody>
      </p:sp>
      <p:pic>
        <p:nvPicPr>
          <p:cNvPr id="206" name="Google Shape;206;p24"/>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Laravel Request Life Cycle</a:t>
            </a:r>
            <a:endParaRPr/>
          </a:p>
        </p:txBody>
      </p:sp>
      <p:pic>
        <p:nvPicPr>
          <p:cNvPr id="212" name="Google Shape;212;p25"/>
          <p:cNvPicPr preferRelativeResize="0"/>
          <p:nvPr>
            <p:ph idx="1" type="body"/>
          </p:nvPr>
        </p:nvPicPr>
        <p:blipFill rotWithShape="1">
          <a:blip r:embed="rId3">
            <a:alphaModFix/>
          </a:blip>
          <a:srcRect b="0" l="0" r="0" t="0"/>
          <a:stretch/>
        </p:blipFill>
        <p:spPr>
          <a:xfrm>
            <a:off x="939271" y="2001044"/>
            <a:ext cx="9919229" cy="4166076"/>
          </a:xfrm>
          <a:prstGeom prst="rect">
            <a:avLst/>
          </a:prstGeom>
          <a:noFill/>
          <a:ln>
            <a:noFill/>
          </a:ln>
        </p:spPr>
      </p:pic>
      <p:pic>
        <p:nvPicPr>
          <p:cNvPr id="213" name="Google Shape;213;p25"/>
          <p:cNvPicPr preferRelativeResize="0"/>
          <p:nvPr/>
        </p:nvPicPr>
        <p:blipFill rotWithShape="1">
          <a:blip r:embed="rId4">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3d10798bb04_0_94"/>
          <p:cNvSpPr txBox="1"/>
          <p:nvPr>
            <p:ph type="title"/>
          </p:nvPr>
        </p:nvSpPr>
        <p:spPr>
          <a:xfrm>
            <a:off x="630500" y="365125"/>
            <a:ext cx="9252300" cy="8961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D2533C"/>
              </a:buClr>
              <a:buSzPts val="2000"/>
              <a:buFont typeface="Arial"/>
              <a:buNone/>
            </a:pPr>
            <a:r>
              <a:rPr b="1" lang="en-US" sz="3000">
                <a:solidFill>
                  <a:srgbClr val="D2533C"/>
                </a:solidFill>
                <a:latin typeface="Arial"/>
                <a:ea typeface="Arial"/>
                <a:cs typeface="Arial"/>
                <a:sym typeface="Arial"/>
              </a:rPr>
              <a:t>By default laravel project runs on which PORT?</a:t>
            </a:r>
            <a:endParaRPr sz="3000"/>
          </a:p>
        </p:txBody>
      </p:sp>
      <p:sp>
        <p:nvSpPr>
          <p:cNvPr id="219" name="Google Shape;219;g3d10798bb04_0_94"/>
          <p:cNvSpPr txBox="1"/>
          <p:nvPr>
            <p:ph idx="1" type="body"/>
          </p:nvPr>
        </p:nvSpPr>
        <p:spPr>
          <a:xfrm>
            <a:off x="630500" y="1209100"/>
            <a:ext cx="10723500" cy="4967700"/>
          </a:xfrm>
          <a:prstGeom prst="rect">
            <a:avLst/>
          </a:prstGeom>
        </p:spPr>
        <p:txBody>
          <a:bodyPr anchorCtr="0" anchor="t" bIns="45700" lIns="91425" spcFirstLastPara="1" rIns="91425" wrap="square" tIns="45700">
            <a:normAutofit lnSpcReduction="10000"/>
          </a:bodyPr>
          <a:lstStyle/>
          <a:p>
            <a:pPr indent="-325755" lvl="0" marL="457200" rtl="0" algn="l">
              <a:lnSpc>
                <a:spcPct val="100000"/>
              </a:lnSpc>
              <a:spcBef>
                <a:spcPts val="360"/>
              </a:spcBef>
              <a:spcAft>
                <a:spcPts val="0"/>
              </a:spcAft>
              <a:buClr>
                <a:srgbClr val="292934"/>
              </a:buClr>
              <a:buSzPts val="1530"/>
              <a:buFont typeface="Arial"/>
              <a:buChar char="•"/>
            </a:pPr>
            <a:r>
              <a:rPr b="1" lang="en-US">
                <a:solidFill>
                  <a:srgbClr val="292934"/>
                </a:solidFill>
                <a:latin typeface="Arial"/>
                <a:ea typeface="Arial"/>
                <a:cs typeface="Arial"/>
                <a:sym typeface="Arial"/>
              </a:rPr>
              <a:t>3000</a:t>
            </a:r>
            <a:endParaRPr sz="2400">
              <a:solidFill>
                <a:srgbClr val="292934"/>
              </a:solidFill>
              <a:latin typeface="Arial"/>
              <a:ea typeface="Arial"/>
              <a:cs typeface="Arial"/>
              <a:sym typeface="Arial"/>
            </a:endParaRPr>
          </a:p>
          <a:p>
            <a:pPr indent="-325755" lvl="0" marL="457200" rtl="0" algn="l">
              <a:lnSpc>
                <a:spcPct val="100000"/>
              </a:lnSpc>
              <a:spcBef>
                <a:spcPts val="360"/>
              </a:spcBef>
              <a:spcAft>
                <a:spcPts val="0"/>
              </a:spcAft>
              <a:buClr>
                <a:srgbClr val="93A299"/>
              </a:buClr>
              <a:buSzPts val="1530"/>
              <a:buChar char="•"/>
            </a:pPr>
            <a:r>
              <a:rPr b="1" lang="en-US">
                <a:solidFill>
                  <a:srgbClr val="292934"/>
                </a:solidFill>
                <a:latin typeface="Arial"/>
                <a:ea typeface="Arial"/>
                <a:cs typeface="Arial"/>
                <a:sym typeface="Arial"/>
              </a:rPr>
              <a:t>5000</a:t>
            </a:r>
            <a:endParaRPr sz="2400">
              <a:solidFill>
                <a:srgbClr val="292934"/>
              </a:solidFill>
              <a:latin typeface="Arial"/>
              <a:ea typeface="Arial"/>
              <a:cs typeface="Arial"/>
              <a:sym typeface="Arial"/>
            </a:endParaRPr>
          </a:p>
          <a:p>
            <a:pPr indent="-325755" lvl="0" marL="457200" rtl="0" algn="l">
              <a:lnSpc>
                <a:spcPct val="100000"/>
              </a:lnSpc>
              <a:spcBef>
                <a:spcPts val="360"/>
              </a:spcBef>
              <a:spcAft>
                <a:spcPts val="0"/>
              </a:spcAft>
              <a:buClr>
                <a:srgbClr val="93A299"/>
              </a:buClr>
              <a:buSzPts val="1530"/>
              <a:buChar char="•"/>
            </a:pPr>
            <a:r>
              <a:rPr b="1" lang="en-US">
                <a:solidFill>
                  <a:srgbClr val="00B050"/>
                </a:solidFill>
                <a:latin typeface="Arial"/>
                <a:ea typeface="Arial"/>
                <a:cs typeface="Arial"/>
                <a:sym typeface="Arial"/>
              </a:rPr>
              <a:t>8000</a:t>
            </a:r>
            <a:endParaRPr b="1">
              <a:solidFill>
                <a:srgbClr val="292934"/>
              </a:solidFill>
              <a:latin typeface="Arial"/>
              <a:ea typeface="Arial"/>
              <a:cs typeface="Arial"/>
              <a:sym typeface="Arial"/>
            </a:endParaRPr>
          </a:p>
          <a:p>
            <a:pPr indent="-325755" lvl="0" marL="457200" rtl="0" algn="l">
              <a:lnSpc>
                <a:spcPct val="100000"/>
              </a:lnSpc>
              <a:spcBef>
                <a:spcPts val="360"/>
              </a:spcBef>
              <a:spcAft>
                <a:spcPts val="0"/>
              </a:spcAft>
              <a:buClr>
                <a:srgbClr val="93A299"/>
              </a:buClr>
              <a:buSzPts val="1530"/>
              <a:buChar char="•"/>
            </a:pPr>
            <a:r>
              <a:rPr b="1" lang="en-US">
                <a:solidFill>
                  <a:srgbClr val="292934"/>
                </a:solidFill>
                <a:latin typeface="Arial"/>
                <a:ea typeface="Arial"/>
                <a:cs typeface="Arial"/>
                <a:sym typeface="Arial"/>
              </a:rPr>
              <a:t>7000</a:t>
            </a:r>
            <a:endParaRPr b="1">
              <a:solidFill>
                <a:srgbClr val="292934"/>
              </a:solidFill>
              <a:latin typeface="Arial"/>
              <a:ea typeface="Arial"/>
              <a:cs typeface="Arial"/>
              <a:sym typeface="Arial"/>
            </a:endParaRPr>
          </a:p>
          <a:p>
            <a:pPr indent="-325755" lvl="0" marL="457200" rtl="0" algn="l">
              <a:lnSpc>
                <a:spcPct val="100000"/>
              </a:lnSpc>
              <a:spcBef>
                <a:spcPts val="360"/>
              </a:spcBef>
              <a:spcAft>
                <a:spcPts val="0"/>
              </a:spcAft>
              <a:buClr>
                <a:srgbClr val="292934"/>
              </a:buClr>
              <a:buSzPts val="1530"/>
              <a:buFont typeface="Arial"/>
              <a:buChar char="•"/>
            </a:pPr>
            <a:r>
              <a:t/>
            </a:r>
            <a:endParaRPr b="1">
              <a:solidFill>
                <a:srgbClr val="292934"/>
              </a:solidFill>
              <a:latin typeface="Arial"/>
              <a:ea typeface="Arial"/>
              <a:cs typeface="Arial"/>
              <a:sym typeface="Arial"/>
            </a:endParaRPr>
          </a:p>
          <a:p>
            <a:pPr indent="0" lvl="0" marL="0" rtl="0" algn="l">
              <a:lnSpc>
                <a:spcPct val="100000"/>
              </a:lnSpc>
              <a:spcBef>
                <a:spcPts val="0"/>
              </a:spcBef>
              <a:spcAft>
                <a:spcPts val="0"/>
              </a:spcAft>
              <a:buNone/>
            </a:pPr>
            <a:r>
              <a:rPr b="1" lang="en-US" sz="3200">
                <a:solidFill>
                  <a:srgbClr val="D2533C"/>
                </a:solidFill>
                <a:latin typeface="Arial"/>
                <a:ea typeface="Arial"/>
                <a:cs typeface="Arial"/>
                <a:sym typeface="Arial"/>
              </a:rPr>
              <a:t>What's the command</a:t>
            </a:r>
            <a:r>
              <a:rPr b="1" lang="en-US" sz="3200">
                <a:solidFill>
                  <a:srgbClr val="D2533C"/>
                </a:solidFill>
                <a:latin typeface="Arial"/>
                <a:ea typeface="Arial"/>
                <a:cs typeface="Arial"/>
                <a:sym typeface="Arial"/>
              </a:rPr>
              <a:t> to check the current version of the Laravel framework?</a:t>
            </a:r>
            <a:endParaRPr sz="4400"/>
          </a:p>
          <a:p>
            <a:pPr indent="-325755" lvl="0" marL="457200" rtl="0" algn="l">
              <a:lnSpc>
                <a:spcPct val="100000"/>
              </a:lnSpc>
              <a:spcBef>
                <a:spcPts val="360"/>
              </a:spcBef>
              <a:spcAft>
                <a:spcPts val="0"/>
              </a:spcAft>
              <a:buClr>
                <a:srgbClr val="93A299"/>
              </a:buClr>
              <a:buSzPts val="1530"/>
              <a:buChar char="•"/>
            </a:pPr>
            <a:r>
              <a:rPr b="1" lang="en-US">
                <a:solidFill>
                  <a:srgbClr val="292934"/>
                </a:solidFill>
                <a:latin typeface="Arial"/>
                <a:ea typeface="Arial"/>
                <a:cs typeface="Arial"/>
                <a:sym typeface="Arial"/>
              </a:rPr>
              <a:t>php artisan main --version</a:t>
            </a:r>
            <a:endParaRPr sz="2400">
              <a:solidFill>
                <a:srgbClr val="292934"/>
              </a:solidFill>
              <a:latin typeface="Arial"/>
              <a:ea typeface="Arial"/>
              <a:cs typeface="Arial"/>
              <a:sym typeface="Arial"/>
            </a:endParaRPr>
          </a:p>
          <a:p>
            <a:pPr indent="-325755" lvl="0" marL="457200" rtl="0" algn="l">
              <a:lnSpc>
                <a:spcPct val="100000"/>
              </a:lnSpc>
              <a:spcBef>
                <a:spcPts val="360"/>
              </a:spcBef>
              <a:spcAft>
                <a:spcPts val="0"/>
              </a:spcAft>
              <a:buClr>
                <a:srgbClr val="93A299"/>
              </a:buClr>
              <a:buSzPts val="1530"/>
              <a:buChar char="•"/>
            </a:pPr>
            <a:r>
              <a:rPr b="1" lang="en-US">
                <a:solidFill>
                  <a:srgbClr val="292934"/>
                </a:solidFill>
                <a:latin typeface="Arial"/>
                <a:ea typeface="Arial"/>
                <a:cs typeface="Arial"/>
                <a:sym typeface="Arial"/>
              </a:rPr>
              <a:t>php artisan --version status</a:t>
            </a:r>
            <a:endParaRPr b="1">
              <a:solidFill>
                <a:srgbClr val="292934"/>
              </a:solidFill>
              <a:latin typeface="Arial"/>
              <a:ea typeface="Arial"/>
              <a:cs typeface="Arial"/>
              <a:sym typeface="Arial"/>
            </a:endParaRPr>
          </a:p>
          <a:p>
            <a:pPr indent="-325755" lvl="0" marL="457200" rtl="0" algn="l">
              <a:lnSpc>
                <a:spcPct val="100000"/>
              </a:lnSpc>
              <a:spcBef>
                <a:spcPts val="360"/>
              </a:spcBef>
              <a:spcAft>
                <a:spcPts val="0"/>
              </a:spcAft>
              <a:buClr>
                <a:srgbClr val="93A299"/>
              </a:buClr>
              <a:buSzPts val="1530"/>
              <a:buChar char="•"/>
            </a:pPr>
            <a:r>
              <a:rPr b="1" lang="en-US">
                <a:solidFill>
                  <a:srgbClr val="292934"/>
                </a:solidFill>
                <a:latin typeface="Arial"/>
                <a:ea typeface="Arial"/>
                <a:cs typeface="Arial"/>
                <a:sym typeface="Arial"/>
              </a:rPr>
              <a:t>php artisan check --version</a:t>
            </a:r>
            <a:endParaRPr b="1">
              <a:solidFill>
                <a:srgbClr val="292934"/>
              </a:solidFill>
              <a:latin typeface="Arial"/>
              <a:ea typeface="Arial"/>
              <a:cs typeface="Arial"/>
              <a:sym typeface="Arial"/>
            </a:endParaRPr>
          </a:p>
          <a:p>
            <a:pPr indent="-325755" lvl="0" marL="457200" rtl="0" algn="l">
              <a:lnSpc>
                <a:spcPct val="100000"/>
              </a:lnSpc>
              <a:spcBef>
                <a:spcPts val="360"/>
              </a:spcBef>
              <a:spcAft>
                <a:spcPts val="0"/>
              </a:spcAft>
              <a:buClr>
                <a:srgbClr val="93A299"/>
              </a:buClr>
              <a:buSzPts val="1530"/>
              <a:buChar char="•"/>
            </a:pPr>
            <a:r>
              <a:rPr b="1" lang="en-US">
                <a:solidFill>
                  <a:srgbClr val="00B050"/>
                </a:solidFill>
                <a:latin typeface="Arial"/>
                <a:ea typeface="Arial"/>
                <a:cs typeface="Arial"/>
                <a:sym typeface="Arial"/>
              </a:rPr>
              <a:t>php artisan --version</a:t>
            </a:r>
            <a:endParaRPr/>
          </a:p>
        </p:txBody>
      </p:sp>
      <p:pic>
        <p:nvPicPr>
          <p:cNvPr id="220" name="Google Shape;220;g3d10798bb04_0_94"/>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d10798bb04_0_110"/>
          <p:cNvSpPr txBox="1"/>
          <p:nvPr>
            <p:ph type="title"/>
          </p:nvPr>
        </p:nvSpPr>
        <p:spPr>
          <a:xfrm>
            <a:off x="838200" y="181050"/>
            <a:ext cx="10515600" cy="10410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2533C"/>
              </a:buClr>
              <a:buSzPts val="1800"/>
              <a:buFont typeface="Arial"/>
              <a:buNone/>
            </a:pPr>
            <a:r>
              <a:rPr b="1" lang="en-US" sz="4000">
                <a:solidFill>
                  <a:srgbClr val="D2533C"/>
                </a:solidFill>
                <a:latin typeface="Arial"/>
                <a:ea typeface="Arial"/>
                <a:cs typeface="Arial"/>
                <a:sym typeface="Arial"/>
              </a:rPr>
              <a:t>What is Routing?</a:t>
            </a:r>
            <a:endParaRPr/>
          </a:p>
        </p:txBody>
      </p:sp>
      <p:sp>
        <p:nvSpPr>
          <p:cNvPr id="226" name="Google Shape;226;g3d10798bb04_0_110"/>
          <p:cNvSpPr txBox="1"/>
          <p:nvPr>
            <p:ph idx="1" type="body"/>
          </p:nvPr>
        </p:nvSpPr>
        <p:spPr>
          <a:xfrm>
            <a:off x="227100" y="1612525"/>
            <a:ext cx="5348400" cy="4564200"/>
          </a:xfrm>
          <a:prstGeom prst="rect">
            <a:avLst/>
          </a:prstGeom>
        </p:spPr>
        <p:txBody>
          <a:bodyPr anchorCtr="0" anchor="t" bIns="45700" lIns="91425" spcFirstLastPara="1" rIns="91425" wrap="square" tIns="45700">
            <a:normAutofit lnSpcReduction="20000"/>
          </a:bodyPr>
          <a:lstStyle/>
          <a:p>
            <a:pPr indent="0" lvl="0" marL="131445" rtl="0" algn="just">
              <a:lnSpc>
                <a:spcPct val="100000"/>
              </a:lnSpc>
              <a:spcBef>
                <a:spcPts val="360"/>
              </a:spcBef>
              <a:spcAft>
                <a:spcPts val="0"/>
              </a:spcAft>
              <a:buClr>
                <a:schemeClr val="dk1"/>
              </a:buClr>
              <a:buSzPts val="1530"/>
              <a:buFont typeface="Arial"/>
              <a:buNone/>
            </a:pPr>
            <a:r>
              <a:t/>
            </a:r>
            <a:endParaRPr sz="3600">
              <a:solidFill>
                <a:srgbClr val="292934"/>
              </a:solidFill>
              <a:latin typeface="Arial"/>
              <a:ea typeface="Arial"/>
              <a:cs typeface="Arial"/>
              <a:sym typeface="Arial"/>
            </a:endParaRPr>
          </a:p>
          <a:p>
            <a:pPr indent="0" lvl="0" marL="131445" rtl="0" algn="just">
              <a:lnSpc>
                <a:spcPct val="100000"/>
              </a:lnSpc>
              <a:spcBef>
                <a:spcPts val="360"/>
              </a:spcBef>
              <a:spcAft>
                <a:spcPts val="0"/>
              </a:spcAft>
              <a:buClr>
                <a:schemeClr val="dk1"/>
              </a:buClr>
              <a:buSzPts val="1530"/>
              <a:buFont typeface="Arial"/>
              <a:buNone/>
            </a:pPr>
            <a:r>
              <a:rPr lang="en-US" sz="3600">
                <a:solidFill>
                  <a:srgbClr val="292934"/>
                </a:solidFill>
                <a:latin typeface="Arial"/>
                <a:ea typeface="Arial"/>
                <a:cs typeface="Arial"/>
                <a:sym typeface="Arial"/>
              </a:rPr>
              <a:t>The process of </a:t>
            </a:r>
            <a:r>
              <a:rPr b="1" lang="en-US" sz="3600">
                <a:solidFill>
                  <a:srgbClr val="FF0000"/>
                </a:solidFill>
                <a:latin typeface="Arial"/>
                <a:ea typeface="Arial"/>
                <a:cs typeface="Arial"/>
                <a:sym typeface="Arial"/>
              </a:rPr>
              <a:t>directing incoming requests (usually based on URLs) to the appropriate code or handler </a:t>
            </a:r>
            <a:r>
              <a:rPr lang="en-US" sz="3600">
                <a:solidFill>
                  <a:srgbClr val="292934"/>
                </a:solidFill>
                <a:latin typeface="Arial"/>
                <a:ea typeface="Arial"/>
                <a:cs typeface="Arial"/>
                <a:sym typeface="Arial"/>
              </a:rPr>
              <a:t>that will handle the request and generate a response. </a:t>
            </a:r>
            <a:endParaRPr sz="3600">
              <a:solidFill>
                <a:srgbClr val="292934"/>
              </a:solidFill>
              <a:latin typeface="Arial"/>
              <a:ea typeface="Arial"/>
              <a:cs typeface="Arial"/>
              <a:sym typeface="Arial"/>
            </a:endParaRPr>
          </a:p>
          <a:p>
            <a:pPr indent="0" lvl="0" marL="0" rtl="0" algn="l">
              <a:spcBef>
                <a:spcPts val="1000"/>
              </a:spcBef>
              <a:spcAft>
                <a:spcPts val="0"/>
              </a:spcAft>
              <a:buNone/>
            </a:pPr>
            <a:r>
              <a:t/>
            </a:r>
            <a:endParaRPr/>
          </a:p>
        </p:txBody>
      </p:sp>
      <p:pic>
        <p:nvPicPr>
          <p:cNvPr id="227" name="Google Shape;227;g3d10798bb04_0_110"/>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pic>
        <p:nvPicPr>
          <p:cNvPr id="228" name="Google Shape;228;g3d10798bb04_0_110"/>
          <p:cNvPicPr preferRelativeResize="0"/>
          <p:nvPr/>
        </p:nvPicPr>
        <p:blipFill rotWithShape="1">
          <a:blip r:embed="rId4">
            <a:alphaModFix/>
          </a:blip>
          <a:srcRect b="0" l="0" r="0" t="0"/>
          <a:stretch/>
        </p:blipFill>
        <p:spPr>
          <a:xfrm>
            <a:off x="5744750" y="1349575"/>
            <a:ext cx="6207324" cy="4827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d10798bb04_0_115"/>
          <p:cNvSpPr txBox="1"/>
          <p:nvPr>
            <p:ph type="title"/>
          </p:nvPr>
        </p:nvSpPr>
        <p:spPr>
          <a:xfrm>
            <a:off x="838200" y="365125"/>
            <a:ext cx="6728400" cy="831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Contd...</a:t>
            </a:r>
            <a:endParaRPr/>
          </a:p>
        </p:txBody>
      </p:sp>
      <p:sp>
        <p:nvSpPr>
          <p:cNvPr id="234" name="Google Shape;234;g3d10798bb04_0_115"/>
          <p:cNvSpPr txBox="1"/>
          <p:nvPr>
            <p:ph idx="1" type="body"/>
          </p:nvPr>
        </p:nvSpPr>
        <p:spPr>
          <a:xfrm>
            <a:off x="344225" y="1052950"/>
            <a:ext cx="11165400" cy="5124000"/>
          </a:xfrm>
          <a:prstGeom prst="rect">
            <a:avLst/>
          </a:prstGeom>
        </p:spPr>
        <p:txBody>
          <a:bodyPr anchorCtr="0" anchor="t" bIns="45700" lIns="91425" spcFirstLastPara="1" rIns="91425" wrap="square" tIns="45700">
            <a:normAutofit lnSpcReduction="20000"/>
          </a:bodyPr>
          <a:lstStyle/>
          <a:p>
            <a:pPr indent="0" lvl="0" marL="131445" rtl="0" algn="just">
              <a:lnSpc>
                <a:spcPct val="100000"/>
              </a:lnSpc>
              <a:spcBef>
                <a:spcPts val="360"/>
              </a:spcBef>
              <a:spcAft>
                <a:spcPts val="0"/>
              </a:spcAft>
              <a:buClr>
                <a:schemeClr val="dk1"/>
              </a:buClr>
              <a:buSzPts val="1530"/>
              <a:buFont typeface="Arial"/>
              <a:buNone/>
            </a:pPr>
            <a:r>
              <a:t/>
            </a:r>
            <a:endParaRPr sz="3600">
              <a:solidFill>
                <a:srgbClr val="292934"/>
              </a:solidFill>
              <a:latin typeface="Arial"/>
              <a:ea typeface="Arial"/>
              <a:cs typeface="Arial"/>
              <a:sym typeface="Arial"/>
            </a:endParaRPr>
          </a:p>
          <a:p>
            <a:pPr indent="0" lvl="0" marL="131445" rtl="0" algn="just">
              <a:lnSpc>
                <a:spcPct val="100000"/>
              </a:lnSpc>
              <a:spcBef>
                <a:spcPts val="360"/>
              </a:spcBef>
              <a:spcAft>
                <a:spcPts val="0"/>
              </a:spcAft>
              <a:buClr>
                <a:schemeClr val="dk1"/>
              </a:buClr>
              <a:buSzPts val="1530"/>
              <a:buFont typeface="Arial"/>
              <a:buNone/>
            </a:pPr>
            <a:r>
              <a:rPr lang="en-US" sz="3000">
                <a:solidFill>
                  <a:srgbClr val="292934"/>
                </a:solidFill>
                <a:latin typeface="Arial"/>
                <a:ea typeface="Arial"/>
                <a:cs typeface="Arial"/>
                <a:sym typeface="Arial"/>
              </a:rPr>
              <a:t>Routing is like a traffic director for web applications. When a user enters a URL in their browser or clicks a link, routing decides where that request should go within the application to generate the appropriate content or perform a specific action.</a:t>
            </a:r>
            <a:endParaRPr sz="3000">
              <a:solidFill>
                <a:srgbClr val="292934"/>
              </a:solidFill>
              <a:latin typeface="Arial"/>
              <a:ea typeface="Arial"/>
              <a:cs typeface="Arial"/>
              <a:sym typeface="Arial"/>
            </a:endParaRPr>
          </a:p>
          <a:p>
            <a:pPr indent="0" lvl="0" marL="131445" rtl="0" algn="just">
              <a:lnSpc>
                <a:spcPct val="100000"/>
              </a:lnSpc>
              <a:spcBef>
                <a:spcPts val="360"/>
              </a:spcBef>
              <a:spcAft>
                <a:spcPts val="0"/>
              </a:spcAft>
              <a:buClr>
                <a:schemeClr val="dk1"/>
              </a:buClr>
              <a:buSzPts val="1530"/>
              <a:buFont typeface="Arial"/>
              <a:buNone/>
            </a:pPr>
            <a:r>
              <a:t/>
            </a:r>
            <a:endParaRPr sz="3000">
              <a:solidFill>
                <a:srgbClr val="292934"/>
              </a:solidFill>
              <a:latin typeface="Arial"/>
              <a:ea typeface="Arial"/>
              <a:cs typeface="Arial"/>
              <a:sym typeface="Arial"/>
            </a:endParaRPr>
          </a:p>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 </a:t>
            </a:r>
            <a:r>
              <a:rPr b="1" lang="en-US" sz="4000">
                <a:solidFill>
                  <a:srgbClr val="D2533C"/>
                </a:solidFill>
                <a:latin typeface="Arial"/>
                <a:ea typeface="Arial"/>
                <a:cs typeface="Arial"/>
                <a:sym typeface="Arial"/>
              </a:rPr>
              <a:t>URL</a:t>
            </a:r>
            <a:endParaRPr sz="3200">
              <a:solidFill>
                <a:srgbClr val="292934"/>
              </a:solidFill>
              <a:latin typeface="Arial"/>
              <a:ea typeface="Arial"/>
              <a:cs typeface="Arial"/>
              <a:sym typeface="Arial"/>
            </a:endParaRPr>
          </a:p>
          <a:p>
            <a:pPr indent="0" lvl="0" marL="131445" rtl="0" algn="just">
              <a:lnSpc>
                <a:spcPct val="100000"/>
              </a:lnSpc>
              <a:spcBef>
                <a:spcPts val="360"/>
              </a:spcBef>
              <a:spcAft>
                <a:spcPts val="0"/>
              </a:spcAft>
              <a:buNone/>
            </a:pPr>
            <a:r>
              <a:rPr lang="en-US" sz="3200">
                <a:solidFill>
                  <a:srgbClr val="292934"/>
                </a:solidFill>
                <a:latin typeface="Arial"/>
                <a:ea typeface="Arial"/>
                <a:cs typeface="Arial"/>
                <a:sym typeface="Arial"/>
              </a:rPr>
              <a:t>URL stands for "Uniform Resource Locator." It's a reference or address used to access resources on the internet. In simpler terms, a URL is the </a:t>
            </a:r>
            <a:r>
              <a:rPr b="1" lang="en-US" sz="3200">
                <a:solidFill>
                  <a:srgbClr val="FF0000"/>
                </a:solidFill>
                <a:latin typeface="Arial"/>
                <a:ea typeface="Arial"/>
                <a:cs typeface="Arial"/>
                <a:sym typeface="Arial"/>
              </a:rPr>
              <a:t>unique web address that you enter into a web browser to access a specific web page, file, or resource</a:t>
            </a:r>
            <a:r>
              <a:rPr lang="en-US" sz="3200">
                <a:solidFill>
                  <a:srgbClr val="292934"/>
                </a:solidFill>
                <a:latin typeface="Arial"/>
                <a:ea typeface="Arial"/>
                <a:cs typeface="Arial"/>
                <a:sym typeface="Arial"/>
              </a:rPr>
              <a:t>.</a:t>
            </a:r>
            <a:endParaRPr b="1" sz="4000">
              <a:solidFill>
                <a:srgbClr val="D2533C"/>
              </a:solidFill>
              <a:latin typeface="Arial"/>
              <a:ea typeface="Arial"/>
              <a:cs typeface="Arial"/>
              <a:sym typeface="Arial"/>
            </a:endParaRPr>
          </a:p>
        </p:txBody>
      </p:sp>
      <p:pic>
        <p:nvPicPr>
          <p:cNvPr id="235" name="Google Shape;235;g3d10798bb04_0_115"/>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d10798bb04_0_45"/>
          <p:cNvSpPr txBox="1"/>
          <p:nvPr>
            <p:ph type="title"/>
          </p:nvPr>
        </p:nvSpPr>
        <p:spPr>
          <a:xfrm>
            <a:off x="838200" y="415300"/>
            <a:ext cx="11353800" cy="29541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0"/>
              </a:spcBef>
              <a:spcAft>
                <a:spcPts val="0"/>
              </a:spcAft>
              <a:buNone/>
            </a:pPr>
            <a:r>
              <a:rPr b="1" lang="en-US" sz="3300">
                <a:latin typeface="Arial"/>
                <a:ea typeface="Arial"/>
                <a:cs typeface="Arial"/>
                <a:sym typeface="Arial"/>
              </a:rPr>
              <a:t>By default one route is created by Laravel</a:t>
            </a:r>
            <a:endParaRPr b="1" sz="3300">
              <a:latin typeface="Arial"/>
              <a:ea typeface="Arial"/>
              <a:cs typeface="Arial"/>
              <a:sym typeface="Arial"/>
            </a:endParaRPr>
          </a:p>
          <a:p>
            <a:pPr indent="0" lvl="0" marL="0" rtl="0" algn="l">
              <a:lnSpc>
                <a:spcPct val="115000"/>
              </a:lnSpc>
              <a:spcBef>
                <a:spcPts val="0"/>
              </a:spcBef>
              <a:spcAft>
                <a:spcPts val="0"/>
              </a:spcAft>
              <a:buClr>
                <a:schemeClr val="dk1"/>
              </a:buClr>
              <a:buSzPct val="33333"/>
              <a:buFont typeface="Arial"/>
              <a:buNone/>
            </a:pPr>
            <a:r>
              <a:t/>
            </a:r>
            <a:endParaRPr b="1" sz="3300">
              <a:latin typeface="Arial"/>
              <a:ea typeface="Arial"/>
              <a:cs typeface="Arial"/>
              <a:sym typeface="Arial"/>
            </a:endParaRPr>
          </a:p>
          <a:p>
            <a:pPr indent="0" lvl="0" marL="0" rtl="0" algn="l">
              <a:lnSpc>
                <a:spcPct val="100000"/>
              </a:lnSpc>
              <a:spcBef>
                <a:spcPts val="0"/>
              </a:spcBef>
              <a:spcAft>
                <a:spcPts val="0"/>
              </a:spcAft>
              <a:buClr>
                <a:schemeClr val="lt1"/>
              </a:buClr>
              <a:buSzPct val="93333"/>
              <a:buFont typeface="Arial"/>
              <a:buNone/>
            </a:pPr>
            <a:r>
              <a:rPr lang="en-US" sz="3000">
                <a:latin typeface="Arial"/>
                <a:ea typeface="Arial"/>
                <a:cs typeface="Arial"/>
                <a:sym typeface="Arial"/>
              </a:rPr>
              <a:t>use Illuminate\Support\Facades\Route;</a:t>
            </a:r>
            <a:endParaRPr sz="3000">
              <a:latin typeface="Arial"/>
              <a:ea typeface="Arial"/>
              <a:cs typeface="Arial"/>
              <a:sym typeface="Arial"/>
            </a:endParaRPr>
          </a:p>
          <a:p>
            <a:pPr indent="0" lvl="0" marL="0" rtl="0" algn="l">
              <a:lnSpc>
                <a:spcPct val="115000"/>
              </a:lnSpc>
              <a:spcBef>
                <a:spcPts val="0"/>
              </a:spcBef>
              <a:spcAft>
                <a:spcPts val="0"/>
              </a:spcAft>
              <a:buClr>
                <a:schemeClr val="dk1"/>
              </a:buClr>
              <a:buSzPct val="36666"/>
              <a:buFont typeface="Arial"/>
              <a:buNone/>
            </a:pPr>
            <a:r>
              <a:rPr lang="en-US" sz="3000">
                <a:latin typeface="Arial"/>
                <a:ea typeface="Arial"/>
                <a:cs typeface="Arial"/>
                <a:sym typeface="Arial"/>
              </a:rPr>
              <a:t>Route::get('/', function () {</a:t>
            </a:r>
            <a:endParaRPr sz="3000">
              <a:latin typeface="Arial"/>
              <a:ea typeface="Arial"/>
              <a:cs typeface="Arial"/>
              <a:sym typeface="Arial"/>
            </a:endParaRPr>
          </a:p>
          <a:p>
            <a:pPr indent="0" lvl="0" marL="0" rtl="0" algn="l">
              <a:lnSpc>
                <a:spcPct val="115000"/>
              </a:lnSpc>
              <a:spcBef>
                <a:spcPts val="800"/>
              </a:spcBef>
              <a:spcAft>
                <a:spcPts val="0"/>
              </a:spcAft>
              <a:buClr>
                <a:schemeClr val="dk1"/>
              </a:buClr>
              <a:buSzPct val="36666"/>
              <a:buFont typeface="Arial"/>
              <a:buNone/>
            </a:pPr>
            <a:r>
              <a:rPr lang="en-US" sz="3000">
                <a:latin typeface="Arial"/>
                <a:ea typeface="Arial"/>
                <a:cs typeface="Arial"/>
                <a:sym typeface="Arial"/>
              </a:rPr>
              <a:t>    return view('welcome');</a:t>
            </a:r>
            <a:endParaRPr sz="3000">
              <a:latin typeface="Arial"/>
              <a:ea typeface="Arial"/>
              <a:cs typeface="Arial"/>
              <a:sym typeface="Arial"/>
            </a:endParaRPr>
          </a:p>
          <a:p>
            <a:pPr indent="0" lvl="0" marL="0" rtl="0" algn="l">
              <a:lnSpc>
                <a:spcPct val="115000"/>
              </a:lnSpc>
              <a:spcBef>
                <a:spcPts val="800"/>
              </a:spcBef>
              <a:spcAft>
                <a:spcPts val="0"/>
              </a:spcAft>
              <a:buClr>
                <a:schemeClr val="dk1"/>
              </a:buClr>
              <a:buSzPct val="36666"/>
              <a:buFont typeface="Arial"/>
              <a:buNone/>
            </a:pPr>
            <a:r>
              <a:rPr lang="en-US" sz="3000">
                <a:latin typeface="Arial"/>
                <a:ea typeface="Arial"/>
                <a:cs typeface="Arial"/>
                <a:sym typeface="Arial"/>
              </a:rPr>
              <a:t>});</a:t>
            </a:r>
            <a:endParaRPr sz="3000"/>
          </a:p>
        </p:txBody>
      </p:sp>
      <p:sp>
        <p:nvSpPr>
          <p:cNvPr id="241" name="Google Shape;241;g3d10798bb04_0_45"/>
          <p:cNvSpPr txBox="1"/>
          <p:nvPr>
            <p:ph idx="1" type="body"/>
          </p:nvPr>
        </p:nvSpPr>
        <p:spPr>
          <a:xfrm>
            <a:off x="838200" y="3317250"/>
            <a:ext cx="10515600" cy="2833800"/>
          </a:xfrm>
          <a:prstGeom prst="rect">
            <a:avLst/>
          </a:prstGeom>
        </p:spPr>
        <p:txBody>
          <a:bodyPr anchorCtr="0" anchor="t" bIns="45700" lIns="91425" spcFirstLastPara="1" rIns="91425" wrap="square" tIns="45700">
            <a:normAutofit fontScale="85000" lnSpcReduction="10000"/>
          </a:bodyPr>
          <a:lstStyle/>
          <a:p>
            <a:pPr indent="0" lvl="0" marL="0" rtl="0" algn="l">
              <a:lnSpc>
                <a:spcPct val="115000"/>
              </a:lnSpc>
              <a:spcBef>
                <a:spcPts val="0"/>
              </a:spcBef>
              <a:spcAft>
                <a:spcPts val="0"/>
              </a:spcAft>
              <a:buClr>
                <a:schemeClr val="dk1"/>
              </a:buClr>
              <a:buSzPct val="52380"/>
              <a:buFont typeface="Arial"/>
              <a:buNone/>
            </a:pPr>
            <a:r>
              <a:t/>
            </a:r>
            <a:endParaRPr sz="2100">
              <a:latin typeface="Arial"/>
              <a:ea typeface="Arial"/>
              <a:cs typeface="Arial"/>
              <a:sym typeface="Arial"/>
            </a:endParaRPr>
          </a:p>
          <a:p>
            <a:pPr indent="0" lvl="0" marL="457200" rtl="0" algn="just">
              <a:lnSpc>
                <a:spcPct val="100000"/>
              </a:lnSpc>
              <a:spcBef>
                <a:spcPts val="360"/>
              </a:spcBef>
              <a:spcAft>
                <a:spcPts val="0"/>
              </a:spcAft>
              <a:buNone/>
            </a:pPr>
            <a:r>
              <a:rPr lang="en-US" sz="3200">
                <a:solidFill>
                  <a:srgbClr val="292934"/>
                </a:solidFill>
                <a:latin typeface="Arial"/>
                <a:ea typeface="Arial"/>
                <a:cs typeface="Arial"/>
                <a:sym typeface="Arial"/>
              </a:rPr>
              <a:t>In the above case, Route is the class which defines the static method get(). The get() method contains the parameters '/' and the function() closure. The '/' defines the root directory, and function() defines the functionality of the get() method. </a:t>
            </a:r>
            <a:endParaRPr sz="2100">
              <a:latin typeface="Arial"/>
              <a:ea typeface="Arial"/>
              <a:cs typeface="Arial"/>
              <a:sym typeface="Arial"/>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pic>
        <p:nvPicPr>
          <p:cNvPr id="242" name="Google Shape;242;g3d10798bb04_0_45"/>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d10798bb04_0_130"/>
          <p:cNvSpPr txBox="1"/>
          <p:nvPr>
            <p:ph type="title"/>
          </p:nvPr>
        </p:nvSpPr>
        <p:spPr>
          <a:xfrm>
            <a:off x="838200" y="365125"/>
            <a:ext cx="10515600" cy="9480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2533C"/>
              </a:buClr>
              <a:buSzPts val="1800"/>
              <a:buFont typeface="Arial"/>
              <a:buNone/>
            </a:pPr>
            <a:r>
              <a:rPr b="1" lang="en-US" sz="3500">
                <a:solidFill>
                  <a:srgbClr val="D2533C"/>
                </a:solidFill>
                <a:latin typeface="Arial"/>
                <a:ea typeface="Arial"/>
                <a:cs typeface="Arial"/>
                <a:sym typeface="Arial"/>
              </a:rPr>
              <a:t>Paamayim Nekudotayim ::</a:t>
            </a:r>
            <a:endParaRPr sz="3500"/>
          </a:p>
        </p:txBody>
      </p:sp>
      <p:sp>
        <p:nvSpPr>
          <p:cNvPr id="248" name="Google Shape;248;g3d10798bb04_0_130"/>
          <p:cNvSpPr txBox="1"/>
          <p:nvPr>
            <p:ph idx="1" type="body"/>
          </p:nvPr>
        </p:nvSpPr>
        <p:spPr>
          <a:xfrm>
            <a:off x="838200" y="1196100"/>
            <a:ext cx="10515600" cy="5192400"/>
          </a:xfrm>
          <a:prstGeom prst="rect">
            <a:avLst/>
          </a:prstGeom>
        </p:spPr>
        <p:txBody>
          <a:bodyPr anchorCtr="0" anchor="t" bIns="45700" lIns="91425" spcFirstLastPara="1" rIns="91425" wrap="square" tIns="45700">
            <a:normAutofit fontScale="77500"/>
          </a:bodyPr>
          <a:lstStyle/>
          <a:p>
            <a:pPr indent="-386080" lvl="0" marL="457200" rtl="0" algn="just">
              <a:lnSpc>
                <a:spcPct val="100000"/>
              </a:lnSpc>
              <a:spcBef>
                <a:spcPts val="360"/>
              </a:spcBef>
              <a:spcAft>
                <a:spcPts val="0"/>
              </a:spcAft>
              <a:buClr>
                <a:srgbClr val="292934"/>
              </a:buClr>
              <a:buSzPct val="100000"/>
              <a:buFont typeface="Arial"/>
              <a:buChar char="•"/>
            </a:pPr>
            <a:r>
              <a:rPr lang="en-US" sz="3200">
                <a:solidFill>
                  <a:srgbClr val="292934"/>
                </a:solidFill>
                <a:latin typeface="Arial"/>
                <a:ea typeface="Arial"/>
                <a:cs typeface="Arial"/>
                <a:sym typeface="Arial"/>
              </a:rPr>
              <a:t>It is a token that allows access to static, constant, and overridden properties or methods of a class. When referencing these items from outside the class definition, use the name of the class.</a:t>
            </a:r>
            <a:endParaRPr sz="2400">
              <a:solidFill>
                <a:srgbClr val="292934"/>
              </a:solidFill>
              <a:latin typeface="Arial"/>
              <a:ea typeface="Arial"/>
              <a:cs typeface="Arial"/>
              <a:sym typeface="Arial"/>
            </a:endParaRPr>
          </a:p>
          <a:p>
            <a:pPr indent="-386080" lvl="0" marL="457200" rtl="0" algn="just">
              <a:lnSpc>
                <a:spcPct val="100000"/>
              </a:lnSpc>
              <a:spcBef>
                <a:spcPts val="0"/>
              </a:spcBef>
              <a:spcAft>
                <a:spcPts val="0"/>
              </a:spcAft>
              <a:buClr>
                <a:srgbClr val="292934"/>
              </a:buClr>
              <a:buSzPct val="100000"/>
              <a:buFont typeface="Arial"/>
              <a:buChar char="•"/>
            </a:pPr>
            <a:r>
              <a:rPr lang="en-US" sz="3200">
                <a:solidFill>
                  <a:srgbClr val="292934"/>
                </a:solidFill>
                <a:latin typeface="Arial"/>
                <a:ea typeface="Arial"/>
                <a:cs typeface="Arial"/>
                <a:sym typeface="Arial"/>
              </a:rPr>
              <a:t>It's possible to reference the class using a variable. The variable's value can not be a keyword (e.g. self, parent and static).</a:t>
            </a:r>
            <a:endParaRPr sz="3200">
              <a:solidFill>
                <a:srgbClr val="292934"/>
              </a:solidFill>
              <a:latin typeface="Arial"/>
              <a:ea typeface="Arial"/>
              <a:cs typeface="Arial"/>
              <a:sym typeface="Arial"/>
            </a:endParaRPr>
          </a:p>
          <a:p>
            <a:pPr indent="0" lvl="0" marL="131445" rtl="0" algn="just">
              <a:lnSpc>
                <a:spcPct val="100000"/>
              </a:lnSpc>
              <a:spcBef>
                <a:spcPts val="360"/>
              </a:spcBef>
              <a:spcAft>
                <a:spcPts val="0"/>
              </a:spcAft>
              <a:buClr>
                <a:schemeClr val="dk1"/>
              </a:buClr>
              <a:buSzPct val="47812"/>
              <a:buFont typeface="Arial"/>
              <a:buNone/>
            </a:pPr>
            <a:r>
              <a:t/>
            </a:r>
            <a:endParaRPr sz="3200">
              <a:solidFill>
                <a:srgbClr val="292934"/>
              </a:solidFill>
              <a:latin typeface="Arial"/>
              <a:ea typeface="Arial"/>
              <a:cs typeface="Arial"/>
              <a:sym typeface="Arial"/>
            </a:endParaRPr>
          </a:p>
          <a:p>
            <a:pPr indent="0" lvl="0" marL="0" rtl="0" algn="just">
              <a:lnSpc>
                <a:spcPct val="100000"/>
              </a:lnSpc>
              <a:spcBef>
                <a:spcPts val="0"/>
              </a:spcBef>
              <a:spcAft>
                <a:spcPts val="0"/>
              </a:spcAft>
              <a:buClr>
                <a:srgbClr val="D2533C"/>
              </a:buClr>
              <a:buSzPct val="36000"/>
              <a:buFont typeface="Arial"/>
              <a:buNone/>
            </a:pPr>
            <a:r>
              <a:rPr b="1" lang="en-US" sz="5000">
                <a:solidFill>
                  <a:srgbClr val="D2533C"/>
                </a:solidFill>
                <a:latin typeface="Arial"/>
                <a:ea typeface="Arial"/>
                <a:cs typeface="Arial"/>
                <a:sym typeface="Arial"/>
              </a:rPr>
              <a:t>Do you know?</a:t>
            </a:r>
            <a:endParaRPr sz="3600">
              <a:solidFill>
                <a:srgbClr val="292934"/>
              </a:solidFill>
              <a:latin typeface="Arial"/>
              <a:ea typeface="Arial"/>
              <a:cs typeface="Arial"/>
              <a:sym typeface="Arial"/>
            </a:endParaRPr>
          </a:p>
          <a:p>
            <a:pPr indent="0" lvl="0" marL="131445" rtl="0" algn="just">
              <a:lnSpc>
                <a:spcPct val="100000"/>
              </a:lnSpc>
              <a:spcBef>
                <a:spcPts val="360"/>
              </a:spcBef>
              <a:spcAft>
                <a:spcPts val="0"/>
              </a:spcAft>
              <a:buClr>
                <a:schemeClr val="dk1"/>
              </a:buClr>
              <a:buSzPct val="42500"/>
              <a:buFont typeface="Arial"/>
              <a:buNone/>
            </a:pPr>
            <a:r>
              <a:rPr lang="en-US" sz="3600">
                <a:solidFill>
                  <a:srgbClr val="292934"/>
                </a:solidFill>
                <a:latin typeface="Arial"/>
                <a:ea typeface="Arial"/>
                <a:cs typeface="Arial"/>
                <a:sym typeface="Arial"/>
              </a:rPr>
              <a:t>Paamayim Nekudotayim would, at first, seem like a strange choice for naming a double-colon. However, while writing the Zend Engine 0.5 (which powers PHP 3), that's what the Zend team decided to call it. It actually does mean double-colon - in Hebrew!</a:t>
            </a:r>
            <a:endParaRPr/>
          </a:p>
        </p:txBody>
      </p:sp>
      <p:pic>
        <p:nvPicPr>
          <p:cNvPr id="249" name="Google Shape;249;g3d10798bb04_0_130"/>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d10798bb04_0_58"/>
          <p:cNvSpPr txBox="1"/>
          <p:nvPr>
            <p:ph type="title"/>
          </p:nvPr>
        </p:nvSpPr>
        <p:spPr>
          <a:xfrm>
            <a:off x="838200" y="935825"/>
            <a:ext cx="10515600" cy="7551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0"/>
              </a:spcBef>
              <a:spcAft>
                <a:spcPts val="0"/>
              </a:spcAft>
              <a:buClr>
                <a:schemeClr val="dk1"/>
              </a:buClr>
              <a:buSzPct val="33333"/>
              <a:buFont typeface="Arial"/>
              <a:buNone/>
            </a:pPr>
            <a:r>
              <a:t/>
            </a:r>
            <a:endParaRPr sz="3300">
              <a:latin typeface="Arial"/>
              <a:ea typeface="Arial"/>
              <a:cs typeface="Arial"/>
              <a:sym typeface="Arial"/>
            </a:endParaRPr>
          </a:p>
          <a:p>
            <a:pPr indent="0" lvl="0" marL="0" rtl="0" algn="l">
              <a:spcBef>
                <a:spcPts val="0"/>
              </a:spcBef>
              <a:spcAft>
                <a:spcPts val="0"/>
              </a:spcAft>
              <a:buNone/>
            </a:pPr>
            <a:r>
              <a:t/>
            </a:r>
            <a:endParaRPr/>
          </a:p>
        </p:txBody>
      </p:sp>
      <p:sp>
        <p:nvSpPr>
          <p:cNvPr id="255" name="Google Shape;255;g3d10798bb04_0_58"/>
          <p:cNvSpPr txBox="1"/>
          <p:nvPr>
            <p:ph idx="1" type="body"/>
          </p:nvPr>
        </p:nvSpPr>
        <p:spPr>
          <a:xfrm>
            <a:off x="539400" y="2308025"/>
            <a:ext cx="10931100" cy="38691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None/>
            </a:pPr>
            <a:r>
              <a:rPr lang="en-US" sz="3200">
                <a:latin typeface="Arial"/>
                <a:ea typeface="Arial"/>
                <a:cs typeface="Arial"/>
                <a:sym typeface="Arial"/>
              </a:rPr>
              <a:t>Closure Function:</a:t>
            </a:r>
            <a:endParaRPr sz="3200">
              <a:latin typeface="Arial"/>
              <a:ea typeface="Arial"/>
              <a:cs typeface="Arial"/>
              <a:sym typeface="Arial"/>
            </a:endParaRPr>
          </a:p>
          <a:p>
            <a:pPr indent="-355600" lvl="0" marL="457200" rtl="0" algn="l">
              <a:lnSpc>
                <a:spcPct val="115000"/>
              </a:lnSpc>
              <a:spcBef>
                <a:spcPts val="2000"/>
              </a:spcBef>
              <a:spcAft>
                <a:spcPts val="0"/>
              </a:spcAft>
              <a:buSzPts val="2000"/>
              <a:buChar char="●"/>
            </a:pPr>
            <a:r>
              <a:rPr lang="en-US" sz="2000">
                <a:latin typeface="Arial"/>
                <a:ea typeface="Arial"/>
                <a:cs typeface="Arial"/>
                <a:sym typeface="Arial"/>
              </a:rPr>
              <a:t>The second parameter of Route::get is a closure (anonymous function). This function will execute when the route is accessed.</a:t>
            </a:r>
            <a:endParaRPr sz="2000">
              <a:latin typeface="Arial"/>
              <a:ea typeface="Arial"/>
              <a:cs typeface="Arial"/>
              <a:sym typeface="Arial"/>
            </a:endParaRPr>
          </a:p>
          <a:p>
            <a:pPr indent="0" lvl="0" marL="0" rtl="0" algn="l">
              <a:lnSpc>
                <a:spcPct val="115000"/>
              </a:lnSpc>
              <a:spcBef>
                <a:spcPts val="2000"/>
              </a:spcBef>
              <a:spcAft>
                <a:spcPts val="0"/>
              </a:spcAft>
              <a:buNone/>
            </a:pPr>
            <a:r>
              <a:rPr lang="en-US" sz="3300">
                <a:latin typeface="Arial"/>
                <a:ea typeface="Arial"/>
                <a:cs typeface="Arial"/>
                <a:sym typeface="Arial"/>
              </a:rPr>
              <a:t>Returning a View:</a:t>
            </a:r>
            <a:endParaRPr sz="3300">
              <a:latin typeface="Arial"/>
              <a:ea typeface="Arial"/>
              <a:cs typeface="Arial"/>
              <a:sym typeface="Arial"/>
            </a:endParaRPr>
          </a:p>
          <a:p>
            <a:pPr indent="-365125" lvl="0" marL="457200" rtl="0" algn="l">
              <a:lnSpc>
                <a:spcPct val="115000"/>
              </a:lnSpc>
              <a:spcBef>
                <a:spcPts val="1200"/>
              </a:spcBef>
              <a:spcAft>
                <a:spcPts val="0"/>
              </a:spcAft>
              <a:buSzPts val="2150"/>
              <a:buChar char="●"/>
            </a:pPr>
            <a:r>
              <a:rPr lang="en-US" sz="2150">
                <a:latin typeface="Arial"/>
                <a:ea typeface="Arial"/>
                <a:cs typeface="Arial"/>
                <a:sym typeface="Arial"/>
              </a:rPr>
              <a:t>Inside the closure, return view('welcome'); tells Laravel to render and return a Blade view named 'welcome'. Laravel assumes the view file is located at resources/views/welcome.blade.php.</a:t>
            </a:r>
            <a:endParaRPr sz="2150"/>
          </a:p>
        </p:txBody>
      </p:sp>
      <p:sp>
        <p:nvSpPr>
          <p:cNvPr id="256" name="Google Shape;256;g3d10798bb04_0_58"/>
          <p:cNvSpPr txBox="1"/>
          <p:nvPr/>
        </p:nvSpPr>
        <p:spPr>
          <a:xfrm>
            <a:off x="539400" y="318725"/>
            <a:ext cx="10814400" cy="193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3300">
                <a:solidFill>
                  <a:schemeClr val="dk1"/>
                </a:solidFill>
              </a:rPr>
              <a:t>Route::get('/')</a:t>
            </a:r>
            <a:endParaRPr sz="3300">
              <a:solidFill>
                <a:schemeClr val="dk1"/>
              </a:solidFill>
            </a:endParaRPr>
          </a:p>
          <a:p>
            <a:pPr indent="-355600" lvl="0" marL="457200" rtl="0" algn="l">
              <a:lnSpc>
                <a:spcPct val="115000"/>
              </a:lnSpc>
              <a:spcBef>
                <a:spcPts val="1200"/>
              </a:spcBef>
              <a:spcAft>
                <a:spcPts val="0"/>
              </a:spcAft>
              <a:buClr>
                <a:schemeClr val="dk1"/>
              </a:buClr>
              <a:buSzPts val="2000"/>
              <a:buChar char="●"/>
            </a:pPr>
            <a:r>
              <a:rPr lang="en-US" sz="2000">
                <a:solidFill>
                  <a:schemeClr val="dk1"/>
                </a:solidFill>
              </a:rPr>
              <a:t>Route::get('/') defines a route for a GET request to the root URL (/) of your application.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The root URL typically refers to the base of your web application, e.g., http://yourdomain.com/.</a:t>
            </a:r>
            <a:endParaRPr sz="2000"/>
          </a:p>
        </p:txBody>
      </p:sp>
      <p:pic>
        <p:nvPicPr>
          <p:cNvPr id="257" name="Google Shape;257;g3d10798bb04_0_58"/>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3d10798bb04_0_140"/>
          <p:cNvSpPr txBox="1"/>
          <p:nvPr>
            <p:ph type="title"/>
          </p:nvPr>
        </p:nvSpPr>
        <p:spPr>
          <a:xfrm>
            <a:off x="682575" y="114375"/>
            <a:ext cx="9955200" cy="10557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D2533C"/>
              </a:buClr>
              <a:buSzPts val="2000"/>
              <a:buFont typeface="Arial"/>
              <a:buNone/>
            </a:pPr>
            <a:r>
              <a:rPr b="1" lang="en-US" sz="2700">
                <a:solidFill>
                  <a:srgbClr val="D2533C"/>
                </a:solidFill>
                <a:latin typeface="Arial"/>
                <a:ea typeface="Arial"/>
                <a:cs typeface="Arial"/>
                <a:sym typeface="Arial"/>
              </a:rPr>
              <a:t>What is the purpose of the web.php routes file in Laravel?</a:t>
            </a:r>
            <a:endParaRPr sz="2700"/>
          </a:p>
        </p:txBody>
      </p:sp>
      <p:sp>
        <p:nvSpPr>
          <p:cNvPr id="263" name="Google Shape;263;g3d10798bb04_0_140"/>
          <p:cNvSpPr txBox="1"/>
          <p:nvPr>
            <p:ph idx="1" type="body"/>
          </p:nvPr>
        </p:nvSpPr>
        <p:spPr>
          <a:xfrm>
            <a:off x="617500" y="935825"/>
            <a:ext cx="10736400" cy="5621700"/>
          </a:xfrm>
          <a:prstGeom prst="rect">
            <a:avLst/>
          </a:prstGeom>
        </p:spPr>
        <p:txBody>
          <a:bodyPr anchorCtr="0" anchor="t" bIns="45700" lIns="91425" spcFirstLastPara="1" rIns="91425" wrap="square" tIns="45700">
            <a:normAutofit/>
          </a:bodyPr>
          <a:lstStyle/>
          <a:p>
            <a:pPr indent="-390525" lvl="0" marL="457200" rtl="0" algn="l">
              <a:lnSpc>
                <a:spcPct val="100000"/>
              </a:lnSpc>
              <a:spcBef>
                <a:spcPts val="360"/>
              </a:spcBef>
              <a:spcAft>
                <a:spcPts val="0"/>
              </a:spcAft>
              <a:buClr>
                <a:srgbClr val="00B050"/>
              </a:buClr>
              <a:buSzPts val="2550"/>
              <a:buFont typeface="Arial"/>
              <a:buChar char="•"/>
            </a:pPr>
            <a:r>
              <a:rPr b="1" lang="en-US" sz="2550">
                <a:solidFill>
                  <a:srgbClr val="00B050"/>
                </a:solidFill>
                <a:latin typeface="Arial"/>
                <a:ea typeface="Arial"/>
                <a:cs typeface="Arial"/>
                <a:sym typeface="Arial"/>
              </a:rPr>
              <a:t>a) It defines routes for web application routes and middleware.</a:t>
            </a:r>
            <a:endParaRPr sz="2550">
              <a:solidFill>
                <a:srgbClr val="292934"/>
              </a:solidFill>
              <a:latin typeface="Arial"/>
              <a:ea typeface="Arial"/>
              <a:cs typeface="Arial"/>
              <a:sym typeface="Arial"/>
            </a:endParaRPr>
          </a:p>
          <a:p>
            <a:pPr indent="-390525" lvl="0" marL="457200" rtl="0" algn="l">
              <a:lnSpc>
                <a:spcPct val="100000"/>
              </a:lnSpc>
              <a:spcBef>
                <a:spcPts val="360"/>
              </a:spcBef>
              <a:spcAft>
                <a:spcPts val="0"/>
              </a:spcAft>
              <a:buClr>
                <a:srgbClr val="93A299"/>
              </a:buClr>
              <a:buSzPts val="2550"/>
              <a:buChar char="•"/>
            </a:pPr>
            <a:r>
              <a:rPr lang="en-US" sz="2550">
                <a:solidFill>
                  <a:srgbClr val="292934"/>
                </a:solidFill>
                <a:latin typeface="Arial"/>
                <a:ea typeface="Arial"/>
                <a:cs typeface="Arial"/>
                <a:sym typeface="Arial"/>
              </a:rPr>
              <a:t>b) It defines routes specifically for API endpoints.</a:t>
            </a:r>
            <a:endParaRPr sz="2550">
              <a:solidFill>
                <a:srgbClr val="292934"/>
              </a:solidFill>
              <a:latin typeface="Arial"/>
              <a:ea typeface="Arial"/>
              <a:cs typeface="Arial"/>
              <a:sym typeface="Arial"/>
            </a:endParaRPr>
          </a:p>
          <a:p>
            <a:pPr indent="-390525" lvl="0" marL="457200" rtl="0" algn="l">
              <a:lnSpc>
                <a:spcPct val="100000"/>
              </a:lnSpc>
              <a:spcBef>
                <a:spcPts val="360"/>
              </a:spcBef>
              <a:spcAft>
                <a:spcPts val="0"/>
              </a:spcAft>
              <a:buClr>
                <a:srgbClr val="93A299"/>
              </a:buClr>
              <a:buSzPts val="2550"/>
              <a:buChar char="•"/>
            </a:pPr>
            <a:r>
              <a:rPr lang="en-US" sz="2550">
                <a:solidFill>
                  <a:srgbClr val="292934"/>
                </a:solidFill>
                <a:latin typeface="Arial"/>
                <a:ea typeface="Arial"/>
                <a:cs typeface="Arial"/>
                <a:sym typeface="Arial"/>
              </a:rPr>
              <a:t>c) It defines routes for console commands and tasks.</a:t>
            </a:r>
            <a:endParaRPr sz="2550">
              <a:solidFill>
                <a:srgbClr val="292934"/>
              </a:solidFill>
              <a:latin typeface="Arial"/>
              <a:ea typeface="Arial"/>
              <a:cs typeface="Arial"/>
              <a:sym typeface="Arial"/>
            </a:endParaRPr>
          </a:p>
          <a:p>
            <a:pPr indent="-390525" lvl="0" marL="457200" rtl="0" algn="l">
              <a:lnSpc>
                <a:spcPct val="100000"/>
              </a:lnSpc>
              <a:spcBef>
                <a:spcPts val="360"/>
              </a:spcBef>
              <a:spcAft>
                <a:spcPts val="0"/>
              </a:spcAft>
              <a:buClr>
                <a:srgbClr val="93A299"/>
              </a:buClr>
              <a:buSzPts val="2550"/>
              <a:buChar char="•"/>
            </a:pPr>
            <a:r>
              <a:rPr lang="en-US" sz="2550">
                <a:solidFill>
                  <a:srgbClr val="292934"/>
                </a:solidFill>
                <a:latin typeface="Arial"/>
                <a:ea typeface="Arial"/>
                <a:cs typeface="Arial"/>
                <a:sym typeface="Arial"/>
              </a:rPr>
              <a:t>d) It defines routes for unit testing</a:t>
            </a:r>
            <a:endParaRPr sz="2550">
              <a:solidFill>
                <a:srgbClr val="292934"/>
              </a:solidFill>
              <a:latin typeface="Arial"/>
              <a:ea typeface="Arial"/>
              <a:cs typeface="Arial"/>
              <a:sym typeface="Arial"/>
            </a:endParaRPr>
          </a:p>
          <a:p>
            <a:pPr indent="0" lvl="0" marL="457200" rtl="0" algn="l">
              <a:lnSpc>
                <a:spcPct val="100000"/>
              </a:lnSpc>
              <a:spcBef>
                <a:spcPts val="360"/>
              </a:spcBef>
              <a:spcAft>
                <a:spcPts val="0"/>
              </a:spcAft>
              <a:buNone/>
            </a:pPr>
            <a:r>
              <a:t/>
            </a:r>
            <a:endParaRPr>
              <a:solidFill>
                <a:srgbClr val="292934"/>
              </a:solidFill>
              <a:latin typeface="Arial"/>
              <a:ea typeface="Arial"/>
              <a:cs typeface="Arial"/>
              <a:sym typeface="Arial"/>
            </a:endParaRPr>
          </a:p>
          <a:p>
            <a:pPr indent="0" lvl="0" marL="0" rtl="0" algn="l">
              <a:lnSpc>
                <a:spcPct val="100000"/>
              </a:lnSpc>
              <a:spcBef>
                <a:spcPts val="0"/>
              </a:spcBef>
              <a:spcAft>
                <a:spcPts val="0"/>
              </a:spcAft>
              <a:buNone/>
            </a:pPr>
            <a:r>
              <a:rPr b="1" lang="en-US" sz="3150">
                <a:solidFill>
                  <a:srgbClr val="D2533C"/>
                </a:solidFill>
                <a:latin typeface="Arial"/>
                <a:ea typeface="Arial"/>
                <a:cs typeface="Arial"/>
                <a:sym typeface="Arial"/>
              </a:rPr>
              <a:t>Command to get the route list in Laravel</a:t>
            </a:r>
            <a:endParaRPr b="1" sz="3150">
              <a:solidFill>
                <a:srgbClr val="111827"/>
              </a:solidFill>
              <a:latin typeface="Arial"/>
              <a:ea typeface="Arial"/>
              <a:cs typeface="Arial"/>
              <a:sym typeface="Arial"/>
            </a:endParaRPr>
          </a:p>
          <a:p>
            <a:pPr indent="-390525" lvl="0" marL="457200" rtl="0" algn="l">
              <a:lnSpc>
                <a:spcPct val="100000"/>
              </a:lnSpc>
              <a:spcBef>
                <a:spcPts val="360"/>
              </a:spcBef>
              <a:spcAft>
                <a:spcPts val="0"/>
              </a:spcAft>
              <a:buClr>
                <a:srgbClr val="93A299"/>
              </a:buClr>
              <a:buSzPts val="2550"/>
              <a:buChar char="•"/>
            </a:pPr>
            <a:r>
              <a:rPr b="1" lang="en-US" sz="2550">
                <a:solidFill>
                  <a:srgbClr val="111827"/>
                </a:solidFill>
                <a:latin typeface="Arial"/>
                <a:ea typeface="Arial"/>
                <a:cs typeface="Arial"/>
                <a:sym typeface="Arial"/>
              </a:rPr>
              <a:t>php artisan route:list</a:t>
            </a:r>
            <a:endParaRPr b="1" sz="2550">
              <a:solidFill>
                <a:srgbClr val="111827"/>
              </a:solidFill>
              <a:latin typeface="Arial"/>
              <a:ea typeface="Arial"/>
              <a:cs typeface="Arial"/>
              <a:sym typeface="Arial"/>
            </a:endParaRPr>
          </a:p>
          <a:p>
            <a:pPr indent="0" lvl="0" marL="457200" rtl="0" algn="l">
              <a:lnSpc>
                <a:spcPct val="100000"/>
              </a:lnSpc>
              <a:spcBef>
                <a:spcPts val="360"/>
              </a:spcBef>
              <a:spcAft>
                <a:spcPts val="0"/>
              </a:spcAft>
              <a:buNone/>
            </a:pPr>
            <a:r>
              <a:t/>
            </a:r>
            <a:endParaRPr b="1" sz="2550">
              <a:solidFill>
                <a:srgbClr val="111827"/>
              </a:solidFill>
              <a:latin typeface="Arial"/>
              <a:ea typeface="Arial"/>
              <a:cs typeface="Arial"/>
              <a:sym typeface="Arial"/>
            </a:endParaRPr>
          </a:p>
          <a:p>
            <a:pPr indent="0" lvl="0" marL="0" rtl="0" algn="l">
              <a:lnSpc>
                <a:spcPct val="100000"/>
              </a:lnSpc>
              <a:spcBef>
                <a:spcPts val="0"/>
              </a:spcBef>
              <a:spcAft>
                <a:spcPts val="0"/>
              </a:spcAft>
              <a:buNone/>
            </a:pPr>
            <a:r>
              <a:rPr b="1" lang="en-US" sz="3150">
                <a:solidFill>
                  <a:srgbClr val="D2533C"/>
                </a:solidFill>
                <a:latin typeface="Arial"/>
                <a:ea typeface="Arial"/>
                <a:cs typeface="Arial"/>
                <a:sym typeface="Arial"/>
              </a:rPr>
              <a:t>In Laravel, where are the routes primarily defined?</a:t>
            </a:r>
            <a:endParaRPr sz="3150">
              <a:solidFill>
                <a:srgbClr val="292934"/>
              </a:solidFill>
              <a:latin typeface="Arial"/>
              <a:ea typeface="Arial"/>
              <a:cs typeface="Arial"/>
              <a:sym typeface="Arial"/>
            </a:endParaRPr>
          </a:p>
          <a:p>
            <a:pPr indent="-368300" lvl="0" marL="457200" rtl="0" algn="l">
              <a:lnSpc>
                <a:spcPct val="100000"/>
              </a:lnSpc>
              <a:spcBef>
                <a:spcPts val="360"/>
              </a:spcBef>
              <a:spcAft>
                <a:spcPts val="0"/>
              </a:spcAft>
              <a:buClr>
                <a:srgbClr val="93A299"/>
              </a:buClr>
              <a:buSzPts val="2200"/>
              <a:buChar char="•"/>
            </a:pPr>
            <a:r>
              <a:rPr lang="en-US" sz="2200">
                <a:solidFill>
                  <a:srgbClr val="292934"/>
                </a:solidFill>
                <a:latin typeface="Arial"/>
                <a:ea typeface="Arial"/>
                <a:cs typeface="Arial"/>
                <a:sym typeface="Arial"/>
              </a:rPr>
              <a:t>a) In the app/routes.php file</a:t>
            </a:r>
            <a:endParaRPr sz="2200">
              <a:solidFill>
                <a:srgbClr val="292934"/>
              </a:solidFill>
              <a:latin typeface="Arial"/>
              <a:ea typeface="Arial"/>
              <a:cs typeface="Arial"/>
              <a:sym typeface="Arial"/>
            </a:endParaRPr>
          </a:p>
          <a:p>
            <a:pPr indent="-368300" lvl="0" marL="457200" rtl="0" algn="l">
              <a:lnSpc>
                <a:spcPct val="100000"/>
              </a:lnSpc>
              <a:spcBef>
                <a:spcPts val="360"/>
              </a:spcBef>
              <a:spcAft>
                <a:spcPts val="0"/>
              </a:spcAft>
              <a:buClr>
                <a:srgbClr val="93A299"/>
              </a:buClr>
              <a:buSzPts val="2200"/>
              <a:buChar char="•"/>
            </a:pPr>
            <a:r>
              <a:rPr lang="en-US" sz="2200">
                <a:solidFill>
                  <a:srgbClr val="292934"/>
                </a:solidFill>
                <a:latin typeface="Arial"/>
                <a:ea typeface="Arial"/>
                <a:cs typeface="Arial"/>
                <a:sym typeface="Arial"/>
              </a:rPr>
              <a:t>b) In the routes folder within the app directory</a:t>
            </a:r>
            <a:endParaRPr sz="2200">
              <a:solidFill>
                <a:srgbClr val="292934"/>
              </a:solidFill>
              <a:latin typeface="Arial"/>
              <a:ea typeface="Arial"/>
              <a:cs typeface="Arial"/>
              <a:sym typeface="Arial"/>
            </a:endParaRPr>
          </a:p>
          <a:p>
            <a:pPr indent="-368300" lvl="0" marL="457200" rtl="0" algn="l">
              <a:lnSpc>
                <a:spcPct val="100000"/>
              </a:lnSpc>
              <a:spcBef>
                <a:spcPts val="360"/>
              </a:spcBef>
              <a:spcAft>
                <a:spcPts val="0"/>
              </a:spcAft>
              <a:buClr>
                <a:srgbClr val="93A299"/>
              </a:buClr>
              <a:buSzPts val="2200"/>
              <a:buChar char="•"/>
            </a:pPr>
            <a:r>
              <a:rPr lang="en-US" sz="2200">
                <a:solidFill>
                  <a:srgbClr val="292934"/>
                </a:solidFill>
                <a:latin typeface="Arial"/>
                <a:ea typeface="Arial"/>
                <a:cs typeface="Arial"/>
                <a:sym typeface="Arial"/>
              </a:rPr>
              <a:t>c) In the .env configuration file</a:t>
            </a:r>
            <a:endParaRPr sz="2200">
              <a:solidFill>
                <a:srgbClr val="292934"/>
              </a:solidFill>
              <a:latin typeface="Arial"/>
              <a:ea typeface="Arial"/>
              <a:cs typeface="Arial"/>
              <a:sym typeface="Arial"/>
            </a:endParaRPr>
          </a:p>
          <a:p>
            <a:pPr indent="-368300" lvl="0" marL="457200" rtl="0" algn="l">
              <a:lnSpc>
                <a:spcPct val="100000"/>
              </a:lnSpc>
              <a:spcBef>
                <a:spcPts val="360"/>
              </a:spcBef>
              <a:spcAft>
                <a:spcPts val="0"/>
              </a:spcAft>
              <a:buClr>
                <a:srgbClr val="93A299"/>
              </a:buClr>
              <a:buSzPts val="2200"/>
              <a:buChar char="•"/>
            </a:pPr>
            <a:r>
              <a:rPr b="1" lang="en-US" sz="2200">
                <a:solidFill>
                  <a:srgbClr val="00B050"/>
                </a:solidFill>
                <a:latin typeface="Arial"/>
                <a:ea typeface="Arial"/>
                <a:cs typeface="Arial"/>
                <a:sym typeface="Arial"/>
              </a:rPr>
              <a:t>d) In the web.php or api.php files within the routes directory</a:t>
            </a:r>
            <a:endParaRPr sz="2200"/>
          </a:p>
        </p:txBody>
      </p:sp>
      <p:pic>
        <p:nvPicPr>
          <p:cNvPr id="264" name="Google Shape;264;g3d10798bb04_0_140"/>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3d10798bb04_0_155"/>
          <p:cNvSpPr txBox="1"/>
          <p:nvPr>
            <p:ph type="title"/>
          </p:nvPr>
        </p:nvSpPr>
        <p:spPr>
          <a:xfrm>
            <a:off x="526500" y="114375"/>
            <a:ext cx="10827300" cy="1107600"/>
          </a:xfrm>
          <a:prstGeom prst="rect">
            <a:avLst/>
          </a:prstGeom>
        </p:spPr>
        <p:txBody>
          <a:bodyPr anchorCtr="0" anchor="ctr" bIns="45700" lIns="91425" spcFirstLastPara="1" rIns="91425" wrap="square" tIns="45700">
            <a:normAutofit/>
          </a:bodyPr>
          <a:lstStyle/>
          <a:p>
            <a:pPr indent="0" lvl="0" marL="0" rtl="0" algn="just">
              <a:lnSpc>
                <a:spcPct val="100000"/>
              </a:lnSpc>
              <a:spcBef>
                <a:spcPts val="0"/>
              </a:spcBef>
              <a:spcAft>
                <a:spcPts val="0"/>
              </a:spcAft>
              <a:buClr>
                <a:srgbClr val="D2533C"/>
              </a:buClr>
              <a:buSzPts val="1800"/>
              <a:buFont typeface="Arial"/>
              <a:buNone/>
            </a:pPr>
            <a:r>
              <a:rPr b="1" lang="en-US" sz="4000">
                <a:solidFill>
                  <a:srgbClr val="D2533C"/>
                </a:solidFill>
                <a:latin typeface="Arial"/>
                <a:ea typeface="Arial"/>
                <a:cs typeface="Arial"/>
                <a:sym typeface="Arial"/>
              </a:rPr>
              <a:t>HTTP Methods</a:t>
            </a:r>
            <a:endParaRPr/>
          </a:p>
        </p:txBody>
      </p:sp>
      <p:sp>
        <p:nvSpPr>
          <p:cNvPr id="270" name="Google Shape;270;g3d10798bb04_0_155"/>
          <p:cNvSpPr txBox="1"/>
          <p:nvPr>
            <p:ph idx="1" type="body"/>
          </p:nvPr>
        </p:nvSpPr>
        <p:spPr>
          <a:xfrm>
            <a:off x="526400" y="1091975"/>
            <a:ext cx="10827300" cy="5084700"/>
          </a:xfrm>
          <a:prstGeom prst="rect">
            <a:avLst/>
          </a:prstGeom>
        </p:spPr>
        <p:txBody>
          <a:bodyPr anchorCtr="0" anchor="t" bIns="45700" lIns="91425" spcFirstLastPara="1" rIns="91425" wrap="square" tIns="45700">
            <a:normAutofit fontScale="62500"/>
          </a:bodyPr>
          <a:lstStyle/>
          <a:p>
            <a:pPr indent="0" lvl="0" marL="0" rtl="0" algn="just">
              <a:lnSpc>
                <a:spcPct val="100000"/>
              </a:lnSpc>
              <a:spcBef>
                <a:spcPts val="360"/>
              </a:spcBef>
              <a:spcAft>
                <a:spcPts val="0"/>
              </a:spcAft>
              <a:buNone/>
            </a:pPr>
            <a:r>
              <a:rPr b="1" lang="en-US" sz="4000">
                <a:solidFill>
                  <a:srgbClr val="292934"/>
                </a:solidFill>
                <a:latin typeface="Arial"/>
                <a:ea typeface="Arial"/>
                <a:cs typeface="Arial"/>
                <a:sym typeface="Arial"/>
              </a:rPr>
              <a:t>GET</a:t>
            </a:r>
            <a:r>
              <a:rPr lang="en-US" sz="4000">
                <a:solidFill>
                  <a:srgbClr val="292934"/>
                </a:solidFill>
                <a:latin typeface="Arial"/>
                <a:ea typeface="Arial"/>
                <a:cs typeface="Arial"/>
                <a:sym typeface="Arial"/>
              </a:rPr>
              <a:t>, </a:t>
            </a:r>
            <a:r>
              <a:rPr b="1" lang="en-US" sz="4000">
                <a:solidFill>
                  <a:srgbClr val="292934"/>
                </a:solidFill>
                <a:latin typeface="Arial"/>
                <a:ea typeface="Arial"/>
                <a:cs typeface="Arial"/>
                <a:sym typeface="Arial"/>
              </a:rPr>
              <a:t>POST</a:t>
            </a:r>
            <a:r>
              <a:rPr lang="en-US" sz="4000">
                <a:solidFill>
                  <a:srgbClr val="292934"/>
                </a:solidFill>
                <a:latin typeface="Arial"/>
                <a:ea typeface="Arial"/>
                <a:cs typeface="Arial"/>
                <a:sym typeface="Arial"/>
              </a:rPr>
              <a:t>, </a:t>
            </a:r>
            <a:r>
              <a:rPr b="1" lang="en-US" sz="4000">
                <a:solidFill>
                  <a:srgbClr val="292934"/>
                </a:solidFill>
                <a:latin typeface="Arial"/>
                <a:ea typeface="Arial"/>
                <a:cs typeface="Arial"/>
                <a:sym typeface="Arial"/>
              </a:rPr>
              <a:t>PUT</a:t>
            </a:r>
            <a:r>
              <a:rPr lang="en-US" sz="4000">
                <a:solidFill>
                  <a:srgbClr val="292934"/>
                </a:solidFill>
                <a:latin typeface="Arial"/>
                <a:ea typeface="Arial"/>
                <a:cs typeface="Arial"/>
                <a:sym typeface="Arial"/>
              </a:rPr>
              <a:t>, </a:t>
            </a:r>
            <a:r>
              <a:rPr b="1" lang="en-US" sz="4000">
                <a:solidFill>
                  <a:srgbClr val="292934"/>
                </a:solidFill>
                <a:latin typeface="Arial"/>
                <a:ea typeface="Arial"/>
                <a:cs typeface="Arial"/>
                <a:sym typeface="Arial"/>
              </a:rPr>
              <a:t>PATCH</a:t>
            </a:r>
            <a:r>
              <a:rPr lang="en-US" sz="4000">
                <a:solidFill>
                  <a:srgbClr val="292934"/>
                </a:solidFill>
                <a:latin typeface="Arial"/>
                <a:ea typeface="Arial"/>
                <a:cs typeface="Arial"/>
                <a:sym typeface="Arial"/>
              </a:rPr>
              <a:t>, and </a:t>
            </a:r>
            <a:r>
              <a:rPr b="1" lang="en-US" sz="4000">
                <a:solidFill>
                  <a:srgbClr val="292934"/>
                </a:solidFill>
                <a:latin typeface="Arial"/>
                <a:ea typeface="Arial"/>
                <a:cs typeface="Arial"/>
                <a:sym typeface="Arial"/>
              </a:rPr>
              <a:t>DELETE</a:t>
            </a:r>
            <a:r>
              <a:rPr lang="en-US" sz="4000">
                <a:solidFill>
                  <a:srgbClr val="292934"/>
                </a:solidFill>
                <a:latin typeface="Arial"/>
                <a:ea typeface="Arial"/>
                <a:cs typeface="Arial"/>
                <a:sym typeface="Arial"/>
              </a:rPr>
              <a:t> are the five most common HTTP methods for retrieving from and sending data to a server.</a:t>
            </a:r>
            <a:endParaRPr sz="4000">
              <a:solidFill>
                <a:srgbClr val="292934"/>
              </a:solidFill>
              <a:latin typeface="Arial"/>
              <a:ea typeface="Arial"/>
              <a:cs typeface="Arial"/>
              <a:sym typeface="Arial"/>
            </a:endParaRPr>
          </a:p>
          <a:p>
            <a:pPr indent="0" lvl="0" marL="0" rtl="0" algn="just">
              <a:lnSpc>
                <a:spcPct val="100000"/>
              </a:lnSpc>
              <a:spcBef>
                <a:spcPts val="360"/>
              </a:spcBef>
              <a:spcAft>
                <a:spcPts val="0"/>
              </a:spcAft>
              <a:buNone/>
            </a:pPr>
            <a:r>
              <a:t/>
            </a:r>
            <a:endParaRPr sz="4000">
              <a:solidFill>
                <a:srgbClr val="292934"/>
              </a:solidFill>
              <a:latin typeface="Arial"/>
              <a:ea typeface="Arial"/>
              <a:cs typeface="Arial"/>
              <a:sym typeface="Arial"/>
            </a:endParaRPr>
          </a:p>
          <a:p>
            <a:pPr indent="0" lvl="0" marL="0" rtl="0" algn="just">
              <a:lnSpc>
                <a:spcPct val="100000"/>
              </a:lnSpc>
              <a:spcBef>
                <a:spcPts val="0"/>
              </a:spcBef>
              <a:spcAft>
                <a:spcPts val="0"/>
              </a:spcAft>
              <a:buNone/>
            </a:pPr>
            <a:r>
              <a:rPr b="1" lang="en-US" sz="4000">
                <a:solidFill>
                  <a:srgbClr val="D2533C"/>
                </a:solidFill>
                <a:latin typeface="Arial"/>
                <a:ea typeface="Arial"/>
                <a:cs typeface="Arial"/>
                <a:sym typeface="Arial"/>
              </a:rPr>
              <a:t>The GET method</a:t>
            </a:r>
            <a:endParaRPr b="1" sz="4000">
              <a:solidFill>
                <a:srgbClr val="D2533C"/>
              </a:solidFill>
              <a:latin typeface="Arial"/>
              <a:ea typeface="Arial"/>
              <a:cs typeface="Arial"/>
              <a:sym typeface="Arial"/>
            </a:endParaRPr>
          </a:p>
          <a:p>
            <a:pPr indent="0" lvl="0" marL="0" rtl="0" algn="just">
              <a:lnSpc>
                <a:spcPct val="100000"/>
              </a:lnSpc>
              <a:spcBef>
                <a:spcPts val="360"/>
              </a:spcBef>
              <a:spcAft>
                <a:spcPts val="0"/>
              </a:spcAft>
              <a:buNone/>
            </a:pPr>
            <a:r>
              <a:rPr lang="en-US" sz="3600">
                <a:solidFill>
                  <a:srgbClr val="292934"/>
                </a:solidFill>
                <a:latin typeface="Arial"/>
                <a:ea typeface="Arial"/>
                <a:cs typeface="Arial"/>
                <a:sym typeface="Arial"/>
              </a:rPr>
              <a:t>The GET method is used to retrieve data from the server. </a:t>
            </a:r>
            <a:r>
              <a:rPr b="1" lang="en-US" sz="3600">
                <a:solidFill>
                  <a:srgbClr val="FF0000"/>
                </a:solidFill>
                <a:latin typeface="Arial"/>
                <a:ea typeface="Arial"/>
                <a:cs typeface="Arial"/>
                <a:sym typeface="Arial"/>
              </a:rPr>
              <a:t>This is a read-only method, so it has no risk of mutating or corrupting the data</a:t>
            </a:r>
            <a:r>
              <a:rPr lang="en-US" sz="3600">
                <a:solidFill>
                  <a:srgbClr val="292934"/>
                </a:solidFill>
                <a:latin typeface="Arial"/>
                <a:ea typeface="Arial"/>
                <a:cs typeface="Arial"/>
                <a:sym typeface="Arial"/>
              </a:rPr>
              <a:t>. For example, if we call the get method on our API, we’ll get back a list of all to-dos.</a:t>
            </a:r>
            <a:endParaRPr sz="3600">
              <a:solidFill>
                <a:srgbClr val="292934"/>
              </a:solidFill>
              <a:latin typeface="Arial"/>
              <a:ea typeface="Arial"/>
              <a:cs typeface="Arial"/>
              <a:sym typeface="Arial"/>
            </a:endParaRPr>
          </a:p>
          <a:p>
            <a:pPr indent="0" lvl="0" marL="0" rtl="0" algn="just">
              <a:lnSpc>
                <a:spcPct val="100000"/>
              </a:lnSpc>
              <a:spcBef>
                <a:spcPts val="360"/>
              </a:spcBef>
              <a:spcAft>
                <a:spcPts val="0"/>
              </a:spcAft>
              <a:buNone/>
            </a:pPr>
            <a:r>
              <a:t/>
            </a:r>
            <a:endParaRPr sz="3600">
              <a:solidFill>
                <a:srgbClr val="292934"/>
              </a:solidFill>
              <a:latin typeface="Arial"/>
              <a:ea typeface="Arial"/>
              <a:cs typeface="Arial"/>
              <a:sym typeface="Arial"/>
            </a:endParaRPr>
          </a:p>
          <a:p>
            <a:pPr indent="0" lvl="0" marL="0" rtl="0" algn="just">
              <a:lnSpc>
                <a:spcPct val="100000"/>
              </a:lnSpc>
              <a:spcBef>
                <a:spcPts val="0"/>
              </a:spcBef>
              <a:spcAft>
                <a:spcPts val="0"/>
              </a:spcAft>
              <a:buClr>
                <a:srgbClr val="D2533C"/>
              </a:buClr>
              <a:buSzPct val="45000"/>
              <a:buFont typeface="Arial"/>
              <a:buNone/>
            </a:pPr>
            <a:r>
              <a:rPr b="1" lang="en-US" sz="4000">
                <a:solidFill>
                  <a:srgbClr val="D2533C"/>
                </a:solidFill>
                <a:latin typeface="Arial"/>
                <a:ea typeface="Arial"/>
                <a:cs typeface="Arial"/>
                <a:sym typeface="Arial"/>
              </a:rPr>
              <a:t>The POST method</a:t>
            </a:r>
            <a:endParaRPr b="1" sz="4000">
              <a:solidFill>
                <a:srgbClr val="D2533C"/>
              </a:solidFill>
              <a:latin typeface="Arial"/>
              <a:ea typeface="Arial"/>
              <a:cs typeface="Arial"/>
              <a:sym typeface="Arial"/>
            </a:endParaRPr>
          </a:p>
          <a:p>
            <a:pPr indent="0" lvl="0" marL="131445" rtl="0" algn="just">
              <a:lnSpc>
                <a:spcPct val="100000"/>
              </a:lnSpc>
              <a:spcBef>
                <a:spcPts val="360"/>
              </a:spcBef>
              <a:spcAft>
                <a:spcPts val="0"/>
              </a:spcAft>
              <a:buNone/>
            </a:pPr>
            <a:r>
              <a:rPr lang="en-US" sz="3200">
                <a:solidFill>
                  <a:srgbClr val="292934"/>
                </a:solidFill>
                <a:latin typeface="Arial"/>
                <a:ea typeface="Arial"/>
                <a:cs typeface="Arial"/>
                <a:sym typeface="Arial"/>
              </a:rPr>
              <a:t>The POST method sends data to the server and creates a new resource. The resource it creates is subordinate to some other parent resource. When a new resource is POSTed to the parent, the API service will automatically associate the new resource by assigning it an ID (new resource URI). In short, </a:t>
            </a:r>
            <a:r>
              <a:rPr b="1" lang="en-US" sz="3200">
                <a:solidFill>
                  <a:srgbClr val="FF0000"/>
                </a:solidFill>
                <a:latin typeface="Arial"/>
                <a:ea typeface="Arial"/>
                <a:cs typeface="Arial"/>
                <a:sym typeface="Arial"/>
              </a:rPr>
              <a:t>this method is used to create a new data entry</a:t>
            </a:r>
            <a:endParaRPr b="1" sz="4000">
              <a:solidFill>
                <a:srgbClr val="D2533C"/>
              </a:solidFill>
              <a:latin typeface="Arial"/>
              <a:ea typeface="Arial"/>
              <a:cs typeface="Arial"/>
              <a:sym typeface="Arial"/>
            </a:endParaRPr>
          </a:p>
        </p:txBody>
      </p:sp>
      <p:pic>
        <p:nvPicPr>
          <p:cNvPr id="271" name="Google Shape;271;g3d10798bb04_0_155"/>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g3d10798bb04_0_170"/>
          <p:cNvSpPr txBox="1"/>
          <p:nvPr>
            <p:ph type="title"/>
          </p:nvPr>
        </p:nvSpPr>
        <p:spPr>
          <a:xfrm>
            <a:off x="838200" y="272150"/>
            <a:ext cx="10515600" cy="5205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2533C"/>
              </a:buClr>
              <a:buSzPts val="1800"/>
              <a:buFont typeface="Arial"/>
              <a:buNone/>
            </a:pPr>
            <a:r>
              <a:rPr b="1" lang="en-US" sz="2500">
                <a:solidFill>
                  <a:srgbClr val="D2533C"/>
                </a:solidFill>
                <a:latin typeface="Arial"/>
                <a:ea typeface="Arial"/>
                <a:cs typeface="Arial"/>
                <a:sym typeface="Arial"/>
              </a:rPr>
              <a:t>The PUT method</a:t>
            </a:r>
            <a:endParaRPr sz="2500"/>
          </a:p>
        </p:txBody>
      </p:sp>
      <p:sp>
        <p:nvSpPr>
          <p:cNvPr id="277" name="Google Shape;277;g3d10798bb04_0_170"/>
          <p:cNvSpPr txBox="1"/>
          <p:nvPr>
            <p:ph idx="1" type="body"/>
          </p:nvPr>
        </p:nvSpPr>
        <p:spPr>
          <a:xfrm>
            <a:off x="838200" y="857750"/>
            <a:ext cx="10515600" cy="5319000"/>
          </a:xfrm>
          <a:prstGeom prst="rect">
            <a:avLst/>
          </a:prstGeom>
        </p:spPr>
        <p:txBody>
          <a:bodyPr anchorCtr="0" anchor="t" bIns="45700" lIns="91425" spcFirstLastPara="1" rIns="91425" wrap="square" tIns="45700">
            <a:noAutofit/>
          </a:bodyPr>
          <a:lstStyle/>
          <a:p>
            <a:pPr indent="0" lvl="0" marL="131445" rtl="0" algn="just">
              <a:lnSpc>
                <a:spcPct val="100000"/>
              </a:lnSpc>
              <a:spcBef>
                <a:spcPts val="360"/>
              </a:spcBef>
              <a:spcAft>
                <a:spcPts val="0"/>
              </a:spcAft>
              <a:buClr>
                <a:schemeClr val="dk1"/>
              </a:buClr>
              <a:buSzPts val="1530"/>
              <a:buFont typeface="Arial"/>
              <a:buNone/>
            </a:pPr>
            <a:r>
              <a:rPr lang="en-US" sz="2200">
                <a:solidFill>
                  <a:srgbClr val="292934"/>
                </a:solidFill>
                <a:latin typeface="Arial"/>
                <a:ea typeface="Arial"/>
                <a:cs typeface="Arial"/>
                <a:sym typeface="Arial"/>
              </a:rPr>
              <a:t>The PUT method is most often </a:t>
            </a:r>
            <a:r>
              <a:rPr b="1" lang="en-US" sz="2200">
                <a:solidFill>
                  <a:srgbClr val="FF0000"/>
                </a:solidFill>
                <a:latin typeface="Arial"/>
                <a:ea typeface="Arial"/>
                <a:cs typeface="Arial"/>
                <a:sym typeface="Arial"/>
              </a:rPr>
              <a:t>used to update an existing resource</a:t>
            </a:r>
            <a:r>
              <a:rPr lang="en-US" sz="2200">
                <a:solidFill>
                  <a:srgbClr val="292934"/>
                </a:solidFill>
                <a:latin typeface="Arial"/>
                <a:ea typeface="Arial"/>
                <a:cs typeface="Arial"/>
                <a:sym typeface="Arial"/>
              </a:rPr>
              <a:t>. If you want to update a specific resource you can call the PUT method to that resource URI with the request body containing the complete new version of the resource you are trying to update.</a:t>
            </a:r>
            <a:endParaRPr sz="2200">
              <a:solidFill>
                <a:srgbClr val="292934"/>
              </a:solidFill>
              <a:latin typeface="Arial"/>
              <a:ea typeface="Arial"/>
              <a:cs typeface="Arial"/>
              <a:sym typeface="Arial"/>
            </a:endParaRPr>
          </a:p>
          <a:p>
            <a:pPr indent="0" lvl="0" marL="131445" rtl="0" algn="just">
              <a:lnSpc>
                <a:spcPct val="100000"/>
              </a:lnSpc>
              <a:spcBef>
                <a:spcPts val="360"/>
              </a:spcBef>
              <a:spcAft>
                <a:spcPts val="0"/>
              </a:spcAft>
              <a:buClr>
                <a:schemeClr val="dk1"/>
              </a:buClr>
              <a:buSzPts val="1530"/>
              <a:buFont typeface="Arial"/>
              <a:buNone/>
            </a:pPr>
            <a:r>
              <a:t/>
            </a:r>
            <a:endParaRPr sz="2200">
              <a:solidFill>
                <a:srgbClr val="292934"/>
              </a:solidFill>
              <a:latin typeface="Arial"/>
              <a:ea typeface="Arial"/>
              <a:cs typeface="Arial"/>
              <a:sym typeface="Arial"/>
            </a:endParaRPr>
          </a:p>
          <a:p>
            <a:pPr indent="0" lvl="0" marL="0" rtl="0" algn="l">
              <a:lnSpc>
                <a:spcPct val="100000"/>
              </a:lnSpc>
              <a:spcBef>
                <a:spcPts val="0"/>
              </a:spcBef>
              <a:spcAft>
                <a:spcPts val="0"/>
              </a:spcAft>
              <a:buClr>
                <a:srgbClr val="D2533C"/>
              </a:buClr>
              <a:buSzPts val="1800"/>
              <a:buFont typeface="Arial"/>
              <a:buNone/>
            </a:pPr>
            <a:r>
              <a:rPr b="1" lang="en-US" sz="2500">
                <a:solidFill>
                  <a:srgbClr val="D2533C"/>
                </a:solidFill>
                <a:latin typeface="Arial"/>
                <a:ea typeface="Arial"/>
                <a:cs typeface="Arial"/>
                <a:sym typeface="Arial"/>
              </a:rPr>
              <a:t>The PATCH method</a:t>
            </a:r>
            <a:endParaRPr sz="2500">
              <a:solidFill>
                <a:srgbClr val="D2533C"/>
              </a:solidFill>
              <a:latin typeface="Arial"/>
              <a:ea typeface="Arial"/>
              <a:cs typeface="Arial"/>
              <a:sym typeface="Arial"/>
            </a:endParaRPr>
          </a:p>
          <a:p>
            <a:pPr indent="0" lvl="0" marL="0" rtl="0" algn="l">
              <a:lnSpc>
                <a:spcPct val="100000"/>
              </a:lnSpc>
              <a:spcBef>
                <a:spcPts val="360"/>
              </a:spcBef>
              <a:spcAft>
                <a:spcPts val="0"/>
              </a:spcAft>
              <a:buNone/>
            </a:pPr>
            <a:r>
              <a:rPr lang="en-US" sz="2200">
                <a:solidFill>
                  <a:srgbClr val="292934"/>
                </a:solidFill>
                <a:latin typeface="Arial"/>
                <a:ea typeface="Arial"/>
                <a:cs typeface="Arial"/>
                <a:sym typeface="Arial"/>
              </a:rPr>
              <a:t>The PATCH method is very similar to the PUT method because it also modifies an existing resource. The difference is that for the PUT method, </a:t>
            </a:r>
            <a:r>
              <a:rPr b="1" lang="en-US" sz="2200">
                <a:solidFill>
                  <a:srgbClr val="FF0000"/>
                </a:solidFill>
                <a:latin typeface="Arial"/>
                <a:ea typeface="Arial"/>
                <a:cs typeface="Arial"/>
                <a:sym typeface="Arial"/>
              </a:rPr>
              <a:t>the request body contains the complete new version, whereas for the PATCH method, the request body only needs to contain the specific changes to the resource</a:t>
            </a:r>
            <a:r>
              <a:rPr lang="en-US" sz="2200">
                <a:solidFill>
                  <a:srgbClr val="292934"/>
                </a:solidFill>
                <a:latin typeface="Arial"/>
                <a:ea typeface="Arial"/>
                <a:cs typeface="Arial"/>
                <a:sym typeface="Arial"/>
              </a:rPr>
              <a:t>, specifically a set of instructions describing how that resource should be changed, and the API service will create a new version according to that instruction.</a:t>
            </a:r>
            <a:endParaRPr sz="2200">
              <a:solidFill>
                <a:srgbClr val="292934"/>
              </a:solidFill>
              <a:latin typeface="Arial"/>
              <a:ea typeface="Arial"/>
              <a:cs typeface="Arial"/>
              <a:sym typeface="Arial"/>
            </a:endParaRPr>
          </a:p>
          <a:p>
            <a:pPr indent="0" lvl="0" marL="131445" rtl="0" algn="l">
              <a:lnSpc>
                <a:spcPct val="100000"/>
              </a:lnSpc>
              <a:spcBef>
                <a:spcPts val="360"/>
              </a:spcBef>
              <a:spcAft>
                <a:spcPts val="0"/>
              </a:spcAft>
              <a:buClr>
                <a:schemeClr val="dk1"/>
              </a:buClr>
              <a:buSzPts val="1530"/>
              <a:buFont typeface="Arial"/>
              <a:buNone/>
            </a:pPr>
            <a:r>
              <a:t/>
            </a:r>
            <a:endParaRPr sz="2200">
              <a:solidFill>
                <a:srgbClr val="292934"/>
              </a:solidFill>
              <a:latin typeface="Arial"/>
              <a:ea typeface="Arial"/>
              <a:cs typeface="Arial"/>
              <a:sym typeface="Arial"/>
            </a:endParaRPr>
          </a:p>
          <a:p>
            <a:pPr indent="0" lvl="0" marL="0" rtl="0" algn="l">
              <a:lnSpc>
                <a:spcPct val="100000"/>
              </a:lnSpc>
              <a:spcBef>
                <a:spcPts val="0"/>
              </a:spcBef>
              <a:spcAft>
                <a:spcPts val="0"/>
              </a:spcAft>
              <a:buClr>
                <a:srgbClr val="D2533C"/>
              </a:buClr>
              <a:buSzPts val="1800"/>
              <a:buFont typeface="Arial"/>
              <a:buNone/>
            </a:pPr>
            <a:r>
              <a:rPr b="1" lang="en-US" sz="2500">
                <a:solidFill>
                  <a:srgbClr val="D2533C"/>
                </a:solidFill>
                <a:latin typeface="Arial"/>
                <a:ea typeface="Arial"/>
                <a:cs typeface="Arial"/>
                <a:sym typeface="Arial"/>
              </a:rPr>
              <a:t>The DELETE method</a:t>
            </a:r>
            <a:endParaRPr b="1" sz="2500">
              <a:solidFill>
                <a:srgbClr val="D2533C"/>
              </a:solidFill>
              <a:latin typeface="Arial"/>
              <a:ea typeface="Arial"/>
              <a:cs typeface="Arial"/>
              <a:sym typeface="Arial"/>
            </a:endParaRPr>
          </a:p>
          <a:p>
            <a:pPr indent="0" lvl="0" marL="131445" rtl="0" algn="l">
              <a:lnSpc>
                <a:spcPct val="100000"/>
              </a:lnSpc>
              <a:spcBef>
                <a:spcPts val="360"/>
              </a:spcBef>
              <a:spcAft>
                <a:spcPts val="0"/>
              </a:spcAft>
              <a:buNone/>
            </a:pPr>
            <a:r>
              <a:rPr lang="en-US" sz="2200">
                <a:solidFill>
                  <a:srgbClr val="292934"/>
                </a:solidFill>
                <a:latin typeface="Arial"/>
                <a:ea typeface="Arial"/>
                <a:cs typeface="Arial"/>
                <a:sym typeface="Arial"/>
              </a:rPr>
              <a:t>The DELETE method is used to delete a resource specified by its URI.</a:t>
            </a:r>
            <a:endParaRPr sz="2200"/>
          </a:p>
        </p:txBody>
      </p:sp>
      <p:pic>
        <p:nvPicPr>
          <p:cNvPr id="278" name="Google Shape;278;g3d10798bb04_0_170"/>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d10798bb04_3_15"/>
          <p:cNvSpPr txBox="1"/>
          <p:nvPr>
            <p:ph type="title"/>
          </p:nvPr>
        </p:nvSpPr>
        <p:spPr>
          <a:xfrm>
            <a:off x="725175" y="178550"/>
            <a:ext cx="10628700" cy="746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 View in Laravel </a:t>
            </a:r>
            <a:endParaRPr/>
          </a:p>
        </p:txBody>
      </p:sp>
      <p:sp>
        <p:nvSpPr>
          <p:cNvPr id="284" name="Google Shape;284;g3d10798bb04_3_15"/>
          <p:cNvSpPr txBox="1"/>
          <p:nvPr>
            <p:ph idx="1" type="body"/>
          </p:nvPr>
        </p:nvSpPr>
        <p:spPr>
          <a:xfrm>
            <a:off x="725100" y="1008150"/>
            <a:ext cx="10628700" cy="5641200"/>
          </a:xfrm>
          <a:prstGeom prst="rect">
            <a:avLst/>
          </a:prstGeom>
        </p:spPr>
        <p:txBody>
          <a:bodyPr anchorCtr="0" anchor="t" bIns="45700" lIns="91425" spcFirstLastPara="1" rIns="91425" wrap="square" tIns="45700">
            <a:normAutofit lnSpcReduction="20000"/>
          </a:bodyPr>
          <a:lstStyle/>
          <a:p>
            <a:pPr indent="-202755" lvl="0" marL="182880" rtl="0" algn="just">
              <a:lnSpc>
                <a:spcPct val="100000"/>
              </a:lnSpc>
              <a:spcBef>
                <a:spcPts val="0"/>
              </a:spcBef>
              <a:spcAft>
                <a:spcPts val="0"/>
              </a:spcAft>
              <a:buClr>
                <a:srgbClr val="93A299"/>
              </a:buClr>
              <a:buSzPts val="2200"/>
              <a:buChar char="•"/>
            </a:pPr>
            <a:r>
              <a:rPr lang="en-US" sz="2200">
                <a:solidFill>
                  <a:srgbClr val="292934"/>
                </a:solidFill>
                <a:latin typeface="Arial"/>
                <a:ea typeface="Arial"/>
                <a:cs typeface="Arial"/>
                <a:sym typeface="Arial"/>
              </a:rPr>
              <a:t>Views provide a convenient way to place all of our HTML in separate files. </a:t>
            </a:r>
            <a:endParaRPr sz="2200">
              <a:solidFill>
                <a:srgbClr val="292934"/>
              </a:solidFill>
              <a:latin typeface="Arial"/>
              <a:ea typeface="Arial"/>
              <a:cs typeface="Arial"/>
              <a:sym typeface="Arial"/>
            </a:endParaRPr>
          </a:p>
          <a:p>
            <a:pPr indent="-202755" lvl="0" marL="182880" rtl="0" algn="just">
              <a:lnSpc>
                <a:spcPct val="100000"/>
              </a:lnSpc>
              <a:spcBef>
                <a:spcPts val="444"/>
              </a:spcBef>
              <a:spcAft>
                <a:spcPts val="0"/>
              </a:spcAft>
              <a:buClr>
                <a:srgbClr val="93A299"/>
              </a:buClr>
              <a:buSzPts val="2200"/>
              <a:buChar char="•"/>
            </a:pPr>
            <a:r>
              <a:rPr lang="en-US" sz="2200">
                <a:solidFill>
                  <a:srgbClr val="292934"/>
                </a:solidFill>
                <a:latin typeface="Arial"/>
                <a:ea typeface="Arial"/>
                <a:cs typeface="Arial"/>
                <a:sym typeface="Arial"/>
              </a:rPr>
              <a:t>Views separate your controller / application logic from your presentation logic and are stored in the resources/views directory. A simple view might look something like this:</a:t>
            </a:r>
            <a:endParaRPr sz="2200">
              <a:solidFill>
                <a:srgbClr val="292934"/>
              </a:solidFill>
              <a:latin typeface="Arial"/>
              <a:ea typeface="Arial"/>
              <a:cs typeface="Arial"/>
              <a:sym typeface="Arial"/>
            </a:endParaRPr>
          </a:p>
          <a:p>
            <a:pPr indent="0" lvl="0" marL="182880" rtl="0" algn="just">
              <a:lnSpc>
                <a:spcPct val="100000"/>
              </a:lnSpc>
              <a:spcBef>
                <a:spcPts val="444"/>
              </a:spcBef>
              <a:spcAft>
                <a:spcPts val="0"/>
              </a:spcAft>
              <a:buNone/>
            </a:pPr>
            <a:r>
              <a:t/>
            </a:r>
            <a:endParaRPr sz="2200">
              <a:solidFill>
                <a:srgbClr val="292934"/>
              </a:solidFill>
              <a:latin typeface="Arial"/>
              <a:ea typeface="Arial"/>
              <a:cs typeface="Arial"/>
              <a:sym typeface="Arial"/>
            </a:endParaRPr>
          </a:p>
          <a:p>
            <a:pPr indent="0" lvl="0" marL="0" rtl="0" algn="just">
              <a:lnSpc>
                <a:spcPct val="100000"/>
              </a:lnSpc>
              <a:spcBef>
                <a:spcPts val="444"/>
              </a:spcBef>
              <a:spcAft>
                <a:spcPts val="0"/>
              </a:spcAft>
              <a:buClr>
                <a:schemeClr val="dk1"/>
              </a:buClr>
              <a:buSzPts val="2040"/>
              <a:buFont typeface="Arial"/>
              <a:buNone/>
            </a:pPr>
            <a:r>
              <a:rPr lang="en-US" sz="2200">
                <a:solidFill>
                  <a:srgbClr val="D2533C"/>
                </a:solidFill>
                <a:latin typeface="Arial"/>
                <a:ea typeface="Arial"/>
                <a:cs typeface="Arial"/>
                <a:sym typeface="Arial"/>
              </a:rPr>
              <a:t>&lt;!-- View stored in resources/views/greeting.blade.php --&gt;</a:t>
            </a:r>
            <a:endParaRPr sz="2200">
              <a:solidFill>
                <a:srgbClr val="292934"/>
              </a:solidFill>
              <a:latin typeface="Arial"/>
              <a:ea typeface="Arial"/>
              <a:cs typeface="Arial"/>
              <a:sym typeface="Arial"/>
            </a:endParaRPr>
          </a:p>
          <a:p>
            <a:pPr indent="0" lvl="0" marL="0" rtl="0" algn="just">
              <a:lnSpc>
                <a:spcPct val="100000"/>
              </a:lnSpc>
              <a:spcBef>
                <a:spcPts val="444"/>
              </a:spcBef>
              <a:spcAft>
                <a:spcPts val="0"/>
              </a:spcAft>
              <a:buClr>
                <a:schemeClr val="dk1"/>
              </a:buClr>
              <a:buSzPts val="2040"/>
              <a:buFont typeface="Arial"/>
              <a:buNone/>
            </a:pPr>
            <a:r>
              <a:rPr lang="en-US" sz="2200">
                <a:solidFill>
                  <a:srgbClr val="D2533C"/>
                </a:solidFill>
                <a:latin typeface="Arial"/>
                <a:ea typeface="Arial"/>
                <a:cs typeface="Arial"/>
                <a:sym typeface="Arial"/>
              </a:rPr>
              <a:t>&lt;html&gt;</a:t>
            </a:r>
            <a:endParaRPr sz="2200">
              <a:solidFill>
                <a:srgbClr val="292934"/>
              </a:solidFill>
              <a:latin typeface="Arial"/>
              <a:ea typeface="Arial"/>
              <a:cs typeface="Arial"/>
              <a:sym typeface="Arial"/>
            </a:endParaRPr>
          </a:p>
          <a:p>
            <a:pPr indent="0" lvl="0" marL="0" rtl="0" algn="just">
              <a:lnSpc>
                <a:spcPct val="100000"/>
              </a:lnSpc>
              <a:spcBef>
                <a:spcPts val="444"/>
              </a:spcBef>
              <a:spcAft>
                <a:spcPts val="0"/>
              </a:spcAft>
              <a:buClr>
                <a:schemeClr val="dk1"/>
              </a:buClr>
              <a:buSzPts val="2040"/>
              <a:buFont typeface="Arial"/>
              <a:buNone/>
            </a:pPr>
            <a:r>
              <a:rPr lang="en-US" sz="2200">
                <a:solidFill>
                  <a:srgbClr val="D2533C"/>
                </a:solidFill>
                <a:latin typeface="Arial"/>
                <a:ea typeface="Arial"/>
                <a:cs typeface="Arial"/>
                <a:sym typeface="Arial"/>
              </a:rPr>
              <a:t>    &lt;body&gt;</a:t>
            </a:r>
            <a:endParaRPr sz="2200">
              <a:solidFill>
                <a:srgbClr val="292934"/>
              </a:solidFill>
              <a:latin typeface="Arial"/>
              <a:ea typeface="Arial"/>
              <a:cs typeface="Arial"/>
              <a:sym typeface="Arial"/>
            </a:endParaRPr>
          </a:p>
          <a:p>
            <a:pPr indent="0" lvl="0" marL="0" rtl="0" algn="just">
              <a:lnSpc>
                <a:spcPct val="100000"/>
              </a:lnSpc>
              <a:spcBef>
                <a:spcPts val="444"/>
              </a:spcBef>
              <a:spcAft>
                <a:spcPts val="0"/>
              </a:spcAft>
              <a:buClr>
                <a:schemeClr val="dk1"/>
              </a:buClr>
              <a:buSzPts val="2040"/>
              <a:buFont typeface="Arial"/>
              <a:buNone/>
            </a:pPr>
            <a:r>
              <a:rPr lang="en-US" sz="2200">
                <a:solidFill>
                  <a:srgbClr val="D2533C"/>
                </a:solidFill>
                <a:latin typeface="Arial"/>
                <a:ea typeface="Arial"/>
                <a:cs typeface="Arial"/>
                <a:sym typeface="Arial"/>
              </a:rPr>
              <a:t>        &lt;h1&gt;Hello, {{ $name }}&lt;/h1&gt;</a:t>
            </a:r>
            <a:endParaRPr sz="2200">
              <a:solidFill>
                <a:srgbClr val="292934"/>
              </a:solidFill>
              <a:latin typeface="Arial"/>
              <a:ea typeface="Arial"/>
              <a:cs typeface="Arial"/>
              <a:sym typeface="Arial"/>
            </a:endParaRPr>
          </a:p>
          <a:p>
            <a:pPr indent="0" lvl="0" marL="0" rtl="0" algn="just">
              <a:lnSpc>
                <a:spcPct val="100000"/>
              </a:lnSpc>
              <a:spcBef>
                <a:spcPts val="444"/>
              </a:spcBef>
              <a:spcAft>
                <a:spcPts val="0"/>
              </a:spcAft>
              <a:buClr>
                <a:schemeClr val="dk1"/>
              </a:buClr>
              <a:buSzPts val="2040"/>
              <a:buFont typeface="Arial"/>
              <a:buNone/>
            </a:pPr>
            <a:r>
              <a:rPr lang="en-US" sz="2200">
                <a:solidFill>
                  <a:srgbClr val="D2533C"/>
                </a:solidFill>
                <a:latin typeface="Arial"/>
                <a:ea typeface="Arial"/>
                <a:cs typeface="Arial"/>
                <a:sym typeface="Arial"/>
              </a:rPr>
              <a:t>    &lt;/body&gt;</a:t>
            </a:r>
            <a:endParaRPr sz="2200">
              <a:solidFill>
                <a:srgbClr val="292934"/>
              </a:solidFill>
              <a:latin typeface="Arial"/>
              <a:ea typeface="Arial"/>
              <a:cs typeface="Arial"/>
              <a:sym typeface="Arial"/>
            </a:endParaRPr>
          </a:p>
          <a:p>
            <a:pPr indent="0" lvl="0" marL="0" rtl="0" algn="just">
              <a:lnSpc>
                <a:spcPct val="100000"/>
              </a:lnSpc>
              <a:spcBef>
                <a:spcPts val="444"/>
              </a:spcBef>
              <a:spcAft>
                <a:spcPts val="0"/>
              </a:spcAft>
              <a:buNone/>
            </a:pPr>
            <a:r>
              <a:rPr lang="en-US" sz="2200">
                <a:solidFill>
                  <a:srgbClr val="D2533C"/>
                </a:solidFill>
                <a:latin typeface="Arial"/>
                <a:ea typeface="Arial"/>
                <a:cs typeface="Arial"/>
                <a:sym typeface="Arial"/>
              </a:rPr>
              <a:t>&lt;/html&gt;</a:t>
            </a:r>
            <a:endParaRPr sz="2200">
              <a:solidFill>
                <a:srgbClr val="D2533C"/>
              </a:solidFill>
              <a:latin typeface="Arial"/>
              <a:ea typeface="Arial"/>
              <a:cs typeface="Arial"/>
              <a:sym typeface="Arial"/>
            </a:endParaRPr>
          </a:p>
          <a:p>
            <a:pPr indent="0" lvl="0" marL="0" rtl="0" algn="just">
              <a:lnSpc>
                <a:spcPct val="100000"/>
              </a:lnSpc>
              <a:spcBef>
                <a:spcPts val="444"/>
              </a:spcBef>
              <a:spcAft>
                <a:spcPts val="0"/>
              </a:spcAft>
              <a:buClr>
                <a:schemeClr val="dk1"/>
              </a:buClr>
              <a:buSzPts val="2040"/>
              <a:buFont typeface="Arial"/>
              <a:buNone/>
            </a:pPr>
            <a:r>
              <a:t/>
            </a:r>
            <a:endParaRPr sz="2200">
              <a:solidFill>
                <a:srgbClr val="D2533C"/>
              </a:solidFill>
              <a:latin typeface="Arial"/>
              <a:ea typeface="Arial"/>
              <a:cs typeface="Arial"/>
              <a:sym typeface="Arial"/>
            </a:endParaRPr>
          </a:p>
          <a:p>
            <a:pPr indent="-193040" lvl="0" marL="182880" rtl="0" algn="just">
              <a:lnSpc>
                <a:spcPct val="100000"/>
              </a:lnSpc>
              <a:spcBef>
                <a:spcPts val="0"/>
              </a:spcBef>
              <a:spcAft>
                <a:spcPts val="0"/>
              </a:spcAft>
              <a:buClr>
                <a:srgbClr val="93A299"/>
              </a:buClr>
              <a:buSzPts val="2200"/>
              <a:buChar char="•"/>
            </a:pPr>
            <a:r>
              <a:rPr lang="en-US" sz="2200">
                <a:solidFill>
                  <a:srgbClr val="292934"/>
                </a:solidFill>
                <a:latin typeface="Arial"/>
                <a:ea typeface="Arial"/>
                <a:cs typeface="Arial"/>
                <a:sym typeface="Arial"/>
              </a:rPr>
              <a:t>Since this view is stored at resources/views/greeting.blade.php, we may return it using the global view helper like so:</a:t>
            </a:r>
            <a:endParaRPr sz="2200">
              <a:solidFill>
                <a:srgbClr val="292934"/>
              </a:solidFill>
              <a:latin typeface="Arial"/>
              <a:ea typeface="Arial"/>
              <a:cs typeface="Arial"/>
              <a:sym typeface="Arial"/>
            </a:endParaRPr>
          </a:p>
          <a:p>
            <a:pPr indent="-193040" lvl="0" marL="182880" rtl="0" algn="just">
              <a:lnSpc>
                <a:spcPct val="100000"/>
              </a:lnSpc>
              <a:spcBef>
                <a:spcPts val="0"/>
              </a:spcBef>
              <a:spcAft>
                <a:spcPts val="0"/>
              </a:spcAft>
              <a:buClr>
                <a:srgbClr val="292934"/>
              </a:buClr>
              <a:buSzPts val="2200"/>
              <a:buFont typeface="Arial"/>
              <a:buChar char="•"/>
            </a:pPr>
            <a:r>
              <a:t/>
            </a:r>
            <a:endParaRPr sz="2200">
              <a:solidFill>
                <a:srgbClr val="292934"/>
              </a:solidFill>
              <a:latin typeface="Arial"/>
              <a:ea typeface="Arial"/>
              <a:cs typeface="Arial"/>
              <a:sym typeface="Arial"/>
            </a:endParaRPr>
          </a:p>
          <a:p>
            <a:pPr indent="0" lvl="0" marL="0" rtl="0" algn="just">
              <a:lnSpc>
                <a:spcPct val="100000"/>
              </a:lnSpc>
              <a:spcBef>
                <a:spcPts val="480"/>
              </a:spcBef>
              <a:spcAft>
                <a:spcPts val="0"/>
              </a:spcAft>
              <a:buNone/>
            </a:pPr>
            <a:r>
              <a:rPr lang="en-US" sz="2200">
                <a:solidFill>
                  <a:srgbClr val="D2533C"/>
                </a:solidFill>
                <a:latin typeface="Arial"/>
                <a:ea typeface="Arial"/>
                <a:cs typeface="Arial"/>
                <a:sym typeface="Arial"/>
              </a:rPr>
              <a:t>Route::get('/', function () {</a:t>
            </a:r>
            <a:endParaRPr sz="2200">
              <a:solidFill>
                <a:srgbClr val="292934"/>
              </a:solidFill>
              <a:latin typeface="Arial"/>
              <a:ea typeface="Arial"/>
              <a:cs typeface="Arial"/>
              <a:sym typeface="Arial"/>
            </a:endParaRPr>
          </a:p>
          <a:p>
            <a:pPr indent="0" lvl="0" marL="0" rtl="0" algn="just">
              <a:lnSpc>
                <a:spcPct val="100000"/>
              </a:lnSpc>
              <a:spcBef>
                <a:spcPts val="480"/>
              </a:spcBef>
              <a:spcAft>
                <a:spcPts val="0"/>
              </a:spcAft>
              <a:buNone/>
            </a:pPr>
            <a:r>
              <a:rPr lang="en-US" sz="2200">
                <a:solidFill>
                  <a:srgbClr val="D2533C"/>
                </a:solidFill>
                <a:latin typeface="Arial"/>
                <a:ea typeface="Arial"/>
                <a:cs typeface="Arial"/>
                <a:sym typeface="Arial"/>
              </a:rPr>
              <a:t>    return view('greeting', ['name' =&gt; 'James']);</a:t>
            </a:r>
            <a:endParaRPr sz="2200">
              <a:solidFill>
                <a:srgbClr val="292934"/>
              </a:solidFill>
              <a:latin typeface="Arial"/>
              <a:ea typeface="Arial"/>
              <a:cs typeface="Arial"/>
              <a:sym typeface="Arial"/>
            </a:endParaRPr>
          </a:p>
          <a:p>
            <a:pPr indent="0" lvl="0" marL="0" rtl="0" algn="just">
              <a:lnSpc>
                <a:spcPct val="100000"/>
              </a:lnSpc>
              <a:spcBef>
                <a:spcPts val="480"/>
              </a:spcBef>
              <a:spcAft>
                <a:spcPts val="0"/>
              </a:spcAft>
              <a:buNone/>
            </a:pPr>
            <a:r>
              <a:rPr lang="en-US" sz="2200">
                <a:solidFill>
                  <a:srgbClr val="D2533C"/>
                </a:solidFill>
                <a:latin typeface="Arial"/>
                <a:ea typeface="Arial"/>
                <a:cs typeface="Arial"/>
                <a:sym typeface="Arial"/>
              </a:rPr>
              <a:t>});</a:t>
            </a:r>
            <a:endParaRPr sz="2200"/>
          </a:p>
        </p:txBody>
      </p:sp>
      <p:pic>
        <p:nvPicPr>
          <p:cNvPr id="285" name="Google Shape;285;g3d10798bb04_3_15"/>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d10798bb04_3_5"/>
          <p:cNvSpPr txBox="1"/>
          <p:nvPr>
            <p:ph type="title"/>
          </p:nvPr>
        </p:nvSpPr>
        <p:spPr>
          <a:xfrm>
            <a:off x="838200" y="114375"/>
            <a:ext cx="10515600" cy="9906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Creating &amp; Rendering Views</a:t>
            </a:r>
            <a:endParaRPr/>
          </a:p>
        </p:txBody>
      </p:sp>
      <p:sp>
        <p:nvSpPr>
          <p:cNvPr id="291" name="Google Shape;291;g3d10798bb04_3_5"/>
          <p:cNvSpPr txBox="1"/>
          <p:nvPr>
            <p:ph idx="1" type="body"/>
          </p:nvPr>
        </p:nvSpPr>
        <p:spPr>
          <a:xfrm>
            <a:off x="838200" y="1008150"/>
            <a:ext cx="10515600" cy="5168700"/>
          </a:xfrm>
          <a:prstGeom prst="rect">
            <a:avLst/>
          </a:prstGeom>
        </p:spPr>
        <p:txBody>
          <a:bodyPr anchorCtr="0" anchor="t" bIns="45700" lIns="91425" spcFirstLastPara="1" rIns="91425" wrap="square" tIns="45700">
            <a:normAutofit/>
          </a:bodyPr>
          <a:lstStyle/>
          <a:p>
            <a:pPr indent="-193040" lvl="0" marL="182880" rtl="0" algn="just">
              <a:lnSpc>
                <a:spcPct val="100000"/>
              </a:lnSpc>
              <a:spcBef>
                <a:spcPts val="0"/>
              </a:spcBef>
              <a:spcAft>
                <a:spcPts val="0"/>
              </a:spcAft>
              <a:buClr>
                <a:srgbClr val="93A299"/>
              </a:buClr>
              <a:buSzPts val="2200"/>
              <a:buChar char="•"/>
            </a:pPr>
            <a:r>
              <a:rPr lang="en-US" sz="2200">
                <a:solidFill>
                  <a:srgbClr val="292934"/>
                </a:solidFill>
                <a:latin typeface="Arial"/>
                <a:ea typeface="Arial"/>
                <a:cs typeface="Arial"/>
                <a:sym typeface="Arial"/>
              </a:rPr>
              <a:t>You may create a view by placing a file with the .blade.php extension in your application's resources/views directory. </a:t>
            </a:r>
            <a:endParaRPr sz="2200">
              <a:solidFill>
                <a:srgbClr val="292934"/>
              </a:solidFill>
              <a:latin typeface="Arial"/>
              <a:ea typeface="Arial"/>
              <a:cs typeface="Arial"/>
              <a:sym typeface="Arial"/>
            </a:endParaRPr>
          </a:p>
          <a:p>
            <a:pPr indent="-53339" lvl="0" marL="182880" rtl="0" algn="just">
              <a:lnSpc>
                <a:spcPct val="100000"/>
              </a:lnSpc>
              <a:spcBef>
                <a:spcPts val="480"/>
              </a:spcBef>
              <a:spcAft>
                <a:spcPts val="0"/>
              </a:spcAft>
              <a:buClr>
                <a:schemeClr val="dk1"/>
              </a:buClr>
              <a:buSzPts val="2040"/>
              <a:buFont typeface="Arial"/>
              <a:buNone/>
            </a:pPr>
            <a:r>
              <a:t/>
            </a:r>
            <a:endParaRPr sz="2200">
              <a:solidFill>
                <a:srgbClr val="292934"/>
              </a:solidFill>
              <a:latin typeface="Arial"/>
              <a:ea typeface="Arial"/>
              <a:cs typeface="Arial"/>
              <a:sym typeface="Arial"/>
            </a:endParaRPr>
          </a:p>
          <a:p>
            <a:pPr indent="-193040" lvl="0" marL="182880" rtl="0" algn="just">
              <a:lnSpc>
                <a:spcPct val="100000"/>
              </a:lnSpc>
              <a:spcBef>
                <a:spcPts val="480"/>
              </a:spcBef>
              <a:spcAft>
                <a:spcPts val="0"/>
              </a:spcAft>
              <a:buClr>
                <a:srgbClr val="93A299"/>
              </a:buClr>
              <a:buSzPts val="2200"/>
              <a:buChar char="•"/>
            </a:pPr>
            <a:r>
              <a:rPr lang="en-US" sz="2200">
                <a:solidFill>
                  <a:srgbClr val="292934"/>
                </a:solidFill>
                <a:latin typeface="Arial"/>
                <a:ea typeface="Arial"/>
                <a:cs typeface="Arial"/>
                <a:sym typeface="Arial"/>
              </a:rPr>
              <a:t>The .blade.php extension informs the framework that the file contains a Blade template. </a:t>
            </a:r>
            <a:endParaRPr sz="2200">
              <a:solidFill>
                <a:srgbClr val="292934"/>
              </a:solidFill>
              <a:latin typeface="Arial"/>
              <a:ea typeface="Arial"/>
              <a:cs typeface="Arial"/>
              <a:sym typeface="Arial"/>
            </a:endParaRPr>
          </a:p>
          <a:p>
            <a:pPr indent="-53339" lvl="0" marL="182880" rtl="0" algn="just">
              <a:lnSpc>
                <a:spcPct val="100000"/>
              </a:lnSpc>
              <a:spcBef>
                <a:spcPts val="480"/>
              </a:spcBef>
              <a:spcAft>
                <a:spcPts val="0"/>
              </a:spcAft>
              <a:buClr>
                <a:schemeClr val="dk1"/>
              </a:buClr>
              <a:buSzPts val="2040"/>
              <a:buFont typeface="Arial"/>
              <a:buNone/>
            </a:pPr>
            <a:r>
              <a:t/>
            </a:r>
            <a:endParaRPr sz="2200">
              <a:solidFill>
                <a:srgbClr val="292934"/>
              </a:solidFill>
              <a:latin typeface="Arial"/>
              <a:ea typeface="Arial"/>
              <a:cs typeface="Arial"/>
              <a:sym typeface="Arial"/>
            </a:endParaRPr>
          </a:p>
          <a:p>
            <a:pPr indent="-193040" lvl="0" marL="182880" rtl="0" algn="just">
              <a:lnSpc>
                <a:spcPct val="100000"/>
              </a:lnSpc>
              <a:spcBef>
                <a:spcPts val="480"/>
              </a:spcBef>
              <a:spcAft>
                <a:spcPts val="0"/>
              </a:spcAft>
              <a:buClr>
                <a:srgbClr val="93A299"/>
              </a:buClr>
              <a:buSzPts val="2200"/>
              <a:buChar char="•"/>
            </a:pPr>
            <a:r>
              <a:rPr lang="en-US" sz="2200">
                <a:solidFill>
                  <a:srgbClr val="292934"/>
                </a:solidFill>
                <a:latin typeface="Arial"/>
                <a:ea typeface="Arial"/>
                <a:cs typeface="Arial"/>
                <a:sym typeface="Arial"/>
              </a:rPr>
              <a:t>Blade templates contain HTML as well as Blade directives that allow you to easily echo values, create "if" statements, iterate over data, and more.</a:t>
            </a:r>
            <a:endParaRPr sz="2200">
              <a:solidFill>
                <a:srgbClr val="292934"/>
              </a:solidFill>
              <a:latin typeface="Arial"/>
              <a:ea typeface="Arial"/>
              <a:cs typeface="Arial"/>
              <a:sym typeface="Arial"/>
            </a:endParaRPr>
          </a:p>
          <a:p>
            <a:pPr indent="0" lvl="0" marL="182880" rtl="0" algn="just">
              <a:lnSpc>
                <a:spcPct val="100000"/>
              </a:lnSpc>
              <a:spcBef>
                <a:spcPts val="480"/>
              </a:spcBef>
              <a:spcAft>
                <a:spcPts val="0"/>
              </a:spcAft>
              <a:buNone/>
            </a:pPr>
            <a:r>
              <a:t/>
            </a:r>
            <a:endParaRPr sz="2200">
              <a:solidFill>
                <a:srgbClr val="292934"/>
              </a:solidFill>
              <a:latin typeface="Arial"/>
              <a:ea typeface="Arial"/>
              <a:cs typeface="Arial"/>
              <a:sym typeface="Arial"/>
            </a:endParaRPr>
          </a:p>
          <a:p>
            <a:pPr indent="-193040" lvl="0" marL="182880" rtl="0" algn="just">
              <a:lnSpc>
                <a:spcPct val="100000"/>
              </a:lnSpc>
              <a:spcBef>
                <a:spcPts val="480"/>
              </a:spcBef>
              <a:spcAft>
                <a:spcPts val="0"/>
              </a:spcAft>
              <a:buClr>
                <a:srgbClr val="292934"/>
              </a:buClr>
              <a:buSzPts val="2200"/>
              <a:buFont typeface="Arial"/>
              <a:buChar char="•"/>
            </a:pPr>
            <a:r>
              <a:rPr lang="en-US" sz="2200">
                <a:solidFill>
                  <a:srgbClr val="292934"/>
                </a:solidFill>
                <a:latin typeface="Arial"/>
                <a:ea typeface="Arial"/>
                <a:cs typeface="Arial"/>
                <a:sym typeface="Arial"/>
              </a:rPr>
              <a:t>command to create the view is:</a:t>
            </a:r>
            <a:endParaRPr sz="2200">
              <a:solidFill>
                <a:srgbClr val="292934"/>
              </a:solidFill>
              <a:latin typeface="Arial"/>
              <a:ea typeface="Arial"/>
              <a:cs typeface="Arial"/>
              <a:sym typeface="Arial"/>
            </a:endParaRPr>
          </a:p>
          <a:p>
            <a:pPr indent="274319" lvl="0" marL="640080" rtl="0" algn="just">
              <a:lnSpc>
                <a:spcPct val="100000"/>
              </a:lnSpc>
              <a:spcBef>
                <a:spcPts val="480"/>
              </a:spcBef>
              <a:spcAft>
                <a:spcPts val="0"/>
              </a:spcAft>
              <a:buNone/>
            </a:pPr>
            <a:r>
              <a:rPr lang="en-US" sz="2200">
                <a:solidFill>
                  <a:srgbClr val="292934"/>
                </a:solidFill>
                <a:latin typeface="Arial"/>
                <a:ea typeface="Arial"/>
                <a:cs typeface="Arial"/>
                <a:sym typeface="Arial"/>
              </a:rPr>
              <a:t>php artisan make:view user (here user is the name of the view).</a:t>
            </a:r>
            <a:endParaRPr sz="2200">
              <a:solidFill>
                <a:srgbClr val="292934"/>
              </a:solidFill>
              <a:latin typeface="Arial"/>
              <a:ea typeface="Arial"/>
              <a:cs typeface="Arial"/>
              <a:sym typeface="Arial"/>
            </a:endParaRPr>
          </a:p>
          <a:p>
            <a:pPr indent="274319" lvl="0" marL="640080" rtl="0" algn="just">
              <a:lnSpc>
                <a:spcPct val="100000"/>
              </a:lnSpc>
              <a:spcBef>
                <a:spcPts val="480"/>
              </a:spcBef>
              <a:spcAft>
                <a:spcPts val="0"/>
              </a:spcAft>
              <a:buNone/>
            </a:pPr>
            <a:r>
              <a:t/>
            </a:r>
            <a:endParaRPr sz="2200">
              <a:solidFill>
                <a:srgbClr val="292934"/>
              </a:solidFill>
              <a:latin typeface="Arial"/>
              <a:ea typeface="Arial"/>
              <a:cs typeface="Arial"/>
              <a:sym typeface="Arial"/>
            </a:endParaRPr>
          </a:p>
          <a:p>
            <a:pPr indent="-193040" lvl="0" marL="182880" rtl="0" algn="just">
              <a:lnSpc>
                <a:spcPct val="100000"/>
              </a:lnSpc>
              <a:spcBef>
                <a:spcPts val="480"/>
              </a:spcBef>
              <a:spcAft>
                <a:spcPts val="0"/>
              </a:spcAft>
              <a:buClr>
                <a:srgbClr val="292934"/>
              </a:buClr>
              <a:buSzPts val="2200"/>
              <a:buFont typeface="Arial"/>
              <a:buChar char="•"/>
            </a:pPr>
            <a:r>
              <a:rPr lang="en-US" sz="2200">
                <a:solidFill>
                  <a:srgbClr val="292934"/>
                </a:solidFill>
                <a:latin typeface="Arial"/>
                <a:ea typeface="Arial"/>
                <a:cs typeface="Arial"/>
                <a:sym typeface="Arial"/>
              </a:rPr>
              <a:t>A view with name user.blade.php is created in resources/views.</a:t>
            </a:r>
            <a:endParaRPr sz="2200">
              <a:solidFill>
                <a:srgbClr val="292934"/>
              </a:solidFill>
              <a:latin typeface="Arial"/>
              <a:ea typeface="Arial"/>
              <a:cs typeface="Arial"/>
              <a:sym typeface="Arial"/>
            </a:endParaRPr>
          </a:p>
        </p:txBody>
      </p:sp>
      <p:pic>
        <p:nvPicPr>
          <p:cNvPr id="292" name="Google Shape;292;g3d10798bb04_3_5"/>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d10798bb04_3_20"/>
          <p:cNvSpPr txBox="1"/>
          <p:nvPr>
            <p:ph type="title"/>
          </p:nvPr>
        </p:nvSpPr>
        <p:spPr>
          <a:xfrm>
            <a:off x="642225" y="365125"/>
            <a:ext cx="10711500" cy="679500"/>
          </a:xfrm>
          <a:prstGeom prst="rect">
            <a:avLst/>
          </a:prstGeom>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Nested View Directories</a:t>
            </a:r>
            <a:endParaRPr/>
          </a:p>
        </p:txBody>
      </p:sp>
      <p:sp>
        <p:nvSpPr>
          <p:cNvPr id="298" name="Google Shape;298;g3d10798bb04_3_20"/>
          <p:cNvSpPr txBox="1"/>
          <p:nvPr>
            <p:ph idx="1" type="body"/>
          </p:nvPr>
        </p:nvSpPr>
        <p:spPr>
          <a:xfrm>
            <a:off x="407175" y="1284675"/>
            <a:ext cx="10946700" cy="4892100"/>
          </a:xfrm>
          <a:prstGeom prst="rect">
            <a:avLst/>
          </a:prstGeom>
        </p:spPr>
        <p:txBody>
          <a:bodyPr anchorCtr="0" anchor="t" bIns="45700" lIns="91425" spcFirstLastPara="1" rIns="91425" wrap="square" tIns="45700">
            <a:normAutofit/>
          </a:bodyPr>
          <a:lstStyle/>
          <a:p>
            <a:pPr indent="-182880" lvl="0" marL="182880" rtl="0" algn="just">
              <a:lnSpc>
                <a:spcPct val="100000"/>
              </a:lnSpc>
              <a:spcBef>
                <a:spcPts val="0"/>
              </a:spcBef>
              <a:spcAft>
                <a:spcPts val="0"/>
              </a:spcAft>
              <a:buClr>
                <a:srgbClr val="93A299"/>
              </a:buClr>
              <a:buSzPts val="2040"/>
              <a:buChar char="•"/>
            </a:pPr>
            <a:r>
              <a:rPr lang="en-US" sz="2400">
                <a:solidFill>
                  <a:srgbClr val="292934"/>
                </a:solidFill>
                <a:latin typeface="Arial"/>
                <a:ea typeface="Arial"/>
                <a:cs typeface="Arial"/>
                <a:sym typeface="Arial"/>
              </a:rPr>
              <a:t>Views may also be nested within subdirectories of the resources/views directory. </a:t>
            </a:r>
            <a:endParaRPr sz="2400">
              <a:solidFill>
                <a:srgbClr val="292934"/>
              </a:solidFill>
              <a:latin typeface="Arial"/>
              <a:ea typeface="Arial"/>
              <a:cs typeface="Arial"/>
              <a:sym typeface="Arial"/>
            </a:endParaRPr>
          </a:p>
          <a:p>
            <a:pPr indent="-53339" lvl="0" marL="182880" rtl="0" algn="just">
              <a:lnSpc>
                <a:spcPct val="100000"/>
              </a:lnSpc>
              <a:spcBef>
                <a:spcPts val="480"/>
              </a:spcBef>
              <a:spcAft>
                <a:spcPts val="0"/>
              </a:spcAft>
              <a:buClr>
                <a:schemeClr val="dk1"/>
              </a:buClr>
              <a:buSzPts val="2040"/>
              <a:buFont typeface="Arial"/>
              <a:buNone/>
            </a:pPr>
            <a:r>
              <a:t/>
            </a:r>
            <a:endParaRPr sz="2400">
              <a:solidFill>
                <a:srgbClr val="292934"/>
              </a:solidFill>
              <a:latin typeface="Arial"/>
              <a:ea typeface="Arial"/>
              <a:cs typeface="Arial"/>
              <a:sym typeface="Arial"/>
            </a:endParaRPr>
          </a:p>
          <a:p>
            <a:pPr indent="-182880" lvl="0" marL="182880" rtl="0" algn="just">
              <a:lnSpc>
                <a:spcPct val="100000"/>
              </a:lnSpc>
              <a:spcBef>
                <a:spcPts val="480"/>
              </a:spcBef>
              <a:spcAft>
                <a:spcPts val="0"/>
              </a:spcAft>
              <a:buClr>
                <a:srgbClr val="93A299"/>
              </a:buClr>
              <a:buSzPts val="2040"/>
              <a:buChar char="•"/>
            </a:pPr>
            <a:r>
              <a:rPr lang="en-US" sz="2400">
                <a:solidFill>
                  <a:srgbClr val="292934"/>
                </a:solidFill>
                <a:latin typeface="Arial"/>
                <a:ea typeface="Arial"/>
                <a:cs typeface="Arial"/>
                <a:sym typeface="Arial"/>
              </a:rPr>
              <a:t>"Dot" notation may be used to reference nested views.</a:t>
            </a:r>
            <a:endParaRPr sz="2400">
              <a:solidFill>
                <a:srgbClr val="292934"/>
              </a:solidFill>
              <a:latin typeface="Arial"/>
              <a:ea typeface="Arial"/>
              <a:cs typeface="Arial"/>
              <a:sym typeface="Arial"/>
            </a:endParaRPr>
          </a:p>
          <a:p>
            <a:pPr indent="-53339" lvl="0" marL="182880" rtl="0" algn="just">
              <a:lnSpc>
                <a:spcPct val="100000"/>
              </a:lnSpc>
              <a:spcBef>
                <a:spcPts val="480"/>
              </a:spcBef>
              <a:spcAft>
                <a:spcPts val="0"/>
              </a:spcAft>
              <a:buClr>
                <a:schemeClr val="dk1"/>
              </a:buClr>
              <a:buSzPts val="2040"/>
              <a:buFont typeface="Arial"/>
              <a:buNone/>
            </a:pPr>
            <a:r>
              <a:t/>
            </a:r>
            <a:endParaRPr sz="2400">
              <a:solidFill>
                <a:srgbClr val="292934"/>
              </a:solidFill>
              <a:latin typeface="Arial"/>
              <a:ea typeface="Arial"/>
              <a:cs typeface="Arial"/>
              <a:sym typeface="Arial"/>
            </a:endParaRPr>
          </a:p>
          <a:p>
            <a:pPr indent="-182880" lvl="0" marL="182880" rtl="0" algn="just">
              <a:lnSpc>
                <a:spcPct val="100000"/>
              </a:lnSpc>
              <a:spcBef>
                <a:spcPts val="480"/>
              </a:spcBef>
              <a:spcAft>
                <a:spcPts val="0"/>
              </a:spcAft>
              <a:buClr>
                <a:srgbClr val="93A299"/>
              </a:buClr>
              <a:buSzPts val="2040"/>
              <a:buChar char="•"/>
            </a:pPr>
            <a:r>
              <a:rPr lang="en-US" sz="2400">
                <a:solidFill>
                  <a:srgbClr val="292934"/>
                </a:solidFill>
                <a:latin typeface="Arial"/>
                <a:ea typeface="Arial"/>
                <a:cs typeface="Arial"/>
                <a:sym typeface="Arial"/>
              </a:rPr>
              <a:t>For example, if your view is stored at resources/views/admin/profile.blade.php, you may return it from one of your application's routes / controllers like so:</a:t>
            </a:r>
            <a:endParaRPr sz="2400">
              <a:solidFill>
                <a:srgbClr val="292934"/>
              </a:solidFill>
              <a:latin typeface="Arial"/>
              <a:ea typeface="Arial"/>
              <a:cs typeface="Arial"/>
              <a:sym typeface="Arial"/>
            </a:endParaRPr>
          </a:p>
          <a:p>
            <a:pPr indent="-53339" lvl="0" marL="182880" rtl="0" algn="just">
              <a:lnSpc>
                <a:spcPct val="100000"/>
              </a:lnSpc>
              <a:spcBef>
                <a:spcPts val="480"/>
              </a:spcBef>
              <a:spcAft>
                <a:spcPts val="0"/>
              </a:spcAft>
              <a:buClr>
                <a:schemeClr val="dk1"/>
              </a:buClr>
              <a:buSzPts val="2040"/>
              <a:buFont typeface="Arial"/>
              <a:buNone/>
            </a:pPr>
            <a:r>
              <a:t/>
            </a:r>
            <a:endParaRPr sz="2400">
              <a:solidFill>
                <a:srgbClr val="292934"/>
              </a:solidFill>
              <a:latin typeface="Arial"/>
              <a:ea typeface="Arial"/>
              <a:cs typeface="Arial"/>
              <a:sym typeface="Arial"/>
            </a:endParaRPr>
          </a:p>
          <a:p>
            <a:pPr indent="0" lvl="0" marL="0" rtl="0" algn="ctr">
              <a:lnSpc>
                <a:spcPct val="100000"/>
              </a:lnSpc>
              <a:spcBef>
                <a:spcPts val="480"/>
              </a:spcBef>
              <a:spcAft>
                <a:spcPts val="0"/>
              </a:spcAft>
              <a:buClr>
                <a:schemeClr val="dk1"/>
              </a:buClr>
              <a:buSzPts val="2040"/>
              <a:buFont typeface="Arial"/>
              <a:buNone/>
            </a:pPr>
            <a:r>
              <a:rPr lang="en-US" sz="2400">
                <a:solidFill>
                  <a:srgbClr val="D2533C"/>
                </a:solidFill>
                <a:latin typeface="Arial"/>
                <a:ea typeface="Arial"/>
                <a:cs typeface="Arial"/>
                <a:sym typeface="Arial"/>
              </a:rPr>
              <a:t>return view('admin.profile', $data);</a:t>
            </a:r>
            <a:endParaRPr sz="2400">
              <a:solidFill>
                <a:srgbClr val="292934"/>
              </a:solidFill>
              <a:latin typeface="Arial"/>
              <a:ea typeface="Arial"/>
              <a:cs typeface="Arial"/>
              <a:sym typeface="Arial"/>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pic>
        <p:nvPicPr>
          <p:cNvPr id="299" name="Google Shape;299;g3d10798bb04_3_20"/>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3d10798bb04_3_1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2533C"/>
              </a:buClr>
              <a:buSzPts val="4000"/>
              <a:buFont typeface="Arial"/>
              <a:buNone/>
            </a:pPr>
            <a:r>
              <a:rPr b="1" lang="en-US" sz="4000">
                <a:solidFill>
                  <a:srgbClr val="D2533C"/>
                </a:solidFill>
                <a:latin typeface="Arial"/>
                <a:ea typeface="Arial"/>
                <a:cs typeface="Arial"/>
                <a:sym typeface="Arial"/>
              </a:rPr>
              <a:t>Passing Data To Views</a:t>
            </a:r>
            <a:endParaRPr b="1" sz="4000">
              <a:solidFill>
                <a:srgbClr val="D2533C"/>
              </a:solidFill>
              <a:latin typeface="Arial"/>
              <a:ea typeface="Arial"/>
              <a:cs typeface="Arial"/>
              <a:sym typeface="Arial"/>
            </a:endParaRPr>
          </a:p>
          <a:p>
            <a:pPr indent="0" lvl="0" marL="0" rtl="0" algn="l">
              <a:spcBef>
                <a:spcPts val="0"/>
              </a:spcBef>
              <a:spcAft>
                <a:spcPts val="0"/>
              </a:spcAft>
              <a:buNone/>
            </a:pPr>
            <a:r>
              <a:t/>
            </a:r>
            <a:endParaRPr/>
          </a:p>
        </p:txBody>
      </p:sp>
      <p:sp>
        <p:nvSpPr>
          <p:cNvPr id="305" name="Google Shape;305;g3d10798bb04_3_1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182880" lvl="0" marL="182880" rtl="0" algn="just">
              <a:lnSpc>
                <a:spcPct val="100000"/>
              </a:lnSpc>
              <a:spcBef>
                <a:spcPts val="0"/>
              </a:spcBef>
              <a:spcAft>
                <a:spcPts val="0"/>
              </a:spcAft>
              <a:buClr>
                <a:srgbClr val="93A299"/>
              </a:buClr>
              <a:buSzPts val="2040"/>
              <a:buChar char="•"/>
            </a:pPr>
            <a:r>
              <a:rPr lang="en-US" sz="2400">
                <a:solidFill>
                  <a:srgbClr val="292934"/>
                </a:solidFill>
                <a:latin typeface="Arial"/>
                <a:ea typeface="Arial"/>
                <a:cs typeface="Arial"/>
                <a:sym typeface="Arial"/>
              </a:rPr>
              <a:t>You may pass an array of data to views to make that data available to the view:</a:t>
            </a:r>
            <a:endParaRPr sz="2400">
              <a:solidFill>
                <a:srgbClr val="292934"/>
              </a:solidFill>
              <a:latin typeface="Arial"/>
              <a:ea typeface="Arial"/>
              <a:cs typeface="Arial"/>
              <a:sym typeface="Arial"/>
            </a:endParaRPr>
          </a:p>
          <a:p>
            <a:pPr indent="-53339" lvl="0" marL="182880" rtl="0" algn="just">
              <a:lnSpc>
                <a:spcPct val="100000"/>
              </a:lnSpc>
              <a:spcBef>
                <a:spcPts val="480"/>
              </a:spcBef>
              <a:spcAft>
                <a:spcPts val="0"/>
              </a:spcAft>
              <a:buClr>
                <a:schemeClr val="dk1"/>
              </a:buClr>
              <a:buSzPts val="2040"/>
              <a:buFont typeface="Arial"/>
              <a:buNone/>
            </a:pPr>
            <a:r>
              <a:t/>
            </a:r>
            <a:endParaRPr sz="2400">
              <a:solidFill>
                <a:srgbClr val="292934"/>
              </a:solidFill>
              <a:latin typeface="Arial"/>
              <a:ea typeface="Arial"/>
              <a:cs typeface="Arial"/>
              <a:sym typeface="Arial"/>
            </a:endParaRPr>
          </a:p>
          <a:p>
            <a:pPr indent="0" lvl="0" marL="0" rtl="0" algn="ctr">
              <a:lnSpc>
                <a:spcPct val="100000"/>
              </a:lnSpc>
              <a:spcBef>
                <a:spcPts val="480"/>
              </a:spcBef>
              <a:spcAft>
                <a:spcPts val="0"/>
              </a:spcAft>
              <a:buClr>
                <a:schemeClr val="dk1"/>
              </a:buClr>
              <a:buSzPts val="2040"/>
              <a:buFont typeface="Arial"/>
              <a:buNone/>
            </a:pPr>
            <a:r>
              <a:rPr lang="en-US" sz="2400">
                <a:solidFill>
                  <a:srgbClr val="D2533C"/>
                </a:solidFill>
                <a:latin typeface="Arial"/>
                <a:ea typeface="Arial"/>
                <a:cs typeface="Arial"/>
                <a:sym typeface="Arial"/>
              </a:rPr>
              <a:t>return view('greetings', ['name' =&gt; 'Victoria']);</a:t>
            </a:r>
            <a:endParaRPr sz="2400">
              <a:solidFill>
                <a:srgbClr val="292934"/>
              </a:solidFill>
              <a:latin typeface="Arial"/>
              <a:ea typeface="Arial"/>
              <a:cs typeface="Arial"/>
              <a:sym typeface="Arial"/>
            </a:endParaRPr>
          </a:p>
          <a:p>
            <a:pPr indent="0" lvl="0" marL="0" rtl="0" algn="ctr">
              <a:lnSpc>
                <a:spcPct val="100000"/>
              </a:lnSpc>
              <a:spcBef>
                <a:spcPts val="480"/>
              </a:spcBef>
              <a:spcAft>
                <a:spcPts val="0"/>
              </a:spcAft>
              <a:buClr>
                <a:schemeClr val="dk1"/>
              </a:buClr>
              <a:buSzPts val="2040"/>
              <a:buFont typeface="Arial"/>
              <a:buNone/>
            </a:pPr>
            <a:r>
              <a:t/>
            </a:r>
            <a:endParaRPr sz="2400">
              <a:solidFill>
                <a:srgbClr val="BD867B"/>
              </a:solidFill>
              <a:latin typeface="Arial"/>
              <a:ea typeface="Arial"/>
              <a:cs typeface="Arial"/>
              <a:sym typeface="Arial"/>
            </a:endParaRPr>
          </a:p>
          <a:p>
            <a:pPr indent="-182880" lvl="0" marL="182880" rtl="0" algn="just">
              <a:lnSpc>
                <a:spcPct val="100000"/>
              </a:lnSpc>
              <a:spcBef>
                <a:spcPts val="480"/>
              </a:spcBef>
              <a:spcAft>
                <a:spcPts val="0"/>
              </a:spcAft>
              <a:buClr>
                <a:srgbClr val="93A299"/>
              </a:buClr>
              <a:buSzPts val="2040"/>
              <a:buChar char="•"/>
            </a:pPr>
            <a:r>
              <a:rPr lang="en-US" sz="2400">
                <a:solidFill>
                  <a:srgbClr val="292934"/>
                </a:solidFill>
                <a:latin typeface="Arial"/>
                <a:ea typeface="Arial"/>
                <a:cs typeface="Arial"/>
                <a:sym typeface="Arial"/>
              </a:rPr>
              <a:t>When passing information in this manner, the data should be an array with key / value pairs. </a:t>
            </a:r>
            <a:endParaRPr sz="2400">
              <a:solidFill>
                <a:srgbClr val="292934"/>
              </a:solidFill>
              <a:latin typeface="Arial"/>
              <a:ea typeface="Arial"/>
              <a:cs typeface="Arial"/>
              <a:sym typeface="Arial"/>
            </a:endParaRPr>
          </a:p>
          <a:p>
            <a:pPr indent="-53339" lvl="0" marL="182880" rtl="0" algn="just">
              <a:lnSpc>
                <a:spcPct val="100000"/>
              </a:lnSpc>
              <a:spcBef>
                <a:spcPts val="480"/>
              </a:spcBef>
              <a:spcAft>
                <a:spcPts val="0"/>
              </a:spcAft>
              <a:buClr>
                <a:schemeClr val="dk1"/>
              </a:buClr>
              <a:buSzPts val="2040"/>
              <a:buFont typeface="Arial"/>
              <a:buNone/>
            </a:pPr>
            <a:r>
              <a:t/>
            </a:r>
            <a:endParaRPr sz="2400">
              <a:solidFill>
                <a:srgbClr val="292934"/>
              </a:solidFill>
              <a:latin typeface="Arial"/>
              <a:ea typeface="Arial"/>
              <a:cs typeface="Arial"/>
              <a:sym typeface="Arial"/>
            </a:endParaRPr>
          </a:p>
          <a:p>
            <a:pPr indent="-182880" lvl="0" marL="182880" rtl="0" algn="just">
              <a:lnSpc>
                <a:spcPct val="100000"/>
              </a:lnSpc>
              <a:spcBef>
                <a:spcPts val="480"/>
              </a:spcBef>
              <a:spcAft>
                <a:spcPts val="0"/>
              </a:spcAft>
              <a:buClr>
                <a:srgbClr val="93A299"/>
              </a:buClr>
              <a:buSzPts val="2040"/>
              <a:buChar char="•"/>
            </a:pPr>
            <a:r>
              <a:rPr lang="en-US" sz="2400">
                <a:solidFill>
                  <a:srgbClr val="292934"/>
                </a:solidFill>
                <a:latin typeface="Arial"/>
                <a:ea typeface="Arial"/>
                <a:cs typeface="Arial"/>
                <a:sym typeface="Arial"/>
              </a:rPr>
              <a:t>After providing data to a view, you can then access each value within your view using the data's keys, such as &lt;?php echo $name; ?&gt;.</a:t>
            </a:r>
            <a:endParaRPr sz="2400">
              <a:solidFill>
                <a:srgbClr val="292934"/>
              </a:solidFill>
              <a:latin typeface="Arial"/>
              <a:ea typeface="Arial"/>
              <a:cs typeface="Arial"/>
              <a:sym typeface="Arial"/>
            </a:endParaRPr>
          </a:p>
          <a:p>
            <a:pPr indent="0" lvl="0" marL="0" rtl="0" algn="l">
              <a:spcBef>
                <a:spcPts val="1000"/>
              </a:spcBef>
              <a:spcAft>
                <a:spcPts val="0"/>
              </a:spcAft>
              <a:buNone/>
            </a:pPr>
            <a:r>
              <a:t/>
            </a:r>
            <a:endParaRPr/>
          </a:p>
        </p:txBody>
      </p:sp>
      <p:pic>
        <p:nvPicPr>
          <p:cNvPr id="306" name="Google Shape;306;g3d10798bb04_3_10"/>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d10798bb04_3_25"/>
          <p:cNvSpPr txBox="1"/>
          <p:nvPr/>
        </p:nvSpPr>
        <p:spPr>
          <a:xfrm>
            <a:off x="457200" y="793825"/>
            <a:ext cx="8229600" cy="56070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Clr>
                <a:srgbClr val="93A299"/>
              </a:buClr>
              <a:buSzPts val="2040"/>
              <a:buChar char="•"/>
            </a:pPr>
            <a:r>
              <a:rPr lang="en-US" sz="2400">
                <a:solidFill>
                  <a:srgbClr val="292934"/>
                </a:solidFill>
              </a:rPr>
              <a:t>Inside Web.php</a:t>
            </a:r>
            <a:endParaRPr sz="2400">
              <a:solidFill>
                <a:srgbClr val="292934"/>
              </a:solidFill>
            </a:endParaRPr>
          </a:p>
          <a:p>
            <a:pPr indent="0" lvl="0" marL="0" rtl="0" algn="l">
              <a:spcBef>
                <a:spcPts val="480"/>
              </a:spcBef>
              <a:spcAft>
                <a:spcPts val="0"/>
              </a:spcAft>
              <a:buNone/>
            </a:pPr>
            <a:r>
              <a:t/>
            </a:r>
            <a:endParaRPr sz="2400">
              <a:solidFill>
                <a:srgbClr val="292934"/>
              </a:solidFill>
            </a:endParaRPr>
          </a:p>
          <a:p>
            <a:pPr indent="0" lvl="0" marL="0" rtl="0" algn="l">
              <a:spcBef>
                <a:spcPts val="480"/>
              </a:spcBef>
              <a:spcAft>
                <a:spcPts val="0"/>
              </a:spcAft>
              <a:buNone/>
            </a:pPr>
            <a:r>
              <a:t/>
            </a:r>
            <a:endParaRPr sz="2400">
              <a:solidFill>
                <a:srgbClr val="292934"/>
              </a:solidFill>
            </a:endParaRPr>
          </a:p>
          <a:p>
            <a:pPr indent="0" lvl="0" marL="0" rtl="0" algn="l">
              <a:spcBef>
                <a:spcPts val="480"/>
              </a:spcBef>
              <a:spcAft>
                <a:spcPts val="0"/>
              </a:spcAft>
              <a:buNone/>
            </a:pPr>
            <a:r>
              <a:t/>
            </a:r>
            <a:endParaRPr sz="2400">
              <a:solidFill>
                <a:srgbClr val="292934"/>
              </a:solidFill>
            </a:endParaRPr>
          </a:p>
          <a:p>
            <a:pPr indent="0" lvl="0" marL="0" rtl="0" algn="l">
              <a:spcBef>
                <a:spcPts val="480"/>
              </a:spcBef>
              <a:spcAft>
                <a:spcPts val="0"/>
              </a:spcAft>
              <a:buNone/>
            </a:pPr>
            <a:r>
              <a:t/>
            </a:r>
            <a:endParaRPr sz="2400">
              <a:solidFill>
                <a:srgbClr val="292934"/>
              </a:solidFill>
            </a:endParaRPr>
          </a:p>
          <a:p>
            <a:pPr indent="0" lvl="0" marL="0" rtl="0" algn="l">
              <a:spcBef>
                <a:spcPts val="480"/>
              </a:spcBef>
              <a:spcAft>
                <a:spcPts val="0"/>
              </a:spcAft>
              <a:buNone/>
            </a:pPr>
            <a:r>
              <a:t/>
            </a:r>
            <a:endParaRPr sz="2400">
              <a:solidFill>
                <a:srgbClr val="292934"/>
              </a:solidFill>
            </a:endParaRPr>
          </a:p>
          <a:p>
            <a:pPr indent="-381000" lvl="0" marL="457200" rtl="0" algn="l">
              <a:spcBef>
                <a:spcPts val="480"/>
              </a:spcBef>
              <a:spcAft>
                <a:spcPts val="0"/>
              </a:spcAft>
              <a:buClr>
                <a:srgbClr val="292934"/>
              </a:buClr>
              <a:buSzPts val="2400"/>
              <a:buChar char="●"/>
            </a:pPr>
            <a:r>
              <a:rPr lang="en-US" sz="2400">
                <a:solidFill>
                  <a:srgbClr val="292934"/>
                </a:solidFill>
              </a:rPr>
              <a:t>create the view test:</a:t>
            </a:r>
            <a:endParaRPr sz="2400">
              <a:solidFill>
                <a:srgbClr val="292934"/>
              </a:solidFill>
            </a:endParaRPr>
          </a:p>
          <a:p>
            <a:pPr indent="0" lvl="0" marL="457200" rtl="0" algn="l">
              <a:spcBef>
                <a:spcPts val="480"/>
              </a:spcBef>
              <a:spcAft>
                <a:spcPts val="0"/>
              </a:spcAft>
              <a:buNone/>
            </a:pPr>
            <a:r>
              <a:rPr lang="en-US" sz="2400">
                <a:solidFill>
                  <a:srgbClr val="292934"/>
                </a:solidFill>
              </a:rPr>
              <a:t>in terminal: php artisan make:view test</a:t>
            </a:r>
            <a:endParaRPr sz="2400">
              <a:solidFill>
                <a:srgbClr val="292934"/>
              </a:solidFill>
            </a:endParaRPr>
          </a:p>
          <a:p>
            <a:pPr indent="0" lvl="0" marL="457200" rtl="0" algn="l">
              <a:spcBef>
                <a:spcPts val="480"/>
              </a:spcBef>
              <a:spcAft>
                <a:spcPts val="0"/>
              </a:spcAft>
              <a:buNone/>
            </a:pPr>
            <a:r>
              <a:t/>
            </a:r>
            <a:endParaRPr sz="2400">
              <a:solidFill>
                <a:srgbClr val="292934"/>
              </a:solidFill>
            </a:endParaRPr>
          </a:p>
          <a:p>
            <a:pPr indent="-381000" lvl="0" marL="457200" rtl="0" algn="l">
              <a:spcBef>
                <a:spcPts val="480"/>
              </a:spcBef>
              <a:spcAft>
                <a:spcPts val="0"/>
              </a:spcAft>
              <a:buClr>
                <a:srgbClr val="292934"/>
              </a:buClr>
              <a:buSzPts val="2400"/>
              <a:buChar char="●"/>
            </a:pPr>
            <a:r>
              <a:rPr lang="en-US" sz="2400">
                <a:solidFill>
                  <a:srgbClr val="292934"/>
                </a:solidFill>
              </a:rPr>
              <a:t>Inside test.blade.php</a:t>
            </a:r>
            <a:endParaRPr sz="2400">
              <a:solidFill>
                <a:srgbClr val="292934"/>
              </a:solidFill>
            </a:endParaRPr>
          </a:p>
          <a:p>
            <a:pPr indent="-53339" lvl="0" marL="182880" rtl="0" algn="l">
              <a:spcBef>
                <a:spcPts val="480"/>
              </a:spcBef>
              <a:spcAft>
                <a:spcPts val="0"/>
              </a:spcAft>
              <a:buNone/>
            </a:pPr>
            <a:r>
              <a:t/>
            </a:r>
            <a:endParaRPr sz="2400">
              <a:solidFill>
                <a:srgbClr val="292934"/>
              </a:solidFill>
            </a:endParaRPr>
          </a:p>
          <a:p>
            <a:pPr indent="0" lvl="0" marL="0" rtl="0" algn="l">
              <a:spcBef>
                <a:spcPts val="480"/>
              </a:spcBef>
              <a:spcAft>
                <a:spcPts val="0"/>
              </a:spcAft>
              <a:buNone/>
            </a:pPr>
            <a:r>
              <a:t/>
            </a:r>
            <a:endParaRPr sz="2400">
              <a:solidFill>
                <a:srgbClr val="292934"/>
              </a:solidFill>
            </a:endParaRPr>
          </a:p>
        </p:txBody>
      </p:sp>
      <p:pic>
        <p:nvPicPr>
          <p:cNvPr id="312" name="Google Shape;312;g3d10798bb04_3_25"/>
          <p:cNvPicPr preferRelativeResize="0"/>
          <p:nvPr/>
        </p:nvPicPr>
        <p:blipFill rotWithShape="1">
          <a:blip r:embed="rId3">
            <a:alphaModFix/>
          </a:blip>
          <a:srcRect b="0" l="0" r="0" t="0"/>
          <a:stretch/>
        </p:blipFill>
        <p:spPr>
          <a:xfrm>
            <a:off x="611545" y="1295101"/>
            <a:ext cx="8306960" cy="2133898"/>
          </a:xfrm>
          <a:prstGeom prst="rect">
            <a:avLst/>
          </a:prstGeom>
          <a:noFill/>
          <a:ln>
            <a:noFill/>
          </a:ln>
        </p:spPr>
      </p:pic>
      <p:pic>
        <p:nvPicPr>
          <p:cNvPr id="313" name="Google Shape;313;g3d10798bb04_3_25"/>
          <p:cNvPicPr preferRelativeResize="0"/>
          <p:nvPr/>
        </p:nvPicPr>
        <p:blipFill rotWithShape="1">
          <a:blip r:embed="rId4">
            <a:alphaModFix/>
          </a:blip>
          <a:srcRect b="0" l="0" r="0" t="0"/>
          <a:stretch/>
        </p:blipFill>
        <p:spPr>
          <a:xfrm>
            <a:off x="10390100" y="114375"/>
            <a:ext cx="1676400" cy="679450"/>
          </a:xfrm>
          <a:prstGeom prst="rect">
            <a:avLst/>
          </a:prstGeom>
          <a:noFill/>
          <a:ln>
            <a:noFill/>
          </a:ln>
        </p:spPr>
      </p:pic>
      <p:pic>
        <p:nvPicPr>
          <p:cNvPr id="314" name="Google Shape;314;g3d10798bb04_3_25"/>
          <p:cNvPicPr preferRelativeResize="0"/>
          <p:nvPr/>
        </p:nvPicPr>
        <p:blipFill rotWithShape="1">
          <a:blip r:embed="rId5">
            <a:alphaModFix/>
          </a:blip>
          <a:srcRect b="0" l="0" r="0" t="0"/>
          <a:stretch/>
        </p:blipFill>
        <p:spPr>
          <a:xfrm>
            <a:off x="611560" y="5334000"/>
            <a:ext cx="4324954" cy="571580"/>
          </a:xfrm>
          <a:prstGeom prst="rect">
            <a:avLst/>
          </a:prstGeom>
          <a:noFill/>
          <a:ln>
            <a:noFill/>
          </a:ln>
        </p:spPr>
      </p:pic>
      <p:sp>
        <p:nvSpPr>
          <p:cNvPr id="315" name="Google Shape;315;g3d10798bb04_3_25"/>
          <p:cNvSpPr txBox="1"/>
          <p:nvPr/>
        </p:nvSpPr>
        <p:spPr>
          <a:xfrm>
            <a:off x="531600" y="178550"/>
            <a:ext cx="5793300" cy="80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Contd…</a:t>
            </a:r>
            <a:endParaRPr sz="32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d10798bb04_3_33"/>
          <p:cNvSpPr txBox="1"/>
          <p:nvPr>
            <p:ph type="title"/>
          </p:nvPr>
        </p:nvSpPr>
        <p:spPr>
          <a:xfrm>
            <a:off x="545400" y="365125"/>
            <a:ext cx="10808400" cy="679500"/>
          </a:xfrm>
          <a:prstGeom prst="rect">
            <a:avLst/>
          </a:prstGeom>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Passing Data To Views (contd.)</a:t>
            </a:r>
            <a:endParaRPr/>
          </a:p>
        </p:txBody>
      </p:sp>
      <p:sp>
        <p:nvSpPr>
          <p:cNvPr id="321" name="Google Shape;321;g3d10798bb04_3_33"/>
          <p:cNvSpPr txBox="1"/>
          <p:nvPr>
            <p:ph idx="1" type="body"/>
          </p:nvPr>
        </p:nvSpPr>
        <p:spPr>
          <a:xfrm>
            <a:off x="545425" y="1187900"/>
            <a:ext cx="10808400" cy="5146500"/>
          </a:xfrm>
          <a:prstGeom prst="rect">
            <a:avLst/>
          </a:prstGeom>
        </p:spPr>
        <p:txBody>
          <a:bodyPr anchorCtr="0" anchor="t" bIns="45700" lIns="91425" spcFirstLastPara="1" rIns="91425" wrap="square" tIns="45700">
            <a:normAutofit/>
          </a:bodyPr>
          <a:lstStyle/>
          <a:p>
            <a:pPr indent="-182880" lvl="0" marL="182880" rtl="0" algn="just">
              <a:lnSpc>
                <a:spcPct val="100000"/>
              </a:lnSpc>
              <a:spcBef>
                <a:spcPts val="0"/>
              </a:spcBef>
              <a:spcAft>
                <a:spcPts val="0"/>
              </a:spcAft>
              <a:buClr>
                <a:srgbClr val="93A299"/>
              </a:buClr>
              <a:buSzPts val="2040"/>
              <a:buChar char="•"/>
            </a:pPr>
            <a:r>
              <a:rPr lang="en-US" sz="2400">
                <a:solidFill>
                  <a:srgbClr val="292934"/>
                </a:solidFill>
                <a:latin typeface="Arial"/>
                <a:ea typeface="Arial"/>
                <a:cs typeface="Arial"/>
                <a:sym typeface="Arial"/>
              </a:rPr>
              <a:t>As an alternative to passing a complete array of data to the view helper function, you may use the with method to add individual pieces of data to the view. </a:t>
            </a:r>
            <a:endParaRPr sz="2400">
              <a:solidFill>
                <a:srgbClr val="292934"/>
              </a:solidFill>
              <a:latin typeface="Arial"/>
              <a:ea typeface="Arial"/>
              <a:cs typeface="Arial"/>
              <a:sym typeface="Arial"/>
            </a:endParaRPr>
          </a:p>
          <a:p>
            <a:pPr indent="-53339" lvl="0" marL="182880" rtl="0" algn="just">
              <a:lnSpc>
                <a:spcPct val="100000"/>
              </a:lnSpc>
              <a:spcBef>
                <a:spcPts val="480"/>
              </a:spcBef>
              <a:spcAft>
                <a:spcPts val="0"/>
              </a:spcAft>
              <a:buClr>
                <a:schemeClr val="dk1"/>
              </a:buClr>
              <a:buSzPts val="2040"/>
              <a:buFont typeface="Arial"/>
              <a:buNone/>
            </a:pPr>
            <a:r>
              <a:t/>
            </a:r>
            <a:endParaRPr sz="2400">
              <a:solidFill>
                <a:srgbClr val="292934"/>
              </a:solidFill>
              <a:latin typeface="Arial"/>
              <a:ea typeface="Arial"/>
              <a:cs typeface="Arial"/>
              <a:sym typeface="Arial"/>
            </a:endParaRPr>
          </a:p>
          <a:p>
            <a:pPr indent="-182880" lvl="0" marL="182880" rtl="0" algn="just">
              <a:lnSpc>
                <a:spcPct val="100000"/>
              </a:lnSpc>
              <a:spcBef>
                <a:spcPts val="480"/>
              </a:spcBef>
              <a:spcAft>
                <a:spcPts val="0"/>
              </a:spcAft>
              <a:buClr>
                <a:srgbClr val="93A299"/>
              </a:buClr>
              <a:buSzPts val="2040"/>
              <a:buChar char="•"/>
            </a:pPr>
            <a:r>
              <a:rPr lang="en-US" sz="2400">
                <a:solidFill>
                  <a:srgbClr val="292934"/>
                </a:solidFill>
                <a:latin typeface="Arial"/>
                <a:ea typeface="Arial"/>
                <a:cs typeface="Arial"/>
                <a:sym typeface="Arial"/>
              </a:rPr>
              <a:t>The with method returns an instance of the view object so that you can continue chaining methods before returning the view:</a:t>
            </a:r>
            <a:endParaRPr sz="2400">
              <a:solidFill>
                <a:srgbClr val="292934"/>
              </a:solidFill>
              <a:latin typeface="Arial"/>
              <a:ea typeface="Arial"/>
              <a:cs typeface="Arial"/>
              <a:sym typeface="Arial"/>
            </a:endParaRPr>
          </a:p>
          <a:p>
            <a:pPr indent="-53339" lvl="0" marL="182880" rtl="0" algn="just">
              <a:lnSpc>
                <a:spcPct val="100000"/>
              </a:lnSpc>
              <a:spcBef>
                <a:spcPts val="480"/>
              </a:spcBef>
              <a:spcAft>
                <a:spcPts val="0"/>
              </a:spcAft>
              <a:buClr>
                <a:schemeClr val="dk1"/>
              </a:buClr>
              <a:buSzPts val="2040"/>
              <a:buFont typeface="Arial"/>
              <a:buNone/>
            </a:pPr>
            <a:r>
              <a:t/>
            </a:r>
            <a:endParaRPr sz="24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ts val="2040"/>
              <a:buFont typeface="Arial"/>
              <a:buNone/>
            </a:pPr>
            <a:r>
              <a:rPr lang="en-US" sz="2400">
                <a:solidFill>
                  <a:srgbClr val="D2533C"/>
                </a:solidFill>
                <a:latin typeface="Arial"/>
                <a:ea typeface="Arial"/>
                <a:cs typeface="Arial"/>
                <a:sym typeface="Arial"/>
              </a:rPr>
              <a:t>return view('greeting')</a:t>
            </a:r>
            <a:endParaRPr sz="24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ts val="2040"/>
              <a:buFont typeface="Arial"/>
              <a:buNone/>
            </a:pPr>
            <a:r>
              <a:rPr lang="en-US" sz="2400">
                <a:solidFill>
                  <a:srgbClr val="D2533C"/>
                </a:solidFill>
                <a:latin typeface="Arial"/>
                <a:ea typeface="Arial"/>
                <a:cs typeface="Arial"/>
                <a:sym typeface="Arial"/>
              </a:rPr>
              <a:t>            -&gt;with('name', 'Victoria')</a:t>
            </a:r>
            <a:endParaRPr sz="24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ts val="2040"/>
              <a:buFont typeface="Arial"/>
              <a:buNone/>
            </a:pPr>
            <a:r>
              <a:rPr lang="en-US" sz="2400">
                <a:solidFill>
                  <a:srgbClr val="D2533C"/>
                </a:solidFill>
                <a:latin typeface="Arial"/>
                <a:ea typeface="Arial"/>
                <a:cs typeface="Arial"/>
                <a:sym typeface="Arial"/>
              </a:rPr>
              <a:t>            -&gt;with('occupation', 'Astronaut');</a:t>
            </a:r>
            <a:endParaRPr sz="2400">
              <a:solidFill>
                <a:srgbClr val="292934"/>
              </a:solidFill>
              <a:latin typeface="Arial"/>
              <a:ea typeface="Arial"/>
              <a:cs typeface="Arial"/>
              <a:sym typeface="Arial"/>
            </a:endParaRPr>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pic>
        <p:nvPicPr>
          <p:cNvPr id="322" name="Google Shape;322;g3d10798bb04_3_33"/>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pic>
        <p:nvPicPr>
          <p:cNvPr id="323" name="Google Shape;323;g3d10798bb04_3_33"/>
          <p:cNvPicPr preferRelativeResize="0"/>
          <p:nvPr>
            <p:ph idx="1" type="body"/>
          </p:nvPr>
        </p:nvPicPr>
        <p:blipFill rotWithShape="1">
          <a:blip r:embed="rId4">
            <a:alphaModFix/>
          </a:blip>
          <a:srcRect b="0" l="0" r="0" t="0"/>
          <a:stretch/>
        </p:blipFill>
        <p:spPr>
          <a:xfrm>
            <a:off x="6684450" y="3515525"/>
            <a:ext cx="5382000" cy="26913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d10798bb04_3_43"/>
          <p:cNvSpPr txBox="1"/>
          <p:nvPr/>
        </p:nvSpPr>
        <p:spPr>
          <a:xfrm>
            <a:off x="457200" y="114375"/>
            <a:ext cx="8229600" cy="8661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solidFill>
                  <a:srgbClr val="D2533C"/>
                </a:solidFill>
              </a:rPr>
              <a:t>One More Shortcut</a:t>
            </a:r>
            <a:endParaRPr b="1" sz="4000">
              <a:solidFill>
                <a:srgbClr val="D2533C"/>
              </a:solidFill>
            </a:endParaRPr>
          </a:p>
        </p:txBody>
      </p:sp>
      <p:sp>
        <p:nvSpPr>
          <p:cNvPr id="329" name="Google Shape;329;g3d10798bb04_3_43"/>
          <p:cNvSpPr txBox="1"/>
          <p:nvPr/>
        </p:nvSpPr>
        <p:spPr>
          <a:xfrm>
            <a:off x="457200" y="1077275"/>
            <a:ext cx="10472100" cy="5399700"/>
          </a:xfrm>
          <a:prstGeom prst="rect">
            <a:avLst/>
          </a:prstGeom>
          <a:noFill/>
          <a:ln>
            <a:noFill/>
          </a:ln>
        </p:spPr>
        <p:txBody>
          <a:bodyPr anchorCtr="0" anchor="t" bIns="45700" lIns="91425" spcFirstLastPara="1" rIns="91425" wrap="square" tIns="45700">
            <a:normAutofit/>
          </a:bodyPr>
          <a:lstStyle/>
          <a:p>
            <a:pPr indent="-182880" lvl="0" marL="182880" rtl="0" algn="l">
              <a:spcBef>
                <a:spcPts val="0"/>
              </a:spcBef>
              <a:spcAft>
                <a:spcPts val="0"/>
              </a:spcAft>
              <a:buClr>
                <a:srgbClr val="93A299"/>
              </a:buClr>
              <a:buSzPts val="2040"/>
              <a:buChar char="•"/>
            </a:pPr>
            <a:r>
              <a:rPr lang="en-US" sz="2400">
                <a:solidFill>
                  <a:srgbClr val="292934"/>
                </a:solidFill>
              </a:rPr>
              <a:t>In web.php</a:t>
            </a:r>
            <a:endParaRPr sz="2400">
              <a:solidFill>
                <a:srgbClr val="292934"/>
              </a:solidFill>
            </a:endParaRPr>
          </a:p>
          <a:p>
            <a:pPr indent="-53339" lvl="0" marL="182880" rtl="0" algn="l">
              <a:spcBef>
                <a:spcPts val="480"/>
              </a:spcBef>
              <a:spcAft>
                <a:spcPts val="0"/>
              </a:spcAft>
              <a:buNone/>
            </a:pPr>
            <a:r>
              <a:t/>
            </a:r>
            <a:endParaRPr sz="2400">
              <a:solidFill>
                <a:srgbClr val="292934"/>
              </a:solidFill>
            </a:endParaRPr>
          </a:p>
          <a:p>
            <a:pPr indent="-53339" lvl="0" marL="182880" rtl="0" algn="l">
              <a:spcBef>
                <a:spcPts val="480"/>
              </a:spcBef>
              <a:spcAft>
                <a:spcPts val="0"/>
              </a:spcAft>
              <a:buNone/>
            </a:pPr>
            <a:r>
              <a:t/>
            </a:r>
            <a:endParaRPr sz="2400">
              <a:solidFill>
                <a:srgbClr val="292934"/>
              </a:solidFill>
            </a:endParaRPr>
          </a:p>
          <a:p>
            <a:pPr indent="-53339" lvl="0" marL="182880" rtl="0" algn="l">
              <a:spcBef>
                <a:spcPts val="480"/>
              </a:spcBef>
              <a:spcAft>
                <a:spcPts val="0"/>
              </a:spcAft>
              <a:buNone/>
            </a:pPr>
            <a:r>
              <a:t/>
            </a:r>
            <a:endParaRPr sz="2400">
              <a:solidFill>
                <a:srgbClr val="292934"/>
              </a:solidFill>
            </a:endParaRPr>
          </a:p>
          <a:p>
            <a:pPr indent="-53339" lvl="0" marL="182880" rtl="0" algn="l">
              <a:spcBef>
                <a:spcPts val="480"/>
              </a:spcBef>
              <a:spcAft>
                <a:spcPts val="0"/>
              </a:spcAft>
              <a:buNone/>
            </a:pPr>
            <a:r>
              <a:t/>
            </a:r>
            <a:endParaRPr sz="2400">
              <a:solidFill>
                <a:srgbClr val="292934"/>
              </a:solidFill>
            </a:endParaRPr>
          </a:p>
          <a:p>
            <a:pPr indent="-53339" lvl="0" marL="182880" rtl="0" algn="l">
              <a:spcBef>
                <a:spcPts val="480"/>
              </a:spcBef>
              <a:spcAft>
                <a:spcPts val="0"/>
              </a:spcAft>
              <a:buNone/>
            </a:pPr>
            <a:r>
              <a:t/>
            </a:r>
            <a:endParaRPr sz="2400">
              <a:solidFill>
                <a:srgbClr val="292934"/>
              </a:solidFill>
            </a:endParaRPr>
          </a:p>
          <a:p>
            <a:pPr indent="-53339" lvl="0" marL="182880" rtl="0" algn="l">
              <a:spcBef>
                <a:spcPts val="480"/>
              </a:spcBef>
              <a:spcAft>
                <a:spcPts val="0"/>
              </a:spcAft>
              <a:buNone/>
            </a:pPr>
            <a:r>
              <a:t/>
            </a:r>
            <a:endParaRPr sz="2400">
              <a:solidFill>
                <a:srgbClr val="292934"/>
              </a:solidFill>
            </a:endParaRPr>
          </a:p>
          <a:p>
            <a:pPr indent="0" lvl="0" marL="182880" rtl="0" algn="l">
              <a:spcBef>
                <a:spcPts val="480"/>
              </a:spcBef>
              <a:spcAft>
                <a:spcPts val="0"/>
              </a:spcAft>
              <a:buNone/>
            </a:pPr>
            <a:r>
              <a:t/>
            </a:r>
            <a:endParaRPr sz="2400">
              <a:solidFill>
                <a:srgbClr val="292934"/>
              </a:solidFill>
            </a:endParaRPr>
          </a:p>
          <a:p>
            <a:pPr indent="-182880" lvl="0" marL="182880" rtl="0" algn="l">
              <a:spcBef>
                <a:spcPts val="480"/>
              </a:spcBef>
              <a:spcAft>
                <a:spcPts val="0"/>
              </a:spcAft>
              <a:buClr>
                <a:srgbClr val="93A299"/>
              </a:buClr>
              <a:buSzPts val="2040"/>
              <a:buChar char="•"/>
            </a:pPr>
            <a:r>
              <a:rPr lang="en-US" sz="2400">
                <a:solidFill>
                  <a:srgbClr val="292934"/>
                </a:solidFill>
              </a:rPr>
              <a:t>In test.blade.php</a:t>
            </a:r>
            <a:endParaRPr sz="2400">
              <a:solidFill>
                <a:srgbClr val="292934"/>
              </a:solidFill>
            </a:endParaRPr>
          </a:p>
          <a:p>
            <a:pPr indent="0" lvl="0" marL="129540" rtl="0" algn="l">
              <a:spcBef>
                <a:spcPts val="480"/>
              </a:spcBef>
              <a:spcAft>
                <a:spcPts val="0"/>
              </a:spcAft>
              <a:buNone/>
            </a:pPr>
            <a:r>
              <a:t/>
            </a:r>
            <a:endParaRPr sz="2400">
              <a:solidFill>
                <a:srgbClr val="292934"/>
              </a:solidFill>
            </a:endParaRPr>
          </a:p>
        </p:txBody>
      </p:sp>
      <p:pic>
        <p:nvPicPr>
          <p:cNvPr id="330" name="Google Shape;330;g3d10798bb04_3_43"/>
          <p:cNvPicPr preferRelativeResize="0"/>
          <p:nvPr/>
        </p:nvPicPr>
        <p:blipFill rotWithShape="1">
          <a:blip r:embed="rId3">
            <a:alphaModFix/>
          </a:blip>
          <a:srcRect b="0" l="0" r="0" t="0"/>
          <a:stretch/>
        </p:blipFill>
        <p:spPr>
          <a:xfrm>
            <a:off x="828152" y="5445224"/>
            <a:ext cx="7487695" cy="523948"/>
          </a:xfrm>
          <a:prstGeom prst="rect">
            <a:avLst/>
          </a:prstGeom>
          <a:noFill/>
          <a:ln>
            <a:noFill/>
          </a:ln>
        </p:spPr>
      </p:pic>
      <p:pic>
        <p:nvPicPr>
          <p:cNvPr id="331" name="Google Shape;331;g3d10798bb04_3_43"/>
          <p:cNvPicPr preferRelativeResize="0"/>
          <p:nvPr/>
        </p:nvPicPr>
        <p:blipFill rotWithShape="1">
          <a:blip r:embed="rId4">
            <a:alphaModFix/>
          </a:blip>
          <a:srcRect b="0" l="0" r="0" t="0"/>
          <a:stretch/>
        </p:blipFill>
        <p:spPr>
          <a:xfrm>
            <a:off x="1187677" y="1629836"/>
            <a:ext cx="6637896" cy="2410778"/>
          </a:xfrm>
          <a:prstGeom prst="rect">
            <a:avLst/>
          </a:prstGeom>
          <a:noFill/>
          <a:ln>
            <a:noFill/>
          </a:ln>
        </p:spPr>
      </p:pic>
      <p:pic>
        <p:nvPicPr>
          <p:cNvPr id="332" name="Google Shape;332;g3d10798bb04_3_43"/>
          <p:cNvPicPr preferRelativeResize="0"/>
          <p:nvPr/>
        </p:nvPicPr>
        <p:blipFill rotWithShape="1">
          <a:blip r:embed="rId5">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g3d10798bb04_3_48"/>
          <p:cNvSpPr txBox="1"/>
          <p:nvPr>
            <p:ph type="title"/>
          </p:nvPr>
        </p:nvSpPr>
        <p:spPr>
          <a:xfrm>
            <a:off x="838200" y="114375"/>
            <a:ext cx="10515600" cy="11565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Suppose empty string is passed in city</a:t>
            </a:r>
            <a:endParaRPr/>
          </a:p>
        </p:txBody>
      </p:sp>
      <p:sp>
        <p:nvSpPr>
          <p:cNvPr id="338" name="Google Shape;338;g3d10798bb04_3_48"/>
          <p:cNvSpPr txBox="1"/>
          <p:nvPr>
            <p:ph idx="1" type="body"/>
          </p:nvPr>
        </p:nvSpPr>
        <p:spPr>
          <a:xfrm>
            <a:off x="669875" y="1492075"/>
            <a:ext cx="10683900" cy="4684800"/>
          </a:xfrm>
          <a:prstGeom prst="rect">
            <a:avLst/>
          </a:prstGeom>
        </p:spPr>
        <p:txBody>
          <a:bodyPr anchorCtr="0" anchor="t" bIns="45700" lIns="91425" spcFirstLastPara="1" rIns="91425" wrap="square" tIns="45700">
            <a:normAutofit/>
          </a:bodyPr>
          <a:lstStyle/>
          <a:p>
            <a:pPr indent="-182880" lvl="0" marL="182880" rtl="0" algn="l">
              <a:lnSpc>
                <a:spcPct val="100000"/>
              </a:lnSpc>
              <a:spcBef>
                <a:spcPts val="0"/>
              </a:spcBef>
              <a:spcAft>
                <a:spcPts val="0"/>
              </a:spcAft>
              <a:buClr>
                <a:srgbClr val="93A299"/>
              </a:buClr>
              <a:buSzPts val="2040"/>
              <a:buChar char="•"/>
            </a:pPr>
            <a:r>
              <a:rPr lang="en-US" sz="2400">
                <a:solidFill>
                  <a:srgbClr val="292934"/>
                </a:solidFill>
                <a:latin typeface="Arial"/>
                <a:ea typeface="Arial"/>
                <a:cs typeface="Arial"/>
                <a:sym typeface="Arial"/>
              </a:rPr>
              <a:t>Instead of printing empty string you can also use conditional expression in blade template file and print some default value.</a:t>
            </a:r>
            <a:endParaRPr sz="2400">
              <a:solidFill>
                <a:srgbClr val="292934"/>
              </a:solidFill>
              <a:latin typeface="Arial"/>
              <a:ea typeface="Arial"/>
              <a:cs typeface="Arial"/>
              <a:sym typeface="Arial"/>
            </a:endParaRPr>
          </a:p>
          <a:p>
            <a:pPr indent="0" lvl="0" marL="0" rtl="0" algn="l">
              <a:spcBef>
                <a:spcPts val="1000"/>
              </a:spcBef>
              <a:spcAft>
                <a:spcPts val="0"/>
              </a:spcAft>
              <a:buNone/>
            </a:pPr>
            <a:r>
              <a:t/>
            </a:r>
            <a:endParaRPr/>
          </a:p>
        </p:txBody>
      </p:sp>
      <p:pic>
        <p:nvPicPr>
          <p:cNvPr id="339" name="Google Shape;339;g3d10798bb04_3_48"/>
          <p:cNvPicPr preferRelativeResize="0"/>
          <p:nvPr/>
        </p:nvPicPr>
        <p:blipFill rotWithShape="1">
          <a:blip r:embed="rId3">
            <a:alphaModFix/>
          </a:blip>
          <a:srcRect b="0" l="0" r="0" t="0"/>
          <a:stretch/>
        </p:blipFill>
        <p:spPr>
          <a:xfrm>
            <a:off x="1572808" y="3429000"/>
            <a:ext cx="8287907" cy="1333686"/>
          </a:xfrm>
          <a:prstGeom prst="rect">
            <a:avLst/>
          </a:prstGeom>
          <a:noFill/>
          <a:ln>
            <a:noFill/>
          </a:ln>
        </p:spPr>
      </p:pic>
      <p:pic>
        <p:nvPicPr>
          <p:cNvPr id="340" name="Google Shape;340;g3d10798bb04_3_48"/>
          <p:cNvPicPr preferRelativeResize="0"/>
          <p:nvPr/>
        </p:nvPicPr>
        <p:blipFill rotWithShape="1">
          <a:blip r:embed="rId4">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g3d10798bb04_3_8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a:solidFill>
                  <a:schemeClr val="accent2"/>
                </a:solidFill>
              </a:rPr>
              <a:t>Data passing methods</a:t>
            </a:r>
            <a:endParaRPr b="1">
              <a:solidFill>
                <a:schemeClr val="accent2"/>
              </a:solidFill>
            </a:endParaRPr>
          </a:p>
        </p:txBody>
      </p:sp>
      <p:sp>
        <p:nvSpPr>
          <p:cNvPr id="346" name="Google Shape;346;g3d10798bb04_3_86"/>
          <p:cNvSpPr txBox="1"/>
          <p:nvPr>
            <p:ph idx="1" type="body"/>
          </p:nvPr>
        </p:nvSpPr>
        <p:spPr>
          <a:xfrm>
            <a:off x="838200" y="1527400"/>
            <a:ext cx="6150300" cy="46494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2400"/>
              </a:spcBef>
              <a:spcAft>
                <a:spcPts val="0"/>
              </a:spcAft>
              <a:buClr>
                <a:schemeClr val="dk1"/>
              </a:buClr>
              <a:buSzPts val="1100"/>
              <a:buFont typeface="Arial"/>
              <a:buNone/>
            </a:pPr>
            <a:r>
              <a:rPr b="1" lang="en-US" sz="2300">
                <a:latin typeface="Arial"/>
                <a:ea typeface="Arial"/>
                <a:cs typeface="Arial"/>
                <a:sym typeface="Arial"/>
              </a:rPr>
              <a:t>1. Using </a:t>
            </a:r>
            <a:r>
              <a:rPr b="1" lang="en-US" sz="2300">
                <a:solidFill>
                  <a:srgbClr val="188038"/>
                </a:solidFill>
                <a:latin typeface="Roboto Mono"/>
                <a:ea typeface="Roboto Mono"/>
                <a:cs typeface="Roboto Mono"/>
                <a:sym typeface="Roboto Mono"/>
              </a:rPr>
              <a:t>with()</a:t>
            </a:r>
            <a:r>
              <a:rPr b="1" lang="en-US" sz="2300">
                <a:latin typeface="Arial"/>
                <a:ea typeface="Arial"/>
                <a:cs typeface="Arial"/>
                <a:sym typeface="Arial"/>
              </a:rPr>
              <a:t> Method</a:t>
            </a:r>
            <a:endParaRPr b="1" sz="2300">
              <a:latin typeface="Arial"/>
              <a:ea typeface="Arial"/>
              <a:cs typeface="Arial"/>
              <a:sym typeface="Arial"/>
            </a:endParaRPr>
          </a:p>
          <a:p>
            <a:pPr indent="0" lvl="0" marL="0" rtl="0" algn="l">
              <a:lnSpc>
                <a:spcPct val="115000"/>
              </a:lnSpc>
              <a:spcBef>
                <a:spcPts val="600"/>
              </a:spcBef>
              <a:spcAft>
                <a:spcPts val="0"/>
              </a:spcAft>
              <a:buClr>
                <a:schemeClr val="dk1"/>
              </a:buClr>
              <a:buSzPts val="1100"/>
              <a:buFont typeface="Arial"/>
              <a:buNone/>
            </a:pPr>
            <a:r>
              <a:rPr lang="en-US" sz="2200">
                <a:latin typeface="Arial"/>
                <a:ea typeface="Arial"/>
                <a:cs typeface="Arial"/>
                <a:sym typeface="Arial"/>
              </a:rPr>
              <a:t>return view('welcome')-&gt;with('name', 'Parveen');</a:t>
            </a:r>
            <a:endParaRPr sz="22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200">
                <a:latin typeface="Arial"/>
                <a:ea typeface="Arial"/>
                <a:cs typeface="Arial"/>
                <a:sym typeface="Arial"/>
              </a:rPr>
              <a:t>In Blade (view file):</a:t>
            </a:r>
            <a:endParaRPr b="1" sz="2200">
              <a:latin typeface="Arial"/>
              <a:ea typeface="Arial"/>
              <a:cs typeface="Arial"/>
              <a:sym typeface="Arial"/>
            </a:endParaRPr>
          </a:p>
          <a:p>
            <a:pPr indent="0" lvl="0" marL="0" rtl="0" algn="l">
              <a:lnSpc>
                <a:spcPct val="115000"/>
              </a:lnSpc>
              <a:spcBef>
                <a:spcPts val="400"/>
              </a:spcBef>
              <a:spcAft>
                <a:spcPts val="0"/>
              </a:spcAft>
              <a:buClr>
                <a:schemeClr val="dk1"/>
              </a:buClr>
              <a:buSzPts val="1100"/>
              <a:buFont typeface="Arial"/>
              <a:buNone/>
            </a:pPr>
            <a:r>
              <a:rPr lang="en-US" sz="2200">
                <a:latin typeface="Arial"/>
                <a:ea typeface="Arial"/>
                <a:cs typeface="Arial"/>
                <a:sym typeface="Arial"/>
              </a:rPr>
              <a:t>&lt;h1&gt;{{ $name }}&lt;/h1&gt;</a:t>
            </a:r>
            <a:endParaRPr sz="2200">
              <a:latin typeface="Arial"/>
              <a:ea typeface="Arial"/>
              <a:cs typeface="Arial"/>
              <a:sym typeface="Arial"/>
            </a:endParaRPr>
          </a:p>
          <a:p>
            <a:pPr indent="0" lvl="0" marL="0" rtl="0" algn="l">
              <a:lnSpc>
                <a:spcPct val="115000"/>
              </a:lnSpc>
              <a:spcBef>
                <a:spcPts val="2400"/>
              </a:spcBef>
              <a:spcAft>
                <a:spcPts val="0"/>
              </a:spcAft>
              <a:buNone/>
            </a:pPr>
            <a:r>
              <a:rPr b="1" lang="en-US" sz="2300">
                <a:latin typeface="Arial"/>
                <a:ea typeface="Arial"/>
                <a:cs typeface="Arial"/>
                <a:sym typeface="Arial"/>
              </a:rPr>
              <a:t>2. Using </a:t>
            </a:r>
            <a:r>
              <a:rPr b="1" lang="en-US" sz="2300">
                <a:solidFill>
                  <a:srgbClr val="188038"/>
                </a:solidFill>
                <a:latin typeface="Roboto Mono"/>
                <a:ea typeface="Roboto Mono"/>
                <a:cs typeface="Roboto Mono"/>
                <a:sym typeface="Roboto Mono"/>
              </a:rPr>
              <a:t>compact()</a:t>
            </a:r>
            <a:r>
              <a:rPr b="1" lang="en-US" sz="2300">
                <a:latin typeface="Arial"/>
                <a:ea typeface="Arial"/>
                <a:cs typeface="Arial"/>
                <a:sym typeface="Arial"/>
              </a:rPr>
              <a:t> </a:t>
            </a:r>
            <a:endParaRPr b="1" sz="2300">
              <a:latin typeface="Arial"/>
              <a:ea typeface="Arial"/>
              <a:cs typeface="Arial"/>
              <a:sym typeface="Arial"/>
            </a:endParaRPr>
          </a:p>
          <a:p>
            <a:pPr indent="0" lvl="0" marL="0" rtl="0" algn="l">
              <a:lnSpc>
                <a:spcPct val="115000"/>
              </a:lnSpc>
              <a:spcBef>
                <a:spcPts val="2400"/>
              </a:spcBef>
              <a:spcAft>
                <a:spcPts val="0"/>
              </a:spcAft>
              <a:buClr>
                <a:schemeClr val="dk1"/>
              </a:buClr>
              <a:buSzPts val="1100"/>
              <a:buFont typeface="Arial"/>
              <a:buNone/>
            </a:pPr>
            <a:r>
              <a:rPr lang="en-US" sz="2200">
                <a:latin typeface="Arial"/>
                <a:ea typeface="Arial"/>
                <a:cs typeface="Arial"/>
                <a:sym typeface="Arial"/>
              </a:rPr>
              <a:t>[$name = "Parveen", $age = 22];</a:t>
            </a:r>
            <a:endParaRPr sz="2200">
              <a:latin typeface="Arial"/>
              <a:ea typeface="Arial"/>
              <a:cs typeface="Arial"/>
              <a:sym typeface="Arial"/>
            </a:endParaRPr>
          </a:p>
          <a:p>
            <a:pPr indent="0" lvl="0" marL="0" rtl="0" algn="l">
              <a:lnSpc>
                <a:spcPct val="115000"/>
              </a:lnSpc>
              <a:spcBef>
                <a:spcPts val="600"/>
              </a:spcBef>
              <a:spcAft>
                <a:spcPts val="0"/>
              </a:spcAft>
              <a:buClr>
                <a:schemeClr val="dk1"/>
              </a:buClr>
              <a:buSzPts val="1100"/>
              <a:buFont typeface="Arial"/>
              <a:buNone/>
            </a:pPr>
            <a:r>
              <a:rPr lang="en-US" sz="2200">
                <a:latin typeface="Arial"/>
                <a:ea typeface="Arial"/>
                <a:cs typeface="Arial"/>
                <a:sym typeface="Arial"/>
              </a:rPr>
              <a:t>return view('welcome', compact('name', 'age'));</a:t>
            </a:r>
            <a:endParaRPr sz="22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200">
                <a:latin typeface="Arial"/>
                <a:ea typeface="Arial"/>
                <a:cs typeface="Arial"/>
                <a:sym typeface="Arial"/>
              </a:rPr>
              <a:t>In Blade:</a:t>
            </a:r>
            <a:endParaRPr b="1" sz="2200">
              <a:latin typeface="Arial"/>
              <a:ea typeface="Arial"/>
              <a:cs typeface="Arial"/>
              <a:sym typeface="Arial"/>
            </a:endParaRPr>
          </a:p>
          <a:p>
            <a:pPr indent="0" lvl="0" marL="0" rtl="0" algn="l">
              <a:lnSpc>
                <a:spcPct val="115000"/>
              </a:lnSpc>
              <a:spcBef>
                <a:spcPts val="400"/>
              </a:spcBef>
              <a:spcAft>
                <a:spcPts val="0"/>
              </a:spcAft>
              <a:buClr>
                <a:schemeClr val="dk1"/>
              </a:buClr>
              <a:buSzPts val="1100"/>
              <a:buFont typeface="Arial"/>
              <a:buNone/>
            </a:pPr>
            <a:r>
              <a:rPr lang="en-US" sz="2200">
                <a:latin typeface="Arial"/>
                <a:ea typeface="Arial"/>
                <a:cs typeface="Arial"/>
                <a:sym typeface="Arial"/>
              </a:rPr>
              <a:t>&lt;h1&gt;{{ $name }}&lt;/h1&gt;</a:t>
            </a:r>
            <a:endParaRPr sz="2200">
              <a:latin typeface="Arial"/>
              <a:ea typeface="Arial"/>
              <a:cs typeface="Arial"/>
              <a:sym typeface="Arial"/>
            </a:endParaRPr>
          </a:p>
          <a:p>
            <a:pPr indent="0" lvl="0" marL="0" rtl="0" algn="l">
              <a:lnSpc>
                <a:spcPct val="115000"/>
              </a:lnSpc>
              <a:spcBef>
                <a:spcPts val="0"/>
              </a:spcBef>
              <a:spcAft>
                <a:spcPts val="0"/>
              </a:spcAft>
              <a:buNone/>
            </a:pPr>
            <a:r>
              <a:rPr lang="en-US" sz="2200">
                <a:latin typeface="Arial"/>
                <a:ea typeface="Arial"/>
                <a:cs typeface="Arial"/>
                <a:sym typeface="Arial"/>
              </a:rPr>
              <a:t>&lt;p&gt;{{ $age }}&lt;/p&gt;</a:t>
            </a:r>
            <a:endParaRPr sz="2200"/>
          </a:p>
        </p:txBody>
      </p:sp>
      <p:sp>
        <p:nvSpPr>
          <p:cNvPr id="347" name="Google Shape;347;g3d10798bb04_3_86"/>
          <p:cNvSpPr txBox="1"/>
          <p:nvPr/>
        </p:nvSpPr>
        <p:spPr>
          <a:xfrm>
            <a:off x="6878025" y="2840925"/>
            <a:ext cx="4120200" cy="349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2200">
                <a:solidFill>
                  <a:srgbClr val="188038"/>
                </a:solidFill>
                <a:latin typeface="Roboto Mono"/>
                <a:ea typeface="Roboto Mono"/>
                <a:cs typeface="Roboto Mono"/>
                <a:sym typeface="Roboto Mono"/>
              </a:rPr>
              <a:t>compact()</a:t>
            </a:r>
            <a:r>
              <a:rPr lang="en-US" sz="2200">
                <a:solidFill>
                  <a:schemeClr val="dk1"/>
                </a:solidFill>
              </a:rPr>
              <a:t> converts variables into an associative array:</a:t>
            </a:r>
            <a:endParaRPr sz="2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200">
                <a:solidFill>
                  <a:schemeClr val="dk1"/>
                </a:solidFill>
              </a:rPr>
              <a:t>['name' =&gt; $name, 'age' =&gt; $age]</a:t>
            </a:r>
            <a:endParaRPr sz="2200">
              <a:solidFill>
                <a:schemeClr val="dk1"/>
              </a:solidFill>
              <a:latin typeface="Calibri"/>
              <a:ea typeface="Calibri"/>
              <a:cs typeface="Calibri"/>
              <a:sym typeface="Calibri"/>
            </a:endParaRPr>
          </a:p>
          <a:p>
            <a:pPr indent="0" lvl="0" marL="0" rtl="0" algn="l">
              <a:spcBef>
                <a:spcPts val="0"/>
              </a:spcBef>
              <a:spcAft>
                <a:spcPts val="0"/>
              </a:spcAft>
              <a:buNone/>
            </a:pPr>
            <a:r>
              <a:t/>
            </a:r>
            <a:endParaRPr sz="2200">
              <a:solidFill>
                <a:schemeClr val="dk1"/>
              </a:solidFill>
              <a:latin typeface="Calibri"/>
              <a:ea typeface="Calibri"/>
              <a:cs typeface="Calibri"/>
              <a:sym typeface="Calibri"/>
            </a:endParaRPr>
          </a:p>
        </p:txBody>
      </p:sp>
      <p:pic>
        <p:nvPicPr>
          <p:cNvPr id="348" name="Google Shape;348;g3d10798bb04_3_86"/>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d10798bb04_3_107"/>
          <p:cNvSpPr txBox="1"/>
          <p:nvPr>
            <p:ph type="title"/>
          </p:nvPr>
        </p:nvSpPr>
        <p:spPr>
          <a:xfrm>
            <a:off x="600725" y="114375"/>
            <a:ext cx="10753200" cy="6171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US">
                <a:solidFill>
                  <a:schemeClr val="accent2"/>
                </a:solidFill>
              </a:rPr>
              <a:t>Data passing methods</a:t>
            </a:r>
            <a:endParaRPr b="1">
              <a:solidFill>
                <a:schemeClr val="accent2"/>
              </a:solidFill>
            </a:endParaRPr>
          </a:p>
        </p:txBody>
      </p:sp>
      <p:sp>
        <p:nvSpPr>
          <p:cNvPr id="354" name="Google Shape;354;g3d10798bb04_3_107"/>
          <p:cNvSpPr txBox="1"/>
          <p:nvPr>
            <p:ph idx="1" type="body"/>
          </p:nvPr>
        </p:nvSpPr>
        <p:spPr>
          <a:xfrm>
            <a:off x="531600" y="939000"/>
            <a:ext cx="8738400" cy="55584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2400"/>
              </a:spcBef>
              <a:spcAft>
                <a:spcPts val="0"/>
              </a:spcAft>
              <a:buNone/>
            </a:pPr>
            <a:r>
              <a:rPr b="1" lang="en-US" sz="2300">
                <a:latin typeface="Arial"/>
                <a:ea typeface="Arial"/>
                <a:cs typeface="Arial"/>
                <a:sym typeface="Arial"/>
              </a:rPr>
              <a:t> 3. Passing Data as Array</a:t>
            </a:r>
            <a:endParaRPr b="1" sz="2300">
              <a:latin typeface="Arial"/>
              <a:ea typeface="Arial"/>
              <a:cs typeface="Arial"/>
              <a:sym typeface="Arial"/>
            </a:endParaRPr>
          </a:p>
          <a:p>
            <a:pPr indent="0" lvl="0" marL="0" rtl="0" algn="l">
              <a:lnSpc>
                <a:spcPct val="115000"/>
              </a:lnSpc>
              <a:spcBef>
                <a:spcPts val="600"/>
              </a:spcBef>
              <a:spcAft>
                <a:spcPts val="0"/>
              </a:spcAft>
              <a:buNone/>
            </a:pPr>
            <a:r>
              <a:rPr lang="en-US" sz="2200">
                <a:latin typeface="Arial"/>
                <a:ea typeface="Arial"/>
                <a:cs typeface="Arial"/>
                <a:sym typeface="Arial"/>
              </a:rPr>
              <a:t> </a:t>
            </a:r>
            <a:r>
              <a:rPr lang="en-US" sz="2200">
                <a:latin typeface="Arial"/>
                <a:ea typeface="Arial"/>
                <a:cs typeface="Arial"/>
                <a:sym typeface="Arial"/>
              </a:rPr>
              <a:t>return view('welcome', [ 'name' =&gt; 'Parveen', 'age' =&gt; 22]);</a:t>
            </a:r>
            <a:endParaRPr sz="2200">
              <a:latin typeface="Arial"/>
              <a:ea typeface="Arial"/>
              <a:cs typeface="Arial"/>
              <a:sym typeface="Arial"/>
            </a:endParaRPr>
          </a:p>
          <a:p>
            <a:pPr indent="0" lvl="0" marL="1828800" rtl="0" algn="l">
              <a:lnSpc>
                <a:spcPct val="115000"/>
              </a:lnSpc>
              <a:spcBef>
                <a:spcPts val="0"/>
              </a:spcBef>
              <a:spcAft>
                <a:spcPts val="0"/>
              </a:spcAft>
              <a:buNone/>
            </a:pPr>
            <a:r>
              <a:t/>
            </a:r>
            <a:endParaRPr sz="2200">
              <a:latin typeface="Arial"/>
              <a:ea typeface="Arial"/>
              <a:cs typeface="Arial"/>
              <a:sym typeface="Arial"/>
            </a:endParaRPr>
          </a:p>
          <a:p>
            <a:pPr indent="0" lvl="0" marL="0" rtl="0" algn="l">
              <a:lnSpc>
                <a:spcPct val="115000"/>
              </a:lnSpc>
              <a:spcBef>
                <a:spcPts val="2400"/>
              </a:spcBef>
              <a:spcAft>
                <a:spcPts val="0"/>
              </a:spcAft>
              <a:buNone/>
            </a:pPr>
            <a:r>
              <a:rPr b="1" lang="en-US" sz="2300">
                <a:latin typeface="Arial"/>
                <a:ea typeface="Arial"/>
                <a:cs typeface="Arial"/>
                <a:sym typeface="Arial"/>
              </a:rPr>
              <a:t>4. Passing Multiple Data Using </a:t>
            </a:r>
            <a:r>
              <a:rPr b="1" lang="en-US" sz="2300">
                <a:solidFill>
                  <a:srgbClr val="188038"/>
                </a:solidFill>
                <a:latin typeface="Roboto Mono"/>
                <a:ea typeface="Roboto Mono"/>
                <a:cs typeface="Roboto Mono"/>
                <a:sym typeface="Roboto Mono"/>
              </a:rPr>
              <a:t>with()</a:t>
            </a:r>
            <a:endParaRPr b="1" sz="2300">
              <a:solidFill>
                <a:srgbClr val="188038"/>
              </a:solidFill>
              <a:latin typeface="Roboto Mono"/>
              <a:ea typeface="Roboto Mono"/>
              <a:cs typeface="Roboto Mono"/>
              <a:sym typeface="Roboto Mono"/>
            </a:endParaRPr>
          </a:p>
          <a:p>
            <a:pPr indent="0" lvl="0" marL="0" rtl="0" algn="l">
              <a:lnSpc>
                <a:spcPct val="115000"/>
              </a:lnSpc>
              <a:spcBef>
                <a:spcPts val="600"/>
              </a:spcBef>
              <a:spcAft>
                <a:spcPts val="0"/>
              </a:spcAft>
              <a:buNone/>
            </a:pPr>
            <a:r>
              <a:rPr lang="en-US" sz="2200">
                <a:latin typeface="Arial"/>
                <a:ea typeface="Arial"/>
                <a:cs typeface="Arial"/>
                <a:sym typeface="Arial"/>
              </a:rPr>
              <a:t>  </a:t>
            </a:r>
            <a:r>
              <a:rPr lang="en-US" sz="2200">
                <a:latin typeface="Arial"/>
                <a:ea typeface="Arial"/>
                <a:cs typeface="Arial"/>
                <a:sym typeface="Arial"/>
              </a:rPr>
              <a:t>return view('welcome')  -&gt;with('name', 'Parveen') -&gt;with('age', 22);</a:t>
            </a:r>
            <a:endParaRPr sz="2200">
              <a:latin typeface="Arial"/>
              <a:ea typeface="Arial"/>
              <a:cs typeface="Arial"/>
              <a:sym typeface="Arial"/>
            </a:endParaRPr>
          </a:p>
          <a:p>
            <a:pPr indent="0" lvl="0" marL="1828800" rtl="0" algn="l">
              <a:lnSpc>
                <a:spcPct val="115000"/>
              </a:lnSpc>
              <a:spcBef>
                <a:spcPts val="0"/>
              </a:spcBef>
              <a:spcAft>
                <a:spcPts val="0"/>
              </a:spcAft>
              <a:buNone/>
            </a:pPr>
            <a:r>
              <a:t/>
            </a:r>
            <a:endParaRPr sz="2200">
              <a:latin typeface="Arial"/>
              <a:ea typeface="Arial"/>
              <a:cs typeface="Arial"/>
              <a:sym typeface="Arial"/>
            </a:endParaRPr>
          </a:p>
          <a:p>
            <a:pPr indent="0" lvl="0" marL="0" rtl="0" algn="l">
              <a:lnSpc>
                <a:spcPct val="115000"/>
              </a:lnSpc>
              <a:spcBef>
                <a:spcPts val="2400"/>
              </a:spcBef>
              <a:spcAft>
                <a:spcPts val="0"/>
              </a:spcAft>
              <a:buNone/>
            </a:pPr>
            <a:r>
              <a:rPr b="1" lang="en-US" sz="2300">
                <a:latin typeface="Arial"/>
                <a:ea typeface="Arial"/>
                <a:cs typeface="Arial"/>
                <a:sym typeface="Arial"/>
              </a:rPr>
              <a:t>5. Passing Data from Route</a:t>
            </a:r>
            <a:endParaRPr b="1" sz="2300">
              <a:latin typeface="Arial"/>
              <a:ea typeface="Arial"/>
              <a:cs typeface="Arial"/>
              <a:sym typeface="Arial"/>
            </a:endParaRPr>
          </a:p>
          <a:p>
            <a:pPr indent="0" lvl="0" marL="1371600" rtl="0" algn="l">
              <a:lnSpc>
                <a:spcPct val="115000"/>
              </a:lnSpc>
              <a:spcBef>
                <a:spcPts val="600"/>
              </a:spcBef>
              <a:spcAft>
                <a:spcPts val="0"/>
              </a:spcAft>
              <a:buNone/>
            </a:pPr>
            <a:r>
              <a:rPr lang="en-US" sz="2200">
                <a:latin typeface="Arial"/>
                <a:ea typeface="Arial"/>
                <a:cs typeface="Arial"/>
                <a:sym typeface="Arial"/>
              </a:rPr>
              <a:t>Route::get('/test', function () {</a:t>
            </a:r>
            <a:endParaRPr sz="2200">
              <a:latin typeface="Arial"/>
              <a:ea typeface="Arial"/>
              <a:cs typeface="Arial"/>
              <a:sym typeface="Arial"/>
            </a:endParaRPr>
          </a:p>
          <a:p>
            <a:pPr indent="0" lvl="0" marL="1371600" rtl="0" algn="l">
              <a:lnSpc>
                <a:spcPct val="115000"/>
              </a:lnSpc>
              <a:spcBef>
                <a:spcPts val="0"/>
              </a:spcBef>
              <a:spcAft>
                <a:spcPts val="0"/>
              </a:spcAft>
              <a:buNone/>
            </a:pPr>
            <a:r>
              <a:rPr lang="en-US" sz="2200">
                <a:latin typeface="Arial"/>
                <a:ea typeface="Arial"/>
                <a:cs typeface="Arial"/>
                <a:sym typeface="Arial"/>
              </a:rPr>
              <a:t>   $students = [</a:t>
            </a:r>
            <a:endParaRPr sz="2200">
              <a:latin typeface="Arial"/>
              <a:ea typeface="Arial"/>
              <a:cs typeface="Arial"/>
              <a:sym typeface="Arial"/>
            </a:endParaRPr>
          </a:p>
          <a:p>
            <a:pPr indent="0" lvl="0" marL="1371600" rtl="0" algn="l">
              <a:lnSpc>
                <a:spcPct val="115000"/>
              </a:lnSpc>
              <a:spcBef>
                <a:spcPts val="0"/>
              </a:spcBef>
              <a:spcAft>
                <a:spcPts val="0"/>
              </a:spcAft>
              <a:buNone/>
            </a:pPr>
            <a:r>
              <a:rPr lang="en-US" sz="2200">
                <a:latin typeface="Arial"/>
                <a:ea typeface="Arial"/>
                <a:cs typeface="Arial"/>
                <a:sym typeface="Arial"/>
              </a:rPr>
              <a:t>       ['name' =&gt; 'Aman', 'roll' =&gt; 1],</a:t>
            </a:r>
            <a:endParaRPr sz="2200">
              <a:latin typeface="Arial"/>
              <a:ea typeface="Arial"/>
              <a:cs typeface="Arial"/>
              <a:sym typeface="Arial"/>
            </a:endParaRPr>
          </a:p>
          <a:p>
            <a:pPr indent="0" lvl="0" marL="1371600" rtl="0" algn="l">
              <a:lnSpc>
                <a:spcPct val="115000"/>
              </a:lnSpc>
              <a:spcBef>
                <a:spcPts val="0"/>
              </a:spcBef>
              <a:spcAft>
                <a:spcPts val="0"/>
              </a:spcAft>
              <a:buNone/>
            </a:pPr>
            <a:r>
              <a:rPr lang="en-US" sz="2200">
                <a:latin typeface="Arial"/>
                <a:ea typeface="Arial"/>
                <a:cs typeface="Arial"/>
                <a:sym typeface="Arial"/>
              </a:rPr>
              <a:t>       ['name' =&gt; 'Riya', 'roll' =&gt; 2]</a:t>
            </a:r>
            <a:endParaRPr sz="2200">
              <a:latin typeface="Arial"/>
              <a:ea typeface="Arial"/>
              <a:cs typeface="Arial"/>
              <a:sym typeface="Arial"/>
            </a:endParaRPr>
          </a:p>
          <a:p>
            <a:pPr indent="0" lvl="0" marL="1371600" rtl="0" algn="l">
              <a:lnSpc>
                <a:spcPct val="115000"/>
              </a:lnSpc>
              <a:spcBef>
                <a:spcPts val="0"/>
              </a:spcBef>
              <a:spcAft>
                <a:spcPts val="0"/>
              </a:spcAft>
              <a:buNone/>
            </a:pPr>
            <a:r>
              <a:rPr lang="en-US" sz="2200">
                <a:latin typeface="Arial"/>
                <a:ea typeface="Arial"/>
                <a:cs typeface="Arial"/>
                <a:sym typeface="Arial"/>
              </a:rPr>
              <a:t>   ];</a:t>
            </a:r>
            <a:endParaRPr sz="2200">
              <a:latin typeface="Arial"/>
              <a:ea typeface="Arial"/>
              <a:cs typeface="Arial"/>
              <a:sym typeface="Arial"/>
            </a:endParaRPr>
          </a:p>
          <a:p>
            <a:pPr indent="0" lvl="0" marL="1371600" rtl="0" algn="l">
              <a:lnSpc>
                <a:spcPct val="115000"/>
              </a:lnSpc>
              <a:spcBef>
                <a:spcPts val="0"/>
              </a:spcBef>
              <a:spcAft>
                <a:spcPts val="0"/>
              </a:spcAft>
              <a:buNone/>
            </a:pPr>
            <a:r>
              <a:rPr lang="en-US" sz="2200">
                <a:latin typeface="Arial"/>
                <a:ea typeface="Arial"/>
                <a:cs typeface="Arial"/>
                <a:sym typeface="Arial"/>
              </a:rPr>
              <a:t>   return view('students', compact('students'));</a:t>
            </a:r>
            <a:endParaRPr sz="2200">
              <a:latin typeface="Arial"/>
              <a:ea typeface="Arial"/>
              <a:cs typeface="Arial"/>
              <a:sym typeface="Arial"/>
            </a:endParaRPr>
          </a:p>
          <a:p>
            <a:pPr indent="0" lvl="0" marL="1371600" rtl="0" algn="l">
              <a:lnSpc>
                <a:spcPct val="115000"/>
              </a:lnSpc>
              <a:spcBef>
                <a:spcPts val="0"/>
              </a:spcBef>
              <a:spcAft>
                <a:spcPts val="0"/>
              </a:spcAft>
              <a:buNone/>
            </a:pPr>
            <a:r>
              <a:rPr lang="en-US" sz="2200">
                <a:latin typeface="Arial"/>
                <a:ea typeface="Arial"/>
                <a:cs typeface="Arial"/>
                <a:sym typeface="Arial"/>
              </a:rPr>
              <a:t>});</a:t>
            </a:r>
            <a:endParaRPr sz="2200"/>
          </a:p>
        </p:txBody>
      </p:sp>
      <p:pic>
        <p:nvPicPr>
          <p:cNvPr id="355" name="Google Shape;355;g3d10798bb04_3_107"/>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g3d10798bb04_3_112"/>
          <p:cNvSpPr txBox="1"/>
          <p:nvPr>
            <p:ph type="title"/>
          </p:nvPr>
        </p:nvSpPr>
        <p:spPr>
          <a:xfrm>
            <a:off x="838200" y="220025"/>
            <a:ext cx="10515600" cy="885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a:solidFill>
                  <a:schemeClr val="accent2"/>
                </a:solidFill>
              </a:rPr>
              <a:t>Data passing methods</a:t>
            </a:r>
            <a:endParaRPr b="1">
              <a:solidFill>
                <a:schemeClr val="accent2"/>
              </a:solidFill>
            </a:endParaRPr>
          </a:p>
        </p:txBody>
      </p:sp>
      <p:sp>
        <p:nvSpPr>
          <p:cNvPr id="361" name="Google Shape;361;g3d10798bb04_3_112"/>
          <p:cNvSpPr txBox="1"/>
          <p:nvPr>
            <p:ph idx="1" type="body"/>
          </p:nvPr>
        </p:nvSpPr>
        <p:spPr>
          <a:xfrm>
            <a:off x="656050" y="1356875"/>
            <a:ext cx="6692100" cy="52818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2400"/>
              </a:spcBef>
              <a:spcAft>
                <a:spcPts val="0"/>
              </a:spcAft>
              <a:buNone/>
            </a:pPr>
            <a:r>
              <a:rPr b="1" lang="en-US" sz="2300">
                <a:latin typeface="Arial"/>
                <a:ea typeface="Arial"/>
                <a:cs typeface="Arial"/>
                <a:sym typeface="Arial"/>
              </a:rPr>
              <a:t> 7. Displaying Data in Blade (Loop)</a:t>
            </a:r>
            <a:endParaRPr b="1" sz="2300">
              <a:latin typeface="Arial"/>
              <a:ea typeface="Arial"/>
              <a:cs typeface="Arial"/>
              <a:sym typeface="Arial"/>
            </a:endParaRPr>
          </a:p>
          <a:p>
            <a:pPr indent="0" lvl="0" marL="0" rtl="0" algn="l">
              <a:lnSpc>
                <a:spcPct val="115000"/>
              </a:lnSpc>
              <a:spcBef>
                <a:spcPts val="600"/>
              </a:spcBef>
              <a:spcAft>
                <a:spcPts val="0"/>
              </a:spcAft>
              <a:buNone/>
            </a:pPr>
            <a:r>
              <a:rPr lang="en-US" sz="2200">
                <a:latin typeface="Arial"/>
                <a:ea typeface="Arial"/>
                <a:cs typeface="Arial"/>
                <a:sym typeface="Arial"/>
              </a:rPr>
              <a:t>@foreach($students as $student)</a:t>
            </a:r>
            <a:endParaRPr sz="2200">
              <a:latin typeface="Arial"/>
              <a:ea typeface="Arial"/>
              <a:cs typeface="Arial"/>
              <a:sym typeface="Arial"/>
            </a:endParaRPr>
          </a:p>
          <a:p>
            <a:pPr indent="0" lvl="0" marL="0" rtl="0" algn="l">
              <a:lnSpc>
                <a:spcPct val="115000"/>
              </a:lnSpc>
              <a:spcBef>
                <a:spcPts val="0"/>
              </a:spcBef>
              <a:spcAft>
                <a:spcPts val="0"/>
              </a:spcAft>
              <a:buNone/>
            </a:pPr>
            <a:r>
              <a:rPr lang="en-US" sz="2200">
                <a:latin typeface="Arial"/>
                <a:ea typeface="Arial"/>
                <a:cs typeface="Arial"/>
                <a:sym typeface="Arial"/>
              </a:rPr>
              <a:t>   &lt;p&gt;{{ $student['name'] }} - {{ $student['roll'] }}&lt;/p&gt;</a:t>
            </a:r>
            <a:endParaRPr sz="2200">
              <a:latin typeface="Arial"/>
              <a:ea typeface="Arial"/>
              <a:cs typeface="Arial"/>
              <a:sym typeface="Arial"/>
            </a:endParaRPr>
          </a:p>
          <a:p>
            <a:pPr indent="0" lvl="0" marL="0" rtl="0" algn="l">
              <a:lnSpc>
                <a:spcPct val="115000"/>
              </a:lnSpc>
              <a:spcBef>
                <a:spcPts val="0"/>
              </a:spcBef>
              <a:spcAft>
                <a:spcPts val="0"/>
              </a:spcAft>
              <a:buNone/>
            </a:pPr>
            <a:r>
              <a:rPr lang="en-US" sz="2200">
                <a:latin typeface="Arial"/>
                <a:ea typeface="Arial"/>
                <a:cs typeface="Arial"/>
                <a:sym typeface="Arial"/>
              </a:rPr>
              <a:t>@endforeach</a:t>
            </a:r>
            <a:endParaRPr sz="2200">
              <a:latin typeface="Arial"/>
              <a:ea typeface="Arial"/>
              <a:cs typeface="Arial"/>
              <a:sym typeface="Arial"/>
            </a:endParaRPr>
          </a:p>
          <a:p>
            <a:pPr indent="0" lvl="0" marL="0" rtl="0" algn="l">
              <a:lnSpc>
                <a:spcPct val="115000"/>
              </a:lnSpc>
              <a:spcBef>
                <a:spcPts val="0"/>
              </a:spcBef>
              <a:spcAft>
                <a:spcPts val="0"/>
              </a:spcAft>
              <a:buNone/>
            </a:pPr>
            <a:r>
              <a:t/>
            </a:r>
            <a:endParaRPr sz="1100">
              <a:latin typeface="Arial"/>
              <a:ea typeface="Arial"/>
              <a:cs typeface="Arial"/>
              <a:sym typeface="Arial"/>
            </a:endParaRPr>
          </a:p>
          <a:p>
            <a:pPr indent="0" lvl="0" marL="0" rtl="0" algn="l">
              <a:lnSpc>
                <a:spcPct val="115000"/>
              </a:lnSpc>
              <a:spcBef>
                <a:spcPts val="2400"/>
              </a:spcBef>
              <a:spcAft>
                <a:spcPts val="0"/>
              </a:spcAft>
              <a:buNone/>
            </a:pPr>
            <a:r>
              <a:rPr b="1" lang="en-US" sz="2300">
                <a:latin typeface="Arial"/>
                <a:ea typeface="Arial"/>
                <a:cs typeface="Arial"/>
                <a:sym typeface="Arial"/>
              </a:rPr>
              <a:t>8. Passing Data to All Views (Global Data)</a:t>
            </a:r>
            <a:endParaRPr b="1" sz="2300">
              <a:latin typeface="Arial"/>
              <a:ea typeface="Arial"/>
              <a:cs typeface="Arial"/>
              <a:sym typeface="Arial"/>
            </a:endParaRPr>
          </a:p>
          <a:p>
            <a:pPr indent="0" lvl="0" marL="0" rtl="0" algn="l">
              <a:lnSpc>
                <a:spcPct val="115000"/>
              </a:lnSpc>
              <a:spcBef>
                <a:spcPts val="600"/>
              </a:spcBef>
              <a:spcAft>
                <a:spcPts val="0"/>
              </a:spcAft>
              <a:buNone/>
            </a:pPr>
            <a:r>
              <a:rPr lang="en-US" sz="2350">
                <a:latin typeface="Arial"/>
                <a:ea typeface="Arial"/>
                <a:cs typeface="Arial"/>
                <a:sym typeface="Arial"/>
              </a:rPr>
              <a:t>use Illuminate\Support\Facades\View;</a:t>
            </a:r>
            <a:endParaRPr sz="2350">
              <a:latin typeface="Arial"/>
              <a:ea typeface="Arial"/>
              <a:cs typeface="Arial"/>
              <a:sym typeface="Arial"/>
            </a:endParaRPr>
          </a:p>
          <a:p>
            <a:pPr indent="0" lvl="0" marL="0" rtl="0" algn="l">
              <a:lnSpc>
                <a:spcPct val="115000"/>
              </a:lnSpc>
              <a:spcBef>
                <a:spcPts val="0"/>
              </a:spcBef>
              <a:spcAft>
                <a:spcPts val="0"/>
              </a:spcAft>
              <a:buNone/>
            </a:pPr>
            <a:r>
              <a:t/>
            </a:r>
            <a:endParaRPr sz="2350">
              <a:latin typeface="Arial"/>
              <a:ea typeface="Arial"/>
              <a:cs typeface="Arial"/>
              <a:sym typeface="Arial"/>
            </a:endParaRPr>
          </a:p>
          <a:p>
            <a:pPr indent="0" lvl="0" marL="0" rtl="0" algn="l">
              <a:lnSpc>
                <a:spcPct val="115000"/>
              </a:lnSpc>
              <a:spcBef>
                <a:spcPts val="0"/>
              </a:spcBef>
              <a:spcAft>
                <a:spcPts val="0"/>
              </a:spcAft>
              <a:buNone/>
            </a:pPr>
            <a:r>
              <a:rPr lang="en-US" sz="2350">
                <a:latin typeface="Arial"/>
                <a:ea typeface="Arial"/>
                <a:cs typeface="Arial"/>
                <a:sym typeface="Arial"/>
              </a:rPr>
              <a:t>View::share('appName', 'My Laravel App');</a:t>
            </a:r>
            <a:endParaRPr sz="2350">
              <a:latin typeface="Arial"/>
              <a:ea typeface="Arial"/>
              <a:cs typeface="Arial"/>
              <a:sym typeface="Arial"/>
            </a:endParaRPr>
          </a:p>
          <a:p>
            <a:pPr indent="0" lvl="0" marL="0" rtl="0" algn="l">
              <a:lnSpc>
                <a:spcPct val="115000"/>
              </a:lnSpc>
              <a:spcBef>
                <a:spcPts val="1200"/>
              </a:spcBef>
              <a:spcAft>
                <a:spcPts val="0"/>
              </a:spcAft>
              <a:buNone/>
            </a:pPr>
            <a:r>
              <a:rPr lang="en-US" sz="2350">
                <a:latin typeface="Arial"/>
                <a:ea typeface="Arial"/>
                <a:cs typeface="Arial"/>
                <a:sym typeface="Arial"/>
              </a:rPr>
              <a:t>Now accessible in all views:</a:t>
            </a:r>
            <a:endParaRPr sz="2350">
              <a:latin typeface="Arial"/>
              <a:ea typeface="Arial"/>
              <a:cs typeface="Arial"/>
              <a:sym typeface="Arial"/>
            </a:endParaRPr>
          </a:p>
          <a:p>
            <a:pPr indent="0" lvl="0" marL="0" rtl="0" algn="l">
              <a:lnSpc>
                <a:spcPct val="115000"/>
              </a:lnSpc>
              <a:spcBef>
                <a:spcPts val="1200"/>
              </a:spcBef>
              <a:spcAft>
                <a:spcPts val="0"/>
              </a:spcAft>
              <a:buNone/>
            </a:pPr>
            <a:r>
              <a:rPr lang="en-US" sz="2350">
                <a:latin typeface="Arial"/>
                <a:ea typeface="Arial"/>
                <a:cs typeface="Arial"/>
                <a:sym typeface="Arial"/>
              </a:rPr>
              <a:t>&lt;h1&gt;{{ $appName }}&lt;/h1&gt;</a:t>
            </a:r>
            <a:endParaRPr sz="2350">
              <a:latin typeface="Arial"/>
              <a:ea typeface="Arial"/>
              <a:cs typeface="Arial"/>
              <a:sym typeface="Arial"/>
            </a:endParaRPr>
          </a:p>
          <a:p>
            <a:pPr indent="0" lvl="0" marL="0" rtl="0" algn="l">
              <a:lnSpc>
                <a:spcPct val="115000"/>
              </a:lnSpc>
              <a:spcBef>
                <a:spcPts val="0"/>
              </a:spcBef>
              <a:spcAft>
                <a:spcPts val="0"/>
              </a:spcAft>
              <a:buNone/>
            </a:pPr>
            <a:r>
              <a:t/>
            </a:r>
            <a:endParaRPr sz="1100">
              <a:latin typeface="Arial"/>
              <a:ea typeface="Arial"/>
              <a:cs typeface="Arial"/>
              <a:sym typeface="Arial"/>
            </a:endParaRPr>
          </a:p>
          <a:p>
            <a:pPr indent="0" lvl="0" marL="0" rtl="0" algn="l">
              <a:spcBef>
                <a:spcPts val="1000"/>
              </a:spcBef>
              <a:spcAft>
                <a:spcPts val="0"/>
              </a:spcAft>
              <a:buNone/>
            </a:pPr>
            <a:r>
              <a:t/>
            </a:r>
            <a:endParaRPr/>
          </a:p>
        </p:txBody>
      </p:sp>
      <p:pic>
        <p:nvPicPr>
          <p:cNvPr id="362" name="Google Shape;362;g3d10798bb04_3_112"/>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
        <p:nvSpPr>
          <p:cNvPr id="363" name="Google Shape;363;g3d10798bb04_3_112"/>
          <p:cNvSpPr txBox="1"/>
          <p:nvPr/>
        </p:nvSpPr>
        <p:spPr>
          <a:xfrm>
            <a:off x="7486400" y="3085200"/>
            <a:ext cx="4722300" cy="3064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Clr>
                <a:schemeClr val="dk1"/>
              </a:buClr>
              <a:buSzPts val="1100"/>
              <a:buFont typeface="Arial"/>
              <a:buNone/>
            </a:pPr>
            <a:r>
              <a:rPr b="1" lang="en-US" sz="2300">
                <a:solidFill>
                  <a:schemeClr val="dk1"/>
                </a:solidFill>
              </a:rPr>
              <a:t>9. Using </a:t>
            </a:r>
            <a:r>
              <a:rPr b="1" lang="en-US" sz="2300">
                <a:solidFill>
                  <a:srgbClr val="188038"/>
                </a:solidFill>
                <a:latin typeface="Roboto Mono"/>
                <a:ea typeface="Roboto Mono"/>
                <a:cs typeface="Roboto Mono"/>
                <a:sym typeface="Roboto Mono"/>
              </a:rPr>
              <a:t>view()-&gt;with()</a:t>
            </a:r>
            <a:r>
              <a:rPr b="1" lang="en-US" sz="2300">
                <a:solidFill>
                  <a:schemeClr val="dk1"/>
                </a:solidFill>
              </a:rPr>
              <a:t> Helper</a:t>
            </a:r>
            <a:endParaRPr b="1" sz="2300">
              <a:solidFill>
                <a:schemeClr val="dk1"/>
              </a:solidFill>
            </a:endParaRPr>
          </a:p>
          <a:p>
            <a:pPr indent="0" lvl="0" marL="0" rtl="0" algn="l">
              <a:lnSpc>
                <a:spcPct val="115000"/>
              </a:lnSpc>
              <a:spcBef>
                <a:spcPts val="600"/>
              </a:spcBef>
              <a:spcAft>
                <a:spcPts val="0"/>
              </a:spcAft>
              <a:buClr>
                <a:schemeClr val="dk1"/>
              </a:buClr>
              <a:buSzPts val="1100"/>
              <a:buFont typeface="Arial"/>
              <a:buNone/>
            </a:pPr>
            <a:r>
              <a:rPr lang="en-US" sz="2200">
                <a:solidFill>
                  <a:schemeClr val="dk1"/>
                </a:solidFill>
              </a:rPr>
              <a:t>return view('welcome')-&gt;with([</a:t>
            </a:r>
            <a:endParaRPr sz="2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200">
                <a:solidFill>
                  <a:schemeClr val="dk1"/>
                </a:solidFill>
              </a:rPr>
              <a:t>   'name' =&gt; 'Parveen',</a:t>
            </a:r>
            <a:endParaRPr sz="2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200">
                <a:solidFill>
                  <a:schemeClr val="dk1"/>
                </a:solidFill>
              </a:rPr>
              <a:t>   'age' =&gt; 22</a:t>
            </a:r>
            <a:endParaRPr sz="2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200">
                <a:solidFill>
                  <a:schemeClr val="dk1"/>
                </a:solidFill>
              </a:rPr>
              <a:t>]);</a:t>
            </a:r>
            <a:endParaRPr sz="2200">
              <a:solidFill>
                <a:schemeClr val="dk1"/>
              </a:solidFill>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g3d10798bb04_3_91"/>
          <p:cNvSpPr txBox="1"/>
          <p:nvPr>
            <p:ph type="title"/>
          </p:nvPr>
        </p:nvSpPr>
        <p:spPr>
          <a:xfrm>
            <a:off x="838200" y="365125"/>
            <a:ext cx="9441300" cy="8643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None/>
            </a:pPr>
            <a:r>
              <a:rPr b="1" lang="en-US" sz="2700">
                <a:solidFill>
                  <a:srgbClr val="D2533C"/>
                </a:solidFill>
                <a:latin typeface="Arial"/>
                <a:ea typeface="Arial"/>
                <a:cs typeface="Arial"/>
                <a:sym typeface="Arial"/>
              </a:rPr>
              <a:t>What is the purpose of views in Laravel?</a:t>
            </a:r>
            <a:endParaRPr sz="2700"/>
          </a:p>
        </p:txBody>
      </p:sp>
      <p:sp>
        <p:nvSpPr>
          <p:cNvPr id="369" name="Google Shape;369;g3d10798bb04_3_91"/>
          <p:cNvSpPr txBox="1"/>
          <p:nvPr>
            <p:ph idx="1" type="body"/>
          </p:nvPr>
        </p:nvSpPr>
        <p:spPr>
          <a:xfrm>
            <a:off x="838200" y="1229425"/>
            <a:ext cx="10515600" cy="4947300"/>
          </a:xfrm>
          <a:prstGeom prst="rect">
            <a:avLst/>
          </a:prstGeom>
        </p:spPr>
        <p:txBody>
          <a:bodyPr anchorCtr="0" anchor="t" bIns="45700" lIns="91425" spcFirstLastPara="1" rIns="91425" wrap="square" tIns="45700">
            <a:noAutofit/>
          </a:bodyPr>
          <a:lstStyle/>
          <a:p>
            <a:pPr indent="-225425" lvl="0" marL="182880" rtl="0" algn="l">
              <a:lnSpc>
                <a:spcPct val="100000"/>
              </a:lnSpc>
              <a:spcBef>
                <a:spcPts val="720"/>
              </a:spcBef>
              <a:spcAft>
                <a:spcPts val="0"/>
              </a:spcAft>
              <a:buClr>
                <a:srgbClr val="292934"/>
              </a:buClr>
              <a:buSzPts val="2200"/>
              <a:buFont typeface="Arial"/>
              <a:buChar char="•"/>
            </a:pPr>
            <a:r>
              <a:rPr lang="en-US" sz="2200">
                <a:solidFill>
                  <a:srgbClr val="292934"/>
                </a:solidFill>
                <a:latin typeface="Arial"/>
                <a:ea typeface="Arial"/>
                <a:cs typeface="Arial"/>
                <a:sym typeface="Arial"/>
              </a:rPr>
              <a:t>A) To store database records.</a:t>
            </a:r>
            <a:endParaRPr sz="2200">
              <a:solidFill>
                <a:srgbClr val="292934"/>
              </a:solidFill>
              <a:latin typeface="Arial"/>
              <a:ea typeface="Arial"/>
              <a:cs typeface="Arial"/>
              <a:sym typeface="Arial"/>
            </a:endParaRPr>
          </a:p>
          <a:p>
            <a:pPr indent="-139700" lvl="0" marL="182880" rtl="0" algn="l">
              <a:lnSpc>
                <a:spcPct val="100000"/>
              </a:lnSpc>
              <a:spcBef>
                <a:spcPts val="720"/>
              </a:spcBef>
              <a:spcAft>
                <a:spcPts val="0"/>
              </a:spcAft>
              <a:buClr>
                <a:srgbClr val="93A299"/>
              </a:buClr>
              <a:buSzPts val="2200"/>
              <a:buChar char="•"/>
            </a:pPr>
            <a:r>
              <a:rPr b="1" lang="en-US" sz="2200">
                <a:solidFill>
                  <a:srgbClr val="00B050"/>
                </a:solidFill>
                <a:latin typeface="Arial"/>
                <a:ea typeface="Arial"/>
                <a:cs typeface="Arial"/>
                <a:sym typeface="Arial"/>
              </a:rPr>
              <a:t>B) To separate controller/application logic from presentation logic.</a:t>
            </a:r>
            <a:endParaRPr sz="2200">
              <a:solidFill>
                <a:srgbClr val="292934"/>
              </a:solidFill>
              <a:latin typeface="Arial"/>
              <a:ea typeface="Arial"/>
              <a:cs typeface="Arial"/>
              <a:sym typeface="Arial"/>
            </a:endParaRPr>
          </a:p>
          <a:p>
            <a:pPr indent="-139700" lvl="0" marL="182880" rtl="0" algn="l">
              <a:lnSpc>
                <a:spcPct val="100000"/>
              </a:lnSpc>
              <a:spcBef>
                <a:spcPts val="720"/>
              </a:spcBef>
              <a:spcAft>
                <a:spcPts val="0"/>
              </a:spcAft>
              <a:buClr>
                <a:srgbClr val="93A299"/>
              </a:buClr>
              <a:buSzPts val="2200"/>
              <a:buChar char="•"/>
            </a:pPr>
            <a:r>
              <a:rPr lang="en-US" sz="2200">
                <a:solidFill>
                  <a:srgbClr val="292934"/>
                </a:solidFill>
                <a:latin typeface="Arial"/>
                <a:ea typeface="Arial"/>
                <a:cs typeface="Arial"/>
                <a:sym typeface="Arial"/>
              </a:rPr>
              <a:t>C) To define routes.</a:t>
            </a:r>
            <a:endParaRPr sz="2200">
              <a:solidFill>
                <a:srgbClr val="292934"/>
              </a:solidFill>
              <a:latin typeface="Arial"/>
              <a:ea typeface="Arial"/>
              <a:cs typeface="Arial"/>
              <a:sym typeface="Arial"/>
            </a:endParaRPr>
          </a:p>
          <a:p>
            <a:pPr indent="-139700" lvl="0" marL="182880" rtl="0" algn="l">
              <a:lnSpc>
                <a:spcPct val="100000"/>
              </a:lnSpc>
              <a:spcBef>
                <a:spcPts val="720"/>
              </a:spcBef>
              <a:spcAft>
                <a:spcPts val="0"/>
              </a:spcAft>
              <a:buClr>
                <a:srgbClr val="93A299"/>
              </a:buClr>
              <a:buSzPts val="2200"/>
              <a:buChar char="•"/>
            </a:pPr>
            <a:r>
              <a:rPr lang="en-US" sz="2200">
                <a:solidFill>
                  <a:srgbClr val="292934"/>
                </a:solidFill>
                <a:latin typeface="Arial"/>
                <a:ea typeface="Arial"/>
                <a:cs typeface="Arial"/>
                <a:sym typeface="Arial"/>
              </a:rPr>
              <a:t>D) To manage authentication.</a:t>
            </a:r>
            <a:endParaRPr sz="2200">
              <a:solidFill>
                <a:srgbClr val="292934"/>
              </a:solidFill>
              <a:latin typeface="Arial"/>
              <a:ea typeface="Arial"/>
              <a:cs typeface="Arial"/>
              <a:sym typeface="Arial"/>
            </a:endParaRPr>
          </a:p>
          <a:p>
            <a:pPr indent="0" lvl="0" marL="182880" rtl="0" algn="l">
              <a:lnSpc>
                <a:spcPct val="100000"/>
              </a:lnSpc>
              <a:spcBef>
                <a:spcPts val="720"/>
              </a:spcBef>
              <a:spcAft>
                <a:spcPts val="0"/>
              </a:spcAft>
              <a:buNone/>
            </a:pPr>
            <a:r>
              <a:t/>
            </a:r>
            <a:endParaRPr sz="2200">
              <a:solidFill>
                <a:srgbClr val="292934"/>
              </a:solidFill>
              <a:latin typeface="Arial"/>
              <a:ea typeface="Arial"/>
              <a:cs typeface="Arial"/>
              <a:sym typeface="Arial"/>
            </a:endParaRPr>
          </a:p>
          <a:p>
            <a:pPr indent="0" lvl="0" marL="0" rtl="0" algn="l">
              <a:lnSpc>
                <a:spcPct val="100000"/>
              </a:lnSpc>
              <a:spcBef>
                <a:spcPts val="0"/>
              </a:spcBef>
              <a:spcAft>
                <a:spcPts val="0"/>
              </a:spcAft>
              <a:buNone/>
            </a:pPr>
            <a:r>
              <a:rPr b="1" lang="en-US" sz="2700">
                <a:solidFill>
                  <a:srgbClr val="D2533C"/>
                </a:solidFill>
                <a:latin typeface="Arial"/>
                <a:ea typeface="Arial"/>
                <a:cs typeface="Arial"/>
                <a:sym typeface="Arial"/>
              </a:rPr>
              <a:t>Where are views typically stored in a Laravel application?</a:t>
            </a:r>
            <a:endParaRPr sz="2200">
              <a:solidFill>
                <a:srgbClr val="292934"/>
              </a:solidFill>
              <a:latin typeface="Arial"/>
              <a:ea typeface="Arial"/>
              <a:cs typeface="Arial"/>
              <a:sym typeface="Arial"/>
            </a:endParaRPr>
          </a:p>
          <a:p>
            <a:pPr indent="-149859" lvl="0" marL="182880" rtl="0" algn="l">
              <a:lnSpc>
                <a:spcPct val="100000"/>
              </a:lnSpc>
              <a:spcBef>
                <a:spcPts val="640"/>
              </a:spcBef>
              <a:spcAft>
                <a:spcPts val="0"/>
              </a:spcAft>
              <a:buClr>
                <a:srgbClr val="93A299"/>
              </a:buClr>
              <a:buSzPts val="2200"/>
              <a:buChar char="•"/>
            </a:pPr>
            <a:r>
              <a:rPr lang="en-US" sz="2200">
                <a:solidFill>
                  <a:srgbClr val="292934"/>
                </a:solidFill>
                <a:latin typeface="Arial"/>
                <a:ea typeface="Arial"/>
                <a:cs typeface="Arial"/>
                <a:sym typeface="Arial"/>
              </a:rPr>
              <a:t>A) In the public directory.</a:t>
            </a:r>
            <a:endParaRPr sz="2200">
              <a:solidFill>
                <a:srgbClr val="292934"/>
              </a:solidFill>
              <a:latin typeface="Arial"/>
              <a:ea typeface="Arial"/>
              <a:cs typeface="Arial"/>
              <a:sym typeface="Arial"/>
            </a:endParaRPr>
          </a:p>
          <a:p>
            <a:pPr indent="-149859" lvl="0" marL="182880" rtl="0" algn="l">
              <a:lnSpc>
                <a:spcPct val="100000"/>
              </a:lnSpc>
              <a:spcBef>
                <a:spcPts val="640"/>
              </a:spcBef>
              <a:spcAft>
                <a:spcPts val="0"/>
              </a:spcAft>
              <a:buClr>
                <a:srgbClr val="93A299"/>
              </a:buClr>
              <a:buSzPts val="2200"/>
              <a:buChar char="•"/>
            </a:pPr>
            <a:r>
              <a:rPr lang="en-US" sz="2200">
                <a:solidFill>
                  <a:srgbClr val="292934"/>
                </a:solidFill>
                <a:latin typeface="Arial"/>
                <a:ea typeface="Arial"/>
                <a:cs typeface="Arial"/>
                <a:sym typeface="Arial"/>
              </a:rPr>
              <a:t>B) In the app/views folder.</a:t>
            </a:r>
            <a:endParaRPr sz="2200">
              <a:solidFill>
                <a:srgbClr val="292934"/>
              </a:solidFill>
              <a:latin typeface="Arial"/>
              <a:ea typeface="Arial"/>
              <a:cs typeface="Arial"/>
              <a:sym typeface="Arial"/>
            </a:endParaRPr>
          </a:p>
          <a:p>
            <a:pPr indent="-149859" lvl="0" marL="182880" rtl="0" algn="l">
              <a:lnSpc>
                <a:spcPct val="100000"/>
              </a:lnSpc>
              <a:spcBef>
                <a:spcPts val="640"/>
              </a:spcBef>
              <a:spcAft>
                <a:spcPts val="0"/>
              </a:spcAft>
              <a:buClr>
                <a:srgbClr val="93A299"/>
              </a:buClr>
              <a:buSzPts val="2200"/>
              <a:buChar char="•"/>
            </a:pPr>
            <a:r>
              <a:rPr b="1" lang="en-US" sz="2200">
                <a:solidFill>
                  <a:srgbClr val="00B050"/>
                </a:solidFill>
                <a:latin typeface="Arial"/>
                <a:ea typeface="Arial"/>
                <a:cs typeface="Arial"/>
                <a:sym typeface="Arial"/>
              </a:rPr>
              <a:t>C) In the resources/views directory</a:t>
            </a:r>
            <a:r>
              <a:rPr lang="en-US" sz="2200">
                <a:solidFill>
                  <a:srgbClr val="292934"/>
                </a:solidFill>
                <a:latin typeface="Arial"/>
                <a:ea typeface="Arial"/>
                <a:cs typeface="Arial"/>
                <a:sym typeface="Arial"/>
              </a:rPr>
              <a:t>.</a:t>
            </a:r>
            <a:endParaRPr sz="2200">
              <a:solidFill>
                <a:srgbClr val="292934"/>
              </a:solidFill>
              <a:latin typeface="Arial"/>
              <a:ea typeface="Arial"/>
              <a:cs typeface="Arial"/>
              <a:sym typeface="Arial"/>
            </a:endParaRPr>
          </a:p>
          <a:p>
            <a:pPr indent="-149859" lvl="0" marL="182880" rtl="0" algn="l">
              <a:lnSpc>
                <a:spcPct val="100000"/>
              </a:lnSpc>
              <a:spcBef>
                <a:spcPts val="640"/>
              </a:spcBef>
              <a:spcAft>
                <a:spcPts val="0"/>
              </a:spcAft>
              <a:buClr>
                <a:srgbClr val="93A299"/>
              </a:buClr>
              <a:buSzPts val="2200"/>
              <a:buChar char="•"/>
            </a:pPr>
            <a:r>
              <a:rPr lang="en-US" sz="2200">
                <a:solidFill>
                  <a:srgbClr val="292934"/>
                </a:solidFill>
                <a:latin typeface="Arial"/>
                <a:ea typeface="Arial"/>
                <a:cs typeface="Arial"/>
                <a:sym typeface="Arial"/>
              </a:rPr>
              <a:t>D) In the database folder.</a:t>
            </a:r>
            <a:endParaRPr sz="2200">
              <a:solidFill>
                <a:srgbClr val="292934"/>
              </a:solidFill>
              <a:latin typeface="Arial"/>
              <a:ea typeface="Arial"/>
              <a:cs typeface="Arial"/>
              <a:sym typeface="Arial"/>
            </a:endParaRPr>
          </a:p>
          <a:p>
            <a:pPr indent="0" lvl="0" marL="0" rtl="0" algn="l">
              <a:lnSpc>
                <a:spcPct val="100000"/>
              </a:lnSpc>
              <a:spcBef>
                <a:spcPts val="0"/>
              </a:spcBef>
              <a:spcAft>
                <a:spcPts val="0"/>
              </a:spcAft>
              <a:buNone/>
            </a:pPr>
            <a:r>
              <a:t/>
            </a:r>
            <a:endParaRPr b="1" sz="2200">
              <a:solidFill>
                <a:srgbClr val="D2533C"/>
              </a:solidFill>
              <a:latin typeface="Arial"/>
              <a:ea typeface="Arial"/>
              <a:cs typeface="Arial"/>
              <a:sym typeface="Arial"/>
            </a:endParaRPr>
          </a:p>
          <a:p>
            <a:pPr indent="0" lvl="0" marL="0" rtl="0" algn="l">
              <a:spcBef>
                <a:spcPts val="1000"/>
              </a:spcBef>
              <a:spcAft>
                <a:spcPts val="0"/>
              </a:spcAft>
              <a:buNone/>
            </a:pPr>
            <a:r>
              <a:t/>
            </a:r>
            <a:endParaRPr sz="2200"/>
          </a:p>
        </p:txBody>
      </p:sp>
      <p:pic>
        <p:nvPicPr>
          <p:cNvPr id="370" name="Google Shape;370;g3d10798bb04_3_91"/>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3d10798bb04_3_96"/>
          <p:cNvSpPr txBox="1"/>
          <p:nvPr>
            <p:ph idx="1" type="body"/>
          </p:nvPr>
        </p:nvSpPr>
        <p:spPr>
          <a:xfrm>
            <a:off x="838200" y="468900"/>
            <a:ext cx="10063500" cy="5707800"/>
          </a:xfrm>
          <a:prstGeom prst="rect">
            <a:avLst/>
          </a:prstGeom>
        </p:spPr>
        <p:txBody>
          <a:bodyPr anchorCtr="0" anchor="t" bIns="45700" lIns="91425" spcFirstLastPara="1" rIns="91425" wrap="square" tIns="45700">
            <a:normAutofit lnSpcReduction="20000"/>
          </a:bodyPr>
          <a:lstStyle/>
          <a:p>
            <a:pPr indent="0" lvl="0" marL="0" rtl="0" algn="l">
              <a:lnSpc>
                <a:spcPct val="100000"/>
              </a:lnSpc>
              <a:spcBef>
                <a:spcPts val="0"/>
              </a:spcBef>
              <a:spcAft>
                <a:spcPts val="0"/>
              </a:spcAft>
              <a:buNone/>
            </a:pPr>
            <a:r>
              <a:rPr b="1" lang="en-US" sz="2700">
                <a:solidFill>
                  <a:srgbClr val="D2533C"/>
                </a:solidFill>
                <a:latin typeface="Arial"/>
                <a:ea typeface="Arial"/>
                <a:cs typeface="Arial"/>
                <a:sym typeface="Arial"/>
              </a:rPr>
              <a:t>Which file extension is used for Blade templates in Laravel views?</a:t>
            </a:r>
            <a:endParaRPr sz="2700">
              <a:solidFill>
                <a:srgbClr val="292934"/>
              </a:solidFill>
              <a:latin typeface="Arial"/>
              <a:ea typeface="Arial"/>
              <a:cs typeface="Arial"/>
              <a:sym typeface="Arial"/>
            </a:endParaRPr>
          </a:p>
          <a:p>
            <a:pPr indent="-139700" lvl="0" marL="182880" rtl="0" algn="l">
              <a:lnSpc>
                <a:spcPct val="100000"/>
              </a:lnSpc>
              <a:spcBef>
                <a:spcPts val="720"/>
              </a:spcBef>
              <a:spcAft>
                <a:spcPts val="0"/>
              </a:spcAft>
              <a:buClr>
                <a:srgbClr val="93A299"/>
              </a:buClr>
              <a:buSzPts val="2200"/>
              <a:buChar char="•"/>
            </a:pPr>
            <a:r>
              <a:rPr lang="en-US" sz="2200">
                <a:solidFill>
                  <a:srgbClr val="292934"/>
                </a:solidFill>
                <a:latin typeface="Arial"/>
                <a:ea typeface="Arial"/>
                <a:cs typeface="Arial"/>
                <a:sym typeface="Arial"/>
              </a:rPr>
              <a:t>A) .php</a:t>
            </a:r>
            <a:endParaRPr sz="2200">
              <a:solidFill>
                <a:srgbClr val="292934"/>
              </a:solidFill>
              <a:latin typeface="Arial"/>
              <a:ea typeface="Arial"/>
              <a:cs typeface="Arial"/>
              <a:sym typeface="Arial"/>
            </a:endParaRPr>
          </a:p>
          <a:p>
            <a:pPr indent="-139700" lvl="0" marL="182880" rtl="0" algn="l">
              <a:lnSpc>
                <a:spcPct val="100000"/>
              </a:lnSpc>
              <a:spcBef>
                <a:spcPts val="720"/>
              </a:spcBef>
              <a:spcAft>
                <a:spcPts val="0"/>
              </a:spcAft>
              <a:buClr>
                <a:srgbClr val="93A299"/>
              </a:buClr>
              <a:buSzPts val="2200"/>
              <a:buChar char="•"/>
            </a:pPr>
            <a:r>
              <a:rPr lang="en-US" sz="2200">
                <a:solidFill>
                  <a:srgbClr val="292934"/>
                </a:solidFill>
                <a:latin typeface="Arial"/>
                <a:ea typeface="Arial"/>
                <a:cs typeface="Arial"/>
                <a:sym typeface="Arial"/>
              </a:rPr>
              <a:t>B) .html</a:t>
            </a:r>
            <a:endParaRPr sz="2200">
              <a:solidFill>
                <a:srgbClr val="292934"/>
              </a:solidFill>
              <a:latin typeface="Arial"/>
              <a:ea typeface="Arial"/>
              <a:cs typeface="Arial"/>
              <a:sym typeface="Arial"/>
            </a:endParaRPr>
          </a:p>
          <a:p>
            <a:pPr indent="-139700" lvl="0" marL="182880" rtl="0" algn="l">
              <a:lnSpc>
                <a:spcPct val="100000"/>
              </a:lnSpc>
              <a:spcBef>
                <a:spcPts val="720"/>
              </a:spcBef>
              <a:spcAft>
                <a:spcPts val="0"/>
              </a:spcAft>
              <a:buClr>
                <a:srgbClr val="93A299"/>
              </a:buClr>
              <a:buSzPts val="2200"/>
              <a:buChar char="•"/>
            </a:pPr>
            <a:r>
              <a:rPr b="1" lang="en-US" sz="2200">
                <a:solidFill>
                  <a:srgbClr val="00B050"/>
                </a:solidFill>
                <a:latin typeface="Arial"/>
                <a:ea typeface="Arial"/>
                <a:cs typeface="Arial"/>
                <a:sym typeface="Arial"/>
              </a:rPr>
              <a:t>C) .blade.php</a:t>
            </a:r>
            <a:endParaRPr b="1" sz="2200">
              <a:solidFill>
                <a:srgbClr val="00B050"/>
              </a:solidFill>
              <a:latin typeface="Arial"/>
              <a:ea typeface="Arial"/>
              <a:cs typeface="Arial"/>
              <a:sym typeface="Arial"/>
            </a:endParaRPr>
          </a:p>
          <a:p>
            <a:pPr indent="-139700" lvl="0" marL="182880" rtl="0" algn="l">
              <a:lnSpc>
                <a:spcPct val="100000"/>
              </a:lnSpc>
              <a:spcBef>
                <a:spcPts val="720"/>
              </a:spcBef>
              <a:spcAft>
                <a:spcPts val="0"/>
              </a:spcAft>
              <a:buClr>
                <a:srgbClr val="93A299"/>
              </a:buClr>
              <a:buSzPts val="2200"/>
              <a:buChar char="•"/>
            </a:pPr>
            <a:r>
              <a:rPr lang="en-US" sz="2200">
                <a:solidFill>
                  <a:srgbClr val="292934"/>
                </a:solidFill>
                <a:latin typeface="Arial"/>
                <a:ea typeface="Arial"/>
                <a:cs typeface="Arial"/>
                <a:sym typeface="Arial"/>
              </a:rPr>
              <a:t>D) .view</a:t>
            </a:r>
            <a:endParaRPr sz="2200">
              <a:solidFill>
                <a:srgbClr val="292934"/>
              </a:solidFill>
              <a:latin typeface="Arial"/>
              <a:ea typeface="Arial"/>
              <a:cs typeface="Arial"/>
              <a:sym typeface="Arial"/>
            </a:endParaRPr>
          </a:p>
          <a:p>
            <a:pPr indent="0" lvl="0" marL="182880" rtl="0" algn="l">
              <a:lnSpc>
                <a:spcPct val="100000"/>
              </a:lnSpc>
              <a:spcBef>
                <a:spcPts val="720"/>
              </a:spcBef>
              <a:spcAft>
                <a:spcPts val="0"/>
              </a:spcAft>
              <a:buNone/>
            </a:pPr>
            <a:r>
              <a:t/>
            </a:r>
            <a:endParaRPr sz="2200">
              <a:solidFill>
                <a:srgbClr val="292934"/>
              </a:solidFill>
              <a:latin typeface="Arial"/>
              <a:ea typeface="Arial"/>
              <a:cs typeface="Arial"/>
              <a:sym typeface="Arial"/>
            </a:endParaRPr>
          </a:p>
          <a:p>
            <a:pPr indent="0" lvl="0" marL="0" rtl="0" algn="l">
              <a:lnSpc>
                <a:spcPct val="100000"/>
              </a:lnSpc>
              <a:spcBef>
                <a:spcPts val="0"/>
              </a:spcBef>
              <a:spcAft>
                <a:spcPts val="0"/>
              </a:spcAft>
              <a:buNone/>
            </a:pPr>
            <a:r>
              <a:rPr b="1" lang="en-US" sz="2700">
                <a:solidFill>
                  <a:srgbClr val="D2533C"/>
                </a:solidFill>
                <a:latin typeface="Arial"/>
                <a:ea typeface="Arial"/>
                <a:cs typeface="Arial"/>
                <a:sym typeface="Arial"/>
              </a:rPr>
              <a:t> In Blade templates, how can you access data that has been passed to a view?</a:t>
            </a:r>
            <a:endParaRPr b="1" sz="2700">
              <a:solidFill>
                <a:srgbClr val="D2533C"/>
              </a:solidFill>
              <a:latin typeface="Arial"/>
              <a:ea typeface="Arial"/>
              <a:cs typeface="Arial"/>
              <a:sym typeface="Arial"/>
            </a:endParaRPr>
          </a:p>
          <a:p>
            <a:pPr indent="-139700" lvl="0" marL="182880" rtl="0" algn="l">
              <a:lnSpc>
                <a:spcPct val="100000"/>
              </a:lnSpc>
              <a:spcBef>
                <a:spcPts val="720"/>
              </a:spcBef>
              <a:spcAft>
                <a:spcPts val="0"/>
              </a:spcAft>
              <a:buClr>
                <a:srgbClr val="93A299"/>
              </a:buClr>
              <a:buSzPts val="2200"/>
              <a:buChar char="•"/>
            </a:pPr>
            <a:r>
              <a:rPr lang="en-US" sz="2200">
                <a:solidFill>
                  <a:srgbClr val="292934"/>
                </a:solidFill>
                <a:latin typeface="Arial"/>
                <a:ea typeface="Arial"/>
                <a:cs typeface="Arial"/>
                <a:sym typeface="Arial"/>
              </a:rPr>
              <a:t>A) </a:t>
            </a:r>
            <a:r>
              <a:rPr b="1" lang="en-US" sz="2200">
                <a:solidFill>
                  <a:srgbClr val="00B050"/>
                </a:solidFill>
                <a:latin typeface="Arial"/>
                <a:ea typeface="Arial"/>
                <a:cs typeface="Arial"/>
                <a:sym typeface="Arial"/>
              </a:rPr>
              <a:t>By using the {{ data }} syntax.</a:t>
            </a:r>
            <a:endParaRPr sz="2200">
              <a:solidFill>
                <a:srgbClr val="292934"/>
              </a:solidFill>
              <a:latin typeface="Arial"/>
              <a:ea typeface="Arial"/>
              <a:cs typeface="Arial"/>
              <a:sym typeface="Arial"/>
            </a:endParaRPr>
          </a:p>
          <a:p>
            <a:pPr indent="-139700" lvl="0" marL="182880" rtl="0" algn="l">
              <a:lnSpc>
                <a:spcPct val="100000"/>
              </a:lnSpc>
              <a:spcBef>
                <a:spcPts val="720"/>
              </a:spcBef>
              <a:spcAft>
                <a:spcPts val="0"/>
              </a:spcAft>
              <a:buClr>
                <a:srgbClr val="93A299"/>
              </a:buClr>
              <a:buSzPts val="2200"/>
              <a:buChar char="•"/>
            </a:pPr>
            <a:r>
              <a:rPr lang="en-US" sz="2200">
                <a:solidFill>
                  <a:srgbClr val="292934"/>
                </a:solidFill>
                <a:latin typeface="Arial"/>
                <a:ea typeface="Arial"/>
                <a:cs typeface="Arial"/>
                <a:sym typeface="Arial"/>
              </a:rPr>
              <a:t>B) By using echo data; syntax.</a:t>
            </a:r>
            <a:endParaRPr sz="2200">
              <a:solidFill>
                <a:srgbClr val="292934"/>
              </a:solidFill>
              <a:latin typeface="Arial"/>
              <a:ea typeface="Arial"/>
              <a:cs typeface="Arial"/>
              <a:sym typeface="Arial"/>
            </a:endParaRPr>
          </a:p>
          <a:p>
            <a:pPr indent="-139700" lvl="0" marL="182880" rtl="0" algn="l">
              <a:lnSpc>
                <a:spcPct val="100000"/>
              </a:lnSpc>
              <a:spcBef>
                <a:spcPts val="720"/>
              </a:spcBef>
              <a:spcAft>
                <a:spcPts val="0"/>
              </a:spcAft>
              <a:buClr>
                <a:srgbClr val="93A299"/>
              </a:buClr>
              <a:buSzPts val="2200"/>
              <a:buChar char="•"/>
            </a:pPr>
            <a:r>
              <a:rPr lang="en-US" sz="2200">
                <a:solidFill>
                  <a:srgbClr val="292934"/>
                </a:solidFill>
                <a:latin typeface="Arial"/>
                <a:ea typeface="Arial"/>
                <a:cs typeface="Arial"/>
                <a:sym typeface="Arial"/>
              </a:rPr>
              <a:t>C) By using $data directly.</a:t>
            </a:r>
            <a:endParaRPr sz="2200">
              <a:solidFill>
                <a:srgbClr val="292934"/>
              </a:solidFill>
              <a:latin typeface="Arial"/>
              <a:ea typeface="Arial"/>
              <a:cs typeface="Arial"/>
              <a:sym typeface="Arial"/>
            </a:endParaRPr>
          </a:p>
          <a:p>
            <a:pPr indent="-139700" lvl="0" marL="182880" rtl="0" algn="l">
              <a:lnSpc>
                <a:spcPct val="100000"/>
              </a:lnSpc>
              <a:spcBef>
                <a:spcPts val="720"/>
              </a:spcBef>
              <a:spcAft>
                <a:spcPts val="0"/>
              </a:spcAft>
              <a:buClr>
                <a:srgbClr val="93A299"/>
              </a:buClr>
              <a:buSzPts val="2200"/>
              <a:buChar char="•"/>
            </a:pPr>
            <a:r>
              <a:rPr lang="en-US" sz="2200">
                <a:solidFill>
                  <a:srgbClr val="292934"/>
                </a:solidFill>
                <a:latin typeface="Arial"/>
                <a:ea typeface="Arial"/>
                <a:cs typeface="Arial"/>
                <a:sym typeface="Arial"/>
              </a:rPr>
              <a:t>D) By using the @data directive.</a:t>
            </a:r>
            <a:endParaRPr sz="2200">
              <a:solidFill>
                <a:srgbClr val="292934"/>
              </a:solidFill>
              <a:latin typeface="Arial"/>
              <a:ea typeface="Arial"/>
              <a:cs typeface="Arial"/>
              <a:sym typeface="Arial"/>
            </a:endParaRPr>
          </a:p>
          <a:p>
            <a:pPr indent="0" lvl="0" marL="0" rtl="0" algn="l">
              <a:lnSpc>
                <a:spcPct val="100000"/>
              </a:lnSpc>
              <a:spcBef>
                <a:spcPts val="0"/>
              </a:spcBef>
              <a:spcAft>
                <a:spcPts val="0"/>
              </a:spcAft>
              <a:buNone/>
            </a:pPr>
            <a:r>
              <a:t/>
            </a:r>
            <a:endParaRPr b="1" sz="2200">
              <a:solidFill>
                <a:srgbClr val="D2533C"/>
              </a:solidFill>
              <a:latin typeface="Arial"/>
              <a:ea typeface="Arial"/>
              <a:cs typeface="Arial"/>
              <a:sym typeface="Arial"/>
            </a:endParaRPr>
          </a:p>
          <a:p>
            <a:pPr indent="0" lvl="0" marL="0" rtl="0" algn="l">
              <a:spcBef>
                <a:spcPts val="1000"/>
              </a:spcBef>
              <a:spcAft>
                <a:spcPts val="0"/>
              </a:spcAft>
              <a:buNone/>
            </a:pPr>
            <a:r>
              <a:t/>
            </a:r>
            <a:endParaRPr sz="2200"/>
          </a:p>
        </p:txBody>
      </p:sp>
      <p:pic>
        <p:nvPicPr>
          <p:cNvPr id="376" name="Google Shape;376;g3d10798bb04_3_96"/>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g3d10798bb04_3_101"/>
          <p:cNvSpPr txBox="1"/>
          <p:nvPr>
            <p:ph idx="1" type="body"/>
          </p:nvPr>
        </p:nvSpPr>
        <p:spPr>
          <a:xfrm>
            <a:off x="838200" y="703925"/>
            <a:ext cx="10515600" cy="54729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None/>
            </a:pPr>
            <a:r>
              <a:rPr b="1" lang="en-US" sz="2700">
                <a:solidFill>
                  <a:srgbClr val="D2533C"/>
                </a:solidFill>
                <a:latin typeface="Arial"/>
                <a:ea typeface="Arial"/>
                <a:cs typeface="Arial"/>
                <a:sym typeface="Arial"/>
              </a:rPr>
              <a:t>What method can you use to add individual pieces of data to a view in Laravel, allowing you to chain multiple data additions?</a:t>
            </a:r>
            <a:endParaRPr sz="2700">
              <a:solidFill>
                <a:srgbClr val="292934"/>
              </a:solidFill>
              <a:latin typeface="Arial"/>
              <a:ea typeface="Arial"/>
              <a:cs typeface="Arial"/>
              <a:sym typeface="Arial"/>
            </a:endParaRPr>
          </a:p>
          <a:p>
            <a:pPr indent="-149859" lvl="0" marL="182880" rtl="0" algn="l">
              <a:lnSpc>
                <a:spcPct val="100000"/>
              </a:lnSpc>
              <a:spcBef>
                <a:spcPts val="640"/>
              </a:spcBef>
              <a:spcAft>
                <a:spcPts val="0"/>
              </a:spcAft>
              <a:buClr>
                <a:srgbClr val="93A299"/>
              </a:buClr>
              <a:buSzPts val="2200"/>
              <a:buChar char="•"/>
            </a:pPr>
            <a:r>
              <a:rPr lang="en-US" sz="2200">
                <a:solidFill>
                  <a:srgbClr val="292934"/>
                </a:solidFill>
                <a:latin typeface="Arial"/>
                <a:ea typeface="Arial"/>
                <a:cs typeface="Arial"/>
                <a:sym typeface="Arial"/>
              </a:rPr>
              <a:t>A) addData()</a:t>
            </a:r>
            <a:endParaRPr sz="2200">
              <a:solidFill>
                <a:srgbClr val="292934"/>
              </a:solidFill>
              <a:latin typeface="Arial"/>
              <a:ea typeface="Arial"/>
              <a:cs typeface="Arial"/>
              <a:sym typeface="Arial"/>
            </a:endParaRPr>
          </a:p>
          <a:p>
            <a:pPr indent="-149859" lvl="0" marL="182880" rtl="0" algn="l">
              <a:lnSpc>
                <a:spcPct val="100000"/>
              </a:lnSpc>
              <a:spcBef>
                <a:spcPts val="640"/>
              </a:spcBef>
              <a:spcAft>
                <a:spcPts val="0"/>
              </a:spcAft>
              <a:buClr>
                <a:srgbClr val="93A299"/>
              </a:buClr>
              <a:buSzPts val="2200"/>
              <a:buChar char="•"/>
            </a:pPr>
            <a:r>
              <a:rPr lang="en-US" sz="2200">
                <a:solidFill>
                  <a:srgbClr val="292934"/>
                </a:solidFill>
                <a:latin typeface="Arial"/>
                <a:ea typeface="Arial"/>
                <a:cs typeface="Arial"/>
                <a:sym typeface="Arial"/>
              </a:rPr>
              <a:t>B) includeData()</a:t>
            </a:r>
            <a:endParaRPr sz="2200">
              <a:solidFill>
                <a:srgbClr val="292934"/>
              </a:solidFill>
              <a:latin typeface="Arial"/>
              <a:ea typeface="Arial"/>
              <a:cs typeface="Arial"/>
              <a:sym typeface="Arial"/>
            </a:endParaRPr>
          </a:p>
          <a:p>
            <a:pPr indent="-149859" lvl="0" marL="182880" rtl="0" algn="l">
              <a:lnSpc>
                <a:spcPct val="100000"/>
              </a:lnSpc>
              <a:spcBef>
                <a:spcPts val="640"/>
              </a:spcBef>
              <a:spcAft>
                <a:spcPts val="0"/>
              </a:spcAft>
              <a:buClr>
                <a:srgbClr val="93A299"/>
              </a:buClr>
              <a:buSzPts val="2200"/>
              <a:buChar char="•"/>
            </a:pPr>
            <a:r>
              <a:rPr b="1" lang="en-US" sz="2200">
                <a:solidFill>
                  <a:srgbClr val="00B050"/>
                </a:solidFill>
                <a:latin typeface="Arial"/>
                <a:ea typeface="Arial"/>
                <a:cs typeface="Arial"/>
                <a:sym typeface="Arial"/>
              </a:rPr>
              <a:t>C) with()</a:t>
            </a:r>
            <a:endParaRPr sz="2200">
              <a:solidFill>
                <a:srgbClr val="292934"/>
              </a:solidFill>
              <a:latin typeface="Arial"/>
              <a:ea typeface="Arial"/>
              <a:cs typeface="Arial"/>
              <a:sym typeface="Arial"/>
            </a:endParaRPr>
          </a:p>
          <a:p>
            <a:pPr indent="-149859" lvl="0" marL="182880" rtl="0" algn="l">
              <a:lnSpc>
                <a:spcPct val="100000"/>
              </a:lnSpc>
              <a:spcBef>
                <a:spcPts val="640"/>
              </a:spcBef>
              <a:spcAft>
                <a:spcPts val="0"/>
              </a:spcAft>
              <a:buClr>
                <a:srgbClr val="93A299"/>
              </a:buClr>
              <a:buSzPts val="2200"/>
              <a:buChar char="•"/>
            </a:pPr>
            <a:r>
              <a:rPr lang="en-US" sz="2200">
                <a:solidFill>
                  <a:srgbClr val="292934"/>
                </a:solidFill>
                <a:latin typeface="Arial"/>
                <a:ea typeface="Arial"/>
                <a:cs typeface="Arial"/>
                <a:sym typeface="Arial"/>
              </a:rPr>
              <a:t>D) attachData()</a:t>
            </a:r>
            <a:endParaRPr sz="2200">
              <a:solidFill>
                <a:srgbClr val="292934"/>
              </a:solidFill>
              <a:latin typeface="Arial"/>
              <a:ea typeface="Arial"/>
              <a:cs typeface="Arial"/>
              <a:sym typeface="Arial"/>
            </a:endParaRPr>
          </a:p>
          <a:p>
            <a:pPr indent="0" lvl="0" marL="182880" rtl="0" algn="l">
              <a:lnSpc>
                <a:spcPct val="100000"/>
              </a:lnSpc>
              <a:spcBef>
                <a:spcPts val="640"/>
              </a:spcBef>
              <a:spcAft>
                <a:spcPts val="0"/>
              </a:spcAft>
              <a:buNone/>
            </a:pPr>
            <a:r>
              <a:t/>
            </a:r>
            <a:endParaRPr sz="2200">
              <a:solidFill>
                <a:srgbClr val="292934"/>
              </a:solidFill>
              <a:latin typeface="Arial"/>
              <a:ea typeface="Arial"/>
              <a:cs typeface="Arial"/>
              <a:sym typeface="Arial"/>
            </a:endParaRPr>
          </a:p>
          <a:p>
            <a:pPr indent="0" lvl="0" marL="0" rtl="0" algn="l">
              <a:lnSpc>
                <a:spcPct val="100000"/>
              </a:lnSpc>
              <a:spcBef>
                <a:spcPts val="0"/>
              </a:spcBef>
              <a:spcAft>
                <a:spcPts val="0"/>
              </a:spcAft>
              <a:buNone/>
            </a:pPr>
            <a:r>
              <a:rPr b="1" lang="en-US" sz="2700">
                <a:solidFill>
                  <a:srgbClr val="D2533C"/>
                </a:solidFill>
                <a:latin typeface="Arial"/>
                <a:ea typeface="Arial"/>
                <a:cs typeface="Arial"/>
                <a:sym typeface="Arial"/>
              </a:rPr>
              <a:t>How can you share data with all views rendered by your Laravel application?</a:t>
            </a:r>
            <a:endParaRPr b="1" sz="2700">
              <a:solidFill>
                <a:srgbClr val="D2533C"/>
              </a:solidFill>
              <a:latin typeface="Arial"/>
              <a:ea typeface="Arial"/>
              <a:cs typeface="Arial"/>
              <a:sym typeface="Arial"/>
            </a:endParaRPr>
          </a:p>
          <a:p>
            <a:pPr indent="-171450" lvl="0" marL="182880" rtl="0" algn="l">
              <a:lnSpc>
                <a:spcPct val="100000"/>
              </a:lnSpc>
              <a:spcBef>
                <a:spcPts val="560"/>
              </a:spcBef>
              <a:spcAft>
                <a:spcPts val="0"/>
              </a:spcAft>
              <a:buClr>
                <a:srgbClr val="93A299"/>
              </a:buClr>
              <a:buSzPts val="2200"/>
              <a:buChar char="•"/>
            </a:pPr>
            <a:r>
              <a:rPr lang="en-US" sz="2200">
                <a:solidFill>
                  <a:srgbClr val="292934"/>
                </a:solidFill>
                <a:latin typeface="Arial"/>
                <a:ea typeface="Arial"/>
                <a:cs typeface="Arial"/>
                <a:sym typeface="Arial"/>
              </a:rPr>
              <a:t>A) By storing it in a database.</a:t>
            </a:r>
            <a:endParaRPr sz="2200">
              <a:solidFill>
                <a:srgbClr val="292934"/>
              </a:solidFill>
              <a:latin typeface="Arial"/>
              <a:ea typeface="Arial"/>
              <a:cs typeface="Arial"/>
              <a:sym typeface="Arial"/>
            </a:endParaRPr>
          </a:p>
          <a:p>
            <a:pPr indent="-171450" lvl="0" marL="182880" rtl="0" algn="l">
              <a:lnSpc>
                <a:spcPct val="100000"/>
              </a:lnSpc>
              <a:spcBef>
                <a:spcPts val="560"/>
              </a:spcBef>
              <a:spcAft>
                <a:spcPts val="0"/>
              </a:spcAft>
              <a:buClr>
                <a:srgbClr val="93A299"/>
              </a:buClr>
              <a:buSzPts val="2200"/>
              <a:buChar char="•"/>
            </a:pPr>
            <a:r>
              <a:rPr lang="en-US" sz="2200">
                <a:solidFill>
                  <a:srgbClr val="292934"/>
                </a:solidFill>
                <a:latin typeface="Arial"/>
                <a:ea typeface="Arial"/>
                <a:cs typeface="Arial"/>
                <a:sym typeface="Arial"/>
              </a:rPr>
              <a:t>B) By using global variables.</a:t>
            </a:r>
            <a:endParaRPr sz="2200">
              <a:solidFill>
                <a:srgbClr val="292934"/>
              </a:solidFill>
              <a:latin typeface="Arial"/>
              <a:ea typeface="Arial"/>
              <a:cs typeface="Arial"/>
              <a:sym typeface="Arial"/>
            </a:endParaRPr>
          </a:p>
          <a:p>
            <a:pPr indent="-171450" lvl="0" marL="182880" rtl="0" algn="l">
              <a:lnSpc>
                <a:spcPct val="100000"/>
              </a:lnSpc>
              <a:spcBef>
                <a:spcPts val="560"/>
              </a:spcBef>
              <a:spcAft>
                <a:spcPts val="0"/>
              </a:spcAft>
              <a:buClr>
                <a:srgbClr val="93A299"/>
              </a:buClr>
              <a:buSzPts val="2200"/>
              <a:buChar char="•"/>
            </a:pPr>
            <a:r>
              <a:rPr b="1" lang="en-US" sz="2200">
                <a:solidFill>
                  <a:srgbClr val="00B050"/>
                </a:solidFill>
                <a:latin typeface="Arial"/>
                <a:ea typeface="Arial"/>
                <a:cs typeface="Arial"/>
                <a:sym typeface="Arial"/>
              </a:rPr>
              <a:t>C) By using the share method within a service provider's boot method</a:t>
            </a:r>
            <a:r>
              <a:rPr lang="en-US" sz="2200">
                <a:solidFill>
                  <a:srgbClr val="292934"/>
                </a:solidFill>
                <a:latin typeface="Arial"/>
                <a:ea typeface="Arial"/>
                <a:cs typeface="Arial"/>
                <a:sym typeface="Arial"/>
              </a:rPr>
              <a:t>.</a:t>
            </a:r>
            <a:endParaRPr sz="2200">
              <a:solidFill>
                <a:srgbClr val="292934"/>
              </a:solidFill>
              <a:latin typeface="Arial"/>
              <a:ea typeface="Arial"/>
              <a:cs typeface="Arial"/>
              <a:sym typeface="Arial"/>
            </a:endParaRPr>
          </a:p>
          <a:p>
            <a:pPr indent="-171450" lvl="0" marL="182880" rtl="0" algn="l">
              <a:lnSpc>
                <a:spcPct val="100000"/>
              </a:lnSpc>
              <a:spcBef>
                <a:spcPts val="560"/>
              </a:spcBef>
              <a:spcAft>
                <a:spcPts val="0"/>
              </a:spcAft>
              <a:buClr>
                <a:srgbClr val="93A299"/>
              </a:buClr>
              <a:buSzPts val="2200"/>
              <a:buChar char="•"/>
            </a:pPr>
            <a:r>
              <a:rPr lang="en-US" sz="2200">
                <a:solidFill>
                  <a:srgbClr val="292934"/>
                </a:solidFill>
                <a:latin typeface="Arial"/>
                <a:ea typeface="Arial"/>
                <a:cs typeface="Arial"/>
                <a:sym typeface="Arial"/>
              </a:rPr>
              <a:t>D) By passing it to each view individually.</a:t>
            </a:r>
            <a:endParaRPr sz="2200"/>
          </a:p>
        </p:txBody>
      </p:sp>
      <p:pic>
        <p:nvPicPr>
          <p:cNvPr id="382" name="Google Shape;382;g3d10798bb04_3_101"/>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d10798bb04_3_5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2533C"/>
              </a:buClr>
              <a:buSzPts val="4000"/>
              <a:buFont typeface="Arial"/>
              <a:buNone/>
            </a:pPr>
            <a:r>
              <a:rPr b="1" lang="en-US" sz="4000">
                <a:solidFill>
                  <a:srgbClr val="D2533C"/>
                </a:solidFill>
                <a:latin typeface="Arial"/>
                <a:ea typeface="Arial"/>
                <a:cs typeface="Arial"/>
                <a:sym typeface="Arial"/>
              </a:rPr>
              <a:t>Sharing Data With All Views</a:t>
            </a:r>
            <a:endParaRPr b="1" sz="4000">
              <a:solidFill>
                <a:srgbClr val="D2533C"/>
              </a:solidFill>
              <a:latin typeface="Arial"/>
              <a:ea typeface="Arial"/>
              <a:cs typeface="Arial"/>
              <a:sym typeface="Arial"/>
            </a:endParaRPr>
          </a:p>
          <a:p>
            <a:pPr indent="0" lvl="0" marL="0" rtl="0" algn="l">
              <a:spcBef>
                <a:spcPts val="0"/>
              </a:spcBef>
              <a:spcAft>
                <a:spcPts val="0"/>
              </a:spcAft>
              <a:buNone/>
            </a:pPr>
            <a:r>
              <a:t/>
            </a:r>
            <a:endParaRPr/>
          </a:p>
        </p:txBody>
      </p:sp>
      <p:sp>
        <p:nvSpPr>
          <p:cNvPr id="388" name="Google Shape;388;g3d10798bb04_3_59"/>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182880" lvl="0" marL="182880" rtl="0" algn="just">
              <a:lnSpc>
                <a:spcPct val="100000"/>
              </a:lnSpc>
              <a:spcBef>
                <a:spcPts val="0"/>
              </a:spcBef>
              <a:spcAft>
                <a:spcPts val="0"/>
              </a:spcAft>
              <a:buClr>
                <a:srgbClr val="93A299"/>
              </a:buClr>
              <a:buSzPts val="2040"/>
              <a:buChar char="•"/>
            </a:pPr>
            <a:r>
              <a:rPr lang="en-US" sz="2400">
                <a:solidFill>
                  <a:srgbClr val="292934"/>
                </a:solidFill>
                <a:latin typeface="Arial"/>
                <a:ea typeface="Arial"/>
                <a:cs typeface="Arial"/>
                <a:sym typeface="Arial"/>
              </a:rPr>
              <a:t>Occasionally, you may need to share data with all views that are rendered by your application.</a:t>
            </a:r>
            <a:endParaRPr sz="2400">
              <a:solidFill>
                <a:srgbClr val="292934"/>
              </a:solidFill>
              <a:latin typeface="Arial"/>
              <a:ea typeface="Arial"/>
              <a:cs typeface="Arial"/>
              <a:sym typeface="Arial"/>
            </a:endParaRPr>
          </a:p>
          <a:p>
            <a:pPr indent="-53339" lvl="0" marL="182880" rtl="0" algn="just">
              <a:lnSpc>
                <a:spcPct val="100000"/>
              </a:lnSpc>
              <a:spcBef>
                <a:spcPts val="480"/>
              </a:spcBef>
              <a:spcAft>
                <a:spcPts val="0"/>
              </a:spcAft>
              <a:buClr>
                <a:schemeClr val="dk1"/>
              </a:buClr>
              <a:buSzPts val="2040"/>
              <a:buFont typeface="Arial"/>
              <a:buNone/>
            </a:pPr>
            <a:r>
              <a:t/>
            </a:r>
            <a:endParaRPr sz="2400">
              <a:solidFill>
                <a:srgbClr val="292934"/>
              </a:solidFill>
              <a:latin typeface="Arial"/>
              <a:ea typeface="Arial"/>
              <a:cs typeface="Arial"/>
              <a:sym typeface="Arial"/>
            </a:endParaRPr>
          </a:p>
          <a:p>
            <a:pPr indent="-182880" lvl="0" marL="182880" rtl="0" algn="just">
              <a:lnSpc>
                <a:spcPct val="100000"/>
              </a:lnSpc>
              <a:spcBef>
                <a:spcPts val="480"/>
              </a:spcBef>
              <a:spcAft>
                <a:spcPts val="0"/>
              </a:spcAft>
              <a:buClr>
                <a:srgbClr val="93A299"/>
              </a:buClr>
              <a:buSzPts val="2040"/>
              <a:buChar char="•"/>
            </a:pPr>
            <a:r>
              <a:rPr lang="en-US" sz="2400">
                <a:solidFill>
                  <a:srgbClr val="292934"/>
                </a:solidFill>
                <a:latin typeface="Arial"/>
                <a:ea typeface="Arial"/>
                <a:cs typeface="Arial"/>
                <a:sym typeface="Arial"/>
              </a:rPr>
              <a:t>Typically, you should place calls to the share method within a service provider's boot method. </a:t>
            </a:r>
            <a:endParaRPr sz="2400">
              <a:solidFill>
                <a:srgbClr val="292934"/>
              </a:solidFill>
              <a:latin typeface="Arial"/>
              <a:ea typeface="Arial"/>
              <a:cs typeface="Arial"/>
              <a:sym typeface="Arial"/>
            </a:endParaRPr>
          </a:p>
          <a:p>
            <a:pPr indent="-53339" lvl="0" marL="182880" rtl="0" algn="just">
              <a:lnSpc>
                <a:spcPct val="100000"/>
              </a:lnSpc>
              <a:spcBef>
                <a:spcPts val="480"/>
              </a:spcBef>
              <a:spcAft>
                <a:spcPts val="0"/>
              </a:spcAft>
              <a:buClr>
                <a:schemeClr val="dk1"/>
              </a:buClr>
              <a:buSzPts val="2040"/>
              <a:buFont typeface="Arial"/>
              <a:buNone/>
            </a:pPr>
            <a:r>
              <a:t/>
            </a:r>
            <a:endParaRPr sz="2400">
              <a:solidFill>
                <a:srgbClr val="292934"/>
              </a:solidFill>
              <a:latin typeface="Arial"/>
              <a:ea typeface="Arial"/>
              <a:cs typeface="Arial"/>
              <a:sym typeface="Arial"/>
            </a:endParaRPr>
          </a:p>
          <a:p>
            <a:pPr indent="-182880" lvl="0" marL="182880" rtl="0" algn="just">
              <a:lnSpc>
                <a:spcPct val="100000"/>
              </a:lnSpc>
              <a:spcBef>
                <a:spcPts val="480"/>
              </a:spcBef>
              <a:spcAft>
                <a:spcPts val="0"/>
              </a:spcAft>
              <a:buClr>
                <a:srgbClr val="93A299"/>
              </a:buClr>
              <a:buSzPts val="2040"/>
              <a:buChar char="•"/>
            </a:pPr>
            <a:r>
              <a:rPr lang="en-US" sz="2400">
                <a:solidFill>
                  <a:srgbClr val="292934"/>
                </a:solidFill>
                <a:latin typeface="Arial"/>
                <a:ea typeface="Arial"/>
                <a:cs typeface="Arial"/>
                <a:sym typeface="Arial"/>
              </a:rPr>
              <a:t>You are free to add them to the App\Providers\AppServiceProvider class or generate a separate service provider to house them:</a:t>
            </a:r>
            <a:endParaRPr sz="2400">
              <a:solidFill>
                <a:srgbClr val="292934"/>
              </a:solidFill>
              <a:latin typeface="Arial"/>
              <a:ea typeface="Arial"/>
              <a:cs typeface="Arial"/>
              <a:sym typeface="Arial"/>
            </a:endParaRPr>
          </a:p>
          <a:p>
            <a:pPr indent="0" lvl="0" marL="0" rtl="0" algn="l">
              <a:spcBef>
                <a:spcPts val="1000"/>
              </a:spcBef>
              <a:spcAft>
                <a:spcPts val="0"/>
              </a:spcAft>
              <a:buNone/>
            </a:pPr>
            <a:r>
              <a:t/>
            </a:r>
            <a:endParaRPr/>
          </a:p>
        </p:txBody>
      </p:sp>
      <p:pic>
        <p:nvPicPr>
          <p:cNvPr id="389" name="Google Shape;389;g3d10798bb04_3_59"/>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3d10798bb04_3_6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2533C"/>
              </a:buClr>
              <a:buSzPts val="4000"/>
              <a:buFont typeface="Arial"/>
              <a:buNone/>
            </a:pPr>
            <a:r>
              <a:rPr b="1" lang="en-US" sz="4000">
                <a:solidFill>
                  <a:srgbClr val="D2533C"/>
                </a:solidFill>
                <a:latin typeface="Arial"/>
                <a:ea typeface="Arial"/>
                <a:cs typeface="Arial"/>
                <a:sym typeface="Arial"/>
              </a:rPr>
              <a:t>Sharing Data With All Views(contd.)</a:t>
            </a:r>
            <a:endParaRPr b="1" sz="4000">
              <a:solidFill>
                <a:srgbClr val="D2533C"/>
              </a:solidFill>
              <a:latin typeface="Arial"/>
              <a:ea typeface="Arial"/>
              <a:cs typeface="Arial"/>
              <a:sym typeface="Arial"/>
            </a:endParaRPr>
          </a:p>
          <a:p>
            <a:pPr indent="0" lvl="0" marL="0" rtl="0" algn="l">
              <a:spcBef>
                <a:spcPts val="0"/>
              </a:spcBef>
              <a:spcAft>
                <a:spcPts val="0"/>
              </a:spcAft>
              <a:buNone/>
            </a:pPr>
            <a:r>
              <a:t/>
            </a:r>
            <a:endParaRPr/>
          </a:p>
        </p:txBody>
      </p:sp>
      <p:sp>
        <p:nvSpPr>
          <p:cNvPr id="395" name="Google Shape;395;g3d10798bb04_3_6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77500" lnSpcReduction="20000"/>
          </a:bodyPr>
          <a:lstStyle/>
          <a:p>
            <a:pPr indent="0" lvl="0" marL="0" rtl="0" algn="just">
              <a:lnSpc>
                <a:spcPct val="100000"/>
              </a:lnSpc>
              <a:spcBef>
                <a:spcPts val="0"/>
              </a:spcBef>
              <a:spcAft>
                <a:spcPts val="0"/>
              </a:spcAft>
              <a:buClr>
                <a:schemeClr val="dk1"/>
              </a:buClr>
              <a:buSzPct val="85000"/>
              <a:buFont typeface="Arial"/>
              <a:buNone/>
            </a:pPr>
            <a:r>
              <a:rPr b="1" lang="en-US" sz="2400">
                <a:solidFill>
                  <a:srgbClr val="D2533C"/>
                </a:solidFill>
                <a:latin typeface="Arial"/>
                <a:ea typeface="Arial"/>
                <a:cs typeface="Arial"/>
                <a:sym typeface="Arial"/>
              </a:rPr>
              <a:t>?php</a:t>
            </a:r>
            <a:endParaRPr b="1" sz="2400">
              <a:solidFill>
                <a:srgbClr val="D2533C"/>
              </a:solidFill>
              <a:latin typeface="Arial"/>
              <a:ea typeface="Arial"/>
              <a:cs typeface="Arial"/>
              <a:sym typeface="Arial"/>
            </a:endParaRPr>
          </a:p>
          <a:p>
            <a:pPr indent="0" lvl="0" marL="0" rtl="0" algn="just">
              <a:lnSpc>
                <a:spcPct val="100000"/>
              </a:lnSpc>
              <a:spcBef>
                <a:spcPts val="480"/>
              </a:spcBef>
              <a:spcAft>
                <a:spcPts val="0"/>
              </a:spcAft>
              <a:buClr>
                <a:schemeClr val="dk1"/>
              </a:buClr>
              <a:buSzPct val="85000"/>
              <a:buFont typeface="Arial"/>
              <a:buNone/>
            </a:pPr>
            <a:r>
              <a:t/>
            </a:r>
            <a:endParaRPr b="1" sz="2400">
              <a:solidFill>
                <a:srgbClr val="D2533C"/>
              </a:solidFill>
              <a:latin typeface="Arial"/>
              <a:ea typeface="Arial"/>
              <a:cs typeface="Arial"/>
              <a:sym typeface="Arial"/>
            </a:endParaRPr>
          </a:p>
          <a:p>
            <a:pPr indent="0" lvl="0" marL="0" rtl="0" algn="just">
              <a:lnSpc>
                <a:spcPct val="100000"/>
              </a:lnSpc>
              <a:spcBef>
                <a:spcPts val="480"/>
              </a:spcBef>
              <a:spcAft>
                <a:spcPts val="0"/>
              </a:spcAft>
              <a:buClr>
                <a:schemeClr val="dk1"/>
              </a:buClr>
              <a:buSzPct val="85000"/>
              <a:buFont typeface="Arial"/>
              <a:buNone/>
            </a:pPr>
            <a:r>
              <a:rPr b="1" lang="en-US" sz="2400">
                <a:solidFill>
                  <a:srgbClr val="D2533C"/>
                </a:solidFill>
                <a:latin typeface="Arial"/>
                <a:ea typeface="Arial"/>
                <a:cs typeface="Arial"/>
                <a:sym typeface="Arial"/>
              </a:rPr>
              <a:t>namespace App\Providers;</a:t>
            </a:r>
            <a:endParaRPr sz="24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ct val="85000"/>
              <a:buFont typeface="Arial"/>
              <a:buNone/>
            </a:pPr>
            <a:r>
              <a:t/>
            </a:r>
            <a:endParaRPr b="1" sz="2400">
              <a:solidFill>
                <a:srgbClr val="D2533C"/>
              </a:solidFill>
              <a:latin typeface="Arial"/>
              <a:ea typeface="Arial"/>
              <a:cs typeface="Arial"/>
              <a:sym typeface="Arial"/>
            </a:endParaRPr>
          </a:p>
          <a:p>
            <a:pPr indent="0" lvl="0" marL="0" rtl="0" algn="just">
              <a:lnSpc>
                <a:spcPct val="100000"/>
              </a:lnSpc>
              <a:spcBef>
                <a:spcPts val="480"/>
              </a:spcBef>
              <a:spcAft>
                <a:spcPts val="0"/>
              </a:spcAft>
              <a:buClr>
                <a:schemeClr val="dk1"/>
              </a:buClr>
              <a:buSzPct val="85000"/>
              <a:buFont typeface="Arial"/>
              <a:buNone/>
            </a:pPr>
            <a:r>
              <a:rPr b="1" lang="en-US" sz="2400">
                <a:solidFill>
                  <a:srgbClr val="D2533C"/>
                </a:solidFill>
                <a:latin typeface="Arial"/>
                <a:ea typeface="Arial"/>
                <a:cs typeface="Arial"/>
                <a:sym typeface="Arial"/>
              </a:rPr>
              <a:t>class AppServiceProvider extends ServiceProvider</a:t>
            </a:r>
            <a:endParaRPr b="1" sz="2400">
              <a:solidFill>
                <a:srgbClr val="D2533C"/>
              </a:solidFill>
              <a:latin typeface="Arial"/>
              <a:ea typeface="Arial"/>
              <a:cs typeface="Arial"/>
              <a:sym typeface="Arial"/>
            </a:endParaRPr>
          </a:p>
          <a:p>
            <a:pPr indent="0" lvl="0" marL="0" rtl="0" algn="just">
              <a:lnSpc>
                <a:spcPct val="100000"/>
              </a:lnSpc>
              <a:spcBef>
                <a:spcPts val="480"/>
              </a:spcBef>
              <a:spcAft>
                <a:spcPts val="0"/>
              </a:spcAft>
              <a:buClr>
                <a:schemeClr val="dk1"/>
              </a:buClr>
              <a:buSzPct val="85000"/>
              <a:buFont typeface="Arial"/>
              <a:buNone/>
            </a:pPr>
            <a:r>
              <a:rPr b="1" lang="en-US" sz="2400">
                <a:solidFill>
                  <a:srgbClr val="D2533C"/>
                </a:solidFill>
                <a:latin typeface="Arial"/>
                <a:ea typeface="Arial"/>
                <a:cs typeface="Arial"/>
                <a:sym typeface="Arial"/>
              </a:rPr>
              <a:t>{</a:t>
            </a:r>
            <a:endParaRPr sz="24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ct val="85000"/>
              <a:buFont typeface="Arial"/>
              <a:buNone/>
            </a:pPr>
            <a:r>
              <a:rPr b="1" lang="en-US" sz="2400">
                <a:solidFill>
                  <a:srgbClr val="D2533C"/>
                </a:solidFill>
                <a:latin typeface="Arial"/>
                <a:ea typeface="Arial"/>
                <a:cs typeface="Arial"/>
                <a:sym typeface="Arial"/>
              </a:rPr>
              <a:t>public function boot()</a:t>
            </a:r>
            <a:endParaRPr sz="24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ct val="85000"/>
              <a:buFont typeface="Arial"/>
              <a:buNone/>
            </a:pPr>
            <a:r>
              <a:rPr b="1" lang="en-US" sz="2400">
                <a:solidFill>
                  <a:srgbClr val="D2533C"/>
                </a:solidFill>
                <a:latin typeface="Arial"/>
                <a:ea typeface="Arial"/>
                <a:cs typeface="Arial"/>
                <a:sym typeface="Arial"/>
              </a:rPr>
              <a:t>    {</a:t>
            </a:r>
            <a:endParaRPr sz="24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ct val="85000"/>
              <a:buFont typeface="Arial"/>
              <a:buNone/>
            </a:pPr>
            <a:r>
              <a:rPr b="1" lang="en-US" sz="2400">
                <a:solidFill>
                  <a:srgbClr val="D2533C"/>
                </a:solidFill>
                <a:latin typeface="Arial"/>
                <a:ea typeface="Arial"/>
                <a:cs typeface="Arial"/>
                <a:sym typeface="Arial"/>
              </a:rPr>
              <a:t>        view()::share('name', 'Pooja');</a:t>
            </a:r>
            <a:endParaRPr sz="24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ct val="85000"/>
              <a:buFont typeface="Arial"/>
              <a:buNone/>
            </a:pPr>
            <a:r>
              <a:rPr b="1" lang="en-US" sz="2400">
                <a:solidFill>
                  <a:srgbClr val="D2533C"/>
                </a:solidFill>
                <a:latin typeface="Arial"/>
                <a:ea typeface="Arial"/>
                <a:cs typeface="Arial"/>
                <a:sym typeface="Arial"/>
              </a:rPr>
              <a:t>    }</a:t>
            </a:r>
            <a:endParaRPr sz="2400">
              <a:solidFill>
                <a:srgbClr val="292934"/>
              </a:solidFill>
              <a:latin typeface="Arial"/>
              <a:ea typeface="Arial"/>
              <a:cs typeface="Arial"/>
              <a:sym typeface="Arial"/>
            </a:endParaRPr>
          </a:p>
          <a:p>
            <a:pPr indent="0" lvl="0" marL="0" rtl="0" algn="just">
              <a:lnSpc>
                <a:spcPct val="100000"/>
              </a:lnSpc>
              <a:spcBef>
                <a:spcPts val="480"/>
              </a:spcBef>
              <a:spcAft>
                <a:spcPts val="0"/>
              </a:spcAft>
              <a:buNone/>
            </a:pPr>
            <a:r>
              <a:rPr b="1" lang="en-US" sz="2400">
                <a:solidFill>
                  <a:srgbClr val="D2533C"/>
                </a:solidFill>
                <a:latin typeface="Arial"/>
                <a:ea typeface="Arial"/>
                <a:cs typeface="Arial"/>
                <a:sym typeface="Arial"/>
              </a:rPr>
              <a:t>}</a:t>
            </a:r>
            <a:endParaRPr b="1" sz="2400">
              <a:solidFill>
                <a:srgbClr val="D2533C"/>
              </a:solidFill>
              <a:latin typeface="Arial"/>
              <a:ea typeface="Arial"/>
              <a:cs typeface="Arial"/>
              <a:sym typeface="Arial"/>
            </a:endParaRPr>
          </a:p>
          <a:p>
            <a:pPr indent="0" lvl="0" marL="0" rtl="0" algn="just">
              <a:lnSpc>
                <a:spcPct val="100000"/>
              </a:lnSpc>
              <a:spcBef>
                <a:spcPts val="480"/>
              </a:spcBef>
              <a:spcAft>
                <a:spcPts val="0"/>
              </a:spcAft>
              <a:buNone/>
            </a:pPr>
            <a:r>
              <a:rPr b="1" lang="en-US" sz="2400">
                <a:solidFill>
                  <a:srgbClr val="D2533C"/>
                </a:solidFill>
                <a:latin typeface="Arial"/>
                <a:ea typeface="Arial"/>
                <a:cs typeface="Arial"/>
                <a:sym typeface="Arial"/>
              </a:rPr>
              <a:t>on any view</a:t>
            </a:r>
            <a:endParaRPr b="1" sz="2400">
              <a:solidFill>
                <a:srgbClr val="D2533C"/>
              </a:solidFill>
              <a:latin typeface="Arial"/>
              <a:ea typeface="Arial"/>
              <a:cs typeface="Arial"/>
              <a:sym typeface="Arial"/>
            </a:endParaRPr>
          </a:p>
          <a:p>
            <a:pPr indent="0" lvl="0" marL="0" rtl="0" algn="just">
              <a:lnSpc>
                <a:spcPct val="100000"/>
              </a:lnSpc>
              <a:spcBef>
                <a:spcPts val="480"/>
              </a:spcBef>
              <a:spcAft>
                <a:spcPts val="0"/>
              </a:spcAft>
              <a:buClr>
                <a:schemeClr val="dk1"/>
              </a:buClr>
              <a:buSzPct val="85000"/>
              <a:buFont typeface="Arial"/>
              <a:buNone/>
            </a:pPr>
            <a:r>
              <a:rPr b="1" lang="en-US" sz="2400">
                <a:solidFill>
                  <a:srgbClr val="D2533C"/>
                </a:solidFill>
                <a:latin typeface="Arial"/>
                <a:ea typeface="Arial"/>
                <a:cs typeface="Arial"/>
                <a:sym typeface="Arial"/>
              </a:rPr>
              <a:t>&lt;h2&gt;User name is :{{$name}}&lt;\h2&gt;      // can be directly accessed</a:t>
            </a:r>
            <a:endParaRPr b="1" sz="2400">
              <a:solidFill>
                <a:srgbClr val="D2533C"/>
              </a:solidFill>
              <a:latin typeface="Arial"/>
              <a:ea typeface="Arial"/>
              <a:cs typeface="Arial"/>
              <a:sym typeface="Arial"/>
            </a:endParaRPr>
          </a:p>
          <a:p>
            <a:pPr indent="0" lvl="0" marL="0" rtl="0" algn="l">
              <a:spcBef>
                <a:spcPts val="1000"/>
              </a:spcBef>
              <a:spcAft>
                <a:spcPts val="0"/>
              </a:spcAft>
              <a:buNone/>
            </a:pPr>
            <a:r>
              <a:t/>
            </a:r>
            <a:endParaRPr/>
          </a:p>
        </p:txBody>
      </p:sp>
      <p:pic>
        <p:nvPicPr>
          <p:cNvPr id="396" name="Google Shape;396;g3d10798bb04_3_64"/>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3d10798bb04_1_34"/>
          <p:cNvSpPr txBox="1"/>
          <p:nvPr>
            <p:ph type="title"/>
          </p:nvPr>
        </p:nvSpPr>
        <p:spPr>
          <a:xfrm>
            <a:off x="838200" y="365125"/>
            <a:ext cx="10515600" cy="679500"/>
          </a:xfrm>
          <a:prstGeom prst="rect">
            <a:avLst/>
          </a:prstGeom>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View Routes</a:t>
            </a:r>
            <a:endParaRPr/>
          </a:p>
        </p:txBody>
      </p:sp>
      <p:sp>
        <p:nvSpPr>
          <p:cNvPr id="402" name="Google Shape;402;g3d10798bb04_1_34"/>
          <p:cNvSpPr txBox="1"/>
          <p:nvPr>
            <p:ph idx="1" type="body"/>
          </p:nvPr>
        </p:nvSpPr>
        <p:spPr>
          <a:xfrm>
            <a:off x="838200" y="1131025"/>
            <a:ext cx="10515600" cy="5045700"/>
          </a:xfrm>
          <a:prstGeom prst="rect">
            <a:avLst/>
          </a:prstGeom>
        </p:spPr>
        <p:txBody>
          <a:bodyPr anchorCtr="0" anchor="t" bIns="45700" lIns="91425" spcFirstLastPara="1" rIns="91425" wrap="square" tIns="45700">
            <a:normAutofit lnSpcReduction="20000"/>
          </a:bodyPr>
          <a:lstStyle/>
          <a:p>
            <a:pPr indent="-182880" lvl="0" marL="182880" rtl="0" algn="just">
              <a:lnSpc>
                <a:spcPct val="100000"/>
              </a:lnSpc>
              <a:spcBef>
                <a:spcPts val="0"/>
              </a:spcBef>
              <a:spcAft>
                <a:spcPts val="0"/>
              </a:spcAft>
              <a:buClr>
                <a:srgbClr val="93A299"/>
              </a:buClr>
              <a:buSzPts val="2040"/>
              <a:buChar char="•"/>
            </a:pPr>
            <a:r>
              <a:rPr lang="en-US">
                <a:solidFill>
                  <a:srgbClr val="292934"/>
                </a:solidFill>
                <a:latin typeface="Arial"/>
                <a:ea typeface="Arial"/>
                <a:cs typeface="Arial"/>
                <a:sym typeface="Arial"/>
              </a:rPr>
              <a:t>If your route only needs to return a view, you may use the Route::view method. </a:t>
            </a:r>
            <a:endParaRPr>
              <a:solidFill>
                <a:srgbClr val="292934"/>
              </a:solidFill>
              <a:latin typeface="Arial"/>
              <a:ea typeface="Arial"/>
              <a:cs typeface="Arial"/>
              <a:sym typeface="Arial"/>
            </a:endParaRPr>
          </a:p>
          <a:p>
            <a:pPr indent="-53338" lvl="0" marL="182880" rtl="0" algn="just">
              <a:lnSpc>
                <a:spcPct val="100000"/>
              </a:lnSpc>
              <a:spcBef>
                <a:spcPts val="480"/>
              </a:spcBef>
              <a:spcAft>
                <a:spcPts val="0"/>
              </a:spcAft>
              <a:buClr>
                <a:schemeClr val="dk1"/>
              </a:buClr>
              <a:buSzPts val="2040"/>
              <a:buFont typeface="Arial"/>
              <a:buNone/>
            </a:pPr>
            <a:r>
              <a:t/>
            </a:r>
            <a:endParaRPr>
              <a:solidFill>
                <a:srgbClr val="292934"/>
              </a:solidFill>
              <a:latin typeface="Arial"/>
              <a:ea typeface="Arial"/>
              <a:cs typeface="Arial"/>
              <a:sym typeface="Arial"/>
            </a:endParaRPr>
          </a:p>
          <a:p>
            <a:pPr indent="-182880" lvl="0" marL="182880" rtl="0" algn="just">
              <a:lnSpc>
                <a:spcPct val="100000"/>
              </a:lnSpc>
              <a:spcBef>
                <a:spcPts val="480"/>
              </a:spcBef>
              <a:spcAft>
                <a:spcPts val="0"/>
              </a:spcAft>
              <a:buClr>
                <a:srgbClr val="93A299"/>
              </a:buClr>
              <a:buSzPts val="2040"/>
              <a:buChar char="•"/>
            </a:pPr>
            <a:r>
              <a:rPr lang="en-US">
                <a:solidFill>
                  <a:srgbClr val="292934"/>
                </a:solidFill>
                <a:latin typeface="Arial"/>
                <a:ea typeface="Arial"/>
                <a:cs typeface="Arial"/>
                <a:sym typeface="Arial"/>
              </a:rPr>
              <a:t>This method provides a simple shortcut so that you do not have to define a full route or controller. </a:t>
            </a:r>
            <a:endParaRPr>
              <a:solidFill>
                <a:srgbClr val="292934"/>
              </a:solidFill>
              <a:latin typeface="Arial"/>
              <a:ea typeface="Arial"/>
              <a:cs typeface="Arial"/>
              <a:sym typeface="Arial"/>
            </a:endParaRPr>
          </a:p>
          <a:p>
            <a:pPr indent="-53338" lvl="0" marL="182880" rtl="0" algn="just">
              <a:lnSpc>
                <a:spcPct val="100000"/>
              </a:lnSpc>
              <a:spcBef>
                <a:spcPts val="480"/>
              </a:spcBef>
              <a:spcAft>
                <a:spcPts val="0"/>
              </a:spcAft>
              <a:buClr>
                <a:schemeClr val="dk1"/>
              </a:buClr>
              <a:buSzPts val="2040"/>
              <a:buFont typeface="Arial"/>
              <a:buNone/>
            </a:pPr>
            <a:r>
              <a:t/>
            </a:r>
            <a:endParaRPr>
              <a:solidFill>
                <a:srgbClr val="292934"/>
              </a:solidFill>
              <a:latin typeface="Arial"/>
              <a:ea typeface="Arial"/>
              <a:cs typeface="Arial"/>
              <a:sym typeface="Arial"/>
            </a:endParaRPr>
          </a:p>
          <a:p>
            <a:pPr indent="-182880" lvl="0" marL="182880" rtl="0" algn="just">
              <a:lnSpc>
                <a:spcPct val="100000"/>
              </a:lnSpc>
              <a:spcBef>
                <a:spcPts val="480"/>
              </a:spcBef>
              <a:spcAft>
                <a:spcPts val="0"/>
              </a:spcAft>
              <a:buClr>
                <a:srgbClr val="93A299"/>
              </a:buClr>
              <a:buSzPts val="2040"/>
              <a:buChar char="•"/>
            </a:pPr>
            <a:r>
              <a:rPr lang="en-US">
                <a:solidFill>
                  <a:srgbClr val="292934"/>
                </a:solidFill>
                <a:latin typeface="Arial"/>
                <a:ea typeface="Arial"/>
                <a:cs typeface="Arial"/>
                <a:sym typeface="Arial"/>
              </a:rPr>
              <a:t>The view method accepts a URI as its first argument and a view name as its second argument. </a:t>
            </a:r>
            <a:endParaRPr>
              <a:solidFill>
                <a:srgbClr val="292934"/>
              </a:solidFill>
              <a:latin typeface="Arial"/>
              <a:ea typeface="Arial"/>
              <a:cs typeface="Arial"/>
              <a:sym typeface="Arial"/>
            </a:endParaRPr>
          </a:p>
          <a:p>
            <a:pPr indent="0" lvl="0" marL="0" rtl="0" algn="just">
              <a:lnSpc>
                <a:spcPct val="100000"/>
              </a:lnSpc>
              <a:spcBef>
                <a:spcPts val="0"/>
              </a:spcBef>
              <a:spcAft>
                <a:spcPts val="0"/>
              </a:spcAft>
              <a:buNone/>
            </a:pPr>
            <a:r>
              <a:t/>
            </a:r>
            <a:endParaRPr sz="4000">
              <a:solidFill>
                <a:srgbClr val="D2533C"/>
              </a:solidFill>
              <a:latin typeface="Arial"/>
              <a:ea typeface="Arial"/>
              <a:cs typeface="Arial"/>
              <a:sym typeface="Arial"/>
            </a:endParaRPr>
          </a:p>
          <a:p>
            <a:pPr indent="0" lvl="0" marL="0" rtl="0" algn="just">
              <a:lnSpc>
                <a:spcPct val="100000"/>
              </a:lnSpc>
              <a:spcBef>
                <a:spcPts val="0"/>
              </a:spcBef>
              <a:spcAft>
                <a:spcPts val="0"/>
              </a:spcAft>
              <a:buNone/>
            </a:pPr>
            <a:r>
              <a:t/>
            </a:r>
            <a:endParaRPr sz="4000">
              <a:solidFill>
                <a:srgbClr val="D2533C"/>
              </a:solidFill>
              <a:latin typeface="Arial"/>
              <a:ea typeface="Arial"/>
              <a:cs typeface="Arial"/>
              <a:sym typeface="Arial"/>
            </a:endParaRPr>
          </a:p>
          <a:p>
            <a:pPr indent="0" lvl="0" marL="0" rtl="0" algn="just">
              <a:lnSpc>
                <a:spcPct val="100000"/>
              </a:lnSpc>
              <a:spcBef>
                <a:spcPts val="0"/>
              </a:spcBef>
              <a:spcAft>
                <a:spcPts val="0"/>
              </a:spcAft>
              <a:buNone/>
            </a:pPr>
            <a:r>
              <a:rPr lang="en-US" sz="4000">
                <a:solidFill>
                  <a:srgbClr val="D2533C"/>
                </a:solidFill>
                <a:latin typeface="Arial"/>
                <a:ea typeface="Arial"/>
                <a:cs typeface="Arial"/>
                <a:sym typeface="Arial"/>
              </a:rPr>
              <a:t>Route::view('/welcome', 'welcome');</a:t>
            </a:r>
            <a:endParaRPr sz="4000">
              <a:solidFill>
                <a:srgbClr val="292934"/>
              </a:solidFill>
              <a:latin typeface="Arial"/>
              <a:ea typeface="Arial"/>
              <a:cs typeface="Arial"/>
              <a:sym typeface="Arial"/>
            </a:endParaRPr>
          </a:p>
          <a:p>
            <a:pPr indent="0" lvl="0" marL="0" rtl="0" algn="l">
              <a:spcBef>
                <a:spcPts val="1000"/>
              </a:spcBef>
              <a:spcAft>
                <a:spcPts val="0"/>
              </a:spcAft>
              <a:buNone/>
            </a:pPr>
            <a:r>
              <a:t/>
            </a:r>
            <a:endParaRPr/>
          </a:p>
        </p:txBody>
      </p:sp>
      <p:pic>
        <p:nvPicPr>
          <p:cNvPr id="403" name="Google Shape;403;g3d10798bb04_1_34"/>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3d10798bb04_1_2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n-US" sz="4000">
                <a:solidFill>
                  <a:srgbClr val="D2533C"/>
                </a:solidFill>
                <a:latin typeface="Arial"/>
                <a:ea typeface="Arial"/>
                <a:cs typeface="Arial"/>
                <a:sym typeface="Arial"/>
              </a:rPr>
              <a:t>Route Parameters</a:t>
            </a:r>
            <a:endParaRPr b="1" sz="4000">
              <a:solidFill>
                <a:srgbClr val="D2533C"/>
              </a:solidFill>
              <a:latin typeface="Arial"/>
              <a:ea typeface="Arial"/>
              <a:cs typeface="Arial"/>
              <a:sym typeface="Arial"/>
            </a:endParaRPr>
          </a:p>
          <a:p>
            <a:pPr indent="0" lvl="0" marL="0" rtl="0" algn="l">
              <a:spcBef>
                <a:spcPts val="0"/>
              </a:spcBef>
              <a:spcAft>
                <a:spcPts val="0"/>
              </a:spcAft>
              <a:buNone/>
            </a:pPr>
            <a:r>
              <a:t/>
            </a:r>
            <a:endParaRPr/>
          </a:p>
        </p:txBody>
      </p:sp>
      <p:sp>
        <p:nvSpPr>
          <p:cNvPr id="409" name="Google Shape;409;g3d10798bb04_1_24"/>
          <p:cNvSpPr txBox="1"/>
          <p:nvPr>
            <p:ph idx="1" type="body"/>
          </p:nvPr>
        </p:nvSpPr>
        <p:spPr>
          <a:xfrm>
            <a:off x="838200" y="1144050"/>
            <a:ext cx="10515600" cy="5032800"/>
          </a:xfrm>
          <a:prstGeom prst="rect">
            <a:avLst/>
          </a:prstGeom>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dk1"/>
              </a:buClr>
              <a:buSzPts val="2040"/>
              <a:buFont typeface="Arial"/>
              <a:buNone/>
            </a:pPr>
            <a:r>
              <a:rPr b="1" lang="en-US" sz="2400">
                <a:solidFill>
                  <a:srgbClr val="292934"/>
                </a:solidFill>
                <a:latin typeface="Arial"/>
                <a:ea typeface="Arial"/>
                <a:cs typeface="Arial"/>
                <a:sym typeface="Arial"/>
              </a:rPr>
              <a:t>Required Parameters </a:t>
            </a:r>
            <a:r>
              <a:rPr lang="en-US" sz="2400">
                <a:solidFill>
                  <a:srgbClr val="292934"/>
                </a:solidFill>
                <a:latin typeface="Arial"/>
                <a:ea typeface="Arial"/>
                <a:cs typeface="Arial"/>
                <a:sym typeface="Arial"/>
              </a:rPr>
              <a:t>- Sometimes you will need to capture segments of the URI within your route. For example, you may need to capture a user's ID from the URL. You may do so by defining route parameters:</a:t>
            </a:r>
            <a:endParaRPr sz="24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ts val="2040"/>
              <a:buFont typeface="Arial"/>
              <a:buNone/>
            </a:pPr>
            <a:r>
              <a:t/>
            </a:r>
            <a:endParaRPr b="1" sz="24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ts val="2040"/>
              <a:buFont typeface="Arial"/>
              <a:buNone/>
            </a:pPr>
            <a:r>
              <a:rPr lang="en-US" sz="2400">
                <a:solidFill>
                  <a:srgbClr val="D2533C"/>
                </a:solidFill>
                <a:latin typeface="Arial"/>
                <a:ea typeface="Arial"/>
                <a:cs typeface="Arial"/>
                <a:sym typeface="Arial"/>
              </a:rPr>
              <a:t>Route::get('/user/{id}', function ($id) {</a:t>
            </a:r>
            <a:endParaRPr sz="24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ts val="2040"/>
              <a:buFont typeface="Arial"/>
              <a:buNone/>
            </a:pPr>
            <a:r>
              <a:rPr lang="en-US" sz="2400">
                <a:solidFill>
                  <a:srgbClr val="D2533C"/>
                </a:solidFill>
                <a:latin typeface="Arial"/>
                <a:ea typeface="Arial"/>
                <a:cs typeface="Arial"/>
                <a:sym typeface="Arial"/>
              </a:rPr>
              <a:t>    return 'User '.$id;</a:t>
            </a:r>
            <a:endParaRPr sz="2400">
              <a:solidFill>
                <a:srgbClr val="292934"/>
              </a:solidFill>
              <a:latin typeface="Arial"/>
              <a:ea typeface="Arial"/>
              <a:cs typeface="Arial"/>
              <a:sym typeface="Arial"/>
            </a:endParaRPr>
          </a:p>
          <a:p>
            <a:pPr indent="0" lvl="0" marL="0" rtl="0" algn="just">
              <a:lnSpc>
                <a:spcPct val="100000"/>
              </a:lnSpc>
              <a:spcBef>
                <a:spcPts val="480"/>
              </a:spcBef>
              <a:spcAft>
                <a:spcPts val="0"/>
              </a:spcAft>
              <a:buNone/>
            </a:pPr>
            <a:r>
              <a:rPr lang="en-US" sz="2400">
                <a:solidFill>
                  <a:srgbClr val="D2533C"/>
                </a:solidFill>
                <a:latin typeface="Arial"/>
                <a:ea typeface="Arial"/>
                <a:cs typeface="Arial"/>
                <a:sym typeface="Arial"/>
              </a:rPr>
              <a:t>});</a:t>
            </a:r>
            <a:endParaRPr sz="2400">
              <a:solidFill>
                <a:srgbClr val="D2533C"/>
              </a:solidFill>
              <a:latin typeface="Arial"/>
              <a:ea typeface="Arial"/>
              <a:cs typeface="Arial"/>
              <a:sym typeface="Arial"/>
            </a:endParaRPr>
          </a:p>
          <a:p>
            <a:pPr indent="0" lvl="0" marL="0" rtl="0" algn="just">
              <a:lnSpc>
                <a:spcPct val="100000"/>
              </a:lnSpc>
              <a:spcBef>
                <a:spcPts val="480"/>
              </a:spcBef>
              <a:spcAft>
                <a:spcPts val="0"/>
              </a:spcAft>
              <a:buClr>
                <a:schemeClr val="dk1"/>
              </a:buClr>
              <a:buSzPts val="2040"/>
              <a:buFont typeface="Arial"/>
              <a:buNone/>
            </a:pPr>
            <a:r>
              <a:t/>
            </a:r>
            <a:endParaRPr sz="2400">
              <a:solidFill>
                <a:srgbClr val="D2533C"/>
              </a:solidFill>
              <a:latin typeface="Arial"/>
              <a:ea typeface="Arial"/>
              <a:cs typeface="Arial"/>
              <a:sym typeface="Arial"/>
            </a:endParaRPr>
          </a:p>
          <a:p>
            <a:pPr indent="-182880" lvl="0" marL="182880" rtl="0" algn="just">
              <a:lnSpc>
                <a:spcPct val="100000"/>
              </a:lnSpc>
              <a:spcBef>
                <a:spcPts val="0"/>
              </a:spcBef>
              <a:spcAft>
                <a:spcPts val="0"/>
              </a:spcAft>
              <a:buClr>
                <a:srgbClr val="93A299"/>
              </a:buClr>
              <a:buSzPts val="2040"/>
              <a:buChar char="•"/>
            </a:pPr>
            <a:r>
              <a:rPr lang="en-US" sz="2400">
                <a:solidFill>
                  <a:srgbClr val="292934"/>
                </a:solidFill>
                <a:latin typeface="Arial"/>
                <a:ea typeface="Arial"/>
                <a:cs typeface="Arial"/>
                <a:sym typeface="Arial"/>
              </a:rPr>
              <a:t>You may define as many route parameters as required by your route. </a:t>
            </a:r>
            <a:endParaRPr sz="2400">
              <a:solidFill>
                <a:srgbClr val="292934"/>
              </a:solidFill>
              <a:latin typeface="Arial"/>
              <a:ea typeface="Arial"/>
              <a:cs typeface="Arial"/>
              <a:sym typeface="Arial"/>
            </a:endParaRPr>
          </a:p>
          <a:p>
            <a:pPr indent="-182880" lvl="0" marL="182880" rtl="0" algn="just">
              <a:lnSpc>
                <a:spcPct val="100000"/>
              </a:lnSpc>
              <a:spcBef>
                <a:spcPts val="480"/>
              </a:spcBef>
              <a:spcAft>
                <a:spcPts val="0"/>
              </a:spcAft>
              <a:buClr>
                <a:srgbClr val="93A299"/>
              </a:buClr>
              <a:buSzPts val="2040"/>
              <a:buChar char="•"/>
            </a:pPr>
            <a:r>
              <a:rPr lang="en-US" sz="2400">
                <a:solidFill>
                  <a:srgbClr val="292934"/>
                </a:solidFill>
                <a:latin typeface="Arial"/>
                <a:ea typeface="Arial"/>
                <a:cs typeface="Arial"/>
                <a:sym typeface="Arial"/>
              </a:rPr>
              <a:t>Route parameters are always encased within {} braces and should consist of alphabetic characters. </a:t>
            </a:r>
            <a:endParaRPr sz="2400">
              <a:solidFill>
                <a:srgbClr val="292934"/>
              </a:solidFill>
              <a:latin typeface="Arial"/>
              <a:ea typeface="Arial"/>
              <a:cs typeface="Arial"/>
              <a:sym typeface="Arial"/>
            </a:endParaRPr>
          </a:p>
          <a:p>
            <a:pPr indent="-182880" lvl="0" marL="182880" rtl="0" algn="just">
              <a:lnSpc>
                <a:spcPct val="100000"/>
              </a:lnSpc>
              <a:spcBef>
                <a:spcPts val="480"/>
              </a:spcBef>
              <a:spcAft>
                <a:spcPts val="0"/>
              </a:spcAft>
              <a:buClr>
                <a:srgbClr val="93A299"/>
              </a:buClr>
              <a:buSzPts val="2040"/>
              <a:buChar char="•"/>
            </a:pPr>
            <a:r>
              <a:rPr lang="en-US" sz="2400">
                <a:solidFill>
                  <a:srgbClr val="292934"/>
                </a:solidFill>
                <a:latin typeface="Arial"/>
                <a:ea typeface="Arial"/>
                <a:cs typeface="Arial"/>
                <a:sym typeface="Arial"/>
              </a:rPr>
              <a:t>Underscores (_) are also acceptable within route parameter names. </a:t>
            </a:r>
            <a:endParaRPr/>
          </a:p>
        </p:txBody>
      </p:sp>
      <p:sp>
        <p:nvSpPr>
          <p:cNvPr id="410" name="Google Shape;410;g3d10798bb04_1_24"/>
          <p:cNvSpPr txBox="1"/>
          <p:nvPr/>
        </p:nvSpPr>
        <p:spPr>
          <a:xfrm>
            <a:off x="0" y="0"/>
            <a:ext cx="3000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4000">
              <a:solidFill>
                <a:srgbClr val="D2533C"/>
              </a:solidFill>
            </a:endParaRPr>
          </a:p>
        </p:txBody>
      </p:sp>
      <p:pic>
        <p:nvPicPr>
          <p:cNvPr id="411" name="Google Shape;411;g3d10798bb04_1_24"/>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g3d10798bb04_1_29"/>
          <p:cNvSpPr txBox="1"/>
          <p:nvPr>
            <p:ph type="title"/>
          </p:nvPr>
        </p:nvSpPr>
        <p:spPr>
          <a:xfrm>
            <a:off x="838200" y="365125"/>
            <a:ext cx="10515600" cy="765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Contd...</a:t>
            </a:r>
            <a:endParaRPr/>
          </a:p>
        </p:txBody>
      </p:sp>
      <p:sp>
        <p:nvSpPr>
          <p:cNvPr id="417" name="Google Shape;417;g3d10798bb04_1_29"/>
          <p:cNvSpPr txBox="1"/>
          <p:nvPr>
            <p:ph idx="1" type="body"/>
          </p:nvPr>
        </p:nvSpPr>
        <p:spPr>
          <a:xfrm>
            <a:off x="838200" y="1052950"/>
            <a:ext cx="10515600" cy="5361600"/>
          </a:xfrm>
          <a:prstGeom prst="rect">
            <a:avLst/>
          </a:prstGeom>
        </p:spPr>
        <p:txBody>
          <a:bodyPr anchorCtr="0" anchor="t" bIns="45700" lIns="91425" spcFirstLastPara="1" rIns="91425" wrap="square" tIns="45700">
            <a:normAutofit lnSpcReduction="10000"/>
          </a:bodyPr>
          <a:lstStyle/>
          <a:p>
            <a:pPr indent="0" lvl="0" marL="0" rtl="0" algn="just">
              <a:lnSpc>
                <a:spcPct val="100000"/>
              </a:lnSpc>
              <a:spcBef>
                <a:spcPts val="480"/>
              </a:spcBef>
              <a:spcAft>
                <a:spcPts val="0"/>
              </a:spcAft>
              <a:buNone/>
            </a:pPr>
            <a:r>
              <a:t/>
            </a:r>
            <a:endParaRPr sz="2400">
              <a:solidFill>
                <a:srgbClr val="292934"/>
              </a:solidFill>
              <a:latin typeface="Arial"/>
              <a:ea typeface="Arial"/>
              <a:cs typeface="Arial"/>
              <a:sym typeface="Arial"/>
            </a:endParaRPr>
          </a:p>
          <a:p>
            <a:pPr indent="0" lvl="0" marL="0" rtl="0" algn="just">
              <a:lnSpc>
                <a:spcPct val="100000"/>
              </a:lnSpc>
              <a:spcBef>
                <a:spcPts val="0"/>
              </a:spcBef>
              <a:spcAft>
                <a:spcPts val="0"/>
              </a:spcAft>
              <a:buNone/>
            </a:pPr>
            <a:r>
              <a:rPr b="1" lang="en-US" sz="2400">
                <a:solidFill>
                  <a:srgbClr val="292934"/>
                </a:solidFill>
                <a:latin typeface="Arial"/>
                <a:ea typeface="Arial"/>
                <a:cs typeface="Arial"/>
                <a:sym typeface="Arial"/>
              </a:rPr>
              <a:t>Optional Parameters </a:t>
            </a:r>
            <a:r>
              <a:rPr lang="en-US" sz="2400">
                <a:solidFill>
                  <a:srgbClr val="292934"/>
                </a:solidFill>
                <a:latin typeface="Arial"/>
                <a:ea typeface="Arial"/>
                <a:cs typeface="Arial"/>
                <a:sym typeface="Arial"/>
              </a:rPr>
              <a:t>- Occasionally you may need to specify a route parameter that may not always be present in the URI. You may do so by placing a ? mark after the parameter name. Make sure to give the route's corresponding variable a default value:</a:t>
            </a:r>
            <a:endParaRPr sz="2400">
              <a:solidFill>
                <a:srgbClr val="292934"/>
              </a:solidFill>
              <a:latin typeface="Arial"/>
              <a:ea typeface="Arial"/>
              <a:cs typeface="Arial"/>
              <a:sym typeface="Arial"/>
            </a:endParaRPr>
          </a:p>
          <a:p>
            <a:pPr indent="0" lvl="0" marL="0" rtl="0" algn="just">
              <a:lnSpc>
                <a:spcPct val="100000"/>
              </a:lnSpc>
              <a:spcBef>
                <a:spcPts val="444"/>
              </a:spcBef>
              <a:spcAft>
                <a:spcPts val="0"/>
              </a:spcAft>
              <a:buNone/>
            </a:pPr>
            <a:r>
              <a:t/>
            </a:r>
            <a:endParaRPr sz="2400">
              <a:solidFill>
                <a:srgbClr val="292934"/>
              </a:solidFill>
              <a:latin typeface="Arial"/>
              <a:ea typeface="Arial"/>
              <a:cs typeface="Arial"/>
              <a:sym typeface="Arial"/>
            </a:endParaRPr>
          </a:p>
          <a:p>
            <a:pPr indent="0" lvl="0" marL="0" rtl="0" algn="just">
              <a:lnSpc>
                <a:spcPct val="100000"/>
              </a:lnSpc>
              <a:spcBef>
                <a:spcPts val="444"/>
              </a:spcBef>
              <a:spcAft>
                <a:spcPts val="0"/>
              </a:spcAft>
              <a:buNone/>
            </a:pPr>
            <a:r>
              <a:rPr lang="en-US" sz="2400">
                <a:solidFill>
                  <a:srgbClr val="D2533C"/>
                </a:solidFill>
                <a:latin typeface="Arial"/>
                <a:ea typeface="Arial"/>
                <a:cs typeface="Arial"/>
                <a:sym typeface="Arial"/>
              </a:rPr>
              <a:t>Route::get('/user/{name?}', function ($name = null) {</a:t>
            </a:r>
            <a:endParaRPr sz="2400">
              <a:solidFill>
                <a:srgbClr val="292934"/>
              </a:solidFill>
              <a:latin typeface="Arial"/>
              <a:ea typeface="Arial"/>
              <a:cs typeface="Arial"/>
              <a:sym typeface="Arial"/>
            </a:endParaRPr>
          </a:p>
          <a:p>
            <a:pPr indent="0" lvl="0" marL="0" rtl="0" algn="just">
              <a:lnSpc>
                <a:spcPct val="100000"/>
              </a:lnSpc>
              <a:spcBef>
                <a:spcPts val="444"/>
              </a:spcBef>
              <a:spcAft>
                <a:spcPts val="0"/>
              </a:spcAft>
              <a:buNone/>
            </a:pPr>
            <a:r>
              <a:rPr lang="en-US" sz="2400">
                <a:solidFill>
                  <a:srgbClr val="D2533C"/>
                </a:solidFill>
                <a:latin typeface="Arial"/>
                <a:ea typeface="Arial"/>
                <a:cs typeface="Arial"/>
                <a:sym typeface="Arial"/>
              </a:rPr>
              <a:t>    return $name;</a:t>
            </a:r>
            <a:endParaRPr sz="2400">
              <a:solidFill>
                <a:srgbClr val="292934"/>
              </a:solidFill>
              <a:latin typeface="Arial"/>
              <a:ea typeface="Arial"/>
              <a:cs typeface="Arial"/>
              <a:sym typeface="Arial"/>
            </a:endParaRPr>
          </a:p>
          <a:p>
            <a:pPr indent="0" lvl="0" marL="0" rtl="0" algn="just">
              <a:lnSpc>
                <a:spcPct val="100000"/>
              </a:lnSpc>
              <a:spcBef>
                <a:spcPts val="444"/>
              </a:spcBef>
              <a:spcAft>
                <a:spcPts val="0"/>
              </a:spcAft>
              <a:buNone/>
            </a:pPr>
            <a:r>
              <a:rPr lang="en-US" sz="2400">
                <a:solidFill>
                  <a:srgbClr val="D2533C"/>
                </a:solidFill>
                <a:latin typeface="Arial"/>
                <a:ea typeface="Arial"/>
                <a:cs typeface="Arial"/>
                <a:sym typeface="Arial"/>
              </a:rPr>
              <a:t>});</a:t>
            </a:r>
            <a:endParaRPr sz="2400">
              <a:solidFill>
                <a:srgbClr val="292934"/>
              </a:solidFill>
              <a:latin typeface="Arial"/>
              <a:ea typeface="Arial"/>
              <a:cs typeface="Arial"/>
              <a:sym typeface="Arial"/>
            </a:endParaRPr>
          </a:p>
          <a:p>
            <a:pPr indent="0" lvl="0" marL="0" rtl="0" algn="just">
              <a:lnSpc>
                <a:spcPct val="100000"/>
              </a:lnSpc>
              <a:spcBef>
                <a:spcPts val="444"/>
              </a:spcBef>
              <a:spcAft>
                <a:spcPts val="0"/>
              </a:spcAft>
              <a:buNone/>
            </a:pPr>
            <a:r>
              <a:t/>
            </a:r>
            <a:endParaRPr sz="2400">
              <a:solidFill>
                <a:srgbClr val="D2533C"/>
              </a:solidFill>
              <a:latin typeface="Arial"/>
              <a:ea typeface="Arial"/>
              <a:cs typeface="Arial"/>
              <a:sym typeface="Arial"/>
            </a:endParaRPr>
          </a:p>
          <a:p>
            <a:pPr indent="0" lvl="0" marL="0" rtl="0" algn="just">
              <a:lnSpc>
                <a:spcPct val="100000"/>
              </a:lnSpc>
              <a:spcBef>
                <a:spcPts val="444"/>
              </a:spcBef>
              <a:spcAft>
                <a:spcPts val="0"/>
              </a:spcAft>
              <a:buNone/>
            </a:pPr>
            <a:r>
              <a:rPr lang="en-US" sz="2400">
                <a:solidFill>
                  <a:srgbClr val="D2533C"/>
                </a:solidFill>
                <a:latin typeface="Arial"/>
                <a:ea typeface="Arial"/>
                <a:cs typeface="Arial"/>
                <a:sym typeface="Arial"/>
              </a:rPr>
              <a:t>Route::get('/user/{name?}', function ($name = 'John') {</a:t>
            </a:r>
            <a:endParaRPr sz="2400">
              <a:solidFill>
                <a:srgbClr val="292934"/>
              </a:solidFill>
              <a:latin typeface="Arial"/>
              <a:ea typeface="Arial"/>
              <a:cs typeface="Arial"/>
              <a:sym typeface="Arial"/>
            </a:endParaRPr>
          </a:p>
          <a:p>
            <a:pPr indent="0" lvl="0" marL="0" rtl="0" algn="just">
              <a:lnSpc>
                <a:spcPct val="100000"/>
              </a:lnSpc>
              <a:spcBef>
                <a:spcPts val="444"/>
              </a:spcBef>
              <a:spcAft>
                <a:spcPts val="0"/>
              </a:spcAft>
              <a:buNone/>
            </a:pPr>
            <a:r>
              <a:rPr lang="en-US" sz="2400">
                <a:solidFill>
                  <a:srgbClr val="D2533C"/>
                </a:solidFill>
                <a:latin typeface="Arial"/>
                <a:ea typeface="Arial"/>
                <a:cs typeface="Arial"/>
                <a:sym typeface="Arial"/>
              </a:rPr>
              <a:t>    return $name;</a:t>
            </a:r>
            <a:endParaRPr sz="2400">
              <a:solidFill>
                <a:srgbClr val="292934"/>
              </a:solidFill>
              <a:latin typeface="Arial"/>
              <a:ea typeface="Arial"/>
              <a:cs typeface="Arial"/>
              <a:sym typeface="Arial"/>
            </a:endParaRPr>
          </a:p>
          <a:p>
            <a:pPr indent="0" lvl="0" marL="0" rtl="0" algn="just">
              <a:lnSpc>
                <a:spcPct val="100000"/>
              </a:lnSpc>
              <a:spcBef>
                <a:spcPts val="444"/>
              </a:spcBef>
              <a:spcAft>
                <a:spcPts val="0"/>
              </a:spcAft>
              <a:buNone/>
            </a:pPr>
            <a:r>
              <a:rPr lang="en-US" sz="2400">
                <a:solidFill>
                  <a:srgbClr val="D2533C"/>
                </a:solidFill>
                <a:latin typeface="Arial"/>
                <a:ea typeface="Arial"/>
                <a:cs typeface="Arial"/>
                <a:sym typeface="Arial"/>
              </a:rPr>
              <a:t>});</a:t>
            </a:r>
            <a:endParaRPr sz="2400">
              <a:solidFill>
                <a:srgbClr val="292934"/>
              </a:solidFill>
              <a:latin typeface="Arial"/>
              <a:ea typeface="Arial"/>
              <a:cs typeface="Arial"/>
              <a:sym typeface="Arial"/>
            </a:endParaRPr>
          </a:p>
          <a:p>
            <a:pPr indent="0" lvl="0" marL="0" rtl="0" algn="l">
              <a:spcBef>
                <a:spcPts val="1000"/>
              </a:spcBef>
              <a:spcAft>
                <a:spcPts val="0"/>
              </a:spcAft>
              <a:buNone/>
            </a:pPr>
            <a:r>
              <a:t/>
            </a:r>
            <a:endParaRPr/>
          </a:p>
        </p:txBody>
      </p:sp>
      <p:pic>
        <p:nvPicPr>
          <p:cNvPr id="418" name="Google Shape;418;g3d10798bb04_1_29"/>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3d10798bb04_1_39"/>
          <p:cNvSpPr txBox="1"/>
          <p:nvPr>
            <p:ph type="title"/>
          </p:nvPr>
        </p:nvSpPr>
        <p:spPr>
          <a:xfrm>
            <a:off x="838200" y="365125"/>
            <a:ext cx="10515600" cy="808800"/>
          </a:xfrm>
          <a:prstGeom prst="rect">
            <a:avLst/>
          </a:prstGeom>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D2533C"/>
              </a:buClr>
              <a:buSzPct val="100000"/>
              <a:buFont typeface="Arial"/>
              <a:buNone/>
            </a:pPr>
            <a:r>
              <a:rPr b="1" lang="en-US" sz="4000">
                <a:solidFill>
                  <a:srgbClr val="D2533C"/>
                </a:solidFill>
                <a:latin typeface="Arial"/>
                <a:ea typeface="Arial"/>
                <a:cs typeface="Arial"/>
                <a:sym typeface="Arial"/>
              </a:rPr>
              <a:t>Route Parameters Constraints</a:t>
            </a:r>
            <a:endParaRPr b="1" sz="4000">
              <a:solidFill>
                <a:srgbClr val="D2533C"/>
              </a:solidFill>
              <a:latin typeface="Arial"/>
              <a:ea typeface="Arial"/>
              <a:cs typeface="Arial"/>
              <a:sym typeface="Arial"/>
            </a:endParaRPr>
          </a:p>
          <a:p>
            <a:pPr indent="0" lvl="0" marL="0" rtl="0" algn="l">
              <a:spcBef>
                <a:spcPts val="0"/>
              </a:spcBef>
              <a:spcAft>
                <a:spcPts val="0"/>
              </a:spcAft>
              <a:buNone/>
            </a:pPr>
            <a:r>
              <a:t/>
            </a:r>
            <a:endParaRPr/>
          </a:p>
        </p:txBody>
      </p:sp>
      <p:sp>
        <p:nvSpPr>
          <p:cNvPr id="424" name="Google Shape;424;g3d10798bb04_1_39"/>
          <p:cNvSpPr txBox="1"/>
          <p:nvPr>
            <p:ph idx="1" type="body"/>
          </p:nvPr>
        </p:nvSpPr>
        <p:spPr>
          <a:xfrm>
            <a:off x="838200" y="1035800"/>
            <a:ext cx="11045100" cy="5141100"/>
          </a:xfrm>
          <a:prstGeom prst="rect">
            <a:avLst/>
          </a:prstGeom>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None/>
            </a:pPr>
            <a:r>
              <a:rPr lang="en-US">
                <a:solidFill>
                  <a:srgbClr val="292934"/>
                </a:solidFill>
                <a:latin typeface="Arial"/>
                <a:ea typeface="Arial"/>
                <a:cs typeface="Arial"/>
                <a:sym typeface="Arial"/>
              </a:rPr>
              <a:t>You may constrain the format of your route parameters using the family of ‘where’ methods on a route instance.</a:t>
            </a:r>
            <a:endParaRPr>
              <a:solidFill>
                <a:srgbClr val="292934"/>
              </a:solidFill>
              <a:latin typeface="Arial"/>
              <a:ea typeface="Arial"/>
              <a:cs typeface="Arial"/>
              <a:sym typeface="Arial"/>
            </a:endParaRPr>
          </a:p>
          <a:p>
            <a:pPr indent="0" lvl="0" marL="0" rtl="0" algn="just">
              <a:lnSpc>
                <a:spcPct val="100000"/>
              </a:lnSpc>
              <a:spcBef>
                <a:spcPts val="0"/>
              </a:spcBef>
              <a:spcAft>
                <a:spcPts val="0"/>
              </a:spcAft>
              <a:buClr>
                <a:srgbClr val="D2533C"/>
              </a:buClr>
              <a:buSzPts val="1800"/>
              <a:buFont typeface="Arial"/>
              <a:buNone/>
            </a:pPr>
            <a:r>
              <a:rPr b="1" lang="en-US">
                <a:solidFill>
                  <a:srgbClr val="D2533C"/>
                </a:solidFill>
                <a:latin typeface="Arial"/>
                <a:ea typeface="Arial"/>
                <a:cs typeface="Arial"/>
                <a:sym typeface="Arial"/>
              </a:rPr>
              <a:t>whereNumber Constraint:</a:t>
            </a:r>
            <a:endParaRPr b="1">
              <a:solidFill>
                <a:srgbClr val="D2533C"/>
              </a:solidFill>
              <a:latin typeface="Arial"/>
              <a:ea typeface="Arial"/>
              <a:cs typeface="Arial"/>
              <a:sym typeface="Arial"/>
            </a:endParaRPr>
          </a:p>
          <a:p>
            <a:pPr indent="0" lvl="0" marL="0" rtl="0" algn="just">
              <a:lnSpc>
                <a:spcPct val="100000"/>
              </a:lnSpc>
              <a:spcBef>
                <a:spcPts val="0"/>
              </a:spcBef>
              <a:spcAft>
                <a:spcPts val="0"/>
              </a:spcAft>
              <a:buNone/>
            </a:pPr>
            <a:r>
              <a:t/>
            </a:r>
            <a:endParaRPr>
              <a:solidFill>
                <a:srgbClr val="292934"/>
              </a:solidFill>
              <a:latin typeface="Arial"/>
              <a:ea typeface="Arial"/>
              <a:cs typeface="Arial"/>
              <a:sym typeface="Arial"/>
            </a:endParaRPr>
          </a:p>
          <a:p>
            <a:pPr indent="0" lvl="0" marL="131445" rtl="0" algn="just">
              <a:lnSpc>
                <a:spcPct val="100000"/>
              </a:lnSpc>
              <a:spcBef>
                <a:spcPts val="360"/>
              </a:spcBef>
              <a:spcAft>
                <a:spcPts val="0"/>
              </a:spcAft>
              <a:buClr>
                <a:schemeClr val="dk1"/>
              </a:buClr>
              <a:buSzPts val="1530"/>
              <a:buFont typeface="Arial"/>
              <a:buNone/>
            </a:pPr>
            <a:r>
              <a:rPr lang="en-US">
                <a:solidFill>
                  <a:srgbClr val="292934"/>
                </a:solidFill>
                <a:latin typeface="Arial"/>
                <a:ea typeface="Arial"/>
                <a:cs typeface="Arial"/>
                <a:sym typeface="Arial"/>
              </a:rPr>
              <a:t>The whereNumber constraint is used to ensure that a route parameter is a numeric value.</a:t>
            </a:r>
            <a:endParaRPr>
              <a:solidFill>
                <a:srgbClr val="292934"/>
              </a:solidFill>
              <a:latin typeface="Arial"/>
              <a:ea typeface="Arial"/>
              <a:cs typeface="Arial"/>
              <a:sym typeface="Arial"/>
            </a:endParaRPr>
          </a:p>
          <a:p>
            <a:pPr indent="0" lvl="0" marL="131445" rtl="0" algn="just">
              <a:lnSpc>
                <a:spcPct val="100000"/>
              </a:lnSpc>
              <a:spcBef>
                <a:spcPts val="360"/>
              </a:spcBef>
              <a:spcAft>
                <a:spcPts val="0"/>
              </a:spcAft>
              <a:buClr>
                <a:schemeClr val="dk1"/>
              </a:buClr>
              <a:buSzPts val="1530"/>
              <a:buFont typeface="Arial"/>
              <a:buNone/>
            </a:pPr>
            <a:r>
              <a:t/>
            </a:r>
            <a:endParaRPr>
              <a:solidFill>
                <a:srgbClr val="292934"/>
              </a:solidFill>
              <a:latin typeface="Arial"/>
              <a:ea typeface="Arial"/>
              <a:cs typeface="Arial"/>
              <a:sym typeface="Arial"/>
            </a:endParaRPr>
          </a:p>
          <a:p>
            <a:pPr indent="0" lvl="0" marL="131445" rtl="0" algn="just">
              <a:lnSpc>
                <a:spcPct val="100000"/>
              </a:lnSpc>
              <a:spcBef>
                <a:spcPts val="360"/>
              </a:spcBef>
              <a:spcAft>
                <a:spcPts val="0"/>
              </a:spcAft>
              <a:buClr>
                <a:schemeClr val="dk1"/>
              </a:buClr>
              <a:buSzPts val="1530"/>
              <a:buFont typeface="Arial"/>
              <a:buNone/>
            </a:pPr>
            <a:r>
              <a:rPr lang="en-US">
                <a:solidFill>
                  <a:srgbClr val="292934"/>
                </a:solidFill>
                <a:latin typeface="Arial"/>
                <a:ea typeface="Arial"/>
                <a:cs typeface="Arial"/>
                <a:sym typeface="Arial"/>
              </a:rPr>
              <a:t>It is useful when you want to restrict a parameter to only accept numeric input.</a:t>
            </a:r>
            <a:endParaRPr>
              <a:solidFill>
                <a:srgbClr val="292934"/>
              </a:solidFill>
              <a:latin typeface="Arial"/>
              <a:ea typeface="Arial"/>
              <a:cs typeface="Arial"/>
              <a:sym typeface="Arial"/>
            </a:endParaRPr>
          </a:p>
          <a:p>
            <a:pPr indent="0" lvl="0" marL="0" rtl="0" algn="just">
              <a:lnSpc>
                <a:spcPct val="100000"/>
              </a:lnSpc>
              <a:spcBef>
                <a:spcPts val="0"/>
              </a:spcBef>
              <a:spcAft>
                <a:spcPts val="0"/>
              </a:spcAft>
              <a:buNone/>
            </a:pPr>
            <a:r>
              <a:t/>
            </a:r>
            <a:endParaRPr>
              <a:solidFill>
                <a:srgbClr val="292934"/>
              </a:solidFill>
              <a:latin typeface="Arial"/>
              <a:ea typeface="Arial"/>
              <a:cs typeface="Arial"/>
              <a:sym typeface="Arial"/>
            </a:endParaRPr>
          </a:p>
          <a:p>
            <a:pPr indent="0" lvl="0" marL="0" rtl="0" algn="just">
              <a:lnSpc>
                <a:spcPct val="100000"/>
              </a:lnSpc>
              <a:spcBef>
                <a:spcPts val="0"/>
              </a:spcBef>
              <a:spcAft>
                <a:spcPts val="0"/>
              </a:spcAft>
              <a:buClr>
                <a:schemeClr val="dk1"/>
              </a:buClr>
              <a:buSzPts val="3400"/>
              <a:buFont typeface="Arial"/>
              <a:buNone/>
            </a:pPr>
            <a:r>
              <a:t/>
            </a:r>
            <a:endParaRPr>
              <a:solidFill>
                <a:srgbClr val="292934"/>
              </a:solidFill>
              <a:latin typeface="Arial"/>
              <a:ea typeface="Arial"/>
              <a:cs typeface="Arial"/>
              <a:sym typeface="Arial"/>
            </a:endParaRPr>
          </a:p>
          <a:p>
            <a:pPr indent="0" lvl="0" marL="0" rtl="0" algn="just">
              <a:spcBef>
                <a:spcPts val="1000"/>
              </a:spcBef>
              <a:spcAft>
                <a:spcPts val="0"/>
              </a:spcAft>
              <a:buNone/>
            </a:pPr>
            <a:r>
              <a:t/>
            </a:r>
            <a:endParaRPr/>
          </a:p>
        </p:txBody>
      </p:sp>
      <p:pic>
        <p:nvPicPr>
          <p:cNvPr id="425" name="Google Shape;425;g3d10798bb04_1_39"/>
          <p:cNvPicPr preferRelativeResize="0"/>
          <p:nvPr/>
        </p:nvPicPr>
        <p:blipFill rotWithShape="1">
          <a:blip r:embed="rId3">
            <a:alphaModFix/>
          </a:blip>
          <a:srcRect b="0" l="0" r="0" t="0"/>
          <a:stretch/>
        </p:blipFill>
        <p:spPr>
          <a:xfrm>
            <a:off x="838193" y="5087152"/>
            <a:ext cx="6897063" cy="1228896"/>
          </a:xfrm>
          <a:prstGeom prst="rect">
            <a:avLst/>
          </a:prstGeom>
          <a:noFill/>
          <a:ln>
            <a:noFill/>
          </a:ln>
        </p:spPr>
      </p:pic>
      <p:pic>
        <p:nvPicPr>
          <p:cNvPr id="426" name="Google Shape;426;g3d10798bb04_1_39"/>
          <p:cNvPicPr preferRelativeResize="0"/>
          <p:nvPr/>
        </p:nvPicPr>
        <p:blipFill rotWithShape="1">
          <a:blip r:embed="rId4">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d10798bb04_1_44"/>
          <p:cNvSpPr txBox="1"/>
          <p:nvPr/>
        </p:nvSpPr>
        <p:spPr>
          <a:xfrm>
            <a:off x="457200" y="565700"/>
            <a:ext cx="10693200" cy="972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b="1" lang="en-US" sz="4000">
                <a:solidFill>
                  <a:srgbClr val="D2533C"/>
                </a:solidFill>
              </a:rPr>
              <a:t>=&gt; And -</a:t>
            </a:r>
            <a:r>
              <a:rPr b="1" lang="en-US" sz="4000">
                <a:solidFill>
                  <a:srgbClr val="D2533C"/>
                </a:solidFill>
              </a:rPr>
              <a:t>&gt;</a:t>
            </a:r>
            <a:r>
              <a:rPr b="1" lang="en-US" sz="4000">
                <a:solidFill>
                  <a:srgbClr val="D2533C"/>
                </a:solidFill>
              </a:rPr>
              <a:t> are different</a:t>
            </a:r>
            <a:endParaRPr b="1" sz="4000">
              <a:solidFill>
                <a:srgbClr val="D2533C"/>
              </a:solidFill>
            </a:endParaRPr>
          </a:p>
        </p:txBody>
      </p:sp>
      <p:sp>
        <p:nvSpPr>
          <p:cNvPr id="432" name="Google Shape;432;g3d10798bb04_1_44"/>
          <p:cNvSpPr txBox="1"/>
          <p:nvPr/>
        </p:nvSpPr>
        <p:spPr>
          <a:xfrm>
            <a:off x="457200" y="1690225"/>
            <a:ext cx="4297800" cy="639900"/>
          </a:xfrm>
          <a:prstGeom prst="rect">
            <a:avLst/>
          </a:prstGeom>
          <a:noFill/>
          <a:ln>
            <a:noFill/>
          </a:ln>
        </p:spPr>
        <p:txBody>
          <a:bodyPr anchorCtr="0" anchor="ctr" bIns="45700" lIns="91425" spcFirstLastPara="1" rIns="91425" wrap="square" tIns="45700">
            <a:normAutofit/>
          </a:bodyPr>
          <a:lstStyle/>
          <a:p>
            <a:pPr indent="-228600" lvl="0" marL="457200" rtl="0" algn="ctr">
              <a:spcBef>
                <a:spcPts val="400"/>
              </a:spcBef>
              <a:spcAft>
                <a:spcPts val="0"/>
              </a:spcAft>
              <a:buNone/>
            </a:pPr>
            <a:r>
              <a:rPr b="1" lang="en-US" sz="2000">
                <a:solidFill>
                  <a:srgbClr val="D2533C"/>
                </a:solidFill>
              </a:rPr>
              <a:t>=&gt; (Arrow or Fat Arrow)</a:t>
            </a:r>
            <a:endParaRPr sz="2000">
              <a:solidFill>
                <a:srgbClr val="D2533C"/>
              </a:solidFill>
            </a:endParaRPr>
          </a:p>
        </p:txBody>
      </p:sp>
      <p:sp>
        <p:nvSpPr>
          <p:cNvPr id="433" name="Google Shape;433;g3d10798bb04_1_44"/>
          <p:cNvSpPr txBox="1"/>
          <p:nvPr/>
        </p:nvSpPr>
        <p:spPr>
          <a:xfrm>
            <a:off x="921000" y="2452225"/>
            <a:ext cx="4297800" cy="3951300"/>
          </a:xfrm>
          <a:prstGeom prst="rect">
            <a:avLst/>
          </a:prstGeom>
          <a:noFill/>
          <a:ln>
            <a:noFill/>
          </a:ln>
        </p:spPr>
        <p:txBody>
          <a:bodyPr anchorCtr="0" anchor="t" bIns="45700" lIns="91425" spcFirstLastPara="1" rIns="91425" wrap="square" tIns="45700">
            <a:normAutofit lnSpcReduction="10000"/>
          </a:bodyPr>
          <a:lstStyle/>
          <a:p>
            <a:pPr indent="-228600" lvl="0" marL="457200" rtl="0" algn="just">
              <a:spcBef>
                <a:spcPts val="480"/>
              </a:spcBef>
              <a:spcAft>
                <a:spcPts val="0"/>
              </a:spcAft>
              <a:buNone/>
            </a:pPr>
            <a:r>
              <a:t/>
            </a:r>
            <a:endParaRPr sz="2400">
              <a:solidFill>
                <a:srgbClr val="292934"/>
              </a:solidFill>
            </a:endParaRPr>
          </a:p>
          <a:p>
            <a:pPr indent="-368643" lvl="0" marL="457200" rtl="0" algn="just">
              <a:spcBef>
                <a:spcPts val="480"/>
              </a:spcBef>
              <a:spcAft>
                <a:spcPts val="0"/>
              </a:spcAft>
              <a:buClr>
                <a:srgbClr val="93A299"/>
              </a:buClr>
              <a:buSzPts val="2205"/>
              <a:buChar char="•"/>
            </a:pPr>
            <a:r>
              <a:rPr lang="en-US" sz="2400">
                <a:solidFill>
                  <a:srgbClr val="292934"/>
                </a:solidFill>
              </a:rPr>
              <a:t>=&gt; is primarily used in association with key-value pairs, often seen in data structures like dictionaries, associative arrays, or objects in various programming languages.</a:t>
            </a:r>
            <a:endParaRPr sz="2400">
              <a:solidFill>
                <a:srgbClr val="292934"/>
              </a:solidFill>
            </a:endParaRPr>
          </a:p>
          <a:p>
            <a:pPr indent="-368643" lvl="0" marL="457200" rtl="0" algn="just">
              <a:spcBef>
                <a:spcPts val="480"/>
              </a:spcBef>
              <a:spcAft>
                <a:spcPts val="0"/>
              </a:spcAft>
              <a:buClr>
                <a:srgbClr val="93A299"/>
              </a:buClr>
              <a:buSzPts val="2205"/>
              <a:buChar char="•"/>
            </a:pPr>
            <a:r>
              <a:rPr lang="en-US" sz="2400">
                <a:solidFill>
                  <a:srgbClr val="292934"/>
                </a:solidFill>
              </a:rPr>
              <a:t>It is commonly used to assign values to keys or properties.</a:t>
            </a:r>
            <a:endParaRPr sz="2400">
              <a:solidFill>
                <a:srgbClr val="292934"/>
              </a:solidFill>
            </a:endParaRPr>
          </a:p>
        </p:txBody>
      </p:sp>
      <p:sp>
        <p:nvSpPr>
          <p:cNvPr id="434" name="Google Shape;434;g3d10798bb04_1_44"/>
          <p:cNvSpPr txBox="1"/>
          <p:nvPr/>
        </p:nvSpPr>
        <p:spPr>
          <a:xfrm>
            <a:off x="6034599" y="1690225"/>
            <a:ext cx="4894500" cy="639900"/>
          </a:xfrm>
          <a:prstGeom prst="rect">
            <a:avLst/>
          </a:prstGeom>
          <a:noFill/>
          <a:ln>
            <a:noFill/>
          </a:ln>
        </p:spPr>
        <p:txBody>
          <a:bodyPr anchorCtr="0" anchor="ctr" bIns="45700" lIns="91425" spcFirstLastPara="1" rIns="91425" wrap="square" tIns="45700">
            <a:normAutofit lnSpcReduction="20000"/>
          </a:bodyPr>
          <a:lstStyle/>
          <a:p>
            <a:pPr indent="-228600" lvl="0" marL="457200" rtl="0" algn="ctr">
              <a:spcBef>
                <a:spcPts val="400"/>
              </a:spcBef>
              <a:spcAft>
                <a:spcPts val="0"/>
              </a:spcAft>
              <a:buNone/>
            </a:pPr>
            <a:r>
              <a:rPr b="1" lang="en-US" sz="2000">
                <a:solidFill>
                  <a:srgbClr val="D2533C"/>
                </a:solidFill>
              </a:rPr>
              <a:t>-&gt; (Arrow or Member Access Operator)</a:t>
            </a:r>
            <a:endParaRPr sz="2000">
              <a:solidFill>
                <a:srgbClr val="D2533C"/>
              </a:solidFill>
            </a:endParaRPr>
          </a:p>
        </p:txBody>
      </p:sp>
      <p:sp>
        <p:nvSpPr>
          <p:cNvPr id="435" name="Google Shape;435;g3d10798bb04_1_44"/>
          <p:cNvSpPr txBox="1"/>
          <p:nvPr/>
        </p:nvSpPr>
        <p:spPr>
          <a:xfrm>
            <a:off x="6394075" y="2482650"/>
            <a:ext cx="4466100" cy="3951300"/>
          </a:xfrm>
          <a:prstGeom prst="rect">
            <a:avLst/>
          </a:prstGeom>
          <a:noFill/>
          <a:ln>
            <a:noFill/>
          </a:ln>
        </p:spPr>
        <p:txBody>
          <a:bodyPr anchorCtr="0" anchor="t" bIns="45700" lIns="91425" spcFirstLastPara="1" rIns="91425" wrap="square" tIns="45700">
            <a:normAutofit fontScale="92500" lnSpcReduction="10000"/>
          </a:bodyPr>
          <a:lstStyle/>
          <a:p>
            <a:pPr indent="-228600" lvl="0" marL="457200" rtl="0" algn="just">
              <a:spcBef>
                <a:spcPts val="480"/>
              </a:spcBef>
              <a:spcAft>
                <a:spcPts val="0"/>
              </a:spcAft>
              <a:buNone/>
            </a:pPr>
            <a:r>
              <a:t/>
            </a:r>
            <a:endParaRPr sz="2400">
              <a:solidFill>
                <a:srgbClr val="292934"/>
              </a:solidFill>
            </a:endParaRPr>
          </a:p>
          <a:p>
            <a:pPr indent="-358140" lvl="0" marL="457200" rtl="0" algn="just">
              <a:spcBef>
                <a:spcPts val="480"/>
              </a:spcBef>
              <a:spcAft>
                <a:spcPts val="0"/>
              </a:spcAft>
              <a:buClr>
                <a:srgbClr val="93A299"/>
              </a:buClr>
              <a:buSzPct val="91892"/>
              <a:buChar char="•"/>
            </a:pPr>
            <a:r>
              <a:rPr lang="en-US" sz="2400">
                <a:solidFill>
                  <a:srgbClr val="292934"/>
                </a:solidFill>
              </a:rPr>
              <a:t>-&gt; is used to access members (attributes or methods) of objects or structures in some programming languages, particularly in C-like languages such as C++ and PHP for object-oriented programming.</a:t>
            </a:r>
            <a:endParaRPr sz="2400">
              <a:solidFill>
                <a:srgbClr val="292934"/>
              </a:solidFill>
            </a:endParaRPr>
          </a:p>
          <a:p>
            <a:pPr indent="-358140" lvl="0" marL="457200" rtl="0" algn="just">
              <a:spcBef>
                <a:spcPts val="480"/>
              </a:spcBef>
              <a:spcAft>
                <a:spcPts val="0"/>
              </a:spcAft>
              <a:buClr>
                <a:srgbClr val="93A299"/>
              </a:buClr>
              <a:buSzPct val="91892"/>
              <a:buChar char="•"/>
            </a:pPr>
            <a:r>
              <a:rPr lang="en-US" sz="2400">
                <a:solidFill>
                  <a:srgbClr val="292934"/>
                </a:solidFill>
              </a:rPr>
              <a:t>It's used to access properties and methods of objects or structs.</a:t>
            </a:r>
            <a:endParaRPr sz="2400">
              <a:solidFill>
                <a:srgbClr val="292934"/>
              </a:solidFill>
            </a:endParaRPr>
          </a:p>
        </p:txBody>
      </p:sp>
      <p:pic>
        <p:nvPicPr>
          <p:cNvPr id="436" name="Google Shape;436;g3d10798bb04_1_44"/>
          <p:cNvPicPr preferRelativeResize="0"/>
          <p:nvPr/>
        </p:nvPicPr>
        <p:blipFill rotWithShape="1">
          <a:blip r:embed="rId3">
            <a:alphaModFix/>
          </a:blip>
          <a:srcRect b="0" l="0" r="0" t="0"/>
          <a:stretch/>
        </p:blipFill>
        <p:spPr>
          <a:xfrm>
            <a:off x="10390100" y="128200"/>
            <a:ext cx="1676400" cy="6794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g3d10798bb04_1_49"/>
          <p:cNvSpPr txBox="1"/>
          <p:nvPr>
            <p:ph type="title"/>
          </p:nvPr>
        </p:nvSpPr>
        <p:spPr>
          <a:xfrm>
            <a:off x="838200" y="128200"/>
            <a:ext cx="7021500" cy="548100"/>
          </a:xfrm>
          <a:prstGeom prst="rect">
            <a:avLst/>
          </a:prstGeom>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rgbClr val="D2533C"/>
              </a:buClr>
              <a:buSzPct val="45000"/>
              <a:buFont typeface="Arial"/>
              <a:buNone/>
            </a:pPr>
            <a:r>
              <a:rPr b="1" lang="en-US" sz="4000">
                <a:solidFill>
                  <a:srgbClr val="D2533C"/>
                </a:solidFill>
                <a:latin typeface="Arial"/>
                <a:ea typeface="Arial"/>
                <a:cs typeface="Arial"/>
                <a:sym typeface="Arial"/>
              </a:rPr>
              <a:t>whereAlpha</a:t>
            </a:r>
            <a:endParaRPr/>
          </a:p>
        </p:txBody>
      </p:sp>
      <p:sp>
        <p:nvSpPr>
          <p:cNvPr id="442" name="Google Shape;442;g3d10798bb04_1_49"/>
          <p:cNvSpPr txBox="1"/>
          <p:nvPr>
            <p:ph idx="1" type="body"/>
          </p:nvPr>
        </p:nvSpPr>
        <p:spPr>
          <a:xfrm>
            <a:off x="838200" y="676300"/>
            <a:ext cx="11100300" cy="6028500"/>
          </a:xfrm>
          <a:prstGeom prst="rect">
            <a:avLst/>
          </a:prstGeom>
        </p:spPr>
        <p:txBody>
          <a:bodyPr anchorCtr="0" anchor="t" bIns="45700" lIns="91425" spcFirstLastPara="1" rIns="91425" wrap="square" tIns="45700">
            <a:normAutofit/>
          </a:bodyPr>
          <a:lstStyle/>
          <a:p>
            <a:pPr indent="0" lvl="0" marL="131445" rtl="0" algn="just">
              <a:lnSpc>
                <a:spcPct val="100000"/>
              </a:lnSpc>
              <a:spcBef>
                <a:spcPts val="360"/>
              </a:spcBef>
              <a:spcAft>
                <a:spcPts val="0"/>
              </a:spcAft>
              <a:buClr>
                <a:schemeClr val="dk1"/>
              </a:buClr>
              <a:buSzPts val="1530"/>
              <a:buFont typeface="Arial"/>
              <a:buNone/>
            </a:pPr>
            <a:r>
              <a:rPr lang="en-US" sz="2400">
                <a:solidFill>
                  <a:srgbClr val="292934"/>
                </a:solidFill>
                <a:latin typeface="Arial"/>
                <a:ea typeface="Arial"/>
                <a:cs typeface="Arial"/>
                <a:sym typeface="Arial"/>
              </a:rPr>
              <a:t>The whereAlpha constraint is used to ensure that a route parameter contains only alphabetic characters.</a:t>
            </a:r>
            <a:endParaRPr sz="2400">
              <a:solidFill>
                <a:srgbClr val="292934"/>
              </a:solidFill>
              <a:latin typeface="Arial"/>
              <a:ea typeface="Arial"/>
              <a:cs typeface="Arial"/>
              <a:sym typeface="Arial"/>
            </a:endParaRPr>
          </a:p>
          <a:p>
            <a:pPr indent="0" lvl="0" marL="131445" rtl="0" algn="just">
              <a:lnSpc>
                <a:spcPct val="100000"/>
              </a:lnSpc>
              <a:spcBef>
                <a:spcPts val="360"/>
              </a:spcBef>
              <a:spcAft>
                <a:spcPts val="0"/>
              </a:spcAft>
              <a:buClr>
                <a:schemeClr val="dk1"/>
              </a:buClr>
              <a:buSzPts val="1530"/>
              <a:buFont typeface="Arial"/>
              <a:buNone/>
            </a:pPr>
            <a:r>
              <a:rPr lang="en-US" sz="2400">
                <a:solidFill>
                  <a:srgbClr val="292934"/>
                </a:solidFill>
                <a:latin typeface="Arial"/>
                <a:ea typeface="Arial"/>
                <a:cs typeface="Arial"/>
                <a:sym typeface="Arial"/>
              </a:rPr>
              <a:t>It restricts the parameter to accept only letters (A-Z and a-z).</a:t>
            </a:r>
            <a:endParaRPr sz="2400">
              <a:solidFill>
                <a:srgbClr val="292934"/>
              </a:solidFill>
              <a:latin typeface="Arial"/>
              <a:ea typeface="Arial"/>
              <a:cs typeface="Arial"/>
              <a:sym typeface="Arial"/>
            </a:endParaRPr>
          </a:p>
          <a:p>
            <a:pPr indent="0" lvl="0" marL="0" rtl="0" algn="just">
              <a:spcBef>
                <a:spcPts val="1000"/>
              </a:spcBef>
              <a:spcAft>
                <a:spcPts val="0"/>
              </a:spcAft>
              <a:buNone/>
            </a:pPr>
            <a:r>
              <a:t/>
            </a:r>
            <a:endParaRPr/>
          </a:p>
          <a:p>
            <a:pPr indent="0" lvl="0" marL="0" rtl="0" algn="just">
              <a:spcBef>
                <a:spcPts val="1000"/>
              </a:spcBef>
              <a:spcAft>
                <a:spcPts val="0"/>
              </a:spcAft>
              <a:buNone/>
            </a:pPr>
            <a:r>
              <a:t/>
            </a:r>
            <a:endParaRPr/>
          </a:p>
          <a:p>
            <a:pPr indent="0" lvl="0" marL="0" rtl="0" algn="just">
              <a:spcBef>
                <a:spcPts val="1000"/>
              </a:spcBef>
              <a:spcAft>
                <a:spcPts val="0"/>
              </a:spcAft>
              <a:buNone/>
            </a:pPr>
            <a:r>
              <a:t/>
            </a:r>
            <a:endParaRPr/>
          </a:p>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whereAlphaNumeric</a:t>
            </a:r>
            <a:endParaRPr b="1" sz="4000">
              <a:solidFill>
                <a:srgbClr val="D2533C"/>
              </a:solidFill>
              <a:latin typeface="Arial"/>
              <a:ea typeface="Arial"/>
              <a:cs typeface="Arial"/>
              <a:sym typeface="Arial"/>
            </a:endParaRPr>
          </a:p>
          <a:p>
            <a:pPr indent="-325755" lvl="0" marL="457200" rtl="0" algn="l">
              <a:lnSpc>
                <a:spcPct val="100000"/>
              </a:lnSpc>
              <a:spcBef>
                <a:spcPts val="360"/>
              </a:spcBef>
              <a:spcAft>
                <a:spcPts val="0"/>
              </a:spcAft>
              <a:buClr>
                <a:srgbClr val="93A299"/>
              </a:buClr>
              <a:buSzPts val="1530"/>
              <a:buChar char="•"/>
            </a:pPr>
            <a:r>
              <a:rPr lang="en-US" sz="2400">
                <a:solidFill>
                  <a:srgbClr val="292934"/>
                </a:solidFill>
                <a:latin typeface="Arial"/>
                <a:ea typeface="Arial"/>
                <a:cs typeface="Arial"/>
                <a:sym typeface="Arial"/>
              </a:rPr>
              <a:t>The whereAlphaNumeric constraint is used to ensure that a route parameter contains only alphanumeric characters.</a:t>
            </a:r>
            <a:endParaRPr sz="2400">
              <a:solidFill>
                <a:srgbClr val="292934"/>
              </a:solidFill>
              <a:latin typeface="Arial"/>
              <a:ea typeface="Arial"/>
              <a:cs typeface="Arial"/>
              <a:sym typeface="Arial"/>
            </a:endParaRPr>
          </a:p>
          <a:p>
            <a:pPr indent="-325755" lvl="0" marL="457200" rtl="0" algn="l">
              <a:lnSpc>
                <a:spcPct val="100000"/>
              </a:lnSpc>
              <a:spcBef>
                <a:spcPts val="360"/>
              </a:spcBef>
              <a:spcAft>
                <a:spcPts val="0"/>
              </a:spcAft>
              <a:buClr>
                <a:srgbClr val="93A299"/>
              </a:buClr>
              <a:buSzPts val="1530"/>
              <a:buChar char="•"/>
            </a:pPr>
            <a:r>
              <a:rPr lang="en-US" sz="2400">
                <a:solidFill>
                  <a:srgbClr val="292934"/>
                </a:solidFill>
                <a:latin typeface="Arial"/>
                <a:ea typeface="Arial"/>
                <a:cs typeface="Arial"/>
                <a:sym typeface="Arial"/>
              </a:rPr>
              <a:t>It restricts the parameter to accept letters (A-Z and a-z) and numbers (0-9).</a:t>
            </a:r>
            <a:endParaRPr sz="2400">
              <a:solidFill>
                <a:srgbClr val="292934"/>
              </a:solidFill>
              <a:latin typeface="Arial"/>
              <a:ea typeface="Arial"/>
              <a:cs typeface="Arial"/>
              <a:sym typeface="Arial"/>
            </a:endParaRPr>
          </a:p>
          <a:p>
            <a:pPr indent="-228600" lvl="0" marL="457200" rtl="0" algn="l">
              <a:lnSpc>
                <a:spcPct val="100000"/>
              </a:lnSpc>
              <a:spcBef>
                <a:spcPts val="360"/>
              </a:spcBef>
              <a:spcAft>
                <a:spcPts val="0"/>
              </a:spcAft>
              <a:buClr>
                <a:schemeClr val="dk1"/>
              </a:buClr>
              <a:buSzPts val="1530"/>
              <a:buFont typeface="Arial"/>
              <a:buNone/>
            </a:pPr>
            <a:r>
              <a:t/>
            </a:r>
            <a:endParaRPr sz="2400">
              <a:solidFill>
                <a:srgbClr val="292934"/>
              </a:solidFill>
              <a:latin typeface="Arial"/>
              <a:ea typeface="Arial"/>
              <a:cs typeface="Arial"/>
              <a:sym typeface="Arial"/>
            </a:endParaRPr>
          </a:p>
          <a:p>
            <a:pPr indent="-228600" lvl="0" marL="457200" rtl="0" algn="l">
              <a:lnSpc>
                <a:spcPct val="100000"/>
              </a:lnSpc>
              <a:spcBef>
                <a:spcPts val="360"/>
              </a:spcBef>
              <a:spcAft>
                <a:spcPts val="0"/>
              </a:spcAft>
              <a:buClr>
                <a:schemeClr val="dk1"/>
              </a:buClr>
              <a:buSzPts val="1530"/>
              <a:buFont typeface="Arial"/>
              <a:buNone/>
            </a:pPr>
            <a:r>
              <a:t/>
            </a:r>
            <a:endParaRPr sz="2400">
              <a:solidFill>
                <a:srgbClr val="292934"/>
              </a:solidFill>
              <a:latin typeface="Arial"/>
              <a:ea typeface="Arial"/>
              <a:cs typeface="Arial"/>
              <a:sym typeface="Arial"/>
            </a:endParaRPr>
          </a:p>
          <a:p>
            <a:pPr indent="0" lvl="0" marL="0" rtl="0" algn="l">
              <a:lnSpc>
                <a:spcPct val="100000"/>
              </a:lnSpc>
              <a:spcBef>
                <a:spcPts val="0"/>
              </a:spcBef>
              <a:spcAft>
                <a:spcPts val="0"/>
              </a:spcAft>
              <a:buClr>
                <a:srgbClr val="D2533C"/>
              </a:buClr>
              <a:buSzPts val="1800"/>
              <a:buFont typeface="Arial"/>
              <a:buNone/>
            </a:pPr>
            <a:r>
              <a:t/>
            </a:r>
            <a:endParaRPr b="1" sz="4000">
              <a:solidFill>
                <a:srgbClr val="D2533C"/>
              </a:solidFill>
              <a:latin typeface="Arial"/>
              <a:ea typeface="Arial"/>
              <a:cs typeface="Arial"/>
              <a:sym typeface="Arial"/>
            </a:endParaRPr>
          </a:p>
        </p:txBody>
      </p:sp>
      <p:pic>
        <p:nvPicPr>
          <p:cNvPr id="443" name="Google Shape;443;g3d10798bb04_1_49"/>
          <p:cNvPicPr preferRelativeResize="0"/>
          <p:nvPr/>
        </p:nvPicPr>
        <p:blipFill rotWithShape="1">
          <a:blip r:embed="rId3">
            <a:alphaModFix/>
          </a:blip>
          <a:srcRect b="0" l="0" r="0" t="0"/>
          <a:stretch/>
        </p:blipFill>
        <p:spPr>
          <a:xfrm>
            <a:off x="1057900" y="2034202"/>
            <a:ext cx="6801800" cy="1228896"/>
          </a:xfrm>
          <a:prstGeom prst="rect">
            <a:avLst/>
          </a:prstGeom>
          <a:noFill/>
          <a:ln>
            <a:noFill/>
          </a:ln>
        </p:spPr>
      </p:pic>
      <p:pic>
        <p:nvPicPr>
          <p:cNvPr id="444" name="Google Shape;444;g3d10798bb04_1_49"/>
          <p:cNvPicPr preferRelativeResize="0"/>
          <p:nvPr/>
        </p:nvPicPr>
        <p:blipFill rotWithShape="1">
          <a:blip r:embed="rId4">
            <a:alphaModFix/>
          </a:blip>
          <a:srcRect b="0" l="0" r="0" t="0"/>
          <a:stretch/>
        </p:blipFill>
        <p:spPr>
          <a:xfrm>
            <a:off x="10390100" y="128200"/>
            <a:ext cx="1676400" cy="679450"/>
          </a:xfrm>
          <a:prstGeom prst="rect">
            <a:avLst/>
          </a:prstGeom>
          <a:noFill/>
          <a:ln>
            <a:noFill/>
          </a:ln>
        </p:spPr>
      </p:pic>
      <p:pic>
        <p:nvPicPr>
          <p:cNvPr id="445" name="Google Shape;445;g3d10798bb04_1_49"/>
          <p:cNvPicPr preferRelativeResize="0"/>
          <p:nvPr/>
        </p:nvPicPr>
        <p:blipFill rotWithShape="1">
          <a:blip r:embed="rId5">
            <a:alphaModFix/>
          </a:blip>
          <a:srcRect b="0" l="0" r="0" t="0"/>
          <a:stretch/>
        </p:blipFill>
        <p:spPr>
          <a:xfrm>
            <a:off x="1057900" y="5470700"/>
            <a:ext cx="7049501" cy="12289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g3d10798bb04_1_59"/>
          <p:cNvSpPr txBox="1"/>
          <p:nvPr>
            <p:ph idx="1" type="body"/>
          </p:nvPr>
        </p:nvSpPr>
        <p:spPr>
          <a:xfrm>
            <a:off x="656050" y="164725"/>
            <a:ext cx="10383900" cy="6567600"/>
          </a:xfrm>
          <a:prstGeom prst="rect">
            <a:avLst/>
          </a:prstGeom>
        </p:spPr>
        <p:txBody>
          <a:bodyPr anchorCtr="0" anchor="t" bIns="45700" lIns="91425" spcFirstLastPara="1" rIns="91425" wrap="square" tIns="45700">
            <a:normAutofit fontScale="92500" lnSpcReduction="20000"/>
          </a:bodyPr>
          <a:lstStyle/>
          <a:p>
            <a:pPr indent="0" lvl="0" marL="0" rtl="0" algn="l">
              <a:lnSpc>
                <a:spcPct val="100000"/>
              </a:lnSpc>
              <a:spcBef>
                <a:spcPts val="360"/>
              </a:spcBef>
              <a:spcAft>
                <a:spcPts val="0"/>
              </a:spcAft>
              <a:buNone/>
            </a:pPr>
            <a:r>
              <a:rPr b="1" lang="en-US" sz="4000">
                <a:solidFill>
                  <a:srgbClr val="D2533C"/>
                </a:solidFill>
                <a:latin typeface="Arial"/>
                <a:ea typeface="Arial"/>
                <a:cs typeface="Arial"/>
                <a:sym typeface="Arial"/>
              </a:rPr>
              <a:t> </a:t>
            </a:r>
            <a:r>
              <a:rPr b="1" lang="en-US" sz="4000">
                <a:solidFill>
                  <a:srgbClr val="D2533C"/>
                </a:solidFill>
                <a:latin typeface="Arial"/>
                <a:ea typeface="Arial"/>
                <a:cs typeface="Arial"/>
                <a:sym typeface="Arial"/>
              </a:rPr>
              <a:t>whereIn</a:t>
            </a:r>
            <a:endParaRPr b="1" sz="4000">
              <a:solidFill>
                <a:srgbClr val="D2533C"/>
              </a:solidFill>
              <a:latin typeface="Arial"/>
              <a:ea typeface="Arial"/>
              <a:cs typeface="Arial"/>
              <a:sym typeface="Arial"/>
            </a:endParaRPr>
          </a:p>
          <a:p>
            <a:pPr indent="-318468" lvl="0" marL="457200" rtl="0" algn="l">
              <a:lnSpc>
                <a:spcPct val="100000"/>
              </a:lnSpc>
              <a:spcBef>
                <a:spcPts val="360"/>
              </a:spcBef>
              <a:spcAft>
                <a:spcPts val="0"/>
              </a:spcAft>
              <a:buClr>
                <a:srgbClr val="93A299"/>
              </a:buClr>
              <a:buSzPct val="63750"/>
              <a:buChar char="•"/>
            </a:pPr>
            <a:r>
              <a:rPr lang="en-US" sz="2400">
                <a:solidFill>
                  <a:srgbClr val="292934"/>
                </a:solidFill>
                <a:latin typeface="Arial"/>
                <a:ea typeface="Arial"/>
                <a:cs typeface="Arial"/>
                <a:sym typeface="Arial"/>
              </a:rPr>
              <a:t>The whereIn constraint is used when you want to constrain a parameter's value to a specific set of values.</a:t>
            </a:r>
            <a:endParaRPr sz="2400">
              <a:solidFill>
                <a:srgbClr val="292934"/>
              </a:solidFill>
              <a:latin typeface="Arial"/>
              <a:ea typeface="Arial"/>
              <a:cs typeface="Arial"/>
              <a:sym typeface="Arial"/>
            </a:endParaRPr>
          </a:p>
          <a:p>
            <a:pPr indent="-318468" lvl="0" marL="457200" rtl="0" algn="l">
              <a:lnSpc>
                <a:spcPct val="100000"/>
              </a:lnSpc>
              <a:spcBef>
                <a:spcPts val="360"/>
              </a:spcBef>
              <a:spcAft>
                <a:spcPts val="0"/>
              </a:spcAft>
              <a:buClr>
                <a:srgbClr val="93A299"/>
              </a:buClr>
              <a:buSzPct val="63750"/>
              <a:buChar char="•"/>
            </a:pPr>
            <a:r>
              <a:rPr lang="en-US" sz="2400">
                <a:solidFill>
                  <a:srgbClr val="292934"/>
                </a:solidFill>
                <a:latin typeface="Arial"/>
                <a:ea typeface="Arial"/>
                <a:cs typeface="Arial"/>
                <a:sym typeface="Arial"/>
              </a:rPr>
              <a:t>It ensures that the parameter matches one of the specified values.</a:t>
            </a:r>
            <a:endParaRPr sz="2400">
              <a:solidFill>
                <a:srgbClr val="292934"/>
              </a:solidFill>
              <a:latin typeface="Arial"/>
              <a:ea typeface="Arial"/>
              <a:cs typeface="Arial"/>
              <a:sym typeface="Arial"/>
            </a:endParaRPr>
          </a:p>
          <a:p>
            <a:pPr indent="0" lvl="0" marL="0" rtl="0" algn="l">
              <a:lnSpc>
                <a:spcPct val="100000"/>
              </a:lnSpc>
              <a:spcBef>
                <a:spcPts val="360"/>
              </a:spcBef>
              <a:spcAft>
                <a:spcPts val="0"/>
              </a:spcAft>
              <a:buNone/>
            </a:pPr>
            <a:r>
              <a:t/>
            </a:r>
            <a:endParaRPr sz="2400">
              <a:solidFill>
                <a:srgbClr val="292934"/>
              </a:solidFill>
              <a:latin typeface="Arial"/>
              <a:ea typeface="Arial"/>
              <a:cs typeface="Arial"/>
              <a:sym typeface="Arial"/>
            </a:endParaRPr>
          </a:p>
          <a:p>
            <a:pPr indent="0" lvl="0" marL="0" rtl="0" algn="l">
              <a:lnSpc>
                <a:spcPct val="100000"/>
              </a:lnSpc>
              <a:spcBef>
                <a:spcPts val="360"/>
              </a:spcBef>
              <a:spcAft>
                <a:spcPts val="0"/>
              </a:spcAft>
              <a:buNone/>
            </a:pPr>
            <a:r>
              <a:t/>
            </a:r>
            <a:endParaRPr sz="2400">
              <a:solidFill>
                <a:srgbClr val="292934"/>
              </a:solidFill>
              <a:latin typeface="Arial"/>
              <a:ea typeface="Arial"/>
              <a:cs typeface="Arial"/>
              <a:sym typeface="Arial"/>
            </a:endParaRPr>
          </a:p>
          <a:p>
            <a:pPr indent="0" lvl="0" marL="0" rtl="0" algn="l">
              <a:lnSpc>
                <a:spcPct val="100000"/>
              </a:lnSpc>
              <a:spcBef>
                <a:spcPts val="360"/>
              </a:spcBef>
              <a:spcAft>
                <a:spcPts val="0"/>
              </a:spcAft>
              <a:buNone/>
            </a:pPr>
            <a:r>
              <a:t/>
            </a:r>
            <a:endParaRPr sz="2400">
              <a:solidFill>
                <a:srgbClr val="292934"/>
              </a:solidFill>
              <a:latin typeface="Arial"/>
              <a:ea typeface="Arial"/>
              <a:cs typeface="Arial"/>
              <a:sym typeface="Arial"/>
            </a:endParaRPr>
          </a:p>
          <a:p>
            <a:pPr indent="0" lvl="0" marL="0" rtl="0" algn="l">
              <a:lnSpc>
                <a:spcPct val="100000"/>
              </a:lnSpc>
              <a:spcBef>
                <a:spcPts val="360"/>
              </a:spcBef>
              <a:spcAft>
                <a:spcPts val="0"/>
              </a:spcAft>
              <a:buNone/>
            </a:pPr>
            <a:r>
              <a:t/>
            </a:r>
            <a:endParaRPr sz="2400">
              <a:solidFill>
                <a:srgbClr val="292934"/>
              </a:solidFill>
              <a:latin typeface="Arial"/>
              <a:ea typeface="Arial"/>
              <a:cs typeface="Arial"/>
              <a:sym typeface="Arial"/>
            </a:endParaRPr>
          </a:p>
          <a:p>
            <a:pPr indent="0" lvl="0" marL="0" rtl="0" algn="l">
              <a:lnSpc>
                <a:spcPct val="100000"/>
              </a:lnSpc>
              <a:spcBef>
                <a:spcPts val="0"/>
              </a:spcBef>
              <a:spcAft>
                <a:spcPts val="0"/>
              </a:spcAft>
              <a:buNone/>
            </a:pPr>
            <a:r>
              <a:t/>
            </a:r>
            <a:endParaRPr b="1" sz="4000">
              <a:solidFill>
                <a:srgbClr val="D2533C"/>
              </a:solidFill>
              <a:latin typeface="Arial"/>
              <a:ea typeface="Arial"/>
              <a:cs typeface="Arial"/>
              <a:sym typeface="Arial"/>
            </a:endParaRPr>
          </a:p>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where</a:t>
            </a:r>
            <a:endParaRPr b="1" sz="4000">
              <a:solidFill>
                <a:srgbClr val="D2533C"/>
              </a:solidFill>
              <a:latin typeface="Arial"/>
              <a:ea typeface="Arial"/>
              <a:cs typeface="Arial"/>
              <a:sym typeface="Arial"/>
            </a:endParaRPr>
          </a:p>
          <a:p>
            <a:pPr indent="-318468" lvl="0" marL="457200" rtl="0" algn="l">
              <a:lnSpc>
                <a:spcPct val="100000"/>
              </a:lnSpc>
              <a:spcBef>
                <a:spcPts val="360"/>
              </a:spcBef>
              <a:spcAft>
                <a:spcPts val="0"/>
              </a:spcAft>
              <a:buClr>
                <a:srgbClr val="93A299"/>
              </a:buClr>
              <a:buSzPct val="63750"/>
              <a:buChar char="•"/>
            </a:pPr>
            <a:r>
              <a:rPr lang="en-US" sz="2400">
                <a:solidFill>
                  <a:srgbClr val="292934"/>
                </a:solidFill>
                <a:latin typeface="Arial"/>
                <a:ea typeface="Arial"/>
                <a:cs typeface="Arial"/>
                <a:sym typeface="Arial"/>
              </a:rPr>
              <a:t>The where method is a more general constraint that allows you to specify custom constraints using regular expressions or closures.</a:t>
            </a:r>
            <a:endParaRPr sz="2400">
              <a:solidFill>
                <a:srgbClr val="292934"/>
              </a:solidFill>
              <a:latin typeface="Arial"/>
              <a:ea typeface="Arial"/>
              <a:cs typeface="Arial"/>
              <a:sym typeface="Arial"/>
            </a:endParaRPr>
          </a:p>
          <a:p>
            <a:pPr indent="-318468" lvl="0" marL="457200" rtl="0" algn="l">
              <a:lnSpc>
                <a:spcPct val="100000"/>
              </a:lnSpc>
              <a:spcBef>
                <a:spcPts val="360"/>
              </a:spcBef>
              <a:spcAft>
                <a:spcPts val="0"/>
              </a:spcAft>
              <a:buClr>
                <a:srgbClr val="93A299"/>
              </a:buClr>
              <a:buSzPct val="63750"/>
              <a:buChar char="•"/>
            </a:pPr>
            <a:r>
              <a:rPr lang="en-US" sz="2400">
                <a:solidFill>
                  <a:srgbClr val="292934"/>
                </a:solidFill>
                <a:latin typeface="Arial"/>
                <a:ea typeface="Arial"/>
                <a:cs typeface="Arial"/>
                <a:sym typeface="Arial"/>
              </a:rPr>
              <a:t>It provides flexibility to define complex validation rules for a parameter.</a:t>
            </a:r>
            <a:endParaRPr sz="2400">
              <a:solidFill>
                <a:srgbClr val="292934"/>
              </a:solidFill>
              <a:latin typeface="Arial"/>
              <a:ea typeface="Arial"/>
              <a:cs typeface="Arial"/>
              <a:sym typeface="Arial"/>
            </a:endParaRPr>
          </a:p>
          <a:p>
            <a:pPr indent="-228600" lvl="0" marL="457200" rtl="0" algn="l">
              <a:lnSpc>
                <a:spcPct val="100000"/>
              </a:lnSpc>
              <a:spcBef>
                <a:spcPts val="360"/>
              </a:spcBef>
              <a:spcAft>
                <a:spcPts val="0"/>
              </a:spcAft>
              <a:buClr>
                <a:schemeClr val="dk1"/>
              </a:buClr>
              <a:buSzPct val="63750"/>
              <a:buFont typeface="Arial"/>
              <a:buNone/>
            </a:pPr>
            <a:r>
              <a:t/>
            </a:r>
            <a:endParaRPr sz="2400">
              <a:solidFill>
                <a:srgbClr val="292934"/>
              </a:solidFill>
              <a:latin typeface="Arial"/>
              <a:ea typeface="Arial"/>
              <a:cs typeface="Arial"/>
              <a:sym typeface="Arial"/>
            </a:endParaRPr>
          </a:p>
          <a:p>
            <a:pPr indent="0" lvl="0" marL="0" rtl="0" algn="l">
              <a:lnSpc>
                <a:spcPct val="100000"/>
              </a:lnSpc>
              <a:spcBef>
                <a:spcPts val="0"/>
              </a:spcBef>
              <a:spcAft>
                <a:spcPts val="0"/>
              </a:spcAft>
              <a:buClr>
                <a:srgbClr val="D2533C"/>
              </a:buClr>
              <a:buSzPct val="45000"/>
              <a:buFont typeface="Arial"/>
              <a:buNone/>
            </a:pPr>
            <a:r>
              <a:t/>
            </a:r>
            <a:endParaRPr b="1" sz="4000">
              <a:solidFill>
                <a:srgbClr val="D2533C"/>
              </a:solidFill>
              <a:latin typeface="Arial"/>
              <a:ea typeface="Arial"/>
              <a:cs typeface="Arial"/>
              <a:sym typeface="Arial"/>
            </a:endParaRPr>
          </a:p>
          <a:p>
            <a:pPr indent="-228600" lvl="0" marL="457200" rtl="0" algn="l">
              <a:lnSpc>
                <a:spcPct val="100000"/>
              </a:lnSpc>
              <a:spcBef>
                <a:spcPts val="360"/>
              </a:spcBef>
              <a:spcAft>
                <a:spcPts val="0"/>
              </a:spcAft>
              <a:buClr>
                <a:schemeClr val="dk1"/>
              </a:buClr>
              <a:buSzPct val="63750"/>
              <a:buFont typeface="Arial"/>
              <a:buNone/>
            </a:pPr>
            <a:r>
              <a:t/>
            </a:r>
            <a:endParaRPr sz="2400">
              <a:solidFill>
                <a:srgbClr val="292934"/>
              </a:solidFill>
              <a:latin typeface="Arial"/>
              <a:ea typeface="Arial"/>
              <a:cs typeface="Arial"/>
              <a:sym typeface="Arial"/>
            </a:endParaRPr>
          </a:p>
          <a:p>
            <a:pPr indent="-228600" lvl="0" marL="457200" rtl="0" algn="l">
              <a:lnSpc>
                <a:spcPct val="100000"/>
              </a:lnSpc>
              <a:spcBef>
                <a:spcPts val="360"/>
              </a:spcBef>
              <a:spcAft>
                <a:spcPts val="0"/>
              </a:spcAft>
              <a:buClr>
                <a:schemeClr val="dk1"/>
              </a:buClr>
              <a:buSzPct val="63750"/>
              <a:buFont typeface="Arial"/>
              <a:buNone/>
            </a:pPr>
            <a:r>
              <a:t/>
            </a:r>
            <a:endParaRPr sz="2400">
              <a:solidFill>
                <a:srgbClr val="292934"/>
              </a:solidFill>
              <a:latin typeface="Arial"/>
              <a:ea typeface="Arial"/>
              <a:cs typeface="Arial"/>
              <a:sym typeface="Arial"/>
            </a:endParaRPr>
          </a:p>
          <a:p>
            <a:pPr indent="0" lvl="0" marL="0" rtl="0" algn="l">
              <a:spcBef>
                <a:spcPts val="1000"/>
              </a:spcBef>
              <a:spcAft>
                <a:spcPts val="0"/>
              </a:spcAft>
              <a:buNone/>
            </a:pPr>
            <a:r>
              <a:t/>
            </a:r>
            <a:endParaRPr/>
          </a:p>
        </p:txBody>
      </p:sp>
      <p:pic>
        <p:nvPicPr>
          <p:cNvPr id="451" name="Google Shape;451;g3d10798bb04_1_59"/>
          <p:cNvPicPr preferRelativeResize="0"/>
          <p:nvPr/>
        </p:nvPicPr>
        <p:blipFill rotWithShape="1">
          <a:blip r:embed="rId3">
            <a:alphaModFix/>
          </a:blip>
          <a:srcRect b="0" l="0" r="0" t="0"/>
          <a:stretch/>
        </p:blipFill>
        <p:spPr>
          <a:xfrm>
            <a:off x="1392119" y="1949596"/>
            <a:ext cx="8145012" cy="1305107"/>
          </a:xfrm>
          <a:prstGeom prst="rect">
            <a:avLst/>
          </a:prstGeom>
          <a:noFill/>
          <a:ln>
            <a:noFill/>
          </a:ln>
        </p:spPr>
      </p:pic>
      <p:pic>
        <p:nvPicPr>
          <p:cNvPr id="452" name="Google Shape;452;g3d10798bb04_1_59"/>
          <p:cNvPicPr preferRelativeResize="0"/>
          <p:nvPr/>
        </p:nvPicPr>
        <p:blipFill rotWithShape="1">
          <a:blip r:embed="rId4">
            <a:alphaModFix/>
          </a:blip>
          <a:srcRect b="0" l="0" r="0" t="0"/>
          <a:stretch/>
        </p:blipFill>
        <p:spPr>
          <a:xfrm>
            <a:off x="1392122" y="4884701"/>
            <a:ext cx="7382906" cy="1409897"/>
          </a:xfrm>
          <a:prstGeom prst="rect">
            <a:avLst/>
          </a:prstGeom>
          <a:noFill/>
          <a:ln>
            <a:noFill/>
          </a:ln>
        </p:spPr>
      </p:pic>
      <p:pic>
        <p:nvPicPr>
          <p:cNvPr id="453" name="Google Shape;453;g3d10798bb04_1_59"/>
          <p:cNvPicPr preferRelativeResize="0"/>
          <p:nvPr/>
        </p:nvPicPr>
        <p:blipFill rotWithShape="1">
          <a:blip r:embed="rId5">
            <a:alphaModFix/>
          </a:blip>
          <a:srcRect b="0" l="0" r="0" t="0"/>
          <a:stretch/>
        </p:blipFill>
        <p:spPr>
          <a:xfrm>
            <a:off x="10390100" y="128200"/>
            <a:ext cx="1676400" cy="67945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g3d10798bb04_1_86"/>
          <p:cNvSpPr txBox="1"/>
          <p:nvPr>
            <p:ph idx="1" type="body"/>
          </p:nvPr>
        </p:nvSpPr>
        <p:spPr>
          <a:xfrm>
            <a:off x="351850" y="344475"/>
            <a:ext cx="11001900" cy="6277200"/>
          </a:xfrm>
          <a:prstGeom prst="rect">
            <a:avLst/>
          </a:prstGeom>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D2533C"/>
              </a:buClr>
              <a:buSzPts val="2000"/>
              <a:buFont typeface="Arial"/>
              <a:buNone/>
            </a:pPr>
            <a:r>
              <a:rPr b="1" lang="en-US" sz="4000">
                <a:solidFill>
                  <a:srgbClr val="D2533C"/>
                </a:solidFill>
                <a:latin typeface="Arial"/>
                <a:ea typeface="Arial"/>
                <a:cs typeface="Arial"/>
                <a:sym typeface="Arial"/>
              </a:rPr>
              <a:t>Handling Multiple Parameter Constraints</a:t>
            </a:r>
            <a:endParaRPr sz="4400"/>
          </a:p>
          <a:p>
            <a:pPr indent="0" lvl="0" marL="0" rtl="0" algn="l">
              <a:lnSpc>
                <a:spcPct val="100000"/>
              </a:lnSpc>
              <a:spcBef>
                <a:spcPts val="360"/>
              </a:spcBef>
              <a:spcAft>
                <a:spcPts val="0"/>
              </a:spcAft>
              <a:buClr>
                <a:schemeClr val="dk1"/>
              </a:buClr>
              <a:buSzPts val="1530"/>
              <a:buFont typeface="Arial"/>
              <a:buNone/>
            </a:pPr>
            <a:r>
              <a:rPr lang="en-US" sz="2400">
                <a:solidFill>
                  <a:srgbClr val="292934"/>
                </a:solidFill>
                <a:latin typeface="Arial"/>
                <a:ea typeface="Arial"/>
                <a:cs typeface="Arial"/>
                <a:sym typeface="Arial"/>
              </a:rPr>
              <a:t>Suppose you have multiple parameters in URL, and you want to have different constrains for both, then one method for doing it is shown below.</a:t>
            </a:r>
            <a:endParaRPr sz="2400">
              <a:solidFill>
                <a:srgbClr val="292934"/>
              </a:solidFill>
              <a:latin typeface="Arial"/>
              <a:ea typeface="Arial"/>
              <a:cs typeface="Arial"/>
              <a:sym typeface="Arial"/>
            </a:endParaRPr>
          </a:p>
          <a:p>
            <a:pPr indent="0" lvl="0" marL="0" rtl="0" algn="l">
              <a:lnSpc>
                <a:spcPct val="100000"/>
              </a:lnSpc>
              <a:spcBef>
                <a:spcPts val="360"/>
              </a:spcBef>
              <a:spcAft>
                <a:spcPts val="0"/>
              </a:spcAft>
              <a:buClr>
                <a:schemeClr val="dk1"/>
              </a:buClr>
              <a:buSzPts val="1530"/>
              <a:buFont typeface="Arial"/>
              <a:buNone/>
            </a:pPr>
            <a:r>
              <a:t/>
            </a:r>
            <a:endParaRPr sz="2400">
              <a:solidFill>
                <a:srgbClr val="292934"/>
              </a:solidFill>
              <a:latin typeface="Arial"/>
              <a:ea typeface="Arial"/>
              <a:cs typeface="Arial"/>
              <a:sym typeface="Arial"/>
            </a:endParaRPr>
          </a:p>
          <a:p>
            <a:pPr indent="0" lvl="0" marL="0" rtl="0" algn="l">
              <a:lnSpc>
                <a:spcPct val="100000"/>
              </a:lnSpc>
              <a:spcBef>
                <a:spcPts val="360"/>
              </a:spcBef>
              <a:spcAft>
                <a:spcPts val="0"/>
              </a:spcAft>
              <a:buClr>
                <a:schemeClr val="dk1"/>
              </a:buClr>
              <a:buSzPts val="1530"/>
              <a:buFont typeface="Arial"/>
              <a:buNone/>
            </a:pPr>
            <a:r>
              <a:t/>
            </a:r>
            <a:endParaRPr sz="2400">
              <a:solidFill>
                <a:srgbClr val="292934"/>
              </a:solidFill>
              <a:latin typeface="Arial"/>
              <a:ea typeface="Arial"/>
              <a:cs typeface="Arial"/>
              <a:sym typeface="Arial"/>
            </a:endParaRPr>
          </a:p>
          <a:p>
            <a:pPr indent="0" lvl="0" marL="0" rtl="0" algn="l">
              <a:lnSpc>
                <a:spcPct val="100000"/>
              </a:lnSpc>
              <a:spcBef>
                <a:spcPts val="360"/>
              </a:spcBef>
              <a:spcAft>
                <a:spcPts val="0"/>
              </a:spcAft>
              <a:buClr>
                <a:schemeClr val="dk1"/>
              </a:buClr>
              <a:buSzPts val="1530"/>
              <a:buFont typeface="Arial"/>
              <a:buNone/>
            </a:pPr>
            <a:r>
              <a:t/>
            </a:r>
            <a:endParaRPr sz="2400">
              <a:solidFill>
                <a:srgbClr val="292934"/>
              </a:solidFill>
              <a:latin typeface="Arial"/>
              <a:ea typeface="Arial"/>
              <a:cs typeface="Arial"/>
              <a:sym typeface="Arial"/>
            </a:endParaRPr>
          </a:p>
          <a:p>
            <a:pPr indent="0" lvl="0" marL="0" rtl="0" algn="l">
              <a:lnSpc>
                <a:spcPct val="100000"/>
              </a:lnSpc>
              <a:spcBef>
                <a:spcPts val="0"/>
              </a:spcBef>
              <a:spcAft>
                <a:spcPts val="0"/>
              </a:spcAft>
              <a:buClr>
                <a:srgbClr val="D2533C"/>
              </a:buClr>
              <a:buSzPts val="4000"/>
              <a:buFont typeface="Arial"/>
              <a:buNone/>
            </a:pPr>
            <a:r>
              <a:t/>
            </a:r>
            <a:endParaRPr b="1" sz="4000">
              <a:solidFill>
                <a:srgbClr val="D2533C"/>
              </a:solidFill>
              <a:latin typeface="Arial"/>
              <a:ea typeface="Arial"/>
              <a:cs typeface="Arial"/>
              <a:sym typeface="Arial"/>
            </a:endParaRPr>
          </a:p>
          <a:p>
            <a:pPr indent="0" lvl="0" marL="0" rtl="0" algn="l">
              <a:lnSpc>
                <a:spcPct val="100000"/>
              </a:lnSpc>
              <a:spcBef>
                <a:spcPts val="0"/>
              </a:spcBef>
              <a:spcAft>
                <a:spcPts val="0"/>
              </a:spcAft>
              <a:buClr>
                <a:srgbClr val="D2533C"/>
              </a:buClr>
              <a:buSzPts val="4000"/>
              <a:buFont typeface="Arial"/>
              <a:buNone/>
            </a:pPr>
            <a:r>
              <a:rPr b="1" lang="en-US" sz="4000">
                <a:solidFill>
                  <a:srgbClr val="D2533C"/>
                </a:solidFill>
                <a:latin typeface="Arial"/>
                <a:ea typeface="Arial"/>
                <a:cs typeface="Arial"/>
                <a:sym typeface="Arial"/>
              </a:rPr>
              <a:t>Route Parameters Global Constraint</a:t>
            </a:r>
            <a:endParaRPr b="1" sz="4000">
              <a:solidFill>
                <a:srgbClr val="D2533C"/>
              </a:solidFill>
              <a:latin typeface="Arial"/>
              <a:ea typeface="Arial"/>
              <a:cs typeface="Arial"/>
              <a:sym typeface="Arial"/>
            </a:endParaRPr>
          </a:p>
          <a:p>
            <a:pPr indent="-202565" lvl="0" marL="182880" rtl="0" algn="just">
              <a:lnSpc>
                <a:spcPct val="100000"/>
              </a:lnSpc>
              <a:spcBef>
                <a:spcPts val="0"/>
              </a:spcBef>
              <a:spcAft>
                <a:spcPts val="0"/>
              </a:spcAft>
              <a:buClr>
                <a:srgbClr val="93A299"/>
              </a:buClr>
              <a:buSzPts val="2350"/>
              <a:buChar char="•"/>
            </a:pPr>
            <a:r>
              <a:rPr b="1" lang="en-US" sz="2350">
                <a:solidFill>
                  <a:srgbClr val="292934"/>
                </a:solidFill>
                <a:latin typeface="Arial"/>
                <a:ea typeface="Arial"/>
                <a:cs typeface="Arial"/>
                <a:sym typeface="Arial"/>
              </a:rPr>
              <a:t>Global Constraints </a:t>
            </a:r>
            <a:r>
              <a:rPr lang="en-US" sz="2350">
                <a:solidFill>
                  <a:srgbClr val="292934"/>
                </a:solidFill>
                <a:latin typeface="Arial"/>
                <a:ea typeface="Arial"/>
                <a:cs typeface="Arial"/>
                <a:sym typeface="Arial"/>
              </a:rPr>
              <a:t>- In Laravel, you can define global route constraints by using the pattern method</a:t>
            </a:r>
            <a:endParaRPr sz="2350">
              <a:solidFill>
                <a:srgbClr val="292934"/>
              </a:solidFill>
              <a:latin typeface="Arial"/>
              <a:ea typeface="Arial"/>
              <a:cs typeface="Arial"/>
              <a:sym typeface="Arial"/>
            </a:endParaRPr>
          </a:p>
          <a:p>
            <a:pPr indent="-53339" lvl="0" marL="182880" rtl="0" algn="just">
              <a:lnSpc>
                <a:spcPct val="100000"/>
              </a:lnSpc>
              <a:spcBef>
                <a:spcPts val="0"/>
              </a:spcBef>
              <a:spcAft>
                <a:spcPts val="0"/>
              </a:spcAft>
              <a:buClr>
                <a:schemeClr val="dk1"/>
              </a:buClr>
              <a:buSzPts val="2040"/>
              <a:buFont typeface="Arial"/>
              <a:buNone/>
            </a:pPr>
            <a:r>
              <a:t/>
            </a:r>
            <a:endParaRPr b="1" sz="2350">
              <a:solidFill>
                <a:srgbClr val="292934"/>
              </a:solidFill>
              <a:latin typeface="Arial"/>
              <a:ea typeface="Arial"/>
              <a:cs typeface="Arial"/>
              <a:sym typeface="Arial"/>
            </a:endParaRPr>
          </a:p>
          <a:p>
            <a:pPr indent="-202565" lvl="0" marL="182880" rtl="0" algn="just">
              <a:lnSpc>
                <a:spcPct val="100000"/>
              </a:lnSpc>
              <a:spcBef>
                <a:spcPts val="0"/>
              </a:spcBef>
              <a:spcAft>
                <a:spcPts val="0"/>
              </a:spcAft>
              <a:buClr>
                <a:srgbClr val="93A299"/>
              </a:buClr>
              <a:buSzPts val="2350"/>
              <a:buChar char="•"/>
            </a:pPr>
            <a:r>
              <a:rPr b="1" lang="en-US" sz="2350">
                <a:solidFill>
                  <a:srgbClr val="292934"/>
                </a:solidFill>
                <a:latin typeface="Arial"/>
                <a:ea typeface="Arial"/>
                <a:cs typeface="Arial"/>
                <a:sym typeface="Arial"/>
              </a:rPr>
              <a:t> </a:t>
            </a:r>
            <a:r>
              <a:rPr lang="en-US" sz="2350">
                <a:solidFill>
                  <a:srgbClr val="292934"/>
                </a:solidFill>
                <a:latin typeface="Arial"/>
                <a:ea typeface="Arial"/>
                <a:cs typeface="Arial"/>
                <a:sym typeface="Arial"/>
              </a:rPr>
              <a:t>This allows you to apply constraints to all routes in your application. Global constraints can be useful for enforcing common validation rules on various route parameters throughout your application.</a:t>
            </a:r>
            <a:endParaRPr/>
          </a:p>
        </p:txBody>
      </p:sp>
      <p:pic>
        <p:nvPicPr>
          <p:cNvPr id="459" name="Google Shape;459;g3d10798bb04_1_86"/>
          <p:cNvPicPr preferRelativeResize="0"/>
          <p:nvPr/>
        </p:nvPicPr>
        <p:blipFill rotWithShape="1">
          <a:blip r:embed="rId3">
            <a:alphaModFix/>
          </a:blip>
          <a:srcRect b="0" l="0" r="0" t="0"/>
          <a:stretch/>
        </p:blipFill>
        <p:spPr>
          <a:xfrm>
            <a:off x="747550" y="2047682"/>
            <a:ext cx="8468907" cy="1381318"/>
          </a:xfrm>
          <a:prstGeom prst="rect">
            <a:avLst/>
          </a:prstGeom>
          <a:noFill/>
          <a:ln>
            <a:noFill/>
          </a:ln>
        </p:spPr>
      </p:pic>
      <p:pic>
        <p:nvPicPr>
          <p:cNvPr id="460" name="Google Shape;460;g3d10798bb04_1_86"/>
          <p:cNvPicPr preferRelativeResize="0"/>
          <p:nvPr/>
        </p:nvPicPr>
        <p:blipFill rotWithShape="1">
          <a:blip r:embed="rId4">
            <a:alphaModFix/>
          </a:blip>
          <a:srcRect b="0" l="0" r="0" t="0"/>
          <a:stretch/>
        </p:blipFill>
        <p:spPr>
          <a:xfrm>
            <a:off x="10390100" y="128200"/>
            <a:ext cx="1676400" cy="67945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3d10798bb04_1_97"/>
          <p:cNvSpPr txBox="1"/>
          <p:nvPr>
            <p:ph type="title"/>
          </p:nvPr>
        </p:nvSpPr>
        <p:spPr>
          <a:xfrm>
            <a:off x="365675" y="365125"/>
            <a:ext cx="10988100" cy="7398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2533C"/>
              </a:buClr>
              <a:buSzPts val="4000"/>
              <a:buFont typeface="Arial"/>
              <a:buNone/>
            </a:pPr>
            <a:r>
              <a:rPr b="1" lang="en-US" sz="4000">
                <a:solidFill>
                  <a:srgbClr val="D2533C"/>
                </a:solidFill>
                <a:latin typeface="Arial"/>
                <a:ea typeface="Arial"/>
                <a:cs typeface="Arial"/>
                <a:sym typeface="Arial"/>
              </a:rPr>
              <a:t>Route Parameters Global Constraint</a:t>
            </a:r>
            <a:endParaRPr/>
          </a:p>
        </p:txBody>
      </p:sp>
      <p:sp>
        <p:nvSpPr>
          <p:cNvPr id="466" name="Google Shape;466;g3d10798bb04_1_97"/>
          <p:cNvSpPr txBox="1"/>
          <p:nvPr>
            <p:ph idx="1" type="body"/>
          </p:nvPr>
        </p:nvSpPr>
        <p:spPr>
          <a:xfrm>
            <a:off x="365700" y="1284675"/>
            <a:ext cx="10988100" cy="5184900"/>
          </a:xfrm>
          <a:prstGeom prst="rect">
            <a:avLst/>
          </a:prstGeom>
        </p:spPr>
        <p:txBody>
          <a:bodyPr anchorCtr="0" anchor="t" bIns="45700" lIns="91425" spcFirstLastPara="1" rIns="91425" wrap="square" tIns="45700">
            <a:normAutofit/>
          </a:bodyPr>
          <a:lstStyle/>
          <a:p>
            <a:pPr indent="-325755" lvl="0" marL="457200" rtl="0" algn="l">
              <a:lnSpc>
                <a:spcPct val="100000"/>
              </a:lnSpc>
              <a:spcBef>
                <a:spcPts val="360"/>
              </a:spcBef>
              <a:spcAft>
                <a:spcPts val="0"/>
              </a:spcAft>
              <a:buClr>
                <a:srgbClr val="93A299"/>
              </a:buClr>
              <a:buSzPts val="1530"/>
              <a:buChar char="•"/>
            </a:pPr>
            <a:r>
              <a:rPr lang="en-US">
                <a:solidFill>
                  <a:srgbClr val="292934"/>
                </a:solidFill>
                <a:latin typeface="Arial"/>
                <a:ea typeface="Arial"/>
                <a:cs typeface="Arial"/>
                <a:sym typeface="Arial"/>
              </a:rPr>
              <a:t>Here's how you can define a global route constraint for all routes:</a:t>
            </a:r>
            <a:endParaRPr>
              <a:solidFill>
                <a:srgbClr val="292934"/>
              </a:solidFill>
              <a:latin typeface="Arial"/>
              <a:ea typeface="Arial"/>
              <a:cs typeface="Arial"/>
              <a:sym typeface="Arial"/>
            </a:endParaRPr>
          </a:p>
          <a:p>
            <a:pPr indent="-325755" lvl="0" marL="457200" rtl="0" algn="l">
              <a:lnSpc>
                <a:spcPct val="100000"/>
              </a:lnSpc>
              <a:spcBef>
                <a:spcPts val="360"/>
              </a:spcBef>
              <a:spcAft>
                <a:spcPts val="0"/>
              </a:spcAft>
              <a:buClr>
                <a:srgbClr val="93A299"/>
              </a:buClr>
              <a:buSzPts val="1530"/>
              <a:buChar char="•"/>
            </a:pPr>
            <a:r>
              <a:rPr lang="en-US">
                <a:solidFill>
                  <a:srgbClr val="292934"/>
                </a:solidFill>
                <a:latin typeface="Arial"/>
                <a:ea typeface="Arial"/>
                <a:cs typeface="Arial"/>
                <a:sym typeface="Arial"/>
              </a:rPr>
              <a:t>Open App/Providers/AppServiceProvider.php.</a:t>
            </a:r>
            <a:endParaRPr>
              <a:solidFill>
                <a:srgbClr val="292934"/>
              </a:solidFill>
              <a:latin typeface="Arial"/>
              <a:ea typeface="Arial"/>
              <a:cs typeface="Arial"/>
              <a:sym typeface="Arial"/>
            </a:endParaRPr>
          </a:p>
          <a:p>
            <a:pPr indent="0" lvl="0" marL="457200" rtl="0" algn="l">
              <a:lnSpc>
                <a:spcPct val="100000"/>
              </a:lnSpc>
              <a:spcBef>
                <a:spcPts val="360"/>
              </a:spcBef>
              <a:spcAft>
                <a:spcPts val="0"/>
              </a:spcAft>
              <a:buNone/>
            </a:pPr>
            <a:r>
              <a:t/>
            </a:r>
            <a:endParaRPr>
              <a:solidFill>
                <a:srgbClr val="292934"/>
              </a:solidFill>
              <a:latin typeface="Arial"/>
              <a:ea typeface="Arial"/>
              <a:cs typeface="Arial"/>
              <a:sym typeface="Arial"/>
            </a:endParaRPr>
          </a:p>
          <a:p>
            <a:pPr indent="0" lvl="0" marL="457200" rtl="0" algn="l">
              <a:lnSpc>
                <a:spcPct val="100000"/>
              </a:lnSpc>
              <a:spcBef>
                <a:spcPts val="360"/>
              </a:spcBef>
              <a:spcAft>
                <a:spcPts val="0"/>
              </a:spcAft>
              <a:buNone/>
            </a:pPr>
            <a:r>
              <a:rPr b="1" lang="en-US" sz="1800">
                <a:solidFill>
                  <a:srgbClr val="FF0000"/>
                </a:solidFill>
                <a:latin typeface="Arial"/>
                <a:ea typeface="Arial"/>
                <a:cs typeface="Arial"/>
                <a:sym typeface="Arial"/>
              </a:rPr>
              <a:t>use Illuminate\Support\Facades\Route;</a:t>
            </a:r>
            <a:endParaRPr sz="2400">
              <a:solidFill>
                <a:srgbClr val="292934"/>
              </a:solidFill>
              <a:latin typeface="Arial"/>
              <a:ea typeface="Arial"/>
              <a:cs typeface="Arial"/>
              <a:sym typeface="Arial"/>
            </a:endParaRPr>
          </a:p>
          <a:p>
            <a:pPr indent="0" lvl="0" marL="457200" rtl="0" algn="l">
              <a:lnSpc>
                <a:spcPct val="100000"/>
              </a:lnSpc>
              <a:spcBef>
                <a:spcPts val="360"/>
              </a:spcBef>
              <a:spcAft>
                <a:spcPts val="0"/>
              </a:spcAft>
              <a:buNone/>
            </a:pPr>
            <a:r>
              <a:rPr b="1" lang="en-US" sz="1800">
                <a:solidFill>
                  <a:srgbClr val="FF0000"/>
                </a:solidFill>
                <a:latin typeface="Arial"/>
                <a:ea typeface="Arial"/>
                <a:cs typeface="Arial"/>
                <a:sym typeface="Arial"/>
              </a:rPr>
              <a:t>public function boot()</a:t>
            </a:r>
            <a:endParaRPr sz="2400">
              <a:solidFill>
                <a:srgbClr val="292934"/>
              </a:solidFill>
              <a:latin typeface="Arial"/>
              <a:ea typeface="Arial"/>
              <a:cs typeface="Arial"/>
              <a:sym typeface="Arial"/>
            </a:endParaRPr>
          </a:p>
          <a:p>
            <a:pPr indent="0" lvl="0" marL="457200" rtl="0" algn="l">
              <a:lnSpc>
                <a:spcPct val="100000"/>
              </a:lnSpc>
              <a:spcBef>
                <a:spcPts val="360"/>
              </a:spcBef>
              <a:spcAft>
                <a:spcPts val="0"/>
              </a:spcAft>
              <a:buNone/>
            </a:pPr>
            <a:r>
              <a:rPr b="1" lang="en-US" sz="1800">
                <a:solidFill>
                  <a:srgbClr val="FF0000"/>
                </a:solidFill>
                <a:latin typeface="Arial"/>
                <a:ea typeface="Arial"/>
                <a:cs typeface="Arial"/>
                <a:sym typeface="Arial"/>
              </a:rPr>
              <a:t>{</a:t>
            </a:r>
            <a:endParaRPr sz="2400">
              <a:solidFill>
                <a:srgbClr val="292934"/>
              </a:solidFill>
              <a:latin typeface="Arial"/>
              <a:ea typeface="Arial"/>
              <a:cs typeface="Arial"/>
              <a:sym typeface="Arial"/>
            </a:endParaRPr>
          </a:p>
          <a:p>
            <a:pPr indent="0" lvl="0" marL="457200" rtl="0" algn="l">
              <a:lnSpc>
                <a:spcPct val="100000"/>
              </a:lnSpc>
              <a:spcBef>
                <a:spcPts val="360"/>
              </a:spcBef>
              <a:spcAft>
                <a:spcPts val="0"/>
              </a:spcAft>
              <a:buNone/>
            </a:pPr>
            <a:r>
              <a:rPr b="1" lang="en-US" sz="1800">
                <a:solidFill>
                  <a:srgbClr val="FF0000"/>
                </a:solidFill>
                <a:latin typeface="Arial"/>
                <a:ea typeface="Arial"/>
                <a:cs typeface="Arial"/>
                <a:sym typeface="Arial"/>
              </a:rPr>
              <a:t>    parent::boot();</a:t>
            </a:r>
            <a:endParaRPr b="1" sz="1800">
              <a:solidFill>
                <a:srgbClr val="FF0000"/>
              </a:solidFill>
              <a:latin typeface="Arial"/>
              <a:ea typeface="Arial"/>
              <a:cs typeface="Arial"/>
              <a:sym typeface="Arial"/>
            </a:endParaRPr>
          </a:p>
          <a:p>
            <a:pPr indent="0" lvl="0" marL="457200" rtl="0" algn="l">
              <a:lnSpc>
                <a:spcPct val="100000"/>
              </a:lnSpc>
              <a:spcBef>
                <a:spcPts val="360"/>
              </a:spcBef>
              <a:spcAft>
                <a:spcPts val="0"/>
              </a:spcAft>
              <a:buNone/>
            </a:pPr>
            <a:r>
              <a:rPr b="1" lang="en-US" sz="1800">
                <a:solidFill>
                  <a:srgbClr val="FF0000"/>
                </a:solidFill>
                <a:latin typeface="Arial"/>
                <a:ea typeface="Arial"/>
                <a:cs typeface="Arial"/>
                <a:sym typeface="Arial"/>
              </a:rPr>
              <a:t>   Route::pattern('id', '[0-9]+');</a:t>
            </a:r>
            <a:endParaRPr sz="2400">
              <a:solidFill>
                <a:srgbClr val="292934"/>
              </a:solidFill>
              <a:latin typeface="Arial"/>
              <a:ea typeface="Arial"/>
              <a:cs typeface="Arial"/>
              <a:sym typeface="Arial"/>
            </a:endParaRPr>
          </a:p>
          <a:p>
            <a:pPr indent="0" lvl="0" marL="457200" rtl="0" algn="l">
              <a:lnSpc>
                <a:spcPct val="100000"/>
              </a:lnSpc>
              <a:spcBef>
                <a:spcPts val="360"/>
              </a:spcBef>
              <a:spcAft>
                <a:spcPts val="0"/>
              </a:spcAft>
              <a:buNone/>
            </a:pPr>
            <a:r>
              <a:rPr b="1" lang="en-US" sz="1800">
                <a:solidFill>
                  <a:srgbClr val="FF0000"/>
                </a:solidFill>
                <a:latin typeface="Arial"/>
                <a:ea typeface="Arial"/>
                <a:cs typeface="Arial"/>
                <a:sym typeface="Arial"/>
              </a:rPr>
              <a:t>}</a:t>
            </a:r>
            <a:endParaRPr b="1" sz="1800">
              <a:solidFill>
                <a:srgbClr val="FF0000"/>
              </a:solidFill>
              <a:latin typeface="Arial"/>
              <a:ea typeface="Arial"/>
              <a:cs typeface="Arial"/>
              <a:sym typeface="Arial"/>
            </a:endParaRPr>
          </a:p>
          <a:p>
            <a:pPr indent="0" lvl="0" marL="457200" rtl="0" algn="l">
              <a:lnSpc>
                <a:spcPct val="100000"/>
              </a:lnSpc>
              <a:spcBef>
                <a:spcPts val="360"/>
              </a:spcBef>
              <a:spcAft>
                <a:spcPts val="0"/>
              </a:spcAft>
              <a:buNone/>
            </a:pPr>
            <a:r>
              <a:t/>
            </a:r>
            <a:endParaRPr b="1" sz="1800">
              <a:solidFill>
                <a:srgbClr val="FF0000"/>
              </a:solidFill>
              <a:latin typeface="Arial"/>
              <a:ea typeface="Arial"/>
              <a:cs typeface="Arial"/>
              <a:sym typeface="Arial"/>
            </a:endParaRPr>
          </a:p>
          <a:p>
            <a:pPr indent="-325755" lvl="0" marL="457200" rtl="0" algn="l">
              <a:lnSpc>
                <a:spcPct val="100000"/>
              </a:lnSpc>
              <a:spcBef>
                <a:spcPts val="360"/>
              </a:spcBef>
              <a:spcAft>
                <a:spcPts val="0"/>
              </a:spcAft>
              <a:buClr>
                <a:srgbClr val="93A299"/>
              </a:buClr>
              <a:buSzPts val="1530"/>
              <a:buChar char="•"/>
            </a:pPr>
            <a:r>
              <a:rPr lang="en-US" sz="2400">
                <a:solidFill>
                  <a:srgbClr val="292934"/>
                </a:solidFill>
                <a:latin typeface="Arial"/>
                <a:ea typeface="Arial"/>
                <a:cs typeface="Arial"/>
                <a:sym typeface="Arial"/>
              </a:rPr>
              <a:t>In the above code, we're using the Route::pattern method to specify a regular expression pattern [0-9]+ for the id parameter. This pattern requires that any id parameter in your routes must consist of numeric characters.</a:t>
            </a:r>
            <a:endParaRPr/>
          </a:p>
        </p:txBody>
      </p:sp>
      <p:pic>
        <p:nvPicPr>
          <p:cNvPr id="467" name="Google Shape;467;g3d10798bb04_1_97"/>
          <p:cNvPicPr preferRelativeResize="0"/>
          <p:nvPr/>
        </p:nvPicPr>
        <p:blipFill rotWithShape="1">
          <a:blip r:embed="rId3">
            <a:alphaModFix/>
          </a:blip>
          <a:srcRect b="0" l="0" r="0" t="0"/>
          <a:stretch/>
        </p:blipFill>
        <p:spPr>
          <a:xfrm>
            <a:off x="10390100" y="128200"/>
            <a:ext cx="1676400" cy="6794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3d10798bb04_1_107"/>
          <p:cNvSpPr txBox="1"/>
          <p:nvPr>
            <p:ph idx="1" type="body"/>
          </p:nvPr>
        </p:nvSpPr>
        <p:spPr>
          <a:xfrm>
            <a:off x="838200" y="807650"/>
            <a:ext cx="10515600" cy="5369100"/>
          </a:xfrm>
          <a:prstGeom prst="rect">
            <a:avLst/>
          </a:prstGeom>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What is Laravel routing primarily used for?</a:t>
            </a:r>
            <a:endParaRPr b="1" sz="4000">
              <a:solidFill>
                <a:srgbClr val="D2533C"/>
              </a:solidFill>
              <a:latin typeface="Arial"/>
              <a:ea typeface="Arial"/>
              <a:cs typeface="Arial"/>
              <a:sym typeface="Arial"/>
            </a:endParaRPr>
          </a:p>
          <a:p>
            <a:pPr indent="-405765" lvl="0" marL="457200" rtl="0" algn="l">
              <a:lnSpc>
                <a:spcPct val="100000"/>
              </a:lnSpc>
              <a:spcBef>
                <a:spcPts val="360"/>
              </a:spcBef>
              <a:spcAft>
                <a:spcPts val="0"/>
              </a:spcAft>
              <a:buClr>
                <a:srgbClr val="292934"/>
              </a:buClr>
              <a:buSzPct val="100000"/>
              <a:buFont typeface="Arial"/>
              <a:buChar char="•"/>
            </a:pPr>
            <a:r>
              <a:rPr lang="en-US" sz="3600">
                <a:solidFill>
                  <a:srgbClr val="292934"/>
                </a:solidFill>
                <a:latin typeface="Arial"/>
                <a:ea typeface="Arial"/>
                <a:cs typeface="Arial"/>
                <a:sym typeface="Arial"/>
              </a:rPr>
              <a:t>A. Database management</a:t>
            </a:r>
            <a:endParaRPr sz="2400">
              <a:solidFill>
                <a:srgbClr val="292934"/>
              </a:solidFill>
              <a:latin typeface="Arial"/>
              <a:ea typeface="Arial"/>
              <a:cs typeface="Arial"/>
              <a:sym typeface="Arial"/>
            </a:endParaRPr>
          </a:p>
          <a:p>
            <a:pPr indent="-303895" lvl="0" marL="457200" rtl="0" algn="l">
              <a:lnSpc>
                <a:spcPct val="100000"/>
              </a:lnSpc>
              <a:spcBef>
                <a:spcPts val="360"/>
              </a:spcBef>
              <a:spcAft>
                <a:spcPts val="0"/>
              </a:spcAft>
              <a:buClr>
                <a:srgbClr val="93A299"/>
              </a:buClr>
              <a:buSzPct val="42500"/>
              <a:buChar char="•"/>
            </a:pPr>
            <a:r>
              <a:rPr b="1" lang="en-US" sz="3600">
                <a:solidFill>
                  <a:srgbClr val="00B050"/>
                </a:solidFill>
                <a:latin typeface="Arial"/>
                <a:ea typeface="Arial"/>
                <a:cs typeface="Arial"/>
                <a:sym typeface="Arial"/>
              </a:rPr>
              <a:t>B. Handling HTTP requests</a:t>
            </a:r>
            <a:endParaRPr sz="2400">
              <a:solidFill>
                <a:srgbClr val="292934"/>
              </a:solidFill>
              <a:latin typeface="Arial"/>
              <a:ea typeface="Arial"/>
              <a:cs typeface="Arial"/>
              <a:sym typeface="Arial"/>
            </a:endParaRPr>
          </a:p>
          <a:p>
            <a:pPr indent="-303895" lvl="0" marL="457200" rtl="0" algn="l">
              <a:lnSpc>
                <a:spcPct val="100000"/>
              </a:lnSpc>
              <a:spcBef>
                <a:spcPts val="360"/>
              </a:spcBef>
              <a:spcAft>
                <a:spcPts val="0"/>
              </a:spcAft>
              <a:buClr>
                <a:srgbClr val="93A299"/>
              </a:buClr>
              <a:buSzPct val="42500"/>
              <a:buChar char="•"/>
            </a:pPr>
            <a:r>
              <a:rPr lang="en-US" sz="3600">
                <a:solidFill>
                  <a:srgbClr val="292934"/>
                </a:solidFill>
                <a:latin typeface="Arial"/>
                <a:ea typeface="Arial"/>
                <a:cs typeface="Arial"/>
                <a:sym typeface="Arial"/>
              </a:rPr>
              <a:t>C. Front-end development</a:t>
            </a:r>
            <a:endParaRPr sz="2400">
              <a:solidFill>
                <a:srgbClr val="292934"/>
              </a:solidFill>
              <a:latin typeface="Arial"/>
              <a:ea typeface="Arial"/>
              <a:cs typeface="Arial"/>
              <a:sym typeface="Arial"/>
            </a:endParaRPr>
          </a:p>
          <a:p>
            <a:pPr indent="-303895" lvl="0" marL="457200" rtl="0" algn="l">
              <a:lnSpc>
                <a:spcPct val="100000"/>
              </a:lnSpc>
              <a:spcBef>
                <a:spcPts val="360"/>
              </a:spcBef>
              <a:spcAft>
                <a:spcPts val="0"/>
              </a:spcAft>
              <a:buClr>
                <a:srgbClr val="93A299"/>
              </a:buClr>
              <a:buSzPct val="42500"/>
              <a:buChar char="•"/>
            </a:pPr>
            <a:r>
              <a:rPr lang="en-US" sz="3600">
                <a:solidFill>
                  <a:srgbClr val="292934"/>
                </a:solidFill>
                <a:latin typeface="Arial"/>
                <a:ea typeface="Arial"/>
                <a:cs typeface="Arial"/>
                <a:sym typeface="Arial"/>
              </a:rPr>
              <a:t>D. Server configuration</a:t>
            </a:r>
            <a:endParaRPr sz="2400">
              <a:solidFill>
                <a:srgbClr val="292934"/>
              </a:solidFill>
              <a:latin typeface="Arial"/>
              <a:ea typeface="Arial"/>
              <a:cs typeface="Arial"/>
              <a:sym typeface="Arial"/>
            </a:endParaRPr>
          </a:p>
          <a:p>
            <a:pPr indent="-228600" lvl="0" marL="457200" rtl="0" algn="l">
              <a:lnSpc>
                <a:spcPct val="100000"/>
              </a:lnSpc>
              <a:spcBef>
                <a:spcPts val="360"/>
              </a:spcBef>
              <a:spcAft>
                <a:spcPts val="0"/>
              </a:spcAft>
              <a:buClr>
                <a:schemeClr val="dk1"/>
              </a:buClr>
              <a:buSzPct val="42500"/>
              <a:buFont typeface="Arial"/>
              <a:buNone/>
            </a:pPr>
            <a:r>
              <a:t/>
            </a:r>
            <a:endParaRPr sz="3600">
              <a:solidFill>
                <a:srgbClr val="292934"/>
              </a:solidFill>
              <a:latin typeface="Arial"/>
              <a:ea typeface="Arial"/>
              <a:cs typeface="Arial"/>
              <a:sym typeface="Arial"/>
            </a:endParaRPr>
          </a:p>
          <a:p>
            <a:pPr indent="-228600" lvl="0" marL="457200" rtl="0" algn="l">
              <a:lnSpc>
                <a:spcPct val="100000"/>
              </a:lnSpc>
              <a:spcBef>
                <a:spcPts val="360"/>
              </a:spcBef>
              <a:spcAft>
                <a:spcPts val="0"/>
              </a:spcAft>
              <a:buClr>
                <a:schemeClr val="dk1"/>
              </a:buClr>
              <a:buSzPct val="42500"/>
              <a:buFont typeface="Arial"/>
              <a:buNone/>
            </a:pPr>
            <a:r>
              <a:t/>
            </a:r>
            <a:endParaRPr sz="3600">
              <a:solidFill>
                <a:srgbClr val="292934"/>
              </a:solidFill>
              <a:latin typeface="Arial"/>
              <a:ea typeface="Arial"/>
              <a:cs typeface="Arial"/>
              <a:sym typeface="Arial"/>
            </a:endParaRPr>
          </a:p>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In Laravel, where are the routes typically defined?</a:t>
            </a:r>
            <a:endParaRPr sz="3200">
              <a:solidFill>
                <a:srgbClr val="292934"/>
              </a:solidFill>
              <a:latin typeface="Arial"/>
              <a:ea typeface="Arial"/>
              <a:cs typeface="Arial"/>
              <a:sym typeface="Arial"/>
            </a:endParaRPr>
          </a:p>
          <a:p>
            <a:pPr indent="-303895" lvl="0" marL="457200" rtl="0" algn="l">
              <a:lnSpc>
                <a:spcPct val="100000"/>
              </a:lnSpc>
              <a:spcBef>
                <a:spcPts val="360"/>
              </a:spcBef>
              <a:spcAft>
                <a:spcPts val="0"/>
              </a:spcAft>
              <a:buClr>
                <a:srgbClr val="93A299"/>
              </a:buClr>
              <a:buSzPct val="47812"/>
              <a:buChar char="•"/>
            </a:pPr>
            <a:r>
              <a:rPr lang="en-US" sz="3200">
                <a:solidFill>
                  <a:srgbClr val="292934"/>
                </a:solidFill>
                <a:latin typeface="Arial"/>
                <a:ea typeface="Arial"/>
                <a:cs typeface="Arial"/>
                <a:sym typeface="Arial"/>
              </a:rPr>
              <a:t>A. In the .env file</a:t>
            </a:r>
            <a:endParaRPr sz="2400">
              <a:solidFill>
                <a:srgbClr val="292934"/>
              </a:solidFill>
              <a:latin typeface="Arial"/>
              <a:ea typeface="Arial"/>
              <a:cs typeface="Arial"/>
              <a:sym typeface="Arial"/>
            </a:endParaRPr>
          </a:p>
          <a:p>
            <a:pPr indent="-303895" lvl="0" marL="457200" rtl="0" algn="l">
              <a:lnSpc>
                <a:spcPct val="100000"/>
              </a:lnSpc>
              <a:spcBef>
                <a:spcPts val="360"/>
              </a:spcBef>
              <a:spcAft>
                <a:spcPts val="0"/>
              </a:spcAft>
              <a:buClr>
                <a:srgbClr val="93A299"/>
              </a:buClr>
              <a:buSzPct val="47812"/>
              <a:buChar char="•"/>
            </a:pPr>
            <a:r>
              <a:rPr lang="en-US" sz="3200">
                <a:solidFill>
                  <a:srgbClr val="292934"/>
                </a:solidFill>
                <a:latin typeface="Arial"/>
                <a:ea typeface="Arial"/>
                <a:cs typeface="Arial"/>
                <a:sym typeface="Arial"/>
              </a:rPr>
              <a:t>B. In the config/routes.php file</a:t>
            </a:r>
            <a:endParaRPr sz="2400">
              <a:solidFill>
                <a:srgbClr val="292934"/>
              </a:solidFill>
              <a:latin typeface="Arial"/>
              <a:ea typeface="Arial"/>
              <a:cs typeface="Arial"/>
              <a:sym typeface="Arial"/>
            </a:endParaRPr>
          </a:p>
          <a:p>
            <a:pPr indent="-303895" lvl="0" marL="457200" rtl="0" algn="l">
              <a:lnSpc>
                <a:spcPct val="100000"/>
              </a:lnSpc>
              <a:spcBef>
                <a:spcPts val="360"/>
              </a:spcBef>
              <a:spcAft>
                <a:spcPts val="0"/>
              </a:spcAft>
              <a:buClr>
                <a:srgbClr val="93A299"/>
              </a:buClr>
              <a:buSzPct val="47812"/>
              <a:buChar char="•"/>
            </a:pPr>
            <a:r>
              <a:rPr b="1" lang="en-US" sz="3200">
                <a:solidFill>
                  <a:srgbClr val="00B050"/>
                </a:solidFill>
                <a:latin typeface="Arial"/>
                <a:ea typeface="Arial"/>
                <a:cs typeface="Arial"/>
                <a:sym typeface="Arial"/>
              </a:rPr>
              <a:t>C. In the routes/web.php and routes/api.php files</a:t>
            </a:r>
            <a:endParaRPr sz="2400">
              <a:solidFill>
                <a:srgbClr val="292934"/>
              </a:solidFill>
              <a:latin typeface="Arial"/>
              <a:ea typeface="Arial"/>
              <a:cs typeface="Arial"/>
              <a:sym typeface="Arial"/>
            </a:endParaRPr>
          </a:p>
          <a:p>
            <a:pPr indent="-303895" lvl="0" marL="457200" rtl="0" algn="l">
              <a:lnSpc>
                <a:spcPct val="100000"/>
              </a:lnSpc>
              <a:spcBef>
                <a:spcPts val="360"/>
              </a:spcBef>
              <a:spcAft>
                <a:spcPts val="0"/>
              </a:spcAft>
              <a:buClr>
                <a:srgbClr val="93A299"/>
              </a:buClr>
              <a:buSzPct val="47812"/>
              <a:buChar char="•"/>
            </a:pPr>
            <a:r>
              <a:rPr lang="en-US" sz="3200">
                <a:solidFill>
                  <a:srgbClr val="292934"/>
                </a:solidFill>
                <a:latin typeface="Arial"/>
                <a:ea typeface="Arial"/>
                <a:cs typeface="Arial"/>
                <a:sym typeface="Arial"/>
              </a:rPr>
              <a:t>D. In the resources/views directory</a:t>
            </a:r>
            <a:endParaRPr sz="3200">
              <a:solidFill>
                <a:srgbClr val="292934"/>
              </a:solidFill>
              <a:latin typeface="Arial"/>
              <a:ea typeface="Arial"/>
              <a:cs typeface="Arial"/>
              <a:sym typeface="Arial"/>
            </a:endParaRPr>
          </a:p>
          <a:p>
            <a:pPr indent="0" lvl="0" marL="0" rtl="0" algn="l">
              <a:lnSpc>
                <a:spcPct val="100000"/>
              </a:lnSpc>
              <a:spcBef>
                <a:spcPts val="0"/>
              </a:spcBef>
              <a:spcAft>
                <a:spcPts val="0"/>
              </a:spcAft>
              <a:buClr>
                <a:srgbClr val="D2533C"/>
              </a:buClr>
              <a:buSzPct val="50000"/>
              <a:buFont typeface="Arial"/>
              <a:buNone/>
            </a:pPr>
            <a:r>
              <a:t/>
            </a:r>
            <a:endParaRPr b="1" sz="4000">
              <a:solidFill>
                <a:srgbClr val="D2533C"/>
              </a:solidFill>
              <a:latin typeface="Arial"/>
              <a:ea typeface="Arial"/>
              <a:cs typeface="Arial"/>
              <a:sym typeface="Arial"/>
            </a:endParaRPr>
          </a:p>
          <a:p>
            <a:pPr indent="0" lvl="0" marL="0" rtl="0" algn="l">
              <a:spcBef>
                <a:spcPts val="1000"/>
              </a:spcBef>
              <a:spcAft>
                <a:spcPts val="0"/>
              </a:spcAft>
              <a:buNone/>
            </a:pPr>
            <a:r>
              <a:t/>
            </a:r>
            <a:endParaRPr/>
          </a:p>
        </p:txBody>
      </p:sp>
      <p:pic>
        <p:nvPicPr>
          <p:cNvPr id="473" name="Google Shape;473;g3d10798bb04_1_107"/>
          <p:cNvPicPr preferRelativeResize="0"/>
          <p:nvPr/>
        </p:nvPicPr>
        <p:blipFill rotWithShape="1">
          <a:blip r:embed="rId3">
            <a:alphaModFix/>
          </a:blip>
          <a:srcRect b="0" l="0" r="0" t="0"/>
          <a:stretch/>
        </p:blipFill>
        <p:spPr>
          <a:xfrm>
            <a:off x="10390100" y="128200"/>
            <a:ext cx="1676400" cy="6794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g3d10798bb04_1_112"/>
          <p:cNvSpPr txBox="1"/>
          <p:nvPr>
            <p:ph idx="1" type="body"/>
          </p:nvPr>
        </p:nvSpPr>
        <p:spPr>
          <a:xfrm>
            <a:off x="838200" y="1091100"/>
            <a:ext cx="10515600" cy="5085600"/>
          </a:xfrm>
          <a:prstGeom prst="rect">
            <a:avLst/>
          </a:prstGeom>
        </p:spPr>
        <p:txBody>
          <a:bodyPr anchorCtr="0" anchor="t" bIns="45700" lIns="91425" spcFirstLastPara="1" rIns="91425" wrap="square" tIns="45700">
            <a:normAutofit fontScale="70000" lnSpcReduction="20000"/>
          </a:bodyPr>
          <a:lstStyle/>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Which of the following is used to pass parameters in a Laravel route?</a:t>
            </a:r>
            <a:endParaRPr sz="3600">
              <a:solidFill>
                <a:srgbClr val="292934"/>
              </a:solidFill>
              <a:latin typeface="Arial"/>
              <a:ea typeface="Arial"/>
              <a:cs typeface="Arial"/>
              <a:sym typeface="Arial"/>
            </a:endParaRPr>
          </a:p>
          <a:p>
            <a:pPr indent="-296608" lvl="0" marL="457200" rtl="0" algn="l">
              <a:lnSpc>
                <a:spcPct val="100000"/>
              </a:lnSpc>
              <a:spcBef>
                <a:spcPts val="360"/>
              </a:spcBef>
              <a:spcAft>
                <a:spcPts val="0"/>
              </a:spcAft>
              <a:buClr>
                <a:srgbClr val="93A299"/>
              </a:buClr>
              <a:buSzPct val="42500"/>
              <a:buChar char="•"/>
            </a:pPr>
            <a:r>
              <a:rPr lang="en-US" sz="3600">
                <a:solidFill>
                  <a:srgbClr val="292934"/>
                </a:solidFill>
                <a:latin typeface="Arial"/>
                <a:ea typeface="Arial"/>
                <a:cs typeface="Arial"/>
                <a:sym typeface="Arial"/>
              </a:rPr>
              <a:t>A. &lt;param&gt;</a:t>
            </a:r>
            <a:endParaRPr sz="2400">
              <a:solidFill>
                <a:srgbClr val="292934"/>
              </a:solidFill>
              <a:latin typeface="Arial"/>
              <a:ea typeface="Arial"/>
              <a:cs typeface="Arial"/>
              <a:sym typeface="Arial"/>
            </a:endParaRPr>
          </a:p>
          <a:p>
            <a:pPr indent="-296608" lvl="0" marL="457200" rtl="0" algn="l">
              <a:lnSpc>
                <a:spcPct val="100000"/>
              </a:lnSpc>
              <a:spcBef>
                <a:spcPts val="360"/>
              </a:spcBef>
              <a:spcAft>
                <a:spcPts val="0"/>
              </a:spcAft>
              <a:buClr>
                <a:srgbClr val="93A299"/>
              </a:buClr>
              <a:buSzPct val="42500"/>
              <a:buChar char="•"/>
            </a:pPr>
            <a:r>
              <a:rPr lang="en-US" sz="3600">
                <a:solidFill>
                  <a:srgbClr val="292934"/>
                </a:solidFill>
                <a:latin typeface="Arial"/>
                <a:ea typeface="Arial"/>
                <a:cs typeface="Arial"/>
                <a:sym typeface="Arial"/>
              </a:rPr>
              <a:t>B. [param]</a:t>
            </a:r>
            <a:endParaRPr sz="2400">
              <a:solidFill>
                <a:srgbClr val="292934"/>
              </a:solidFill>
              <a:latin typeface="Arial"/>
              <a:ea typeface="Arial"/>
              <a:cs typeface="Arial"/>
              <a:sym typeface="Arial"/>
            </a:endParaRPr>
          </a:p>
          <a:p>
            <a:pPr indent="-296608" lvl="0" marL="457200" rtl="0" algn="l">
              <a:lnSpc>
                <a:spcPct val="100000"/>
              </a:lnSpc>
              <a:spcBef>
                <a:spcPts val="360"/>
              </a:spcBef>
              <a:spcAft>
                <a:spcPts val="0"/>
              </a:spcAft>
              <a:buClr>
                <a:srgbClr val="93A299"/>
              </a:buClr>
              <a:buSzPct val="42500"/>
              <a:buChar char="•"/>
            </a:pPr>
            <a:r>
              <a:rPr b="1" lang="en-US" sz="3600">
                <a:solidFill>
                  <a:srgbClr val="00B050"/>
                </a:solidFill>
                <a:latin typeface="Arial"/>
                <a:ea typeface="Arial"/>
                <a:cs typeface="Arial"/>
                <a:sym typeface="Arial"/>
              </a:rPr>
              <a:t>C. {param}</a:t>
            </a:r>
            <a:endParaRPr sz="2400">
              <a:solidFill>
                <a:srgbClr val="292934"/>
              </a:solidFill>
              <a:latin typeface="Arial"/>
              <a:ea typeface="Arial"/>
              <a:cs typeface="Arial"/>
              <a:sym typeface="Arial"/>
            </a:endParaRPr>
          </a:p>
          <a:p>
            <a:pPr indent="-296608" lvl="0" marL="457200" rtl="0" algn="l">
              <a:lnSpc>
                <a:spcPct val="100000"/>
              </a:lnSpc>
              <a:spcBef>
                <a:spcPts val="360"/>
              </a:spcBef>
              <a:spcAft>
                <a:spcPts val="0"/>
              </a:spcAft>
              <a:buClr>
                <a:srgbClr val="93A299"/>
              </a:buClr>
              <a:buSzPct val="42500"/>
              <a:buChar char="•"/>
            </a:pPr>
            <a:r>
              <a:rPr lang="en-US" sz="3600">
                <a:solidFill>
                  <a:srgbClr val="292934"/>
                </a:solidFill>
                <a:latin typeface="Arial"/>
                <a:ea typeface="Arial"/>
                <a:cs typeface="Arial"/>
                <a:sym typeface="Arial"/>
              </a:rPr>
              <a:t>D. (param)</a:t>
            </a:r>
            <a:endParaRPr sz="3600">
              <a:solidFill>
                <a:srgbClr val="292934"/>
              </a:solidFill>
              <a:latin typeface="Arial"/>
              <a:ea typeface="Arial"/>
              <a:cs typeface="Arial"/>
              <a:sym typeface="Arial"/>
            </a:endParaRPr>
          </a:p>
          <a:p>
            <a:pPr indent="0" lvl="0" marL="457200" rtl="0" algn="l">
              <a:lnSpc>
                <a:spcPct val="100000"/>
              </a:lnSpc>
              <a:spcBef>
                <a:spcPts val="360"/>
              </a:spcBef>
              <a:spcAft>
                <a:spcPts val="0"/>
              </a:spcAft>
              <a:buNone/>
            </a:pPr>
            <a:r>
              <a:t/>
            </a:r>
            <a:endParaRPr b="1" sz="3200">
              <a:solidFill>
                <a:srgbClr val="D2533C"/>
              </a:solidFill>
              <a:latin typeface="Arial"/>
              <a:ea typeface="Arial"/>
              <a:cs typeface="Arial"/>
              <a:sym typeface="Arial"/>
            </a:endParaRPr>
          </a:p>
          <a:p>
            <a:pPr indent="0" lvl="0" marL="457200" rtl="0" algn="l">
              <a:lnSpc>
                <a:spcPct val="100000"/>
              </a:lnSpc>
              <a:spcBef>
                <a:spcPts val="360"/>
              </a:spcBef>
              <a:spcAft>
                <a:spcPts val="0"/>
              </a:spcAft>
              <a:buNone/>
            </a:pPr>
            <a:r>
              <a:rPr b="1" lang="en-US" sz="3200">
                <a:solidFill>
                  <a:srgbClr val="D2533C"/>
                </a:solidFill>
                <a:latin typeface="Arial"/>
                <a:ea typeface="Arial"/>
                <a:cs typeface="Arial"/>
                <a:sym typeface="Arial"/>
              </a:rPr>
              <a:t>Which artisan command is used to list all registered routes in a Laravel application?</a:t>
            </a:r>
            <a:endParaRPr b="1" sz="3200">
              <a:solidFill>
                <a:srgbClr val="D2533C"/>
              </a:solidFill>
              <a:latin typeface="Arial"/>
              <a:ea typeface="Arial"/>
              <a:cs typeface="Arial"/>
              <a:sym typeface="Arial"/>
            </a:endParaRPr>
          </a:p>
          <a:p>
            <a:pPr indent="-388620" lvl="0" marL="457200" rtl="0" algn="l">
              <a:lnSpc>
                <a:spcPct val="100000"/>
              </a:lnSpc>
              <a:spcBef>
                <a:spcPts val="360"/>
              </a:spcBef>
              <a:spcAft>
                <a:spcPts val="0"/>
              </a:spcAft>
              <a:buClr>
                <a:srgbClr val="292934"/>
              </a:buClr>
              <a:buSzPct val="112500"/>
              <a:buFont typeface="Arial"/>
              <a:buChar char="•"/>
            </a:pPr>
            <a:r>
              <a:rPr lang="en-US" sz="3200">
                <a:solidFill>
                  <a:srgbClr val="292934"/>
                </a:solidFill>
                <a:latin typeface="Arial"/>
                <a:ea typeface="Arial"/>
                <a:cs typeface="Arial"/>
                <a:sym typeface="Arial"/>
              </a:rPr>
              <a:t>A. php artisan serve</a:t>
            </a:r>
            <a:endParaRPr sz="2400">
              <a:solidFill>
                <a:srgbClr val="292934"/>
              </a:solidFill>
              <a:latin typeface="Arial"/>
              <a:ea typeface="Arial"/>
              <a:cs typeface="Arial"/>
              <a:sym typeface="Arial"/>
            </a:endParaRPr>
          </a:p>
          <a:p>
            <a:pPr indent="-296608" lvl="0" marL="457200" rtl="0" algn="l">
              <a:lnSpc>
                <a:spcPct val="100000"/>
              </a:lnSpc>
              <a:spcBef>
                <a:spcPts val="360"/>
              </a:spcBef>
              <a:spcAft>
                <a:spcPts val="0"/>
              </a:spcAft>
              <a:buClr>
                <a:srgbClr val="93A299"/>
              </a:buClr>
              <a:buSzPct val="47812"/>
              <a:buChar char="•"/>
            </a:pPr>
            <a:r>
              <a:rPr lang="en-US" sz="3200">
                <a:solidFill>
                  <a:srgbClr val="292934"/>
                </a:solidFill>
                <a:latin typeface="Arial"/>
                <a:ea typeface="Arial"/>
                <a:cs typeface="Arial"/>
                <a:sym typeface="Arial"/>
              </a:rPr>
              <a:t>B. php artisan list</a:t>
            </a:r>
            <a:endParaRPr sz="2400">
              <a:solidFill>
                <a:srgbClr val="292934"/>
              </a:solidFill>
              <a:latin typeface="Arial"/>
              <a:ea typeface="Arial"/>
              <a:cs typeface="Arial"/>
              <a:sym typeface="Arial"/>
            </a:endParaRPr>
          </a:p>
          <a:p>
            <a:pPr indent="-296608" lvl="0" marL="457200" rtl="0" algn="l">
              <a:lnSpc>
                <a:spcPct val="100000"/>
              </a:lnSpc>
              <a:spcBef>
                <a:spcPts val="360"/>
              </a:spcBef>
              <a:spcAft>
                <a:spcPts val="0"/>
              </a:spcAft>
              <a:buClr>
                <a:srgbClr val="93A299"/>
              </a:buClr>
              <a:buSzPct val="47812"/>
              <a:buChar char="•"/>
            </a:pPr>
            <a:r>
              <a:rPr lang="en-US" sz="3200">
                <a:solidFill>
                  <a:srgbClr val="292934"/>
                </a:solidFill>
                <a:latin typeface="Arial"/>
                <a:ea typeface="Arial"/>
                <a:cs typeface="Arial"/>
                <a:sym typeface="Arial"/>
              </a:rPr>
              <a:t>C. php artisan routes</a:t>
            </a:r>
            <a:endParaRPr sz="2400">
              <a:solidFill>
                <a:srgbClr val="292934"/>
              </a:solidFill>
              <a:latin typeface="Arial"/>
              <a:ea typeface="Arial"/>
              <a:cs typeface="Arial"/>
              <a:sym typeface="Arial"/>
            </a:endParaRPr>
          </a:p>
          <a:p>
            <a:pPr indent="-296608" lvl="0" marL="457200" rtl="0" algn="l">
              <a:lnSpc>
                <a:spcPct val="100000"/>
              </a:lnSpc>
              <a:spcBef>
                <a:spcPts val="360"/>
              </a:spcBef>
              <a:spcAft>
                <a:spcPts val="0"/>
              </a:spcAft>
              <a:buClr>
                <a:srgbClr val="93A299"/>
              </a:buClr>
              <a:buSzPct val="47812"/>
              <a:buChar char="•"/>
            </a:pPr>
            <a:r>
              <a:rPr b="1" lang="en-US" sz="3200">
                <a:solidFill>
                  <a:srgbClr val="00B050"/>
                </a:solidFill>
                <a:latin typeface="Arial"/>
                <a:ea typeface="Arial"/>
                <a:cs typeface="Arial"/>
                <a:sym typeface="Arial"/>
              </a:rPr>
              <a:t>D. php artisan route:list</a:t>
            </a:r>
            <a:endParaRPr b="1" sz="3200">
              <a:solidFill>
                <a:srgbClr val="00B050"/>
              </a:solidFill>
              <a:latin typeface="Arial"/>
              <a:ea typeface="Arial"/>
              <a:cs typeface="Arial"/>
              <a:sym typeface="Arial"/>
            </a:endParaRPr>
          </a:p>
          <a:p>
            <a:pPr indent="0" lvl="0" marL="0" rtl="0" algn="l">
              <a:spcBef>
                <a:spcPts val="1000"/>
              </a:spcBef>
              <a:spcAft>
                <a:spcPts val="0"/>
              </a:spcAft>
              <a:buNone/>
            </a:pPr>
            <a:r>
              <a:t/>
            </a:r>
            <a:endParaRPr/>
          </a:p>
        </p:txBody>
      </p:sp>
      <p:pic>
        <p:nvPicPr>
          <p:cNvPr id="479" name="Google Shape;479;g3d10798bb04_1_112"/>
          <p:cNvPicPr preferRelativeResize="0"/>
          <p:nvPr/>
        </p:nvPicPr>
        <p:blipFill rotWithShape="1">
          <a:blip r:embed="rId3">
            <a:alphaModFix/>
          </a:blip>
          <a:srcRect b="0" l="0" r="0" t="0"/>
          <a:stretch/>
        </p:blipFill>
        <p:spPr>
          <a:xfrm>
            <a:off x="10390100" y="128200"/>
            <a:ext cx="1676400" cy="6794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g3d10798bb04_1_119"/>
          <p:cNvSpPr txBox="1"/>
          <p:nvPr>
            <p:ph idx="1" type="body"/>
          </p:nvPr>
        </p:nvSpPr>
        <p:spPr>
          <a:xfrm>
            <a:off x="838200" y="634825"/>
            <a:ext cx="10837800" cy="5541900"/>
          </a:xfrm>
          <a:prstGeom prst="rect">
            <a:avLst/>
          </a:prstGeom>
        </p:spPr>
        <p:txBody>
          <a:bodyPr anchorCtr="0" anchor="t" bIns="45700" lIns="91425" spcFirstLastPara="1" rIns="91425" wrap="square" tIns="45700">
            <a:normAutofit fontScale="77500" lnSpcReduction="20000"/>
          </a:bodyPr>
          <a:lstStyle/>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What is the primary purpose of Laravel routing constraints?</a:t>
            </a:r>
            <a:endParaRPr>
              <a:solidFill>
                <a:srgbClr val="292934"/>
              </a:solidFill>
              <a:latin typeface="Arial"/>
              <a:ea typeface="Arial"/>
              <a:cs typeface="Arial"/>
              <a:sym typeface="Arial"/>
            </a:endParaRPr>
          </a:p>
          <a:p>
            <a:pPr indent="-383619" lvl="0" marL="457200" rtl="0" algn="l">
              <a:lnSpc>
                <a:spcPct val="100000"/>
              </a:lnSpc>
              <a:spcBef>
                <a:spcPts val="360"/>
              </a:spcBef>
              <a:spcAft>
                <a:spcPts val="0"/>
              </a:spcAft>
              <a:buClr>
                <a:srgbClr val="93A299"/>
              </a:buClr>
              <a:buSzPct val="100000"/>
              <a:buChar char="•"/>
            </a:pPr>
            <a:r>
              <a:rPr lang="en-US" sz="3150">
                <a:solidFill>
                  <a:srgbClr val="292934"/>
                </a:solidFill>
                <a:latin typeface="Arial"/>
                <a:ea typeface="Arial"/>
                <a:cs typeface="Arial"/>
                <a:sym typeface="Arial"/>
              </a:rPr>
              <a:t>A. To define routes in the web.php file</a:t>
            </a:r>
            <a:endParaRPr sz="3150">
              <a:solidFill>
                <a:srgbClr val="292934"/>
              </a:solidFill>
              <a:latin typeface="Arial"/>
              <a:ea typeface="Arial"/>
              <a:cs typeface="Arial"/>
              <a:sym typeface="Arial"/>
            </a:endParaRPr>
          </a:p>
          <a:p>
            <a:pPr indent="-383619" lvl="0" marL="457200" rtl="0" algn="l">
              <a:lnSpc>
                <a:spcPct val="100000"/>
              </a:lnSpc>
              <a:spcBef>
                <a:spcPts val="360"/>
              </a:spcBef>
              <a:spcAft>
                <a:spcPts val="0"/>
              </a:spcAft>
              <a:buClr>
                <a:srgbClr val="93A299"/>
              </a:buClr>
              <a:buSzPct val="100000"/>
              <a:buChar char="•"/>
            </a:pPr>
            <a:r>
              <a:rPr lang="en-US" sz="3150">
                <a:solidFill>
                  <a:srgbClr val="292934"/>
                </a:solidFill>
                <a:latin typeface="Arial"/>
                <a:ea typeface="Arial"/>
                <a:cs typeface="Arial"/>
                <a:sym typeface="Arial"/>
              </a:rPr>
              <a:t>B. To restrict access to certain routes</a:t>
            </a:r>
            <a:endParaRPr sz="3150">
              <a:solidFill>
                <a:srgbClr val="292934"/>
              </a:solidFill>
              <a:latin typeface="Arial"/>
              <a:ea typeface="Arial"/>
              <a:cs typeface="Arial"/>
              <a:sym typeface="Arial"/>
            </a:endParaRPr>
          </a:p>
          <a:p>
            <a:pPr indent="-383619" lvl="0" marL="457200" rtl="0" algn="l">
              <a:lnSpc>
                <a:spcPct val="100000"/>
              </a:lnSpc>
              <a:spcBef>
                <a:spcPts val="360"/>
              </a:spcBef>
              <a:spcAft>
                <a:spcPts val="0"/>
              </a:spcAft>
              <a:buClr>
                <a:srgbClr val="93A299"/>
              </a:buClr>
              <a:buSzPct val="100000"/>
              <a:buChar char="•"/>
            </a:pPr>
            <a:r>
              <a:rPr b="1" lang="en-US" sz="3150">
                <a:solidFill>
                  <a:srgbClr val="00B050"/>
                </a:solidFill>
                <a:latin typeface="Arial"/>
                <a:ea typeface="Arial"/>
                <a:cs typeface="Arial"/>
                <a:sym typeface="Arial"/>
              </a:rPr>
              <a:t>C. To specify rules that route parameters must follow</a:t>
            </a:r>
            <a:endParaRPr sz="3150">
              <a:solidFill>
                <a:srgbClr val="292934"/>
              </a:solidFill>
              <a:latin typeface="Arial"/>
              <a:ea typeface="Arial"/>
              <a:cs typeface="Arial"/>
              <a:sym typeface="Arial"/>
            </a:endParaRPr>
          </a:p>
          <a:p>
            <a:pPr indent="-383619" lvl="0" marL="457200" rtl="0" algn="l">
              <a:lnSpc>
                <a:spcPct val="100000"/>
              </a:lnSpc>
              <a:spcBef>
                <a:spcPts val="360"/>
              </a:spcBef>
              <a:spcAft>
                <a:spcPts val="0"/>
              </a:spcAft>
              <a:buClr>
                <a:srgbClr val="93A299"/>
              </a:buClr>
              <a:buSzPct val="100000"/>
              <a:buChar char="•"/>
            </a:pPr>
            <a:r>
              <a:rPr lang="en-US" sz="3150">
                <a:solidFill>
                  <a:srgbClr val="292934"/>
                </a:solidFill>
                <a:latin typeface="Arial"/>
                <a:ea typeface="Arial"/>
                <a:cs typeface="Arial"/>
                <a:sym typeface="Arial"/>
              </a:rPr>
              <a:t>D. To create dynamic routes</a:t>
            </a:r>
            <a:endParaRPr sz="3150">
              <a:solidFill>
                <a:srgbClr val="292934"/>
              </a:solidFill>
              <a:latin typeface="Arial"/>
              <a:ea typeface="Arial"/>
              <a:cs typeface="Arial"/>
              <a:sym typeface="Arial"/>
            </a:endParaRPr>
          </a:p>
          <a:p>
            <a:pPr indent="0" lvl="0" marL="457200" rtl="0" algn="l">
              <a:lnSpc>
                <a:spcPct val="100000"/>
              </a:lnSpc>
              <a:spcBef>
                <a:spcPts val="360"/>
              </a:spcBef>
              <a:spcAft>
                <a:spcPts val="0"/>
              </a:spcAft>
              <a:buNone/>
            </a:pPr>
            <a:r>
              <a:t/>
            </a:r>
            <a:endParaRPr>
              <a:solidFill>
                <a:srgbClr val="292934"/>
              </a:solidFill>
              <a:latin typeface="Arial"/>
              <a:ea typeface="Arial"/>
              <a:cs typeface="Arial"/>
              <a:sym typeface="Arial"/>
            </a:endParaRPr>
          </a:p>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Which built-in constraint is used to ensure that a route parameter is numeric?</a:t>
            </a:r>
            <a:endParaRPr b="1" sz="4000">
              <a:solidFill>
                <a:srgbClr val="D2533C"/>
              </a:solidFill>
              <a:latin typeface="Arial"/>
              <a:ea typeface="Arial"/>
              <a:cs typeface="Arial"/>
              <a:sym typeface="Arial"/>
            </a:endParaRPr>
          </a:p>
          <a:p>
            <a:pPr indent="-398383" lvl="0" marL="457200" rtl="0" algn="l">
              <a:lnSpc>
                <a:spcPct val="100000"/>
              </a:lnSpc>
              <a:spcBef>
                <a:spcPts val="360"/>
              </a:spcBef>
              <a:spcAft>
                <a:spcPts val="0"/>
              </a:spcAft>
              <a:buClr>
                <a:srgbClr val="93A299"/>
              </a:buClr>
              <a:buSzPct val="100000"/>
              <a:buChar char="•"/>
            </a:pPr>
            <a:r>
              <a:rPr b="1" lang="en-US" sz="3450">
                <a:solidFill>
                  <a:srgbClr val="00B050"/>
                </a:solidFill>
                <a:latin typeface="Arial"/>
                <a:ea typeface="Arial"/>
                <a:cs typeface="Arial"/>
                <a:sym typeface="Arial"/>
              </a:rPr>
              <a:t>A. whereNumber</a:t>
            </a:r>
            <a:endParaRPr b="1" sz="3450">
              <a:solidFill>
                <a:srgbClr val="00B050"/>
              </a:solidFill>
              <a:latin typeface="Arial"/>
              <a:ea typeface="Arial"/>
              <a:cs typeface="Arial"/>
              <a:sym typeface="Arial"/>
            </a:endParaRPr>
          </a:p>
          <a:p>
            <a:pPr indent="-398383" lvl="0" marL="457200" rtl="0" algn="l">
              <a:lnSpc>
                <a:spcPct val="100000"/>
              </a:lnSpc>
              <a:spcBef>
                <a:spcPts val="360"/>
              </a:spcBef>
              <a:spcAft>
                <a:spcPts val="0"/>
              </a:spcAft>
              <a:buClr>
                <a:srgbClr val="93A299"/>
              </a:buClr>
              <a:buSzPct val="100000"/>
              <a:buChar char="•"/>
            </a:pPr>
            <a:r>
              <a:rPr lang="en-US" sz="3450">
                <a:solidFill>
                  <a:srgbClr val="292934"/>
                </a:solidFill>
                <a:latin typeface="Arial"/>
                <a:ea typeface="Arial"/>
                <a:cs typeface="Arial"/>
                <a:sym typeface="Arial"/>
              </a:rPr>
              <a:t>B. whereInteger</a:t>
            </a:r>
            <a:endParaRPr sz="3450">
              <a:solidFill>
                <a:srgbClr val="292934"/>
              </a:solidFill>
              <a:latin typeface="Arial"/>
              <a:ea typeface="Arial"/>
              <a:cs typeface="Arial"/>
              <a:sym typeface="Arial"/>
            </a:endParaRPr>
          </a:p>
          <a:p>
            <a:pPr indent="-398383" lvl="0" marL="457200" rtl="0" algn="l">
              <a:lnSpc>
                <a:spcPct val="100000"/>
              </a:lnSpc>
              <a:spcBef>
                <a:spcPts val="360"/>
              </a:spcBef>
              <a:spcAft>
                <a:spcPts val="0"/>
              </a:spcAft>
              <a:buClr>
                <a:srgbClr val="93A299"/>
              </a:buClr>
              <a:buSzPct val="100000"/>
              <a:buChar char="•"/>
            </a:pPr>
            <a:r>
              <a:rPr lang="en-US" sz="3450">
                <a:solidFill>
                  <a:srgbClr val="292934"/>
                </a:solidFill>
                <a:latin typeface="Arial"/>
                <a:ea typeface="Arial"/>
                <a:cs typeface="Arial"/>
                <a:sym typeface="Arial"/>
              </a:rPr>
              <a:t>C. whereNumeric</a:t>
            </a:r>
            <a:endParaRPr sz="3450">
              <a:solidFill>
                <a:srgbClr val="292934"/>
              </a:solidFill>
              <a:latin typeface="Arial"/>
              <a:ea typeface="Arial"/>
              <a:cs typeface="Arial"/>
              <a:sym typeface="Arial"/>
            </a:endParaRPr>
          </a:p>
          <a:p>
            <a:pPr indent="-398383" lvl="0" marL="457200" rtl="0" algn="l">
              <a:lnSpc>
                <a:spcPct val="100000"/>
              </a:lnSpc>
              <a:spcBef>
                <a:spcPts val="360"/>
              </a:spcBef>
              <a:spcAft>
                <a:spcPts val="0"/>
              </a:spcAft>
              <a:buClr>
                <a:srgbClr val="93A299"/>
              </a:buClr>
              <a:buSzPct val="100000"/>
              <a:buChar char="•"/>
            </a:pPr>
            <a:r>
              <a:rPr lang="en-US" sz="3450">
                <a:solidFill>
                  <a:srgbClr val="292934"/>
                </a:solidFill>
                <a:latin typeface="Arial"/>
                <a:ea typeface="Arial"/>
                <a:cs typeface="Arial"/>
                <a:sym typeface="Arial"/>
              </a:rPr>
              <a:t>D. whereDigit</a:t>
            </a:r>
            <a:endParaRPr sz="3450">
              <a:solidFill>
                <a:srgbClr val="292934"/>
              </a:solidFill>
              <a:latin typeface="Arial"/>
              <a:ea typeface="Arial"/>
              <a:cs typeface="Arial"/>
              <a:sym typeface="Arial"/>
            </a:endParaRPr>
          </a:p>
          <a:p>
            <a:pPr indent="0" lvl="0" marL="0" rtl="0" algn="l">
              <a:spcBef>
                <a:spcPts val="1000"/>
              </a:spcBef>
              <a:spcAft>
                <a:spcPts val="0"/>
              </a:spcAft>
              <a:buNone/>
            </a:pPr>
            <a:r>
              <a:t/>
            </a:r>
            <a:endParaRPr/>
          </a:p>
        </p:txBody>
      </p:sp>
      <p:pic>
        <p:nvPicPr>
          <p:cNvPr id="485" name="Google Shape;485;g3d10798bb04_1_119"/>
          <p:cNvPicPr preferRelativeResize="0"/>
          <p:nvPr/>
        </p:nvPicPr>
        <p:blipFill rotWithShape="1">
          <a:blip r:embed="rId3">
            <a:alphaModFix/>
          </a:blip>
          <a:srcRect b="0" l="0" r="0" t="0"/>
          <a:stretch/>
        </p:blipFill>
        <p:spPr>
          <a:xfrm>
            <a:off x="10390100" y="128200"/>
            <a:ext cx="1676400" cy="6794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3d10798bb04_0_76"/>
          <p:cNvSpPr txBox="1"/>
          <p:nvPr>
            <p:ph type="title"/>
          </p:nvPr>
        </p:nvSpPr>
        <p:spPr>
          <a:xfrm>
            <a:off x="838200" y="1699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a:solidFill>
                  <a:schemeClr val="accent2"/>
                </a:solidFill>
              </a:rPr>
              <a:t>Returning Response in Laravel</a:t>
            </a:r>
            <a:endParaRPr>
              <a:solidFill>
                <a:schemeClr val="accent2"/>
              </a:solidFill>
            </a:endParaRPr>
          </a:p>
          <a:p>
            <a:pPr indent="0" lvl="0" marL="0" rtl="0" algn="l">
              <a:spcBef>
                <a:spcPts val="0"/>
              </a:spcBef>
              <a:spcAft>
                <a:spcPts val="0"/>
              </a:spcAft>
              <a:buNone/>
            </a:pPr>
            <a:r>
              <a:t/>
            </a:r>
            <a:endParaRPr/>
          </a:p>
        </p:txBody>
      </p:sp>
      <p:sp>
        <p:nvSpPr>
          <p:cNvPr id="491" name="Google Shape;491;g3d10798bb04_0_76"/>
          <p:cNvSpPr txBox="1"/>
          <p:nvPr>
            <p:ph idx="1" type="body"/>
          </p:nvPr>
        </p:nvSpPr>
        <p:spPr>
          <a:xfrm>
            <a:off x="838200" y="1313200"/>
            <a:ext cx="10515600" cy="4863600"/>
          </a:xfrm>
          <a:prstGeom prst="rect">
            <a:avLst/>
          </a:prstGeom>
        </p:spPr>
        <p:txBody>
          <a:bodyPr anchorCtr="0" anchor="t" bIns="45700" lIns="91425" spcFirstLastPara="1" rIns="91425" wrap="square" tIns="45700">
            <a:normAutofit/>
          </a:bodyPr>
          <a:lstStyle/>
          <a:p>
            <a:pPr indent="-139700" lvl="0" marL="182880" rtl="0" algn="just">
              <a:lnSpc>
                <a:spcPct val="100000"/>
              </a:lnSpc>
              <a:spcBef>
                <a:spcPts val="0"/>
              </a:spcBef>
              <a:spcAft>
                <a:spcPts val="0"/>
              </a:spcAft>
              <a:buClr>
                <a:srgbClr val="93A299"/>
              </a:buClr>
              <a:buSzPts val="2200"/>
              <a:buChar char="•"/>
            </a:pPr>
            <a:r>
              <a:rPr lang="en-US" sz="2200">
                <a:solidFill>
                  <a:srgbClr val="292934"/>
                </a:solidFill>
                <a:latin typeface="Arial"/>
                <a:ea typeface="Arial"/>
                <a:cs typeface="Arial"/>
                <a:sym typeface="Arial"/>
              </a:rPr>
              <a:t>The aim of the response is to provide the client with the resource it requested or inform the client that the action it requested has been carried out; or else, to inform the client that an error occurred in processing its request.</a:t>
            </a:r>
            <a:endParaRPr sz="2200">
              <a:solidFill>
                <a:srgbClr val="292934"/>
              </a:solidFill>
              <a:latin typeface="Arial"/>
              <a:ea typeface="Arial"/>
              <a:cs typeface="Arial"/>
              <a:sym typeface="Arial"/>
            </a:endParaRPr>
          </a:p>
          <a:p>
            <a:pPr indent="0" lvl="0" marL="0" rtl="0" algn="just">
              <a:lnSpc>
                <a:spcPct val="100000"/>
              </a:lnSpc>
              <a:spcBef>
                <a:spcPts val="0"/>
              </a:spcBef>
              <a:spcAft>
                <a:spcPts val="0"/>
              </a:spcAft>
              <a:buNone/>
            </a:pPr>
            <a:r>
              <a:t/>
            </a:r>
            <a:endParaRPr sz="2200">
              <a:solidFill>
                <a:srgbClr val="292934"/>
              </a:solidFill>
              <a:latin typeface="Arial"/>
              <a:ea typeface="Arial"/>
              <a:cs typeface="Arial"/>
              <a:sym typeface="Arial"/>
            </a:endParaRPr>
          </a:p>
          <a:p>
            <a:pPr indent="0" lvl="0" marL="914400" rtl="0" algn="l">
              <a:lnSpc>
                <a:spcPct val="85714"/>
              </a:lnSpc>
              <a:spcBef>
                <a:spcPts val="0"/>
              </a:spcBef>
              <a:spcAft>
                <a:spcPts val="0"/>
              </a:spcAft>
              <a:buNone/>
            </a:pPr>
            <a:r>
              <a:rPr lang="en-US" sz="2200">
                <a:solidFill>
                  <a:srgbClr val="267F99"/>
                </a:solidFill>
                <a:latin typeface="Arial"/>
                <a:ea typeface="Arial"/>
                <a:cs typeface="Arial"/>
                <a:sym typeface="Arial"/>
              </a:rPr>
              <a:t>Route::get('/greet', function(){</a:t>
            </a:r>
            <a:endParaRPr sz="2200">
              <a:latin typeface="Arial"/>
              <a:ea typeface="Arial"/>
              <a:cs typeface="Arial"/>
              <a:sym typeface="Arial"/>
            </a:endParaRPr>
          </a:p>
          <a:p>
            <a:pPr indent="0" lvl="0" marL="914400" rtl="0" algn="l">
              <a:lnSpc>
                <a:spcPct val="85714"/>
              </a:lnSpc>
              <a:spcBef>
                <a:spcPts val="1000"/>
              </a:spcBef>
              <a:spcAft>
                <a:spcPts val="0"/>
              </a:spcAft>
              <a:buNone/>
            </a:pPr>
            <a:r>
              <a:rPr lang="en-US" sz="2200">
                <a:solidFill>
                  <a:srgbClr val="AF00DB"/>
                </a:solidFill>
                <a:latin typeface="Arial"/>
                <a:ea typeface="Arial"/>
                <a:cs typeface="Arial"/>
                <a:sym typeface="Arial"/>
              </a:rPr>
              <a:t>return</a:t>
            </a:r>
            <a:r>
              <a:rPr lang="en-US" sz="2200">
                <a:latin typeface="Arial"/>
                <a:ea typeface="Arial"/>
                <a:cs typeface="Arial"/>
                <a:sym typeface="Arial"/>
              </a:rPr>
              <a:t> </a:t>
            </a:r>
            <a:r>
              <a:rPr lang="en-US" sz="2200">
                <a:solidFill>
                  <a:srgbClr val="A31515"/>
                </a:solidFill>
                <a:latin typeface="Arial"/>
                <a:ea typeface="Arial"/>
                <a:cs typeface="Arial"/>
                <a:sym typeface="Arial"/>
              </a:rPr>
              <a:t>"Hello World"</a:t>
            </a:r>
            <a:r>
              <a:rPr lang="en-US" sz="2200">
                <a:latin typeface="Arial"/>
                <a:ea typeface="Arial"/>
                <a:cs typeface="Arial"/>
                <a:sym typeface="Arial"/>
              </a:rPr>
              <a:t>;</a:t>
            </a:r>
            <a:endParaRPr sz="2200">
              <a:latin typeface="Arial"/>
              <a:ea typeface="Arial"/>
              <a:cs typeface="Arial"/>
              <a:sym typeface="Arial"/>
            </a:endParaRPr>
          </a:p>
          <a:p>
            <a:pPr indent="0" lvl="0" marL="914400" rtl="0" algn="l">
              <a:lnSpc>
                <a:spcPct val="85714"/>
              </a:lnSpc>
              <a:spcBef>
                <a:spcPts val="1000"/>
              </a:spcBef>
              <a:spcAft>
                <a:spcPts val="0"/>
              </a:spcAft>
              <a:buNone/>
            </a:pPr>
            <a:r>
              <a:rPr lang="en-US" sz="2200">
                <a:latin typeface="Arial"/>
                <a:ea typeface="Arial"/>
                <a:cs typeface="Arial"/>
                <a:sym typeface="Arial"/>
              </a:rPr>
              <a:t>});</a:t>
            </a:r>
            <a:endParaRPr sz="2200">
              <a:latin typeface="Arial"/>
              <a:ea typeface="Arial"/>
              <a:cs typeface="Arial"/>
              <a:sym typeface="Arial"/>
            </a:endParaRPr>
          </a:p>
          <a:p>
            <a:pPr indent="0" lvl="0" marL="0" rtl="0" algn="l">
              <a:lnSpc>
                <a:spcPct val="85714"/>
              </a:lnSpc>
              <a:spcBef>
                <a:spcPts val="1000"/>
              </a:spcBef>
              <a:spcAft>
                <a:spcPts val="0"/>
              </a:spcAft>
              <a:buNone/>
            </a:pPr>
            <a:r>
              <a:t/>
            </a:r>
            <a:endParaRPr sz="2200">
              <a:latin typeface="Arial"/>
              <a:ea typeface="Arial"/>
              <a:cs typeface="Arial"/>
              <a:sym typeface="Arial"/>
            </a:endParaRPr>
          </a:p>
          <a:p>
            <a:pPr indent="0" lvl="0" marL="0" rtl="0" algn="l">
              <a:lnSpc>
                <a:spcPct val="115000"/>
              </a:lnSpc>
              <a:spcBef>
                <a:spcPts val="0"/>
              </a:spcBef>
              <a:spcAft>
                <a:spcPts val="0"/>
              </a:spcAft>
              <a:buClr>
                <a:schemeClr val="dk1"/>
              </a:buClr>
              <a:buSzPts val="1100"/>
              <a:buFont typeface="Arial"/>
              <a:buNone/>
            </a:pPr>
            <a:r>
              <a:rPr lang="en-US" sz="2200">
                <a:latin typeface="Arial"/>
                <a:ea typeface="Arial"/>
                <a:cs typeface="Arial"/>
                <a:sym typeface="Arial"/>
              </a:rPr>
              <a:t>If we write "abc," it will open at this URL.</a:t>
            </a:r>
            <a:endParaRPr sz="2200">
              <a:latin typeface="Arial"/>
              <a:ea typeface="Arial"/>
              <a:cs typeface="Arial"/>
              <a:sym typeface="Arial"/>
            </a:endParaRPr>
          </a:p>
          <a:p>
            <a:pPr indent="0" lvl="0" marL="914400" rtl="0" algn="l">
              <a:lnSpc>
                <a:spcPct val="115000"/>
              </a:lnSpc>
              <a:spcBef>
                <a:spcPts val="0"/>
              </a:spcBef>
              <a:spcAft>
                <a:spcPts val="0"/>
              </a:spcAft>
              <a:buClr>
                <a:schemeClr val="dk1"/>
              </a:buClr>
              <a:buSzPts val="1100"/>
              <a:buFont typeface="Arial"/>
              <a:buNone/>
            </a:pPr>
            <a:r>
              <a:rPr lang="en-US" sz="2200">
                <a:latin typeface="Arial"/>
                <a:ea typeface="Arial"/>
                <a:cs typeface="Arial"/>
                <a:sym typeface="Arial"/>
              </a:rPr>
              <a:t>Route::get('/abc', function(){</a:t>
            </a:r>
            <a:endParaRPr sz="2200">
              <a:latin typeface="Arial"/>
              <a:ea typeface="Arial"/>
              <a:cs typeface="Arial"/>
              <a:sym typeface="Arial"/>
            </a:endParaRPr>
          </a:p>
          <a:p>
            <a:pPr indent="0" lvl="0" marL="914400" rtl="0" algn="l">
              <a:lnSpc>
                <a:spcPct val="115000"/>
              </a:lnSpc>
              <a:spcBef>
                <a:spcPts val="800"/>
              </a:spcBef>
              <a:spcAft>
                <a:spcPts val="0"/>
              </a:spcAft>
              <a:buClr>
                <a:schemeClr val="dk1"/>
              </a:buClr>
              <a:buSzPts val="1100"/>
              <a:buFont typeface="Arial"/>
              <a:buNone/>
            </a:pPr>
            <a:r>
              <a:rPr lang="en-US" sz="2200">
                <a:latin typeface="Arial"/>
                <a:ea typeface="Arial"/>
                <a:cs typeface="Arial"/>
                <a:sym typeface="Arial"/>
              </a:rPr>
              <a:t>return "Hello World";</a:t>
            </a:r>
            <a:endParaRPr sz="2200">
              <a:latin typeface="Arial"/>
              <a:ea typeface="Arial"/>
              <a:cs typeface="Arial"/>
              <a:sym typeface="Arial"/>
            </a:endParaRPr>
          </a:p>
          <a:p>
            <a:pPr indent="0" lvl="0" marL="914400" rtl="0" algn="l">
              <a:lnSpc>
                <a:spcPct val="115000"/>
              </a:lnSpc>
              <a:spcBef>
                <a:spcPts val="800"/>
              </a:spcBef>
              <a:spcAft>
                <a:spcPts val="0"/>
              </a:spcAft>
              <a:buClr>
                <a:schemeClr val="dk1"/>
              </a:buClr>
              <a:buSzPts val="1100"/>
              <a:buFont typeface="Arial"/>
              <a:buNone/>
            </a:pPr>
            <a:r>
              <a:rPr lang="en-US" sz="2200">
                <a:latin typeface="Arial"/>
                <a:ea typeface="Arial"/>
                <a:cs typeface="Arial"/>
                <a:sym typeface="Arial"/>
              </a:rPr>
              <a:t>});</a:t>
            </a:r>
            <a:endParaRPr sz="2200">
              <a:latin typeface="Arial"/>
              <a:ea typeface="Arial"/>
              <a:cs typeface="Arial"/>
              <a:sym typeface="Arial"/>
            </a:endParaRPr>
          </a:p>
        </p:txBody>
      </p:sp>
      <p:pic>
        <p:nvPicPr>
          <p:cNvPr id="492" name="Google Shape;492;g3d10798bb04_0_76"/>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g3d10798bb04_0_83"/>
          <p:cNvSpPr txBox="1"/>
          <p:nvPr>
            <p:ph type="title"/>
          </p:nvPr>
        </p:nvSpPr>
        <p:spPr>
          <a:xfrm>
            <a:off x="591600" y="181050"/>
            <a:ext cx="10762200" cy="8979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D2533C"/>
              </a:buClr>
              <a:buSzPts val="4000"/>
              <a:buFont typeface="Arial"/>
              <a:buNone/>
            </a:pPr>
            <a:r>
              <a:rPr b="1" lang="en-US" sz="4000">
                <a:solidFill>
                  <a:srgbClr val="D2533C"/>
                </a:solidFill>
                <a:latin typeface="Arial"/>
                <a:ea typeface="Arial"/>
                <a:cs typeface="Arial"/>
                <a:sym typeface="Arial"/>
              </a:rPr>
              <a:t>Creating Responses</a:t>
            </a:r>
            <a:endParaRPr/>
          </a:p>
        </p:txBody>
      </p:sp>
      <p:sp>
        <p:nvSpPr>
          <p:cNvPr id="498" name="Google Shape;498;g3d10798bb04_0_83"/>
          <p:cNvSpPr txBox="1"/>
          <p:nvPr>
            <p:ph idx="1" type="body"/>
          </p:nvPr>
        </p:nvSpPr>
        <p:spPr>
          <a:xfrm>
            <a:off x="591475" y="1000900"/>
            <a:ext cx="11100300" cy="5504700"/>
          </a:xfrm>
          <a:prstGeom prst="rect">
            <a:avLst/>
          </a:prstGeom>
        </p:spPr>
        <p:txBody>
          <a:bodyPr anchorCtr="0" anchor="t" bIns="45700" lIns="91425" spcFirstLastPara="1" rIns="91425" wrap="square" tIns="45700">
            <a:normAutofit lnSpcReduction="10000"/>
          </a:bodyPr>
          <a:lstStyle/>
          <a:p>
            <a:pPr indent="-192595" lvl="0" marL="182880" rtl="0" algn="just">
              <a:lnSpc>
                <a:spcPct val="100000"/>
              </a:lnSpc>
              <a:spcBef>
                <a:spcPts val="0"/>
              </a:spcBef>
              <a:spcAft>
                <a:spcPts val="0"/>
              </a:spcAft>
              <a:buClr>
                <a:srgbClr val="93A299"/>
              </a:buClr>
              <a:buSzPts val="2040"/>
              <a:buChar char="•"/>
            </a:pPr>
            <a:r>
              <a:rPr b="1" lang="en-US" sz="2400">
                <a:solidFill>
                  <a:srgbClr val="292934"/>
                </a:solidFill>
                <a:latin typeface="Arial"/>
                <a:ea typeface="Arial"/>
                <a:cs typeface="Arial"/>
                <a:sym typeface="Arial"/>
              </a:rPr>
              <a:t>Strings &amp; Arrays</a:t>
            </a:r>
            <a:r>
              <a:rPr lang="en-US" sz="2400">
                <a:solidFill>
                  <a:srgbClr val="292934"/>
                </a:solidFill>
                <a:latin typeface="Arial"/>
                <a:ea typeface="Arial"/>
                <a:cs typeface="Arial"/>
                <a:sym typeface="Arial"/>
              </a:rPr>
              <a:t> - All routes and controllers should return a response to be sent back to the user's browser.</a:t>
            </a:r>
            <a:endParaRPr sz="2400">
              <a:solidFill>
                <a:srgbClr val="292934"/>
              </a:solidFill>
              <a:latin typeface="Arial"/>
              <a:ea typeface="Arial"/>
              <a:cs typeface="Arial"/>
              <a:sym typeface="Arial"/>
            </a:endParaRPr>
          </a:p>
          <a:p>
            <a:pPr indent="-192595" lvl="0" marL="182880" rtl="0" algn="just">
              <a:lnSpc>
                <a:spcPct val="100000"/>
              </a:lnSpc>
              <a:spcBef>
                <a:spcPts val="444"/>
              </a:spcBef>
              <a:spcAft>
                <a:spcPts val="0"/>
              </a:spcAft>
              <a:buClr>
                <a:srgbClr val="93A299"/>
              </a:buClr>
              <a:buSzPts val="2040"/>
              <a:buChar char="•"/>
            </a:pPr>
            <a:r>
              <a:rPr lang="en-US" sz="2400">
                <a:solidFill>
                  <a:srgbClr val="292934"/>
                </a:solidFill>
                <a:latin typeface="Arial"/>
                <a:ea typeface="Arial"/>
                <a:cs typeface="Arial"/>
                <a:sym typeface="Arial"/>
              </a:rPr>
              <a:t>Laravel provides several different ways to return responses. </a:t>
            </a:r>
            <a:endParaRPr sz="2400">
              <a:solidFill>
                <a:srgbClr val="292934"/>
              </a:solidFill>
              <a:latin typeface="Arial"/>
              <a:ea typeface="Arial"/>
              <a:cs typeface="Arial"/>
              <a:sym typeface="Arial"/>
            </a:endParaRPr>
          </a:p>
          <a:p>
            <a:pPr indent="-192595" lvl="0" marL="182880" rtl="0" algn="just">
              <a:lnSpc>
                <a:spcPct val="100000"/>
              </a:lnSpc>
              <a:spcBef>
                <a:spcPts val="444"/>
              </a:spcBef>
              <a:spcAft>
                <a:spcPts val="0"/>
              </a:spcAft>
              <a:buClr>
                <a:srgbClr val="93A299"/>
              </a:buClr>
              <a:buSzPts val="2040"/>
              <a:buChar char="•"/>
            </a:pPr>
            <a:r>
              <a:rPr lang="en-US" sz="2400">
                <a:solidFill>
                  <a:srgbClr val="292934"/>
                </a:solidFill>
                <a:latin typeface="Arial"/>
                <a:ea typeface="Arial"/>
                <a:cs typeface="Arial"/>
                <a:sym typeface="Arial"/>
              </a:rPr>
              <a:t>The most basic response is returning a string from a route or controller. The framework will automatically convert the string into a full HTTP response:</a:t>
            </a:r>
            <a:endParaRPr sz="2400">
              <a:solidFill>
                <a:srgbClr val="292934"/>
              </a:solidFill>
              <a:latin typeface="Arial"/>
              <a:ea typeface="Arial"/>
              <a:cs typeface="Arial"/>
              <a:sym typeface="Arial"/>
            </a:endParaRPr>
          </a:p>
          <a:p>
            <a:pPr indent="0" lvl="0" marL="1828800" rtl="0" algn="just">
              <a:lnSpc>
                <a:spcPct val="100000"/>
              </a:lnSpc>
              <a:spcBef>
                <a:spcPts val="444"/>
              </a:spcBef>
              <a:spcAft>
                <a:spcPts val="0"/>
              </a:spcAft>
              <a:buClr>
                <a:schemeClr val="dk1"/>
              </a:buClr>
              <a:buSzPts val="2040"/>
              <a:buFont typeface="Arial"/>
              <a:buNone/>
            </a:pPr>
            <a:r>
              <a:rPr lang="en-US" sz="2400">
                <a:solidFill>
                  <a:srgbClr val="D2533C"/>
                </a:solidFill>
                <a:latin typeface="Arial"/>
                <a:ea typeface="Arial"/>
                <a:cs typeface="Arial"/>
                <a:sym typeface="Arial"/>
              </a:rPr>
              <a:t>Route::get('/', function () {</a:t>
            </a:r>
            <a:endParaRPr sz="2400">
              <a:solidFill>
                <a:srgbClr val="292934"/>
              </a:solidFill>
              <a:latin typeface="Arial"/>
              <a:ea typeface="Arial"/>
              <a:cs typeface="Arial"/>
              <a:sym typeface="Arial"/>
            </a:endParaRPr>
          </a:p>
          <a:p>
            <a:pPr indent="0" lvl="0" marL="1828800" rtl="0" algn="just">
              <a:lnSpc>
                <a:spcPct val="100000"/>
              </a:lnSpc>
              <a:spcBef>
                <a:spcPts val="444"/>
              </a:spcBef>
              <a:spcAft>
                <a:spcPts val="0"/>
              </a:spcAft>
              <a:buClr>
                <a:schemeClr val="dk1"/>
              </a:buClr>
              <a:buSzPts val="2040"/>
              <a:buFont typeface="Arial"/>
              <a:buNone/>
            </a:pPr>
            <a:r>
              <a:rPr lang="en-US" sz="2400">
                <a:solidFill>
                  <a:srgbClr val="D2533C"/>
                </a:solidFill>
                <a:latin typeface="Arial"/>
                <a:ea typeface="Arial"/>
                <a:cs typeface="Arial"/>
                <a:sym typeface="Arial"/>
              </a:rPr>
              <a:t>    return 'Hello World';</a:t>
            </a:r>
            <a:endParaRPr sz="2400">
              <a:solidFill>
                <a:srgbClr val="292934"/>
              </a:solidFill>
              <a:latin typeface="Arial"/>
              <a:ea typeface="Arial"/>
              <a:cs typeface="Arial"/>
              <a:sym typeface="Arial"/>
            </a:endParaRPr>
          </a:p>
          <a:p>
            <a:pPr indent="0" lvl="0" marL="1828800" rtl="0" algn="just">
              <a:lnSpc>
                <a:spcPct val="100000"/>
              </a:lnSpc>
              <a:spcBef>
                <a:spcPts val="444"/>
              </a:spcBef>
              <a:spcAft>
                <a:spcPts val="0"/>
              </a:spcAft>
              <a:buNone/>
            </a:pPr>
            <a:r>
              <a:rPr lang="en-US" sz="2400">
                <a:solidFill>
                  <a:srgbClr val="D2533C"/>
                </a:solidFill>
                <a:latin typeface="Arial"/>
                <a:ea typeface="Arial"/>
                <a:cs typeface="Arial"/>
                <a:sym typeface="Arial"/>
              </a:rPr>
              <a:t>});</a:t>
            </a:r>
            <a:endParaRPr sz="2400">
              <a:solidFill>
                <a:srgbClr val="D2533C"/>
              </a:solidFill>
              <a:latin typeface="Arial"/>
              <a:ea typeface="Arial"/>
              <a:cs typeface="Arial"/>
              <a:sym typeface="Arial"/>
            </a:endParaRPr>
          </a:p>
          <a:p>
            <a:pPr indent="-182880" lvl="0" marL="182880" rtl="0" algn="just">
              <a:lnSpc>
                <a:spcPct val="100000"/>
              </a:lnSpc>
              <a:spcBef>
                <a:spcPts val="0"/>
              </a:spcBef>
              <a:spcAft>
                <a:spcPts val="0"/>
              </a:spcAft>
              <a:buClr>
                <a:srgbClr val="93A299"/>
              </a:buClr>
              <a:buSzPts val="2040"/>
              <a:buChar char="•"/>
            </a:pPr>
            <a:r>
              <a:rPr lang="en-US" sz="2400">
                <a:solidFill>
                  <a:srgbClr val="292934"/>
                </a:solidFill>
                <a:latin typeface="Arial"/>
                <a:ea typeface="Arial"/>
                <a:cs typeface="Arial"/>
                <a:sym typeface="Arial"/>
              </a:rPr>
              <a:t>In addition to returning strings from your routes and controllers, you may also return arrays. </a:t>
            </a:r>
            <a:endParaRPr sz="2400">
              <a:solidFill>
                <a:srgbClr val="292934"/>
              </a:solidFill>
              <a:latin typeface="Arial"/>
              <a:ea typeface="Arial"/>
              <a:cs typeface="Arial"/>
              <a:sym typeface="Arial"/>
            </a:endParaRPr>
          </a:p>
          <a:p>
            <a:pPr indent="-182880" lvl="0" marL="182880" rtl="0" algn="just">
              <a:lnSpc>
                <a:spcPct val="100000"/>
              </a:lnSpc>
              <a:spcBef>
                <a:spcPts val="480"/>
              </a:spcBef>
              <a:spcAft>
                <a:spcPts val="0"/>
              </a:spcAft>
              <a:buClr>
                <a:srgbClr val="93A299"/>
              </a:buClr>
              <a:buSzPts val="2040"/>
              <a:buChar char="•"/>
            </a:pPr>
            <a:r>
              <a:rPr lang="en-US" sz="2400">
                <a:solidFill>
                  <a:srgbClr val="292934"/>
                </a:solidFill>
                <a:latin typeface="Arial"/>
                <a:ea typeface="Arial"/>
                <a:cs typeface="Arial"/>
                <a:sym typeface="Arial"/>
              </a:rPr>
              <a:t>The framework will automatically convert the array into a JSON response:</a:t>
            </a:r>
            <a:endParaRPr sz="2400">
              <a:solidFill>
                <a:srgbClr val="D2533C"/>
              </a:solidFill>
              <a:latin typeface="Arial"/>
              <a:ea typeface="Arial"/>
              <a:cs typeface="Arial"/>
              <a:sym typeface="Arial"/>
            </a:endParaRPr>
          </a:p>
          <a:p>
            <a:pPr indent="0" lvl="0" marL="1828800" rtl="0" algn="just">
              <a:lnSpc>
                <a:spcPct val="100000"/>
              </a:lnSpc>
              <a:spcBef>
                <a:spcPts val="480"/>
              </a:spcBef>
              <a:spcAft>
                <a:spcPts val="0"/>
              </a:spcAft>
              <a:buNone/>
            </a:pPr>
            <a:r>
              <a:rPr lang="en-US" sz="2400">
                <a:solidFill>
                  <a:srgbClr val="D2533C"/>
                </a:solidFill>
                <a:latin typeface="Arial"/>
                <a:ea typeface="Arial"/>
                <a:cs typeface="Arial"/>
                <a:sym typeface="Arial"/>
              </a:rPr>
              <a:t>Route::get('/', function () {</a:t>
            </a:r>
            <a:endParaRPr sz="2400">
              <a:solidFill>
                <a:srgbClr val="292934"/>
              </a:solidFill>
              <a:latin typeface="Arial"/>
              <a:ea typeface="Arial"/>
              <a:cs typeface="Arial"/>
              <a:sym typeface="Arial"/>
            </a:endParaRPr>
          </a:p>
          <a:p>
            <a:pPr indent="0" lvl="0" marL="1828800" rtl="0" algn="just">
              <a:lnSpc>
                <a:spcPct val="100000"/>
              </a:lnSpc>
              <a:spcBef>
                <a:spcPts val="480"/>
              </a:spcBef>
              <a:spcAft>
                <a:spcPts val="0"/>
              </a:spcAft>
              <a:buNone/>
            </a:pPr>
            <a:r>
              <a:rPr lang="en-US" sz="2400">
                <a:solidFill>
                  <a:srgbClr val="D2533C"/>
                </a:solidFill>
                <a:latin typeface="Arial"/>
                <a:ea typeface="Arial"/>
                <a:cs typeface="Arial"/>
                <a:sym typeface="Arial"/>
              </a:rPr>
              <a:t>    return [1, 2, 3];</a:t>
            </a:r>
            <a:endParaRPr sz="2400">
              <a:solidFill>
                <a:srgbClr val="292934"/>
              </a:solidFill>
              <a:latin typeface="Arial"/>
              <a:ea typeface="Arial"/>
              <a:cs typeface="Arial"/>
              <a:sym typeface="Arial"/>
            </a:endParaRPr>
          </a:p>
          <a:p>
            <a:pPr indent="0" lvl="0" marL="1828800" rtl="0" algn="just">
              <a:lnSpc>
                <a:spcPct val="100000"/>
              </a:lnSpc>
              <a:spcBef>
                <a:spcPts val="480"/>
              </a:spcBef>
              <a:spcAft>
                <a:spcPts val="0"/>
              </a:spcAft>
              <a:buNone/>
            </a:pPr>
            <a:r>
              <a:rPr lang="en-US" sz="2400">
                <a:solidFill>
                  <a:srgbClr val="D2533C"/>
                </a:solidFill>
                <a:latin typeface="Arial"/>
                <a:ea typeface="Arial"/>
                <a:cs typeface="Arial"/>
                <a:sym typeface="Arial"/>
              </a:rPr>
              <a:t>});</a:t>
            </a:r>
            <a:endParaRPr sz="2400">
              <a:solidFill>
                <a:srgbClr val="D2533C"/>
              </a:solidFill>
              <a:latin typeface="Arial"/>
              <a:ea typeface="Arial"/>
              <a:cs typeface="Arial"/>
              <a:sym typeface="Arial"/>
            </a:endParaRPr>
          </a:p>
        </p:txBody>
      </p:sp>
      <p:pic>
        <p:nvPicPr>
          <p:cNvPr id="499" name="Google Shape;499;g3d10798bb04_0_83"/>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g3d7ce474ce2_0_11"/>
          <p:cNvSpPr txBox="1"/>
          <p:nvPr>
            <p:ph idx="1" type="body"/>
          </p:nvPr>
        </p:nvSpPr>
        <p:spPr>
          <a:xfrm>
            <a:off x="552425" y="480350"/>
            <a:ext cx="10801500" cy="5696400"/>
          </a:xfrm>
          <a:prstGeom prst="rect">
            <a:avLst/>
          </a:prstGeom>
        </p:spPr>
        <p:txBody>
          <a:bodyPr anchorCtr="0" anchor="t" bIns="45700" lIns="91425" spcFirstLastPara="1" rIns="91425" wrap="square" tIns="45700">
            <a:normAutofit lnSpcReduction="10000"/>
          </a:bodyPr>
          <a:lstStyle/>
          <a:p>
            <a:pPr indent="0" lvl="0" marL="182880" rtl="0" algn="l">
              <a:lnSpc>
                <a:spcPct val="100000"/>
              </a:lnSpc>
              <a:spcBef>
                <a:spcPts val="0"/>
              </a:spcBef>
              <a:spcAft>
                <a:spcPts val="0"/>
              </a:spcAft>
              <a:buNone/>
            </a:pPr>
            <a:r>
              <a:rPr b="1" lang="en-US" sz="4000">
                <a:solidFill>
                  <a:srgbClr val="D2533C"/>
                </a:solidFill>
                <a:latin typeface="Arial"/>
                <a:ea typeface="Arial"/>
                <a:cs typeface="Arial"/>
                <a:sym typeface="Arial"/>
              </a:rPr>
              <a:t>Creating Responses (contd.)</a:t>
            </a:r>
            <a:endParaRPr sz="4400"/>
          </a:p>
          <a:p>
            <a:pPr indent="0" lvl="0" marL="182880" rtl="0" algn="just">
              <a:lnSpc>
                <a:spcPct val="100000"/>
              </a:lnSpc>
              <a:spcBef>
                <a:spcPts val="0"/>
              </a:spcBef>
              <a:spcAft>
                <a:spcPts val="0"/>
              </a:spcAft>
              <a:buNone/>
            </a:pPr>
            <a:r>
              <a:t/>
            </a:r>
            <a:endParaRPr b="1" sz="2400">
              <a:solidFill>
                <a:srgbClr val="292934"/>
              </a:solidFill>
              <a:latin typeface="Arial"/>
              <a:ea typeface="Arial"/>
              <a:cs typeface="Arial"/>
              <a:sym typeface="Arial"/>
            </a:endParaRPr>
          </a:p>
          <a:p>
            <a:pPr indent="-182880" lvl="0" marL="182880" rtl="0" algn="just">
              <a:lnSpc>
                <a:spcPct val="100000"/>
              </a:lnSpc>
              <a:spcBef>
                <a:spcPts val="0"/>
              </a:spcBef>
              <a:spcAft>
                <a:spcPts val="0"/>
              </a:spcAft>
              <a:buClr>
                <a:srgbClr val="93A299"/>
              </a:buClr>
              <a:buSzPts val="2040"/>
              <a:buChar char="•"/>
            </a:pPr>
            <a:r>
              <a:rPr b="1" lang="en-US" sz="2400">
                <a:solidFill>
                  <a:srgbClr val="292934"/>
                </a:solidFill>
                <a:latin typeface="Arial"/>
                <a:ea typeface="Arial"/>
                <a:cs typeface="Arial"/>
                <a:sym typeface="Arial"/>
              </a:rPr>
              <a:t>Response Objects </a:t>
            </a:r>
            <a:r>
              <a:rPr lang="en-US" sz="2400">
                <a:solidFill>
                  <a:srgbClr val="292934"/>
                </a:solidFill>
                <a:latin typeface="Arial"/>
                <a:ea typeface="Arial"/>
                <a:cs typeface="Arial"/>
                <a:sym typeface="Arial"/>
              </a:rPr>
              <a:t>–</a:t>
            </a:r>
            <a:endParaRPr b="1" sz="2400">
              <a:solidFill>
                <a:srgbClr val="BD867B"/>
              </a:solidFill>
              <a:latin typeface="Arial"/>
              <a:ea typeface="Arial"/>
              <a:cs typeface="Arial"/>
              <a:sym typeface="Arial"/>
            </a:endParaRPr>
          </a:p>
          <a:p>
            <a:pPr indent="0" lvl="0" marL="914400" rtl="0" algn="just">
              <a:lnSpc>
                <a:spcPct val="100000"/>
              </a:lnSpc>
              <a:spcBef>
                <a:spcPts val="480"/>
              </a:spcBef>
              <a:spcAft>
                <a:spcPts val="0"/>
              </a:spcAft>
              <a:buClr>
                <a:schemeClr val="dk1"/>
              </a:buClr>
              <a:buSzPts val="2040"/>
              <a:buFont typeface="Arial"/>
              <a:buNone/>
            </a:pPr>
            <a:r>
              <a:rPr lang="en-US" sz="2400">
                <a:solidFill>
                  <a:srgbClr val="D2533C"/>
                </a:solidFill>
                <a:latin typeface="Arial"/>
                <a:ea typeface="Arial"/>
                <a:cs typeface="Arial"/>
                <a:sym typeface="Arial"/>
              </a:rPr>
              <a:t>Route::get('/home', function () {</a:t>
            </a:r>
            <a:endParaRPr sz="2400">
              <a:solidFill>
                <a:srgbClr val="292934"/>
              </a:solidFill>
              <a:latin typeface="Arial"/>
              <a:ea typeface="Arial"/>
              <a:cs typeface="Arial"/>
              <a:sym typeface="Arial"/>
            </a:endParaRPr>
          </a:p>
          <a:p>
            <a:pPr indent="0" lvl="0" marL="914400" rtl="0" algn="just">
              <a:lnSpc>
                <a:spcPct val="100000"/>
              </a:lnSpc>
              <a:spcBef>
                <a:spcPts val="480"/>
              </a:spcBef>
              <a:spcAft>
                <a:spcPts val="0"/>
              </a:spcAft>
              <a:buClr>
                <a:schemeClr val="dk1"/>
              </a:buClr>
              <a:buSzPts val="2040"/>
              <a:buFont typeface="Arial"/>
              <a:buNone/>
            </a:pPr>
            <a:r>
              <a:rPr lang="en-US" sz="2400">
                <a:solidFill>
                  <a:srgbClr val="D2533C"/>
                </a:solidFill>
                <a:latin typeface="Arial"/>
                <a:ea typeface="Arial"/>
                <a:cs typeface="Arial"/>
                <a:sym typeface="Arial"/>
              </a:rPr>
              <a:t>    return response('Hello World', 200);</a:t>
            </a:r>
            <a:endParaRPr sz="2400">
              <a:solidFill>
                <a:srgbClr val="292934"/>
              </a:solidFill>
              <a:latin typeface="Arial"/>
              <a:ea typeface="Arial"/>
              <a:cs typeface="Arial"/>
              <a:sym typeface="Arial"/>
            </a:endParaRPr>
          </a:p>
          <a:p>
            <a:pPr indent="0" lvl="0" marL="914400" rtl="0" algn="just">
              <a:lnSpc>
                <a:spcPct val="100000"/>
              </a:lnSpc>
              <a:spcBef>
                <a:spcPts val="480"/>
              </a:spcBef>
              <a:spcAft>
                <a:spcPts val="0"/>
              </a:spcAft>
              <a:buClr>
                <a:schemeClr val="dk1"/>
              </a:buClr>
              <a:buSzPts val="2040"/>
              <a:buFont typeface="Arial"/>
              <a:buNone/>
            </a:pPr>
            <a:r>
              <a:rPr lang="en-US" sz="2400">
                <a:solidFill>
                  <a:srgbClr val="D2533C"/>
                </a:solidFill>
                <a:latin typeface="Arial"/>
                <a:ea typeface="Arial"/>
                <a:cs typeface="Arial"/>
                <a:sym typeface="Arial"/>
              </a:rPr>
              <a:t>});</a:t>
            </a:r>
            <a:endParaRPr sz="2400">
              <a:solidFill>
                <a:srgbClr val="292934"/>
              </a:solidFill>
              <a:latin typeface="Arial"/>
              <a:ea typeface="Arial"/>
              <a:cs typeface="Arial"/>
              <a:sym typeface="Arial"/>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Clr>
                <a:schemeClr val="dk1"/>
              </a:buClr>
              <a:buSzPts val="1100"/>
              <a:buFont typeface="Arial"/>
              <a:buNone/>
            </a:pPr>
            <a:r>
              <a:rPr b="1" lang="en-US" sz="4000">
                <a:solidFill>
                  <a:srgbClr val="D2533C"/>
                </a:solidFill>
                <a:latin typeface="Arial"/>
                <a:ea typeface="Arial"/>
                <a:cs typeface="Arial"/>
                <a:sym typeface="Arial"/>
              </a:rPr>
              <a:t>Attaching Headers To Responses</a:t>
            </a:r>
            <a:endParaRPr sz="4000">
              <a:solidFill>
                <a:srgbClr val="D2533C"/>
              </a:solidFill>
              <a:latin typeface="Arial"/>
              <a:ea typeface="Arial"/>
              <a:cs typeface="Arial"/>
              <a:sym typeface="Arial"/>
            </a:endParaRPr>
          </a:p>
          <a:p>
            <a:pPr indent="-182880" lvl="0" marL="182880" rtl="0" algn="just">
              <a:lnSpc>
                <a:spcPct val="100000"/>
              </a:lnSpc>
              <a:spcBef>
                <a:spcPts val="0"/>
              </a:spcBef>
              <a:spcAft>
                <a:spcPts val="0"/>
              </a:spcAft>
              <a:buClr>
                <a:srgbClr val="93A299"/>
              </a:buClr>
              <a:buSzPts val="2040"/>
              <a:buChar char="•"/>
            </a:pPr>
            <a:r>
              <a:rPr lang="en-US" sz="2400">
                <a:solidFill>
                  <a:srgbClr val="292934"/>
                </a:solidFill>
                <a:latin typeface="Arial"/>
                <a:ea typeface="Arial"/>
                <a:cs typeface="Arial"/>
                <a:sym typeface="Arial"/>
              </a:rPr>
              <a:t>You may use the header method to add a series of headers to the response before sending it back to the user:</a:t>
            </a:r>
            <a:endParaRPr sz="2400">
              <a:solidFill>
                <a:srgbClr val="292934"/>
              </a:solidFill>
              <a:latin typeface="Arial"/>
              <a:ea typeface="Arial"/>
              <a:cs typeface="Arial"/>
              <a:sym typeface="Arial"/>
            </a:endParaRPr>
          </a:p>
          <a:p>
            <a:pPr indent="-53339" lvl="0" marL="182880" rtl="0" algn="just">
              <a:lnSpc>
                <a:spcPct val="100000"/>
              </a:lnSpc>
              <a:spcBef>
                <a:spcPts val="480"/>
              </a:spcBef>
              <a:spcAft>
                <a:spcPts val="0"/>
              </a:spcAft>
              <a:buNone/>
            </a:pPr>
            <a:r>
              <a:t/>
            </a:r>
            <a:endParaRPr sz="2400">
              <a:solidFill>
                <a:srgbClr val="292934"/>
              </a:solidFill>
              <a:latin typeface="Arial"/>
              <a:ea typeface="Arial"/>
              <a:cs typeface="Arial"/>
              <a:sym typeface="Arial"/>
            </a:endParaRPr>
          </a:p>
          <a:p>
            <a:pPr indent="0" lvl="0" marL="914400" rtl="0" algn="just">
              <a:lnSpc>
                <a:spcPct val="100000"/>
              </a:lnSpc>
              <a:spcBef>
                <a:spcPts val="480"/>
              </a:spcBef>
              <a:spcAft>
                <a:spcPts val="0"/>
              </a:spcAft>
              <a:buNone/>
            </a:pPr>
            <a:r>
              <a:rPr lang="en-US" sz="2400">
                <a:solidFill>
                  <a:srgbClr val="D2533C"/>
                </a:solidFill>
                <a:latin typeface="Arial"/>
                <a:ea typeface="Arial"/>
                <a:cs typeface="Arial"/>
                <a:sym typeface="Arial"/>
              </a:rPr>
              <a:t>return response($content)</a:t>
            </a:r>
            <a:endParaRPr sz="2400">
              <a:solidFill>
                <a:srgbClr val="292934"/>
              </a:solidFill>
              <a:latin typeface="Arial"/>
              <a:ea typeface="Arial"/>
              <a:cs typeface="Arial"/>
              <a:sym typeface="Arial"/>
            </a:endParaRPr>
          </a:p>
          <a:p>
            <a:pPr indent="0" lvl="0" marL="914400" rtl="0" algn="just">
              <a:lnSpc>
                <a:spcPct val="100000"/>
              </a:lnSpc>
              <a:spcBef>
                <a:spcPts val="480"/>
              </a:spcBef>
              <a:spcAft>
                <a:spcPts val="0"/>
              </a:spcAft>
              <a:buNone/>
            </a:pPr>
            <a:r>
              <a:rPr lang="en-US" sz="2400">
                <a:solidFill>
                  <a:srgbClr val="D2533C"/>
                </a:solidFill>
                <a:latin typeface="Arial"/>
                <a:ea typeface="Arial"/>
                <a:cs typeface="Arial"/>
                <a:sym typeface="Arial"/>
              </a:rPr>
              <a:t>            -&gt;header('Content-Type', 'text/html')</a:t>
            </a:r>
            <a:endParaRPr/>
          </a:p>
        </p:txBody>
      </p:sp>
      <p:pic>
        <p:nvPicPr>
          <p:cNvPr id="505" name="Google Shape;505;g3d7ce474ce2_0_11"/>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g3d7ce474ce2_0_21"/>
          <p:cNvSpPr txBox="1"/>
          <p:nvPr>
            <p:ph idx="1" type="body"/>
          </p:nvPr>
        </p:nvSpPr>
        <p:spPr>
          <a:xfrm>
            <a:off x="669025" y="532400"/>
            <a:ext cx="10515600" cy="5579400"/>
          </a:xfrm>
          <a:prstGeom prst="rect">
            <a:avLst/>
          </a:prstGeom>
        </p:spPr>
        <p:txBody>
          <a:bodyPr anchorCtr="0" anchor="t" bIns="45700" lIns="91425" spcFirstLastPara="1" rIns="91425" wrap="square" tIns="45700">
            <a:normAutofit fontScale="92500" lnSpcReduction="10000"/>
          </a:bodyPr>
          <a:lstStyle/>
          <a:p>
            <a:pPr indent="0" lvl="0" marL="182880" rtl="0" algn="just">
              <a:lnSpc>
                <a:spcPct val="100000"/>
              </a:lnSpc>
              <a:spcBef>
                <a:spcPts val="0"/>
              </a:spcBef>
              <a:spcAft>
                <a:spcPts val="0"/>
              </a:spcAft>
              <a:buNone/>
            </a:pPr>
            <a:r>
              <a:rPr b="1" lang="en-US" sz="4000">
                <a:solidFill>
                  <a:srgbClr val="D2533C"/>
                </a:solidFill>
                <a:latin typeface="Arial"/>
                <a:ea typeface="Arial"/>
                <a:cs typeface="Arial"/>
                <a:sym typeface="Arial"/>
              </a:rPr>
              <a:t>View Responses</a:t>
            </a:r>
            <a:endParaRPr b="1" sz="4000">
              <a:solidFill>
                <a:srgbClr val="D2533C"/>
              </a:solidFill>
              <a:latin typeface="Arial"/>
              <a:ea typeface="Arial"/>
              <a:cs typeface="Arial"/>
              <a:sym typeface="Arial"/>
            </a:endParaRPr>
          </a:p>
          <a:p>
            <a:pPr indent="-173164" lvl="0" marL="182880" rtl="0" algn="just">
              <a:lnSpc>
                <a:spcPct val="100000"/>
              </a:lnSpc>
              <a:spcBef>
                <a:spcPts val="0"/>
              </a:spcBef>
              <a:spcAft>
                <a:spcPts val="0"/>
              </a:spcAft>
              <a:buClr>
                <a:srgbClr val="93A299"/>
              </a:buClr>
              <a:buSzPct val="85000"/>
              <a:buChar char="•"/>
            </a:pPr>
            <a:r>
              <a:rPr lang="en-US" sz="2400">
                <a:solidFill>
                  <a:srgbClr val="292934"/>
                </a:solidFill>
                <a:latin typeface="Arial"/>
                <a:ea typeface="Arial"/>
                <a:cs typeface="Arial"/>
                <a:sym typeface="Arial"/>
              </a:rPr>
              <a:t>If you need control over the response's status and headers but also need to return a view as the response's content, you should use the view method:</a:t>
            </a:r>
            <a:endParaRPr sz="2400">
              <a:solidFill>
                <a:srgbClr val="292934"/>
              </a:solidFill>
              <a:latin typeface="Arial"/>
              <a:ea typeface="Arial"/>
              <a:cs typeface="Arial"/>
              <a:sym typeface="Arial"/>
            </a:endParaRPr>
          </a:p>
          <a:p>
            <a:pPr indent="0" lvl="0" marL="1371600" rtl="0" algn="just">
              <a:lnSpc>
                <a:spcPct val="100000"/>
              </a:lnSpc>
              <a:spcBef>
                <a:spcPts val="480"/>
              </a:spcBef>
              <a:spcAft>
                <a:spcPts val="0"/>
              </a:spcAft>
              <a:buClr>
                <a:schemeClr val="dk1"/>
              </a:buClr>
              <a:buSzPct val="85000"/>
              <a:buFont typeface="Arial"/>
              <a:buNone/>
            </a:pPr>
            <a:r>
              <a:rPr lang="en-US" sz="2400">
                <a:solidFill>
                  <a:srgbClr val="D2533C"/>
                </a:solidFill>
                <a:latin typeface="Arial"/>
                <a:ea typeface="Arial"/>
                <a:cs typeface="Arial"/>
                <a:sym typeface="Arial"/>
              </a:rPr>
              <a:t>return response()</a:t>
            </a:r>
            <a:endParaRPr sz="2400">
              <a:solidFill>
                <a:srgbClr val="292934"/>
              </a:solidFill>
              <a:latin typeface="Arial"/>
              <a:ea typeface="Arial"/>
              <a:cs typeface="Arial"/>
              <a:sym typeface="Arial"/>
            </a:endParaRPr>
          </a:p>
          <a:p>
            <a:pPr indent="0" lvl="0" marL="1371600" rtl="0" algn="just">
              <a:lnSpc>
                <a:spcPct val="100000"/>
              </a:lnSpc>
              <a:spcBef>
                <a:spcPts val="480"/>
              </a:spcBef>
              <a:spcAft>
                <a:spcPts val="0"/>
              </a:spcAft>
              <a:buClr>
                <a:schemeClr val="dk1"/>
              </a:buClr>
              <a:buSzPct val="85000"/>
              <a:buFont typeface="Arial"/>
              <a:buNone/>
            </a:pPr>
            <a:r>
              <a:rPr lang="en-US" sz="2400">
                <a:solidFill>
                  <a:srgbClr val="D2533C"/>
                </a:solidFill>
                <a:latin typeface="Arial"/>
                <a:ea typeface="Arial"/>
                <a:cs typeface="Arial"/>
                <a:sym typeface="Arial"/>
              </a:rPr>
              <a:t>            -&gt;view('hello')</a:t>
            </a:r>
            <a:endParaRPr sz="2400">
              <a:solidFill>
                <a:srgbClr val="D2533C"/>
              </a:solidFill>
              <a:latin typeface="Arial"/>
              <a:ea typeface="Arial"/>
              <a:cs typeface="Arial"/>
              <a:sym typeface="Arial"/>
            </a:endParaRPr>
          </a:p>
          <a:p>
            <a:pPr indent="0" lvl="0" marL="1371600" rtl="0" algn="just">
              <a:lnSpc>
                <a:spcPct val="100000"/>
              </a:lnSpc>
              <a:spcBef>
                <a:spcPts val="480"/>
              </a:spcBef>
              <a:spcAft>
                <a:spcPts val="0"/>
              </a:spcAft>
              <a:buNone/>
            </a:pPr>
            <a:r>
              <a:rPr lang="en-US" sz="2400">
                <a:solidFill>
                  <a:srgbClr val="D2533C"/>
                </a:solidFill>
                <a:latin typeface="Arial"/>
                <a:ea typeface="Arial"/>
                <a:cs typeface="Arial"/>
                <a:sym typeface="Arial"/>
              </a:rPr>
              <a:t>            -&gt;header('Content-Type', 'text/html');</a:t>
            </a:r>
            <a:endParaRPr sz="2400">
              <a:solidFill>
                <a:srgbClr val="D2533C"/>
              </a:solidFill>
              <a:latin typeface="Arial"/>
              <a:ea typeface="Arial"/>
              <a:cs typeface="Arial"/>
              <a:sym typeface="Arial"/>
            </a:endParaRPr>
          </a:p>
          <a:p>
            <a:pPr indent="0" lvl="0" marL="914400" rtl="0" algn="just">
              <a:lnSpc>
                <a:spcPct val="100000"/>
              </a:lnSpc>
              <a:spcBef>
                <a:spcPts val="480"/>
              </a:spcBef>
              <a:spcAft>
                <a:spcPts val="0"/>
              </a:spcAft>
              <a:buClr>
                <a:schemeClr val="dk1"/>
              </a:buClr>
              <a:buSzPct val="85000"/>
              <a:buFont typeface="Arial"/>
              <a:buNone/>
            </a:pPr>
            <a:r>
              <a:t/>
            </a:r>
            <a:endParaRPr sz="2400">
              <a:solidFill>
                <a:srgbClr val="D2533C"/>
              </a:solidFill>
              <a:latin typeface="Arial"/>
              <a:ea typeface="Arial"/>
              <a:cs typeface="Arial"/>
              <a:sym typeface="Arial"/>
            </a:endParaRPr>
          </a:p>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JSON Responses</a:t>
            </a:r>
            <a:endParaRPr b="1" sz="4000">
              <a:solidFill>
                <a:srgbClr val="D2533C"/>
              </a:solidFill>
              <a:latin typeface="Arial"/>
              <a:ea typeface="Arial"/>
              <a:cs typeface="Arial"/>
              <a:sym typeface="Arial"/>
            </a:endParaRPr>
          </a:p>
          <a:p>
            <a:pPr indent="-173164" lvl="0" marL="182880" rtl="0" algn="just">
              <a:lnSpc>
                <a:spcPct val="100000"/>
              </a:lnSpc>
              <a:spcBef>
                <a:spcPts val="0"/>
              </a:spcBef>
              <a:spcAft>
                <a:spcPts val="0"/>
              </a:spcAft>
              <a:buClr>
                <a:srgbClr val="93A299"/>
              </a:buClr>
              <a:buSzPct val="85000"/>
              <a:buChar char="•"/>
            </a:pPr>
            <a:r>
              <a:rPr lang="en-US" sz="2400">
                <a:solidFill>
                  <a:srgbClr val="292934"/>
                </a:solidFill>
                <a:latin typeface="Arial"/>
                <a:ea typeface="Arial"/>
                <a:cs typeface="Arial"/>
                <a:sym typeface="Arial"/>
              </a:rPr>
              <a:t>The json method will automatically set the Content-Type header to application/json, as well as convert the given array to JSON using the json_encode PHP function.</a:t>
            </a:r>
            <a:endParaRPr sz="2400">
              <a:solidFill>
                <a:srgbClr val="292934"/>
              </a:solidFill>
              <a:latin typeface="Arial"/>
              <a:ea typeface="Arial"/>
              <a:cs typeface="Arial"/>
              <a:sym typeface="Arial"/>
            </a:endParaRPr>
          </a:p>
          <a:p>
            <a:pPr indent="0" lvl="0" marL="1371600" rtl="0" algn="just">
              <a:lnSpc>
                <a:spcPct val="100000"/>
              </a:lnSpc>
              <a:spcBef>
                <a:spcPts val="480"/>
              </a:spcBef>
              <a:spcAft>
                <a:spcPts val="0"/>
              </a:spcAft>
              <a:buNone/>
            </a:pPr>
            <a:r>
              <a:rPr lang="en-US" sz="2400">
                <a:solidFill>
                  <a:srgbClr val="D2533C"/>
                </a:solidFill>
                <a:latin typeface="Arial"/>
                <a:ea typeface="Arial"/>
                <a:cs typeface="Arial"/>
                <a:sym typeface="Arial"/>
              </a:rPr>
              <a:t>return response()-&gt;json([</a:t>
            </a:r>
            <a:endParaRPr sz="2400">
              <a:solidFill>
                <a:srgbClr val="292934"/>
              </a:solidFill>
              <a:latin typeface="Arial"/>
              <a:ea typeface="Arial"/>
              <a:cs typeface="Arial"/>
              <a:sym typeface="Arial"/>
            </a:endParaRPr>
          </a:p>
          <a:p>
            <a:pPr indent="0" lvl="0" marL="1371600" rtl="0" algn="just">
              <a:lnSpc>
                <a:spcPct val="100000"/>
              </a:lnSpc>
              <a:spcBef>
                <a:spcPts val="480"/>
              </a:spcBef>
              <a:spcAft>
                <a:spcPts val="0"/>
              </a:spcAft>
              <a:buNone/>
            </a:pPr>
            <a:r>
              <a:rPr lang="en-US" sz="2400">
                <a:solidFill>
                  <a:srgbClr val="D2533C"/>
                </a:solidFill>
                <a:latin typeface="Arial"/>
                <a:ea typeface="Arial"/>
                <a:cs typeface="Arial"/>
                <a:sym typeface="Arial"/>
              </a:rPr>
              <a:t>    'name' =&gt; 'Abigail',</a:t>
            </a:r>
            <a:endParaRPr sz="2400">
              <a:solidFill>
                <a:srgbClr val="292934"/>
              </a:solidFill>
              <a:latin typeface="Arial"/>
              <a:ea typeface="Arial"/>
              <a:cs typeface="Arial"/>
              <a:sym typeface="Arial"/>
            </a:endParaRPr>
          </a:p>
          <a:p>
            <a:pPr indent="0" lvl="0" marL="1371600" rtl="0" algn="just">
              <a:lnSpc>
                <a:spcPct val="100000"/>
              </a:lnSpc>
              <a:spcBef>
                <a:spcPts val="480"/>
              </a:spcBef>
              <a:spcAft>
                <a:spcPts val="0"/>
              </a:spcAft>
              <a:buNone/>
            </a:pPr>
            <a:r>
              <a:rPr lang="en-US" sz="2400">
                <a:solidFill>
                  <a:srgbClr val="D2533C"/>
                </a:solidFill>
                <a:latin typeface="Arial"/>
                <a:ea typeface="Arial"/>
                <a:cs typeface="Arial"/>
                <a:sym typeface="Arial"/>
              </a:rPr>
              <a:t>    'state' =&gt; 'CA',</a:t>
            </a:r>
            <a:endParaRPr sz="2400">
              <a:solidFill>
                <a:srgbClr val="292934"/>
              </a:solidFill>
              <a:latin typeface="Arial"/>
              <a:ea typeface="Arial"/>
              <a:cs typeface="Arial"/>
              <a:sym typeface="Arial"/>
            </a:endParaRPr>
          </a:p>
          <a:p>
            <a:pPr indent="0" lvl="0" marL="1371600" rtl="0" algn="just">
              <a:lnSpc>
                <a:spcPct val="100000"/>
              </a:lnSpc>
              <a:spcBef>
                <a:spcPts val="480"/>
              </a:spcBef>
              <a:spcAft>
                <a:spcPts val="0"/>
              </a:spcAft>
              <a:buClr>
                <a:schemeClr val="dk1"/>
              </a:buClr>
              <a:buSzPct val="45833"/>
              <a:buFont typeface="Arial"/>
              <a:buNone/>
            </a:pPr>
            <a:r>
              <a:rPr lang="en-US" sz="2400">
                <a:solidFill>
                  <a:srgbClr val="D2533C"/>
                </a:solidFill>
                <a:latin typeface="Arial"/>
                <a:ea typeface="Arial"/>
                <a:cs typeface="Arial"/>
                <a:sym typeface="Arial"/>
              </a:rPr>
              <a:t>]);</a:t>
            </a:r>
            <a:endParaRPr b="1" sz="4000">
              <a:solidFill>
                <a:srgbClr val="D2533C"/>
              </a:solidFill>
              <a:latin typeface="Arial"/>
              <a:ea typeface="Arial"/>
              <a:cs typeface="Arial"/>
              <a:sym typeface="Arial"/>
            </a:endParaRPr>
          </a:p>
        </p:txBody>
      </p:sp>
      <p:pic>
        <p:nvPicPr>
          <p:cNvPr id="511" name="Google Shape;511;g3d7ce474ce2_0_21"/>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g3d7ce474ce2_0_31"/>
          <p:cNvSpPr txBox="1"/>
          <p:nvPr>
            <p:ph idx="1" type="body"/>
          </p:nvPr>
        </p:nvSpPr>
        <p:spPr>
          <a:xfrm>
            <a:off x="695575" y="233100"/>
            <a:ext cx="10658100" cy="6116400"/>
          </a:xfrm>
          <a:prstGeom prst="rect">
            <a:avLst/>
          </a:prstGeom>
        </p:spPr>
        <p:txBody>
          <a:bodyPr anchorCtr="0" anchor="t" bIns="45700" lIns="91425" spcFirstLastPara="1" rIns="91425" wrap="square" tIns="45700">
            <a:normAutofit fontScale="70000" lnSpcReduction="20000"/>
          </a:bodyPr>
          <a:lstStyle/>
          <a:p>
            <a:pPr indent="0" lvl="0" marL="182880" rtl="0" algn="l">
              <a:lnSpc>
                <a:spcPct val="100000"/>
              </a:lnSpc>
              <a:spcBef>
                <a:spcPts val="0"/>
              </a:spcBef>
              <a:spcAft>
                <a:spcPts val="0"/>
              </a:spcAft>
              <a:buNone/>
            </a:pPr>
            <a:r>
              <a:rPr b="1" lang="en-US" sz="4000">
                <a:solidFill>
                  <a:srgbClr val="D2533C"/>
                </a:solidFill>
                <a:latin typeface="Arial"/>
                <a:ea typeface="Arial"/>
                <a:cs typeface="Arial"/>
                <a:sym typeface="Arial"/>
              </a:rPr>
              <a:t>Do you know?</a:t>
            </a:r>
            <a:endParaRPr b="1" sz="4000">
              <a:solidFill>
                <a:srgbClr val="D2533C"/>
              </a:solidFill>
              <a:latin typeface="Arial"/>
              <a:ea typeface="Arial"/>
              <a:cs typeface="Arial"/>
              <a:sym typeface="Arial"/>
            </a:endParaRPr>
          </a:p>
          <a:p>
            <a:pPr indent="0" lvl="0" marL="182880" rtl="0" algn="l">
              <a:lnSpc>
                <a:spcPct val="100000"/>
              </a:lnSpc>
              <a:spcBef>
                <a:spcPts val="0"/>
              </a:spcBef>
              <a:spcAft>
                <a:spcPts val="0"/>
              </a:spcAft>
              <a:buNone/>
            </a:pPr>
            <a:r>
              <a:rPr b="1" lang="en-US" sz="4000">
                <a:latin typeface="Nunito"/>
                <a:ea typeface="Nunito"/>
                <a:cs typeface="Nunito"/>
                <a:sym typeface="Nunito"/>
              </a:rPr>
              <a:t>Douglas Crockford was the first to define and popularise </a:t>
            </a:r>
            <a:endParaRPr b="1" sz="4000">
              <a:latin typeface="Nunito"/>
              <a:ea typeface="Nunito"/>
              <a:cs typeface="Nunito"/>
              <a:sym typeface="Nunito"/>
            </a:endParaRPr>
          </a:p>
          <a:p>
            <a:pPr indent="0" lvl="0" marL="182880" rtl="0" algn="l">
              <a:lnSpc>
                <a:spcPct val="100000"/>
              </a:lnSpc>
              <a:spcBef>
                <a:spcPts val="0"/>
              </a:spcBef>
              <a:spcAft>
                <a:spcPts val="0"/>
              </a:spcAft>
              <a:buNone/>
            </a:pPr>
            <a:r>
              <a:rPr b="1" lang="en-US" sz="4000">
                <a:latin typeface="Nunito"/>
                <a:ea typeface="Nunito"/>
                <a:cs typeface="Nunito"/>
                <a:sym typeface="Nunito"/>
              </a:rPr>
              <a:t>the JSON format. In April 2001, Douglas Crockford and Chip Morningstar sent the first JSON message.</a:t>
            </a:r>
            <a:endParaRPr b="1" sz="4000">
              <a:latin typeface="Nunito"/>
              <a:ea typeface="Nunito"/>
              <a:cs typeface="Nunito"/>
              <a:sym typeface="Nunito"/>
            </a:endParaRPr>
          </a:p>
          <a:p>
            <a:pPr indent="0" lvl="0" marL="182880" rtl="0" algn="l">
              <a:lnSpc>
                <a:spcPct val="100000"/>
              </a:lnSpc>
              <a:spcBef>
                <a:spcPts val="0"/>
              </a:spcBef>
              <a:spcAft>
                <a:spcPts val="0"/>
              </a:spcAft>
              <a:buNone/>
            </a:pPr>
            <a:r>
              <a:t/>
            </a:r>
            <a:endParaRPr b="1" sz="4000">
              <a:latin typeface="Nunito"/>
              <a:ea typeface="Nunito"/>
              <a:cs typeface="Nunito"/>
              <a:sym typeface="Nunito"/>
            </a:endParaRPr>
          </a:p>
          <a:p>
            <a:pPr indent="0" lvl="0" marL="0" rtl="0" algn="l">
              <a:lnSpc>
                <a:spcPct val="100000"/>
              </a:lnSpc>
              <a:spcBef>
                <a:spcPts val="0"/>
              </a:spcBef>
              <a:spcAft>
                <a:spcPts val="0"/>
              </a:spcAft>
              <a:buClr>
                <a:schemeClr val="dk1"/>
              </a:buClr>
              <a:buSzPct val="27500"/>
              <a:buFont typeface="Arial"/>
              <a:buNone/>
            </a:pPr>
            <a:r>
              <a:rPr b="1" lang="en-US" sz="4000">
                <a:solidFill>
                  <a:srgbClr val="D2533C"/>
                </a:solidFill>
                <a:latin typeface="Arial"/>
                <a:ea typeface="Arial"/>
                <a:cs typeface="Arial"/>
                <a:sym typeface="Arial"/>
              </a:rPr>
              <a:t> </a:t>
            </a:r>
            <a:r>
              <a:rPr b="1" lang="en-US" sz="4000">
                <a:solidFill>
                  <a:srgbClr val="D2533C"/>
                </a:solidFill>
                <a:latin typeface="Arial"/>
                <a:ea typeface="Arial"/>
                <a:cs typeface="Arial"/>
                <a:sym typeface="Arial"/>
              </a:rPr>
              <a:t>What is the primary goal of the response in Laravel?</a:t>
            </a:r>
            <a:endParaRPr>
              <a:solidFill>
                <a:srgbClr val="292934"/>
              </a:solidFill>
              <a:latin typeface="Arial"/>
              <a:ea typeface="Arial"/>
              <a:cs typeface="Arial"/>
              <a:sym typeface="Arial"/>
            </a:endParaRPr>
          </a:p>
          <a:p>
            <a:pPr indent="-137541" lvl="0" marL="182880" rtl="0" algn="l">
              <a:lnSpc>
                <a:spcPct val="100000"/>
              </a:lnSpc>
              <a:spcBef>
                <a:spcPts val="560"/>
              </a:spcBef>
              <a:spcAft>
                <a:spcPts val="0"/>
              </a:spcAft>
              <a:buClr>
                <a:srgbClr val="93A299"/>
              </a:buClr>
              <a:buSzPct val="99166"/>
              <a:buChar char="•"/>
            </a:pPr>
            <a:r>
              <a:rPr lang="en-US">
                <a:solidFill>
                  <a:srgbClr val="292934"/>
                </a:solidFill>
                <a:latin typeface="Arial"/>
                <a:ea typeface="Arial"/>
                <a:cs typeface="Arial"/>
                <a:sym typeface="Arial"/>
              </a:rPr>
              <a:t>A) To confuse the client</a:t>
            </a:r>
            <a:endParaRPr sz="2400">
              <a:solidFill>
                <a:srgbClr val="292934"/>
              </a:solidFill>
              <a:latin typeface="Arial"/>
              <a:ea typeface="Arial"/>
              <a:cs typeface="Arial"/>
              <a:sym typeface="Arial"/>
            </a:endParaRPr>
          </a:p>
          <a:p>
            <a:pPr indent="-137541" lvl="0" marL="182880" rtl="0" algn="l">
              <a:lnSpc>
                <a:spcPct val="100000"/>
              </a:lnSpc>
              <a:spcBef>
                <a:spcPts val="560"/>
              </a:spcBef>
              <a:spcAft>
                <a:spcPts val="0"/>
              </a:spcAft>
              <a:buClr>
                <a:srgbClr val="93A299"/>
              </a:buClr>
              <a:buSzPct val="99166"/>
              <a:buChar char="•"/>
            </a:pPr>
            <a:r>
              <a:rPr lang="en-US">
                <a:solidFill>
                  <a:srgbClr val="292934"/>
                </a:solidFill>
                <a:latin typeface="Arial"/>
                <a:ea typeface="Arial"/>
                <a:cs typeface="Arial"/>
                <a:sym typeface="Arial"/>
              </a:rPr>
              <a:t>B) To provide irrelevant data</a:t>
            </a:r>
            <a:endParaRPr sz="2400">
              <a:solidFill>
                <a:srgbClr val="292934"/>
              </a:solidFill>
              <a:latin typeface="Arial"/>
              <a:ea typeface="Arial"/>
              <a:cs typeface="Arial"/>
              <a:sym typeface="Arial"/>
            </a:endParaRPr>
          </a:p>
          <a:p>
            <a:pPr indent="-137541" lvl="0" marL="182880" rtl="0" algn="l">
              <a:lnSpc>
                <a:spcPct val="100000"/>
              </a:lnSpc>
              <a:spcBef>
                <a:spcPts val="560"/>
              </a:spcBef>
              <a:spcAft>
                <a:spcPts val="0"/>
              </a:spcAft>
              <a:buClr>
                <a:srgbClr val="93A299"/>
              </a:buClr>
              <a:buSzPct val="99166"/>
              <a:buChar char="•"/>
            </a:pPr>
            <a:r>
              <a:rPr b="1" lang="en-US">
                <a:solidFill>
                  <a:srgbClr val="00B050"/>
                </a:solidFill>
                <a:latin typeface="Arial"/>
                <a:ea typeface="Arial"/>
                <a:cs typeface="Arial"/>
                <a:sym typeface="Arial"/>
              </a:rPr>
              <a:t>C) To provide the requested resource or inform about the outcome</a:t>
            </a:r>
            <a:endParaRPr sz="2400">
              <a:solidFill>
                <a:srgbClr val="292934"/>
              </a:solidFill>
              <a:latin typeface="Arial"/>
              <a:ea typeface="Arial"/>
              <a:cs typeface="Arial"/>
              <a:sym typeface="Arial"/>
            </a:endParaRPr>
          </a:p>
          <a:p>
            <a:pPr indent="-137541" lvl="0" marL="182880" rtl="0" algn="l">
              <a:lnSpc>
                <a:spcPct val="100000"/>
              </a:lnSpc>
              <a:spcBef>
                <a:spcPts val="560"/>
              </a:spcBef>
              <a:spcAft>
                <a:spcPts val="0"/>
              </a:spcAft>
              <a:buClr>
                <a:srgbClr val="93A299"/>
              </a:buClr>
              <a:buSzPct val="99166"/>
              <a:buChar char="•"/>
            </a:pPr>
            <a:r>
              <a:rPr lang="en-US">
                <a:solidFill>
                  <a:srgbClr val="292934"/>
                </a:solidFill>
                <a:latin typeface="Arial"/>
                <a:ea typeface="Arial"/>
                <a:cs typeface="Arial"/>
                <a:sym typeface="Arial"/>
              </a:rPr>
              <a:t>D) To prevent the client from accessing resources</a:t>
            </a:r>
            <a:endParaRPr sz="2400">
              <a:solidFill>
                <a:srgbClr val="292934"/>
              </a:solidFill>
              <a:latin typeface="Arial"/>
              <a:ea typeface="Arial"/>
              <a:cs typeface="Arial"/>
              <a:sym typeface="Arial"/>
            </a:endParaRPr>
          </a:p>
          <a:p>
            <a:pPr indent="0" lvl="0" marL="0" rtl="0" algn="l">
              <a:spcBef>
                <a:spcPts val="1000"/>
              </a:spcBef>
              <a:spcAft>
                <a:spcPts val="0"/>
              </a:spcAft>
              <a:buClr>
                <a:schemeClr val="dk1"/>
              </a:buClr>
              <a:buSzPct val="27500"/>
              <a:buFont typeface="Arial"/>
              <a:buNone/>
            </a:pPr>
            <a:r>
              <a:t/>
            </a:r>
            <a:endParaRPr b="1" sz="4000">
              <a:solidFill>
                <a:srgbClr val="D2533C"/>
              </a:solidFill>
              <a:latin typeface="Arial"/>
              <a:ea typeface="Arial"/>
              <a:cs typeface="Arial"/>
              <a:sym typeface="Arial"/>
            </a:endParaRPr>
          </a:p>
          <a:p>
            <a:pPr indent="0" lvl="0" marL="0" rtl="0" algn="l">
              <a:lnSpc>
                <a:spcPct val="100000"/>
              </a:lnSpc>
              <a:spcBef>
                <a:spcPts val="0"/>
              </a:spcBef>
              <a:spcAft>
                <a:spcPts val="0"/>
              </a:spcAft>
              <a:buClr>
                <a:schemeClr val="dk1"/>
              </a:buClr>
              <a:buSzPct val="27500"/>
              <a:buFont typeface="Arial"/>
              <a:buNone/>
            </a:pPr>
            <a:r>
              <a:rPr b="1" lang="en-US" sz="4000">
                <a:solidFill>
                  <a:srgbClr val="D2533C"/>
                </a:solidFill>
                <a:latin typeface="Arial"/>
                <a:ea typeface="Arial"/>
                <a:cs typeface="Arial"/>
                <a:sym typeface="Arial"/>
              </a:rPr>
              <a:t> How can you return a string as a response in a Laravel route or controller?</a:t>
            </a:r>
            <a:endParaRPr b="1" sz="4000">
              <a:solidFill>
                <a:srgbClr val="D2533C"/>
              </a:solidFill>
              <a:latin typeface="Arial"/>
              <a:ea typeface="Arial"/>
              <a:cs typeface="Arial"/>
              <a:sym typeface="Arial"/>
            </a:endParaRPr>
          </a:p>
          <a:p>
            <a:pPr indent="-227964" lvl="0" marL="182880" rtl="0" algn="l">
              <a:lnSpc>
                <a:spcPct val="100000"/>
              </a:lnSpc>
              <a:spcBef>
                <a:spcPts val="640"/>
              </a:spcBef>
              <a:spcAft>
                <a:spcPts val="0"/>
              </a:spcAft>
              <a:buClr>
                <a:srgbClr val="00B050"/>
              </a:buClr>
              <a:buSzPct val="100000"/>
              <a:buFont typeface="Arial"/>
              <a:buChar char="•"/>
            </a:pPr>
            <a:r>
              <a:rPr b="1" lang="en-US" sz="3200">
                <a:solidFill>
                  <a:srgbClr val="00B050"/>
                </a:solidFill>
                <a:latin typeface="Arial"/>
                <a:ea typeface="Arial"/>
                <a:cs typeface="Arial"/>
                <a:sym typeface="Arial"/>
              </a:rPr>
              <a:t>A) return 'Hello World';</a:t>
            </a:r>
            <a:endParaRPr sz="2400">
              <a:solidFill>
                <a:srgbClr val="292934"/>
              </a:solidFill>
              <a:latin typeface="Arial"/>
              <a:ea typeface="Arial"/>
              <a:cs typeface="Arial"/>
              <a:sym typeface="Arial"/>
            </a:endParaRPr>
          </a:p>
          <a:p>
            <a:pPr indent="-131064" lvl="0" marL="182880" rtl="0" algn="l">
              <a:lnSpc>
                <a:spcPct val="100000"/>
              </a:lnSpc>
              <a:spcBef>
                <a:spcPts val="640"/>
              </a:spcBef>
              <a:spcAft>
                <a:spcPts val="0"/>
              </a:spcAft>
              <a:buClr>
                <a:srgbClr val="93A299"/>
              </a:buClr>
              <a:buSzPct val="85000"/>
              <a:buChar char="•"/>
            </a:pPr>
            <a:r>
              <a:rPr b="1" lang="en-US" sz="3200">
                <a:solidFill>
                  <a:srgbClr val="00B050"/>
                </a:solidFill>
                <a:latin typeface="Arial"/>
                <a:ea typeface="Arial"/>
                <a:cs typeface="Arial"/>
                <a:sym typeface="Arial"/>
              </a:rPr>
              <a:t>B) return response('Hello World');</a:t>
            </a:r>
            <a:endParaRPr sz="2400">
              <a:solidFill>
                <a:srgbClr val="292934"/>
              </a:solidFill>
              <a:latin typeface="Arial"/>
              <a:ea typeface="Arial"/>
              <a:cs typeface="Arial"/>
              <a:sym typeface="Arial"/>
            </a:endParaRPr>
          </a:p>
          <a:p>
            <a:pPr indent="-131064" lvl="0" marL="182880" rtl="0" algn="l">
              <a:lnSpc>
                <a:spcPct val="100000"/>
              </a:lnSpc>
              <a:spcBef>
                <a:spcPts val="640"/>
              </a:spcBef>
              <a:spcAft>
                <a:spcPts val="0"/>
              </a:spcAft>
              <a:buClr>
                <a:srgbClr val="93A299"/>
              </a:buClr>
              <a:buSzPct val="85000"/>
              <a:buChar char="•"/>
            </a:pPr>
            <a:r>
              <a:rPr lang="en-US" sz="3200">
                <a:solidFill>
                  <a:srgbClr val="292934"/>
                </a:solidFill>
                <a:latin typeface="Arial"/>
                <a:ea typeface="Arial"/>
                <a:cs typeface="Arial"/>
                <a:sym typeface="Arial"/>
              </a:rPr>
              <a:t>C) echo 'Hello World';</a:t>
            </a:r>
            <a:endParaRPr sz="2400">
              <a:solidFill>
                <a:srgbClr val="292934"/>
              </a:solidFill>
              <a:latin typeface="Arial"/>
              <a:ea typeface="Arial"/>
              <a:cs typeface="Arial"/>
              <a:sym typeface="Arial"/>
            </a:endParaRPr>
          </a:p>
          <a:p>
            <a:pPr indent="-131064" lvl="0" marL="182880" rtl="0" algn="l">
              <a:lnSpc>
                <a:spcPct val="100000"/>
              </a:lnSpc>
              <a:spcBef>
                <a:spcPts val="640"/>
              </a:spcBef>
              <a:spcAft>
                <a:spcPts val="0"/>
              </a:spcAft>
              <a:buClr>
                <a:srgbClr val="93A299"/>
              </a:buClr>
              <a:buSzPct val="85000"/>
              <a:buChar char="•"/>
            </a:pPr>
            <a:r>
              <a:rPr lang="en-US" sz="3200">
                <a:solidFill>
                  <a:srgbClr val="292934"/>
                </a:solidFill>
                <a:latin typeface="Arial"/>
                <a:ea typeface="Arial"/>
                <a:cs typeface="Arial"/>
                <a:sym typeface="Arial"/>
              </a:rPr>
              <a:t>D) Response::send('Hello World');</a:t>
            </a:r>
            <a:endParaRPr/>
          </a:p>
        </p:txBody>
      </p:sp>
      <p:pic>
        <p:nvPicPr>
          <p:cNvPr id="517" name="Google Shape;517;g3d7ce474ce2_0_31"/>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3d7ce474ce2_0_41"/>
          <p:cNvSpPr txBox="1"/>
          <p:nvPr>
            <p:ph idx="1" type="body"/>
          </p:nvPr>
        </p:nvSpPr>
        <p:spPr>
          <a:xfrm>
            <a:off x="565450" y="376250"/>
            <a:ext cx="10710300" cy="5800500"/>
          </a:xfrm>
          <a:prstGeom prst="rect">
            <a:avLst/>
          </a:prstGeom>
        </p:spPr>
        <p:txBody>
          <a:bodyPr anchorCtr="0" anchor="t" bIns="45700" lIns="91425" spcFirstLastPara="1" rIns="91425" wrap="square" tIns="45700">
            <a:normAutofit fontScale="77500" lnSpcReduction="10000"/>
          </a:bodyPr>
          <a:lstStyle/>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Which method should be used if you want to return     a view along with control over status and headers in Laravel?</a:t>
            </a:r>
            <a:endParaRPr>
              <a:solidFill>
                <a:srgbClr val="292934"/>
              </a:solidFill>
              <a:latin typeface="Arial"/>
              <a:ea typeface="Arial"/>
              <a:cs typeface="Arial"/>
              <a:sym typeface="Arial"/>
            </a:endParaRPr>
          </a:p>
          <a:p>
            <a:pPr indent="-148875" lvl="0" marL="182880" rtl="0" algn="l">
              <a:lnSpc>
                <a:spcPct val="100000"/>
              </a:lnSpc>
              <a:spcBef>
                <a:spcPts val="560"/>
              </a:spcBef>
              <a:spcAft>
                <a:spcPts val="0"/>
              </a:spcAft>
              <a:buClr>
                <a:srgbClr val="93A299"/>
              </a:buClr>
              <a:buSzPct val="99166"/>
              <a:buChar char="•"/>
            </a:pPr>
            <a:r>
              <a:rPr lang="en-US">
                <a:solidFill>
                  <a:srgbClr val="292934"/>
                </a:solidFill>
                <a:latin typeface="Arial"/>
                <a:ea typeface="Arial"/>
                <a:cs typeface="Arial"/>
                <a:sym typeface="Arial"/>
              </a:rPr>
              <a:t>A) return view('hello')</a:t>
            </a:r>
            <a:endParaRPr sz="2400">
              <a:solidFill>
                <a:srgbClr val="292934"/>
              </a:solidFill>
              <a:latin typeface="Arial"/>
              <a:ea typeface="Arial"/>
              <a:cs typeface="Arial"/>
              <a:sym typeface="Arial"/>
            </a:endParaRPr>
          </a:p>
          <a:p>
            <a:pPr indent="-148875" lvl="0" marL="182880" rtl="0" algn="l">
              <a:lnSpc>
                <a:spcPct val="100000"/>
              </a:lnSpc>
              <a:spcBef>
                <a:spcPts val="560"/>
              </a:spcBef>
              <a:spcAft>
                <a:spcPts val="0"/>
              </a:spcAft>
              <a:buClr>
                <a:srgbClr val="93A299"/>
              </a:buClr>
              <a:buSzPct val="99166"/>
              <a:buChar char="•"/>
            </a:pPr>
            <a:r>
              <a:rPr b="1" lang="en-US">
                <a:solidFill>
                  <a:srgbClr val="00B050"/>
                </a:solidFill>
                <a:latin typeface="Arial"/>
                <a:ea typeface="Arial"/>
                <a:cs typeface="Arial"/>
                <a:sym typeface="Arial"/>
              </a:rPr>
              <a:t>B) return response()-&gt;view('hello')</a:t>
            </a:r>
            <a:endParaRPr sz="2400">
              <a:solidFill>
                <a:srgbClr val="292934"/>
              </a:solidFill>
              <a:latin typeface="Arial"/>
              <a:ea typeface="Arial"/>
              <a:cs typeface="Arial"/>
              <a:sym typeface="Arial"/>
            </a:endParaRPr>
          </a:p>
          <a:p>
            <a:pPr indent="-148875" lvl="0" marL="182880" rtl="0" algn="l">
              <a:lnSpc>
                <a:spcPct val="100000"/>
              </a:lnSpc>
              <a:spcBef>
                <a:spcPts val="560"/>
              </a:spcBef>
              <a:spcAft>
                <a:spcPts val="0"/>
              </a:spcAft>
              <a:buClr>
                <a:srgbClr val="93A299"/>
              </a:buClr>
              <a:buSzPct val="99166"/>
              <a:buChar char="•"/>
            </a:pPr>
            <a:r>
              <a:rPr lang="en-US">
                <a:solidFill>
                  <a:srgbClr val="292934"/>
                </a:solidFill>
                <a:latin typeface="Arial"/>
                <a:ea typeface="Arial"/>
                <a:cs typeface="Arial"/>
                <a:sym typeface="Arial"/>
              </a:rPr>
              <a:t>C) return respo('hello')-&gt;view()</a:t>
            </a:r>
            <a:endParaRPr sz="2400">
              <a:solidFill>
                <a:srgbClr val="292934"/>
              </a:solidFill>
              <a:latin typeface="Arial"/>
              <a:ea typeface="Arial"/>
              <a:cs typeface="Arial"/>
              <a:sym typeface="Arial"/>
            </a:endParaRPr>
          </a:p>
          <a:p>
            <a:pPr indent="-148875" lvl="0" marL="182880" rtl="0" algn="l">
              <a:lnSpc>
                <a:spcPct val="100000"/>
              </a:lnSpc>
              <a:spcBef>
                <a:spcPts val="560"/>
              </a:spcBef>
              <a:spcAft>
                <a:spcPts val="0"/>
              </a:spcAft>
              <a:buClr>
                <a:srgbClr val="93A299"/>
              </a:buClr>
              <a:buSzPct val="85000"/>
              <a:buChar char="•"/>
            </a:pPr>
            <a:r>
              <a:rPr lang="en-US">
                <a:solidFill>
                  <a:srgbClr val="292934"/>
                </a:solidFill>
                <a:latin typeface="Arial"/>
                <a:ea typeface="Arial"/>
                <a:cs typeface="Arial"/>
                <a:sym typeface="Arial"/>
              </a:rPr>
              <a:t>D) return view('hello')-&gt;re()</a:t>
            </a:r>
            <a:endParaRPr>
              <a:solidFill>
                <a:srgbClr val="292934"/>
              </a:solidFill>
              <a:latin typeface="Arial"/>
              <a:ea typeface="Arial"/>
              <a:cs typeface="Arial"/>
              <a:sym typeface="Arial"/>
            </a:endParaRPr>
          </a:p>
          <a:p>
            <a:pPr indent="0" lvl="0" marL="182880" rtl="0" algn="l">
              <a:lnSpc>
                <a:spcPct val="100000"/>
              </a:lnSpc>
              <a:spcBef>
                <a:spcPts val="560"/>
              </a:spcBef>
              <a:spcAft>
                <a:spcPts val="0"/>
              </a:spcAft>
              <a:buNone/>
            </a:pPr>
            <a:r>
              <a:t/>
            </a:r>
            <a:endParaRPr>
              <a:solidFill>
                <a:srgbClr val="292934"/>
              </a:solidFill>
              <a:latin typeface="Arial"/>
              <a:ea typeface="Arial"/>
              <a:cs typeface="Arial"/>
              <a:sym typeface="Arial"/>
            </a:endParaRPr>
          </a:p>
          <a:p>
            <a:pPr indent="0" lvl="0" marL="0" rtl="0" algn="l">
              <a:lnSpc>
                <a:spcPct val="100000"/>
              </a:lnSpc>
              <a:spcBef>
                <a:spcPts val="0"/>
              </a:spcBef>
              <a:spcAft>
                <a:spcPts val="0"/>
              </a:spcAft>
              <a:buNone/>
            </a:pPr>
            <a:r>
              <a:rPr b="1" lang="en-US" sz="4000">
                <a:solidFill>
                  <a:srgbClr val="D2533C"/>
                </a:solidFill>
                <a:latin typeface="Arial"/>
                <a:ea typeface="Arial"/>
                <a:cs typeface="Arial"/>
                <a:sym typeface="Arial"/>
              </a:rPr>
              <a:t>What does the json method do in Laravel's response?</a:t>
            </a:r>
            <a:endParaRPr sz="3200">
              <a:solidFill>
                <a:srgbClr val="292934"/>
              </a:solidFill>
              <a:latin typeface="Arial"/>
              <a:ea typeface="Arial"/>
              <a:cs typeface="Arial"/>
              <a:sym typeface="Arial"/>
            </a:endParaRPr>
          </a:p>
          <a:p>
            <a:pPr indent="-144017" lvl="0" marL="182880" rtl="0" algn="l">
              <a:lnSpc>
                <a:spcPct val="100000"/>
              </a:lnSpc>
              <a:spcBef>
                <a:spcPts val="640"/>
              </a:spcBef>
              <a:spcAft>
                <a:spcPts val="0"/>
              </a:spcAft>
              <a:buClr>
                <a:srgbClr val="93A299"/>
              </a:buClr>
              <a:buSzPct val="85000"/>
              <a:buChar char="•"/>
            </a:pPr>
            <a:r>
              <a:rPr lang="en-US" sz="3200">
                <a:solidFill>
                  <a:srgbClr val="292934"/>
                </a:solidFill>
                <a:latin typeface="Arial"/>
                <a:ea typeface="Arial"/>
                <a:cs typeface="Arial"/>
                <a:sym typeface="Arial"/>
              </a:rPr>
              <a:t>A) Converts the response to plain text</a:t>
            </a:r>
            <a:endParaRPr sz="2400">
              <a:solidFill>
                <a:srgbClr val="292934"/>
              </a:solidFill>
              <a:latin typeface="Arial"/>
              <a:ea typeface="Arial"/>
              <a:cs typeface="Arial"/>
              <a:sym typeface="Arial"/>
            </a:endParaRPr>
          </a:p>
          <a:p>
            <a:pPr indent="-144017" lvl="0" marL="182880" rtl="0" algn="l">
              <a:lnSpc>
                <a:spcPct val="100000"/>
              </a:lnSpc>
              <a:spcBef>
                <a:spcPts val="640"/>
              </a:spcBef>
              <a:spcAft>
                <a:spcPts val="0"/>
              </a:spcAft>
              <a:buClr>
                <a:srgbClr val="93A299"/>
              </a:buClr>
              <a:buSzPct val="85000"/>
              <a:buChar char="•"/>
            </a:pPr>
            <a:r>
              <a:rPr b="1" lang="en-US" sz="3200">
                <a:solidFill>
                  <a:srgbClr val="00B050"/>
                </a:solidFill>
                <a:latin typeface="Arial"/>
                <a:ea typeface="Arial"/>
                <a:cs typeface="Arial"/>
                <a:sym typeface="Arial"/>
              </a:rPr>
              <a:t>B) Sets the response content to JSON format</a:t>
            </a:r>
            <a:endParaRPr sz="2400">
              <a:solidFill>
                <a:srgbClr val="292934"/>
              </a:solidFill>
              <a:latin typeface="Arial"/>
              <a:ea typeface="Arial"/>
              <a:cs typeface="Arial"/>
              <a:sym typeface="Arial"/>
            </a:endParaRPr>
          </a:p>
          <a:p>
            <a:pPr indent="-144017" lvl="0" marL="182880" rtl="0" algn="l">
              <a:lnSpc>
                <a:spcPct val="100000"/>
              </a:lnSpc>
              <a:spcBef>
                <a:spcPts val="640"/>
              </a:spcBef>
              <a:spcAft>
                <a:spcPts val="0"/>
              </a:spcAft>
              <a:buClr>
                <a:srgbClr val="93A299"/>
              </a:buClr>
              <a:buSzPct val="85000"/>
              <a:buChar char="•"/>
            </a:pPr>
            <a:r>
              <a:rPr lang="en-US" sz="3200">
                <a:solidFill>
                  <a:srgbClr val="292934"/>
                </a:solidFill>
                <a:latin typeface="Arial"/>
                <a:ea typeface="Arial"/>
                <a:cs typeface="Arial"/>
                <a:sym typeface="Arial"/>
              </a:rPr>
              <a:t>C) Converts the response to XML</a:t>
            </a:r>
            <a:endParaRPr sz="2400">
              <a:solidFill>
                <a:srgbClr val="292934"/>
              </a:solidFill>
              <a:latin typeface="Arial"/>
              <a:ea typeface="Arial"/>
              <a:cs typeface="Arial"/>
              <a:sym typeface="Arial"/>
            </a:endParaRPr>
          </a:p>
          <a:p>
            <a:pPr indent="-144017" lvl="0" marL="182880" rtl="0" algn="l">
              <a:lnSpc>
                <a:spcPct val="100000"/>
              </a:lnSpc>
              <a:spcBef>
                <a:spcPts val="640"/>
              </a:spcBef>
              <a:spcAft>
                <a:spcPts val="0"/>
              </a:spcAft>
              <a:buClr>
                <a:srgbClr val="93A299"/>
              </a:buClr>
              <a:buSzPct val="85000"/>
              <a:buChar char="•"/>
            </a:pPr>
            <a:r>
              <a:rPr lang="en-US" sz="3200">
                <a:solidFill>
                  <a:srgbClr val="292934"/>
                </a:solidFill>
                <a:latin typeface="Arial"/>
                <a:ea typeface="Arial"/>
                <a:cs typeface="Arial"/>
                <a:sym typeface="Arial"/>
              </a:rPr>
              <a:t>D) Attaches JavaScript code to the response</a:t>
            </a:r>
            <a:endParaRPr sz="3200">
              <a:solidFill>
                <a:srgbClr val="292934"/>
              </a:solidFill>
              <a:latin typeface="Arial"/>
              <a:ea typeface="Arial"/>
              <a:cs typeface="Arial"/>
              <a:sym typeface="Arial"/>
            </a:endParaRPr>
          </a:p>
          <a:p>
            <a:pPr indent="0" lvl="0" marL="0" rtl="0" algn="l">
              <a:spcBef>
                <a:spcPts val="1000"/>
              </a:spcBef>
              <a:spcAft>
                <a:spcPts val="0"/>
              </a:spcAft>
              <a:buNone/>
            </a:pPr>
            <a:r>
              <a:t/>
            </a:r>
            <a:endParaRPr/>
          </a:p>
        </p:txBody>
      </p:sp>
      <p:pic>
        <p:nvPicPr>
          <p:cNvPr id="523" name="Google Shape;523;g3d7ce474ce2_0_41"/>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d7ce474ce2_0_53"/>
          <p:cNvSpPr txBox="1"/>
          <p:nvPr>
            <p:ph type="title"/>
          </p:nvPr>
        </p:nvSpPr>
        <p:spPr>
          <a:xfrm>
            <a:off x="838200" y="114375"/>
            <a:ext cx="10515600" cy="1068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Subrouting</a:t>
            </a:r>
            <a:endParaRPr/>
          </a:p>
        </p:txBody>
      </p:sp>
      <p:sp>
        <p:nvSpPr>
          <p:cNvPr id="529" name="Google Shape;529;g3d7ce474ce2_0_53"/>
          <p:cNvSpPr txBox="1"/>
          <p:nvPr>
            <p:ph idx="1" type="body"/>
          </p:nvPr>
        </p:nvSpPr>
        <p:spPr>
          <a:xfrm>
            <a:off x="838200" y="922825"/>
            <a:ext cx="10515600" cy="5253900"/>
          </a:xfrm>
          <a:prstGeom prst="rect">
            <a:avLst/>
          </a:prstGeom>
        </p:spPr>
        <p:txBody>
          <a:bodyPr anchorCtr="0" anchor="t" bIns="45700" lIns="91425" spcFirstLastPara="1" rIns="91425" wrap="square" tIns="45700">
            <a:normAutofit/>
          </a:bodyPr>
          <a:lstStyle/>
          <a:p>
            <a:pPr indent="0" lvl="0" marL="0" rtl="0" algn="l">
              <a:lnSpc>
                <a:spcPct val="85714"/>
              </a:lnSpc>
              <a:spcBef>
                <a:spcPts val="0"/>
              </a:spcBef>
              <a:spcAft>
                <a:spcPts val="0"/>
              </a:spcAft>
              <a:buClr>
                <a:srgbClr val="267F99"/>
              </a:buClr>
              <a:buSzPts val="2800"/>
              <a:buFont typeface="Arial"/>
              <a:buNone/>
            </a:pPr>
            <a:r>
              <a:rPr lang="en-US">
                <a:solidFill>
                  <a:srgbClr val="267F99"/>
                </a:solidFill>
                <a:latin typeface="Consolas"/>
                <a:ea typeface="Consolas"/>
                <a:cs typeface="Consolas"/>
                <a:sym typeface="Consolas"/>
              </a:rPr>
              <a:t>Route</a:t>
            </a:r>
            <a:r>
              <a:rPr lang="en-US">
                <a:latin typeface="Consolas"/>
                <a:ea typeface="Consolas"/>
                <a:cs typeface="Consolas"/>
                <a:sym typeface="Consolas"/>
              </a:rPr>
              <a:t>::</a:t>
            </a:r>
            <a:r>
              <a:rPr lang="en-US">
                <a:solidFill>
                  <a:srgbClr val="795E26"/>
                </a:solidFill>
                <a:latin typeface="Consolas"/>
                <a:ea typeface="Consolas"/>
                <a:cs typeface="Consolas"/>
                <a:sym typeface="Consolas"/>
              </a:rPr>
              <a:t>get</a:t>
            </a:r>
            <a:r>
              <a:rPr lang="en-US">
                <a:latin typeface="Consolas"/>
                <a:ea typeface="Consolas"/>
                <a:cs typeface="Consolas"/>
                <a:sym typeface="Consolas"/>
              </a:rPr>
              <a:t>(</a:t>
            </a:r>
            <a:r>
              <a:rPr lang="en-US">
                <a:solidFill>
                  <a:srgbClr val="A31515"/>
                </a:solidFill>
                <a:latin typeface="Consolas"/>
                <a:ea typeface="Consolas"/>
                <a:cs typeface="Consolas"/>
                <a:sym typeface="Consolas"/>
              </a:rPr>
              <a:t>'/home/page'</a:t>
            </a:r>
            <a:r>
              <a:rPr lang="en-US">
                <a:latin typeface="Consolas"/>
                <a:ea typeface="Consolas"/>
                <a:cs typeface="Consolas"/>
                <a:sym typeface="Consolas"/>
              </a:rPr>
              <a:t>,</a:t>
            </a:r>
            <a:r>
              <a:rPr lang="en-US">
                <a:solidFill>
                  <a:srgbClr val="0000FF"/>
                </a:solidFill>
                <a:latin typeface="Consolas"/>
                <a:ea typeface="Consolas"/>
                <a:cs typeface="Consolas"/>
                <a:sym typeface="Consolas"/>
              </a:rPr>
              <a:t>function</a:t>
            </a:r>
            <a:r>
              <a:rPr lang="en-US">
                <a:latin typeface="Consolas"/>
                <a:ea typeface="Consolas"/>
                <a:cs typeface="Consolas"/>
                <a:sym typeface="Consolas"/>
              </a:rPr>
              <a:t>(){</a:t>
            </a:r>
            <a:endParaRPr/>
          </a:p>
          <a:p>
            <a:pPr indent="0" lvl="0" marL="0" rtl="0" algn="l">
              <a:lnSpc>
                <a:spcPct val="85714"/>
              </a:lnSpc>
              <a:spcBef>
                <a:spcPts val="1000"/>
              </a:spcBef>
              <a:spcAft>
                <a:spcPts val="0"/>
              </a:spcAft>
              <a:buClr>
                <a:srgbClr val="AF00DB"/>
              </a:buClr>
              <a:buSzPts val="2800"/>
              <a:buFont typeface="Arial"/>
              <a:buNone/>
            </a:pPr>
            <a:r>
              <a:rPr lang="en-US">
                <a:solidFill>
                  <a:srgbClr val="AF00DB"/>
                </a:solidFill>
                <a:latin typeface="Consolas"/>
                <a:ea typeface="Consolas"/>
                <a:cs typeface="Consolas"/>
                <a:sym typeface="Consolas"/>
              </a:rPr>
              <a:t>return</a:t>
            </a:r>
            <a:r>
              <a:rPr lang="en-US">
                <a:latin typeface="Consolas"/>
                <a:ea typeface="Consolas"/>
                <a:cs typeface="Consolas"/>
                <a:sym typeface="Consolas"/>
              </a:rPr>
              <a:t> </a:t>
            </a:r>
            <a:r>
              <a:rPr lang="en-US">
                <a:solidFill>
                  <a:srgbClr val="A31515"/>
                </a:solidFill>
                <a:latin typeface="Consolas"/>
                <a:ea typeface="Consolas"/>
                <a:cs typeface="Consolas"/>
                <a:sym typeface="Consolas"/>
              </a:rPr>
              <a:t>"&lt;h1 style='color:red'&gt; This is sub routing &lt;/h1&gt;"</a:t>
            </a:r>
            <a:r>
              <a:rPr lang="en-US">
                <a:latin typeface="Consolas"/>
                <a:ea typeface="Consolas"/>
                <a:cs typeface="Consolas"/>
                <a:sym typeface="Consolas"/>
              </a:rPr>
              <a:t>;</a:t>
            </a:r>
            <a:endParaRPr/>
          </a:p>
          <a:p>
            <a:pPr indent="0" lvl="0" marL="0" rtl="0" algn="l">
              <a:lnSpc>
                <a:spcPct val="85714"/>
              </a:lnSpc>
              <a:spcBef>
                <a:spcPts val="1000"/>
              </a:spcBef>
              <a:spcAft>
                <a:spcPts val="0"/>
              </a:spcAft>
              <a:buNone/>
            </a:pPr>
            <a:r>
              <a:rPr lang="en-US">
                <a:latin typeface="Consolas"/>
                <a:ea typeface="Consolas"/>
                <a:cs typeface="Consolas"/>
                <a:sym typeface="Consolas"/>
              </a:rPr>
              <a:t>});</a:t>
            </a:r>
            <a:endParaRPr>
              <a:latin typeface="Consolas"/>
              <a:ea typeface="Consolas"/>
              <a:cs typeface="Consolas"/>
              <a:sym typeface="Consolas"/>
            </a:endParaRPr>
          </a:p>
          <a:p>
            <a:pPr indent="0" lvl="0" marL="0" rtl="0" algn="l">
              <a:lnSpc>
                <a:spcPct val="85714"/>
              </a:lnSpc>
              <a:spcBef>
                <a:spcPts val="1000"/>
              </a:spcBef>
              <a:spcAft>
                <a:spcPts val="0"/>
              </a:spcAft>
              <a:buNone/>
            </a:pPr>
            <a:r>
              <a:t/>
            </a:r>
            <a:endParaRPr>
              <a:latin typeface="Consolas"/>
              <a:ea typeface="Consolas"/>
              <a:cs typeface="Consolas"/>
              <a:sym typeface="Consolas"/>
            </a:endParaRPr>
          </a:p>
          <a:p>
            <a:pPr indent="0" lvl="0" marL="0" rtl="0" algn="l">
              <a:spcBef>
                <a:spcPts val="0"/>
              </a:spcBef>
              <a:spcAft>
                <a:spcPts val="0"/>
              </a:spcAft>
              <a:buNone/>
            </a:pPr>
            <a:r>
              <a:rPr b="1" lang="en-US" sz="4400"/>
              <a:t>Named Routes</a:t>
            </a:r>
            <a:endParaRPr b="1" sz="4400"/>
          </a:p>
          <a:p>
            <a:pPr indent="0" lvl="0" marL="0" rtl="0" algn="l">
              <a:lnSpc>
                <a:spcPct val="85714"/>
              </a:lnSpc>
              <a:spcBef>
                <a:spcPts val="0"/>
              </a:spcBef>
              <a:spcAft>
                <a:spcPts val="0"/>
              </a:spcAft>
              <a:buNone/>
            </a:pPr>
            <a:r>
              <a:rPr lang="en-US">
                <a:solidFill>
                  <a:srgbClr val="267F99"/>
                </a:solidFill>
                <a:latin typeface="Consolas"/>
                <a:ea typeface="Consolas"/>
                <a:cs typeface="Consolas"/>
                <a:sym typeface="Consolas"/>
              </a:rPr>
              <a:t>Route</a:t>
            </a:r>
            <a:r>
              <a:rPr lang="en-US">
                <a:latin typeface="Consolas"/>
                <a:ea typeface="Consolas"/>
                <a:cs typeface="Consolas"/>
                <a:sym typeface="Consolas"/>
              </a:rPr>
              <a:t>::</a:t>
            </a:r>
            <a:r>
              <a:rPr lang="en-US">
                <a:solidFill>
                  <a:srgbClr val="795E26"/>
                </a:solidFill>
                <a:latin typeface="Consolas"/>
                <a:ea typeface="Consolas"/>
                <a:cs typeface="Consolas"/>
                <a:sym typeface="Consolas"/>
              </a:rPr>
              <a:t>get</a:t>
            </a:r>
            <a:r>
              <a:rPr lang="en-US">
                <a:latin typeface="Consolas"/>
                <a:ea typeface="Consolas"/>
                <a:cs typeface="Consolas"/>
                <a:sym typeface="Consolas"/>
              </a:rPr>
              <a:t>(</a:t>
            </a:r>
            <a:r>
              <a:rPr lang="en-US">
                <a:solidFill>
                  <a:srgbClr val="A31515"/>
                </a:solidFill>
                <a:latin typeface="Consolas"/>
                <a:ea typeface="Consolas"/>
                <a:cs typeface="Consolas"/>
                <a:sym typeface="Consolas"/>
              </a:rPr>
              <a:t>'/name/lpu/about'</a:t>
            </a:r>
            <a:r>
              <a:rPr lang="en-US">
                <a:latin typeface="Consolas"/>
                <a:ea typeface="Consolas"/>
                <a:cs typeface="Consolas"/>
                <a:sym typeface="Consolas"/>
              </a:rPr>
              <a:t>,</a:t>
            </a:r>
            <a:r>
              <a:rPr lang="en-US">
                <a:solidFill>
                  <a:srgbClr val="0000FF"/>
                </a:solidFill>
                <a:latin typeface="Consolas"/>
                <a:ea typeface="Consolas"/>
                <a:cs typeface="Consolas"/>
                <a:sym typeface="Consolas"/>
              </a:rPr>
              <a:t>function</a:t>
            </a:r>
            <a:r>
              <a:rPr lang="en-US">
                <a:latin typeface="Consolas"/>
                <a:ea typeface="Consolas"/>
                <a:cs typeface="Consolas"/>
                <a:sym typeface="Consolas"/>
              </a:rPr>
              <a:t>(){</a:t>
            </a:r>
            <a:endParaRPr/>
          </a:p>
          <a:p>
            <a:pPr indent="0" lvl="0" marL="0" rtl="0" algn="l">
              <a:lnSpc>
                <a:spcPct val="85714"/>
              </a:lnSpc>
              <a:spcBef>
                <a:spcPts val="1000"/>
              </a:spcBef>
              <a:spcAft>
                <a:spcPts val="0"/>
              </a:spcAft>
              <a:buNone/>
            </a:pPr>
            <a:r>
              <a:rPr lang="en-US">
                <a:solidFill>
                  <a:srgbClr val="AF00DB"/>
                </a:solidFill>
                <a:latin typeface="Consolas"/>
                <a:ea typeface="Consolas"/>
                <a:cs typeface="Consolas"/>
                <a:sym typeface="Consolas"/>
              </a:rPr>
              <a:t>return</a:t>
            </a:r>
            <a:r>
              <a:rPr lang="en-US">
                <a:latin typeface="Consolas"/>
                <a:ea typeface="Consolas"/>
                <a:cs typeface="Consolas"/>
                <a:sym typeface="Consolas"/>
              </a:rPr>
              <a:t> </a:t>
            </a:r>
            <a:r>
              <a:rPr lang="en-US">
                <a:solidFill>
                  <a:srgbClr val="795E26"/>
                </a:solidFill>
                <a:latin typeface="Consolas"/>
                <a:ea typeface="Consolas"/>
                <a:cs typeface="Consolas"/>
                <a:sym typeface="Consolas"/>
              </a:rPr>
              <a:t>view</a:t>
            </a:r>
            <a:r>
              <a:rPr lang="en-US">
                <a:latin typeface="Consolas"/>
                <a:ea typeface="Consolas"/>
                <a:cs typeface="Consolas"/>
                <a:sym typeface="Consolas"/>
              </a:rPr>
              <a:t>(</a:t>
            </a:r>
            <a:r>
              <a:rPr lang="en-US">
                <a:solidFill>
                  <a:srgbClr val="A31515"/>
                </a:solidFill>
                <a:latin typeface="Consolas"/>
                <a:ea typeface="Consolas"/>
                <a:cs typeface="Consolas"/>
                <a:sym typeface="Consolas"/>
              </a:rPr>
              <a:t>"aboutus"</a:t>
            </a:r>
            <a:r>
              <a:rPr lang="en-US">
                <a:latin typeface="Consolas"/>
                <a:ea typeface="Consolas"/>
                <a:cs typeface="Consolas"/>
                <a:sym typeface="Consolas"/>
              </a:rPr>
              <a:t>);</a:t>
            </a:r>
            <a:endParaRPr/>
          </a:p>
          <a:p>
            <a:pPr indent="0" lvl="0" marL="0" rtl="0" algn="l">
              <a:lnSpc>
                <a:spcPct val="85714"/>
              </a:lnSpc>
              <a:spcBef>
                <a:spcPts val="1000"/>
              </a:spcBef>
              <a:spcAft>
                <a:spcPts val="0"/>
              </a:spcAft>
              <a:buNone/>
            </a:pPr>
            <a:r>
              <a:rPr lang="en-US">
                <a:latin typeface="Consolas"/>
                <a:ea typeface="Consolas"/>
                <a:cs typeface="Consolas"/>
                <a:sym typeface="Consolas"/>
              </a:rPr>
              <a:t>        });</a:t>
            </a:r>
            <a:endParaRPr/>
          </a:p>
          <a:p>
            <a:pPr indent="0" lvl="0" marL="0" rtl="0" algn="l">
              <a:spcBef>
                <a:spcPts val="1000"/>
              </a:spcBef>
              <a:spcAft>
                <a:spcPts val="0"/>
              </a:spcAft>
              <a:buNone/>
            </a:pPr>
            <a:r>
              <a:rPr lang="en-US"/>
              <a:t>Upon going on </a:t>
            </a:r>
            <a:r>
              <a:rPr lang="en-US" u="sng">
                <a:solidFill>
                  <a:schemeClr val="hlink"/>
                </a:solidFill>
                <a:hlinkClick r:id="rId3"/>
              </a:rPr>
              <a:t>http://127.0.0.1:8000/name/lpu/about</a:t>
            </a:r>
            <a:r>
              <a:rPr lang="en-US"/>
              <a:t>, it will open aboutus.blade.php</a:t>
            </a:r>
            <a:endParaRPr/>
          </a:p>
        </p:txBody>
      </p:sp>
      <p:pic>
        <p:nvPicPr>
          <p:cNvPr id="530" name="Google Shape;530;g3d7ce474ce2_0_53"/>
          <p:cNvPicPr preferRelativeResize="0"/>
          <p:nvPr/>
        </p:nvPicPr>
        <p:blipFill rotWithShape="1">
          <a:blip r:embed="rId4">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g3d7ce474ce2_0_70"/>
          <p:cNvSpPr txBox="1"/>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lang="en-US" sz="4400">
                <a:solidFill>
                  <a:srgbClr val="000000"/>
                </a:solidFill>
                <a:latin typeface="Calibri"/>
                <a:ea typeface="Calibri"/>
                <a:cs typeface="Calibri"/>
                <a:sym typeface="Calibri"/>
              </a:rPr>
              <a:t>If I want to use the same route in multiple blade files</a:t>
            </a:r>
            <a:endParaRPr sz="4400">
              <a:solidFill>
                <a:srgbClr val="000000"/>
              </a:solidFill>
              <a:latin typeface="Calibri"/>
              <a:ea typeface="Calibri"/>
              <a:cs typeface="Calibri"/>
              <a:sym typeface="Calibri"/>
            </a:endParaRPr>
          </a:p>
        </p:txBody>
      </p:sp>
      <p:pic>
        <p:nvPicPr>
          <p:cNvPr id="536" name="Google Shape;536;g3d7ce474ce2_0_70"/>
          <p:cNvPicPr preferRelativeResize="0"/>
          <p:nvPr>
            <p:ph idx="1" type="body"/>
          </p:nvPr>
        </p:nvPicPr>
        <p:blipFill rotWithShape="1">
          <a:blip r:embed="rId3">
            <a:alphaModFix/>
          </a:blip>
          <a:srcRect b="0" l="0" r="0" t="0"/>
          <a:stretch/>
        </p:blipFill>
        <p:spPr>
          <a:xfrm>
            <a:off x="1988464" y="1882750"/>
            <a:ext cx="8215200" cy="4237200"/>
          </a:xfrm>
          <a:prstGeom prst="rect">
            <a:avLst/>
          </a:prstGeom>
          <a:noFill/>
          <a:ln>
            <a:noFill/>
          </a:ln>
        </p:spPr>
      </p:pic>
      <p:pic>
        <p:nvPicPr>
          <p:cNvPr id="537" name="Google Shape;537;g3d7ce474ce2_0_70"/>
          <p:cNvPicPr preferRelativeResize="0"/>
          <p:nvPr/>
        </p:nvPicPr>
        <p:blipFill rotWithShape="1">
          <a:blip r:embed="rId4">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g3d7ce474ce2_0_77"/>
          <p:cNvSpPr txBox="1"/>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lang="en-US" sz="4400">
                <a:solidFill>
                  <a:srgbClr val="000000"/>
                </a:solidFill>
                <a:latin typeface="Calibri"/>
                <a:ea typeface="Calibri"/>
                <a:cs typeface="Calibri"/>
                <a:sym typeface="Calibri"/>
              </a:rPr>
              <a:t>Suppose I need to change the Route name</a:t>
            </a:r>
            <a:endParaRPr sz="4400">
              <a:solidFill>
                <a:srgbClr val="000000"/>
              </a:solidFill>
              <a:latin typeface="Calibri"/>
              <a:ea typeface="Calibri"/>
              <a:cs typeface="Calibri"/>
              <a:sym typeface="Calibri"/>
            </a:endParaRPr>
          </a:p>
        </p:txBody>
      </p:sp>
      <p:pic>
        <p:nvPicPr>
          <p:cNvPr id="543" name="Google Shape;543;g3d7ce474ce2_0_77"/>
          <p:cNvPicPr preferRelativeResize="0"/>
          <p:nvPr>
            <p:ph idx="1" type="body"/>
          </p:nvPr>
        </p:nvPicPr>
        <p:blipFill rotWithShape="1">
          <a:blip r:embed="rId3">
            <a:alphaModFix/>
          </a:blip>
          <a:srcRect b="0" l="0" r="0" t="0"/>
          <a:stretch/>
        </p:blipFill>
        <p:spPr>
          <a:xfrm>
            <a:off x="1929105" y="1825625"/>
            <a:ext cx="8333700" cy="4351200"/>
          </a:xfrm>
          <a:prstGeom prst="rect">
            <a:avLst/>
          </a:prstGeom>
          <a:noFill/>
          <a:ln>
            <a:noFill/>
          </a:ln>
        </p:spPr>
      </p:pic>
      <p:pic>
        <p:nvPicPr>
          <p:cNvPr id="544" name="Google Shape;544;g3d7ce474ce2_0_77"/>
          <p:cNvPicPr preferRelativeResize="0"/>
          <p:nvPr/>
        </p:nvPicPr>
        <p:blipFill rotWithShape="1">
          <a:blip r:embed="rId4">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g3d7ce474ce2_0_84"/>
          <p:cNvSpPr txBox="1"/>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t/>
            </a:r>
            <a:endParaRPr sz="4400">
              <a:solidFill>
                <a:srgbClr val="000000"/>
              </a:solidFill>
              <a:latin typeface="Calibri"/>
              <a:ea typeface="Calibri"/>
              <a:cs typeface="Calibri"/>
              <a:sym typeface="Calibri"/>
            </a:endParaRPr>
          </a:p>
        </p:txBody>
      </p:sp>
      <p:sp>
        <p:nvSpPr>
          <p:cNvPr id="550" name="Google Shape;550;g3d7ce474ce2_0_84"/>
          <p:cNvSpPr txBox="1"/>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lang="en-US" sz="4400">
                <a:solidFill>
                  <a:srgbClr val="000000"/>
                </a:solidFill>
                <a:latin typeface="Calibri"/>
                <a:ea typeface="Calibri"/>
                <a:cs typeface="Calibri"/>
                <a:sym typeface="Calibri"/>
              </a:rPr>
              <a:t>Add name(‘about’); in Routes</a:t>
            </a:r>
            <a:endParaRPr sz="4400">
              <a:solidFill>
                <a:srgbClr val="000000"/>
              </a:solidFill>
              <a:latin typeface="Calibri"/>
              <a:ea typeface="Calibri"/>
              <a:cs typeface="Calibri"/>
              <a:sym typeface="Calibri"/>
            </a:endParaRPr>
          </a:p>
        </p:txBody>
      </p:sp>
      <p:pic>
        <p:nvPicPr>
          <p:cNvPr id="551" name="Google Shape;551;g3d7ce474ce2_0_84"/>
          <p:cNvPicPr preferRelativeResize="0"/>
          <p:nvPr>
            <p:ph idx="1" type="body"/>
          </p:nvPr>
        </p:nvPicPr>
        <p:blipFill rotWithShape="1">
          <a:blip r:embed="rId3">
            <a:alphaModFix/>
          </a:blip>
          <a:srcRect b="0" l="0" r="0" t="0"/>
          <a:stretch/>
        </p:blipFill>
        <p:spPr>
          <a:xfrm>
            <a:off x="1877964" y="1897991"/>
            <a:ext cx="8436000" cy="4206600"/>
          </a:xfrm>
          <a:prstGeom prst="rect">
            <a:avLst/>
          </a:prstGeom>
          <a:noFill/>
          <a:ln>
            <a:noFill/>
          </a:ln>
        </p:spPr>
      </p:pic>
      <p:pic>
        <p:nvPicPr>
          <p:cNvPr id="552" name="Google Shape;552;g3d7ce474ce2_0_84"/>
          <p:cNvPicPr preferRelativeResize="0"/>
          <p:nvPr/>
        </p:nvPicPr>
        <p:blipFill rotWithShape="1">
          <a:blip r:embed="rId4">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g3d7ce474ce2_0_148"/>
          <p:cNvSpPr txBox="1"/>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lang="en-US" sz="4400">
                <a:solidFill>
                  <a:srgbClr val="000000"/>
                </a:solidFill>
                <a:latin typeface="Calibri"/>
                <a:ea typeface="Calibri"/>
                <a:cs typeface="Calibri"/>
                <a:sym typeface="Calibri"/>
              </a:rPr>
              <a:t>Add route function in blade template</a:t>
            </a:r>
            <a:endParaRPr sz="4400">
              <a:solidFill>
                <a:srgbClr val="000000"/>
              </a:solidFill>
              <a:latin typeface="Calibri"/>
              <a:ea typeface="Calibri"/>
              <a:cs typeface="Calibri"/>
              <a:sym typeface="Calibri"/>
            </a:endParaRPr>
          </a:p>
        </p:txBody>
      </p:sp>
      <p:pic>
        <p:nvPicPr>
          <p:cNvPr id="558" name="Google Shape;558;g3d7ce474ce2_0_148"/>
          <p:cNvPicPr preferRelativeResize="0"/>
          <p:nvPr>
            <p:ph idx="1" type="body"/>
          </p:nvPr>
        </p:nvPicPr>
        <p:blipFill rotWithShape="1">
          <a:blip r:embed="rId3">
            <a:alphaModFix/>
          </a:blip>
          <a:srcRect b="0" l="0" r="0" t="0"/>
          <a:stretch/>
        </p:blipFill>
        <p:spPr>
          <a:xfrm>
            <a:off x="1380998" y="1337945"/>
            <a:ext cx="8861100" cy="4351200"/>
          </a:xfrm>
          <a:prstGeom prst="rect">
            <a:avLst/>
          </a:prstGeom>
          <a:noFill/>
          <a:ln>
            <a:noFill/>
          </a:ln>
        </p:spPr>
      </p:pic>
      <p:sp>
        <p:nvSpPr>
          <p:cNvPr id="559" name="Google Shape;559;g3d7ce474ce2_0_148"/>
          <p:cNvSpPr txBox="1"/>
          <p:nvPr/>
        </p:nvSpPr>
        <p:spPr>
          <a:xfrm>
            <a:off x="751840" y="5801360"/>
            <a:ext cx="96012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00000"/>
                </a:solidFill>
                <a:latin typeface="Calibri"/>
                <a:ea typeface="Calibri"/>
                <a:cs typeface="Calibri"/>
                <a:sym typeface="Calibri"/>
              </a:rPr>
              <a:t>Giving the name to route with  name(‘about’);</a:t>
            </a:r>
            <a:endParaRPr/>
          </a:p>
          <a:p>
            <a:pPr indent="0" lvl="0" marL="0" marR="0" rtl="0" algn="l">
              <a:spcBef>
                <a:spcPts val="0"/>
              </a:spcBef>
              <a:spcAft>
                <a:spcPts val="0"/>
              </a:spcAft>
              <a:buNone/>
            </a:pPr>
            <a:r>
              <a:rPr lang="en-US" sz="1800">
                <a:solidFill>
                  <a:srgbClr val="000000"/>
                </a:solidFill>
                <a:latin typeface="Calibri"/>
                <a:ea typeface="Calibri"/>
                <a:cs typeface="Calibri"/>
                <a:sym typeface="Calibri"/>
              </a:rPr>
              <a:t>Use route (‘about’) in Blade template</a:t>
            </a:r>
            <a:endParaRPr sz="1800">
              <a:solidFill>
                <a:srgbClr val="000000"/>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g3d7ce474ce2_0_91"/>
          <p:cNvSpPr txBox="1"/>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t/>
            </a:r>
            <a:endParaRPr sz="4400">
              <a:solidFill>
                <a:srgbClr val="000000"/>
              </a:solidFill>
              <a:latin typeface="Calibri"/>
              <a:ea typeface="Calibri"/>
              <a:cs typeface="Calibri"/>
              <a:sym typeface="Calibri"/>
            </a:endParaRPr>
          </a:p>
        </p:txBody>
      </p:sp>
      <p:sp>
        <p:nvSpPr>
          <p:cNvPr id="565" name="Google Shape;565;g3d7ce474ce2_0_91"/>
          <p:cNvSpPr txBox="1"/>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t/>
            </a:r>
            <a:endParaRPr sz="4400">
              <a:solidFill>
                <a:srgbClr val="000000"/>
              </a:solidFill>
              <a:latin typeface="Calibri"/>
              <a:ea typeface="Calibri"/>
              <a:cs typeface="Calibri"/>
              <a:sym typeface="Calibri"/>
            </a:endParaRPr>
          </a:p>
        </p:txBody>
      </p:sp>
      <p:sp>
        <p:nvSpPr>
          <p:cNvPr id="566" name="Google Shape;566;g3d7ce474ce2_0_91"/>
          <p:cNvSpPr txBox="1"/>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t/>
            </a:r>
            <a:endParaRPr sz="4400">
              <a:solidFill>
                <a:srgbClr val="000000"/>
              </a:solidFill>
              <a:latin typeface="Calibri"/>
              <a:ea typeface="Calibri"/>
              <a:cs typeface="Calibri"/>
              <a:sym typeface="Calibri"/>
            </a:endParaRPr>
          </a:p>
        </p:txBody>
      </p:sp>
      <p:sp>
        <p:nvSpPr>
          <p:cNvPr id="567" name="Google Shape;567;g3d7ce474ce2_0_91"/>
          <p:cNvSpPr txBox="1"/>
          <p:nvPr/>
        </p:nvSpPr>
        <p:spPr>
          <a:xfrm>
            <a:off x="838200" y="246125"/>
            <a:ext cx="10515600" cy="64287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None/>
            </a:pPr>
            <a:r>
              <a:rPr lang="en-US" sz="4400">
                <a:solidFill>
                  <a:schemeClr val="dk1"/>
                </a:solidFill>
                <a:latin typeface="Calibri"/>
                <a:ea typeface="Calibri"/>
                <a:cs typeface="Calibri"/>
                <a:sym typeface="Calibri"/>
              </a:rPr>
              <a:t>Benefits of named route</a:t>
            </a:r>
            <a:endParaRPr sz="4400">
              <a:solidFill>
                <a:schemeClr val="dk1"/>
              </a:solidFill>
              <a:latin typeface="Calibri"/>
              <a:ea typeface="Calibri"/>
              <a:cs typeface="Calibri"/>
              <a:sym typeface="Calibri"/>
            </a:endParaRPr>
          </a:p>
          <a:p>
            <a:pPr indent="-406400" lvl="0" marL="457200" rtl="0" algn="l">
              <a:lnSpc>
                <a:spcPct val="90000"/>
              </a:lnSpc>
              <a:spcBef>
                <a:spcPts val="0"/>
              </a:spcBef>
              <a:spcAft>
                <a:spcPts val="0"/>
              </a:spcAft>
              <a:buClr>
                <a:srgbClr val="000000"/>
              </a:buClr>
              <a:buSzPts val="2800"/>
              <a:buFont typeface="Calibri"/>
              <a:buChar char="●"/>
            </a:pPr>
            <a:r>
              <a:rPr lang="en-US" sz="2800">
                <a:solidFill>
                  <a:srgbClr val="000000"/>
                </a:solidFill>
                <a:latin typeface="Calibri"/>
                <a:ea typeface="Calibri"/>
                <a:cs typeface="Calibri"/>
                <a:sym typeface="Calibri"/>
              </a:rPr>
              <a:t>No need to change </a:t>
            </a:r>
            <a:r>
              <a:rPr lang="en-US" sz="2800">
                <a:latin typeface="Calibri"/>
                <a:ea typeface="Calibri"/>
                <a:cs typeface="Calibri"/>
                <a:sym typeface="Calibri"/>
              </a:rPr>
              <a:t>the</a:t>
            </a:r>
            <a:r>
              <a:rPr lang="en-US" sz="2800">
                <a:solidFill>
                  <a:srgbClr val="000000"/>
                </a:solidFill>
                <a:latin typeface="Calibri"/>
                <a:ea typeface="Calibri"/>
                <a:cs typeface="Calibri"/>
                <a:sym typeface="Calibri"/>
              </a:rPr>
              <a:t> &lt;a&gt; tag</a:t>
            </a:r>
            <a:endParaRPr sz="2800">
              <a:solidFill>
                <a:srgbClr val="000000"/>
              </a:solidFill>
              <a:latin typeface="Calibri"/>
              <a:ea typeface="Calibri"/>
              <a:cs typeface="Calibri"/>
              <a:sym typeface="Calibri"/>
            </a:endParaRPr>
          </a:p>
          <a:p>
            <a:pPr indent="-406400" lvl="0" marL="457200" rtl="0" algn="l">
              <a:lnSpc>
                <a:spcPct val="90000"/>
              </a:lnSpc>
              <a:spcBef>
                <a:spcPts val="0"/>
              </a:spcBef>
              <a:spcAft>
                <a:spcPts val="0"/>
              </a:spcAft>
              <a:buSzPts val="2800"/>
              <a:buFont typeface="Calibri"/>
              <a:buChar char="●"/>
            </a:pPr>
            <a:r>
              <a:rPr lang="en-US" sz="2800">
                <a:solidFill>
                  <a:srgbClr val="000000"/>
                </a:solidFill>
                <a:latin typeface="Calibri"/>
                <a:ea typeface="Calibri"/>
                <a:cs typeface="Calibri"/>
                <a:sym typeface="Calibri"/>
              </a:rPr>
              <a:t>Instead of using </a:t>
            </a:r>
            <a:r>
              <a:rPr lang="en-US" sz="2800">
                <a:latin typeface="Calibri"/>
                <a:ea typeface="Calibri"/>
                <a:cs typeface="Calibri"/>
                <a:sym typeface="Calibri"/>
              </a:rPr>
              <a:t>parent</a:t>
            </a:r>
            <a:r>
              <a:rPr lang="en-US" sz="2800">
                <a:solidFill>
                  <a:srgbClr val="000000"/>
                </a:solidFill>
                <a:latin typeface="Calibri"/>
                <a:ea typeface="Calibri"/>
                <a:cs typeface="Calibri"/>
                <a:sym typeface="Calibri"/>
              </a:rPr>
              <a:t> and </a:t>
            </a:r>
            <a:r>
              <a:rPr lang="en-US" sz="2800">
                <a:latin typeface="Calibri"/>
                <a:ea typeface="Calibri"/>
                <a:cs typeface="Calibri"/>
                <a:sym typeface="Calibri"/>
              </a:rPr>
              <a:t>sub-route naming (which</a:t>
            </a:r>
            <a:r>
              <a:rPr lang="en-US" sz="2800">
                <a:solidFill>
                  <a:srgbClr val="000000"/>
                </a:solidFill>
                <a:latin typeface="Calibri"/>
                <a:ea typeface="Calibri"/>
                <a:cs typeface="Calibri"/>
                <a:sym typeface="Calibri"/>
              </a:rPr>
              <a:t> is very large), we use named </a:t>
            </a:r>
            <a:r>
              <a:rPr lang="en-US" sz="2800">
                <a:latin typeface="Calibri"/>
                <a:ea typeface="Calibri"/>
                <a:cs typeface="Calibri"/>
                <a:sym typeface="Calibri"/>
              </a:rPr>
              <a:t>routes.</a:t>
            </a:r>
            <a:endParaRPr sz="2800">
              <a:latin typeface="Calibri"/>
              <a:ea typeface="Calibri"/>
              <a:cs typeface="Calibri"/>
              <a:sym typeface="Calibri"/>
            </a:endParaRPr>
          </a:p>
          <a:p>
            <a:pPr indent="0" lvl="0" marL="457200" rtl="0" algn="l">
              <a:lnSpc>
                <a:spcPct val="90000"/>
              </a:lnSpc>
              <a:spcBef>
                <a:spcPts val="1000"/>
              </a:spcBef>
              <a:spcAft>
                <a:spcPts val="0"/>
              </a:spcAft>
              <a:buNone/>
            </a:pPr>
            <a:r>
              <a:t/>
            </a:r>
            <a:endParaRPr sz="2800">
              <a:latin typeface="Calibri"/>
              <a:ea typeface="Calibri"/>
              <a:cs typeface="Calibri"/>
              <a:sym typeface="Calibri"/>
            </a:endParaRPr>
          </a:p>
          <a:p>
            <a:pPr indent="0" lvl="0" marL="228600" rtl="0" algn="l">
              <a:lnSpc>
                <a:spcPct val="90000"/>
              </a:lnSpc>
              <a:spcBef>
                <a:spcPts val="0"/>
              </a:spcBef>
              <a:spcAft>
                <a:spcPts val="0"/>
              </a:spcAft>
              <a:buNone/>
            </a:pPr>
            <a:r>
              <a:t/>
            </a:r>
            <a:endParaRPr sz="4276">
              <a:solidFill>
                <a:schemeClr val="dk1"/>
              </a:solidFill>
              <a:latin typeface="Calibri"/>
              <a:ea typeface="Calibri"/>
              <a:cs typeface="Calibri"/>
              <a:sym typeface="Calibri"/>
            </a:endParaRPr>
          </a:p>
          <a:p>
            <a:pPr indent="0" lvl="0" marL="228600" rtl="0" algn="l">
              <a:lnSpc>
                <a:spcPct val="90000"/>
              </a:lnSpc>
              <a:spcBef>
                <a:spcPts val="0"/>
              </a:spcBef>
              <a:spcAft>
                <a:spcPts val="0"/>
              </a:spcAft>
              <a:buNone/>
            </a:pPr>
            <a:r>
              <a:rPr lang="en-US" sz="4276">
                <a:solidFill>
                  <a:schemeClr val="dk1"/>
                </a:solidFill>
                <a:latin typeface="Calibri"/>
                <a:ea typeface="Calibri"/>
                <a:cs typeface="Calibri"/>
                <a:sym typeface="Calibri"/>
              </a:rPr>
              <a:t>Anchor Tag</a:t>
            </a:r>
            <a:endParaRPr sz="4276">
              <a:solidFill>
                <a:schemeClr val="dk1"/>
              </a:solidFill>
              <a:latin typeface="Calibri"/>
              <a:ea typeface="Calibri"/>
              <a:cs typeface="Calibri"/>
              <a:sym typeface="Calibri"/>
            </a:endParaRPr>
          </a:p>
          <a:p>
            <a:pPr indent="0" lvl="0" marL="1143000" rtl="0" algn="l">
              <a:lnSpc>
                <a:spcPct val="85714"/>
              </a:lnSpc>
              <a:spcBef>
                <a:spcPts val="0"/>
              </a:spcBef>
              <a:spcAft>
                <a:spcPts val="0"/>
              </a:spcAft>
              <a:buNone/>
            </a:pPr>
            <a:r>
              <a:rPr lang="en-US" sz="2721">
                <a:solidFill>
                  <a:srgbClr val="800000"/>
                </a:solidFill>
                <a:latin typeface="Consolas"/>
                <a:ea typeface="Consolas"/>
                <a:cs typeface="Consolas"/>
                <a:sym typeface="Consolas"/>
              </a:rPr>
              <a:t>&lt;h1&gt;</a:t>
            </a:r>
            <a:r>
              <a:rPr lang="en-US" sz="2721">
                <a:solidFill>
                  <a:schemeClr val="dk1"/>
                </a:solidFill>
                <a:latin typeface="Consolas"/>
                <a:ea typeface="Consolas"/>
                <a:cs typeface="Consolas"/>
                <a:sym typeface="Consolas"/>
              </a:rPr>
              <a:t> About Us </a:t>
            </a:r>
            <a:r>
              <a:rPr lang="en-US" sz="2721">
                <a:solidFill>
                  <a:srgbClr val="800000"/>
                </a:solidFill>
                <a:latin typeface="Consolas"/>
                <a:ea typeface="Consolas"/>
                <a:cs typeface="Consolas"/>
                <a:sym typeface="Consolas"/>
              </a:rPr>
              <a:t>&lt;/h1&gt;</a:t>
            </a:r>
            <a:endParaRPr sz="2721">
              <a:solidFill>
                <a:schemeClr val="dk1"/>
              </a:solidFill>
              <a:latin typeface="Consolas"/>
              <a:ea typeface="Consolas"/>
              <a:cs typeface="Consolas"/>
              <a:sym typeface="Consolas"/>
            </a:endParaRPr>
          </a:p>
          <a:p>
            <a:pPr indent="0" lvl="0" marL="1143000" rtl="0" algn="l">
              <a:lnSpc>
                <a:spcPct val="85714"/>
              </a:lnSpc>
              <a:spcBef>
                <a:spcPts val="972"/>
              </a:spcBef>
              <a:spcAft>
                <a:spcPts val="0"/>
              </a:spcAft>
              <a:buNone/>
            </a:pPr>
            <a:r>
              <a:rPr lang="en-US" sz="2721">
                <a:solidFill>
                  <a:srgbClr val="800000"/>
                </a:solidFill>
                <a:latin typeface="Consolas"/>
                <a:ea typeface="Consolas"/>
                <a:cs typeface="Consolas"/>
                <a:sym typeface="Consolas"/>
              </a:rPr>
              <a:t>&lt;h1&gt;</a:t>
            </a:r>
            <a:r>
              <a:rPr lang="en-US" sz="2721">
                <a:solidFill>
                  <a:schemeClr val="dk1"/>
                </a:solidFill>
                <a:latin typeface="Consolas"/>
                <a:ea typeface="Consolas"/>
                <a:cs typeface="Consolas"/>
                <a:sym typeface="Consolas"/>
              </a:rPr>
              <a:t> </a:t>
            </a:r>
            <a:r>
              <a:rPr lang="en-US" sz="2721">
                <a:solidFill>
                  <a:srgbClr val="795E26"/>
                </a:solidFill>
                <a:latin typeface="Consolas"/>
                <a:ea typeface="Consolas"/>
                <a:cs typeface="Consolas"/>
                <a:sym typeface="Consolas"/>
              </a:rPr>
              <a:t>{{</a:t>
            </a:r>
            <a:r>
              <a:rPr lang="en-US" sz="2721">
                <a:solidFill>
                  <a:srgbClr val="001080"/>
                </a:solidFill>
                <a:latin typeface="Consolas"/>
                <a:ea typeface="Consolas"/>
                <a:cs typeface="Consolas"/>
                <a:sym typeface="Consolas"/>
              </a:rPr>
              <a:t>$name</a:t>
            </a:r>
            <a:r>
              <a:rPr lang="en-US" sz="2721">
                <a:solidFill>
                  <a:srgbClr val="795E26"/>
                </a:solidFill>
                <a:latin typeface="Consolas"/>
                <a:ea typeface="Consolas"/>
                <a:cs typeface="Consolas"/>
                <a:sym typeface="Consolas"/>
              </a:rPr>
              <a:t>}}</a:t>
            </a:r>
            <a:r>
              <a:rPr lang="en-US" sz="2721">
                <a:solidFill>
                  <a:schemeClr val="dk1"/>
                </a:solidFill>
                <a:latin typeface="Consolas"/>
                <a:ea typeface="Consolas"/>
                <a:cs typeface="Consolas"/>
                <a:sym typeface="Consolas"/>
              </a:rPr>
              <a:t> </a:t>
            </a:r>
            <a:r>
              <a:rPr lang="en-US" sz="2721">
                <a:solidFill>
                  <a:srgbClr val="800000"/>
                </a:solidFill>
                <a:latin typeface="Consolas"/>
                <a:ea typeface="Consolas"/>
                <a:cs typeface="Consolas"/>
                <a:sym typeface="Consolas"/>
              </a:rPr>
              <a:t>&lt;/h1&gt;</a:t>
            </a:r>
            <a:endParaRPr sz="2721">
              <a:solidFill>
                <a:schemeClr val="dk1"/>
              </a:solidFill>
              <a:latin typeface="Consolas"/>
              <a:ea typeface="Consolas"/>
              <a:cs typeface="Consolas"/>
              <a:sym typeface="Consolas"/>
            </a:endParaRPr>
          </a:p>
          <a:p>
            <a:pPr indent="0" lvl="0" marL="1143000" rtl="0" algn="l">
              <a:lnSpc>
                <a:spcPct val="85714"/>
              </a:lnSpc>
              <a:spcBef>
                <a:spcPts val="972"/>
              </a:spcBef>
              <a:spcAft>
                <a:spcPts val="0"/>
              </a:spcAft>
              <a:buNone/>
            </a:pPr>
            <a:r>
              <a:rPr lang="en-US" sz="2721">
                <a:solidFill>
                  <a:srgbClr val="800000"/>
                </a:solidFill>
                <a:latin typeface="Consolas"/>
                <a:ea typeface="Consolas"/>
                <a:cs typeface="Consolas"/>
                <a:sym typeface="Consolas"/>
              </a:rPr>
              <a:t>&lt;a</a:t>
            </a:r>
            <a:r>
              <a:rPr lang="en-US" sz="2721">
                <a:solidFill>
                  <a:schemeClr val="dk1"/>
                </a:solidFill>
                <a:latin typeface="Consolas"/>
                <a:ea typeface="Consolas"/>
                <a:cs typeface="Consolas"/>
                <a:sym typeface="Consolas"/>
              </a:rPr>
              <a:t> </a:t>
            </a:r>
            <a:r>
              <a:rPr lang="en-US" sz="2721">
                <a:solidFill>
                  <a:srgbClr val="E50000"/>
                </a:solidFill>
                <a:latin typeface="Consolas"/>
                <a:ea typeface="Consolas"/>
                <a:cs typeface="Consolas"/>
                <a:sym typeface="Consolas"/>
              </a:rPr>
              <a:t>href</a:t>
            </a:r>
            <a:r>
              <a:rPr lang="en-US" sz="2721">
                <a:solidFill>
                  <a:schemeClr val="dk1"/>
                </a:solidFill>
                <a:latin typeface="Consolas"/>
                <a:ea typeface="Consolas"/>
                <a:cs typeface="Consolas"/>
                <a:sym typeface="Consolas"/>
              </a:rPr>
              <a:t>=</a:t>
            </a:r>
            <a:r>
              <a:rPr lang="en-US" sz="2721">
                <a:solidFill>
                  <a:srgbClr val="0000FF"/>
                </a:solidFill>
                <a:latin typeface="Consolas"/>
                <a:ea typeface="Consolas"/>
                <a:cs typeface="Consolas"/>
                <a:sym typeface="Consolas"/>
              </a:rPr>
              <a:t>"/"</a:t>
            </a:r>
            <a:r>
              <a:rPr lang="en-US" sz="2721">
                <a:solidFill>
                  <a:srgbClr val="800000"/>
                </a:solidFill>
                <a:latin typeface="Consolas"/>
                <a:ea typeface="Consolas"/>
                <a:cs typeface="Consolas"/>
                <a:sym typeface="Consolas"/>
              </a:rPr>
              <a:t>&gt;</a:t>
            </a:r>
            <a:r>
              <a:rPr lang="en-US" sz="2721">
                <a:solidFill>
                  <a:schemeClr val="dk1"/>
                </a:solidFill>
                <a:latin typeface="Consolas"/>
                <a:ea typeface="Consolas"/>
                <a:cs typeface="Consolas"/>
                <a:sym typeface="Consolas"/>
              </a:rPr>
              <a:t> Welcome Page </a:t>
            </a:r>
            <a:r>
              <a:rPr lang="en-US" sz="2721">
                <a:solidFill>
                  <a:srgbClr val="800000"/>
                </a:solidFill>
                <a:latin typeface="Consolas"/>
                <a:ea typeface="Consolas"/>
                <a:cs typeface="Consolas"/>
                <a:sym typeface="Consolas"/>
              </a:rPr>
              <a:t>&lt;/a&gt;</a:t>
            </a:r>
            <a:endParaRPr sz="2721">
              <a:solidFill>
                <a:srgbClr val="800000"/>
              </a:solidFill>
              <a:latin typeface="Consolas"/>
              <a:ea typeface="Consolas"/>
              <a:cs typeface="Consolas"/>
              <a:sym typeface="Consolas"/>
            </a:endParaRPr>
          </a:p>
          <a:p>
            <a:pPr indent="0" lvl="0" marL="228600" rtl="0" algn="l">
              <a:lnSpc>
                <a:spcPct val="85714"/>
              </a:lnSpc>
              <a:spcBef>
                <a:spcPts val="972"/>
              </a:spcBef>
              <a:spcAft>
                <a:spcPts val="0"/>
              </a:spcAft>
              <a:buNone/>
            </a:pPr>
            <a:r>
              <a:t/>
            </a:r>
            <a:endParaRPr sz="2721">
              <a:solidFill>
                <a:srgbClr val="800000"/>
              </a:solidFill>
              <a:latin typeface="Consolas"/>
              <a:ea typeface="Consolas"/>
              <a:cs typeface="Consolas"/>
              <a:sym typeface="Consolas"/>
            </a:endParaRPr>
          </a:p>
          <a:p>
            <a:pPr indent="0" lvl="0" marL="228600" rtl="0" algn="l">
              <a:lnSpc>
                <a:spcPct val="90000"/>
              </a:lnSpc>
              <a:spcBef>
                <a:spcPts val="972"/>
              </a:spcBef>
              <a:spcAft>
                <a:spcPts val="0"/>
              </a:spcAft>
              <a:buNone/>
            </a:pPr>
            <a:r>
              <a:rPr lang="en-US" sz="2721">
                <a:solidFill>
                  <a:schemeClr val="dk1"/>
                </a:solidFill>
                <a:latin typeface="Calibri"/>
                <a:ea typeface="Calibri"/>
                <a:cs typeface="Calibri"/>
                <a:sym typeface="Calibri"/>
              </a:rPr>
              <a:t>The Route for / must be declared in web.php</a:t>
            </a:r>
            <a:endParaRPr sz="4400">
              <a:solidFill>
                <a:schemeClr val="dk1"/>
              </a:solidFill>
              <a:latin typeface="Calibri"/>
              <a:ea typeface="Calibri"/>
              <a:cs typeface="Calibri"/>
              <a:sym typeface="Calibri"/>
            </a:endParaRPr>
          </a:p>
          <a:p>
            <a:pPr indent="0" lvl="0" marL="1143000" rtl="0" algn="l">
              <a:lnSpc>
                <a:spcPct val="85714"/>
              </a:lnSpc>
              <a:spcBef>
                <a:spcPts val="0"/>
              </a:spcBef>
              <a:spcAft>
                <a:spcPts val="0"/>
              </a:spcAft>
              <a:buNone/>
            </a:pPr>
            <a:r>
              <a:rPr lang="en-US" sz="2800">
                <a:solidFill>
                  <a:srgbClr val="267F99"/>
                </a:solidFill>
                <a:latin typeface="Consolas"/>
                <a:ea typeface="Consolas"/>
                <a:cs typeface="Consolas"/>
                <a:sym typeface="Consolas"/>
              </a:rPr>
              <a:t>Route</a:t>
            </a:r>
            <a:r>
              <a:rPr lang="en-US" sz="2800">
                <a:solidFill>
                  <a:schemeClr val="dk1"/>
                </a:solidFill>
                <a:latin typeface="Consolas"/>
                <a:ea typeface="Consolas"/>
                <a:cs typeface="Consolas"/>
                <a:sym typeface="Consolas"/>
              </a:rPr>
              <a:t>::</a:t>
            </a:r>
            <a:r>
              <a:rPr lang="en-US" sz="2800">
                <a:solidFill>
                  <a:srgbClr val="795E26"/>
                </a:solidFill>
                <a:latin typeface="Consolas"/>
                <a:ea typeface="Consolas"/>
                <a:cs typeface="Consolas"/>
                <a:sym typeface="Consolas"/>
              </a:rPr>
              <a:t>get</a:t>
            </a:r>
            <a:r>
              <a:rPr lang="en-US" sz="2800">
                <a:solidFill>
                  <a:schemeClr val="dk1"/>
                </a:solidFill>
                <a:latin typeface="Consolas"/>
                <a:ea typeface="Consolas"/>
                <a:cs typeface="Consolas"/>
                <a:sym typeface="Consolas"/>
              </a:rPr>
              <a:t>(</a:t>
            </a:r>
            <a:r>
              <a:rPr lang="en-US" sz="2800">
                <a:solidFill>
                  <a:srgbClr val="A31515"/>
                </a:solidFill>
                <a:latin typeface="Consolas"/>
                <a:ea typeface="Consolas"/>
                <a:cs typeface="Consolas"/>
                <a:sym typeface="Consolas"/>
              </a:rPr>
              <a:t>'/'</a:t>
            </a:r>
            <a:r>
              <a:rPr lang="en-US" sz="2800">
                <a:solidFill>
                  <a:schemeClr val="dk1"/>
                </a:solidFill>
                <a:latin typeface="Consolas"/>
                <a:ea typeface="Consolas"/>
                <a:cs typeface="Consolas"/>
                <a:sym typeface="Consolas"/>
              </a:rPr>
              <a:t>, </a:t>
            </a:r>
            <a:r>
              <a:rPr lang="en-US" sz="2800">
                <a:solidFill>
                  <a:srgbClr val="0000FF"/>
                </a:solidFill>
                <a:latin typeface="Consolas"/>
                <a:ea typeface="Consolas"/>
                <a:cs typeface="Consolas"/>
                <a:sym typeface="Consolas"/>
              </a:rPr>
              <a:t>function</a:t>
            </a:r>
            <a:r>
              <a:rPr lang="en-US" sz="2800">
                <a:solidFill>
                  <a:schemeClr val="dk1"/>
                </a:solidFill>
                <a:latin typeface="Consolas"/>
                <a:ea typeface="Consolas"/>
                <a:cs typeface="Consolas"/>
                <a:sym typeface="Consolas"/>
              </a:rPr>
              <a:t> () { </a:t>
            </a:r>
            <a:r>
              <a:rPr lang="en-US" sz="2800">
                <a:solidFill>
                  <a:srgbClr val="008000"/>
                </a:solidFill>
                <a:latin typeface="Consolas"/>
                <a:ea typeface="Consolas"/>
                <a:cs typeface="Consolas"/>
                <a:sym typeface="Consolas"/>
              </a:rPr>
              <a:t>// URL to open</a:t>
            </a:r>
            <a:endParaRPr sz="2800">
              <a:solidFill>
                <a:schemeClr val="dk1"/>
              </a:solidFill>
              <a:latin typeface="Consolas"/>
              <a:ea typeface="Consolas"/>
              <a:cs typeface="Consolas"/>
              <a:sym typeface="Consolas"/>
            </a:endParaRPr>
          </a:p>
          <a:p>
            <a:pPr indent="0" lvl="0" marL="1143000" rtl="0" algn="l">
              <a:lnSpc>
                <a:spcPct val="85714"/>
              </a:lnSpc>
              <a:spcBef>
                <a:spcPts val="1000"/>
              </a:spcBef>
              <a:spcAft>
                <a:spcPts val="0"/>
              </a:spcAft>
              <a:buNone/>
            </a:pPr>
            <a:r>
              <a:rPr lang="en-US" sz="2800">
                <a:solidFill>
                  <a:schemeClr val="dk1"/>
                </a:solidFill>
                <a:latin typeface="Consolas"/>
                <a:ea typeface="Consolas"/>
                <a:cs typeface="Consolas"/>
                <a:sym typeface="Consolas"/>
              </a:rPr>
              <a:t>    </a:t>
            </a:r>
            <a:r>
              <a:rPr lang="en-US" sz="2800">
                <a:solidFill>
                  <a:srgbClr val="AF00DB"/>
                </a:solidFill>
                <a:latin typeface="Consolas"/>
                <a:ea typeface="Consolas"/>
                <a:cs typeface="Consolas"/>
                <a:sym typeface="Consolas"/>
              </a:rPr>
              <a:t>return</a:t>
            </a:r>
            <a:r>
              <a:rPr lang="en-US" sz="2800">
                <a:solidFill>
                  <a:schemeClr val="dk1"/>
                </a:solidFill>
                <a:latin typeface="Consolas"/>
                <a:ea typeface="Consolas"/>
                <a:cs typeface="Consolas"/>
                <a:sym typeface="Consolas"/>
              </a:rPr>
              <a:t> </a:t>
            </a:r>
            <a:r>
              <a:rPr lang="en-US" sz="2800">
                <a:solidFill>
                  <a:srgbClr val="795E26"/>
                </a:solidFill>
                <a:latin typeface="Consolas"/>
                <a:ea typeface="Consolas"/>
                <a:cs typeface="Consolas"/>
                <a:sym typeface="Consolas"/>
              </a:rPr>
              <a:t>view</a:t>
            </a:r>
            <a:r>
              <a:rPr lang="en-US" sz="2800">
                <a:solidFill>
                  <a:schemeClr val="dk1"/>
                </a:solidFill>
                <a:latin typeface="Consolas"/>
                <a:ea typeface="Consolas"/>
                <a:cs typeface="Consolas"/>
                <a:sym typeface="Consolas"/>
              </a:rPr>
              <a:t>(</a:t>
            </a:r>
            <a:r>
              <a:rPr lang="en-US" sz="2800">
                <a:solidFill>
                  <a:srgbClr val="A31515"/>
                </a:solidFill>
                <a:latin typeface="Consolas"/>
                <a:ea typeface="Consolas"/>
                <a:cs typeface="Consolas"/>
                <a:sym typeface="Consolas"/>
              </a:rPr>
              <a:t>'welcome'</a:t>
            </a:r>
            <a:r>
              <a:rPr lang="en-US" sz="2800">
                <a:solidFill>
                  <a:schemeClr val="dk1"/>
                </a:solidFill>
                <a:latin typeface="Consolas"/>
                <a:ea typeface="Consolas"/>
                <a:cs typeface="Consolas"/>
                <a:sym typeface="Consolas"/>
              </a:rPr>
              <a:t>);</a:t>
            </a:r>
            <a:endParaRPr sz="2800">
              <a:solidFill>
                <a:schemeClr val="dk1"/>
              </a:solidFill>
              <a:latin typeface="Calibri"/>
              <a:ea typeface="Calibri"/>
              <a:cs typeface="Calibri"/>
              <a:sym typeface="Calibri"/>
            </a:endParaRPr>
          </a:p>
          <a:p>
            <a:pPr indent="0" lvl="0" marL="1143000" rtl="0" algn="l">
              <a:lnSpc>
                <a:spcPct val="85714"/>
              </a:lnSpc>
              <a:spcBef>
                <a:spcPts val="1000"/>
              </a:spcBef>
              <a:spcAft>
                <a:spcPts val="0"/>
              </a:spcAft>
              <a:buNone/>
            </a:pPr>
            <a:r>
              <a:rPr lang="en-US" sz="2800">
                <a:solidFill>
                  <a:schemeClr val="dk1"/>
                </a:solidFill>
                <a:latin typeface="Consolas"/>
                <a:ea typeface="Consolas"/>
                <a:cs typeface="Consolas"/>
                <a:sym typeface="Consolas"/>
              </a:rPr>
              <a:t>});</a:t>
            </a:r>
            <a:endParaRPr sz="2800">
              <a:solidFill>
                <a:schemeClr val="dk1"/>
              </a:solidFill>
              <a:latin typeface="Calibri"/>
              <a:ea typeface="Calibri"/>
              <a:cs typeface="Calibri"/>
              <a:sym typeface="Calibri"/>
            </a:endParaRPr>
          </a:p>
          <a:p>
            <a:pPr indent="0" lvl="0" marL="228600" rtl="0" algn="l">
              <a:lnSpc>
                <a:spcPct val="90000"/>
              </a:lnSpc>
              <a:spcBef>
                <a:spcPts val="0"/>
              </a:spcBef>
              <a:spcAft>
                <a:spcPts val="0"/>
              </a:spcAft>
              <a:buNone/>
            </a:pPr>
            <a:r>
              <a:t/>
            </a:r>
            <a:endParaRPr sz="2800">
              <a:latin typeface="Calibri"/>
              <a:ea typeface="Calibri"/>
              <a:cs typeface="Calibri"/>
              <a:sym typeface="Calibri"/>
            </a:endParaRPr>
          </a:p>
        </p:txBody>
      </p:sp>
      <p:pic>
        <p:nvPicPr>
          <p:cNvPr id="568" name="Google Shape;568;g3d7ce474ce2_0_91"/>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g3d7ce474ce2_0_115"/>
          <p:cNvSpPr txBox="1"/>
          <p:nvPr>
            <p:ph type="title"/>
          </p:nvPr>
        </p:nvSpPr>
        <p:spPr>
          <a:xfrm>
            <a:off x="838200" y="365125"/>
            <a:ext cx="96435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Calibri"/>
              <a:buNone/>
            </a:pPr>
            <a:r>
              <a:rPr lang="en-US" sz="3200"/>
              <a:t>Output-On Clicking Welcome Page, </a:t>
            </a:r>
            <a:r>
              <a:rPr lang="en-US" sz="3200" u="sng">
                <a:solidFill>
                  <a:schemeClr val="hlink"/>
                </a:solidFill>
                <a:hlinkClick r:id="rId3"/>
              </a:rPr>
              <a:t>http://127.0.0.1:8000</a:t>
            </a:r>
            <a:r>
              <a:rPr lang="en-US" sz="3200"/>
              <a:t> will get open</a:t>
            </a:r>
            <a:endParaRPr sz="3200"/>
          </a:p>
        </p:txBody>
      </p:sp>
      <p:pic>
        <p:nvPicPr>
          <p:cNvPr id="574" name="Google Shape;574;g3d7ce474ce2_0_115"/>
          <p:cNvPicPr preferRelativeResize="0"/>
          <p:nvPr>
            <p:ph idx="1" type="body"/>
          </p:nvPr>
        </p:nvPicPr>
        <p:blipFill rotWithShape="1">
          <a:blip r:embed="rId4">
            <a:alphaModFix/>
          </a:blip>
          <a:srcRect b="0" l="0" r="0" t="0"/>
          <a:stretch/>
        </p:blipFill>
        <p:spPr>
          <a:xfrm>
            <a:off x="1099000" y="2286000"/>
            <a:ext cx="9291000" cy="3842100"/>
          </a:xfrm>
          <a:prstGeom prst="rect">
            <a:avLst/>
          </a:prstGeom>
          <a:noFill/>
          <a:ln>
            <a:noFill/>
          </a:ln>
        </p:spPr>
      </p:pic>
      <p:pic>
        <p:nvPicPr>
          <p:cNvPr id="575" name="Google Shape;575;g3d7ce474ce2_0_115"/>
          <p:cNvPicPr preferRelativeResize="0"/>
          <p:nvPr/>
        </p:nvPicPr>
        <p:blipFill rotWithShape="1">
          <a:blip r:embed="rId5">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g3d7ce474ce2_0_1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a:solidFill>
                  <a:schemeClr val="accent2"/>
                </a:solidFill>
                <a:highlight>
                  <a:schemeClr val="lt1"/>
                </a:highlight>
              </a:rPr>
              <a:t>Redirection </a:t>
            </a:r>
            <a:endParaRPr b="1">
              <a:solidFill>
                <a:schemeClr val="accent2"/>
              </a:solidFill>
              <a:highlight>
                <a:schemeClr val="lt1"/>
              </a:highlight>
            </a:endParaRPr>
          </a:p>
        </p:txBody>
      </p:sp>
      <p:sp>
        <p:nvSpPr>
          <p:cNvPr id="581" name="Google Shape;581;g3d7ce474ce2_0_121"/>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0" lvl="0" marL="0" rtl="0" algn="l">
              <a:spcBef>
                <a:spcPts val="1000"/>
              </a:spcBef>
              <a:spcAft>
                <a:spcPts val="0"/>
              </a:spcAft>
              <a:buNone/>
            </a:pPr>
            <a:r>
              <a:rPr lang="en-US" sz="2700">
                <a:solidFill>
                  <a:srgbClr val="292934"/>
                </a:solidFill>
                <a:latin typeface="Arial"/>
                <a:ea typeface="Arial"/>
                <a:cs typeface="Arial"/>
                <a:sym typeface="Arial"/>
              </a:rPr>
              <a:t>Redirection in Laravel is used to send users from one URL/route to another. It’s very common after form submission, login, logout, or when access is restricted.</a:t>
            </a:r>
            <a:endParaRPr sz="2700"/>
          </a:p>
          <a:p>
            <a:pPr indent="0" lvl="0" marL="0" rtl="0" algn="l">
              <a:spcBef>
                <a:spcPts val="1000"/>
              </a:spcBef>
              <a:spcAft>
                <a:spcPts val="0"/>
              </a:spcAft>
              <a:buNone/>
            </a:pPr>
            <a:r>
              <a:t/>
            </a:r>
            <a:endParaRPr sz="2700"/>
          </a:p>
          <a:p>
            <a:pPr indent="-224790" lvl="0" marL="182880" rtl="0" algn="just">
              <a:lnSpc>
                <a:spcPct val="100000"/>
              </a:lnSpc>
              <a:spcBef>
                <a:spcPts val="0"/>
              </a:spcBef>
              <a:spcAft>
                <a:spcPts val="0"/>
              </a:spcAft>
              <a:buClr>
                <a:srgbClr val="93A299"/>
              </a:buClr>
              <a:buSzPts val="2700"/>
              <a:buChar char="•"/>
            </a:pPr>
            <a:r>
              <a:rPr lang="en-US" sz="2700">
                <a:solidFill>
                  <a:srgbClr val="292934"/>
                </a:solidFill>
                <a:latin typeface="Arial"/>
                <a:ea typeface="Arial"/>
                <a:cs typeface="Arial"/>
                <a:sym typeface="Arial"/>
              </a:rPr>
              <a:t>The simplest method is to use the global redirect helper:</a:t>
            </a:r>
            <a:endParaRPr sz="2700">
              <a:solidFill>
                <a:srgbClr val="292934"/>
              </a:solidFill>
              <a:latin typeface="Arial"/>
              <a:ea typeface="Arial"/>
              <a:cs typeface="Arial"/>
              <a:sym typeface="Arial"/>
            </a:endParaRPr>
          </a:p>
          <a:p>
            <a:pPr indent="-53339" lvl="0" marL="182880" rtl="0" algn="just">
              <a:lnSpc>
                <a:spcPct val="100000"/>
              </a:lnSpc>
              <a:spcBef>
                <a:spcPts val="480"/>
              </a:spcBef>
              <a:spcAft>
                <a:spcPts val="0"/>
              </a:spcAft>
              <a:buClr>
                <a:schemeClr val="dk1"/>
              </a:buClr>
              <a:buSzPts val="2040"/>
              <a:buFont typeface="Arial"/>
              <a:buNone/>
            </a:pPr>
            <a:r>
              <a:t/>
            </a:r>
            <a:endParaRPr sz="27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ts val="2040"/>
              <a:buFont typeface="Arial"/>
              <a:buNone/>
            </a:pPr>
            <a:r>
              <a:rPr lang="en-US" sz="2700">
                <a:solidFill>
                  <a:srgbClr val="D2533C"/>
                </a:solidFill>
                <a:latin typeface="Arial"/>
                <a:ea typeface="Arial"/>
                <a:cs typeface="Arial"/>
                <a:sym typeface="Arial"/>
              </a:rPr>
              <a:t>Route::get('/dashboard', function () {</a:t>
            </a:r>
            <a:endParaRPr sz="27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ts val="2040"/>
              <a:buFont typeface="Arial"/>
              <a:buNone/>
            </a:pPr>
            <a:r>
              <a:rPr lang="en-US" sz="2700">
                <a:solidFill>
                  <a:srgbClr val="D2533C"/>
                </a:solidFill>
                <a:latin typeface="Arial"/>
                <a:ea typeface="Arial"/>
                <a:cs typeface="Arial"/>
                <a:sym typeface="Arial"/>
              </a:rPr>
              <a:t>    return redirect('home/dashboard');</a:t>
            </a:r>
            <a:endParaRPr sz="2700">
              <a:solidFill>
                <a:srgbClr val="292934"/>
              </a:solidFill>
              <a:latin typeface="Arial"/>
              <a:ea typeface="Arial"/>
              <a:cs typeface="Arial"/>
              <a:sym typeface="Arial"/>
            </a:endParaRPr>
          </a:p>
          <a:p>
            <a:pPr indent="0" lvl="0" marL="0" rtl="0" algn="just">
              <a:lnSpc>
                <a:spcPct val="100000"/>
              </a:lnSpc>
              <a:spcBef>
                <a:spcPts val="480"/>
              </a:spcBef>
              <a:spcAft>
                <a:spcPts val="0"/>
              </a:spcAft>
              <a:buClr>
                <a:schemeClr val="dk1"/>
              </a:buClr>
              <a:buSzPts val="2040"/>
              <a:buFont typeface="Arial"/>
              <a:buNone/>
            </a:pPr>
            <a:r>
              <a:rPr lang="en-US" sz="2700">
                <a:solidFill>
                  <a:srgbClr val="D2533C"/>
                </a:solidFill>
                <a:latin typeface="Arial"/>
                <a:ea typeface="Arial"/>
                <a:cs typeface="Arial"/>
                <a:sym typeface="Arial"/>
              </a:rPr>
              <a:t>});</a:t>
            </a:r>
            <a:endParaRPr sz="2700">
              <a:solidFill>
                <a:srgbClr val="292934"/>
              </a:solidFill>
              <a:latin typeface="Arial"/>
              <a:ea typeface="Arial"/>
              <a:cs typeface="Arial"/>
              <a:sym typeface="Arial"/>
            </a:endParaRPr>
          </a:p>
          <a:p>
            <a:pPr indent="0" lvl="0" marL="0" rtl="0" algn="l">
              <a:spcBef>
                <a:spcPts val="1000"/>
              </a:spcBef>
              <a:spcAft>
                <a:spcPts val="0"/>
              </a:spcAft>
              <a:buNone/>
            </a:pPr>
            <a:r>
              <a:t/>
            </a:r>
            <a:endParaRPr/>
          </a:p>
        </p:txBody>
      </p:sp>
      <p:pic>
        <p:nvPicPr>
          <p:cNvPr id="582" name="Google Shape;582;g3d7ce474ce2_0_121"/>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3d7ce474ce2_0_163"/>
          <p:cNvSpPr txBox="1"/>
          <p:nvPr>
            <p:ph idx="1" type="body"/>
          </p:nvPr>
        </p:nvSpPr>
        <p:spPr>
          <a:xfrm>
            <a:off x="656550" y="285150"/>
            <a:ext cx="10697400" cy="5891700"/>
          </a:xfrm>
          <a:prstGeom prst="rect">
            <a:avLst/>
          </a:prstGeom>
        </p:spPr>
        <p:txBody>
          <a:bodyPr anchorCtr="0" anchor="t" bIns="45700" lIns="91425" spcFirstLastPara="1" rIns="91425" wrap="square" tIns="45700">
            <a:noAutofit/>
          </a:bodyPr>
          <a:lstStyle/>
          <a:p>
            <a:pPr indent="-400050" lvl="0" marL="457200" rtl="0" algn="l">
              <a:lnSpc>
                <a:spcPct val="115000"/>
              </a:lnSpc>
              <a:spcBef>
                <a:spcPts val="1400"/>
              </a:spcBef>
              <a:spcAft>
                <a:spcPts val="0"/>
              </a:spcAft>
              <a:buClr>
                <a:schemeClr val="accent2"/>
              </a:buClr>
              <a:buSzPts val="2700"/>
              <a:buFont typeface="Arial"/>
              <a:buChar char="•"/>
            </a:pPr>
            <a:r>
              <a:rPr b="1" lang="en-US" sz="2700">
                <a:solidFill>
                  <a:schemeClr val="accent2"/>
                </a:solidFill>
                <a:latin typeface="Arial"/>
                <a:ea typeface="Arial"/>
                <a:cs typeface="Arial"/>
                <a:sym typeface="Arial"/>
              </a:rPr>
              <a:t>Redirect to previous page</a:t>
            </a:r>
            <a:endParaRPr b="1" sz="2700">
              <a:solidFill>
                <a:schemeClr val="accent2"/>
              </a:solidFill>
              <a:latin typeface="Arial"/>
              <a:ea typeface="Arial"/>
              <a:cs typeface="Arial"/>
              <a:sym typeface="Arial"/>
            </a:endParaRPr>
          </a:p>
          <a:p>
            <a:pPr indent="457200" lvl="0" marL="0" rtl="0" algn="l">
              <a:lnSpc>
                <a:spcPct val="115000"/>
              </a:lnSpc>
              <a:spcBef>
                <a:spcPts val="400"/>
              </a:spcBef>
              <a:spcAft>
                <a:spcPts val="0"/>
              </a:spcAft>
              <a:buNone/>
            </a:pPr>
            <a:r>
              <a:rPr lang="en-US" sz="2200">
                <a:latin typeface="Arial"/>
                <a:ea typeface="Arial"/>
                <a:cs typeface="Arial"/>
                <a:sym typeface="Arial"/>
              </a:rPr>
              <a:t>return redirect()-&gt;back();</a:t>
            </a:r>
            <a:endParaRPr sz="2200">
              <a:latin typeface="Arial"/>
              <a:ea typeface="Arial"/>
              <a:cs typeface="Arial"/>
              <a:sym typeface="Arial"/>
            </a:endParaRPr>
          </a:p>
          <a:p>
            <a:pPr indent="0" lvl="0" marL="0" rtl="0" algn="l">
              <a:lnSpc>
                <a:spcPct val="115000"/>
              </a:lnSpc>
              <a:spcBef>
                <a:spcPts val="0"/>
              </a:spcBef>
              <a:spcAft>
                <a:spcPts val="0"/>
              </a:spcAft>
              <a:buNone/>
            </a:pPr>
            <a:r>
              <a:t/>
            </a:r>
            <a:endParaRPr sz="2200">
              <a:latin typeface="Arial"/>
              <a:ea typeface="Arial"/>
              <a:cs typeface="Arial"/>
              <a:sym typeface="Arial"/>
            </a:endParaRPr>
          </a:p>
          <a:p>
            <a:pPr indent="-400050" lvl="0" marL="457200" rtl="0" algn="l">
              <a:lnSpc>
                <a:spcPct val="115000"/>
              </a:lnSpc>
              <a:spcBef>
                <a:spcPts val="2400"/>
              </a:spcBef>
              <a:spcAft>
                <a:spcPts val="0"/>
              </a:spcAft>
              <a:buClr>
                <a:schemeClr val="accent2"/>
              </a:buClr>
              <a:buSzPts val="2700"/>
              <a:buFont typeface="Arial"/>
              <a:buChar char="•"/>
            </a:pPr>
            <a:r>
              <a:rPr b="1" lang="en-US" sz="2700">
                <a:solidFill>
                  <a:schemeClr val="accent2"/>
                </a:solidFill>
                <a:latin typeface="Arial"/>
                <a:ea typeface="Arial"/>
                <a:cs typeface="Arial"/>
                <a:sym typeface="Arial"/>
              </a:rPr>
              <a:t>Redirect to Named Routes</a:t>
            </a:r>
            <a:endParaRPr b="1" sz="2700">
              <a:latin typeface="Arial"/>
              <a:ea typeface="Arial"/>
              <a:cs typeface="Arial"/>
              <a:sym typeface="Arial"/>
            </a:endParaRPr>
          </a:p>
          <a:p>
            <a:pPr indent="0" lvl="0" marL="457200" rtl="0" algn="l">
              <a:lnSpc>
                <a:spcPct val="115000"/>
              </a:lnSpc>
              <a:spcBef>
                <a:spcPts val="600"/>
              </a:spcBef>
              <a:spcAft>
                <a:spcPts val="0"/>
              </a:spcAft>
              <a:buNone/>
            </a:pPr>
            <a:r>
              <a:rPr lang="en-US" sz="2200">
                <a:latin typeface="Arial"/>
                <a:ea typeface="Arial"/>
                <a:cs typeface="Arial"/>
                <a:sym typeface="Arial"/>
              </a:rPr>
              <a:t>Route::get('/dashboard', function () {</a:t>
            </a:r>
            <a:endParaRPr sz="2200">
              <a:latin typeface="Arial"/>
              <a:ea typeface="Arial"/>
              <a:cs typeface="Arial"/>
              <a:sym typeface="Arial"/>
            </a:endParaRPr>
          </a:p>
          <a:p>
            <a:pPr indent="0" lvl="0" marL="457200" rtl="0" algn="l">
              <a:lnSpc>
                <a:spcPct val="115000"/>
              </a:lnSpc>
              <a:spcBef>
                <a:spcPts val="0"/>
              </a:spcBef>
              <a:spcAft>
                <a:spcPts val="0"/>
              </a:spcAft>
              <a:buNone/>
            </a:pPr>
            <a:r>
              <a:rPr lang="en-US" sz="2200">
                <a:latin typeface="Arial"/>
                <a:ea typeface="Arial"/>
                <a:cs typeface="Arial"/>
                <a:sym typeface="Arial"/>
              </a:rPr>
              <a:t>   return "Dashboard";</a:t>
            </a:r>
            <a:endParaRPr sz="2200">
              <a:latin typeface="Arial"/>
              <a:ea typeface="Arial"/>
              <a:cs typeface="Arial"/>
              <a:sym typeface="Arial"/>
            </a:endParaRPr>
          </a:p>
          <a:p>
            <a:pPr indent="0" lvl="0" marL="457200" rtl="0" algn="l">
              <a:lnSpc>
                <a:spcPct val="115000"/>
              </a:lnSpc>
              <a:spcBef>
                <a:spcPts val="0"/>
              </a:spcBef>
              <a:spcAft>
                <a:spcPts val="0"/>
              </a:spcAft>
              <a:buNone/>
            </a:pPr>
            <a:r>
              <a:rPr lang="en-US" sz="2200">
                <a:latin typeface="Arial"/>
                <a:ea typeface="Arial"/>
                <a:cs typeface="Arial"/>
                <a:sym typeface="Arial"/>
              </a:rPr>
              <a:t>})-&gt;name('dashboard');</a:t>
            </a:r>
            <a:endParaRPr sz="2200">
              <a:latin typeface="Arial"/>
              <a:ea typeface="Arial"/>
              <a:cs typeface="Arial"/>
              <a:sym typeface="Arial"/>
            </a:endParaRPr>
          </a:p>
          <a:p>
            <a:pPr indent="0" lvl="0" marL="457200" rtl="0" algn="l">
              <a:lnSpc>
                <a:spcPct val="115000"/>
              </a:lnSpc>
              <a:spcBef>
                <a:spcPts val="0"/>
              </a:spcBef>
              <a:spcAft>
                <a:spcPts val="0"/>
              </a:spcAft>
              <a:buNone/>
            </a:pPr>
            <a:r>
              <a:rPr b="1" lang="en-US" sz="2200">
                <a:latin typeface="Arial"/>
                <a:ea typeface="Arial"/>
                <a:cs typeface="Arial"/>
                <a:sym typeface="Arial"/>
              </a:rPr>
              <a:t>Redirect</a:t>
            </a:r>
            <a:endParaRPr b="1" sz="2200">
              <a:latin typeface="Arial"/>
              <a:ea typeface="Arial"/>
              <a:cs typeface="Arial"/>
              <a:sym typeface="Arial"/>
            </a:endParaRPr>
          </a:p>
          <a:p>
            <a:pPr indent="0" lvl="0" marL="457200" rtl="0" algn="l">
              <a:lnSpc>
                <a:spcPct val="115000"/>
              </a:lnSpc>
              <a:spcBef>
                <a:spcPts val="0"/>
              </a:spcBef>
              <a:spcAft>
                <a:spcPts val="0"/>
              </a:spcAft>
              <a:buNone/>
            </a:pPr>
            <a:r>
              <a:rPr lang="en-US" sz="2200">
                <a:latin typeface="Arial"/>
                <a:ea typeface="Arial"/>
                <a:cs typeface="Arial"/>
                <a:sym typeface="Arial"/>
              </a:rPr>
              <a:t>return redirect()-&gt;route('dashboard');</a:t>
            </a:r>
            <a:endParaRPr sz="2200">
              <a:latin typeface="Arial"/>
              <a:ea typeface="Arial"/>
              <a:cs typeface="Arial"/>
              <a:sym typeface="Arial"/>
            </a:endParaRPr>
          </a:p>
          <a:p>
            <a:pPr indent="0" lvl="0" marL="0" rtl="0" algn="l">
              <a:lnSpc>
                <a:spcPct val="115000"/>
              </a:lnSpc>
              <a:spcBef>
                <a:spcPts val="0"/>
              </a:spcBef>
              <a:spcAft>
                <a:spcPts val="0"/>
              </a:spcAft>
              <a:buNone/>
            </a:pPr>
            <a:r>
              <a:t/>
            </a:r>
            <a:endParaRPr sz="2200">
              <a:latin typeface="Arial"/>
              <a:ea typeface="Arial"/>
              <a:cs typeface="Arial"/>
              <a:sym typeface="Arial"/>
            </a:endParaRPr>
          </a:p>
          <a:p>
            <a:pPr indent="-400050" lvl="0" marL="457200" rtl="0" algn="l">
              <a:lnSpc>
                <a:spcPct val="115000"/>
              </a:lnSpc>
              <a:spcBef>
                <a:spcPts val="2400"/>
              </a:spcBef>
              <a:spcAft>
                <a:spcPts val="0"/>
              </a:spcAft>
              <a:buClr>
                <a:schemeClr val="accent2"/>
              </a:buClr>
              <a:buSzPts val="2700"/>
              <a:buFont typeface="Arial"/>
              <a:buChar char="•"/>
            </a:pPr>
            <a:r>
              <a:rPr b="1" lang="en-US" sz="2700">
                <a:solidFill>
                  <a:schemeClr val="accent2"/>
                </a:solidFill>
                <a:latin typeface="Arial"/>
                <a:ea typeface="Arial"/>
                <a:cs typeface="Arial"/>
                <a:sym typeface="Arial"/>
              </a:rPr>
              <a:t>Redirect to Controller Action</a:t>
            </a:r>
            <a:endParaRPr b="1" sz="2700">
              <a:solidFill>
                <a:schemeClr val="accent2"/>
              </a:solidFill>
              <a:latin typeface="Arial"/>
              <a:ea typeface="Arial"/>
              <a:cs typeface="Arial"/>
              <a:sym typeface="Arial"/>
            </a:endParaRPr>
          </a:p>
          <a:p>
            <a:pPr indent="457200" lvl="0" marL="0" rtl="0" algn="l">
              <a:lnSpc>
                <a:spcPct val="115000"/>
              </a:lnSpc>
              <a:spcBef>
                <a:spcPts val="600"/>
              </a:spcBef>
              <a:spcAft>
                <a:spcPts val="0"/>
              </a:spcAft>
              <a:buNone/>
            </a:pPr>
            <a:r>
              <a:rPr lang="en-US" sz="2200">
                <a:latin typeface="Arial"/>
                <a:ea typeface="Arial"/>
                <a:cs typeface="Arial"/>
                <a:sym typeface="Arial"/>
              </a:rPr>
              <a:t>return redirect()-&gt;action([UserController::class, 'index']);</a:t>
            </a:r>
            <a:endParaRPr sz="2200">
              <a:latin typeface="Arial"/>
              <a:ea typeface="Arial"/>
              <a:cs typeface="Arial"/>
              <a:sym typeface="Arial"/>
            </a:endParaRPr>
          </a:p>
          <a:p>
            <a:pPr indent="0" lvl="0" marL="0" rtl="0" algn="l">
              <a:spcBef>
                <a:spcPts val="1000"/>
              </a:spcBef>
              <a:spcAft>
                <a:spcPts val="0"/>
              </a:spcAft>
              <a:buNone/>
            </a:pPr>
            <a:r>
              <a:t/>
            </a:r>
            <a:endParaRPr sz="2700"/>
          </a:p>
        </p:txBody>
      </p:sp>
      <p:pic>
        <p:nvPicPr>
          <p:cNvPr id="588" name="Google Shape;588;g3d7ce474ce2_0_163"/>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3d7ce474ce2_0_171"/>
          <p:cNvSpPr txBox="1"/>
          <p:nvPr>
            <p:ph idx="1" type="body"/>
          </p:nvPr>
        </p:nvSpPr>
        <p:spPr>
          <a:xfrm>
            <a:off x="838200" y="376250"/>
            <a:ext cx="10515600" cy="6255000"/>
          </a:xfrm>
          <a:prstGeom prst="rect">
            <a:avLst/>
          </a:prstGeom>
        </p:spPr>
        <p:txBody>
          <a:bodyPr anchorCtr="0" anchor="t" bIns="45700" lIns="91425" spcFirstLastPara="1" rIns="91425" wrap="square" tIns="45700">
            <a:noAutofit/>
          </a:bodyPr>
          <a:lstStyle/>
          <a:p>
            <a:pPr indent="-368300" lvl="0" marL="457200" rtl="0" algn="l">
              <a:lnSpc>
                <a:spcPct val="115000"/>
              </a:lnSpc>
              <a:spcBef>
                <a:spcPts val="2400"/>
              </a:spcBef>
              <a:spcAft>
                <a:spcPts val="0"/>
              </a:spcAft>
              <a:buClr>
                <a:schemeClr val="accent2"/>
              </a:buClr>
              <a:buSzPts val="2200"/>
              <a:buFont typeface="Arial"/>
              <a:buChar char="•"/>
            </a:pPr>
            <a:r>
              <a:rPr b="1" lang="en-US" sz="2200">
                <a:solidFill>
                  <a:schemeClr val="accent2"/>
                </a:solidFill>
                <a:latin typeface="Arial"/>
                <a:ea typeface="Arial"/>
                <a:cs typeface="Arial"/>
                <a:sym typeface="Arial"/>
              </a:rPr>
              <a:t>Redirect with Data (Flash Session)</a:t>
            </a:r>
            <a:endParaRPr b="1" sz="2200">
              <a:solidFill>
                <a:schemeClr val="accent2"/>
              </a:solidFill>
              <a:latin typeface="Arial"/>
              <a:ea typeface="Arial"/>
              <a:cs typeface="Arial"/>
              <a:sym typeface="Arial"/>
            </a:endParaRPr>
          </a:p>
          <a:p>
            <a:pPr indent="0" lvl="0" marL="457200" rtl="0" algn="l">
              <a:lnSpc>
                <a:spcPct val="115000"/>
              </a:lnSpc>
              <a:spcBef>
                <a:spcPts val="1400"/>
              </a:spcBef>
              <a:spcAft>
                <a:spcPts val="0"/>
              </a:spcAft>
              <a:buClr>
                <a:schemeClr val="dk1"/>
              </a:buClr>
              <a:buSzPts val="1100"/>
              <a:buFont typeface="Arial"/>
              <a:buNone/>
            </a:pPr>
            <a:r>
              <a:rPr b="1" lang="en-US" sz="2200">
                <a:latin typeface="Arial"/>
                <a:ea typeface="Arial"/>
                <a:cs typeface="Arial"/>
                <a:sym typeface="Arial"/>
              </a:rPr>
              <a:t> Pass success message</a:t>
            </a:r>
            <a:endParaRPr b="1" sz="2200">
              <a:latin typeface="Arial"/>
              <a:ea typeface="Arial"/>
              <a:cs typeface="Arial"/>
              <a:sym typeface="Arial"/>
            </a:endParaRPr>
          </a:p>
          <a:p>
            <a:pPr indent="457200" lvl="0" marL="914400" rtl="0" algn="l">
              <a:lnSpc>
                <a:spcPct val="115000"/>
              </a:lnSpc>
              <a:spcBef>
                <a:spcPts val="400"/>
              </a:spcBef>
              <a:spcAft>
                <a:spcPts val="0"/>
              </a:spcAft>
              <a:buClr>
                <a:schemeClr val="dk1"/>
              </a:buClr>
              <a:buSzPts val="1100"/>
              <a:buFont typeface="Arial"/>
              <a:buNone/>
            </a:pPr>
            <a:r>
              <a:rPr lang="en-US" sz="2200">
                <a:latin typeface="Arial"/>
                <a:ea typeface="Arial"/>
                <a:cs typeface="Arial"/>
                <a:sym typeface="Arial"/>
              </a:rPr>
              <a:t>return redirect('/home')-&gt;with('success', 'Login successful!');</a:t>
            </a:r>
            <a:endParaRPr sz="2200">
              <a:latin typeface="Arial"/>
              <a:ea typeface="Arial"/>
              <a:cs typeface="Arial"/>
              <a:sym typeface="Arial"/>
            </a:endParaRPr>
          </a:p>
          <a:p>
            <a:pPr indent="0" lvl="0" marL="457200" rtl="0" algn="l">
              <a:lnSpc>
                <a:spcPct val="115000"/>
              </a:lnSpc>
              <a:spcBef>
                <a:spcPts val="1400"/>
              </a:spcBef>
              <a:spcAft>
                <a:spcPts val="0"/>
              </a:spcAft>
              <a:buClr>
                <a:schemeClr val="dk1"/>
              </a:buClr>
              <a:buSzPts val="1100"/>
              <a:buFont typeface="Arial"/>
              <a:buNone/>
            </a:pPr>
            <a:r>
              <a:rPr b="1" lang="en-US" sz="2200">
                <a:latin typeface="Arial"/>
                <a:ea typeface="Arial"/>
                <a:cs typeface="Arial"/>
                <a:sym typeface="Arial"/>
              </a:rPr>
              <a:t> Access in Blade</a:t>
            </a:r>
            <a:endParaRPr b="1" sz="2200">
              <a:latin typeface="Arial"/>
              <a:ea typeface="Arial"/>
              <a:cs typeface="Arial"/>
              <a:sym typeface="Arial"/>
            </a:endParaRPr>
          </a:p>
          <a:p>
            <a:pPr indent="0" lvl="0" marL="914400" rtl="0" algn="l">
              <a:lnSpc>
                <a:spcPct val="115000"/>
              </a:lnSpc>
              <a:spcBef>
                <a:spcPts val="400"/>
              </a:spcBef>
              <a:spcAft>
                <a:spcPts val="0"/>
              </a:spcAft>
              <a:buClr>
                <a:schemeClr val="dk1"/>
              </a:buClr>
              <a:buSzPts val="1100"/>
              <a:buFont typeface="Arial"/>
              <a:buNone/>
            </a:pPr>
            <a:r>
              <a:rPr lang="en-US" sz="2200">
                <a:latin typeface="Arial"/>
                <a:ea typeface="Arial"/>
                <a:cs typeface="Arial"/>
                <a:sym typeface="Arial"/>
              </a:rPr>
              <a:t>@if(session('success'))</a:t>
            </a:r>
            <a:endParaRPr sz="2200">
              <a:latin typeface="Arial"/>
              <a:ea typeface="Arial"/>
              <a:cs typeface="Arial"/>
              <a:sym typeface="Arial"/>
            </a:endParaRPr>
          </a:p>
          <a:p>
            <a:pPr indent="0" lvl="0" marL="914400" rtl="0" algn="l">
              <a:lnSpc>
                <a:spcPct val="115000"/>
              </a:lnSpc>
              <a:spcBef>
                <a:spcPts val="0"/>
              </a:spcBef>
              <a:spcAft>
                <a:spcPts val="0"/>
              </a:spcAft>
              <a:buClr>
                <a:schemeClr val="dk1"/>
              </a:buClr>
              <a:buSzPts val="1100"/>
              <a:buFont typeface="Arial"/>
              <a:buNone/>
            </a:pPr>
            <a:r>
              <a:rPr lang="en-US" sz="2200">
                <a:latin typeface="Arial"/>
                <a:ea typeface="Arial"/>
                <a:cs typeface="Arial"/>
                <a:sym typeface="Arial"/>
              </a:rPr>
              <a:t>   &lt;p&gt;{{ session('success') }}&lt;/p&gt;</a:t>
            </a:r>
            <a:endParaRPr sz="2200">
              <a:latin typeface="Arial"/>
              <a:ea typeface="Arial"/>
              <a:cs typeface="Arial"/>
              <a:sym typeface="Arial"/>
            </a:endParaRPr>
          </a:p>
          <a:p>
            <a:pPr indent="0" lvl="0" marL="914400" rtl="0" algn="l">
              <a:lnSpc>
                <a:spcPct val="115000"/>
              </a:lnSpc>
              <a:spcBef>
                <a:spcPts val="0"/>
              </a:spcBef>
              <a:spcAft>
                <a:spcPts val="0"/>
              </a:spcAft>
              <a:buClr>
                <a:schemeClr val="dk1"/>
              </a:buClr>
              <a:buSzPts val="1100"/>
              <a:buFont typeface="Arial"/>
              <a:buNone/>
            </a:pPr>
            <a:r>
              <a:rPr lang="en-US" sz="2200">
                <a:latin typeface="Arial"/>
                <a:ea typeface="Arial"/>
                <a:cs typeface="Arial"/>
                <a:sym typeface="Arial"/>
              </a:rPr>
              <a:t>@endif</a:t>
            </a:r>
            <a:endParaRPr sz="2200">
              <a:latin typeface="Arial"/>
              <a:ea typeface="Arial"/>
              <a:cs typeface="Arial"/>
              <a:sym typeface="Arial"/>
            </a:endParaRPr>
          </a:p>
          <a:p>
            <a:pPr indent="-368300" lvl="0" marL="457200" rtl="0" algn="l">
              <a:lnSpc>
                <a:spcPct val="115000"/>
              </a:lnSpc>
              <a:spcBef>
                <a:spcPts val="2400"/>
              </a:spcBef>
              <a:spcAft>
                <a:spcPts val="0"/>
              </a:spcAft>
              <a:buClr>
                <a:schemeClr val="accent2"/>
              </a:buClr>
              <a:buSzPts val="2200"/>
              <a:buFont typeface="Arial"/>
              <a:buChar char="•"/>
            </a:pPr>
            <a:r>
              <a:rPr b="1" lang="en-US" sz="2200">
                <a:solidFill>
                  <a:schemeClr val="accent2"/>
                </a:solidFill>
                <a:latin typeface="Arial"/>
                <a:ea typeface="Arial"/>
                <a:cs typeface="Arial"/>
                <a:sym typeface="Arial"/>
              </a:rPr>
              <a:t>Redirect with Input Data</a:t>
            </a:r>
            <a:endParaRPr b="1" sz="2200">
              <a:solidFill>
                <a:schemeClr val="accent2"/>
              </a:solidFill>
              <a:latin typeface="Arial"/>
              <a:ea typeface="Arial"/>
              <a:cs typeface="Arial"/>
              <a:sym typeface="Arial"/>
            </a:endParaRPr>
          </a:p>
          <a:p>
            <a:pPr indent="0" lvl="0" marL="457200" rtl="0" algn="l">
              <a:lnSpc>
                <a:spcPct val="115000"/>
              </a:lnSpc>
              <a:spcBef>
                <a:spcPts val="600"/>
              </a:spcBef>
              <a:spcAft>
                <a:spcPts val="0"/>
              </a:spcAft>
              <a:buClr>
                <a:schemeClr val="dk1"/>
              </a:buClr>
              <a:buSzPts val="1100"/>
              <a:buFont typeface="Arial"/>
              <a:buNone/>
            </a:pPr>
            <a:r>
              <a:rPr lang="en-US" sz="2200">
                <a:latin typeface="Arial"/>
                <a:ea typeface="Arial"/>
                <a:cs typeface="Arial"/>
                <a:sym typeface="Arial"/>
              </a:rPr>
              <a:t>return redirect()-&gt;back()-&gt;withInput();</a:t>
            </a:r>
            <a:endParaRPr sz="2200">
              <a:latin typeface="Arial"/>
              <a:ea typeface="Arial"/>
              <a:cs typeface="Arial"/>
              <a:sym typeface="Arial"/>
            </a:endParaRPr>
          </a:p>
          <a:p>
            <a:pPr indent="0" lvl="0" marL="457200" rtl="0" algn="l">
              <a:lnSpc>
                <a:spcPct val="115000"/>
              </a:lnSpc>
              <a:spcBef>
                <a:spcPts val="1200"/>
              </a:spcBef>
              <a:spcAft>
                <a:spcPts val="0"/>
              </a:spcAft>
              <a:buNone/>
            </a:pPr>
            <a:r>
              <a:rPr lang="en-US" sz="2200">
                <a:latin typeface="Arial"/>
                <a:ea typeface="Arial"/>
                <a:cs typeface="Arial"/>
                <a:sym typeface="Arial"/>
              </a:rPr>
              <a:t> Keeps old form values</a:t>
            </a:r>
            <a:endParaRPr sz="2200">
              <a:latin typeface="Arial"/>
              <a:ea typeface="Arial"/>
              <a:cs typeface="Arial"/>
              <a:sym typeface="Arial"/>
            </a:endParaRPr>
          </a:p>
          <a:p>
            <a:pPr indent="0" lvl="0" marL="457200" rtl="0" algn="l">
              <a:lnSpc>
                <a:spcPct val="115000"/>
              </a:lnSpc>
              <a:spcBef>
                <a:spcPts val="1200"/>
              </a:spcBef>
              <a:spcAft>
                <a:spcPts val="0"/>
              </a:spcAft>
              <a:buClr>
                <a:schemeClr val="dk1"/>
              </a:buClr>
              <a:buSzPts val="1100"/>
              <a:buFont typeface="Arial"/>
              <a:buNone/>
            </a:pPr>
            <a:r>
              <a:rPr b="1" lang="en-US" sz="2200">
                <a:latin typeface="Arial"/>
                <a:ea typeface="Arial"/>
                <a:cs typeface="Arial"/>
                <a:sym typeface="Arial"/>
              </a:rPr>
              <a:t>In Blade</a:t>
            </a:r>
            <a:endParaRPr b="1" sz="2200">
              <a:latin typeface="Arial"/>
              <a:ea typeface="Arial"/>
              <a:cs typeface="Arial"/>
              <a:sym typeface="Arial"/>
            </a:endParaRPr>
          </a:p>
          <a:p>
            <a:pPr indent="457200" lvl="0" marL="457200" rtl="0" algn="l">
              <a:lnSpc>
                <a:spcPct val="115000"/>
              </a:lnSpc>
              <a:spcBef>
                <a:spcPts val="1200"/>
              </a:spcBef>
              <a:spcAft>
                <a:spcPts val="0"/>
              </a:spcAft>
              <a:buClr>
                <a:schemeClr val="dk1"/>
              </a:buClr>
              <a:buSzPts val="1100"/>
              <a:buFont typeface="Arial"/>
              <a:buNone/>
            </a:pPr>
            <a:r>
              <a:rPr lang="en-US" sz="2200">
                <a:latin typeface="Arial"/>
                <a:ea typeface="Arial"/>
                <a:cs typeface="Arial"/>
                <a:sym typeface="Arial"/>
              </a:rPr>
              <a:t>&lt;input type=”text" name="name" value="{{ old('name') }}"&gt;</a:t>
            </a:r>
            <a:endParaRPr sz="2200">
              <a:latin typeface="Arial"/>
              <a:ea typeface="Arial"/>
              <a:cs typeface="Arial"/>
              <a:sym typeface="Arial"/>
            </a:endParaRPr>
          </a:p>
          <a:p>
            <a:pPr indent="0" lvl="0" marL="0" rtl="0" algn="l">
              <a:spcBef>
                <a:spcPts val="1000"/>
              </a:spcBef>
              <a:spcAft>
                <a:spcPts val="0"/>
              </a:spcAft>
              <a:buNone/>
            </a:pPr>
            <a:r>
              <a:t/>
            </a:r>
            <a:endParaRPr sz="2200"/>
          </a:p>
        </p:txBody>
      </p:sp>
      <p:pic>
        <p:nvPicPr>
          <p:cNvPr id="594" name="Google Shape;594;g3d7ce474ce2_0_171"/>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g3d7ce474ce2_0_178"/>
          <p:cNvSpPr txBox="1"/>
          <p:nvPr>
            <p:ph idx="1" type="body"/>
          </p:nvPr>
        </p:nvSpPr>
        <p:spPr>
          <a:xfrm>
            <a:off x="721075" y="571450"/>
            <a:ext cx="10515600" cy="5739000"/>
          </a:xfrm>
          <a:prstGeom prst="rect">
            <a:avLst/>
          </a:prstGeom>
        </p:spPr>
        <p:txBody>
          <a:bodyPr anchorCtr="0" anchor="t" bIns="45700" lIns="91425" spcFirstLastPara="1" rIns="91425" wrap="square" tIns="45700">
            <a:noAutofit/>
          </a:bodyPr>
          <a:lstStyle/>
          <a:p>
            <a:pPr indent="-368300" lvl="0" marL="457200" rtl="0" algn="l">
              <a:lnSpc>
                <a:spcPct val="115000"/>
              </a:lnSpc>
              <a:spcBef>
                <a:spcPts val="2400"/>
              </a:spcBef>
              <a:spcAft>
                <a:spcPts val="0"/>
              </a:spcAft>
              <a:buClr>
                <a:schemeClr val="accent2"/>
              </a:buClr>
              <a:buSzPts val="2200"/>
              <a:buFont typeface="Arial"/>
              <a:buChar char="•"/>
            </a:pPr>
            <a:r>
              <a:rPr b="1" lang="en-US" sz="2200">
                <a:solidFill>
                  <a:schemeClr val="accent2"/>
                </a:solidFill>
                <a:latin typeface="Arial"/>
                <a:ea typeface="Arial"/>
                <a:cs typeface="Arial"/>
                <a:sym typeface="Arial"/>
              </a:rPr>
              <a:t>Redirect with Errors</a:t>
            </a:r>
            <a:endParaRPr b="1" sz="2200">
              <a:solidFill>
                <a:schemeClr val="accent2"/>
              </a:solidFill>
              <a:latin typeface="Arial"/>
              <a:ea typeface="Arial"/>
              <a:cs typeface="Arial"/>
              <a:sym typeface="Arial"/>
            </a:endParaRPr>
          </a:p>
          <a:p>
            <a:pPr indent="0" lvl="0" marL="457200" rtl="0" algn="l">
              <a:lnSpc>
                <a:spcPct val="115000"/>
              </a:lnSpc>
              <a:spcBef>
                <a:spcPts val="600"/>
              </a:spcBef>
              <a:spcAft>
                <a:spcPts val="0"/>
              </a:spcAft>
              <a:buClr>
                <a:schemeClr val="dk1"/>
              </a:buClr>
              <a:buSzPts val="1100"/>
              <a:buFont typeface="Arial"/>
              <a:buNone/>
            </a:pPr>
            <a:r>
              <a:rPr lang="en-US" sz="2200">
                <a:latin typeface="Arial"/>
                <a:ea typeface="Arial"/>
                <a:cs typeface="Arial"/>
                <a:sym typeface="Arial"/>
              </a:rPr>
              <a:t>return redirect()-&gt;back()-&gt;withErrors(['name' =&gt; 'Name is required']);</a:t>
            </a:r>
            <a:endParaRPr sz="2200">
              <a:latin typeface="Arial"/>
              <a:ea typeface="Arial"/>
              <a:cs typeface="Arial"/>
              <a:sym typeface="Arial"/>
            </a:endParaRPr>
          </a:p>
          <a:p>
            <a:pPr indent="0" lvl="0" marL="457200" rtl="0" algn="l">
              <a:lnSpc>
                <a:spcPct val="115000"/>
              </a:lnSpc>
              <a:spcBef>
                <a:spcPts val="1200"/>
              </a:spcBef>
              <a:spcAft>
                <a:spcPts val="0"/>
              </a:spcAft>
              <a:buClr>
                <a:schemeClr val="dk1"/>
              </a:buClr>
              <a:buSzPts val="1100"/>
              <a:buFont typeface="Arial"/>
              <a:buNone/>
            </a:pPr>
            <a:r>
              <a:rPr lang="en-US" sz="2200">
                <a:latin typeface="Arial"/>
                <a:ea typeface="Arial"/>
                <a:cs typeface="Arial"/>
                <a:sym typeface="Arial"/>
              </a:rPr>
              <a:t>Used in validation</a:t>
            </a:r>
            <a:endParaRPr sz="2200">
              <a:latin typeface="Arial"/>
              <a:ea typeface="Arial"/>
              <a:cs typeface="Arial"/>
              <a:sym typeface="Arial"/>
            </a:endParaRPr>
          </a:p>
          <a:p>
            <a:pPr indent="-368300" lvl="0" marL="457200" rtl="0" algn="l">
              <a:lnSpc>
                <a:spcPct val="115000"/>
              </a:lnSpc>
              <a:spcBef>
                <a:spcPts val="2400"/>
              </a:spcBef>
              <a:spcAft>
                <a:spcPts val="0"/>
              </a:spcAft>
              <a:buClr>
                <a:schemeClr val="accent2"/>
              </a:buClr>
              <a:buSzPts val="2200"/>
              <a:buFont typeface="Arial"/>
              <a:buChar char="•"/>
            </a:pPr>
            <a:r>
              <a:rPr b="1" lang="en-US" sz="2200">
                <a:solidFill>
                  <a:schemeClr val="accent2"/>
                </a:solidFill>
                <a:latin typeface="Arial"/>
                <a:ea typeface="Arial"/>
                <a:cs typeface="Arial"/>
                <a:sym typeface="Arial"/>
              </a:rPr>
              <a:t>Redirect with HTTP Status Code</a:t>
            </a:r>
            <a:endParaRPr b="1" sz="2200">
              <a:solidFill>
                <a:schemeClr val="accent2"/>
              </a:solidFill>
              <a:latin typeface="Arial"/>
              <a:ea typeface="Arial"/>
              <a:cs typeface="Arial"/>
              <a:sym typeface="Arial"/>
            </a:endParaRPr>
          </a:p>
          <a:p>
            <a:pPr indent="0" lvl="0" marL="457200" rtl="0" algn="l">
              <a:lnSpc>
                <a:spcPct val="115000"/>
              </a:lnSpc>
              <a:spcBef>
                <a:spcPts val="600"/>
              </a:spcBef>
              <a:spcAft>
                <a:spcPts val="0"/>
              </a:spcAft>
              <a:buClr>
                <a:schemeClr val="dk1"/>
              </a:buClr>
              <a:buSzPts val="1100"/>
              <a:buFont typeface="Arial"/>
              <a:buNone/>
            </a:pPr>
            <a:r>
              <a:rPr lang="en-US" sz="2200">
                <a:latin typeface="Arial"/>
                <a:ea typeface="Arial"/>
                <a:cs typeface="Arial"/>
                <a:sym typeface="Arial"/>
              </a:rPr>
              <a:t>return redirect('/home', 301);</a:t>
            </a:r>
            <a:endParaRPr sz="2200">
              <a:solidFill>
                <a:schemeClr val="accent2"/>
              </a:solidFill>
              <a:highlight>
                <a:schemeClr val="lt1"/>
              </a:highlight>
              <a:latin typeface="Arial"/>
              <a:ea typeface="Arial"/>
              <a:cs typeface="Arial"/>
              <a:sym typeface="Arial"/>
            </a:endParaRPr>
          </a:p>
          <a:p>
            <a:pPr indent="-368300" lvl="0" marL="914400" rtl="0" algn="l">
              <a:lnSpc>
                <a:spcPct val="115000"/>
              </a:lnSpc>
              <a:spcBef>
                <a:spcPts val="1200"/>
              </a:spcBef>
              <a:spcAft>
                <a:spcPts val="0"/>
              </a:spcAft>
              <a:buSzPts val="2200"/>
              <a:buChar char="●"/>
            </a:pPr>
            <a:r>
              <a:rPr lang="en-US" sz="2200">
                <a:solidFill>
                  <a:srgbClr val="188038"/>
                </a:solidFill>
                <a:latin typeface="Roboto Mono"/>
                <a:ea typeface="Roboto Mono"/>
                <a:cs typeface="Roboto Mono"/>
                <a:sym typeface="Roboto Mono"/>
              </a:rPr>
              <a:t>302</a:t>
            </a:r>
            <a:r>
              <a:rPr lang="en-US" sz="2200">
                <a:latin typeface="Arial"/>
                <a:ea typeface="Arial"/>
                <a:cs typeface="Arial"/>
                <a:sym typeface="Arial"/>
              </a:rPr>
              <a:t> → Temporary (default)</a:t>
            </a:r>
            <a:endParaRPr sz="2200">
              <a:latin typeface="Arial"/>
              <a:ea typeface="Arial"/>
              <a:cs typeface="Arial"/>
              <a:sym typeface="Arial"/>
            </a:endParaRPr>
          </a:p>
          <a:p>
            <a:pPr indent="-368300" lvl="0" marL="914400" rtl="0" algn="l">
              <a:lnSpc>
                <a:spcPct val="115000"/>
              </a:lnSpc>
              <a:spcBef>
                <a:spcPts val="0"/>
              </a:spcBef>
              <a:spcAft>
                <a:spcPts val="0"/>
              </a:spcAft>
              <a:buSzPts val="2200"/>
              <a:buChar char="●"/>
            </a:pPr>
            <a:r>
              <a:rPr lang="en-US" sz="2200">
                <a:solidFill>
                  <a:srgbClr val="188038"/>
                </a:solidFill>
                <a:latin typeface="Roboto Mono"/>
                <a:ea typeface="Roboto Mono"/>
                <a:cs typeface="Roboto Mono"/>
                <a:sym typeface="Roboto Mono"/>
              </a:rPr>
              <a:t>301</a:t>
            </a:r>
            <a:r>
              <a:rPr lang="en-US" sz="2200">
                <a:latin typeface="Arial"/>
                <a:ea typeface="Arial"/>
                <a:cs typeface="Arial"/>
                <a:sym typeface="Arial"/>
              </a:rPr>
              <a:t> → Permanent</a:t>
            </a:r>
            <a:endParaRPr sz="2200">
              <a:latin typeface="Arial"/>
              <a:ea typeface="Arial"/>
              <a:cs typeface="Arial"/>
              <a:sym typeface="Arial"/>
            </a:endParaRPr>
          </a:p>
          <a:p>
            <a:pPr indent="0" lvl="0" marL="457200" rtl="0" algn="l">
              <a:lnSpc>
                <a:spcPct val="115000"/>
              </a:lnSpc>
              <a:spcBef>
                <a:spcPts val="1200"/>
              </a:spcBef>
              <a:spcAft>
                <a:spcPts val="0"/>
              </a:spcAft>
              <a:buNone/>
            </a:pPr>
            <a:r>
              <a:t/>
            </a:r>
            <a:endParaRPr sz="2200">
              <a:latin typeface="Arial"/>
              <a:ea typeface="Arial"/>
              <a:cs typeface="Arial"/>
              <a:sym typeface="Arial"/>
            </a:endParaRPr>
          </a:p>
          <a:p>
            <a:pPr indent="-368300" lvl="0" marL="457200" rtl="0" algn="l">
              <a:lnSpc>
                <a:spcPct val="115000"/>
              </a:lnSpc>
              <a:spcBef>
                <a:spcPts val="1200"/>
              </a:spcBef>
              <a:spcAft>
                <a:spcPts val="0"/>
              </a:spcAft>
              <a:buClr>
                <a:schemeClr val="accent2"/>
              </a:buClr>
              <a:buSzPts val="2200"/>
              <a:buFont typeface="Arial"/>
              <a:buChar char="●"/>
            </a:pPr>
            <a:r>
              <a:rPr b="1" lang="en-US" sz="2200">
                <a:solidFill>
                  <a:schemeClr val="accent2"/>
                </a:solidFill>
                <a:highlight>
                  <a:schemeClr val="lt1"/>
                </a:highlight>
                <a:latin typeface="Arial"/>
                <a:ea typeface="Arial"/>
                <a:cs typeface="Arial"/>
                <a:sym typeface="Arial"/>
              </a:rPr>
              <a:t>Redirect to External URL</a:t>
            </a:r>
            <a:endParaRPr b="1" sz="2200">
              <a:solidFill>
                <a:schemeClr val="accent2"/>
              </a:solidFill>
              <a:highlight>
                <a:schemeClr val="lt1"/>
              </a:highlight>
              <a:latin typeface="Arial"/>
              <a:ea typeface="Arial"/>
              <a:cs typeface="Arial"/>
              <a:sym typeface="Arial"/>
            </a:endParaRPr>
          </a:p>
          <a:p>
            <a:pPr indent="0" lvl="0" marL="457200" rtl="0" algn="l">
              <a:lnSpc>
                <a:spcPct val="115000"/>
              </a:lnSpc>
              <a:spcBef>
                <a:spcPts val="1200"/>
              </a:spcBef>
              <a:spcAft>
                <a:spcPts val="0"/>
              </a:spcAft>
              <a:buNone/>
            </a:pPr>
            <a:r>
              <a:rPr lang="en-US" sz="2200">
                <a:latin typeface="Arial"/>
                <a:ea typeface="Arial"/>
                <a:cs typeface="Arial"/>
                <a:sym typeface="Arial"/>
              </a:rPr>
              <a:t>return redirect()-&gt;away('https://google.com');</a:t>
            </a:r>
            <a:endParaRPr sz="2200">
              <a:latin typeface="Arial"/>
              <a:ea typeface="Arial"/>
              <a:cs typeface="Arial"/>
              <a:sym typeface="Arial"/>
            </a:endParaRPr>
          </a:p>
          <a:p>
            <a:pPr indent="0" lvl="0" marL="457200" rtl="0" algn="l">
              <a:lnSpc>
                <a:spcPct val="115000"/>
              </a:lnSpc>
              <a:spcBef>
                <a:spcPts val="1200"/>
              </a:spcBef>
              <a:spcAft>
                <a:spcPts val="0"/>
              </a:spcAft>
              <a:buNone/>
            </a:pPr>
            <a:r>
              <a:rPr lang="en-US" sz="2200">
                <a:latin typeface="Arial"/>
                <a:ea typeface="Arial"/>
                <a:cs typeface="Arial"/>
                <a:sym typeface="Arial"/>
              </a:rPr>
              <a:t>Bypasses Laravel URL validation</a:t>
            </a:r>
            <a:endParaRPr sz="2200">
              <a:latin typeface="Arial"/>
              <a:ea typeface="Arial"/>
              <a:cs typeface="Arial"/>
              <a:sym typeface="Arial"/>
            </a:endParaRPr>
          </a:p>
          <a:p>
            <a:pPr indent="0" lvl="0" marL="0" rtl="0" algn="l">
              <a:spcBef>
                <a:spcPts val="1200"/>
              </a:spcBef>
              <a:spcAft>
                <a:spcPts val="0"/>
              </a:spcAft>
              <a:buNone/>
            </a:pPr>
            <a:r>
              <a:t/>
            </a:r>
            <a:endParaRPr sz="2200"/>
          </a:p>
        </p:txBody>
      </p:sp>
      <p:pic>
        <p:nvPicPr>
          <p:cNvPr id="600" name="Google Shape;600;g3d7ce474ce2_0_178"/>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g3d7ce474ce2_0_185"/>
          <p:cNvSpPr txBox="1"/>
          <p:nvPr>
            <p:ph idx="1" type="body"/>
          </p:nvPr>
        </p:nvSpPr>
        <p:spPr>
          <a:xfrm>
            <a:off x="838200" y="519400"/>
            <a:ext cx="10515600" cy="5657400"/>
          </a:xfrm>
          <a:prstGeom prst="rect">
            <a:avLst/>
          </a:prstGeom>
        </p:spPr>
        <p:txBody>
          <a:bodyPr anchorCtr="0" anchor="t" bIns="45700" lIns="91425" spcFirstLastPara="1" rIns="91425" wrap="square" tIns="45700">
            <a:normAutofit/>
          </a:bodyPr>
          <a:lstStyle/>
          <a:p>
            <a:pPr indent="-368300" lvl="0" marL="457200" rtl="0" algn="l">
              <a:lnSpc>
                <a:spcPct val="115000"/>
              </a:lnSpc>
              <a:spcBef>
                <a:spcPts val="2400"/>
              </a:spcBef>
              <a:spcAft>
                <a:spcPts val="0"/>
              </a:spcAft>
              <a:buClr>
                <a:schemeClr val="accent2"/>
              </a:buClr>
              <a:buSzPts val="2200"/>
              <a:buFont typeface="Arial"/>
              <a:buChar char="•"/>
            </a:pPr>
            <a:r>
              <a:rPr b="1" lang="en-US" sz="2200">
                <a:solidFill>
                  <a:schemeClr val="accent2"/>
                </a:solidFill>
                <a:latin typeface="Arial"/>
                <a:ea typeface="Arial"/>
                <a:cs typeface="Arial"/>
                <a:sym typeface="Arial"/>
              </a:rPr>
              <a:t>Redirect in Routes</a:t>
            </a:r>
            <a:endParaRPr b="1" sz="2200">
              <a:solidFill>
                <a:schemeClr val="accent2"/>
              </a:solidFill>
              <a:latin typeface="Arial"/>
              <a:ea typeface="Arial"/>
              <a:cs typeface="Arial"/>
              <a:sym typeface="Arial"/>
            </a:endParaRPr>
          </a:p>
          <a:p>
            <a:pPr indent="0" lvl="0" marL="457200" rtl="0" algn="l">
              <a:lnSpc>
                <a:spcPct val="115000"/>
              </a:lnSpc>
              <a:spcBef>
                <a:spcPts val="600"/>
              </a:spcBef>
              <a:spcAft>
                <a:spcPts val="0"/>
              </a:spcAft>
              <a:buClr>
                <a:schemeClr val="dk1"/>
              </a:buClr>
              <a:buSzPts val="1100"/>
              <a:buFont typeface="Arial"/>
              <a:buNone/>
            </a:pPr>
            <a:r>
              <a:rPr lang="en-US" sz="2200">
                <a:latin typeface="Arial"/>
                <a:ea typeface="Arial"/>
                <a:cs typeface="Arial"/>
                <a:sym typeface="Arial"/>
              </a:rPr>
              <a:t>Route::get('/old-page', function () {</a:t>
            </a:r>
            <a:endParaRPr sz="2200">
              <a:latin typeface="Arial"/>
              <a:ea typeface="Arial"/>
              <a:cs typeface="Arial"/>
              <a:sym typeface="Arial"/>
            </a:endParaRPr>
          </a:p>
          <a:p>
            <a:pPr indent="0" lvl="0" marL="457200" rtl="0" algn="l">
              <a:lnSpc>
                <a:spcPct val="115000"/>
              </a:lnSpc>
              <a:spcBef>
                <a:spcPts val="0"/>
              </a:spcBef>
              <a:spcAft>
                <a:spcPts val="0"/>
              </a:spcAft>
              <a:buClr>
                <a:schemeClr val="dk1"/>
              </a:buClr>
              <a:buSzPts val="1100"/>
              <a:buFont typeface="Arial"/>
              <a:buNone/>
            </a:pPr>
            <a:r>
              <a:rPr lang="en-US" sz="2200">
                <a:latin typeface="Arial"/>
                <a:ea typeface="Arial"/>
                <a:cs typeface="Arial"/>
                <a:sym typeface="Arial"/>
              </a:rPr>
              <a:t>   return redirect('/new-page');</a:t>
            </a:r>
            <a:endParaRPr sz="2200">
              <a:latin typeface="Arial"/>
              <a:ea typeface="Arial"/>
              <a:cs typeface="Arial"/>
              <a:sym typeface="Arial"/>
            </a:endParaRPr>
          </a:p>
          <a:p>
            <a:pPr indent="0" lvl="0" marL="457200" rtl="0" algn="l">
              <a:lnSpc>
                <a:spcPct val="115000"/>
              </a:lnSpc>
              <a:spcBef>
                <a:spcPts val="0"/>
              </a:spcBef>
              <a:spcAft>
                <a:spcPts val="0"/>
              </a:spcAft>
              <a:buClr>
                <a:schemeClr val="dk1"/>
              </a:buClr>
              <a:buSzPts val="1100"/>
              <a:buFont typeface="Arial"/>
              <a:buNone/>
            </a:pPr>
            <a:r>
              <a:rPr lang="en-US" sz="2200">
                <a:latin typeface="Arial"/>
                <a:ea typeface="Arial"/>
                <a:cs typeface="Arial"/>
                <a:sym typeface="Arial"/>
              </a:rPr>
              <a:t>});</a:t>
            </a:r>
            <a:endParaRPr sz="2200">
              <a:latin typeface="Arial"/>
              <a:ea typeface="Arial"/>
              <a:cs typeface="Arial"/>
              <a:sym typeface="Arial"/>
            </a:endParaRPr>
          </a:p>
          <a:p>
            <a:pPr indent="-368300" lvl="0" marL="457200" rtl="0" algn="l">
              <a:lnSpc>
                <a:spcPct val="115000"/>
              </a:lnSpc>
              <a:spcBef>
                <a:spcPts val="2400"/>
              </a:spcBef>
              <a:spcAft>
                <a:spcPts val="0"/>
              </a:spcAft>
              <a:buClr>
                <a:schemeClr val="accent2"/>
              </a:buClr>
              <a:buSzPts val="2200"/>
              <a:buFont typeface="Arial"/>
              <a:buChar char="•"/>
            </a:pPr>
            <a:r>
              <a:rPr b="1" lang="en-US" sz="2200">
                <a:solidFill>
                  <a:schemeClr val="accent2"/>
                </a:solidFill>
                <a:latin typeface="Arial"/>
                <a:ea typeface="Arial"/>
                <a:cs typeface="Arial"/>
                <a:sym typeface="Arial"/>
              </a:rPr>
              <a:t>Redirect using Route Shortcut</a:t>
            </a:r>
            <a:endParaRPr b="1" sz="2200">
              <a:solidFill>
                <a:schemeClr val="accent2"/>
              </a:solidFill>
              <a:latin typeface="Arial"/>
              <a:ea typeface="Arial"/>
              <a:cs typeface="Arial"/>
              <a:sym typeface="Arial"/>
            </a:endParaRPr>
          </a:p>
          <a:p>
            <a:pPr indent="457200" lvl="0" marL="0" rtl="0" algn="l">
              <a:lnSpc>
                <a:spcPct val="115000"/>
              </a:lnSpc>
              <a:spcBef>
                <a:spcPts val="600"/>
              </a:spcBef>
              <a:spcAft>
                <a:spcPts val="0"/>
              </a:spcAft>
              <a:buNone/>
            </a:pPr>
            <a:r>
              <a:rPr lang="en-US" sz="2200">
                <a:latin typeface="Arial"/>
                <a:ea typeface="Arial"/>
                <a:cs typeface="Arial"/>
                <a:sym typeface="Arial"/>
              </a:rPr>
              <a:t>Route::redirect('/old', '/new', 301);</a:t>
            </a:r>
            <a:endParaRPr sz="2200">
              <a:latin typeface="Arial"/>
              <a:ea typeface="Arial"/>
              <a:cs typeface="Arial"/>
              <a:sym typeface="Arial"/>
            </a:endParaRPr>
          </a:p>
          <a:p>
            <a:pPr indent="-368300" lvl="0" marL="457200" rtl="0" algn="l">
              <a:lnSpc>
                <a:spcPct val="115000"/>
              </a:lnSpc>
              <a:spcBef>
                <a:spcPts val="2400"/>
              </a:spcBef>
              <a:spcAft>
                <a:spcPts val="0"/>
              </a:spcAft>
              <a:buClr>
                <a:schemeClr val="accent2"/>
              </a:buClr>
              <a:buSzPts val="2200"/>
              <a:buChar char="•"/>
            </a:pPr>
            <a:r>
              <a:rPr b="1" lang="en-US" sz="2200">
                <a:solidFill>
                  <a:schemeClr val="accent2"/>
                </a:solidFill>
                <a:latin typeface="Arial"/>
                <a:ea typeface="Arial"/>
                <a:cs typeface="Arial"/>
                <a:sym typeface="Arial"/>
              </a:rPr>
              <a:t>Redirect to fallback</a:t>
            </a:r>
            <a:endParaRPr b="1" sz="2200">
              <a:solidFill>
                <a:schemeClr val="accent2"/>
              </a:solidFill>
              <a:latin typeface="Arial"/>
              <a:ea typeface="Arial"/>
              <a:cs typeface="Arial"/>
              <a:sym typeface="Arial"/>
            </a:endParaRPr>
          </a:p>
          <a:p>
            <a:pPr indent="0" lvl="0" marL="457200" rtl="0" algn="l">
              <a:lnSpc>
                <a:spcPct val="115000"/>
              </a:lnSpc>
              <a:spcBef>
                <a:spcPts val="600"/>
              </a:spcBef>
              <a:spcAft>
                <a:spcPts val="0"/>
              </a:spcAft>
              <a:buNone/>
            </a:pPr>
            <a:r>
              <a:rPr lang="en-US" sz="2200">
                <a:latin typeface="Arial"/>
                <a:ea typeface="Arial"/>
                <a:cs typeface="Arial"/>
                <a:sym typeface="Arial"/>
              </a:rPr>
              <a:t>Route::fallback('/route', function () {</a:t>
            </a:r>
            <a:endParaRPr sz="2200">
              <a:latin typeface="Arial"/>
              <a:ea typeface="Arial"/>
              <a:cs typeface="Arial"/>
              <a:sym typeface="Arial"/>
            </a:endParaRPr>
          </a:p>
          <a:p>
            <a:pPr indent="0" lvl="0" marL="457200" rtl="0" algn="l">
              <a:lnSpc>
                <a:spcPct val="115000"/>
              </a:lnSpc>
              <a:spcBef>
                <a:spcPts val="0"/>
              </a:spcBef>
              <a:spcAft>
                <a:spcPts val="0"/>
              </a:spcAft>
              <a:buNone/>
            </a:pPr>
            <a:r>
              <a:rPr lang="en-US" sz="2200">
                <a:latin typeface="Arial"/>
                <a:ea typeface="Arial"/>
                <a:cs typeface="Arial"/>
                <a:sym typeface="Arial"/>
              </a:rPr>
              <a:t>   return “page not existing;</a:t>
            </a:r>
            <a:endParaRPr sz="2200">
              <a:latin typeface="Arial"/>
              <a:ea typeface="Arial"/>
              <a:cs typeface="Arial"/>
              <a:sym typeface="Arial"/>
            </a:endParaRPr>
          </a:p>
          <a:p>
            <a:pPr indent="0" lvl="0" marL="457200" rtl="0" algn="l">
              <a:lnSpc>
                <a:spcPct val="115000"/>
              </a:lnSpc>
              <a:spcBef>
                <a:spcPts val="0"/>
              </a:spcBef>
              <a:spcAft>
                <a:spcPts val="0"/>
              </a:spcAft>
              <a:buNone/>
            </a:pPr>
            <a:r>
              <a:rPr lang="en-US" sz="2200">
                <a:latin typeface="Arial"/>
                <a:ea typeface="Arial"/>
                <a:cs typeface="Arial"/>
                <a:sym typeface="Arial"/>
              </a:rPr>
              <a:t>});</a:t>
            </a:r>
            <a:endParaRPr b="1" sz="2200">
              <a:solidFill>
                <a:schemeClr val="accent2"/>
              </a:solidFill>
              <a:latin typeface="Arial"/>
              <a:ea typeface="Arial"/>
              <a:cs typeface="Arial"/>
              <a:sym typeface="Arial"/>
            </a:endParaRPr>
          </a:p>
          <a:p>
            <a:pPr indent="0" lvl="0" marL="0" rtl="0" algn="l">
              <a:spcBef>
                <a:spcPts val="1000"/>
              </a:spcBef>
              <a:spcAft>
                <a:spcPts val="0"/>
              </a:spcAft>
              <a:buNone/>
            </a:pPr>
            <a:r>
              <a:rPr lang="en-US" sz="2200"/>
              <a:t>// Here for the route, pass the route value that is not existing in the project, and then instead of 404/not found, it will display this return page not existing.</a:t>
            </a:r>
            <a:endParaRPr sz="2200"/>
          </a:p>
        </p:txBody>
      </p:sp>
      <p:pic>
        <p:nvPicPr>
          <p:cNvPr id="606" name="Google Shape;606;g3d7ce474ce2_0_185"/>
          <p:cNvPicPr preferRelativeResize="0"/>
          <p:nvPr/>
        </p:nvPicPr>
        <p:blipFill rotWithShape="1">
          <a:blip r:embed="rId3">
            <a:alphaModFix/>
          </a:blip>
          <a:srcRect b="0" l="0" r="0" t="0"/>
          <a:stretch/>
        </p:blipFill>
        <p:spPr>
          <a:xfrm>
            <a:off x="10390100" y="114375"/>
            <a:ext cx="1676400" cy="679450"/>
          </a:xfrm>
          <a:prstGeom prst="rect">
            <a:avLst/>
          </a:prstGeom>
          <a:noFill/>
          <a:ln>
            <a:noFill/>
          </a:ln>
        </p:spPr>
      </p:pic>
      <p:pic>
        <p:nvPicPr>
          <p:cNvPr id="607" name="Google Shape;607;g3d7ce474ce2_0_185"/>
          <p:cNvPicPr preferRelativeResize="0"/>
          <p:nvPr/>
        </p:nvPicPr>
        <p:blipFill rotWithShape="1">
          <a:blip r:embed="rId3">
            <a:alphaModFix/>
          </a:blip>
          <a:srcRect b="0" l="0" r="0" t="0"/>
          <a:stretch/>
        </p:blipFill>
        <p:spPr>
          <a:xfrm>
            <a:off x="10542500" y="266775"/>
            <a:ext cx="1676400" cy="679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2025-02-05T09:56:21Z</dcterms:created>
  <dc:creator>Yatika hasija</dc:creator>
</cp:coreProperties>
</file>