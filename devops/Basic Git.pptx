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1"/>
  </p:notesMasterIdLst>
  <p:sldIdLst>
    <p:sldId id="256" r:id="rId2"/>
    <p:sldId id="271" r:id="rId3"/>
    <p:sldId id="273" r:id="rId4"/>
    <p:sldId id="269" r:id="rId5"/>
    <p:sldId id="268" r:id="rId6"/>
    <p:sldId id="272" r:id="rId7"/>
    <p:sldId id="265" r:id="rId8"/>
    <p:sldId id="371" r:id="rId9"/>
    <p:sldId id="264" r:id="rId10"/>
    <p:sldId id="263" r:id="rId11"/>
    <p:sldId id="275" r:id="rId12"/>
    <p:sldId id="372" r:id="rId13"/>
    <p:sldId id="262" r:id="rId14"/>
    <p:sldId id="261" r:id="rId15"/>
    <p:sldId id="274" r:id="rId16"/>
    <p:sldId id="260" r:id="rId17"/>
    <p:sldId id="259" r:id="rId18"/>
    <p:sldId id="258" r:id="rId19"/>
    <p:sldId id="257" r:id="rId20"/>
    <p:sldId id="276" r:id="rId21"/>
    <p:sldId id="277" r:id="rId22"/>
    <p:sldId id="278" r:id="rId23"/>
    <p:sldId id="279" r:id="rId24"/>
    <p:sldId id="280" r:id="rId25"/>
    <p:sldId id="294" r:id="rId26"/>
    <p:sldId id="303" r:id="rId27"/>
    <p:sldId id="304" r:id="rId28"/>
    <p:sldId id="305" r:id="rId29"/>
    <p:sldId id="295" r:id="rId30"/>
    <p:sldId id="296" r:id="rId31"/>
    <p:sldId id="297" r:id="rId32"/>
    <p:sldId id="306" r:id="rId33"/>
    <p:sldId id="298" r:id="rId34"/>
    <p:sldId id="299" r:id="rId35"/>
    <p:sldId id="307" r:id="rId36"/>
    <p:sldId id="300" r:id="rId37"/>
    <p:sldId id="301" r:id="rId38"/>
    <p:sldId id="308" r:id="rId39"/>
    <p:sldId id="309" r:id="rId40"/>
    <p:sldId id="311" r:id="rId41"/>
    <p:sldId id="312" r:id="rId42"/>
    <p:sldId id="313" r:id="rId43"/>
    <p:sldId id="314" r:id="rId44"/>
    <p:sldId id="315" r:id="rId45"/>
    <p:sldId id="316" r:id="rId46"/>
    <p:sldId id="317" r:id="rId47"/>
    <p:sldId id="318" r:id="rId48"/>
    <p:sldId id="319" r:id="rId49"/>
    <p:sldId id="320" r:id="rId50"/>
    <p:sldId id="321" r:id="rId51"/>
    <p:sldId id="322" r:id="rId52"/>
    <p:sldId id="324" r:id="rId53"/>
    <p:sldId id="325" r:id="rId54"/>
    <p:sldId id="326" r:id="rId55"/>
    <p:sldId id="327" r:id="rId56"/>
    <p:sldId id="328" r:id="rId57"/>
    <p:sldId id="329" r:id="rId58"/>
    <p:sldId id="331" r:id="rId59"/>
    <p:sldId id="333" r:id="rId60"/>
    <p:sldId id="330" r:id="rId61"/>
    <p:sldId id="332" r:id="rId62"/>
    <p:sldId id="334" r:id="rId63"/>
    <p:sldId id="341" r:id="rId64"/>
    <p:sldId id="342" r:id="rId65"/>
    <p:sldId id="343" r:id="rId66"/>
    <p:sldId id="344" r:id="rId67"/>
    <p:sldId id="345" r:id="rId68"/>
    <p:sldId id="346" r:id="rId69"/>
    <p:sldId id="348" r:id="rId70"/>
    <p:sldId id="349" r:id="rId71"/>
    <p:sldId id="351" r:id="rId72"/>
    <p:sldId id="353" r:id="rId73"/>
    <p:sldId id="354" r:id="rId74"/>
    <p:sldId id="323" r:id="rId75"/>
    <p:sldId id="356" r:id="rId76"/>
    <p:sldId id="357" r:id="rId77"/>
    <p:sldId id="358" r:id="rId78"/>
    <p:sldId id="359" r:id="rId79"/>
    <p:sldId id="360" r:id="rId80"/>
    <p:sldId id="361" r:id="rId81"/>
    <p:sldId id="362" r:id="rId82"/>
    <p:sldId id="363" r:id="rId83"/>
    <p:sldId id="364" r:id="rId84"/>
    <p:sldId id="365" r:id="rId85"/>
    <p:sldId id="366" r:id="rId86"/>
    <p:sldId id="367" r:id="rId87"/>
    <p:sldId id="368" r:id="rId88"/>
    <p:sldId id="369" r:id="rId89"/>
    <p:sldId id="370"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54" d="100"/>
          <a:sy n="54" d="100"/>
        </p:scale>
        <p:origin x="1338"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10/28/2025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96440"/>
            <a:ext cx="9144000" cy="1466215"/>
          </a:xfrm>
        </p:spPr>
        <p:txBody>
          <a:bodyPr>
            <a:normAutofit/>
          </a:bodyPr>
          <a:lstStyle/>
          <a:p>
            <a:r>
              <a:rPr lang="en-US"/>
              <a:t>Basic Git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490"/>
          </a:xfrm>
        </p:spPr>
        <p:txBody>
          <a:bodyPr/>
          <a:lstStyle/>
          <a:p>
            <a:r>
              <a:rPr lang="en-US"/>
              <a:t>Basic Git</a:t>
            </a:r>
          </a:p>
        </p:txBody>
      </p:sp>
      <p:sp>
        <p:nvSpPr>
          <p:cNvPr id="3" name="Content Placeholder 2"/>
          <p:cNvSpPr>
            <a:spLocks noGrp="1"/>
          </p:cNvSpPr>
          <p:nvPr>
            <p:ph idx="1"/>
          </p:nvPr>
        </p:nvSpPr>
        <p:spPr/>
        <p:txBody>
          <a:bodyPr/>
          <a:lstStyle/>
          <a:p>
            <a:r>
              <a:rPr lang="en-US"/>
              <a:t>Introduction to Git</a:t>
            </a:r>
          </a:p>
          <a:p>
            <a:r>
              <a:rPr lang="en-US"/>
              <a:t>Git lifecycle</a:t>
            </a:r>
          </a:p>
          <a:p>
            <a:r>
              <a:rPr lang="en-US"/>
              <a:t>Common Git command</a:t>
            </a:r>
          </a:p>
          <a:p>
            <a:r>
              <a:rPr lang="en-US"/>
              <a:t>Git Workflow</a:t>
            </a:r>
          </a:p>
          <a:p>
            <a:r>
              <a:rPr lang="en-US"/>
              <a:t>Working with Remote Repository</a:t>
            </a:r>
          </a:p>
          <a:p>
            <a:r>
              <a:rPr lang="en-US"/>
              <a:t>Version controlling using Git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325"/>
          </a:xfrm>
        </p:spPr>
        <p:txBody>
          <a:bodyPr>
            <a:normAutofit fontScale="90000"/>
          </a:bodyPr>
          <a:lstStyle/>
          <a:p>
            <a:r>
              <a:rPr lang="en-US"/>
              <a:t>GitHub</a:t>
            </a:r>
          </a:p>
        </p:txBody>
      </p:sp>
      <p:sp>
        <p:nvSpPr>
          <p:cNvPr id="3" name="Content Placeholder 2"/>
          <p:cNvSpPr>
            <a:spLocks noGrp="1"/>
          </p:cNvSpPr>
          <p:nvPr>
            <p:ph idx="1"/>
          </p:nvPr>
        </p:nvSpPr>
        <p:spPr>
          <a:xfrm>
            <a:off x="838200" y="1114425"/>
            <a:ext cx="10515600" cy="5062855"/>
          </a:xfrm>
        </p:spPr>
        <p:txBody>
          <a:bodyPr>
            <a:normAutofit/>
          </a:bodyPr>
          <a:lstStyle/>
          <a:p>
            <a:r>
              <a:rPr lang="en-US" sz="2400"/>
              <a:t>GitHub is a cloud-based platform where you can store, share, and work together with others to write code.</a:t>
            </a:r>
          </a:p>
          <a:p>
            <a:r>
              <a:rPr lang="en-US" sz="2400"/>
              <a:t>Storing your code in a "repository" on GitHub allows you to:</a:t>
            </a:r>
            <a:endParaRPr lang="en-US"/>
          </a:p>
          <a:p>
            <a:pPr marL="0" indent="0">
              <a:buNone/>
            </a:pPr>
            <a:endParaRPr lang="en-US"/>
          </a:p>
          <a:p>
            <a:pPr lvl="2"/>
            <a:r>
              <a:rPr lang="en-US"/>
              <a:t>Showcase or share your work.</a:t>
            </a:r>
          </a:p>
          <a:p>
            <a:pPr lvl="2"/>
            <a:r>
              <a:rPr lang="en-US"/>
              <a:t>Track and manage changes to your code over time.</a:t>
            </a:r>
          </a:p>
          <a:p>
            <a:pPr lvl="2"/>
            <a:r>
              <a:rPr lang="en-US"/>
              <a:t>Let others review your code, and make suggestions to improve it.</a:t>
            </a:r>
          </a:p>
          <a:p>
            <a:pPr lvl="2"/>
            <a:r>
              <a:rPr lang="en-US"/>
              <a:t>Collaborate on a shared project, without worrying that your changes will impact the work of your collaborators before you're ready to integrate them.</a:t>
            </a:r>
          </a:p>
          <a:p>
            <a:pPr marL="914400" lvl="2" indent="0">
              <a:buNone/>
            </a:pPr>
            <a:endParaRPr lang="en-US"/>
          </a:p>
          <a:p>
            <a:r>
              <a:rPr lang="en-US" sz="2400"/>
              <a:t>Collaborative working, one of GitHub’s fundamental features, is made possible by the open-source software, Git, upon which GitHub is built.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8360"/>
          </a:xfrm>
        </p:spPr>
        <p:txBody>
          <a:bodyPr/>
          <a:lstStyle/>
          <a:p>
            <a:r>
              <a:rPr lang="en-US"/>
              <a:t>Version Control System </a:t>
            </a:r>
          </a:p>
        </p:txBody>
      </p:sp>
      <p:sp>
        <p:nvSpPr>
          <p:cNvPr id="3" name="Content Placeholder 2"/>
          <p:cNvSpPr>
            <a:spLocks noGrp="1"/>
          </p:cNvSpPr>
          <p:nvPr>
            <p:ph idx="1"/>
          </p:nvPr>
        </p:nvSpPr>
        <p:spPr>
          <a:xfrm>
            <a:off x="838200" y="1534160"/>
            <a:ext cx="10515600" cy="4643120"/>
          </a:xfrm>
        </p:spPr>
        <p:txBody>
          <a:bodyPr>
            <a:normAutofit/>
          </a:bodyPr>
          <a:lstStyle/>
          <a:p>
            <a:r>
              <a:rPr lang="en-US"/>
              <a:t>A version control system, or VCS, tracks the history of changes as people and teams collaborate on projects together. </a:t>
            </a:r>
          </a:p>
          <a:p>
            <a:r>
              <a:rPr lang="en-US"/>
              <a:t>As developers make changes to the project, any earlier version of the project can be recovered at any time.</a:t>
            </a:r>
          </a:p>
          <a:p>
            <a:r>
              <a:rPr lang="en-US"/>
              <a:t>Developers can review project history to find out:</a:t>
            </a:r>
          </a:p>
          <a:p>
            <a:pPr lvl="2"/>
            <a:r>
              <a:rPr lang="en-US"/>
              <a:t>Which changes were made?</a:t>
            </a:r>
          </a:p>
          <a:p>
            <a:pPr lvl="2"/>
            <a:r>
              <a:rPr lang="en-US"/>
              <a:t>Who made the changes?</a:t>
            </a:r>
          </a:p>
          <a:p>
            <a:pPr lvl="2"/>
            <a:r>
              <a:rPr lang="en-US"/>
              <a:t>When were the changes made?</a:t>
            </a:r>
          </a:p>
          <a:p>
            <a:pPr lvl="2"/>
            <a:r>
              <a:rPr lang="en-US"/>
              <a:t>Why were changes needed?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8935"/>
            <a:ext cx="10515600" cy="5808345"/>
          </a:xfrm>
        </p:spPr>
        <p:txBody>
          <a:bodyPr/>
          <a:lstStyle/>
          <a:p>
            <a:r>
              <a:rPr lang="en-US"/>
              <a:t>VCSs give each contributor a unified and consistent view of a project, surfacing work that's already in progress. </a:t>
            </a:r>
          </a:p>
          <a:p>
            <a:r>
              <a:rPr lang="en-US"/>
              <a:t>Seeing a transparent history of changes, who made them, and how they contribute to the development of a project helps team members stay aligned while working independently.</a:t>
            </a:r>
          </a:p>
          <a:p>
            <a:r>
              <a:rPr lang="en-US"/>
              <a:t>In a distributed version control system, every developer has a full copy of the project and project history.</a:t>
            </a:r>
          </a:p>
          <a:p>
            <a:r>
              <a:rPr lang="en-US"/>
              <a:t>Unlike once popular centralized version control systems, DVCSs don't need a constant connection to a central repository.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1665"/>
            <a:ext cx="10515600" cy="673735"/>
          </a:xfrm>
        </p:spPr>
        <p:txBody>
          <a:bodyPr>
            <a:normAutofit fontScale="90000"/>
          </a:bodyPr>
          <a:lstStyle/>
          <a:p>
            <a:r>
              <a:rPr lang="en-US">
                <a:sym typeface="+mn-ea"/>
              </a:rPr>
              <a:t>Introduction to Git</a:t>
            </a:r>
            <a:br>
              <a:rPr lang="en-US"/>
            </a:br>
            <a:endParaRPr lang="en-US"/>
          </a:p>
        </p:txBody>
      </p:sp>
      <p:sp>
        <p:nvSpPr>
          <p:cNvPr id="3" name="Content Placeholder 2"/>
          <p:cNvSpPr>
            <a:spLocks noGrp="1"/>
          </p:cNvSpPr>
          <p:nvPr>
            <p:ph idx="1"/>
          </p:nvPr>
        </p:nvSpPr>
        <p:spPr>
          <a:xfrm>
            <a:off x="838200" y="1189990"/>
            <a:ext cx="10515600" cy="4987290"/>
          </a:xfrm>
        </p:spPr>
        <p:txBody>
          <a:bodyPr>
            <a:normAutofit/>
          </a:bodyPr>
          <a:lstStyle/>
          <a:p>
            <a:r>
              <a:rPr lang="en-US" sz="2000"/>
              <a:t>Git is the most popular distributed version control system that intelligently tracks changes in files. </a:t>
            </a:r>
          </a:p>
          <a:p>
            <a:r>
              <a:rPr lang="en-US" sz="2000"/>
              <a:t>Git is commonly used for both open source and commercial software development, with significant benefits for individuals, teams and businesses.</a:t>
            </a:r>
          </a:p>
          <a:p>
            <a:r>
              <a:rPr lang="en-US" sz="2000"/>
              <a:t>Git is particularly useful when you and a group of people are all making changes to the same files at the same time.</a:t>
            </a:r>
          </a:p>
          <a:p>
            <a:r>
              <a:rPr lang="en-US" sz="2000"/>
              <a:t>Git lets developers see the entire timeline of their changes, decisions, and progression of any project in one place. From the moment they access the history of a project, the developer has all the context they need to understand it and start contributing.\</a:t>
            </a:r>
          </a:p>
          <a:p>
            <a:r>
              <a:rPr lang="en-US" sz="2000"/>
              <a:t>Developers work in every time zone. With a DVCS like Git, collaboration can happen any time while maintaining source code integrity. Using branches, developers can safely propose changes to production code.</a:t>
            </a:r>
          </a:p>
          <a:p>
            <a:r>
              <a:rPr lang="en-US" sz="2000"/>
              <a:t>Businesses using Git can break down communication barriers between teams and keep them focused on doing their best work. Plus, Git makes it possible to align experts across a business to collaborate on major projects.</a:t>
            </a:r>
          </a:p>
          <a:p>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175"/>
          </a:xfrm>
        </p:spPr>
        <p:txBody>
          <a:bodyPr>
            <a:normAutofit fontScale="90000"/>
          </a:bodyPr>
          <a:lstStyle/>
          <a:p>
            <a:r>
              <a:rPr lang="en-US" b="1">
                <a:latin typeface="Arial Bold" panose="020B0604020202090204" charset="0"/>
                <a:cs typeface="Arial Bold" panose="020B0604020202090204" charset="0"/>
              </a:rPr>
              <a:t>How do Git and GitHub work together?</a:t>
            </a:r>
          </a:p>
        </p:txBody>
      </p:sp>
      <p:sp>
        <p:nvSpPr>
          <p:cNvPr id="3" name="Content Placeholder 2"/>
          <p:cNvSpPr>
            <a:spLocks noGrp="1"/>
          </p:cNvSpPr>
          <p:nvPr>
            <p:ph idx="1"/>
          </p:nvPr>
        </p:nvSpPr>
        <p:spPr>
          <a:xfrm>
            <a:off x="838200" y="1103630"/>
            <a:ext cx="10515600" cy="5458460"/>
          </a:xfrm>
        </p:spPr>
        <p:txBody>
          <a:bodyPr/>
          <a:lstStyle/>
          <a:p>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9BF6-347F-A046-E076-0462B480EDD1}"/>
              </a:ext>
            </a:extLst>
          </p:cNvPr>
          <p:cNvSpPr>
            <a:spLocks noGrp="1"/>
          </p:cNvSpPr>
          <p:nvPr>
            <p:ph type="title"/>
          </p:nvPr>
        </p:nvSpPr>
        <p:spPr/>
        <p:txBody>
          <a:bodyPr/>
          <a:lstStyle/>
          <a:p>
            <a:endParaRPr lang="en-CA"/>
          </a:p>
        </p:txBody>
      </p:sp>
      <p:graphicFrame>
        <p:nvGraphicFramePr>
          <p:cNvPr id="4" name="Content Placeholder 3">
            <a:extLst>
              <a:ext uri="{FF2B5EF4-FFF2-40B4-BE49-F238E27FC236}">
                <a16:creationId xmlns:a16="http://schemas.microsoft.com/office/drawing/2014/main" id="{D8815323-1073-74F2-A114-65721BA01624}"/>
              </a:ext>
            </a:extLst>
          </p:cNvPr>
          <p:cNvGraphicFramePr>
            <a:graphicFrameLocks noGrp="1"/>
          </p:cNvGraphicFramePr>
          <p:nvPr>
            <p:ph idx="1"/>
          </p:nvPr>
        </p:nvGraphicFramePr>
        <p:xfrm>
          <a:off x="838200" y="584616"/>
          <a:ext cx="10515600" cy="5336918"/>
        </p:xfrm>
        <a:graphic>
          <a:graphicData uri="http://schemas.openxmlformats.org/drawingml/2006/table">
            <a:tbl>
              <a:tblPr/>
              <a:tblGrid>
                <a:gridCol w="3505200">
                  <a:extLst>
                    <a:ext uri="{9D8B030D-6E8A-4147-A177-3AD203B41FA5}">
                      <a16:colId xmlns:a16="http://schemas.microsoft.com/office/drawing/2014/main" val="2297041105"/>
                    </a:ext>
                  </a:extLst>
                </a:gridCol>
                <a:gridCol w="3505200">
                  <a:extLst>
                    <a:ext uri="{9D8B030D-6E8A-4147-A177-3AD203B41FA5}">
                      <a16:colId xmlns:a16="http://schemas.microsoft.com/office/drawing/2014/main" val="2970715832"/>
                    </a:ext>
                  </a:extLst>
                </a:gridCol>
                <a:gridCol w="3505200">
                  <a:extLst>
                    <a:ext uri="{9D8B030D-6E8A-4147-A177-3AD203B41FA5}">
                      <a16:colId xmlns:a16="http://schemas.microsoft.com/office/drawing/2014/main" val="1975853870"/>
                    </a:ext>
                  </a:extLst>
                </a:gridCol>
              </a:tblGrid>
              <a:tr h="508278">
                <a:tc>
                  <a:txBody>
                    <a:bodyPr/>
                    <a:lstStyle/>
                    <a:p>
                      <a:pPr>
                        <a:buNone/>
                      </a:pPr>
                      <a:r>
                        <a:rPr lang="en-CA"/>
                        <a:t>Feature</a:t>
                      </a:r>
                    </a:p>
                  </a:txBody>
                  <a:tcPr anchor="ctr">
                    <a:lnL>
                      <a:noFill/>
                    </a:lnL>
                    <a:lnR>
                      <a:noFill/>
                    </a:lnR>
                    <a:lnT>
                      <a:noFill/>
                    </a:lnT>
                    <a:lnB>
                      <a:noFill/>
                    </a:lnB>
                    <a:noFill/>
                  </a:tcPr>
                </a:tc>
                <a:tc>
                  <a:txBody>
                    <a:bodyPr/>
                    <a:lstStyle/>
                    <a:p>
                      <a:pPr>
                        <a:buNone/>
                      </a:pPr>
                      <a:r>
                        <a:rPr lang="en-CA" b="1"/>
                        <a:t>Git</a:t>
                      </a:r>
                      <a:endParaRPr lang="en-CA"/>
                    </a:p>
                  </a:txBody>
                  <a:tcPr anchor="ctr">
                    <a:lnL>
                      <a:noFill/>
                    </a:lnL>
                    <a:lnR>
                      <a:noFill/>
                    </a:lnR>
                    <a:lnT>
                      <a:noFill/>
                    </a:lnT>
                    <a:lnB>
                      <a:noFill/>
                    </a:lnB>
                    <a:noFill/>
                  </a:tcPr>
                </a:tc>
                <a:tc>
                  <a:txBody>
                    <a:bodyPr/>
                    <a:lstStyle/>
                    <a:p>
                      <a:pPr>
                        <a:buNone/>
                      </a:pPr>
                      <a:r>
                        <a:rPr lang="en-CA" b="1"/>
                        <a:t>GitHub</a:t>
                      </a:r>
                      <a:endParaRPr lang="en-CA"/>
                    </a:p>
                  </a:txBody>
                  <a:tcPr anchor="ctr">
                    <a:lnL>
                      <a:noFill/>
                    </a:lnL>
                    <a:lnR>
                      <a:noFill/>
                    </a:lnR>
                    <a:lnT>
                      <a:noFill/>
                    </a:lnT>
                    <a:lnB>
                      <a:noFill/>
                    </a:lnB>
                    <a:noFill/>
                  </a:tcPr>
                </a:tc>
                <a:extLst>
                  <a:ext uri="{0D108BD9-81ED-4DB2-BD59-A6C34878D82A}">
                    <a16:rowId xmlns:a16="http://schemas.microsoft.com/office/drawing/2014/main" val="1145148140"/>
                  </a:ext>
                </a:extLst>
              </a:tr>
              <a:tr h="508278">
                <a:tc>
                  <a:txBody>
                    <a:bodyPr/>
                    <a:lstStyle/>
                    <a:p>
                      <a:pPr>
                        <a:buNone/>
                      </a:pPr>
                      <a:r>
                        <a:rPr lang="en-CA"/>
                        <a:t>Type</a:t>
                      </a:r>
                    </a:p>
                  </a:txBody>
                  <a:tcPr anchor="ctr">
                    <a:lnL>
                      <a:noFill/>
                    </a:lnL>
                    <a:lnR>
                      <a:noFill/>
                    </a:lnR>
                    <a:lnT>
                      <a:noFill/>
                    </a:lnT>
                    <a:lnB>
                      <a:noFill/>
                    </a:lnB>
                    <a:noFill/>
                  </a:tcPr>
                </a:tc>
                <a:tc>
                  <a:txBody>
                    <a:bodyPr/>
                    <a:lstStyle/>
                    <a:p>
                      <a:pPr>
                        <a:buNone/>
                      </a:pPr>
                      <a:r>
                        <a:rPr lang="en-CA"/>
                        <a:t>Version Control System (software)</a:t>
                      </a:r>
                    </a:p>
                  </a:txBody>
                  <a:tcPr anchor="ctr">
                    <a:lnL>
                      <a:noFill/>
                    </a:lnL>
                    <a:lnR>
                      <a:noFill/>
                    </a:lnR>
                    <a:lnT>
                      <a:noFill/>
                    </a:lnT>
                    <a:lnB>
                      <a:noFill/>
                    </a:lnB>
                    <a:noFill/>
                  </a:tcPr>
                </a:tc>
                <a:tc>
                  <a:txBody>
                    <a:bodyPr/>
                    <a:lstStyle/>
                    <a:p>
                      <a:pPr>
                        <a:buNone/>
                      </a:pPr>
                      <a:r>
                        <a:rPr lang="en-CA"/>
                        <a:t>Cloud Hosting Service</a:t>
                      </a:r>
                    </a:p>
                  </a:txBody>
                  <a:tcPr anchor="ctr">
                    <a:lnL>
                      <a:noFill/>
                    </a:lnL>
                    <a:lnR>
                      <a:noFill/>
                    </a:lnR>
                    <a:lnT>
                      <a:noFill/>
                    </a:lnT>
                    <a:lnB>
                      <a:noFill/>
                    </a:lnB>
                    <a:noFill/>
                  </a:tcPr>
                </a:tc>
                <a:extLst>
                  <a:ext uri="{0D108BD9-81ED-4DB2-BD59-A6C34878D82A}">
                    <a16:rowId xmlns:a16="http://schemas.microsoft.com/office/drawing/2014/main" val="3511425135"/>
                  </a:ext>
                </a:extLst>
              </a:tr>
              <a:tr h="508278">
                <a:tc>
                  <a:txBody>
                    <a:bodyPr/>
                    <a:lstStyle/>
                    <a:p>
                      <a:pPr>
                        <a:buNone/>
                      </a:pPr>
                      <a:r>
                        <a:rPr lang="en-CA"/>
                        <a:t>Works</a:t>
                      </a:r>
                    </a:p>
                  </a:txBody>
                  <a:tcPr anchor="ctr">
                    <a:lnL>
                      <a:noFill/>
                    </a:lnL>
                    <a:lnR>
                      <a:noFill/>
                    </a:lnR>
                    <a:lnT>
                      <a:noFill/>
                    </a:lnT>
                    <a:lnB>
                      <a:noFill/>
                    </a:lnB>
                    <a:noFill/>
                  </a:tcPr>
                </a:tc>
                <a:tc>
                  <a:txBody>
                    <a:bodyPr/>
                    <a:lstStyle/>
                    <a:p>
                      <a:pPr>
                        <a:buNone/>
                      </a:pPr>
                      <a:r>
                        <a:rPr lang="en-CA"/>
                        <a:t>Locally on your computer</a:t>
                      </a:r>
                    </a:p>
                  </a:txBody>
                  <a:tcPr anchor="ctr">
                    <a:lnL>
                      <a:noFill/>
                    </a:lnL>
                    <a:lnR>
                      <a:noFill/>
                    </a:lnR>
                    <a:lnT>
                      <a:noFill/>
                    </a:lnT>
                    <a:lnB>
                      <a:noFill/>
                    </a:lnB>
                    <a:noFill/>
                  </a:tcPr>
                </a:tc>
                <a:tc>
                  <a:txBody>
                    <a:bodyPr/>
                    <a:lstStyle/>
                    <a:p>
                      <a:pPr>
                        <a:buNone/>
                      </a:pPr>
                      <a:r>
                        <a:rPr lang="en-CA"/>
                        <a:t>Online (cloud)</a:t>
                      </a:r>
                    </a:p>
                  </a:txBody>
                  <a:tcPr anchor="ctr">
                    <a:lnL>
                      <a:noFill/>
                    </a:lnL>
                    <a:lnR>
                      <a:noFill/>
                    </a:lnR>
                    <a:lnT>
                      <a:noFill/>
                    </a:lnT>
                    <a:lnB>
                      <a:noFill/>
                    </a:lnB>
                    <a:noFill/>
                  </a:tcPr>
                </a:tc>
                <a:extLst>
                  <a:ext uri="{0D108BD9-81ED-4DB2-BD59-A6C34878D82A}">
                    <a16:rowId xmlns:a16="http://schemas.microsoft.com/office/drawing/2014/main" val="1230276022"/>
                  </a:ext>
                </a:extLst>
              </a:tr>
              <a:tr h="508278">
                <a:tc>
                  <a:txBody>
                    <a:bodyPr/>
                    <a:lstStyle/>
                    <a:p>
                      <a:pPr>
                        <a:buNone/>
                      </a:pPr>
                      <a:r>
                        <a:rPr lang="en-CA"/>
                        <a:t>Internet Required</a:t>
                      </a:r>
                    </a:p>
                  </a:txBody>
                  <a:tcPr anchor="ctr">
                    <a:lnL>
                      <a:noFill/>
                    </a:lnL>
                    <a:lnR>
                      <a:noFill/>
                    </a:lnR>
                    <a:lnT>
                      <a:noFill/>
                    </a:lnT>
                    <a:lnB>
                      <a:noFill/>
                    </a:lnB>
                    <a:noFill/>
                  </a:tcPr>
                </a:tc>
                <a:tc>
                  <a:txBody>
                    <a:bodyPr/>
                    <a:lstStyle/>
                    <a:p>
                      <a:pPr>
                        <a:buNone/>
                      </a:pPr>
                      <a:r>
                        <a:rPr lang="en-CA" dirty="0"/>
                        <a:t>❌ No</a:t>
                      </a:r>
                    </a:p>
                  </a:txBody>
                  <a:tcPr anchor="ctr">
                    <a:lnL>
                      <a:noFill/>
                    </a:lnL>
                    <a:lnR>
                      <a:noFill/>
                    </a:lnR>
                    <a:lnT>
                      <a:noFill/>
                    </a:lnT>
                    <a:lnB>
                      <a:noFill/>
                    </a:lnB>
                    <a:noFill/>
                  </a:tcPr>
                </a:tc>
                <a:tc>
                  <a:txBody>
                    <a:bodyPr/>
                    <a:lstStyle/>
                    <a:p>
                      <a:pPr>
                        <a:buNone/>
                      </a:pPr>
                      <a:r>
                        <a:rPr lang="en-CA"/>
                        <a:t>✅ Yes</a:t>
                      </a:r>
                    </a:p>
                  </a:txBody>
                  <a:tcPr anchor="ctr">
                    <a:lnL>
                      <a:noFill/>
                    </a:lnL>
                    <a:lnR>
                      <a:noFill/>
                    </a:lnR>
                    <a:lnT>
                      <a:noFill/>
                    </a:lnT>
                    <a:lnB>
                      <a:noFill/>
                    </a:lnB>
                    <a:noFill/>
                  </a:tcPr>
                </a:tc>
                <a:extLst>
                  <a:ext uri="{0D108BD9-81ED-4DB2-BD59-A6C34878D82A}">
                    <a16:rowId xmlns:a16="http://schemas.microsoft.com/office/drawing/2014/main" val="1064792540"/>
                  </a:ext>
                </a:extLst>
              </a:tr>
              <a:tr h="889486">
                <a:tc>
                  <a:txBody>
                    <a:bodyPr/>
                    <a:lstStyle/>
                    <a:p>
                      <a:pPr>
                        <a:buNone/>
                      </a:pPr>
                      <a:r>
                        <a:rPr lang="en-CA"/>
                        <a:t>Main Function</a:t>
                      </a:r>
                    </a:p>
                  </a:txBody>
                  <a:tcPr anchor="ctr">
                    <a:lnL>
                      <a:noFill/>
                    </a:lnL>
                    <a:lnR>
                      <a:noFill/>
                    </a:lnR>
                    <a:lnT>
                      <a:noFill/>
                    </a:lnT>
                    <a:lnB>
                      <a:noFill/>
                    </a:lnB>
                    <a:noFill/>
                  </a:tcPr>
                </a:tc>
                <a:tc>
                  <a:txBody>
                    <a:bodyPr/>
                    <a:lstStyle/>
                    <a:p>
                      <a:pPr>
                        <a:buNone/>
                      </a:pPr>
                      <a:r>
                        <a:rPr lang="en-US"/>
                        <a:t>Track and manage code changes</a:t>
                      </a:r>
                    </a:p>
                  </a:txBody>
                  <a:tcPr anchor="ctr">
                    <a:lnL>
                      <a:noFill/>
                    </a:lnL>
                    <a:lnR>
                      <a:noFill/>
                    </a:lnR>
                    <a:lnT>
                      <a:noFill/>
                    </a:lnT>
                    <a:lnB>
                      <a:noFill/>
                    </a:lnB>
                    <a:noFill/>
                  </a:tcPr>
                </a:tc>
                <a:tc>
                  <a:txBody>
                    <a:bodyPr/>
                    <a:lstStyle/>
                    <a:p>
                      <a:pPr>
                        <a:buNone/>
                      </a:pPr>
                      <a:r>
                        <a:rPr lang="en-US"/>
                        <a:t>Share and collaborate on repositories</a:t>
                      </a:r>
                    </a:p>
                  </a:txBody>
                  <a:tcPr anchor="ctr">
                    <a:lnL>
                      <a:noFill/>
                    </a:lnL>
                    <a:lnR>
                      <a:noFill/>
                    </a:lnR>
                    <a:lnT>
                      <a:noFill/>
                    </a:lnT>
                    <a:lnB>
                      <a:noFill/>
                    </a:lnB>
                    <a:noFill/>
                  </a:tcPr>
                </a:tc>
                <a:extLst>
                  <a:ext uri="{0D108BD9-81ED-4DB2-BD59-A6C34878D82A}">
                    <a16:rowId xmlns:a16="http://schemas.microsoft.com/office/drawing/2014/main" val="2266488706"/>
                  </a:ext>
                </a:extLst>
              </a:tr>
              <a:tr h="508278">
                <a:tc>
                  <a:txBody>
                    <a:bodyPr/>
                    <a:lstStyle/>
                    <a:p>
                      <a:pPr>
                        <a:buNone/>
                      </a:pPr>
                      <a:r>
                        <a:rPr lang="en-CA"/>
                        <a:t>Creator</a:t>
                      </a:r>
                    </a:p>
                  </a:txBody>
                  <a:tcPr anchor="ctr">
                    <a:lnL>
                      <a:noFill/>
                    </a:lnL>
                    <a:lnR>
                      <a:noFill/>
                    </a:lnR>
                    <a:lnT>
                      <a:noFill/>
                    </a:lnT>
                    <a:lnB>
                      <a:noFill/>
                    </a:lnB>
                    <a:noFill/>
                  </a:tcPr>
                </a:tc>
                <a:tc>
                  <a:txBody>
                    <a:bodyPr/>
                    <a:lstStyle/>
                    <a:p>
                      <a:pPr>
                        <a:buNone/>
                      </a:pPr>
                      <a:r>
                        <a:rPr lang="en-CA" dirty="0"/>
                        <a:t>Linus Torvalds</a:t>
                      </a:r>
                    </a:p>
                  </a:txBody>
                  <a:tcPr anchor="ctr">
                    <a:lnL>
                      <a:noFill/>
                    </a:lnL>
                    <a:lnR>
                      <a:noFill/>
                    </a:lnR>
                    <a:lnT>
                      <a:noFill/>
                    </a:lnT>
                    <a:lnB>
                      <a:noFill/>
                    </a:lnB>
                    <a:noFill/>
                  </a:tcPr>
                </a:tc>
                <a:tc>
                  <a:txBody>
                    <a:bodyPr/>
                    <a:lstStyle/>
                    <a:p>
                      <a:pPr>
                        <a:buNone/>
                      </a:pPr>
                      <a:r>
                        <a:rPr lang="en-CA"/>
                        <a:t>Microsoft (acquired from founders)</a:t>
                      </a:r>
                    </a:p>
                  </a:txBody>
                  <a:tcPr anchor="ctr">
                    <a:lnL>
                      <a:noFill/>
                    </a:lnL>
                    <a:lnR>
                      <a:noFill/>
                    </a:lnR>
                    <a:lnT>
                      <a:noFill/>
                    </a:lnT>
                    <a:lnB>
                      <a:noFill/>
                    </a:lnB>
                    <a:noFill/>
                  </a:tcPr>
                </a:tc>
                <a:extLst>
                  <a:ext uri="{0D108BD9-81ED-4DB2-BD59-A6C34878D82A}">
                    <a16:rowId xmlns:a16="http://schemas.microsoft.com/office/drawing/2014/main" val="1553245728"/>
                  </a:ext>
                </a:extLst>
              </a:tr>
              <a:tr h="889486">
                <a:tc>
                  <a:txBody>
                    <a:bodyPr/>
                    <a:lstStyle/>
                    <a:p>
                      <a:pPr>
                        <a:buNone/>
                      </a:pPr>
                      <a:r>
                        <a:rPr lang="en-CA" dirty="0"/>
                        <a:t>Commands</a:t>
                      </a:r>
                    </a:p>
                  </a:txBody>
                  <a:tcPr anchor="ctr">
                    <a:lnL>
                      <a:noFill/>
                    </a:lnL>
                    <a:lnR>
                      <a:noFill/>
                    </a:lnR>
                    <a:lnT>
                      <a:noFill/>
                    </a:lnT>
                    <a:lnB>
                      <a:noFill/>
                    </a:lnB>
                    <a:noFill/>
                  </a:tcPr>
                </a:tc>
                <a:tc>
                  <a:txBody>
                    <a:bodyPr/>
                    <a:lstStyle/>
                    <a:p>
                      <a:pPr>
                        <a:buNone/>
                      </a:pPr>
                      <a:r>
                        <a:rPr lang="en-US" dirty="0">
                          <a:latin typeface="Courier New" panose="02070309020205020404" pitchFamily="49" charset="0"/>
                        </a:rPr>
                        <a:t>git add</a:t>
                      </a:r>
                      <a:r>
                        <a:rPr lang="en-US" dirty="0"/>
                        <a:t>, </a:t>
                      </a:r>
                      <a:r>
                        <a:rPr lang="en-US" dirty="0">
                          <a:latin typeface="Courier New" panose="02070309020205020404" pitchFamily="49" charset="0"/>
                        </a:rPr>
                        <a:t>git commit</a:t>
                      </a:r>
                      <a:r>
                        <a:rPr lang="en-US" dirty="0"/>
                        <a:t>, </a:t>
                      </a:r>
                      <a:r>
                        <a:rPr lang="en-US" dirty="0">
                          <a:latin typeface="Courier New" panose="02070309020205020404" pitchFamily="49" charset="0"/>
                        </a:rPr>
                        <a:t>git push</a:t>
                      </a:r>
                      <a:endParaRPr lang="en-US" dirty="0"/>
                    </a:p>
                  </a:txBody>
                  <a:tcPr anchor="ctr">
                    <a:lnL>
                      <a:noFill/>
                    </a:lnL>
                    <a:lnR>
                      <a:noFill/>
                    </a:lnR>
                    <a:lnT>
                      <a:noFill/>
                    </a:lnT>
                    <a:lnB>
                      <a:noFill/>
                    </a:lnB>
                    <a:noFill/>
                  </a:tcPr>
                </a:tc>
                <a:tc>
                  <a:txBody>
                    <a:bodyPr/>
                    <a:lstStyle/>
                    <a:p>
                      <a:pPr>
                        <a:buNone/>
                      </a:pPr>
                      <a:r>
                        <a:rPr lang="en-US" dirty="0"/>
                        <a:t>No direct commands — web interface/API</a:t>
                      </a:r>
                    </a:p>
                  </a:txBody>
                  <a:tcPr anchor="ctr">
                    <a:lnL>
                      <a:noFill/>
                    </a:lnL>
                    <a:lnR>
                      <a:noFill/>
                    </a:lnR>
                    <a:lnT>
                      <a:noFill/>
                    </a:lnT>
                    <a:lnB>
                      <a:noFill/>
                    </a:lnB>
                    <a:noFill/>
                  </a:tcPr>
                </a:tc>
                <a:extLst>
                  <a:ext uri="{0D108BD9-81ED-4DB2-BD59-A6C34878D82A}">
                    <a16:rowId xmlns:a16="http://schemas.microsoft.com/office/drawing/2014/main" val="3963373516"/>
                  </a:ext>
                </a:extLst>
              </a:tr>
              <a:tr h="508278">
                <a:tc>
                  <a:txBody>
                    <a:bodyPr/>
                    <a:lstStyle/>
                    <a:p>
                      <a:pPr>
                        <a:buNone/>
                      </a:pPr>
                      <a:r>
                        <a:rPr lang="en-CA"/>
                        <a:t>Example Use</a:t>
                      </a:r>
                    </a:p>
                  </a:txBody>
                  <a:tcPr anchor="ctr">
                    <a:lnL>
                      <a:noFill/>
                    </a:lnL>
                    <a:lnR>
                      <a:noFill/>
                    </a:lnR>
                    <a:lnT>
                      <a:noFill/>
                    </a:lnT>
                    <a:lnB>
                      <a:noFill/>
                    </a:lnB>
                    <a:noFill/>
                  </a:tcPr>
                </a:tc>
                <a:tc>
                  <a:txBody>
                    <a:bodyPr/>
                    <a:lstStyle/>
                    <a:p>
                      <a:pPr>
                        <a:buNone/>
                      </a:pPr>
                      <a:r>
                        <a:rPr lang="en-US"/>
                        <a:t>Save versions of your code</a:t>
                      </a:r>
                    </a:p>
                  </a:txBody>
                  <a:tcPr anchor="ctr">
                    <a:lnL>
                      <a:noFill/>
                    </a:lnL>
                    <a:lnR>
                      <a:noFill/>
                    </a:lnR>
                    <a:lnT>
                      <a:noFill/>
                    </a:lnT>
                    <a:lnB>
                      <a:noFill/>
                    </a:lnB>
                    <a:noFill/>
                  </a:tcPr>
                </a:tc>
                <a:tc>
                  <a:txBody>
                    <a:bodyPr/>
                    <a:lstStyle/>
                    <a:p>
                      <a:pPr>
                        <a:buNone/>
                      </a:pPr>
                      <a:r>
                        <a:rPr lang="en-US"/>
                        <a:t>Upload code and work with teams</a:t>
                      </a:r>
                    </a:p>
                  </a:txBody>
                  <a:tcPr anchor="ctr">
                    <a:lnL>
                      <a:noFill/>
                    </a:lnL>
                    <a:lnR>
                      <a:noFill/>
                    </a:lnR>
                    <a:lnT>
                      <a:noFill/>
                    </a:lnT>
                    <a:lnB>
                      <a:noFill/>
                    </a:lnB>
                    <a:noFill/>
                  </a:tcPr>
                </a:tc>
                <a:extLst>
                  <a:ext uri="{0D108BD9-81ED-4DB2-BD59-A6C34878D82A}">
                    <a16:rowId xmlns:a16="http://schemas.microsoft.com/office/drawing/2014/main" val="3162231420"/>
                  </a:ext>
                </a:extLst>
              </a:tr>
              <a:tr h="508278">
                <a:tc>
                  <a:txBody>
                    <a:bodyPr/>
                    <a:lstStyle/>
                    <a:p>
                      <a:pPr>
                        <a:buNone/>
                      </a:pPr>
                      <a:r>
                        <a:rPr lang="en-CA"/>
                        <a:t>Storage Location</a:t>
                      </a:r>
                    </a:p>
                  </a:txBody>
                  <a:tcPr anchor="ctr">
                    <a:lnL>
                      <a:noFill/>
                    </a:lnL>
                    <a:lnR>
                      <a:noFill/>
                    </a:lnR>
                    <a:lnT>
                      <a:noFill/>
                    </a:lnT>
                    <a:lnB>
                      <a:noFill/>
                    </a:lnB>
                    <a:noFill/>
                  </a:tcPr>
                </a:tc>
                <a:tc>
                  <a:txBody>
                    <a:bodyPr/>
                    <a:lstStyle/>
                    <a:p>
                      <a:pPr>
                        <a:buNone/>
                      </a:pPr>
                      <a:r>
                        <a:rPr lang="en-CA"/>
                        <a:t>Local machine</a:t>
                      </a:r>
                    </a:p>
                  </a:txBody>
                  <a:tcPr anchor="ctr">
                    <a:lnL>
                      <a:noFill/>
                    </a:lnL>
                    <a:lnR>
                      <a:noFill/>
                    </a:lnR>
                    <a:lnT>
                      <a:noFill/>
                    </a:lnT>
                    <a:lnB>
                      <a:noFill/>
                    </a:lnB>
                    <a:noFill/>
                  </a:tcPr>
                </a:tc>
                <a:tc>
                  <a:txBody>
                    <a:bodyPr/>
                    <a:lstStyle/>
                    <a:p>
                      <a:pPr>
                        <a:buNone/>
                      </a:pPr>
                      <a:r>
                        <a:rPr lang="en-CA" dirty="0"/>
                        <a:t>Remote server (GitHub cloud)</a:t>
                      </a:r>
                    </a:p>
                  </a:txBody>
                  <a:tcPr anchor="ctr">
                    <a:lnL>
                      <a:noFill/>
                    </a:lnL>
                    <a:lnR>
                      <a:noFill/>
                    </a:lnR>
                    <a:lnT>
                      <a:noFill/>
                    </a:lnT>
                    <a:lnB>
                      <a:noFill/>
                    </a:lnB>
                    <a:noFill/>
                  </a:tcPr>
                </a:tc>
                <a:extLst>
                  <a:ext uri="{0D108BD9-81ED-4DB2-BD59-A6C34878D82A}">
                    <a16:rowId xmlns:a16="http://schemas.microsoft.com/office/drawing/2014/main" val="1065951785"/>
                  </a:ext>
                </a:extLst>
              </a:tr>
            </a:tbl>
          </a:graphicData>
        </a:graphic>
      </p:graphicFrame>
    </p:spTree>
    <p:extLst>
      <p:ext uri="{BB962C8B-B14F-4D97-AF65-F5344CB8AC3E}">
        <p14:creationId xmlns:p14="http://schemas.microsoft.com/office/powerpoint/2010/main" val="3825376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660"/>
          </a:xfrm>
        </p:spPr>
        <p:txBody>
          <a:bodyPr>
            <a:normAutofit/>
          </a:bodyPr>
          <a:lstStyle/>
          <a:p>
            <a:r>
              <a:rPr lang="en-US"/>
              <a:t>Signing up for a new personal account</a:t>
            </a:r>
          </a:p>
        </p:txBody>
      </p:sp>
      <p:sp>
        <p:nvSpPr>
          <p:cNvPr id="3" name="Content Placeholder 2"/>
          <p:cNvSpPr>
            <a:spLocks noGrp="1"/>
          </p:cNvSpPr>
          <p:nvPr>
            <p:ph idx="1"/>
          </p:nvPr>
        </p:nvSpPr>
        <p:spPr>
          <a:xfrm>
            <a:off x="838200" y="1313180"/>
            <a:ext cx="10515600" cy="4864100"/>
          </a:xfrm>
        </p:spPr>
        <p:txBody>
          <a:bodyPr/>
          <a:lstStyle/>
          <a:p>
            <a:r>
              <a:rPr lang="en-US"/>
              <a:t>Navigate to https://github.com/.</a:t>
            </a:r>
          </a:p>
          <a:p>
            <a:r>
              <a:rPr lang="en-US"/>
              <a:t>Click Sign up.</a:t>
            </a:r>
          </a:p>
          <a:p>
            <a:r>
              <a:rPr lang="en-US"/>
              <a:t>Follow the prompts to create your personal account.</a:t>
            </a:r>
          </a:p>
          <a:p>
            <a:r>
              <a:rPr lang="en-US"/>
              <a:t>During sign up, you'll be asked to verify your email address. Without a verified email address, you won't be able to complete some basic GitHub tasks, such as creating a repository.</a:t>
            </a:r>
          </a:p>
          <a:p>
            <a:r>
              <a:rPr lang="en-US"/>
              <a:t>Now that you've created your personal account, we'll start to explore the basics of GitHub</a:t>
            </a:r>
          </a:p>
          <a:p>
            <a:pPr marL="0" indent="0">
              <a:buNone/>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4035"/>
          </a:xfrm>
        </p:spPr>
        <p:txBody>
          <a:bodyPr>
            <a:normAutofit fontScale="90000"/>
          </a:bodyPr>
          <a:lstStyle/>
          <a:p>
            <a:r>
              <a:rPr lang="en-US"/>
              <a:t>Exercise :  GitHub Essentials</a:t>
            </a:r>
          </a:p>
        </p:txBody>
      </p:sp>
      <p:sp>
        <p:nvSpPr>
          <p:cNvPr id="3" name="Content Placeholder 2"/>
          <p:cNvSpPr>
            <a:spLocks noGrp="1"/>
          </p:cNvSpPr>
          <p:nvPr>
            <p:ph idx="1"/>
          </p:nvPr>
        </p:nvSpPr>
        <p:spPr>
          <a:xfrm>
            <a:off x="838200" y="1185545"/>
            <a:ext cx="10515600" cy="4991735"/>
          </a:xfrm>
        </p:spPr>
        <p:txBody>
          <a:bodyPr>
            <a:normAutofit/>
          </a:bodyPr>
          <a:lstStyle/>
          <a:p>
            <a:r>
              <a:rPr lang="en-US"/>
              <a:t>Lets perform basic GitHub essentials like repositories, branches, commits, and pull requests.</a:t>
            </a:r>
          </a:p>
          <a:p>
            <a:pPr lvl="1"/>
            <a:r>
              <a:rPr lang="en-US"/>
              <a:t>Step 1: Create </a:t>
            </a:r>
            <a:r>
              <a:rPr lang="en-US">
                <a:sym typeface="+mn-ea"/>
              </a:rPr>
              <a:t>and use </a:t>
            </a:r>
            <a:r>
              <a:rPr lang="en-US"/>
              <a:t>a repository</a:t>
            </a:r>
          </a:p>
          <a:p>
            <a:pPr lvl="1"/>
            <a:r>
              <a:rPr lang="en-US"/>
              <a:t>Step 2: Create </a:t>
            </a:r>
            <a:r>
              <a:rPr lang="en-US">
                <a:sym typeface="+mn-ea"/>
              </a:rPr>
              <a:t>and manage </a:t>
            </a:r>
            <a:r>
              <a:rPr lang="en-US"/>
              <a:t>a branch</a:t>
            </a:r>
          </a:p>
          <a:p>
            <a:pPr lvl="1"/>
            <a:r>
              <a:rPr lang="en-US"/>
              <a:t>Step 3: Make </a:t>
            </a:r>
            <a:r>
              <a:rPr lang="en-US">
                <a:sym typeface="+mn-ea"/>
              </a:rPr>
              <a:t>changes to a file and push them to GitHub as commits (</a:t>
            </a:r>
            <a:r>
              <a:rPr lang="en-US"/>
              <a:t>commit changes)</a:t>
            </a:r>
          </a:p>
          <a:p>
            <a:pPr lvl="1"/>
            <a:r>
              <a:rPr lang="en-US"/>
              <a:t>Step 4: Open a pull request</a:t>
            </a:r>
          </a:p>
          <a:p>
            <a:pPr lvl="1"/>
            <a:r>
              <a:rPr lang="en-US"/>
              <a:t>Step 5: Merge your pull request</a:t>
            </a:r>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6445"/>
          </a:xfrm>
        </p:spPr>
        <p:txBody>
          <a:bodyPr>
            <a:normAutofit/>
          </a:bodyPr>
          <a:lstStyle/>
          <a:p>
            <a:endParaRPr lang="en-US" dirty="0"/>
          </a:p>
        </p:txBody>
      </p:sp>
      <p:graphicFrame>
        <p:nvGraphicFramePr>
          <p:cNvPr id="4" name="Content Placeholder 3">
            <a:extLst>
              <a:ext uri="{FF2B5EF4-FFF2-40B4-BE49-F238E27FC236}">
                <a16:creationId xmlns:a16="http://schemas.microsoft.com/office/drawing/2014/main" id="{AF46FA08-5A1D-D2C4-9C2C-4C001804FFE4}"/>
              </a:ext>
            </a:extLst>
          </p:cNvPr>
          <p:cNvGraphicFramePr>
            <a:graphicFrameLocks noGrp="1"/>
          </p:cNvGraphicFramePr>
          <p:nvPr>
            <p:ph idx="1"/>
            <p:extLst>
              <p:ext uri="{D42A27DB-BD31-4B8C-83A1-F6EECF244321}">
                <p14:modId xmlns:p14="http://schemas.microsoft.com/office/powerpoint/2010/main" val="4290910573"/>
              </p:ext>
            </p:extLst>
          </p:nvPr>
        </p:nvGraphicFramePr>
        <p:xfrm>
          <a:off x="838200" y="1710214"/>
          <a:ext cx="10515600" cy="4023360"/>
        </p:xfrm>
        <a:graphic>
          <a:graphicData uri="http://schemas.openxmlformats.org/drawingml/2006/table">
            <a:tbl>
              <a:tblPr/>
              <a:tblGrid>
                <a:gridCol w="3505200">
                  <a:extLst>
                    <a:ext uri="{9D8B030D-6E8A-4147-A177-3AD203B41FA5}">
                      <a16:colId xmlns:a16="http://schemas.microsoft.com/office/drawing/2014/main" val="808031741"/>
                    </a:ext>
                  </a:extLst>
                </a:gridCol>
                <a:gridCol w="3505200">
                  <a:extLst>
                    <a:ext uri="{9D8B030D-6E8A-4147-A177-3AD203B41FA5}">
                      <a16:colId xmlns:a16="http://schemas.microsoft.com/office/drawing/2014/main" val="2164395634"/>
                    </a:ext>
                  </a:extLst>
                </a:gridCol>
                <a:gridCol w="3505200">
                  <a:extLst>
                    <a:ext uri="{9D8B030D-6E8A-4147-A177-3AD203B41FA5}">
                      <a16:colId xmlns:a16="http://schemas.microsoft.com/office/drawing/2014/main" val="1772414554"/>
                    </a:ext>
                  </a:extLst>
                </a:gridCol>
              </a:tblGrid>
              <a:tr h="0">
                <a:tc>
                  <a:txBody>
                    <a:bodyPr/>
                    <a:lstStyle/>
                    <a:p>
                      <a:pPr>
                        <a:buNone/>
                      </a:pPr>
                      <a:endParaRPr lang="en-CA" dirty="0"/>
                    </a:p>
                  </a:txBody>
                  <a:tcPr anchor="ctr">
                    <a:lnL>
                      <a:noFill/>
                    </a:lnL>
                    <a:lnR>
                      <a:noFill/>
                    </a:lnR>
                    <a:lnT>
                      <a:noFill/>
                    </a:lnT>
                    <a:lnB>
                      <a:noFill/>
                    </a:lnB>
                    <a:noFill/>
                  </a:tcPr>
                </a:tc>
                <a:tc>
                  <a:txBody>
                    <a:bodyPr/>
                    <a:lstStyle/>
                    <a:p>
                      <a:pPr>
                        <a:buNone/>
                      </a:pPr>
                      <a:endParaRPr lang="en-CA" dirty="0"/>
                    </a:p>
                  </a:txBody>
                  <a:tcPr anchor="ctr">
                    <a:lnL>
                      <a:noFill/>
                    </a:lnL>
                    <a:lnR>
                      <a:noFill/>
                    </a:lnR>
                    <a:lnT>
                      <a:noFill/>
                    </a:lnT>
                    <a:lnB>
                      <a:noFill/>
                    </a:lnB>
                    <a:noFill/>
                  </a:tcPr>
                </a:tc>
                <a:tc>
                  <a:txBody>
                    <a:bodyPr/>
                    <a:lstStyle/>
                    <a:p>
                      <a:pPr>
                        <a:buNone/>
                      </a:pPr>
                      <a:endParaRPr lang="en-CA" dirty="0"/>
                    </a:p>
                  </a:txBody>
                  <a:tcPr anchor="ctr">
                    <a:lnL>
                      <a:noFill/>
                    </a:lnL>
                    <a:lnR>
                      <a:noFill/>
                    </a:lnR>
                    <a:lnT>
                      <a:noFill/>
                    </a:lnT>
                    <a:lnB>
                      <a:noFill/>
                    </a:lnB>
                    <a:noFill/>
                  </a:tcPr>
                </a:tc>
                <a:extLst>
                  <a:ext uri="{0D108BD9-81ED-4DB2-BD59-A6C34878D82A}">
                    <a16:rowId xmlns:a16="http://schemas.microsoft.com/office/drawing/2014/main" val="1192468289"/>
                  </a:ext>
                </a:extLst>
              </a:tr>
              <a:tr h="0">
                <a:tc>
                  <a:txBody>
                    <a:bodyPr/>
                    <a:lstStyle/>
                    <a:p>
                      <a:pPr>
                        <a:buNone/>
                      </a:pPr>
                      <a:r>
                        <a:rPr lang="en-CA" b="1"/>
                        <a:t>Branch</a:t>
                      </a:r>
                      <a:endParaRPr lang="en-CA"/>
                    </a:p>
                  </a:txBody>
                  <a:tcPr anchor="ctr">
                    <a:lnL>
                      <a:noFill/>
                    </a:lnL>
                    <a:lnR>
                      <a:noFill/>
                    </a:lnR>
                    <a:lnT>
                      <a:noFill/>
                    </a:lnT>
                    <a:lnB>
                      <a:noFill/>
                    </a:lnB>
                    <a:noFill/>
                  </a:tcPr>
                </a:tc>
                <a:tc>
                  <a:txBody>
                    <a:bodyPr/>
                    <a:lstStyle/>
                    <a:p>
                      <a:pPr>
                        <a:buNone/>
                      </a:pPr>
                      <a:r>
                        <a:rPr lang="en-US"/>
                        <a:t>A separate workspace for changes</a:t>
                      </a:r>
                    </a:p>
                  </a:txBody>
                  <a:tcPr anchor="ctr">
                    <a:lnL>
                      <a:noFill/>
                    </a:lnL>
                    <a:lnR>
                      <a:noFill/>
                    </a:lnR>
                    <a:lnT>
                      <a:noFill/>
                    </a:lnT>
                    <a:lnB>
                      <a:noFill/>
                    </a:lnB>
                    <a:noFill/>
                  </a:tcPr>
                </a:tc>
                <a:tc>
                  <a:txBody>
                    <a:bodyPr/>
                    <a:lstStyle/>
                    <a:p>
                      <a:pPr>
                        <a:buNone/>
                      </a:pPr>
                      <a:r>
                        <a:rPr lang="en-US"/>
                        <a:t>Like a rough copy of your notebook</a:t>
                      </a:r>
                    </a:p>
                  </a:txBody>
                  <a:tcPr anchor="ctr">
                    <a:lnL>
                      <a:noFill/>
                    </a:lnL>
                    <a:lnR>
                      <a:noFill/>
                    </a:lnR>
                    <a:lnT>
                      <a:noFill/>
                    </a:lnT>
                    <a:lnB>
                      <a:noFill/>
                    </a:lnB>
                    <a:noFill/>
                  </a:tcPr>
                </a:tc>
                <a:extLst>
                  <a:ext uri="{0D108BD9-81ED-4DB2-BD59-A6C34878D82A}">
                    <a16:rowId xmlns:a16="http://schemas.microsoft.com/office/drawing/2014/main" val="3915734805"/>
                  </a:ext>
                </a:extLst>
              </a:tr>
              <a:tr h="0">
                <a:tc>
                  <a:txBody>
                    <a:bodyPr/>
                    <a:lstStyle/>
                    <a:p>
                      <a:pPr>
                        <a:buNone/>
                      </a:pPr>
                      <a:r>
                        <a:rPr lang="en-CA" b="1"/>
                        <a:t>Clone</a:t>
                      </a:r>
                      <a:endParaRPr lang="en-CA"/>
                    </a:p>
                  </a:txBody>
                  <a:tcPr anchor="ctr">
                    <a:lnL>
                      <a:noFill/>
                    </a:lnL>
                    <a:lnR>
                      <a:noFill/>
                    </a:lnR>
                    <a:lnT>
                      <a:noFill/>
                    </a:lnT>
                    <a:lnB>
                      <a:noFill/>
                    </a:lnB>
                    <a:noFill/>
                  </a:tcPr>
                </a:tc>
                <a:tc>
                  <a:txBody>
                    <a:bodyPr/>
                    <a:lstStyle/>
                    <a:p>
                      <a:pPr>
                        <a:buNone/>
                      </a:pPr>
                      <a:r>
                        <a:rPr lang="en-US"/>
                        <a:t>Download project to your computer</a:t>
                      </a:r>
                    </a:p>
                  </a:txBody>
                  <a:tcPr anchor="ctr">
                    <a:lnL>
                      <a:noFill/>
                    </a:lnL>
                    <a:lnR>
                      <a:noFill/>
                    </a:lnR>
                    <a:lnT>
                      <a:noFill/>
                    </a:lnT>
                    <a:lnB>
                      <a:noFill/>
                    </a:lnB>
                    <a:noFill/>
                  </a:tcPr>
                </a:tc>
                <a:tc>
                  <a:txBody>
                    <a:bodyPr/>
                    <a:lstStyle/>
                    <a:p>
                      <a:pPr>
                        <a:buNone/>
                      </a:pPr>
                      <a:r>
                        <a:rPr lang="en-US"/>
                        <a:t>Copying a GitHub project to edit locally</a:t>
                      </a:r>
                    </a:p>
                  </a:txBody>
                  <a:tcPr anchor="ctr">
                    <a:lnL>
                      <a:noFill/>
                    </a:lnL>
                    <a:lnR>
                      <a:noFill/>
                    </a:lnR>
                    <a:lnT>
                      <a:noFill/>
                    </a:lnT>
                    <a:lnB>
                      <a:noFill/>
                    </a:lnB>
                    <a:noFill/>
                  </a:tcPr>
                </a:tc>
                <a:extLst>
                  <a:ext uri="{0D108BD9-81ED-4DB2-BD59-A6C34878D82A}">
                    <a16:rowId xmlns:a16="http://schemas.microsoft.com/office/drawing/2014/main" val="3730992695"/>
                  </a:ext>
                </a:extLst>
              </a:tr>
              <a:tr h="0">
                <a:tc>
                  <a:txBody>
                    <a:bodyPr/>
                    <a:lstStyle/>
                    <a:p>
                      <a:pPr>
                        <a:buNone/>
                      </a:pPr>
                      <a:r>
                        <a:rPr lang="en-CA" b="1"/>
                        <a:t>Fork</a:t>
                      </a:r>
                      <a:endParaRPr lang="en-CA"/>
                    </a:p>
                  </a:txBody>
                  <a:tcPr anchor="ctr">
                    <a:lnL>
                      <a:noFill/>
                    </a:lnL>
                    <a:lnR>
                      <a:noFill/>
                    </a:lnR>
                    <a:lnT>
                      <a:noFill/>
                    </a:lnT>
                    <a:lnB>
                      <a:noFill/>
                    </a:lnB>
                    <a:noFill/>
                  </a:tcPr>
                </a:tc>
                <a:tc>
                  <a:txBody>
                    <a:bodyPr/>
                    <a:lstStyle/>
                    <a:p>
                      <a:pPr>
                        <a:buNone/>
                      </a:pPr>
                      <a:r>
                        <a:rPr lang="en-US"/>
                        <a:t>Your own copy of someone else’s repo</a:t>
                      </a:r>
                    </a:p>
                  </a:txBody>
                  <a:tcPr anchor="ctr">
                    <a:lnL>
                      <a:noFill/>
                    </a:lnL>
                    <a:lnR>
                      <a:noFill/>
                    </a:lnR>
                    <a:lnT>
                      <a:noFill/>
                    </a:lnT>
                    <a:lnB>
                      <a:noFill/>
                    </a:lnB>
                    <a:noFill/>
                  </a:tcPr>
                </a:tc>
                <a:tc>
                  <a:txBody>
                    <a:bodyPr/>
                    <a:lstStyle/>
                    <a:p>
                      <a:pPr>
                        <a:buNone/>
                      </a:pPr>
                      <a:r>
                        <a:rPr lang="en-US"/>
                        <a:t>Making a personal duplicate online</a:t>
                      </a:r>
                    </a:p>
                  </a:txBody>
                  <a:tcPr anchor="ctr">
                    <a:lnL>
                      <a:noFill/>
                    </a:lnL>
                    <a:lnR>
                      <a:noFill/>
                    </a:lnR>
                    <a:lnT>
                      <a:noFill/>
                    </a:lnT>
                    <a:lnB>
                      <a:noFill/>
                    </a:lnB>
                    <a:noFill/>
                  </a:tcPr>
                </a:tc>
                <a:extLst>
                  <a:ext uri="{0D108BD9-81ED-4DB2-BD59-A6C34878D82A}">
                    <a16:rowId xmlns:a16="http://schemas.microsoft.com/office/drawing/2014/main" val="2543436515"/>
                  </a:ext>
                </a:extLst>
              </a:tr>
              <a:tr h="0">
                <a:tc>
                  <a:txBody>
                    <a:bodyPr/>
                    <a:lstStyle/>
                    <a:p>
                      <a:pPr>
                        <a:buNone/>
                      </a:pPr>
                      <a:r>
                        <a:rPr lang="en-CA" b="1"/>
                        <a:t>Merge</a:t>
                      </a:r>
                      <a:endParaRPr lang="en-CA"/>
                    </a:p>
                  </a:txBody>
                  <a:tcPr anchor="ctr">
                    <a:lnL>
                      <a:noFill/>
                    </a:lnL>
                    <a:lnR>
                      <a:noFill/>
                    </a:lnR>
                    <a:lnT>
                      <a:noFill/>
                    </a:lnT>
                    <a:lnB>
                      <a:noFill/>
                    </a:lnB>
                    <a:noFill/>
                  </a:tcPr>
                </a:tc>
                <a:tc>
                  <a:txBody>
                    <a:bodyPr/>
                    <a:lstStyle/>
                    <a:p>
                      <a:pPr>
                        <a:buNone/>
                      </a:pPr>
                      <a:r>
                        <a:rPr lang="en-CA"/>
                        <a:t>Combine branches together</a:t>
                      </a:r>
                    </a:p>
                  </a:txBody>
                  <a:tcPr anchor="ctr">
                    <a:lnL>
                      <a:noFill/>
                    </a:lnL>
                    <a:lnR>
                      <a:noFill/>
                    </a:lnR>
                    <a:lnT>
                      <a:noFill/>
                    </a:lnT>
                    <a:lnB>
                      <a:noFill/>
                    </a:lnB>
                    <a:noFill/>
                  </a:tcPr>
                </a:tc>
                <a:tc>
                  <a:txBody>
                    <a:bodyPr/>
                    <a:lstStyle/>
                    <a:p>
                      <a:pPr>
                        <a:buNone/>
                      </a:pPr>
                      <a:r>
                        <a:rPr lang="en-US"/>
                        <a:t>Mixing your notes back into the main notebook</a:t>
                      </a:r>
                    </a:p>
                  </a:txBody>
                  <a:tcPr anchor="ctr">
                    <a:lnL>
                      <a:noFill/>
                    </a:lnL>
                    <a:lnR>
                      <a:noFill/>
                    </a:lnR>
                    <a:lnT>
                      <a:noFill/>
                    </a:lnT>
                    <a:lnB>
                      <a:noFill/>
                    </a:lnB>
                    <a:noFill/>
                  </a:tcPr>
                </a:tc>
                <a:extLst>
                  <a:ext uri="{0D108BD9-81ED-4DB2-BD59-A6C34878D82A}">
                    <a16:rowId xmlns:a16="http://schemas.microsoft.com/office/drawing/2014/main" val="4289768537"/>
                  </a:ext>
                </a:extLst>
              </a:tr>
              <a:tr h="0">
                <a:tc>
                  <a:txBody>
                    <a:bodyPr/>
                    <a:lstStyle/>
                    <a:p>
                      <a:pPr>
                        <a:buNone/>
                      </a:pPr>
                      <a:r>
                        <a:rPr lang="en-CA" b="1"/>
                        <a:t>Pull Request</a:t>
                      </a:r>
                      <a:endParaRPr lang="en-CA"/>
                    </a:p>
                  </a:txBody>
                  <a:tcPr anchor="ctr">
                    <a:lnL>
                      <a:noFill/>
                    </a:lnL>
                    <a:lnR>
                      <a:noFill/>
                    </a:lnR>
                    <a:lnT>
                      <a:noFill/>
                    </a:lnT>
                    <a:lnB>
                      <a:noFill/>
                    </a:lnB>
                    <a:noFill/>
                  </a:tcPr>
                </a:tc>
                <a:tc>
                  <a:txBody>
                    <a:bodyPr/>
                    <a:lstStyle/>
                    <a:p>
                      <a:pPr>
                        <a:buNone/>
                      </a:pPr>
                      <a:r>
                        <a:rPr lang="en-US"/>
                        <a:t>Request to add your changes</a:t>
                      </a:r>
                    </a:p>
                  </a:txBody>
                  <a:tcPr anchor="ctr">
                    <a:lnL>
                      <a:noFill/>
                    </a:lnL>
                    <a:lnR>
                      <a:noFill/>
                    </a:lnR>
                    <a:lnT>
                      <a:noFill/>
                    </a:lnT>
                    <a:lnB>
                      <a:noFill/>
                    </a:lnB>
                    <a:noFill/>
                  </a:tcPr>
                </a:tc>
                <a:tc>
                  <a:txBody>
                    <a:bodyPr/>
                    <a:lstStyle/>
                    <a:p>
                      <a:pPr>
                        <a:buNone/>
                      </a:pPr>
                      <a:r>
                        <a:rPr lang="en-US"/>
                        <a:t>Asking to merge your work into main</a:t>
                      </a:r>
                    </a:p>
                  </a:txBody>
                  <a:tcPr anchor="ctr">
                    <a:lnL>
                      <a:noFill/>
                    </a:lnL>
                    <a:lnR>
                      <a:noFill/>
                    </a:lnR>
                    <a:lnT>
                      <a:noFill/>
                    </a:lnT>
                    <a:lnB>
                      <a:noFill/>
                    </a:lnB>
                    <a:noFill/>
                  </a:tcPr>
                </a:tc>
                <a:extLst>
                  <a:ext uri="{0D108BD9-81ED-4DB2-BD59-A6C34878D82A}">
                    <a16:rowId xmlns:a16="http://schemas.microsoft.com/office/drawing/2014/main" val="1614851600"/>
                  </a:ext>
                </a:extLst>
              </a:tr>
              <a:tr h="0">
                <a:tc>
                  <a:txBody>
                    <a:bodyPr/>
                    <a:lstStyle/>
                    <a:p>
                      <a:pPr>
                        <a:buNone/>
                      </a:pPr>
                      <a:r>
                        <a:rPr lang="en-CA" b="1"/>
                        <a:t>Remote</a:t>
                      </a:r>
                      <a:endParaRPr lang="en-CA"/>
                    </a:p>
                  </a:txBody>
                  <a:tcPr anchor="ctr">
                    <a:lnL>
                      <a:noFill/>
                    </a:lnL>
                    <a:lnR>
                      <a:noFill/>
                    </a:lnR>
                    <a:lnT>
                      <a:noFill/>
                    </a:lnT>
                    <a:lnB>
                      <a:noFill/>
                    </a:lnB>
                    <a:noFill/>
                  </a:tcPr>
                </a:tc>
                <a:tc>
                  <a:txBody>
                    <a:bodyPr/>
                    <a:lstStyle/>
                    <a:p>
                      <a:pPr>
                        <a:buNone/>
                      </a:pPr>
                      <a:r>
                        <a:rPr lang="en-US"/>
                        <a:t>Online version of your project</a:t>
                      </a:r>
                    </a:p>
                  </a:txBody>
                  <a:tcPr anchor="ctr">
                    <a:lnL>
                      <a:noFill/>
                    </a:lnL>
                    <a:lnR>
                      <a:noFill/>
                    </a:lnR>
                    <a:lnT>
                      <a:noFill/>
                    </a:lnT>
                    <a:lnB>
                      <a:noFill/>
                    </a:lnB>
                    <a:noFill/>
                  </a:tcPr>
                </a:tc>
                <a:tc>
                  <a:txBody>
                    <a:bodyPr/>
                    <a:lstStyle/>
                    <a:p>
                      <a:pPr>
                        <a:buNone/>
                      </a:pPr>
                      <a:r>
                        <a:rPr lang="en-US"/>
                        <a:t>Cloud storage for your code</a:t>
                      </a:r>
                    </a:p>
                  </a:txBody>
                  <a:tcPr anchor="ctr">
                    <a:lnL>
                      <a:noFill/>
                    </a:lnL>
                    <a:lnR>
                      <a:noFill/>
                    </a:lnR>
                    <a:lnT>
                      <a:noFill/>
                    </a:lnT>
                    <a:lnB>
                      <a:noFill/>
                    </a:lnB>
                    <a:noFill/>
                  </a:tcPr>
                </a:tc>
                <a:extLst>
                  <a:ext uri="{0D108BD9-81ED-4DB2-BD59-A6C34878D82A}">
                    <a16:rowId xmlns:a16="http://schemas.microsoft.com/office/drawing/2014/main" val="915164657"/>
                  </a:ext>
                </a:extLst>
              </a:tr>
              <a:tr h="0">
                <a:tc>
                  <a:txBody>
                    <a:bodyPr/>
                    <a:lstStyle/>
                    <a:p>
                      <a:pPr>
                        <a:buNone/>
                      </a:pPr>
                      <a:r>
                        <a:rPr lang="en-CA" b="1"/>
                        <a:t>Upstream</a:t>
                      </a:r>
                      <a:endParaRPr lang="en-CA"/>
                    </a:p>
                  </a:txBody>
                  <a:tcPr anchor="ctr">
                    <a:lnL>
                      <a:noFill/>
                    </a:lnL>
                    <a:lnR>
                      <a:noFill/>
                    </a:lnR>
                    <a:lnT>
                      <a:noFill/>
                    </a:lnT>
                    <a:lnB>
                      <a:noFill/>
                    </a:lnB>
                    <a:noFill/>
                  </a:tcPr>
                </a:tc>
                <a:tc>
                  <a:txBody>
                    <a:bodyPr/>
                    <a:lstStyle/>
                    <a:p>
                      <a:pPr>
                        <a:buNone/>
                      </a:pPr>
                      <a:r>
                        <a:rPr lang="en-CA"/>
                        <a:t>Original main repository</a:t>
                      </a:r>
                    </a:p>
                  </a:txBody>
                  <a:tcPr anchor="ctr">
                    <a:lnL>
                      <a:noFill/>
                    </a:lnL>
                    <a:lnR>
                      <a:noFill/>
                    </a:lnR>
                    <a:lnT>
                      <a:noFill/>
                    </a:lnT>
                    <a:lnB>
                      <a:noFill/>
                    </a:lnB>
                    <a:noFill/>
                  </a:tcPr>
                </a:tc>
                <a:tc>
                  <a:txBody>
                    <a:bodyPr/>
                    <a:lstStyle/>
                    <a:p>
                      <a:pPr>
                        <a:buNone/>
                      </a:pPr>
                      <a:r>
                        <a:rPr lang="en-US" dirty="0"/>
                        <a:t>The main source you copied from</a:t>
                      </a:r>
                    </a:p>
                  </a:txBody>
                  <a:tcPr anchor="ctr">
                    <a:lnL>
                      <a:noFill/>
                    </a:lnL>
                    <a:lnR>
                      <a:noFill/>
                    </a:lnR>
                    <a:lnT>
                      <a:noFill/>
                    </a:lnT>
                    <a:lnB>
                      <a:noFill/>
                    </a:lnB>
                    <a:noFill/>
                  </a:tcPr>
                </a:tc>
                <a:extLst>
                  <a:ext uri="{0D108BD9-81ED-4DB2-BD59-A6C34878D82A}">
                    <a16:rowId xmlns:a16="http://schemas.microsoft.com/office/drawing/2014/main" val="331274303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512F-1E94-0324-6E60-A0BFC676D3ED}"/>
              </a:ext>
            </a:extLst>
          </p:cNvPr>
          <p:cNvSpPr>
            <a:spLocks noGrp="1"/>
          </p:cNvSpPr>
          <p:nvPr>
            <p:ph type="title"/>
          </p:nvPr>
        </p:nvSpPr>
        <p:spPr/>
        <p:txBody>
          <a:bodyPr/>
          <a:lstStyle/>
          <a:p>
            <a:endParaRPr lang="en-CA"/>
          </a:p>
        </p:txBody>
      </p:sp>
      <p:graphicFrame>
        <p:nvGraphicFramePr>
          <p:cNvPr id="4" name="Content Placeholder 3">
            <a:extLst>
              <a:ext uri="{FF2B5EF4-FFF2-40B4-BE49-F238E27FC236}">
                <a16:creationId xmlns:a16="http://schemas.microsoft.com/office/drawing/2014/main" id="{B61CF1DF-A097-5B67-3606-93AE88925071}"/>
              </a:ext>
            </a:extLst>
          </p:cNvPr>
          <p:cNvGraphicFramePr>
            <a:graphicFrameLocks noGrp="1"/>
          </p:cNvGraphicFramePr>
          <p:nvPr>
            <p:ph idx="1"/>
            <p:extLst>
              <p:ext uri="{D42A27DB-BD31-4B8C-83A1-F6EECF244321}">
                <p14:modId xmlns:p14="http://schemas.microsoft.com/office/powerpoint/2010/main" val="14454579"/>
              </p:ext>
            </p:extLst>
          </p:nvPr>
        </p:nvGraphicFramePr>
        <p:xfrm>
          <a:off x="838199" y="365125"/>
          <a:ext cx="10515600" cy="5756451"/>
        </p:xfrm>
        <a:graphic>
          <a:graphicData uri="http://schemas.openxmlformats.org/drawingml/2006/table">
            <a:tbl>
              <a:tblPr/>
              <a:tblGrid>
                <a:gridCol w="3576740">
                  <a:extLst>
                    <a:ext uri="{9D8B030D-6E8A-4147-A177-3AD203B41FA5}">
                      <a16:colId xmlns:a16="http://schemas.microsoft.com/office/drawing/2014/main" val="3993973338"/>
                    </a:ext>
                  </a:extLst>
                </a:gridCol>
                <a:gridCol w="3469430">
                  <a:extLst>
                    <a:ext uri="{9D8B030D-6E8A-4147-A177-3AD203B41FA5}">
                      <a16:colId xmlns:a16="http://schemas.microsoft.com/office/drawing/2014/main" val="3401259354"/>
                    </a:ext>
                  </a:extLst>
                </a:gridCol>
                <a:gridCol w="3469430">
                  <a:extLst>
                    <a:ext uri="{9D8B030D-6E8A-4147-A177-3AD203B41FA5}">
                      <a16:colId xmlns:a16="http://schemas.microsoft.com/office/drawing/2014/main" val="1161713545"/>
                    </a:ext>
                  </a:extLst>
                </a:gridCol>
              </a:tblGrid>
              <a:tr h="239973">
                <a:tc>
                  <a:txBody>
                    <a:bodyPr/>
                    <a:lstStyle/>
                    <a:p>
                      <a:pPr algn="ctr">
                        <a:buNone/>
                      </a:pPr>
                      <a:r>
                        <a:rPr lang="en-CA" sz="900"/>
                        <a:t>Git/GitHub Term</a:t>
                      </a:r>
                    </a:p>
                  </a:txBody>
                  <a:tcPr marL="44401" marR="44401" marT="22201" marB="22201" anchor="ctr">
                    <a:lnL>
                      <a:noFill/>
                    </a:lnL>
                    <a:lnR>
                      <a:noFill/>
                    </a:lnR>
                    <a:lnT>
                      <a:noFill/>
                    </a:lnT>
                    <a:lnB>
                      <a:noFill/>
                    </a:lnB>
                    <a:noFill/>
                  </a:tcPr>
                </a:tc>
                <a:tc>
                  <a:txBody>
                    <a:bodyPr/>
                    <a:lstStyle/>
                    <a:p>
                      <a:pPr algn="ctr">
                        <a:buNone/>
                      </a:pPr>
                      <a:r>
                        <a:rPr lang="en-CA" sz="900"/>
                        <a:t>Simple Meaning</a:t>
                      </a:r>
                    </a:p>
                  </a:txBody>
                  <a:tcPr marL="44401" marR="44401" marT="22201" marB="22201" anchor="ctr">
                    <a:lnL>
                      <a:noFill/>
                    </a:lnL>
                    <a:lnR>
                      <a:noFill/>
                    </a:lnR>
                    <a:lnT>
                      <a:noFill/>
                    </a:lnT>
                    <a:lnB>
                      <a:noFill/>
                    </a:lnB>
                    <a:noFill/>
                  </a:tcPr>
                </a:tc>
                <a:tc>
                  <a:txBody>
                    <a:bodyPr/>
                    <a:lstStyle/>
                    <a:p>
                      <a:pPr algn="ctr">
                        <a:buNone/>
                      </a:pPr>
                      <a:r>
                        <a:rPr lang="en-CA" sz="900"/>
                        <a:t>Cricket Example 🏏</a:t>
                      </a:r>
                    </a:p>
                  </a:txBody>
                  <a:tcPr marL="44401" marR="44401" marT="22201" marB="22201" anchor="ctr">
                    <a:lnL>
                      <a:noFill/>
                    </a:lnL>
                    <a:lnR>
                      <a:noFill/>
                    </a:lnR>
                    <a:lnT>
                      <a:noFill/>
                    </a:lnT>
                    <a:lnB>
                      <a:noFill/>
                    </a:lnB>
                    <a:noFill/>
                  </a:tcPr>
                </a:tc>
                <a:extLst>
                  <a:ext uri="{0D108BD9-81ED-4DB2-BD59-A6C34878D82A}">
                    <a16:rowId xmlns:a16="http://schemas.microsoft.com/office/drawing/2014/main" val="616656484"/>
                  </a:ext>
                </a:extLst>
              </a:tr>
              <a:tr h="938975">
                <a:tc>
                  <a:txBody>
                    <a:bodyPr/>
                    <a:lstStyle/>
                    <a:p>
                      <a:pPr algn="ctr">
                        <a:buNone/>
                      </a:pPr>
                      <a:r>
                        <a:rPr lang="en-CA" sz="900" b="1"/>
                        <a:t>Branch</a:t>
                      </a:r>
                      <a:endParaRPr lang="en-CA" sz="900"/>
                    </a:p>
                  </a:txBody>
                  <a:tcPr marL="44401" marR="44401" marT="22201" marB="22201" anchor="ctr">
                    <a:lnL>
                      <a:noFill/>
                    </a:lnL>
                    <a:lnR>
                      <a:noFill/>
                    </a:lnR>
                    <a:lnT>
                      <a:noFill/>
                    </a:lnT>
                    <a:lnB>
                      <a:noFill/>
                    </a:lnB>
                    <a:noFill/>
                  </a:tcPr>
                </a:tc>
                <a:tc>
                  <a:txBody>
                    <a:bodyPr/>
                    <a:lstStyle/>
                    <a:p>
                      <a:pPr algn="ctr">
                        <a:buNone/>
                      </a:pPr>
                      <a:r>
                        <a:rPr lang="en-US" sz="900"/>
                        <a:t>A separate line of work</a:t>
                      </a:r>
                    </a:p>
                  </a:txBody>
                  <a:tcPr marL="44401" marR="44401" marT="22201" marB="22201" anchor="ctr">
                    <a:lnL>
                      <a:noFill/>
                    </a:lnL>
                    <a:lnR>
                      <a:noFill/>
                    </a:lnR>
                    <a:lnT>
                      <a:noFill/>
                    </a:lnT>
                    <a:lnB>
                      <a:noFill/>
                    </a:lnB>
                    <a:noFill/>
                  </a:tcPr>
                </a:tc>
                <a:tc>
                  <a:txBody>
                    <a:bodyPr/>
                    <a:lstStyle/>
                    <a:p>
                      <a:pPr algn="ctr">
                        <a:buNone/>
                      </a:pPr>
                      <a:r>
                        <a:rPr lang="en-US" sz="900"/>
                        <a:t>Like a batsman </a:t>
                      </a:r>
                      <a:r>
                        <a:rPr lang="en-US" sz="900" b="1"/>
                        <a:t>practicing a new batting style</a:t>
                      </a:r>
                      <a:r>
                        <a:rPr lang="en-US" sz="900"/>
                        <a:t> in the nets without affecting the main match. Once perfected, it’s added to the main team strategy.</a:t>
                      </a:r>
                    </a:p>
                  </a:txBody>
                  <a:tcPr marL="44401" marR="44401" marT="22201" marB="22201" anchor="ctr">
                    <a:lnL>
                      <a:noFill/>
                    </a:lnL>
                    <a:lnR>
                      <a:noFill/>
                    </a:lnR>
                    <a:lnT>
                      <a:noFill/>
                    </a:lnT>
                    <a:lnB>
                      <a:noFill/>
                    </a:lnB>
                    <a:noFill/>
                  </a:tcPr>
                </a:tc>
                <a:extLst>
                  <a:ext uri="{0D108BD9-81ED-4DB2-BD59-A6C34878D82A}">
                    <a16:rowId xmlns:a16="http://schemas.microsoft.com/office/drawing/2014/main" val="1969744325"/>
                  </a:ext>
                </a:extLst>
              </a:tr>
              <a:tr h="586860">
                <a:tc>
                  <a:txBody>
                    <a:bodyPr/>
                    <a:lstStyle/>
                    <a:p>
                      <a:pPr algn="ctr">
                        <a:buNone/>
                      </a:pPr>
                      <a:r>
                        <a:rPr lang="en-CA" sz="900" b="1"/>
                        <a:t>Clone</a:t>
                      </a:r>
                      <a:endParaRPr lang="en-CA" sz="900"/>
                    </a:p>
                  </a:txBody>
                  <a:tcPr marL="44401" marR="44401" marT="22201" marB="22201" anchor="ctr">
                    <a:lnL>
                      <a:noFill/>
                    </a:lnL>
                    <a:lnR>
                      <a:noFill/>
                    </a:lnR>
                    <a:lnT>
                      <a:noFill/>
                    </a:lnT>
                    <a:lnB>
                      <a:noFill/>
                    </a:lnB>
                    <a:noFill/>
                  </a:tcPr>
                </a:tc>
                <a:tc>
                  <a:txBody>
                    <a:bodyPr/>
                    <a:lstStyle/>
                    <a:p>
                      <a:pPr algn="ctr">
                        <a:buNone/>
                      </a:pPr>
                      <a:r>
                        <a:rPr lang="en-US" sz="900"/>
                        <a:t>Download a copy of a project</a:t>
                      </a:r>
                    </a:p>
                  </a:txBody>
                  <a:tcPr marL="44401" marR="44401" marT="22201" marB="22201" anchor="ctr">
                    <a:lnL>
                      <a:noFill/>
                    </a:lnL>
                    <a:lnR>
                      <a:noFill/>
                    </a:lnR>
                    <a:lnT>
                      <a:noFill/>
                    </a:lnT>
                    <a:lnB>
                      <a:noFill/>
                    </a:lnB>
                    <a:noFill/>
                  </a:tcPr>
                </a:tc>
                <a:tc>
                  <a:txBody>
                    <a:bodyPr/>
                    <a:lstStyle/>
                    <a:p>
                      <a:pPr algn="ctr">
                        <a:buNone/>
                      </a:pPr>
                      <a:r>
                        <a:rPr lang="en-US" sz="900"/>
                        <a:t>Like </a:t>
                      </a:r>
                      <a:r>
                        <a:rPr lang="en-US" sz="900" b="1"/>
                        <a:t>taking a video of a cricket match</a:t>
                      </a:r>
                      <a:r>
                        <a:rPr lang="en-US" sz="900"/>
                        <a:t> to your home computer so you can study it and practice later.</a:t>
                      </a:r>
                    </a:p>
                  </a:txBody>
                  <a:tcPr marL="44401" marR="44401" marT="22201" marB="22201" anchor="ctr">
                    <a:lnL>
                      <a:noFill/>
                    </a:lnL>
                    <a:lnR>
                      <a:noFill/>
                    </a:lnR>
                    <a:lnT>
                      <a:noFill/>
                    </a:lnT>
                    <a:lnB>
                      <a:noFill/>
                    </a:lnB>
                    <a:noFill/>
                  </a:tcPr>
                </a:tc>
                <a:extLst>
                  <a:ext uri="{0D108BD9-81ED-4DB2-BD59-A6C34878D82A}">
                    <a16:rowId xmlns:a16="http://schemas.microsoft.com/office/drawing/2014/main" val="3257974530"/>
                  </a:ext>
                </a:extLst>
              </a:tr>
              <a:tr h="762917">
                <a:tc>
                  <a:txBody>
                    <a:bodyPr/>
                    <a:lstStyle/>
                    <a:p>
                      <a:pPr algn="ctr">
                        <a:buNone/>
                      </a:pPr>
                      <a:r>
                        <a:rPr lang="en-CA" sz="900" b="1"/>
                        <a:t>Fork</a:t>
                      </a:r>
                      <a:endParaRPr lang="en-CA" sz="900"/>
                    </a:p>
                  </a:txBody>
                  <a:tcPr marL="44401" marR="44401" marT="22201" marB="22201" anchor="ctr">
                    <a:lnL>
                      <a:noFill/>
                    </a:lnL>
                    <a:lnR>
                      <a:noFill/>
                    </a:lnR>
                    <a:lnT>
                      <a:noFill/>
                    </a:lnT>
                    <a:lnB>
                      <a:noFill/>
                    </a:lnB>
                    <a:noFill/>
                  </a:tcPr>
                </a:tc>
                <a:tc>
                  <a:txBody>
                    <a:bodyPr/>
                    <a:lstStyle/>
                    <a:p>
                      <a:pPr algn="ctr">
                        <a:buNone/>
                      </a:pPr>
                      <a:r>
                        <a:rPr lang="en-US" sz="900"/>
                        <a:t>Your own copy of someone’s project on GitHub</a:t>
                      </a:r>
                    </a:p>
                  </a:txBody>
                  <a:tcPr marL="44401" marR="44401" marT="22201" marB="22201" anchor="ctr">
                    <a:lnL>
                      <a:noFill/>
                    </a:lnL>
                    <a:lnR>
                      <a:noFill/>
                    </a:lnR>
                    <a:lnT>
                      <a:noFill/>
                    </a:lnT>
                    <a:lnB>
                      <a:noFill/>
                    </a:lnB>
                    <a:noFill/>
                  </a:tcPr>
                </a:tc>
                <a:tc>
                  <a:txBody>
                    <a:bodyPr/>
                    <a:lstStyle/>
                    <a:p>
                      <a:pPr algn="ctr">
                        <a:buNone/>
                      </a:pPr>
                      <a:r>
                        <a:rPr lang="en-US" sz="900"/>
                        <a:t>Like </a:t>
                      </a:r>
                      <a:r>
                        <a:rPr lang="en-US" sz="900" b="1"/>
                        <a:t>creating your own cricket team</a:t>
                      </a:r>
                      <a:r>
                        <a:rPr lang="en-US" sz="900"/>
                        <a:t> by copying another team’s strategy. You can train differently and make your own changes.</a:t>
                      </a:r>
                    </a:p>
                  </a:txBody>
                  <a:tcPr marL="44401" marR="44401" marT="22201" marB="22201" anchor="ctr">
                    <a:lnL>
                      <a:noFill/>
                    </a:lnL>
                    <a:lnR>
                      <a:noFill/>
                    </a:lnR>
                    <a:lnT>
                      <a:noFill/>
                    </a:lnT>
                    <a:lnB>
                      <a:noFill/>
                    </a:lnB>
                    <a:noFill/>
                  </a:tcPr>
                </a:tc>
                <a:extLst>
                  <a:ext uri="{0D108BD9-81ED-4DB2-BD59-A6C34878D82A}">
                    <a16:rowId xmlns:a16="http://schemas.microsoft.com/office/drawing/2014/main" val="2708311044"/>
                  </a:ext>
                </a:extLst>
              </a:tr>
              <a:tr h="762917">
                <a:tc>
                  <a:txBody>
                    <a:bodyPr/>
                    <a:lstStyle/>
                    <a:p>
                      <a:pPr algn="ctr">
                        <a:buNone/>
                      </a:pPr>
                      <a:r>
                        <a:rPr lang="en-CA" sz="900" b="1"/>
                        <a:t>Merge</a:t>
                      </a:r>
                      <a:endParaRPr lang="en-CA" sz="900"/>
                    </a:p>
                  </a:txBody>
                  <a:tcPr marL="44401" marR="44401" marT="22201" marB="22201" anchor="ctr">
                    <a:lnL>
                      <a:noFill/>
                    </a:lnL>
                    <a:lnR>
                      <a:noFill/>
                    </a:lnR>
                    <a:lnT>
                      <a:noFill/>
                    </a:lnT>
                    <a:lnB>
                      <a:noFill/>
                    </a:lnB>
                    <a:noFill/>
                  </a:tcPr>
                </a:tc>
                <a:tc>
                  <a:txBody>
                    <a:bodyPr/>
                    <a:lstStyle/>
                    <a:p>
                      <a:pPr algn="ctr">
                        <a:buNone/>
                      </a:pPr>
                      <a:r>
                        <a:rPr lang="en-US" sz="900" dirty="0"/>
                        <a:t>Combine one branch’s work into another</a:t>
                      </a:r>
                    </a:p>
                  </a:txBody>
                  <a:tcPr marL="44401" marR="44401" marT="22201" marB="22201" anchor="ctr">
                    <a:lnL>
                      <a:noFill/>
                    </a:lnL>
                    <a:lnR>
                      <a:noFill/>
                    </a:lnR>
                    <a:lnT>
                      <a:noFill/>
                    </a:lnT>
                    <a:lnB>
                      <a:noFill/>
                    </a:lnB>
                    <a:noFill/>
                  </a:tcPr>
                </a:tc>
                <a:tc>
                  <a:txBody>
                    <a:bodyPr/>
                    <a:lstStyle/>
                    <a:p>
                      <a:pPr algn="ctr">
                        <a:buNone/>
                      </a:pPr>
                      <a:r>
                        <a:rPr lang="en-US" sz="900"/>
                        <a:t>Like when the </a:t>
                      </a:r>
                      <a:r>
                        <a:rPr lang="en-US" sz="900" b="1"/>
                        <a:t>coach combines all player strategies</a:t>
                      </a:r>
                      <a:r>
                        <a:rPr lang="en-US" sz="900"/>
                        <a:t> (batting, bowling, fielding plans) into one final team strategy.</a:t>
                      </a:r>
                    </a:p>
                  </a:txBody>
                  <a:tcPr marL="44401" marR="44401" marT="22201" marB="22201" anchor="ctr">
                    <a:lnL>
                      <a:noFill/>
                    </a:lnL>
                    <a:lnR>
                      <a:noFill/>
                    </a:lnR>
                    <a:lnT>
                      <a:noFill/>
                    </a:lnT>
                    <a:lnB>
                      <a:noFill/>
                    </a:lnB>
                    <a:noFill/>
                  </a:tcPr>
                </a:tc>
                <a:extLst>
                  <a:ext uri="{0D108BD9-81ED-4DB2-BD59-A6C34878D82A}">
                    <a16:rowId xmlns:a16="http://schemas.microsoft.com/office/drawing/2014/main" val="3340192845"/>
                  </a:ext>
                </a:extLst>
              </a:tr>
              <a:tr h="938975">
                <a:tc>
                  <a:txBody>
                    <a:bodyPr/>
                    <a:lstStyle/>
                    <a:p>
                      <a:pPr algn="ctr">
                        <a:buNone/>
                      </a:pPr>
                      <a:r>
                        <a:rPr lang="en-CA" sz="900" b="1"/>
                        <a:t>Pull Request (PR)</a:t>
                      </a:r>
                      <a:endParaRPr lang="en-CA" sz="900"/>
                    </a:p>
                  </a:txBody>
                  <a:tcPr marL="44401" marR="44401" marT="22201" marB="22201" anchor="ctr">
                    <a:lnL>
                      <a:noFill/>
                    </a:lnL>
                    <a:lnR>
                      <a:noFill/>
                    </a:lnR>
                    <a:lnT>
                      <a:noFill/>
                    </a:lnT>
                    <a:lnB>
                      <a:noFill/>
                    </a:lnB>
                    <a:noFill/>
                  </a:tcPr>
                </a:tc>
                <a:tc>
                  <a:txBody>
                    <a:bodyPr/>
                    <a:lstStyle/>
                    <a:p>
                      <a:pPr algn="ctr">
                        <a:buNone/>
                      </a:pPr>
                      <a:r>
                        <a:rPr lang="en-US" sz="900" dirty="0"/>
                        <a:t>Request to merge your changes</a:t>
                      </a:r>
                    </a:p>
                  </a:txBody>
                  <a:tcPr marL="44401" marR="44401" marT="22201" marB="22201" anchor="ctr">
                    <a:lnL>
                      <a:noFill/>
                    </a:lnL>
                    <a:lnR>
                      <a:noFill/>
                    </a:lnR>
                    <a:lnT>
                      <a:noFill/>
                    </a:lnT>
                    <a:lnB>
                      <a:noFill/>
                    </a:lnB>
                    <a:noFill/>
                  </a:tcPr>
                </a:tc>
                <a:tc>
                  <a:txBody>
                    <a:bodyPr/>
                    <a:lstStyle/>
                    <a:p>
                      <a:pPr algn="ctr">
                        <a:buNone/>
                      </a:pPr>
                      <a:r>
                        <a:rPr lang="en-US" sz="900"/>
                        <a:t>Like a </a:t>
                      </a:r>
                      <a:r>
                        <a:rPr lang="en-US" sz="900" b="1"/>
                        <a:t>player asking the coach</a:t>
                      </a:r>
                      <a:r>
                        <a:rPr lang="en-US" sz="900"/>
                        <a:t> to include his new shot or bowling style into the main game plan — “Please review and add my improvement.”</a:t>
                      </a:r>
                    </a:p>
                  </a:txBody>
                  <a:tcPr marL="44401" marR="44401" marT="22201" marB="22201" anchor="ctr">
                    <a:lnL>
                      <a:noFill/>
                    </a:lnL>
                    <a:lnR>
                      <a:noFill/>
                    </a:lnR>
                    <a:lnT>
                      <a:noFill/>
                    </a:lnT>
                    <a:lnB>
                      <a:noFill/>
                    </a:lnB>
                    <a:noFill/>
                  </a:tcPr>
                </a:tc>
                <a:extLst>
                  <a:ext uri="{0D108BD9-81ED-4DB2-BD59-A6C34878D82A}">
                    <a16:rowId xmlns:a16="http://schemas.microsoft.com/office/drawing/2014/main" val="502718474"/>
                  </a:ext>
                </a:extLst>
              </a:tr>
              <a:tr h="762917">
                <a:tc>
                  <a:txBody>
                    <a:bodyPr/>
                    <a:lstStyle/>
                    <a:p>
                      <a:pPr algn="ctr">
                        <a:buNone/>
                      </a:pPr>
                      <a:r>
                        <a:rPr lang="en-CA" sz="900" b="1"/>
                        <a:t>Remote</a:t>
                      </a:r>
                      <a:endParaRPr lang="en-CA" sz="900"/>
                    </a:p>
                  </a:txBody>
                  <a:tcPr marL="44401" marR="44401" marT="22201" marB="22201" anchor="ctr">
                    <a:lnL>
                      <a:noFill/>
                    </a:lnL>
                    <a:lnR>
                      <a:noFill/>
                    </a:lnR>
                    <a:lnT>
                      <a:noFill/>
                    </a:lnT>
                    <a:lnB>
                      <a:noFill/>
                    </a:lnB>
                    <a:noFill/>
                  </a:tcPr>
                </a:tc>
                <a:tc>
                  <a:txBody>
                    <a:bodyPr/>
                    <a:lstStyle/>
                    <a:p>
                      <a:pPr algn="ctr">
                        <a:buNone/>
                      </a:pPr>
                      <a:r>
                        <a:rPr lang="en-US" sz="900"/>
                        <a:t>The online version of your repository</a:t>
                      </a:r>
                    </a:p>
                  </a:txBody>
                  <a:tcPr marL="44401" marR="44401" marT="22201" marB="22201" anchor="ctr">
                    <a:lnL>
                      <a:noFill/>
                    </a:lnL>
                    <a:lnR>
                      <a:noFill/>
                    </a:lnR>
                    <a:lnT>
                      <a:noFill/>
                    </a:lnT>
                    <a:lnB>
                      <a:noFill/>
                    </a:lnB>
                    <a:noFill/>
                  </a:tcPr>
                </a:tc>
                <a:tc>
                  <a:txBody>
                    <a:bodyPr/>
                    <a:lstStyle/>
                    <a:p>
                      <a:pPr algn="ctr">
                        <a:buNone/>
                      </a:pPr>
                      <a:r>
                        <a:rPr lang="en-US" sz="900"/>
                        <a:t>Like the </a:t>
                      </a:r>
                      <a:r>
                        <a:rPr lang="en-US" sz="900" b="1"/>
                        <a:t>official cricket board’s storage</a:t>
                      </a:r>
                      <a:r>
                        <a:rPr lang="en-US" sz="900"/>
                        <a:t> where the final match plans and videos are saved (accessible to the team).</a:t>
                      </a:r>
                    </a:p>
                  </a:txBody>
                  <a:tcPr marL="44401" marR="44401" marT="22201" marB="22201" anchor="ctr">
                    <a:lnL>
                      <a:noFill/>
                    </a:lnL>
                    <a:lnR>
                      <a:noFill/>
                    </a:lnR>
                    <a:lnT>
                      <a:noFill/>
                    </a:lnT>
                    <a:lnB>
                      <a:noFill/>
                    </a:lnB>
                    <a:noFill/>
                  </a:tcPr>
                </a:tc>
                <a:extLst>
                  <a:ext uri="{0D108BD9-81ED-4DB2-BD59-A6C34878D82A}">
                    <a16:rowId xmlns:a16="http://schemas.microsoft.com/office/drawing/2014/main" val="827365757"/>
                  </a:ext>
                </a:extLst>
              </a:tr>
              <a:tr h="762917">
                <a:tc>
                  <a:txBody>
                    <a:bodyPr/>
                    <a:lstStyle/>
                    <a:p>
                      <a:pPr algn="ctr">
                        <a:buNone/>
                      </a:pPr>
                      <a:r>
                        <a:rPr lang="en-CA" sz="900" b="1"/>
                        <a:t>Upstream</a:t>
                      </a:r>
                      <a:endParaRPr lang="en-CA" sz="900"/>
                    </a:p>
                  </a:txBody>
                  <a:tcPr marL="44401" marR="44401" marT="22201" marB="22201" anchor="ctr">
                    <a:lnL>
                      <a:noFill/>
                    </a:lnL>
                    <a:lnR>
                      <a:noFill/>
                    </a:lnR>
                    <a:lnT>
                      <a:noFill/>
                    </a:lnT>
                    <a:lnB>
                      <a:noFill/>
                    </a:lnB>
                    <a:noFill/>
                  </a:tcPr>
                </a:tc>
                <a:tc>
                  <a:txBody>
                    <a:bodyPr/>
                    <a:lstStyle/>
                    <a:p>
                      <a:pPr algn="ctr">
                        <a:buNone/>
                      </a:pPr>
                      <a:r>
                        <a:rPr lang="en-CA" sz="900"/>
                        <a:t>The original main repository</a:t>
                      </a:r>
                    </a:p>
                  </a:txBody>
                  <a:tcPr marL="44401" marR="44401" marT="22201" marB="22201" anchor="ctr">
                    <a:lnL>
                      <a:noFill/>
                    </a:lnL>
                    <a:lnR>
                      <a:noFill/>
                    </a:lnR>
                    <a:lnT>
                      <a:noFill/>
                    </a:lnT>
                    <a:lnB>
                      <a:noFill/>
                    </a:lnB>
                    <a:noFill/>
                  </a:tcPr>
                </a:tc>
                <a:tc>
                  <a:txBody>
                    <a:bodyPr/>
                    <a:lstStyle/>
                    <a:p>
                      <a:pPr algn="ctr">
                        <a:buNone/>
                      </a:pPr>
                      <a:r>
                        <a:rPr lang="en-US" sz="900" dirty="0"/>
                        <a:t>Like the </a:t>
                      </a:r>
                      <a:r>
                        <a:rPr lang="en-US" sz="900" b="1" dirty="0"/>
                        <a:t>national cricket team’s official playbook</a:t>
                      </a:r>
                      <a:r>
                        <a:rPr lang="en-US" sz="900" dirty="0"/>
                        <a:t>, and your team is a </a:t>
                      </a:r>
                      <a:r>
                        <a:rPr lang="en-US" sz="900" b="1" dirty="0"/>
                        <a:t>local copy</a:t>
                      </a:r>
                      <a:r>
                        <a:rPr lang="en-US" sz="900" dirty="0"/>
                        <a:t> (downstream) learning from it.</a:t>
                      </a:r>
                    </a:p>
                  </a:txBody>
                  <a:tcPr marL="44401" marR="44401" marT="22201" marB="22201" anchor="ctr">
                    <a:lnL>
                      <a:noFill/>
                    </a:lnL>
                    <a:lnR>
                      <a:noFill/>
                    </a:lnR>
                    <a:lnT>
                      <a:noFill/>
                    </a:lnT>
                    <a:lnB>
                      <a:noFill/>
                    </a:lnB>
                    <a:noFill/>
                  </a:tcPr>
                </a:tc>
                <a:extLst>
                  <a:ext uri="{0D108BD9-81ED-4DB2-BD59-A6C34878D82A}">
                    <a16:rowId xmlns:a16="http://schemas.microsoft.com/office/drawing/2014/main" val="1624288134"/>
                  </a:ext>
                </a:extLst>
              </a:tr>
            </a:tbl>
          </a:graphicData>
        </a:graphic>
      </p:graphicFrame>
    </p:spTree>
    <p:extLst>
      <p:ext uri="{BB962C8B-B14F-4D97-AF65-F5344CB8AC3E}">
        <p14:creationId xmlns:p14="http://schemas.microsoft.com/office/powerpoint/2010/main" val="2854251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0845"/>
            <a:ext cx="10515600" cy="918210"/>
          </a:xfrm>
        </p:spPr>
        <p:txBody>
          <a:bodyPr>
            <a:normAutofit fontScale="90000"/>
          </a:bodyPr>
          <a:lstStyle/>
          <a:p>
            <a:r>
              <a:rPr lang="en-US">
                <a:sym typeface="+mn-ea"/>
              </a:rPr>
              <a:t>Step 1: Create and use a repository</a:t>
            </a:r>
            <a:br>
              <a:rPr lang="en-US"/>
            </a:br>
            <a:endParaRPr lang="en-US" b="1">
              <a:latin typeface="Arial Bold" panose="020B0604020202090204" charset="0"/>
              <a:cs typeface="Arial Bold" panose="020B0604020202090204" charset="0"/>
            </a:endParaRPr>
          </a:p>
        </p:txBody>
      </p:sp>
      <p:sp>
        <p:nvSpPr>
          <p:cNvPr id="3" name="Content Placeholder 2"/>
          <p:cNvSpPr>
            <a:spLocks noGrp="1"/>
          </p:cNvSpPr>
          <p:nvPr>
            <p:ph idx="1"/>
          </p:nvPr>
        </p:nvSpPr>
        <p:spPr>
          <a:xfrm>
            <a:off x="838200" y="1231265"/>
            <a:ext cx="10515600" cy="4946015"/>
          </a:xfrm>
        </p:spPr>
        <p:txBody>
          <a:bodyPr>
            <a:normAutofit/>
          </a:bodyPr>
          <a:lstStyle/>
          <a:p>
            <a:r>
              <a:rPr lang="en-US" sz="2000"/>
              <a:t>You can think of a repository as a folder that contains related items, such as files, images, videos, or even other folders. </a:t>
            </a:r>
          </a:p>
          <a:p>
            <a:r>
              <a:rPr lang="en-US" sz="2000"/>
              <a:t>A repository usually groups together items that belong to the same "project" or thing you're working on.</a:t>
            </a:r>
          </a:p>
          <a:p>
            <a:r>
              <a:rPr lang="en-US" sz="2000"/>
              <a:t>Often, repositories include a README file, a file with information about your project. </a:t>
            </a:r>
          </a:p>
          <a:p>
            <a:r>
              <a:rPr lang="en-US" sz="2000"/>
              <a:t>README files are written in Markdown, which is an easy-to-read, easy-to-write language for formatting plain text.</a:t>
            </a:r>
          </a:p>
          <a:p>
            <a:r>
              <a:rPr lang="en-US" sz="2000"/>
              <a:t>GitHub lets you add a README file at the same time you create your new repository. </a:t>
            </a:r>
          </a:p>
          <a:p>
            <a:r>
              <a:rPr lang="en-US" sz="2000"/>
              <a:t>GitHub also offers other common options such as a license file, but you do not have to select any of them now.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1025"/>
          </a:xfrm>
        </p:spPr>
        <p:txBody>
          <a:bodyPr>
            <a:normAutofit fontScale="90000"/>
          </a:bodyPr>
          <a:lstStyle/>
          <a:p>
            <a:r>
              <a:rPr lang="en-US"/>
              <a:t>Steps to create a repository </a:t>
            </a:r>
          </a:p>
        </p:txBody>
      </p:sp>
      <p:sp>
        <p:nvSpPr>
          <p:cNvPr id="3" name="Content Placeholder 2"/>
          <p:cNvSpPr>
            <a:spLocks noGrp="1"/>
          </p:cNvSpPr>
          <p:nvPr>
            <p:ph idx="1"/>
          </p:nvPr>
        </p:nvSpPr>
        <p:spPr>
          <a:xfrm>
            <a:off x="838200" y="1149985"/>
            <a:ext cx="10515600" cy="5027295"/>
          </a:xfrm>
        </p:spPr>
        <p:txBody>
          <a:bodyPr>
            <a:normAutofit/>
          </a:bodyPr>
          <a:lstStyle/>
          <a:p>
            <a:r>
              <a:rPr lang="en-US"/>
              <a:t>In the upper-right corner of any page, select , then click New repository.</a:t>
            </a:r>
          </a:p>
          <a:p>
            <a:r>
              <a:rPr lang="en-US"/>
              <a:t>In the "Repository name" box, type “any name “.</a:t>
            </a:r>
          </a:p>
          <a:p>
            <a:r>
              <a:rPr lang="en-US"/>
              <a:t>In the "Description" box, type a short description. For example, type "This repository is for practicing the GitHub Flow."</a:t>
            </a:r>
          </a:p>
          <a:p>
            <a:r>
              <a:rPr lang="en-US"/>
              <a:t>Select whether your repository will be Public or Private.</a:t>
            </a:r>
          </a:p>
          <a:p>
            <a:r>
              <a:rPr lang="en-US"/>
              <a:t>Select Add a README file.</a:t>
            </a:r>
          </a:p>
          <a:p>
            <a:r>
              <a:rPr lang="en-US"/>
              <a:t>Click Create repository.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04 at 12.27.43 AM"/>
          <p:cNvPicPr>
            <a:picLocks noChangeAspect="1"/>
          </p:cNvPicPr>
          <p:nvPr/>
        </p:nvPicPr>
        <p:blipFill>
          <a:blip r:embed="rId2"/>
          <a:stretch>
            <a:fillRect/>
          </a:stretch>
        </p:blipFill>
        <p:spPr>
          <a:xfrm>
            <a:off x="0" y="-635"/>
            <a:ext cx="12191365" cy="68586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6745"/>
          </a:xfrm>
        </p:spPr>
        <p:txBody>
          <a:bodyPr>
            <a:normAutofit fontScale="90000"/>
          </a:bodyPr>
          <a:lstStyle/>
          <a:p>
            <a:r>
              <a:rPr lang="en-US"/>
              <a:t>Step 2: Create a branch</a:t>
            </a:r>
          </a:p>
        </p:txBody>
      </p:sp>
      <p:sp>
        <p:nvSpPr>
          <p:cNvPr id="3" name="Content Placeholder 2"/>
          <p:cNvSpPr>
            <a:spLocks noGrp="1"/>
          </p:cNvSpPr>
          <p:nvPr>
            <p:ph idx="1"/>
          </p:nvPr>
        </p:nvSpPr>
        <p:spPr>
          <a:xfrm>
            <a:off x="838200" y="1231265"/>
            <a:ext cx="10515600" cy="4946015"/>
          </a:xfrm>
        </p:spPr>
        <p:txBody>
          <a:bodyPr>
            <a:normAutofit fontScale="85000" lnSpcReduction="10000"/>
          </a:bodyPr>
          <a:lstStyle/>
          <a:p>
            <a:r>
              <a:rPr lang="en-US"/>
              <a:t>Branching lets you have different versions of a repository at one time.</a:t>
            </a:r>
          </a:p>
          <a:p>
            <a:r>
              <a:rPr lang="en-US"/>
              <a:t>By default, your repository has one branch named main that is considered to be the definitive branch. </a:t>
            </a:r>
          </a:p>
          <a:p>
            <a:r>
              <a:rPr lang="en-US"/>
              <a:t>You can create additional branches off of main in your repository.</a:t>
            </a:r>
          </a:p>
          <a:p>
            <a:r>
              <a:rPr lang="en-US"/>
              <a:t>Branching is helpful when you want to add new features to a project without changing the main source of code. </a:t>
            </a:r>
          </a:p>
          <a:p>
            <a:r>
              <a:rPr lang="en-US"/>
              <a:t>The work done on different branches will not show up on the main branch until you merge it, which we will cover later in this guide. </a:t>
            </a:r>
          </a:p>
          <a:p>
            <a:r>
              <a:rPr lang="en-US"/>
              <a:t>You can use branches to experiment and make edits before committing them to main.</a:t>
            </a:r>
          </a:p>
          <a:p>
            <a:r>
              <a:rPr lang="en-US"/>
              <a:t>When you create a branch off the main branch, you're making a copy, or snapshot, of main as it was at that point in time. If someone else made changes to the main branch while you were working on your branch, you could pull in those updates.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90"/>
            <a:ext cx="10515600" cy="1863725"/>
          </a:xfrm>
        </p:spPr>
        <p:txBody>
          <a:bodyPr>
            <a:normAutofit/>
          </a:bodyPr>
          <a:lstStyle/>
          <a:p>
            <a:pPr marL="457200" indent="-457200">
              <a:buFont typeface="Arial" panose="020B0604020202090204" pitchFamily="34" charset="0"/>
              <a:buChar char="•"/>
            </a:pPr>
            <a:r>
              <a:rPr lang="en-US" sz="2665"/>
              <a:t>This diagram shows:</a:t>
            </a:r>
            <a:br>
              <a:rPr lang="en-US" sz="2665"/>
            </a:br>
            <a:r>
              <a:rPr lang="en-US" sz="2665"/>
              <a:t>	1. The main branch</a:t>
            </a:r>
            <a:br>
              <a:rPr lang="en-US" sz="2665"/>
            </a:br>
            <a:r>
              <a:rPr lang="en-US" sz="2665"/>
              <a:t>	2. A new branch called feature</a:t>
            </a:r>
            <a:br>
              <a:rPr lang="en-US" sz="2665"/>
            </a:br>
            <a:r>
              <a:rPr lang="en-US" sz="2665"/>
              <a:t>	3. The journey that feature takes before it's merged into main</a:t>
            </a:r>
          </a:p>
        </p:txBody>
      </p:sp>
      <p:pic>
        <p:nvPicPr>
          <p:cNvPr id="4" name="Picture 3" descr="Screenshot 2024-09-04 at 12.30.34 AM"/>
          <p:cNvPicPr>
            <a:picLocks noChangeAspect="1"/>
          </p:cNvPicPr>
          <p:nvPr/>
        </p:nvPicPr>
        <p:blipFill>
          <a:blip r:embed="rId2"/>
          <a:stretch>
            <a:fillRect/>
          </a:stretch>
        </p:blipFill>
        <p:spPr>
          <a:xfrm>
            <a:off x="598805" y="3045460"/>
            <a:ext cx="11086465" cy="32613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8475"/>
          </a:xfrm>
        </p:spPr>
        <p:txBody>
          <a:bodyPr>
            <a:normAutofit/>
          </a:bodyPr>
          <a:lstStyle/>
          <a:p>
            <a:r>
              <a:rPr lang="en-US" sz="2800"/>
              <a:t>Creating a branch</a:t>
            </a:r>
          </a:p>
        </p:txBody>
      </p:sp>
      <p:sp>
        <p:nvSpPr>
          <p:cNvPr id="3" name="Content Placeholder 2"/>
          <p:cNvSpPr>
            <a:spLocks noGrp="1"/>
          </p:cNvSpPr>
          <p:nvPr>
            <p:ph idx="1"/>
          </p:nvPr>
        </p:nvSpPr>
        <p:spPr>
          <a:xfrm>
            <a:off x="838200" y="1934210"/>
            <a:ext cx="10515600" cy="3659505"/>
          </a:xfrm>
        </p:spPr>
        <p:txBody>
          <a:bodyPr/>
          <a:lstStyle/>
          <a:p>
            <a:r>
              <a:rPr lang="en-US" sz="2400"/>
              <a:t>Click the Code tab of your repository.</a:t>
            </a:r>
          </a:p>
          <a:p>
            <a:r>
              <a:rPr lang="en-US" sz="2400"/>
              <a:t>Above the file list, click the dropdown menu that says main.</a:t>
            </a:r>
          </a:p>
          <a:p>
            <a:r>
              <a:rPr lang="en-US" sz="2400"/>
              <a:t>Type a branch name, “new”, into the text box.</a:t>
            </a:r>
          </a:p>
          <a:p>
            <a:r>
              <a:rPr lang="en-US" sz="2400"/>
              <a:t>Click Create branch: “new” from main.</a:t>
            </a:r>
          </a:p>
          <a:p>
            <a:r>
              <a:rPr lang="en-US" sz="2400"/>
              <a:t>Now you have two branches, main and new. </a:t>
            </a:r>
          </a:p>
          <a:p>
            <a:r>
              <a:rPr lang="en-US" sz="2400"/>
              <a:t>Right now, they look exactly the same. </a:t>
            </a:r>
          </a:p>
          <a:p>
            <a:r>
              <a:rPr lang="en-US" sz="2400"/>
              <a:t>Next you'll add changes to the “new” branch.</a:t>
            </a:r>
          </a:p>
          <a:p>
            <a:pPr marL="0" indent="0">
              <a:buNone/>
            </a:pPr>
            <a:endParaRPr 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175"/>
          </a:xfrm>
        </p:spPr>
        <p:txBody>
          <a:bodyPr/>
          <a:lstStyle/>
          <a:p>
            <a:r>
              <a:rPr lang="en-US" sz="2000"/>
              <a:t>Step 3: Make and commit changes</a:t>
            </a:r>
          </a:p>
        </p:txBody>
      </p:sp>
      <p:sp>
        <p:nvSpPr>
          <p:cNvPr id="3" name="Content Placeholder 2"/>
          <p:cNvSpPr>
            <a:spLocks noGrp="1"/>
          </p:cNvSpPr>
          <p:nvPr>
            <p:ph idx="1"/>
          </p:nvPr>
        </p:nvSpPr>
        <p:spPr>
          <a:xfrm>
            <a:off x="838200" y="1802130"/>
            <a:ext cx="10515600" cy="4060190"/>
          </a:xfrm>
        </p:spPr>
        <p:txBody>
          <a:bodyPr>
            <a:normAutofit/>
          </a:bodyPr>
          <a:lstStyle/>
          <a:p>
            <a:r>
              <a:rPr lang="en-US" sz="2400"/>
              <a:t>When you created a new branch in the previous step, GitHub brought you to the code page for your new branch, which is a copy of main.</a:t>
            </a:r>
          </a:p>
          <a:p>
            <a:r>
              <a:rPr lang="en-US" sz="2400"/>
              <a:t>You can make and save changes to the files in your repository.</a:t>
            </a:r>
          </a:p>
          <a:p>
            <a:r>
              <a:rPr lang="en-US" sz="2400"/>
              <a:t>On GitHub, saved changes are called commits.</a:t>
            </a:r>
          </a:p>
          <a:p>
            <a:r>
              <a:rPr lang="en-US" sz="2400"/>
              <a:t>Each commit has an associated commit message, which is a description explaining why a particular change was made.</a:t>
            </a:r>
          </a:p>
          <a:p>
            <a:r>
              <a:rPr lang="en-US" sz="2400"/>
              <a:t>Commit messages capture the history of your changes so that other contributors can understand what you’ve done and why.</a:t>
            </a:r>
          </a:p>
          <a:p>
            <a:pPr marL="0" indent="0">
              <a:buNone/>
            </a:pPr>
            <a:endParaRPr lang="en-US" sz="1800"/>
          </a:p>
          <a:p>
            <a:pPr marL="0" indent="0">
              <a:buNone/>
            </a:pPr>
            <a:endParaRPr 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5660"/>
            <a:ext cx="10515600" cy="5341620"/>
          </a:xfrm>
        </p:spPr>
        <p:txBody>
          <a:bodyPr>
            <a:normAutofit/>
          </a:bodyPr>
          <a:lstStyle/>
          <a:p>
            <a:pPr marL="0" indent="0">
              <a:buNone/>
            </a:pPr>
            <a:r>
              <a:rPr lang="en-US">
                <a:sym typeface="+mn-ea"/>
              </a:rPr>
              <a:t>Under the new branch you created, click the README.md file.</a:t>
            </a:r>
            <a:endParaRPr lang="en-US"/>
          </a:p>
          <a:p>
            <a:r>
              <a:rPr lang="en-US">
                <a:sym typeface="+mn-ea"/>
              </a:rPr>
              <a:t>To edit the file, click .</a:t>
            </a:r>
            <a:endParaRPr lang="en-US"/>
          </a:p>
          <a:p>
            <a:r>
              <a:rPr lang="en-US">
                <a:sym typeface="+mn-ea"/>
              </a:rPr>
              <a:t>In the editor, write a bit about yourself.</a:t>
            </a:r>
            <a:endParaRPr lang="en-US"/>
          </a:p>
          <a:p>
            <a:r>
              <a:rPr lang="en-US">
                <a:sym typeface="+mn-ea"/>
              </a:rPr>
              <a:t>Click Commit changes.</a:t>
            </a:r>
            <a:endParaRPr lang="en-US"/>
          </a:p>
          <a:p>
            <a:r>
              <a:rPr lang="en-US">
                <a:sym typeface="+mn-ea"/>
              </a:rPr>
              <a:t>In the "Commit changes" box, write a commit message that describes your changes.</a:t>
            </a:r>
            <a:endParaRPr lang="en-US"/>
          </a:p>
          <a:p>
            <a:r>
              <a:rPr lang="en-US">
                <a:sym typeface="+mn-ea"/>
              </a:rPr>
              <a:t>Click Commit changes.</a:t>
            </a:r>
            <a:endParaRPr lang="en-US"/>
          </a:p>
          <a:p>
            <a:r>
              <a:rPr lang="en-US">
                <a:sym typeface="+mn-ea"/>
              </a:rPr>
              <a:t>These changes will be made only to the README file on your new branch, so now this branch contains content that's different from main.</a:t>
            </a:r>
            <a:endParaRPr lang="en-US"/>
          </a:p>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650"/>
          </a:xfrm>
        </p:spPr>
        <p:txBody>
          <a:bodyPr>
            <a:normAutofit/>
          </a:bodyPr>
          <a:lstStyle/>
          <a:p>
            <a:r>
              <a:rPr lang="en-US" sz="2665"/>
              <a:t>Step 4: Open a pull request</a:t>
            </a:r>
          </a:p>
        </p:txBody>
      </p:sp>
      <p:sp>
        <p:nvSpPr>
          <p:cNvPr id="3" name="Content Placeholder 2"/>
          <p:cNvSpPr>
            <a:spLocks noGrp="1"/>
          </p:cNvSpPr>
          <p:nvPr>
            <p:ph idx="1"/>
          </p:nvPr>
        </p:nvSpPr>
        <p:spPr>
          <a:xfrm>
            <a:off x="838200" y="1243330"/>
            <a:ext cx="10515600" cy="4933950"/>
          </a:xfrm>
        </p:spPr>
        <p:txBody>
          <a:bodyPr>
            <a:normAutofit fontScale="87500" lnSpcReduction="10000"/>
          </a:bodyPr>
          <a:lstStyle/>
          <a:p>
            <a:r>
              <a:rPr lang="en-US"/>
              <a:t>Now that you have changes in a branch off of main, you can open a pull request.</a:t>
            </a:r>
          </a:p>
          <a:p>
            <a:r>
              <a:rPr lang="en-US"/>
              <a:t>Pull requests are the heart of collaboration on GitHub. </a:t>
            </a:r>
          </a:p>
          <a:p>
            <a:r>
              <a:rPr lang="en-US"/>
              <a:t>When you open a pull request, you're proposing your changes and requesting that someone review and pull in your contribution and merge them into their branch. </a:t>
            </a:r>
          </a:p>
          <a:p>
            <a:r>
              <a:rPr lang="en-US"/>
              <a:t>Pull requests show diffs, or differences, of the content from both branches. The changes, additions, and subtractions are shown in different colors.</a:t>
            </a:r>
          </a:p>
          <a:p>
            <a:r>
              <a:rPr lang="en-US"/>
              <a:t>As soon as you make a commit, you can open a pull request and start a discussion, even before the code is finished.</a:t>
            </a:r>
          </a:p>
          <a:p>
            <a:r>
              <a:rPr lang="en-US"/>
              <a:t>In this step, you'll open a pull request in your own repository and then merge it yourself. It's a great way to practise the GitHub flow before working on larger projects.</a:t>
            </a:r>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8680"/>
            <a:ext cx="10515600" cy="5308600"/>
          </a:xfrm>
        </p:spPr>
        <p:txBody>
          <a:bodyPr>
            <a:normAutofit/>
          </a:bodyPr>
          <a:lstStyle/>
          <a:p>
            <a:r>
              <a:rPr lang="en-US"/>
              <a:t>Click the Pull requests tab of your repository.</a:t>
            </a:r>
          </a:p>
          <a:p>
            <a:r>
              <a:rPr lang="en-US"/>
              <a:t>Click New pull request.</a:t>
            </a:r>
          </a:p>
          <a:p>
            <a:r>
              <a:rPr lang="en-US"/>
              <a:t>In the Example Comparisons box, select the branch you made, new, to compare with main (the original).</a:t>
            </a:r>
          </a:p>
          <a:p>
            <a:r>
              <a:rPr lang="en-US"/>
              <a:t>Look over your changes in the diffs on the Compare page, make sure they're what you want to submit.</a:t>
            </a:r>
          </a:p>
          <a:p>
            <a:r>
              <a:rPr lang="en-US"/>
              <a:t>Click Create pull request.</a:t>
            </a:r>
          </a:p>
          <a:p>
            <a:r>
              <a:rPr lang="en-US"/>
              <a:t>Give your pull request a title and write a brief description of your changes. You can include emojis and drag and drop images and gifs.</a:t>
            </a:r>
          </a:p>
          <a:p>
            <a:r>
              <a:rPr lang="en-US"/>
              <a:t>Click Create pull request.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8660"/>
          </a:xfrm>
        </p:spPr>
        <p:txBody>
          <a:bodyPr>
            <a:normAutofit/>
          </a:bodyPr>
          <a:lstStyle/>
          <a:p>
            <a:r>
              <a:rPr lang="en-US" sz="2400"/>
              <a:t>Step 5: Merge your pull request</a:t>
            </a:r>
          </a:p>
        </p:txBody>
      </p:sp>
      <p:sp>
        <p:nvSpPr>
          <p:cNvPr id="3" name="Content Placeholder 2"/>
          <p:cNvSpPr>
            <a:spLocks noGrp="1"/>
          </p:cNvSpPr>
          <p:nvPr>
            <p:ph idx="1"/>
          </p:nvPr>
        </p:nvSpPr>
        <p:spPr>
          <a:xfrm>
            <a:off x="838200" y="1313180"/>
            <a:ext cx="10515600" cy="4864100"/>
          </a:xfrm>
        </p:spPr>
        <p:txBody>
          <a:bodyPr>
            <a:normAutofit fontScale="97500"/>
          </a:bodyPr>
          <a:lstStyle/>
          <a:p>
            <a:r>
              <a:rPr lang="en-US"/>
              <a:t>In this final step, you will merge your new branch into the main branch. </a:t>
            </a:r>
          </a:p>
          <a:p>
            <a:r>
              <a:rPr lang="en-US"/>
              <a:t>After you merge your pull request, the changes on your new branch will be incorporated into main.</a:t>
            </a:r>
          </a:p>
          <a:p>
            <a:r>
              <a:rPr lang="en-US"/>
              <a:t>Sometimes, a pull request may introduce changes to code that conflict with the existing code on main. </a:t>
            </a:r>
          </a:p>
          <a:p>
            <a:r>
              <a:rPr lang="en-US"/>
              <a:t>If there are any conflicts, GitHub will alert you about the conflicting code and prevent merging until the conflicts are resolved. </a:t>
            </a:r>
          </a:p>
          <a:p>
            <a:r>
              <a:rPr lang="en-US"/>
              <a:t>You can make a commit that resolves the conflicts or use comments in the pull request to discuss the conflicts with your team members.</a:t>
            </a:r>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6110"/>
            <a:ext cx="10515600" cy="5551170"/>
          </a:xfrm>
        </p:spPr>
        <p:txBody>
          <a:bodyPr>
            <a:normAutofit/>
          </a:bodyPr>
          <a:lstStyle/>
          <a:p>
            <a:r>
              <a:rPr lang="en-US">
                <a:sym typeface="+mn-ea"/>
              </a:rPr>
              <a:t>Merge your branch into the main branch.</a:t>
            </a:r>
          </a:p>
          <a:p>
            <a:pPr marL="0" indent="0">
              <a:buNone/>
            </a:pPr>
            <a:endParaRPr lang="en-US"/>
          </a:p>
          <a:p>
            <a:r>
              <a:rPr lang="en-US">
                <a:sym typeface="+mn-ea"/>
              </a:rPr>
              <a:t>At the bottom of the pull request, click Merge pull request to merge the changes into main.</a:t>
            </a:r>
            <a:endParaRPr lang="en-US"/>
          </a:p>
          <a:p>
            <a:r>
              <a:rPr lang="en-US">
                <a:sym typeface="+mn-ea"/>
              </a:rPr>
              <a:t>Click Confirm merge. You will receive a message that the request was successfully merged and the request was closed.</a:t>
            </a:r>
            <a:endParaRPr lang="en-US"/>
          </a:p>
          <a:p>
            <a:r>
              <a:rPr lang="en-US">
                <a:sym typeface="+mn-ea"/>
              </a:rPr>
              <a:t>Click Delete branch. Now that your pull request is merged and your changes are on main, you can safely delete the new branch. </a:t>
            </a:r>
          </a:p>
          <a:p>
            <a:r>
              <a:rPr lang="en-US">
                <a:sym typeface="+mn-ea"/>
              </a:rPr>
              <a:t>If you want to make more changes to your project, you can always create a new branch and repeat this process.</a:t>
            </a:r>
            <a:endParaRPr lang="en-US"/>
          </a:p>
          <a:p>
            <a:r>
              <a:rPr lang="en-US">
                <a:sym typeface="+mn-ea"/>
              </a:rPr>
              <a:t>Click back to the Code tab of your repository to see your published changes on main.</a:t>
            </a:r>
            <a:endParaRPr 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Other Platforms </a:t>
            </a:r>
          </a:p>
        </p:txBody>
      </p:sp>
      <p:sp>
        <p:nvSpPr>
          <p:cNvPr id="3" name="Content Placeholder 2"/>
          <p:cNvSpPr>
            <a:spLocks noGrp="1"/>
          </p:cNvSpPr>
          <p:nvPr>
            <p:ph idx="1"/>
          </p:nvPr>
        </p:nvSpPr>
        <p:spPr/>
        <p:txBody>
          <a:bodyPr/>
          <a:lstStyle/>
          <a:p>
            <a:r>
              <a:rPr lang="en-US"/>
              <a:t>GitHub is an open source Git hosting platform that is available as a cloud service and as a self-hosted installation.</a:t>
            </a:r>
          </a:p>
          <a:p>
            <a:r>
              <a:rPr lang="en-US"/>
              <a:t>Similarly , we have other popular platforms as Bitbucket and gitlab , which are also </a:t>
            </a:r>
            <a:r>
              <a:rPr lang="en-US">
                <a:sym typeface="+mn-ea"/>
              </a:rPr>
              <a:t>open source Git hosting platform.</a:t>
            </a:r>
          </a:p>
          <a:p>
            <a:r>
              <a:rPr lang="en-US"/>
              <a:t>But the most popular platform is Github with many good features than others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6595"/>
          </a:xfrm>
        </p:spPr>
        <p:txBody>
          <a:bodyPr>
            <a:normAutofit/>
          </a:bodyPr>
          <a:lstStyle/>
          <a:p>
            <a:r>
              <a:rPr lang="en-US"/>
              <a:t>Difference between GIT and GitHub</a:t>
            </a:r>
          </a:p>
        </p:txBody>
      </p:sp>
      <p:sp>
        <p:nvSpPr>
          <p:cNvPr id="3" name="Content Placeholder 2"/>
          <p:cNvSpPr>
            <a:spLocks noGrp="1"/>
          </p:cNvSpPr>
          <p:nvPr>
            <p:ph idx="1"/>
          </p:nvPr>
        </p:nvSpPr>
        <p:spPr>
          <a:xfrm>
            <a:off x="838200" y="1406525"/>
            <a:ext cx="10515600" cy="4770755"/>
          </a:xfrm>
        </p:spPr>
        <p:txBody>
          <a:bodyPr/>
          <a:lstStyle/>
          <a:p>
            <a:r>
              <a:rPr lang="en-US" sz="2400" b="1"/>
              <a:t>Git</a:t>
            </a:r>
            <a:r>
              <a:rPr lang="en-US" sz="2400"/>
              <a:t>: It is a Distributed Version Control System for tracking versions of files.</a:t>
            </a:r>
          </a:p>
          <a:p>
            <a:r>
              <a:rPr lang="en-US" sz="2400" b="1"/>
              <a:t>Github</a:t>
            </a:r>
            <a:r>
              <a:rPr lang="en-US" sz="2400"/>
              <a:t>: It is  web portal and cloud hosting service for your Git repositories.</a:t>
            </a:r>
          </a:p>
          <a:p>
            <a:r>
              <a:rPr lang="en-US" sz="2400" b="1"/>
              <a:t>Git</a:t>
            </a:r>
            <a:r>
              <a:rPr lang="en-US" sz="2400"/>
              <a:t> uses commands to track versions of your files.</a:t>
            </a:r>
          </a:p>
          <a:p>
            <a:r>
              <a:rPr lang="en-US" sz="2400" b="1"/>
              <a:t>Github</a:t>
            </a:r>
            <a:r>
              <a:rPr lang="en-US" sz="2400"/>
              <a:t> is just a remote platform where these files are hosted.</a:t>
            </a:r>
          </a:p>
          <a:p>
            <a:r>
              <a:rPr lang="en-US" sz="2400" b="1"/>
              <a:t>Git </a:t>
            </a:r>
            <a:r>
              <a:rPr lang="en-US" sz="2400"/>
              <a:t>allows you to track versions of your code in your local machine. </a:t>
            </a:r>
          </a:p>
          <a:p>
            <a:r>
              <a:rPr lang="en-US" sz="2400" b="1"/>
              <a:t>Github</a:t>
            </a:r>
            <a:r>
              <a:rPr lang="en-US" sz="2400"/>
              <a:t> :if you want a remote backup of your code or want to publish your code to a community then you've to push it to Github.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5105"/>
            <a:ext cx="10515600" cy="5972175"/>
          </a:xfrm>
        </p:spPr>
        <p:txBody>
          <a:bodyPr/>
          <a:lstStyle/>
          <a:p>
            <a:r>
              <a:rPr lang="en-US" sz="2400"/>
              <a:t>It's not mandatory to use Github. </a:t>
            </a:r>
          </a:p>
          <a:p>
            <a:r>
              <a:rPr lang="en-US" sz="2400"/>
              <a:t>If you're the sole person working on the project and don't need to publish your code to the world then you can simply avoid using Github. </a:t>
            </a:r>
          </a:p>
          <a:p>
            <a:r>
              <a:rPr lang="en-US" sz="2400"/>
              <a:t>Just track the versions of your code in local repository of your machine using Git.</a:t>
            </a:r>
          </a:p>
          <a:p>
            <a:r>
              <a:rPr lang="en-US" sz="2400"/>
              <a:t>By this point, it'd be clear that committing the code using Git in your local machine doesn't automatically upload it to Github too. </a:t>
            </a:r>
          </a:p>
          <a:p>
            <a:r>
              <a:rPr lang="en-US" sz="2400"/>
              <a:t>There are two distinct terms for these activities - Committing and Pushing.</a:t>
            </a:r>
          </a:p>
          <a:p>
            <a:r>
              <a:rPr lang="en-US" sz="2400"/>
              <a:t>Committing is capturing the changes from your working copy to your local repository. On the other hand, Pushing is uploading the captured changes from your local repository to Github.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09 at 10.45.12 AM"/>
          <p:cNvPicPr>
            <a:picLocks noChangeAspect="1"/>
          </p:cNvPicPr>
          <p:nvPr/>
        </p:nvPicPr>
        <p:blipFill>
          <a:blip r:embed="rId2"/>
          <a:stretch>
            <a:fillRect/>
          </a:stretch>
        </p:blipFill>
        <p:spPr>
          <a:xfrm>
            <a:off x="1741805" y="483870"/>
            <a:ext cx="8275955" cy="48526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175"/>
          </a:xfrm>
        </p:spPr>
        <p:txBody>
          <a:bodyPr>
            <a:normAutofit fontScale="90000"/>
          </a:bodyPr>
          <a:lstStyle/>
          <a:p>
            <a:r>
              <a:rPr lang="en-US" b="1">
                <a:latin typeface="Arial Bold" panose="020B0604020202090204" charset="0"/>
                <a:cs typeface="Arial Bold" panose="020B0604020202090204" charset="0"/>
              </a:rPr>
              <a:t>The Git Lifecycle</a:t>
            </a:r>
          </a:p>
        </p:txBody>
      </p:sp>
      <p:sp>
        <p:nvSpPr>
          <p:cNvPr id="3" name="Content Placeholder 2"/>
          <p:cNvSpPr>
            <a:spLocks noGrp="1"/>
          </p:cNvSpPr>
          <p:nvPr>
            <p:ph idx="1"/>
          </p:nvPr>
        </p:nvSpPr>
        <p:spPr>
          <a:xfrm>
            <a:off x="838200" y="1348740"/>
            <a:ext cx="10515600" cy="4828540"/>
          </a:xfrm>
        </p:spPr>
        <p:txBody>
          <a:bodyPr/>
          <a:lstStyle/>
          <a:p>
            <a:r>
              <a:rPr lang="en-US"/>
              <a:t>The lifecycle of Git consists of four main stages: </a:t>
            </a:r>
          </a:p>
          <a:p>
            <a:r>
              <a:rPr lang="en-US"/>
              <a:t>Create</a:t>
            </a:r>
          </a:p>
          <a:p>
            <a:r>
              <a:rPr lang="en-US"/>
              <a:t>Modify </a:t>
            </a:r>
          </a:p>
          <a:p>
            <a:r>
              <a:rPr lang="en-US"/>
              <a:t>Stage</a:t>
            </a:r>
          </a:p>
          <a:p>
            <a:r>
              <a:rPr lang="en-US"/>
              <a:t>Commit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09 at 10.24.02 AM"/>
          <p:cNvPicPr>
            <a:picLocks noChangeAspect="1"/>
          </p:cNvPicPr>
          <p:nvPr/>
        </p:nvPicPr>
        <p:blipFill>
          <a:blip r:embed="rId2"/>
          <a:stretch>
            <a:fillRect/>
          </a:stretch>
        </p:blipFill>
        <p:spPr>
          <a:xfrm>
            <a:off x="1984375" y="655320"/>
            <a:ext cx="8430895" cy="51968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lstStyle/>
          <a:p>
            <a:r>
              <a:rPr lang="en-US">
                <a:sym typeface="+mn-ea"/>
              </a:rPr>
              <a:t>Create</a:t>
            </a:r>
            <a:endParaRPr lang="en-US"/>
          </a:p>
        </p:txBody>
      </p:sp>
      <p:sp>
        <p:nvSpPr>
          <p:cNvPr id="3" name="Content Placeholder 2"/>
          <p:cNvSpPr>
            <a:spLocks noGrp="1"/>
          </p:cNvSpPr>
          <p:nvPr>
            <p:ph idx="1"/>
          </p:nvPr>
        </p:nvSpPr>
        <p:spPr/>
        <p:txBody>
          <a:bodyPr/>
          <a:lstStyle/>
          <a:p>
            <a:r>
              <a:rPr lang="en-US"/>
              <a:t>The first stage in the lifecycle of Git is to create a new repository. </a:t>
            </a:r>
          </a:p>
          <a:p>
            <a:r>
              <a:rPr lang="en-US"/>
              <a:t>You can think of it just like a project folder. </a:t>
            </a:r>
          </a:p>
          <a:p>
            <a:r>
              <a:rPr lang="en-US"/>
              <a:t>This can be done either locally on your computer or on a remote server. </a:t>
            </a:r>
          </a:p>
          <a:p>
            <a:r>
              <a:rPr lang="en-US"/>
              <a:t>To create a new repository, you can use the command "git init" followed by the name of the repository.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09 at 10.47.10 AM"/>
          <p:cNvPicPr>
            <a:picLocks noChangeAspect="1"/>
          </p:cNvPicPr>
          <p:nvPr/>
        </p:nvPicPr>
        <p:blipFill>
          <a:blip r:embed="rId2"/>
          <a:stretch>
            <a:fillRect/>
          </a:stretch>
        </p:blipFill>
        <p:spPr>
          <a:xfrm>
            <a:off x="2898140" y="1262380"/>
            <a:ext cx="6548120" cy="45313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3250"/>
          </a:xfrm>
        </p:spPr>
        <p:txBody>
          <a:bodyPr>
            <a:normAutofit fontScale="90000"/>
          </a:bodyPr>
          <a:lstStyle/>
          <a:p>
            <a:r>
              <a:rPr lang="en-US">
                <a:sym typeface="+mn-ea"/>
              </a:rPr>
              <a:t>Modify</a:t>
            </a:r>
            <a:endParaRPr lang="en-US"/>
          </a:p>
        </p:txBody>
      </p:sp>
      <p:sp>
        <p:nvSpPr>
          <p:cNvPr id="3" name="Content Placeholder 2"/>
          <p:cNvSpPr>
            <a:spLocks noGrp="1"/>
          </p:cNvSpPr>
          <p:nvPr>
            <p:ph idx="1"/>
          </p:nvPr>
        </p:nvSpPr>
        <p:spPr>
          <a:xfrm>
            <a:off x="838200" y="1289685"/>
            <a:ext cx="10515600" cy="4887595"/>
          </a:xfrm>
        </p:spPr>
        <p:txBody>
          <a:bodyPr/>
          <a:lstStyle/>
          <a:p>
            <a:pPr marL="0" indent="0">
              <a:buNone/>
            </a:pPr>
            <a:r>
              <a:rPr lang="en-US"/>
              <a:t>The next stage in the lifecycle of Git is to modify the files in the repository. </a:t>
            </a:r>
          </a:p>
          <a:p>
            <a:pPr marL="0" indent="0">
              <a:buNone/>
            </a:pPr>
            <a:r>
              <a:rPr lang="en-US"/>
              <a:t>This can be done using any text editor or integrated development environment (IDE) of your choice. </a:t>
            </a:r>
          </a:p>
          <a:p>
            <a:pPr marL="0" indent="0">
              <a:buNone/>
            </a:pPr>
            <a:r>
              <a:rPr lang="en-US"/>
              <a:t>When you make changes to a file, Git automatically detects those changes and marks the files as "modified."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Stage</a:t>
            </a:r>
            <a:endParaRPr lang="en-US"/>
          </a:p>
        </p:txBody>
      </p:sp>
      <p:sp>
        <p:nvSpPr>
          <p:cNvPr id="3" name="Content Placeholder 2"/>
          <p:cNvSpPr>
            <a:spLocks noGrp="1"/>
          </p:cNvSpPr>
          <p:nvPr>
            <p:ph idx="1"/>
          </p:nvPr>
        </p:nvSpPr>
        <p:spPr/>
        <p:txBody>
          <a:bodyPr/>
          <a:lstStyle/>
          <a:p>
            <a:pPr marL="0" indent="0">
              <a:buNone/>
            </a:pPr>
            <a:r>
              <a:rPr lang="en-US"/>
              <a:t>The third stage in the lifecycle of Git is to stage the changes you have made. </a:t>
            </a:r>
          </a:p>
          <a:p>
            <a:pPr marL="0" indent="0">
              <a:buNone/>
            </a:pPr>
            <a:r>
              <a:rPr lang="en-US"/>
              <a:t>Staging is the process of preparing your changes to be committed to the repository. </a:t>
            </a:r>
          </a:p>
          <a:p>
            <a:pPr marL="0" indent="0">
              <a:buNone/>
            </a:pPr>
            <a:r>
              <a:rPr lang="en-US"/>
              <a:t>You can stage your changes using the "git add" command followed by the name of the file you want to stage. </a:t>
            </a:r>
          </a:p>
          <a:p>
            <a:pPr marL="0" indent="0">
              <a:buNone/>
            </a:pPr>
            <a:r>
              <a:rPr lang="en-US"/>
              <a:t>You can also use the "git add" command to stage all changes in the repository.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6280"/>
          </a:xfrm>
        </p:spPr>
        <p:txBody>
          <a:bodyPr/>
          <a:lstStyle/>
          <a:p>
            <a:r>
              <a:rPr lang="en-US" sz="2400"/>
              <a:t>Staging area is the playground where you group, add and organize the files to be committed to Git for tracking their versions.</a:t>
            </a:r>
          </a:p>
          <a:p>
            <a:r>
              <a:rPr lang="en-US" sz="2400"/>
              <a:t>It's important to make a quick note of the term called indexing here. Indexing is the process of adding files to the staging area. In other words, index constitutes of files added to the staging area.</a:t>
            </a:r>
          </a:p>
        </p:txBody>
      </p:sp>
      <p:pic>
        <p:nvPicPr>
          <p:cNvPr id="4" name="Picture 3" descr="Screenshot 2024-09-09 at 10.48.50 AM"/>
          <p:cNvPicPr>
            <a:picLocks noChangeAspect="1"/>
          </p:cNvPicPr>
          <p:nvPr/>
        </p:nvPicPr>
        <p:blipFill>
          <a:blip r:embed="rId2"/>
          <a:stretch>
            <a:fillRect/>
          </a:stretch>
        </p:blipFill>
        <p:spPr>
          <a:xfrm>
            <a:off x="2379345" y="2526665"/>
            <a:ext cx="6781800" cy="36499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3100"/>
          </a:xfrm>
        </p:spPr>
        <p:txBody>
          <a:bodyPr>
            <a:normAutofit fontScale="90000"/>
          </a:bodyPr>
          <a:lstStyle/>
          <a:p>
            <a:r>
              <a:rPr lang="en-US">
                <a:sym typeface="+mn-ea"/>
              </a:rPr>
              <a:t>Commit</a:t>
            </a:r>
            <a:endParaRPr lang="en-US"/>
          </a:p>
        </p:txBody>
      </p:sp>
      <p:sp>
        <p:nvSpPr>
          <p:cNvPr id="3" name="Content Placeholder 2"/>
          <p:cNvSpPr>
            <a:spLocks noGrp="1"/>
          </p:cNvSpPr>
          <p:nvPr>
            <p:ph idx="1"/>
          </p:nvPr>
        </p:nvSpPr>
        <p:spPr>
          <a:xfrm>
            <a:off x="838200" y="1038860"/>
            <a:ext cx="10515600" cy="5138420"/>
          </a:xfrm>
        </p:spPr>
        <p:txBody>
          <a:bodyPr>
            <a:noAutofit/>
          </a:bodyPr>
          <a:lstStyle/>
          <a:p>
            <a:pPr marL="0" indent="0">
              <a:buNone/>
            </a:pPr>
            <a:r>
              <a:rPr lang="en-US" sz="2400"/>
              <a:t>The final stage in the lifecycle of Git is to commit your changes to the repository. </a:t>
            </a:r>
          </a:p>
          <a:p>
            <a:pPr marL="0" indent="0">
              <a:buNone/>
            </a:pPr>
            <a:r>
              <a:rPr lang="en-US" sz="2400"/>
              <a:t>A commit is a permanent snapshot of the changes you have made to the repository, and by default, it goes to the master branch.</a:t>
            </a:r>
          </a:p>
          <a:p>
            <a:pPr marL="0" indent="0">
              <a:buNone/>
            </a:pPr>
            <a:r>
              <a:rPr lang="en-US" sz="2400"/>
              <a:t>When you commit your changes, Git creates a new commit object that contains the changes you have made, along with a message describing what changes were made. </a:t>
            </a:r>
          </a:p>
          <a:p>
            <a:pPr marL="0" indent="0">
              <a:buNone/>
            </a:pPr>
            <a:r>
              <a:rPr lang="en-US" sz="2400"/>
              <a:t>To commit your changes, you can use the "git commit" command followed by a message describing the changes you have made.</a:t>
            </a:r>
          </a:p>
          <a:p>
            <a:pPr marL="0" indent="0">
              <a:buNone/>
            </a:pPr>
            <a:r>
              <a:rPr lang="en-US" sz="2400"/>
              <a:t>Note: git commit -m"your message" - Command to commit files to Git repository with message.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09 at 10.50.54 AM"/>
          <p:cNvPicPr>
            <a:picLocks noChangeAspect="1"/>
          </p:cNvPicPr>
          <p:nvPr/>
        </p:nvPicPr>
        <p:blipFill>
          <a:blip r:embed="rId2"/>
          <a:stretch>
            <a:fillRect/>
          </a:stretch>
        </p:blipFill>
        <p:spPr>
          <a:xfrm>
            <a:off x="700405" y="816610"/>
            <a:ext cx="9310370" cy="47218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6905"/>
            <a:ext cx="10515600" cy="5540375"/>
          </a:xfrm>
        </p:spPr>
        <p:txBody>
          <a:bodyPr/>
          <a:lstStyle/>
          <a:p>
            <a:r>
              <a:rPr lang="en-US" sz="2400">
                <a:sym typeface="+mn-ea"/>
              </a:rPr>
              <a:t>Once you have committed your changes, you can push those changes to a remote repository using the "git push" command. This will upload your changes to the remote repository, making them available for other developers to pull down and work with.</a:t>
            </a:r>
          </a:p>
        </p:txBody>
      </p:sp>
      <p:pic>
        <p:nvPicPr>
          <p:cNvPr id="4" name="Picture 3" descr="Screenshot 2024-09-09 at 10.52.38 AM"/>
          <p:cNvPicPr>
            <a:picLocks noChangeAspect="1"/>
          </p:cNvPicPr>
          <p:nvPr/>
        </p:nvPicPr>
        <p:blipFill>
          <a:blip r:embed="rId2"/>
          <a:stretch>
            <a:fillRect/>
          </a:stretch>
        </p:blipFill>
        <p:spPr>
          <a:xfrm>
            <a:off x="1765300" y="2314575"/>
            <a:ext cx="8253095" cy="366141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3250"/>
          </a:xfrm>
        </p:spPr>
        <p:txBody>
          <a:bodyPr>
            <a:normAutofit fontScale="90000"/>
          </a:bodyPr>
          <a:lstStyle/>
          <a:p>
            <a:r>
              <a:rPr lang="en-US"/>
              <a:t>Need of Staging Area</a:t>
            </a:r>
          </a:p>
        </p:txBody>
      </p:sp>
      <p:sp>
        <p:nvSpPr>
          <p:cNvPr id="3" name="Content Placeholder 2"/>
          <p:cNvSpPr>
            <a:spLocks noGrp="1"/>
          </p:cNvSpPr>
          <p:nvPr>
            <p:ph idx="1"/>
          </p:nvPr>
        </p:nvSpPr>
        <p:spPr>
          <a:xfrm>
            <a:off x="838200" y="1266825"/>
            <a:ext cx="10515600" cy="4910455"/>
          </a:xfrm>
        </p:spPr>
        <p:txBody>
          <a:bodyPr>
            <a:normAutofit/>
          </a:bodyPr>
          <a:lstStyle/>
          <a:p>
            <a:r>
              <a:rPr lang="en-US"/>
              <a:t>Faster Git operations:</a:t>
            </a:r>
          </a:p>
          <a:p>
            <a:pPr lvl="1"/>
            <a:r>
              <a:rPr lang="en-US" sz="1710"/>
              <a:t>staging helps in recording the changes even before committing them to Git database. </a:t>
            </a:r>
            <a:endParaRPr lang="en-US"/>
          </a:p>
          <a:p>
            <a:r>
              <a:rPr lang="en-US"/>
              <a:t>Visualizing the commit before actual commit :</a:t>
            </a:r>
          </a:p>
          <a:p>
            <a:pPr lvl="1"/>
            <a:r>
              <a:rPr lang="en-US" sz="1710"/>
              <a:t>staging area is the state in which the files reside before they're committed.</a:t>
            </a:r>
          </a:p>
          <a:p>
            <a:pPr lvl="1"/>
            <a:r>
              <a:rPr lang="en-US" sz="1710"/>
              <a:t>That is, staging area actually lets you visualize the group of changes that will be recorded by Git.</a:t>
            </a:r>
          </a:p>
          <a:p>
            <a:pPr lvl="1"/>
            <a:r>
              <a:rPr lang="en-US" sz="1710"/>
              <a:t>Essentially this gives you fine-grained control over what gets committed to Git and what does not.</a:t>
            </a:r>
          </a:p>
          <a:p>
            <a:r>
              <a:rPr lang="en-US"/>
              <a:t>Splitting work into separate related commits:</a:t>
            </a:r>
          </a:p>
          <a:p>
            <a:pPr lvl="1"/>
            <a:r>
              <a:rPr lang="en-US" sz="1710"/>
              <a:t>suppose you're working on a new feature whose timeline of development runs into several days. So, while you're working on the feature you are required to refactor a small part of the code. </a:t>
            </a:r>
          </a:p>
          <a:p>
            <a:pPr lvl="1"/>
            <a:r>
              <a:rPr lang="en-US" sz="1710"/>
              <a:t>In this case, you can quickly make the required changes, stage the required file and resume work on the feature. </a:t>
            </a:r>
          </a:p>
          <a:p>
            <a:pPr lvl="1"/>
            <a:r>
              <a:rPr lang="en-US" sz="1710"/>
              <a:t>All of the changes i.e. feature changes and refactor code can be committed at once from the staging area.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GIT</a:t>
            </a:r>
          </a:p>
        </p:txBody>
      </p:sp>
      <p:sp>
        <p:nvSpPr>
          <p:cNvPr id="3" name="Content Placeholder 2"/>
          <p:cNvSpPr>
            <a:spLocks noGrp="1"/>
          </p:cNvSpPr>
          <p:nvPr>
            <p:ph idx="1"/>
          </p:nvPr>
        </p:nvSpPr>
        <p:spPr/>
        <p:txBody>
          <a:bodyPr/>
          <a:lstStyle/>
          <a:p>
            <a:r>
              <a:rPr lang="en-US"/>
              <a:t>Git can be used through two different methods with three different sub-methods. Both ways have their own advantages and drawbacks. Git can be used via:</a:t>
            </a:r>
          </a:p>
          <a:p>
            <a:r>
              <a:rPr lang="en-US"/>
              <a:t>Shell</a:t>
            </a:r>
          </a:p>
          <a:p>
            <a:r>
              <a:rPr lang="en-US"/>
              <a:t>GUI software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940"/>
          </a:xfrm>
        </p:spPr>
        <p:txBody>
          <a:bodyPr/>
          <a:lstStyle/>
          <a:p>
            <a:r>
              <a:rPr lang="en-US"/>
              <a:t>Git through Shell</a:t>
            </a:r>
          </a:p>
        </p:txBody>
      </p:sp>
      <p:sp>
        <p:nvSpPr>
          <p:cNvPr id="3" name="Content Placeholder 2"/>
          <p:cNvSpPr>
            <a:spLocks noGrp="1"/>
          </p:cNvSpPr>
          <p:nvPr>
            <p:ph idx="1"/>
          </p:nvPr>
        </p:nvSpPr>
        <p:spPr>
          <a:xfrm>
            <a:off x="838200" y="1441450"/>
            <a:ext cx="10515600" cy="4735830"/>
          </a:xfrm>
        </p:spPr>
        <p:txBody>
          <a:bodyPr/>
          <a:lstStyle/>
          <a:p>
            <a:r>
              <a:rPr lang="en-US"/>
              <a:t>Shell as you must have already known is used for accessing the operating system services. </a:t>
            </a:r>
          </a:p>
          <a:p>
            <a:r>
              <a:rPr lang="en-US"/>
              <a:t>Shell is used through a command-line interface. </a:t>
            </a:r>
          </a:p>
          <a:p>
            <a:r>
              <a:rPr lang="en-US"/>
              <a:t>Git can be used in two different ways on any operating system through shell. </a:t>
            </a:r>
          </a:p>
          <a:p>
            <a:r>
              <a:rPr lang="en-US"/>
              <a:t>These are:</a:t>
            </a:r>
          </a:p>
          <a:p>
            <a:pPr lvl="1"/>
            <a:r>
              <a:rPr lang="en-US"/>
              <a:t>Git Bash</a:t>
            </a:r>
          </a:p>
          <a:p>
            <a:pPr lvl="1"/>
            <a:r>
              <a:rPr lang="en-US"/>
              <a:t>Git CMD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4220"/>
          </a:xfrm>
        </p:spPr>
        <p:txBody>
          <a:bodyPr/>
          <a:lstStyle/>
          <a:p>
            <a:r>
              <a:rPr lang="en-US"/>
              <a:t>Git Bash</a:t>
            </a:r>
          </a:p>
        </p:txBody>
      </p:sp>
      <p:sp>
        <p:nvSpPr>
          <p:cNvPr id="3" name="Content Placeholder 2"/>
          <p:cNvSpPr>
            <a:spLocks noGrp="1"/>
          </p:cNvSpPr>
          <p:nvPr>
            <p:ph idx="1"/>
          </p:nvPr>
        </p:nvSpPr>
        <p:spPr>
          <a:xfrm>
            <a:off x="838200" y="1254760"/>
            <a:ext cx="10515600" cy="4922520"/>
          </a:xfrm>
        </p:spPr>
        <p:txBody>
          <a:bodyPr/>
          <a:lstStyle/>
          <a:p>
            <a:r>
              <a:rPr lang="en-US"/>
              <a:t>When Git was developed it was coded in a similar way to use it on a command line. </a:t>
            </a:r>
          </a:p>
          <a:p>
            <a:r>
              <a:rPr lang="en-US"/>
              <a:t>Originally developed for the Linux Kernel project, the idea was the same originally. </a:t>
            </a:r>
          </a:p>
          <a:p>
            <a:r>
              <a:rPr lang="en-US"/>
              <a:t>Bash as you know is the terminal of any Linux OS. </a:t>
            </a:r>
          </a:p>
          <a:p>
            <a:r>
              <a:rPr lang="en-US"/>
              <a:t>Git Bash is the bash that runs the Git commands on it. </a:t>
            </a:r>
          </a:p>
          <a:p>
            <a:r>
              <a:rPr lang="en-US"/>
              <a:t>It is similar to the Unix shell with the same commands as of Linux. </a:t>
            </a:r>
          </a:p>
          <a:p>
            <a:r>
              <a:rPr lang="en-US"/>
              <a:t>You can operate git from Git Bash on any operating system.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4070"/>
          </a:xfrm>
        </p:spPr>
        <p:txBody>
          <a:bodyPr/>
          <a:lstStyle/>
          <a:p>
            <a:r>
              <a:rPr lang="en-US"/>
              <a:t>Git CMD</a:t>
            </a:r>
          </a:p>
        </p:txBody>
      </p:sp>
      <p:sp>
        <p:nvSpPr>
          <p:cNvPr id="3" name="Content Placeholder 2"/>
          <p:cNvSpPr>
            <a:spLocks noGrp="1"/>
          </p:cNvSpPr>
          <p:nvPr>
            <p:ph idx="1"/>
          </p:nvPr>
        </p:nvSpPr>
        <p:spPr>
          <a:xfrm>
            <a:off x="838200" y="1313180"/>
            <a:ext cx="10515600" cy="4864100"/>
          </a:xfrm>
        </p:spPr>
        <p:txBody>
          <a:bodyPr/>
          <a:lstStyle/>
          <a:p>
            <a:r>
              <a:rPr lang="en-US"/>
              <a:t>Git CMD is used on Windows. </a:t>
            </a:r>
          </a:p>
          <a:p>
            <a:r>
              <a:rPr lang="en-US"/>
              <a:t>If you are familiar with the command prompt i.e. the shell used on Windows then you can use this one to run Git. </a:t>
            </a:r>
          </a:p>
          <a:p>
            <a:r>
              <a:rPr lang="en-US"/>
              <a:t>Git CMD is nothing but CMD which can run Git commands.</a:t>
            </a:r>
          </a:p>
          <a:p>
            <a:r>
              <a:rPr lang="en-US"/>
              <a:t>Although you can use it, the most recommended method is the Git bash. </a:t>
            </a:r>
          </a:p>
          <a:p>
            <a:r>
              <a:rPr lang="en-US"/>
              <a:t>The reason being CMD is confined to Windows only. It will confine your knowledge to Windows only.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6445"/>
          </a:xfrm>
        </p:spPr>
        <p:txBody>
          <a:bodyPr/>
          <a:lstStyle/>
          <a:p>
            <a:r>
              <a:rPr lang="en-US"/>
              <a:t>Git through GUI</a:t>
            </a:r>
          </a:p>
        </p:txBody>
      </p:sp>
      <p:sp>
        <p:nvSpPr>
          <p:cNvPr id="3" name="Content Placeholder 2"/>
          <p:cNvSpPr>
            <a:spLocks noGrp="1"/>
          </p:cNvSpPr>
          <p:nvPr>
            <p:ph idx="1"/>
          </p:nvPr>
        </p:nvSpPr>
        <p:spPr>
          <a:xfrm>
            <a:off x="838200" y="1313180"/>
            <a:ext cx="10515600" cy="5179060"/>
          </a:xfrm>
        </p:spPr>
        <p:txBody>
          <a:bodyPr>
            <a:normAutofit fontScale="97500" lnSpcReduction="10000"/>
          </a:bodyPr>
          <a:lstStyle/>
          <a:p>
            <a:r>
              <a:rPr lang="en-US" sz="2665"/>
              <a:t>Git GUI is using Git with the help of a graphical interface. </a:t>
            </a:r>
          </a:p>
          <a:p>
            <a:r>
              <a:rPr lang="en-US" sz="2665"/>
              <a:t>This will diminish your shell usage and everything for which you were writing a command, you will now press some button or do it through the mouse. </a:t>
            </a:r>
          </a:p>
          <a:p>
            <a:r>
              <a:rPr lang="en-US" sz="2665"/>
              <a:t>Using Git on a shell is always preferred among the developer community. </a:t>
            </a:r>
          </a:p>
          <a:p>
            <a:r>
              <a:rPr lang="en-US" sz="2665"/>
              <a:t>Also, the big tech giants like Google, Amazon, etc uses Git on the command line because of its advantages and security. </a:t>
            </a:r>
          </a:p>
          <a:p>
            <a:r>
              <a:rPr lang="en-US" sz="2665"/>
              <a:t>Advantages including that there are some features on a shell that are not available to GUI like ssh tunnel connecting to the remote server etc.</a:t>
            </a:r>
          </a:p>
          <a:p>
            <a:r>
              <a:rPr lang="en-US" sz="2665"/>
              <a:t>Also, command line will let you automate your Git work.</a:t>
            </a:r>
          </a:p>
          <a:p>
            <a:r>
              <a:rPr lang="en-US" sz="2665"/>
              <a:t>Some features are first released to command line also before the GUI and some of them don't even release to GUI at all.</a:t>
            </a:r>
          </a:p>
          <a:p>
            <a:r>
              <a:rPr lang="en-US" sz="2665"/>
              <a:t> All in all, GIT on a shell is more powerful than on the GUI.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Git Download </a:t>
            </a:r>
          </a:p>
        </p:txBody>
      </p:sp>
      <p:sp>
        <p:nvSpPr>
          <p:cNvPr id="3" name="Content Placeholder 2"/>
          <p:cNvSpPr>
            <a:spLocks noGrp="1"/>
          </p:cNvSpPr>
          <p:nvPr>
            <p:ph idx="1"/>
          </p:nvPr>
        </p:nvSpPr>
        <p:spPr/>
        <p:txBody>
          <a:bodyPr>
            <a:normAutofit/>
          </a:bodyPr>
          <a:lstStyle/>
          <a:p>
            <a:r>
              <a:rPr lang="en-US" b="1"/>
              <a:t>Git Bash </a:t>
            </a:r>
          </a:p>
          <a:p>
            <a:pPr lvl="1"/>
            <a:r>
              <a:rPr lang="en-US"/>
              <a:t>It allows you to execute Git commands in conjunction with Unix commands in a Windows environment. </a:t>
            </a:r>
          </a:p>
          <a:p>
            <a:pPr lvl="1"/>
            <a:r>
              <a:rPr lang="en-US"/>
              <a:t>This tool will be downloaded automatically when you install GIT. </a:t>
            </a:r>
          </a:p>
          <a:p>
            <a:pPr lvl="1"/>
            <a:r>
              <a:rPr lang="en-US"/>
              <a:t>Download the git by going to the following link :</a:t>
            </a:r>
          </a:p>
          <a:p>
            <a:pPr marL="457200" lvl="1" indent="0">
              <a:buNone/>
            </a:pPr>
            <a:r>
              <a:rPr lang="en-US"/>
              <a:t>		https://git-scm.com/downloads</a:t>
            </a:r>
          </a:p>
          <a:p>
            <a:r>
              <a:rPr lang="en-US" b="1"/>
              <a:t>Git cmd</a:t>
            </a:r>
          </a:p>
          <a:p>
            <a:pPr lvl="1"/>
            <a:r>
              <a:rPr lang="en-US"/>
              <a:t>It allows you to execute Git commands in a traditional Windows Command Prompt type environment. </a:t>
            </a:r>
          </a:p>
          <a:p>
            <a:pPr lvl="1"/>
            <a:r>
              <a:rPr lang="en-US"/>
              <a:t>You also get the option of selecting Git CMD while installing Git.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0090"/>
          </a:xfrm>
        </p:spPr>
        <p:txBody>
          <a:bodyPr>
            <a:normAutofit/>
          </a:bodyPr>
          <a:lstStyle/>
          <a:p>
            <a:r>
              <a:rPr lang="en-US"/>
              <a:t>Install Git on Windows </a:t>
            </a:r>
          </a:p>
        </p:txBody>
      </p:sp>
      <p:sp>
        <p:nvSpPr>
          <p:cNvPr id="3" name="Content Placeholder 2"/>
          <p:cNvSpPr>
            <a:spLocks noGrp="1"/>
          </p:cNvSpPr>
          <p:nvPr>
            <p:ph idx="1"/>
          </p:nvPr>
        </p:nvSpPr>
        <p:spPr>
          <a:xfrm>
            <a:off x="838200" y="1370965"/>
            <a:ext cx="10515600" cy="4806315"/>
          </a:xfrm>
        </p:spPr>
        <p:txBody>
          <a:bodyPr/>
          <a:lstStyle/>
          <a:p>
            <a:r>
              <a:rPr lang="en-US"/>
              <a:t>To work on git GUI , we can download git by following link :</a:t>
            </a:r>
          </a:p>
          <a:p>
            <a:pPr marL="0" indent="0">
              <a:buNone/>
            </a:pPr>
            <a:r>
              <a:rPr lang="en-US"/>
              <a:t>			https://gitforwindows.org/</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175"/>
          </a:xfrm>
        </p:spPr>
        <p:txBody>
          <a:bodyPr>
            <a:normAutofit fontScale="90000"/>
          </a:bodyPr>
          <a:lstStyle/>
          <a:p>
            <a:r>
              <a:rPr lang="en-US"/>
              <a:t>Git Commands</a:t>
            </a:r>
          </a:p>
        </p:txBody>
      </p:sp>
      <p:sp>
        <p:nvSpPr>
          <p:cNvPr id="3" name="Content Placeholder 2"/>
          <p:cNvSpPr>
            <a:spLocks noGrp="1"/>
          </p:cNvSpPr>
          <p:nvPr>
            <p:ph idx="1"/>
          </p:nvPr>
        </p:nvSpPr>
        <p:spPr>
          <a:xfrm>
            <a:off x="838200" y="1149985"/>
            <a:ext cx="10515600" cy="5027295"/>
          </a:xfrm>
        </p:spPr>
        <p:txBody>
          <a:bodyPr/>
          <a:lstStyle/>
          <a:p>
            <a:r>
              <a:rPr lang="en-US" sz="2000"/>
              <a:t> </a:t>
            </a:r>
            <a:r>
              <a:rPr lang="en-US" sz="2000" b="1"/>
              <a:t>git help</a:t>
            </a:r>
            <a:r>
              <a:rPr lang="en-US" sz="2000"/>
              <a:t>:</a:t>
            </a:r>
          </a:p>
          <a:p>
            <a:pPr lvl="1"/>
            <a:r>
              <a:rPr lang="en-US" sz="2000"/>
              <a:t>This command will display all the information about Git.</a:t>
            </a:r>
          </a:p>
          <a:p>
            <a:r>
              <a:rPr lang="en-US" sz="2000"/>
              <a:t>If we need to see all the available commands in Git, we need to use the following command.</a:t>
            </a:r>
          </a:p>
          <a:p>
            <a:pPr lvl="1"/>
            <a:r>
              <a:rPr lang="en-US" sz="2000" b="1">
                <a:sym typeface="+mn-ea"/>
              </a:rPr>
              <a:t>git help -a or git help --a or git help --all </a:t>
            </a:r>
          </a:p>
          <a:p>
            <a:r>
              <a:rPr lang="en-US" sz="2000" b="1">
                <a:sym typeface="+mn-ea"/>
              </a:rPr>
              <a:t>git help -g</a:t>
            </a:r>
            <a:r>
              <a:rPr lang="en-US" sz="2000">
                <a:sym typeface="+mn-ea"/>
              </a:rPr>
              <a:t> : This command gives common git guides.</a:t>
            </a:r>
          </a:p>
          <a:p>
            <a:r>
              <a:rPr lang="en-US" sz="2000" b="1">
                <a:sym typeface="+mn-ea"/>
              </a:rPr>
              <a:t>git help &lt;guide_name&gt; </a:t>
            </a:r>
            <a:r>
              <a:rPr lang="en-US" sz="2000">
                <a:sym typeface="+mn-ea"/>
              </a:rPr>
              <a:t>: This command gives manual page of specific 					guide.</a:t>
            </a:r>
          </a:p>
          <a:p>
            <a:r>
              <a:rPr lang="en-US" sz="2000" b="1">
                <a:sym typeface="+mn-ea"/>
              </a:rPr>
              <a:t>git help &lt;command name&gt;</a:t>
            </a:r>
            <a:r>
              <a:rPr lang="en-US" sz="2000">
                <a:sym typeface="+mn-ea"/>
              </a:rPr>
              <a:t> : This command gives information about a 						specific command .</a:t>
            </a:r>
          </a:p>
          <a:p>
            <a:endParaRPr lang="en-US" sz="2000">
              <a:sym typeface="+mn-ea"/>
            </a:endParaRPr>
          </a:p>
          <a:p>
            <a:endParaRPr lang="en-US" sz="2400">
              <a:sym typeface="+mn-ea"/>
            </a:endParaRPr>
          </a:p>
          <a:p>
            <a:endParaRPr lang="en-US"/>
          </a:p>
          <a:p>
            <a:pPr marL="0" indent="0">
              <a:buNone/>
            </a:pP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940"/>
          </a:xfrm>
        </p:spPr>
        <p:txBody>
          <a:bodyPr/>
          <a:lstStyle/>
          <a:p>
            <a:r>
              <a:rPr lang="en-US"/>
              <a:t>Set Up Default Credentials for Git Config</a:t>
            </a:r>
          </a:p>
        </p:txBody>
      </p:sp>
      <p:sp>
        <p:nvSpPr>
          <p:cNvPr id="3" name="Content Placeholder 2"/>
          <p:cNvSpPr>
            <a:spLocks noGrp="1"/>
          </p:cNvSpPr>
          <p:nvPr>
            <p:ph idx="1"/>
          </p:nvPr>
        </p:nvSpPr>
        <p:spPr>
          <a:xfrm>
            <a:off x="838200" y="1452245"/>
            <a:ext cx="10515600" cy="4725035"/>
          </a:xfrm>
        </p:spPr>
        <p:txBody>
          <a:bodyPr/>
          <a:lstStyle/>
          <a:p>
            <a:r>
              <a:rPr lang="en-US"/>
              <a:t>vi ~/.gitconfig : Command to check the personal configuration 			settings.</a:t>
            </a:r>
          </a:p>
          <a:p>
            <a:r>
              <a:rPr lang="en-US" sz="2000"/>
              <a:t>As we install Git in our system, the configuration file takes default values for some of the fields.</a:t>
            </a:r>
          </a:p>
          <a:p>
            <a:r>
              <a:rPr lang="en-US" sz="2000"/>
              <a:t>This creates a conflict in the identity of the programmer.</a:t>
            </a:r>
          </a:p>
          <a:p>
            <a:r>
              <a:rPr lang="en-US" sz="2000"/>
              <a:t>We will Set Up Default Credentials for Git Config , so that no random credentials are set by default .</a:t>
            </a:r>
          </a:p>
          <a:p>
            <a:r>
              <a:rPr lang="en-US" sz="2000"/>
              <a:t>You will not get any value if you have not already set it.</a:t>
            </a:r>
          </a:p>
          <a:p>
            <a:endParaRPr lang="en-US"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2430"/>
            <a:ext cx="10515600" cy="6063615"/>
          </a:xfrm>
        </p:spPr>
        <p:txBody>
          <a:bodyPr>
            <a:normAutofit/>
          </a:bodyPr>
          <a:lstStyle/>
          <a:p>
            <a:r>
              <a:rPr lang="en-US" sz="2400" b="1"/>
              <a:t>Set user's UserName in Git Config:</a:t>
            </a:r>
          </a:p>
          <a:p>
            <a:pPr lvl="1"/>
            <a:r>
              <a:rPr lang="en-US" sz="2400"/>
              <a:t>git config --global user.name "Your UserName"</a:t>
            </a:r>
          </a:p>
          <a:p>
            <a:pPr lvl="1"/>
            <a:r>
              <a:rPr lang="en-US" sz="2400"/>
              <a:t>eg : </a:t>
            </a:r>
          </a:p>
          <a:p>
            <a:pPr lvl="2"/>
            <a:r>
              <a:rPr lang="en-US" sz="2400"/>
              <a:t>git config --global user.name "Divya Thakur"</a:t>
            </a:r>
          </a:p>
          <a:p>
            <a:pPr lvl="1"/>
            <a:r>
              <a:rPr lang="en-US" sz="2400"/>
              <a:t>To confirm :</a:t>
            </a:r>
          </a:p>
          <a:p>
            <a:pPr lvl="2"/>
            <a:r>
              <a:rPr lang="en-US" sz="2400"/>
              <a:t>git config --global user.name</a:t>
            </a:r>
          </a:p>
          <a:p>
            <a:r>
              <a:rPr lang="en-US" sz="2400" b="1"/>
              <a:t>Set user's Email in Git Config:</a:t>
            </a:r>
          </a:p>
          <a:p>
            <a:pPr lvl="1"/>
            <a:r>
              <a:rPr lang="en-US" sz="2400"/>
              <a:t>git config --global user.email "Your EmailID"</a:t>
            </a:r>
          </a:p>
          <a:p>
            <a:pPr lvl="1"/>
            <a:r>
              <a:rPr lang="en-US" sz="2400"/>
              <a:t>eg :</a:t>
            </a:r>
          </a:p>
          <a:p>
            <a:pPr lvl="2"/>
            <a:r>
              <a:rPr lang="en-US" sz="2400"/>
              <a:t>git config --global user.email "divyathakurdt73@gmail.com"</a:t>
            </a:r>
          </a:p>
          <a:p>
            <a:pPr lvl="1"/>
            <a:r>
              <a:rPr lang="en-US" sz="2400"/>
              <a:t>To confirm :</a:t>
            </a:r>
          </a:p>
          <a:p>
            <a:pPr lvl="2"/>
            <a:r>
              <a:rPr lang="en-US" sz="2400">
                <a:sym typeface="+mn-ea"/>
              </a:rPr>
              <a:t>git config --global user.email </a:t>
            </a:r>
            <a:endParaRPr lang="en-US"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065"/>
            <a:ext cx="10515600" cy="5843270"/>
          </a:xfrm>
        </p:spPr>
        <p:txBody>
          <a:bodyPr/>
          <a:lstStyle/>
          <a:p>
            <a:r>
              <a:rPr lang="en-US"/>
              <a:t>View the complete list of setting in Git Config:</a:t>
            </a:r>
          </a:p>
          <a:p>
            <a:pPr lvl="1"/>
            <a:r>
              <a:rPr lang="en-US"/>
              <a:t>git config --list</a:t>
            </a:r>
          </a:p>
          <a:p>
            <a:r>
              <a:rPr lang="en-US"/>
              <a:t>The below command will be used to set a default editor for gitbash for eg notepad++ for windows .</a:t>
            </a:r>
          </a:p>
          <a:p>
            <a:pPr lvl="1"/>
            <a:r>
              <a:rPr lang="en-US"/>
              <a:t>git config --global core.editor &lt;directory address&gt;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9745"/>
          </a:xfrm>
        </p:spPr>
        <p:txBody>
          <a:bodyPr>
            <a:normAutofit fontScale="90000"/>
          </a:bodyPr>
          <a:lstStyle/>
          <a:p>
            <a:r>
              <a:rPr lang="en-US"/>
              <a:t>How to create repository in cli </a:t>
            </a:r>
          </a:p>
        </p:txBody>
      </p:sp>
      <p:sp>
        <p:nvSpPr>
          <p:cNvPr id="3" name="Content Placeholder 2"/>
          <p:cNvSpPr>
            <a:spLocks noGrp="1"/>
          </p:cNvSpPr>
          <p:nvPr>
            <p:ph idx="1"/>
          </p:nvPr>
        </p:nvSpPr>
        <p:spPr>
          <a:xfrm>
            <a:off x="838200" y="1137920"/>
            <a:ext cx="10515600" cy="5039360"/>
          </a:xfrm>
        </p:spPr>
        <p:txBody>
          <a:bodyPr>
            <a:normAutofit/>
          </a:bodyPr>
          <a:lstStyle/>
          <a:p>
            <a:r>
              <a:rPr lang="en-US" sz="2400"/>
              <a:t>cd &lt;path of the directory&gt; :</a:t>
            </a:r>
          </a:p>
          <a:p>
            <a:pPr lvl="1"/>
            <a:r>
              <a:rPr lang="en-US" sz="2400"/>
              <a:t>Changing the directory is important as you are always shuffling between different directories all the time while working with Git Bash. </a:t>
            </a:r>
          </a:p>
          <a:p>
            <a:pPr lvl="1"/>
            <a:r>
              <a:rPr lang="en-US" sz="2400"/>
              <a:t>Directory is a technical term for the folder. </a:t>
            </a:r>
          </a:p>
          <a:p>
            <a:r>
              <a:rPr lang="en-US" sz="2400"/>
              <a:t>Create a New Directory:</a:t>
            </a:r>
          </a:p>
          <a:p>
            <a:pPr lvl="1"/>
            <a:r>
              <a:rPr lang="en-US" sz="2400"/>
              <a:t>mkdir &lt;folder name&gt;</a:t>
            </a:r>
          </a:p>
          <a:p>
            <a:r>
              <a:rPr lang="en-US" sz="2400"/>
              <a:t>Create  Bare Git Repository(empty directory with just a hidden .git folder):</a:t>
            </a:r>
          </a:p>
          <a:p>
            <a:pPr lvl="1"/>
            <a:r>
              <a:rPr lang="en-US" sz="1800"/>
              <a:t>Create a New Project/Folder (using mkdir)</a:t>
            </a:r>
          </a:p>
          <a:p>
            <a:pPr lvl="1"/>
            <a:r>
              <a:rPr lang="en-US" sz="1800"/>
              <a:t>Browse to New Project(using cd)</a:t>
            </a:r>
          </a:p>
          <a:p>
            <a:pPr lvl="1"/>
            <a:r>
              <a:rPr lang="en-US" sz="1800"/>
              <a:t>Initialize Git Repository for the Project :  git init</a:t>
            </a:r>
          </a:p>
          <a:p>
            <a:pPr lvl="1"/>
            <a:r>
              <a:rPr lang="en-US" sz="1800"/>
              <a:t>git init is a standard GIT command and it initializes the directory with a .git folder used for tracking versions of project artifacts. </a:t>
            </a:r>
            <a:endParaRPr lang="en-US" sz="2400"/>
          </a:p>
          <a:p>
            <a:endParaRPr lang="en-US"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8475"/>
          </a:xfrm>
        </p:spPr>
        <p:txBody>
          <a:bodyPr>
            <a:normAutofit fontScale="90000"/>
          </a:bodyPr>
          <a:lstStyle/>
          <a:p>
            <a:r>
              <a:rPr lang="en-US"/>
              <a:t>.git</a:t>
            </a:r>
          </a:p>
        </p:txBody>
      </p:sp>
      <p:sp>
        <p:nvSpPr>
          <p:cNvPr id="3" name="Content Placeholder 2"/>
          <p:cNvSpPr>
            <a:spLocks noGrp="1"/>
          </p:cNvSpPr>
          <p:nvPr>
            <p:ph idx="1"/>
          </p:nvPr>
        </p:nvSpPr>
        <p:spPr>
          <a:xfrm>
            <a:off x="838200" y="1254760"/>
            <a:ext cx="10515600" cy="4922520"/>
          </a:xfrm>
        </p:spPr>
        <p:txBody>
          <a:bodyPr/>
          <a:lstStyle/>
          <a:p>
            <a:r>
              <a:rPr lang="en-US"/>
              <a:t>ls -a : command used to see the hidden files in a directory.</a:t>
            </a:r>
          </a:p>
          <a:p>
            <a:r>
              <a:rPr lang="en-US"/>
              <a:t>Contents of .git folder :</a:t>
            </a:r>
          </a:p>
          <a:p>
            <a:r>
              <a:rPr lang="en-US" sz="2400"/>
              <a:t>Hooks:</a:t>
            </a:r>
            <a:r>
              <a:rPr lang="en-US" sz="1800"/>
              <a:t>This folder has a few script files inside it. These script files are known as Git Hook Scripts. Git hooks are the scripts that are executed before or after the events. These events can be any Git event including the common Git events like commit, push, or receive.</a:t>
            </a:r>
            <a:endParaRPr lang="en-US" sz="2400"/>
          </a:p>
          <a:p>
            <a:r>
              <a:rPr lang="en-US" sz="2400"/>
              <a:t>Info:</a:t>
            </a:r>
            <a:r>
              <a:rPr lang="en-US" sz="1800"/>
              <a:t> Info folder contains the exclude file inside it. As the name suggests, exclude file is used for excluding some specific patterns in the code that you don't want Git to read or execute. (.gitignore)</a:t>
            </a:r>
            <a:endParaRPr lang="en-US" sz="2400"/>
          </a:p>
          <a:p>
            <a:r>
              <a:rPr lang="en-US" sz="2400"/>
              <a:t>Objects</a:t>
            </a:r>
          </a:p>
          <a:p>
            <a:r>
              <a:rPr lang="en-US" sz="2400"/>
              <a:t>Config :</a:t>
            </a:r>
            <a:r>
              <a:rPr lang="en-US" sz="2400">
                <a:sym typeface="+mn-ea"/>
              </a:rPr>
              <a:t>The config file contains your configuration</a:t>
            </a:r>
            <a:endParaRPr lang="en-US" sz="2400"/>
          </a:p>
          <a:p>
            <a:r>
              <a:rPr lang="en-US" sz="2400"/>
              <a:t>Description:</a:t>
            </a:r>
            <a:r>
              <a:rPr lang="en-US" sz="1800"/>
              <a:t>Description contains the data about the repositories which can be seen on GitWeb only.It is a web-based visualizer. Git comes with a CGI script called GitWeb.</a:t>
            </a:r>
          </a:p>
          <a:p>
            <a:r>
              <a:rPr lang="en-US" sz="2400"/>
              <a:t>HEAD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0665"/>
            <a:ext cx="10515600" cy="5936615"/>
          </a:xfrm>
        </p:spPr>
        <p:txBody>
          <a:bodyPr>
            <a:normAutofit lnSpcReduction="10000"/>
          </a:bodyPr>
          <a:lstStyle/>
          <a:p>
            <a:r>
              <a:rPr lang="en-US"/>
              <a:t>Objects:</a:t>
            </a:r>
          </a:p>
          <a:p>
            <a:r>
              <a:rPr lang="en-US" sz="1800"/>
              <a:t>Objects folder is a very important folder in the .git directory. </a:t>
            </a:r>
          </a:p>
          <a:p>
            <a:r>
              <a:rPr lang="en-US" sz="1800"/>
              <a:t>In Git, everything is saved in the objects folder as a hash value.</a:t>
            </a:r>
          </a:p>
          <a:p>
            <a:r>
              <a:rPr lang="en-US" sz="1800"/>
              <a:t>By everything I mean every commit, every tree or every file that you create is saved in this directory. </a:t>
            </a:r>
          </a:p>
          <a:p>
            <a:r>
              <a:rPr lang="en-US" sz="1800"/>
              <a:t>With every object, there is a hash value linked to it, through which Git knows where is what. </a:t>
            </a:r>
          </a:p>
          <a:p>
            <a:r>
              <a:rPr lang="en-US" sz="1800"/>
              <a:t>The folders are created accordingly. </a:t>
            </a:r>
          </a:p>
          <a:p>
            <a:r>
              <a:rPr lang="en-US" sz="1800"/>
              <a:t>example :</a:t>
            </a:r>
          </a:p>
          <a:p>
            <a:r>
              <a:rPr lang="en-US" sz="1800"/>
              <a:t>1.) create  a file in repsitory .check the object folder .</a:t>
            </a:r>
          </a:p>
          <a:p>
            <a:r>
              <a:rPr lang="en-US" sz="1800"/>
              <a:t>2.) Add some text to this file with command : echo "this is my first file" &gt; filename.txt</a:t>
            </a:r>
          </a:p>
          <a:p>
            <a:r>
              <a:rPr lang="en-US" sz="1800"/>
              <a:t>3.)Add your file to the staging area :  git add filename.txt</a:t>
            </a:r>
          </a:p>
          <a:p>
            <a:r>
              <a:rPr lang="en-US" sz="1800"/>
              <a:t>4.)Commit the changes : git commit -m "Committing my Changes"</a:t>
            </a:r>
          </a:p>
          <a:p>
            <a:r>
              <a:rPr lang="en-US" sz="1800"/>
              <a:t>These contain the hash value of the events you just did. Git tracks and recognizes everything by converting it to the hash value. The folders are named according to the hash value saved inside.</a:t>
            </a:r>
          </a:p>
          <a:p>
            <a:r>
              <a:rPr lang="en-US" sz="1800"/>
              <a:t>hashing is a popular method (data structure) of converting your data to hash value (random combinations of letters and digits) .</a:t>
            </a:r>
          </a:p>
          <a:p>
            <a:r>
              <a:rPr lang="en-US" sz="1800"/>
              <a:t>Hashing in Git is used to be able to trust and create stable data where collision does not occur which means two same files can be saved because they will have different hash values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4955"/>
            <a:ext cx="10515600" cy="5902325"/>
          </a:xfrm>
        </p:spPr>
        <p:txBody>
          <a:bodyPr/>
          <a:lstStyle/>
          <a:p>
            <a:r>
              <a:rPr lang="en-US"/>
              <a:t>Head: Head file contains the reference to the branch we are currently working on. </a:t>
            </a:r>
          </a:p>
          <a:p>
            <a:r>
              <a:rPr lang="en-US"/>
              <a:t>It is a symbolic reference to the branch and not the normal reference. </a:t>
            </a:r>
          </a:p>
          <a:p>
            <a:r>
              <a:rPr lang="en-US"/>
              <a:t>The difference being that the normal reference contains the Hash value as we saw in the above Objects folder. </a:t>
            </a:r>
          </a:p>
          <a:p>
            <a:r>
              <a:rPr lang="en-US"/>
              <a:t>It refers to something directly like pointers in programming.</a:t>
            </a:r>
          </a:p>
          <a:p>
            <a:r>
              <a:rPr lang="en-US"/>
              <a:t>To see the content of the Head file you can just type the command: </a:t>
            </a:r>
          </a:p>
          <a:p>
            <a:pPr marL="0" indent="0">
              <a:buNone/>
            </a:pPr>
            <a:r>
              <a:rPr lang="en-US" sz="2000"/>
              <a:t>			</a:t>
            </a:r>
            <a:r>
              <a:rPr lang="en-US" sz="2000" b="1"/>
              <a:t>cat .git/HEAD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lstStyle/>
          <a:p>
            <a:r>
              <a:rPr lang="en-US"/>
              <a:t>Deleting .git Folder </a:t>
            </a:r>
          </a:p>
        </p:txBody>
      </p:sp>
      <p:sp>
        <p:nvSpPr>
          <p:cNvPr id="3" name="Content Placeholder 2"/>
          <p:cNvSpPr>
            <a:spLocks noGrp="1"/>
          </p:cNvSpPr>
          <p:nvPr>
            <p:ph idx="1"/>
          </p:nvPr>
        </p:nvSpPr>
        <p:spPr>
          <a:xfrm>
            <a:off x="838200" y="1417320"/>
            <a:ext cx="10515600" cy="4759960"/>
          </a:xfrm>
        </p:spPr>
        <p:txBody>
          <a:bodyPr/>
          <a:lstStyle/>
          <a:p>
            <a:r>
              <a:rPr lang="en-US"/>
              <a:t>Deleting this folder will delete our entire history. </a:t>
            </a:r>
          </a:p>
          <a:p>
            <a:r>
              <a:rPr lang="en-US"/>
              <a:t>If you haven't cloned it, all the version and history is erased from Git. </a:t>
            </a:r>
          </a:p>
          <a:p>
            <a:r>
              <a:rPr lang="en-US"/>
              <a:t>Though your source file will remain as it is. </a:t>
            </a:r>
          </a:p>
          <a:p>
            <a:r>
              <a:rPr lang="en-US"/>
              <a:t>To delete the .git folder, just go to Git Bash and delete the folder by typing the command: </a:t>
            </a:r>
          </a:p>
          <a:p>
            <a:pPr marL="0" indent="0">
              <a:buNone/>
            </a:pPr>
            <a:r>
              <a:rPr lang="en-US"/>
              <a:t>				rm -rf .git</a:t>
            </a:r>
          </a:p>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5465"/>
          </a:xfrm>
        </p:spPr>
        <p:txBody>
          <a:bodyPr>
            <a:normAutofit/>
          </a:bodyPr>
          <a:lstStyle/>
          <a:p>
            <a:r>
              <a:rPr lang="en-US" sz="3110"/>
              <a:t>Git Staging</a:t>
            </a:r>
          </a:p>
        </p:txBody>
      </p:sp>
      <p:sp>
        <p:nvSpPr>
          <p:cNvPr id="3" name="Content Placeholder 2"/>
          <p:cNvSpPr>
            <a:spLocks noGrp="1"/>
          </p:cNvSpPr>
          <p:nvPr>
            <p:ph idx="1"/>
          </p:nvPr>
        </p:nvSpPr>
        <p:spPr>
          <a:xfrm>
            <a:off x="838200" y="1184275"/>
            <a:ext cx="10515600" cy="4993005"/>
          </a:xfrm>
        </p:spPr>
        <p:txBody>
          <a:bodyPr/>
          <a:lstStyle/>
          <a:p>
            <a:r>
              <a:rPr lang="en-US"/>
              <a:t>Git Add Command</a:t>
            </a:r>
          </a:p>
          <a:p>
            <a:r>
              <a:rPr lang="en-US"/>
              <a:t>Git Status Command</a:t>
            </a:r>
          </a:p>
          <a:p>
            <a:r>
              <a:rPr lang="en-US"/>
              <a:t>Git Remove Command</a:t>
            </a:r>
          </a:p>
          <a:p>
            <a:endParaRPr lang="en-US"/>
          </a:p>
          <a:p>
            <a:r>
              <a:rPr lang="en-US"/>
              <a:t>Lets discuss them one by one in detail.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305"/>
          </a:xfrm>
        </p:spPr>
        <p:txBody>
          <a:bodyPr>
            <a:normAutofit fontScale="90000"/>
          </a:bodyPr>
          <a:lstStyle/>
          <a:p>
            <a:r>
              <a:rPr lang="en-US">
                <a:sym typeface="+mn-ea"/>
              </a:rPr>
              <a:t>Git Status Command</a:t>
            </a:r>
            <a:br>
              <a:rPr lang="en-US"/>
            </a:br>
            <a:endParaRPr lang="en-US"/>
          </a:p>
        </p:txBody>
      </p:sp>
      <p:sp>
        <p:nvSpPr>
          <p:cNvPr id="3" name="Content Placeholder 2"/>
          <p:cNvSpPr>
            <a:spLocks noGrp="1"/>
          </p:cNvSpPr>
          <p:nvPr>
            <p:ph idx="1"/>
          </p:nvPr>
        </p:nvSpPr>
        <p:spPr>
          <a:xfrm>
            <a:off x="838200" y="1033145"/>
            <a:ext cx="10515600" cy="5144135"/>
          </a:xfrm>
        </p:spPr>
        <p:txBody>
          <a:bodyPr>
            <a:normAutofit/>
          </a:bodyPr>
          <a:lstStyle/>
          <a:p>
            <a:r>
              <a:rPr lang="en-US" sz="2000"/>
              <a:t>It returns information about the current state of the repository.</a:t>
            </a:r>
          </a:p>
          <a:p>
            <a:r>
              <a:rPr lang="en-US" sz="2000"/>
              <a:t>For e.g. a list of files changed, list of tracked changes on staging, untracked changes on local, and information about current branch &amp; commits.</a:t>
            </a:r>
          </a:p>
          <a:p>
            <a:r>
              <a:rPr lang="en-US" sz="2000" b="1"/>
              <a:t>Staging Area</a:t>
            </a:r>
            <a:r>
              <a:rPr lang="en-US" sz="2000"/>
              <a:t>: Git has the concept of a staging area, where all the updates/changes are tracked. This holds the changes which you would like to commit. Changes can be a single line, files, or parts of files.</a:t>
            </a:r>
          </a:p>
          <a:p>
            <a:r>
              <a:rPr lang="en-US" sz="2000" b="1"/>
              <a:t>Untracked Changes</a:t>
            </a:r>
            <a:r>
              <a:rPr lang="en-US" sz="2000"/>
              <a:t>: Changes/files on the local directory and which are not pushed to staging are known as untracked changes.</a:t>
            </a:r>
          </a:p>
          <a:p>
            <a:r>
              <a:rPr lang="en-US" sz="2000" b="1"/>
              <a:t>Tracked Changes</a:t>
            </a:r>
            <a:r>
              <a:rPr lang="en-US" sz="2000"/>
              <a:t>: Changes/files on staging are known as tracked changes.</a:t>
            </a:r>
          </a:p>
          <a:p>
            <a:r>
              <a:rPr lang="en-US" sz="2000"/>
              <a:t>Type </a:t>
            </a:r>
            <a:r>
              <a:rPr lang="en-US" sz="2000" b="1"/>
              <a:t>git status </a:t>
            </a:r>
            <a:r>
              <a:rPr lang="en-US" sz="2000"/>
              <a:t>in the command prompt. This will now list which files are staged, unstaged, and untracked.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2950"/>
          </a:xfrm>
        </p:spPr>
        <p:txBody>
          <a:bodyPr/>
          <a:lstStyle/>
          <a:p>
            <a:r>
              <a:rPr lang="en-US"/>
              <a:t>Git add </a:t>
            </a:r>
          </a:p>
        </p:txBody>
      </p:sp>
      <p:sp>
        <p:nvSpPr>
          <p:cNvPr id="3" name="Content Placeholder 2"/>
          <p:cNvSpPr>
            <a:spLocks noGrp="1"/>
          </p:cNvSpPr>
          <p:nvPr>
            <p:ph idx="1"/>
          </p:nvPr>
        </p:nvSpPr>
        <p:spPr>
          <a:xfrm>
            <a:off x="838200" y="1290320"/>
            <a:ext cx="10515600" cy="4886960"/>
          </a:xfrm>
        </p:spPr>
        <p:txBody>
          <a:bodyPr/>
          <a:lstStyle/>
          <a:p>
            <a:r>
              <a:rPr lang="en-US" sz="2000"/>
              <a:t>The </a:t>
            </a:r>
            <a:r>
              <a:rPr lang="en-US" sz="2000" b="1"/>
              <a:t>git add</a:t>
            </a:r>
            <a:r>
              <a:rPr lang="en-US" sz="2000"/>
              <a:t> command adds a change in the working directory to the Staging Area. </a:t>
            </a:r>
          </a:p>
          <a:p>
            <a:r>
              <a:rPr lang="en-US" sz="2000"/>
              <a:t>It tells Git that there are few updates in the project, which the user wants to commit next. </a:t>
            </a:r>
          </a:p>
          <a:p>
            <a:r>
              <a:rPr lang="en-US" sz="2000"/>
              <a:t>The thing here to note is that git add doesn't affect the remote repository, as changes are not actually recorded until you perform git commit.</a:t>
            </a:r>
          </a:p>
          <a:p>
            <a:pPr lvl="1"/>
            <a:r>
              <a:rPr lang="en-US" sz="1710"/>
              <a:t>Create a file inside repo using : touch filename.txt</a:t>
            </a:r>
          </a:p>
          <a:p>
            <a:pPr lvl="1"/>
            <a:r>
              <a:rPr lang="en-US" sz="1710"/>
              <a:t>enter data in the file : echo “this is my first file”&gt;filename.txt</a:t>
            </a:r>
          </a:p>
          <a:p>
            <a:pPr lvl="1"/>
            <a:r>
              <a:rPr lang="en-US" sz="1710"/>
              <a:t>Check the data in the file : cat filename.txt</a:t>
            </a:r>
          </a:p>
          <a:p>
            <a:pPr lvl="1"/>
            <a:r>
              <a:rPr lang="en-US" sz="1710"/>
              <a:t>write “ git add “ command in cli </a:t>
            </a:r>
          </a:p>
          <a:p>
            <a:pPr lvl="1"/>
            <a:r>
              <a:rPr lang="en-US" sz="1710"/>
              <a:t>see git status using “git status “ command .</a:t>
            </a:r>
          </a:p>
          <a:p>
            <a:r>
              <a:rPr lang="en-US" sz="2000"/>
              <a:t>O/P :</a:t>
            </a:r>
          </a:p>
          <a:p>
            <a:pPr lvl="1"/>
            <a:r>
              <a:rPr lang="en-US" sz="1710" b="1"/>
              <a:t>Changes to be committed</a:t>
            </a:r>
            <a:r>
              <a:rPr lang="en-US" sz="1710"/>
              <a:t>: This shows the information of tracked files kept on staging. This is the one, which we added using git add command.</a:t>
            </a:r>
          </a:p>
          <a:p>
            <a:pPr lvl="1"/>
            <a:r>
              <a:rPr lang="en-US" sz="1710" b="1"/>
              <a:t>Untracked files</a:t>
            </a:r>
            <a:r>
              <a:rPr lang="en-US" sz="1710"/>
              <a:t>: This shows the information of untracked files. These are the ones, which brought to the project earlier but still not pushed to staging.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1035"/>
            <a:ext cx="10515600" cy="5516245"/>
          </a:xfrm>
        </p:spPr>
        <p:txBody>
          <a:bodyPr/>
          <a:lstStyle/>
          <a:p>
            <a:r>
              <a:rPr lang="en-US"/>
              <a:t>To add multiple file to staging area:</a:t>
            </a:r>
          </a:p>
          <a:p>
            <a:pPr lvl="1"/>
            <a:r>
              <a:rPr lang="en-US" sz="2400"/>
              <a:t>git add &lt;filename&gt; &lt;filename&gt;</a:t>
            </a:r>
            <a:endParaRPr lang="en-US"/>
          </a:p>
          <a:p>
            <a:r>
              <a:rPr lang="en-US"/>
              <a:t>To add all file to staging area at once :</a:t>
            </a:r>
          </a:p>
          <a:p>
            <a:pPr lvl="1"/>
            <a:r>
              <a:rPr lang="en-US" sz="2400"/>
              <a:t>git add *</a:t>
            </a:r>
          </a:p>
          <a:p>
            <a:pPr marL="457200" lvl="1" indent="0">
              <a:buNone/>
            </a:pPr>
            <a:endParaRPr lang="en-US"/>
          </a:p>
          <a:p>
            <a:pPr marL="0" indent="0" algn="ctr">
              <a:buNone/>
            </a:pPr>
            <a:r>
              <a:rPr lang="en-US" b="1">
                <a:sym typeface="+mn-ea"/>
              </a:rPr>
              <a:t>Git remove</a:t>
            </a:r>
          </a:p>
          <a:p>
            <a:r>
              <a:rPr lang="en-US" b="1">
                <a:sym typeface="+mn-ea"/>
              </a:rPr>
              <a:t>git rm: </a:t>
            </a:r>
          </a:p>
          <a:p>
            <a:pPr lvl="1"/>
            <a:r>
              <a:rPr lang="en-US" sz="2055">
                <a:sym typeface="+mn-ea"/>
              </a:rPr>
              <a:t>The git rm command removes tracked changes from the Staging Area. </a:t>
            </a:r>
          </a:p>
          <a:p>
            <a:pPr lvl="1"/>
            <a:r>
              <a:rPr lang="en-US" sz="2055">
                <a:sym typeface="+mn-ea"/>
              </a:rPr>
              <a:t>It tells Git that the updates which were pushed to staging earlier with git add command, are not ready to commit</a:t>
            </a:r>
          </a:p>
          <a:p>
            <a:pPr lvl="1"/>
            <a:r>
              <a:rPr lang="en-US" sz="2055" b="1">
                <a:sym typeface="+mn-ea"/>
              </a:rPr>
              <a:t>git rm --cached &lt;file&gt;</a:t>
            </a:r>
            <a:r>
              <a:rPr lang="en-US" sz="2055">
                <a:sym typeface="+mn-ea"/>
              </a:rPr>
              <a:t> : command used to remove file .</a:t>
            </a:r>
          </a:p>
          <a:p>
            <a:pPr lvl="1"/>
            <a:r>
              <a:rPr lang="en-US" sz="2055">
                <a:sym typeface="+mn-ea"/>
              </a:rPr>
              <a:t>To remove multiple file : </a:t>
            </a:r>
            <a:r>
              <a:rPr lang="en-US" sz="2055" b="1">
                <a:sym typeface="+mn-ea"/>
              </a:rPr>
              <a:t>git rm --cached &lt;file&gt; &lt;file&gt;</a:t>
            </a:r>
            <a:r>
              <a:rPr lang="en-US" sz="2055">
                <a:sym typeface="+mn-ea"/>
              </a:rPr>
              <a:t> .</a:t>
            </a:r>
          </a:p>
          <a:p>
            <a:endParaRPr 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1670"/>
          </a:xfrm>
        </p:spPr>
        <p:txBody>
          <a:bodyPr/>
          <a:lstStyle/>
          <a:p>
            <a:r>
              <a:rPr lang="en-US" sz="2800"/>
              <a:t>O/P parameters of git status</a:t>
            </a:r>
          </a:p>
        </p:txBody>
      </p:sp>
      <p:sp>
        <p:nvSpPr>
          <p:cNvPr id="3" name="Content Placeholder 2"/>
          <p:cNvSpPr>
            <a:spLocks noGrp="1"/>
          </p:cNvSpPr>
          <p:nvPr>
            <p:ph idx="1"/>
          </p:nvPr>
        </p:nvSpPr>
        <p:spPr>
          <a:xfrm>
            <a:off x="838200" y="1266825"/>
            <a:ext cx="10515600" cy="4910455"/>
          </a:xfrm>
        </p:spPr>
        <p:txBody>
          <a:bodyPr/>
          <a:lstStyle/>
          <a:p>
            <a:r>
              <a:rPr lang="en-US" sz="2400" b="1"/>
              <a:t>branch master</a:t>
            </a:r>
            <a:r>
              <a:rPr lang="en-US" sz="2400"/>
              <a:t>: This says that the working tree is a master branch. </a:t>
            </a:r>
            <a:r>
              <a:rPr lang="en-US" sz="2400" b="1"/>
              <a:t>no</a:t>
            </a:r>
          </a:p>
          <a:p>
            <a:r>
              <a:rPr lang="en-US" sz="2400" b="1"/>
              <a:t>commits yet</a:t>
            </a:r>
            <a:r>
              <a:rPr lang="en-US" sz="2400"/>
              <a:t>: This gives information on the commits, as of now there are no commits yet.</a:t>
            </a:r>
          </a:p>
          <a:p>
            <a:r>
              <a:rPr lang="en-US" sz="2400" b="1"/>
              <a:t>Untracked files</a:t>
            </a:r>
            <a:r>
              <a:rPr lang="en-US" sz="2400"/>
              <a:t>: This says that Git sees the files but has not started tracking changes yet and marked these as red.</a:t>
            </a:r>
          </a:p>
          <a:p>
            <a:r>
              <a:rPr lang="en-US" sz="2400" b="1"/>
              <a:t>Status messages</a:t>
            </a:r>
            <a:r>
              <a:rPr lang="en-US" sz="2400"/>
              <a:t>: This gives relevant instructions for staging/unstaging files.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800"/>
          </a:xfrm>
        </p:spPr>
        <p:txBody>
          <a:bodyPr>
            <a:normAutofit fontScale="90000"/>
          </a:bodyPr>
          <a:lstStyle/>
          <a:p>
            <a:r>
              <a:rPr lang="en-US"/>
              <a:t>Git Commit </a:t>
            </a:r>
          </a:p>
        </p:txBody>
      </p:sp>
      <p:sp>
        <p:nvSpPr>
          <p:cNvPr id="3" name="Content Placeholder 2"/>
          <p:cNvSpPr>
            <a:spLocks noGrp="1"/>
          </p:cNvSpPr>
          <p:nvPr>
            <p:ph idx="1"/>
          </p:nvPr>
        </p:nvSpPr>
        <p:spPr>
          <a:xfrm>
            <a:off x="838200" y="1401445"/>
            <a:ext cx="10515600" cy="4775835"/>
          </a:xfrm>
        </p:spPr>
        <p:txBody>
          <a:bodyPr>
            <a:normAutofit/>
          </a:bodyPr>
          <a:lstStyle/>
          <a:p>
            <a:r>
              <a:rPr lang="en-US"/>
              <a:t>Committing the changes in Git:</a:t>
            </a:r>
          </a:p>
          <a:p>
            <a:pPr marL="0" indent="0">
              <a:buNone/>
            </a:pPr>
            <a:r>
              <a:rPr lang="en-US"/>
              <a:t>				</a:t>
            </a:r>
            <a:r>
              <a:rPr lang="en-US" b="1"/>
              <a:t>git commit</a:t>
            </a:r>
            <a:endParaRPr lang="en-US"/>
          </a:p>
          <a:p>
            <a:r>
              <a:rPr lang="en-US"/>
              <a:t>Committing the changes in Git without commit message:</a:t>
            </a:r>
          </a:p>
          <a:p>
            <a:pPr marL="0" indent="0">
              <a:buNone/>
            </a:pPr>
            <a:r>
              <a:rPr lang="en-US"/>
              <a:t>		</a:t>
            </a:r>
            <a:r>
              <a:rPr lang="en-US" b="1"/>
              <a:t>git commit -m “this is my first commit”</a:t>
            </a:r>
          </a:p>
          <a:p>
            <a:pPr marL="457200" lvl="1" indent="0">
              <a:buNone/>
            </a:pPr>
            <a:r>
              <a:rPr lang="en-US" sz="1710"/>
              <a:t>Git does not recommend to commit without any message. </a:t>
            </a:r>
          </a:p>
          <a:p>
            <a:pPr marL="457200" lvl="1" indent="0">
              <a:buNone/>
            </a:pPr>
            <a:r>
              <a:rPr lang="en-US" sz="1710"/>
              <a:t>Git commit messages are necessary to look back and see the changes made during a particular commit.</a:t>
            </a:r>
          </a:p>
          <a:p>
            <a:pPr marL="457200" lvl="1" indent="0">
              <a:buNone/>
            </a:pPr>
            <a:r>
              <a:rPr lang="en-US" sz="1710"/>
              <a:t>If everyone will just commit without any message, no one would ever know what changes a developer has done.</a:t>
            </a:r>
            <a:r>
              <a:rPr lang="en-US" b="1"/>
              <a:t> </a:t>
            </a:r>
          </a:p>
          <a:p>
            <a:r>
              <a:rPr lang="en-US"/>
              <a:t>Commiting without a message :</a:t>
            </a:r>
          </a:p>
          <a:p>
            <a:pPr marL="0" indent="0">
              <a:buNone/>
            </a:pPr>
            <a:r>
              <a:rPr lang="en-US" b="1"/>
              <a:t>	git commit -a --allow-empty-message -m "message"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1520"/>
          </a:xfrm>
        </p:spPr>
        <p:txBody>
          <a:bodyPr>
            <a:normAutofit/>
          </a:bodyPr>
          <a:lstStyle/>
          <a:p>
            <a:r>
              <a:rPr lang="en-US" sz="3110"/>
              <a:t>Rename a file in git :</a:t>
            </a:r>
          </a:p>
        </p:txBody>
      </p:sp>
      <p:sp>
        <p:nvSpPr>
          <p:cNvPr id="3" name="Content Placeholder 2"/>
          <p:cNvSpPr>
            <a:spLocks noGrp="1"/>
          </p:cNvSpPr>
          <p:nvPr>
            <p:ph idx="1"/>
          </p:nvPr>
        </p:nvSpPr>
        <p:spPr/>
        <p:txBody>
          <a:bodyPr/>
          <a:lstStyle/>
          <a:p>
            <a:r>
              <a:rPr lang="en-US"/>
              <a:t>git mv &lt;original_file_name&gt; &lt;new_file_name&gt;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18770"/>
          </a:xfrm>
        </p:spPr>
        <p:txBody>
          <a:bodyPr>
            <a:normAutofit fontScale="90000"/>
          </a:bodyPr>
          <a:lstStyle/>
          <a:p>
            <a:r>
              <a:rPr lang="en-US"/>
              <a:t>Inspect &amp; Track Changes </a:t>
            </a:r>
          </a:p>
        </p:txBody>
      </p:sp>
      <p:sp>
        <p:nvSpPr>
          <p:cNvPr id="3" name="Content Placeholder 2"/>
          <p:cNvSpPr>
            <a:spLocks noGrp="1"/>
          </p:cNvSpPr>
          <p:nvPr>
            <p:ph idx="1"/>
          </p:nvPr>
        </p:nvSpPr>
        <p:spPr>
          <a:xfrm>
            <a:off x="838200" y="948055"/>
            <a:ext cx="10515600" cy="5634990"/>
          </a:xfrm>
        </p:spPr>
        <p:txBody>
          <a:bodyPr>
            <a:normAutofit fontScale="87500" lnSpcReduction="10000"/>
          </a:bodyPr>
          <a:lstStyle/>
          <a:p>
            <a:r>
              <a:rPr lang="en-US" sz="2000"/>
              <a:t>git status : command used to insoect changes made </a:t>
            </a:r>
          </a:p>
          <a:p>
            <a:r>
              <a:rPr lang="en-US" sz="2000"/>
              <a:t>git log :</a:t>
            </a:r>
          </a:p>
          <a:p>
            <a:pPr lvl="1"/>
            <a:r>
              <a:rPr lang="en-US" sz="2000"/>
              <a:t>Git log is a command used in Git to access the history of commits that the repository has gone through.</a:t>
            </a:r>
          </a:p>
          <a:p>
            <a:pPr lvl="1"/>
            <a:r>
              <a:rPr lang="en-US" sz="2000"/>
              <a:t>It captures all the changes happening inside the repository </a:t>
            </a:r>
          </a:p>
          <a:p>
            <a:r>
              <a:rPr lang="en-US" sz="2000"/>
              <a:t>Output  :</a:t>
            </a:r>
          </a:p>
          <a:p>
            <a:endParaRPr lang="en-US" sz="2000"/>
          </a:p>
          <a:p>
            <a:endParaRPr lang="en-US" sz="2000"/>
          </a:p>
          <a:p>
            <a:endParaRPr lang="en-US" sz="2000"/>
          </a:p>
          <a:p>
            <a:endParaRPr lang="en-US" sz="2000"/>
          </a:p>
          <a:p>
            <a:endParaRPr lang="en-US" sz="2000"/>
          </a:p>
          <a:p>
            <a:r>
              <a:rPr lang="en-US" sz="2000"/>
              <a:t>Commit Hash: The first part of the commit log is "commit hash" which is the hash value by which Git saves or refers everything internally. </a:t>
            </a:r>
          </a:p>
          <a:p>
            <a:r>
              <a:rPr lang="en-US" sz="2000"/>
              <a:t>Commit Author: This part tells you about who committed the changes in the repository i.e. the author name.</a:t>
            </a:r>
          </a:p>
          <a:p>
            <a:r>
              <a:rPr lang="en-US" sz="2000"/>
              <a:t>Commit Date: This part shows you the date and time of the commit with the day and time zone. It is important to have a day and time zone because many people work on a single project from different geographical locations.</a:t>
            </a:r>
          </a:p>
          <a:p>
            <a:r>
              <a:rPr lang="en-US" sz="2000"/>
              <a:t>Commit Message: This part shows the commit message that was written while committing the changes. </a:t>
            </a:r>
          </a:p>
        </p:txBody>
      </p:sp>
      <p:pic>
        <p:nvPicPr>
          <p:cNvPr id="4" name="Picture 3" descr="Screenshot 2024-09-16 at 11.13.56 PM"/>
          <p:cNvPicPr>
            <a:picLocks noChangeAspect="1"/>
          </p:cNvPicPr>
          <p:nvPr/>
        </p:nvPicPr>
        <p:blipFill>
          <a:blip r:embed="rId2"/>
          <a:stretch>
            <a:fillRect/>
          </a:stretch>
        </p:blipFill>
        <p:spPr>
          <a:xfrm>
            <a:off x="2106295" y="2367915"/>
            <a:ext cx="7597140" cy="163766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630"/>
            <a:ext cx="10515600" cy="5581650"/>
          </a:xfrm>
        </p:spPr>
        <p:txBody>
          <a:bodyPr>
            <a:normAutofit/>
          </a:bodyPr>
          <a:lstStyle/>
          <a:p>
            <a:r>
              <a:rPr lang="en-US"/>
              <a:t>git log --oneline:</a:t>
            </a:r>
          </a:p>
          <a:p>
            <a:r>
              <a:rPr lang="en-US" sz="2400"/>
              <a:t>As you can see some of the details that were previously visible are now hidden and the view is of only one-liner. </a:t>
            </a:r>
          </a:p>
          <a:p>
            <a:endParaRPr lang="en-US"/>
          </a:p>
          <a:p>
            <a:endParaRPr lang="en-US"/>
          </a:p>
          <a:p>
            <a:endParaRPr lang="en-US"/>
          </a:p>
          <a:p>
            <a:endParaRPr lang="en-US" sz="2400"/>
          </a:p>
          <a:p>
            <a:endParaRPr lang="en-US" sz="2400"/>
          </a:p>
          <a:p>
            <a:r>
              <a:rPr lang="en-US" sz="2400"/>
              <a:t>Commit Id: Every commit has a commit id which is actually a compressed version of commit hash. Since a commit hash is not a sequential number, compressing it still shows unique commits.</a:t>
            </a:r>
          </a:p>
          <a:p>
            <a:r>
              <a:rPr lang="en-US" sz="2400"/>
              <a:t>Commit Message: commit message to understand what the commit was about.</a:t>
            </a:r>
          </a:p>
          <a:p>
            <a:endParaRPr lang="en-US" sz="2400"/>
          </a:p>
        </p:txBody>
      </p:sp>
      <p:pic>
        <p:nvPicPr>
          <p:cNvPr id="4" name="Picture 3" descr="Screenshot 2024-09-16 at 11.27.17 PM"/>
          <p:cNvPicPr>
            <a:picLocks noChangeAspect="1"/>
          </p:cNvPicPr>
          <p:nvPr/>
        </p:nvPicPr>
        <p:blipFill>
          <a:blip r:embed="rId2"/>
          <a:stretch>
            <a:fillRect/>
          </a:stretch>
        </p:blipFill>
        <p:spPr>
          <a:xfrm>
            <a:off x="2000250" y="2294890"/>
            <a:ext cx="6912610" cy="167005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4170"/>
            <a:ext cx="10515600" cy="6191250"/>
          </a:xfrm>
        </p:spPr>
        <p:txBody>
          <a:bodyPr/>
          <a:lstStyle/>
          <a:p>
            <a:r>
              <a:rPr lang="en-US" b="1"/>
              <a:t>git log &lt;commit hash&gt;</a:t>
            </a:r>
          </a:p>
          <a:p>
            <a:r>
              <a:rPr lang="en-US"/>
              <a:t>see the log details using the commit hash that we have got from git </a:t>
            </a:r>
            <a:r>
              <a:rPr lang="en-US" b="1"/>
              <a:t>log --oneline</a:t>
            </a:r>
            <a:r>
              <a:rPr lang="en-US"/>
              <a:t> command .</a:t>
            </a:r>
          </a:p>
          <a:p>
            <a:r>
              <a:rPr lang="en-US"/>
              <a:t>Output:</a:t>
            </a:r>
          </a:p>
          <a:p>
            <a:endParaRPr lang="en-US"/>
          </a:p>
          <a:p>
            <a:endParaRPr lang="en-US" b="1"/>
          </a:p>
          <a:p>
            <a:endParaRPr lang="en-US" b="1"/>
          </a:p>
          <a:p>
            <a:r>
              <a:rPr lang="en-US" b="1"/>
              <a:t>git log &lt;filename&gt;</a:t>
            </a:r>
            <a:r>
              <a:rPr lang="en-US"/>
              <a:t>: used to get logs using filename:</a:t>
            </a:r>
          </a:p>
          <a:p>
            <a:pPr marL="0" indent="0">
              <a:buNone/>
            </a:pPr>
            <a:br>
              <a:rPr lang="en-US"/>
            </a:br>
            <a:endParaRPr lang="en-US"/>
          </a:p>
        </p:txBody>
      </p:sp>
      <p:pic>
        <p:nvPicPr>
          <p:cNvPr id="4" name="Picture 3" descr="Screenshot 2024-09-16 at 11.36.45 PM"/>
          <p:cNvPicPr>
            <a:picLocks noChangeAspect="1"/>
          </p:cNvPicPr>
          <p:nvPr/>
        </p:nvPicPr>
        <p:blipFill>
          <a:blip r:embed="rId2"/>
          <a:stretch>
            <a:fillRect/>
          </a:stretch>
        </p:blipFill>
        <p:spPr>
          <a:xfrm>
            <a:off x="2565400" y="1884680"/>
            <a:ext cx="6476365" cy="1416685"/>
          </a:xfrm>
          <a:prstGeom prst="rect">
            <a:avLst/>
          </a:prstGeom>
        </p:spPr>
      </p:pic>
      <p:pic>
        <p:nvPicPr>
          <p:cNvPr id="5" name="Picture 4" descr="Screenshot 2024-09-16 at 11.38.26 PM"/>
          <p:cNvPicPr>
            <a:picLocks noChangeAspect="1"/>
          </p:cNvPicPr>
          <p:nvPr/>
        </p:nvPicPr>
        <p:blipFill>
          <a:blip r:embed="rId3"/>
          <a:stretch>
            <a:fillRect/>
          </a:stretch>
        </p:blipFill>
        <p:spPr>
          <a:xfrm>
            <a:off x="2636520" y="4334510"/>
            <a:ext cx="6477000" cy="184213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7990"/>
            <a:ext cx="10515600" cy="6035675"/>
          </a:xfrm>
        </p:spPr>
        <p:txBody>
          <a:bodyPr>
            <a:normAutofit lnSpcReduction="10000"/>
          </a:bodyPr>
          <a:lstStyle/>
          <a:p>
            <a:pPr marL="0" indent="0">
              <a:buNone/>
            </a:pPr>
            <a:r>
              <a:rPr lang="en-US" b="1"/>
              <a:t>		View Commits History for a range:	</a:t>
            </a:r>
          </a:p>
          <a:p>
            <a:pPr marL="0" indent="0">
              <a:buNone/>
            </a:pPr>
            <a:r>
              <a:rPr lang="en-US" b="1"/>
              <a:t>git log &lt;since commitId&gt;..&lt;until commitId&gt; : </a:t>
            </a:r>
          </a:p>
          <a:p>
            <a:r>
              <a:rPr lang="en-US" sz="2400"/>
              <a:t>Since means, the last commit up to which you want to see.</a:t>
            </a:r>
          </a:p>
          <a:p>
            <a:r>
              <a:rPr lang="en-US" sz="2400"/>
              <a:t>Until means, the latest commit that you would like to see.</a:t>
            </a:r>
          </a:p>
          <a:p>
            <a:r>
              <a:rPr lang="en-US" sz="2400"/>
              <a:t>We see reverse chronological order in Git and not normal chronological order.</a:t>
            </a:r>
            <a:endParaRPr lang="en-US" b="1"/>
          </a:p>
          <a:p>
            <a:pPr marL="0" indent="0">
              <a:buNone/>
            </a:pPr>
            <a:r>
              <a:rPr lang="en-US" b="1"/>
              <a:t>git log --reverse :</a:t>
            </a:r>
            <a:r>
              <a:rPr lang="en-US"/>
              <a:t> See the chronological order</a:t>
            </a:r>
            <a:endParaRPr lang="en-US" b="1"/>
          </a:p>
          <a:p>
            <a:pPr marL="0" indent="0">
              <a:buNone/>
            </a:pPr>
            <a:endParaRPr lang="en-US" b="1"/>
          </a:p>
          <a:p>
            <a:pPr marL="0" indent="0">
              <a:buNone/>
            </a:pPr>
            <a:r>
              <a:rPr lang="en-US" b="1"/>
              <a:t>limited number of Git Commits History:</a:t>
            </a:r>
          </a:p>
          <a:p>
            <a:pPr marL="0" indent="0">
              <a:buNone/>
            </a:pPr>
            <a:r>
              <a:rPr lang="en-US"/>
              <a:t>	git log -n 2 -oneline  :  (issue last 2 git commits)</a:t>
            </a:r>
          </a:p>
          <a:p>
            <a:pPr marL="0" indent="0">
              <a:buNone/>
            </a:pPr>
            <a:r>
              <a:rPr lang="en-US" b="1">
                <a:sym typeface="+mn-ea"/>
              </a:rPr>
              <a:t>			Git Diff Command</a:t>
            </a:r>
          </a:p>
          <a:p>
            <a:r>
              <a:rPr lang="en-US" sz="2400">
                <a:sym typeface="+mn-ea"/>
              </a:rPr>
              <a:t>Diff command is used in git to track the difference between the changes made on a file.</a:t>
            </a:r>
          </a:p>
          <a:p>
            <a:r>
              <a:rPr lang="en-US" sz="2400">
                <a:sym typeface="+mn-ea"/>
              </a:rPr>
              <a:t>Diff command takes two inputs and reflects the differences between them before commit.</a:t>
            </a:r>
            <a:endParaRPr lang="en-US" sz="2400"/>
          </a:p>
          <a:p>
            <a:pPr marL="0" indent="0">
              <a:buNone/>
            </a:pPr>
            <a:endParaRPr lang="en-US" b="1"/>
          </a:p>
          <a:p>
            <a:pPr marL="0" indent="0">
              <a:buNone/>
            </a:pP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1960"/>
          </a:xfrm>
        </p:spPr>
        <p:txBody>
          <a:bodyPr>
            <a:normAutofit fontScale="90000"/>
          </a:bodyPr>
          <a:lstStyle/>
          <a:p>
            <a:r>
              <a:rPr lang="en-US" sz="2800" b="1"/>
              <a:t>Git Diff Command output : </a:t>
            </a:r>
          </a:p>
        </p:txBody>
      </p:sp>
      <p:sp>
        <p:nvSpPr>
          <p:cNvPr id="3" name="Content Placeholder 2"/>
          <p:cNvSpPr>
            <a:spLocks noGrp="1"/>
          </p:cNvSpPr>
          <p:nvPr>
            <p:ph idx="1"/>
          </p:nvPr>
        </p:nvSpPr>
        <p:spPr>
          <a:xfrm>
            <a:off x="838200" y="953135"/>
            <a:ext cx="10515600" cy="5690235"/>
          </a:xfrm>
        </p:spPr>
        <p:txBody>
          <a:bodyPr>
            <a:normAutofit fontScale="67500" lnSpcReduction="10000"/>
          </a:bodyPr>
          <a:lstStyle/>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a:t>The first line shows the file names that have been considered as the input in git diff. You can see that they have been marked by a and b along with the two different file state that has been taken as input.</a:t>
            </a:r>
          </a:p>
          <a:p>
            <a:pPr marL="0" indent="0">
              <a:buNone/>
            </a:pPr>
            <a:r>
              <a:rPr lang="en-US"/>
              <a:t>This shows the metadata related to the command and the execution of it on the files. </a:t>
            </a:r>
          </a:p>
          <a:p>
            <a:pPr marL="0" indent="0">
              <a:buNone/>
            </a:pPr>
            <a:r>
              <a:rPr lang="en-US"/>
              <a:t>This line defines the symbol, called a legend, to tell you what is used to describe the first file and what is used to describe the second file. As you can see, - is used in front of the first file, and + is used in front of the second file. So whenever diff shows you the changes related to the first file, they will be marked by - and the changes in the second file will be marked by the symbol +.</a:t>
            </a:r>
          </a:p>
          <a:p>
            <a:pPr marL="0" indent="0">
              <a:buNone/>
            </a:pPr>
            <a:r>
              <a:rPr lang="en-US"/>
              <a:t>The fourth line shows you symbol @@ and symbols ahead of it. They are called chunks. Chunks in git diff define the change' summary. In our image  the following chunk can be seen @@ -1,2 +1 @@</a:t>
            </a:r>
          </a:p>
          <a:p>
            <a:pPr marL="0" indent="0">
              <a:buNone/>
            </a:pPr>
            <a:r>
              <a:rPr lang="en-US"/>
              <a:t>This means that lines one and two were changed in the first file and line one was changed in the second file. Remember the - and + symbol used in the third point as a symbol to the first and second file respectively.</a:t>
            </a:r>
          </a:p>
        </p:txBody>
      </p:sp>
      <p:pic>
        <p:nvPicPr>
          <p:cNvPr id="4" name="Picture 3" descr="Screenshot 2024-09-17 at 12.50.41 AM"/>
          <p:cNvPicPr>
            <a:picLocks noChangeAspect="1"/>
          </p:cNvPicPr>
          <p:nvPr/>
        </p:nvPicPr>
        <p:blipFill>
          <a:blip r:embed="rId2"/>
          <a:stretch>
            <a:fillRect/>
          </a:stretch>
        </p:blipFill>
        <p:spPr>
          <a:xfrm>
            <a:off x="1970405" y="953135"/>
            <a:ext cx="6161405" cy="204597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6090"/>
          </a:xfrm>
        </p:spPr>
        <p:txBody>
          <a:bodyPr>
            <a:normAutofit fontScale="90000"/>
          </a:bodyPr>
          <a:lstStyle/>
          <a:p>
            <a:r>
              <a:rPr lang="en-US" sz="2800"/>
              <a:t>Git Show command</a:t>
            </a:r>
          </a:p>
        </p:txBody>
      </p:sp>
      <p:sp>
        <p:nvSpPr>
          <p:cNvPr id="3" name="Content Placeholder 2"/>
          <p:cNvSpPr>
            <a:spLocks noGrp="1"/>
          </p:cNvSpPr>
          <p:nvPr>
            <p:ph idx="1"/>
          </p:nvPr>
        </p:nvSpPr>
        <p:spPr>
          <a:xfrm>
            <a:off x="838200" y="989965"/>
            <a:ext cx="10515600" cy="5581015"/>
          </a:xfrm>
        </p:spPr>
        <p:txBody>
          <a:bodyPr/>
          <a:lstStyle/>
          <a:p>
            <a:r>
              <a:rPr lang="en-US"/>
              <a:t>Git show is similar to git log ,the only difference is that with logs it shows :</a:t>
            </a:r>
          </a:p>
          <a:p>
            <a:pPr lvl="1"/>
            <a:r>
              <a:rPr lang="en-US"/>
              <a:t>Difference between the versions of the file to which HEAD is pointing (diff)</a:t>
            </a:r>
          </a:p>
          <a:p>
            <a:r>
              <a:rPr lang="en-US"/>
              <a:t>Output:</a:t>
            </a:r>
          </a:p>
          <a:p>
            <a:endParaRPr lang="en-US"/>
          </a:p>
          <a:p>
            <a:endParaRPr lang="en-US"/>
          </a:p>
          <a:p>
            <a:endParaRPr lang="en-US"/>
          </a:p>
          <a:p>
            <a:endParaRPr lang="en-US"/>
          </a:p>
          <a:p>
            <a:r>
              <a:rPr lang="en-US"/>
              <a:t>git log --author=Divya : to see logs of specific author </a:t>
            </a:r>
          </a:p>
        </p:txBody>
      </p:sp>
      <p:pic>
        <p:nvPicPr>
          <p:cNvPr id="4" name="Picture 3" descr="Screenshot 2024-09-17 at 10.15.07 AM"/>
          <p:cNvPicPr>
            <a:picLocks noChangeAspect="1"/>
          </p:cNvPicPr>
          <p:nvPr/>
        </p:nvPicPr>
        <p:blipFill>
          <a:blip r:embed="rId2"/>
          <a:stretch>
            <a:fillRect/>
          </a:stretch>
        </p:blipFill>
        <p:spPr>
          <a:xfrm>
            <a:off x="2856865" y="2804160"/>
            <a:ext cx="5391785" cy="195262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3920"/>
          </a:xfrm>
        </p:spPr>
        <p:txBody>
          <a:bodyPr>
            <a:normAutofit/>
          </a:bodyPr>
          <a:lstStyle/>
          <a:p>
            <a:r>
              <a:rPr lang="en-US" sz="3110"/>
              <a:t>Connecting a Git local repository with GitHub remote repository.</a:t>
            </a:r>
          </a:p>
        </p:txBody>
      </p:sp>
      <p:sp>
        <p:nvSpPr>
          <p:cNvPr id="3" name="Content Placeholder 2"/>
          <p:cNvSpPr>
            <a:spLocks noGrp="1"/>
          </p:cNvSpPr>
          <p:nvPr>
            <p:ph idx="1"/>
          </p:nvPr>
        </p:nvSpPr>
        <p:spPr/>
        <p:txBody>
          <a:bodyPr>
            <a:normAutofit/>
          </a:bodyPr>
          <a:lstStyle/>
          <a:p>
            <a:r>
              <a:rPr lang="en-US"/>
              <a:t>A git remote command is used to make the remote connections such as connecting a Git local repository with GitHub remote repository.</a:t>
            </a:r>
          </a:p>
          <a:p>
            <a:r>
              <a:rPr lang="en-US"/>
              <a:t>Git remote is just a connection between the local and GitHub repository.</a:t>
            </a:r>
          </a:p>
          <a:p>
            <a:r>
              <a:rPr lang="en-US"/>
              <a:t>git remote can be considered as a reference to the GitHub repositories which do not provide any real-time access to what you do locally i.e. whatever you do locally will not be reflected on your GitHub repository without your permission.</a:t>
            </a:r>
          </a:p>
          <a:p>
            <a:r>
              <a:rPr lang="en-US"/>
              <a:t>Git remote can be used to connect to your own repository or to connect to someone else's repository.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2120"/>
            <a:ext cx="10515600" cy="5725160"/>
          </a:xfrm>
        </p:spPr>
        <p:txBody>
          <a:bodyPr/>
          <a:lstStyle/>
          <a:p>
            <a:r>
              <a:rPr lang="en-US" sz="2400"/>
              <a:t>git remote add name command :</a:t>
            </a:r>
          </a:p>
          <a:p>
            <a:r>
              <a:rPr lang="en-US" sz="2400" b="1"/>
              <a:t>git remote add origin https://github.com/Divyathakur273/devops.git</a:t>
            </a:r>
          </a:p>
          <a:p>
            <a:endParaRPr lang="en-US" sz="2400" b="1"/>
          </a:p>
          <a:p>
            <a:pPr marL="457200" lvl="1" indent="0">
              <a:buNone/>
            </a:pPr>
            <a:r>
              <a:rPr lang="en-US" sz="1710"/>
              <a:t>The above command follows the generic syntax of </a:t>
            </a:r>
            <a:r>
              <a:rPr lang="en-US" sz="1710" b="1"/>
              <a:t>git remote add &lt;name&gt; &lt;repository url&gt;</a:t>
            </a:r>
            <a:endParaRPr lang="en-US" sz="1710"/>
          </a:p>
          <a:p>
            <a:pPr marL="457200" lvl="1" indent="0">
              <a:buNone/>
            </a:pPr>
            <a:r>
              <a:rPr lang="en-US" sz="1710"/>
              <a:t>Add: To add a new URL to the repository.</a:t>
            </a:r>
          </a:p>
          <a:p>
            <a:pPr marL="457200" lvl="1" indent="0">
              <a:buNone/>
            </a:pPr>
            <a:r>
              <a:rPr lang="en-US" sz="1710"/>
              <a:t>Name: To give a name that you will use instead of the URL of the repository.</a:t>
            </a:r>
          </a:p>
          <a:p>
            <a:pPr marL="457200" lvl="1" indent="0">
              <a:buNone/>
            </a:pPr>
            <a:r>
              <a:rPr lang="en-US" sz="1710"/>
              <a:t>URL: The URL of the repository.</a:t>
            </a:r>
          </a:p>
          <a:p>
            <a:r>
              <a:rPr lang="en-US" sz="2000"/>
              <a:t>To check whether we linked our repository or not, execute the </a:t>
            </a:r>
            <a:r>
              <a:rPr lang="en-US" sz="2000" b="1"/>
              <a:t>git remote</a:t>
            </a:r>
            <a:r>
              <a:rPr lang="en-US" sz="2000"/>
              <a:t> command.It will show you that the origin repository (alias for the GitHub myFirstRepo repository) is available. </a:t>
            </a:r>
          </a:p>
          <a:p>
            <a:r>
              <a:rPr lang="en-US" sz="2000"/>
              <a:t>git remote -v command : show you the url of origin repo .</a:t>
            </a:r>
          </a:p>
          <a:p>
            <a:r>
              <a:rPr lang="en-US" sz="2000"/>
              <a:t>git remote rm &lt;name&gt; : to remove a connection , in the above scenario name is origin.</a:t>
            </a:r>
          </a:p>
          <a:p>
            <a:r>
              <a:rPr lang="en-US" sz="2000"/>
              <a:t>git remote rename &lt;old-name&gt; &lt;new-name&gt; : change name of old repo .</a:t>
            </a:r>
          </a:p>
          <a:p>
            <a:endParaRPr lang="en-US" sz="2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7370"/>
            <a:ext cx="10515600" cy="5928360"/>
          </a:xfrm>
        </p:spPr>
        <p:txBody>
          <a:bodyPr>
            <a:normAutofit lnSpcReduction="10000"/>
          </a:bodyPr>
          <a:lstStyle/>
          <a:p>
            <a:r>
              <a:rPr lang="en-US"/>
              <a:t>git fetch : The git fetch command downloads commits, files, and refs from a remote repository into your local repo.</a:t>
            </a:r>
          </a:p>
          <a:p>
            <a:r>
              <a:rPr lang="en-US"/>
              <a:t>Scenario :</a:t>
            </a:r>
          </a:p>
          <a:p>
            <a:pPr marL="0" indent="0">
              <a:buNone/>
            </a:pPr>
            <a:r>
              <a:rPr lang="en-US" sz="2400"/>
              <a:t>1. git remote add new </a:t>
            </a:r>
            <a:r>
              <a:rPr lang="en-US" sz="2400">
                <a:sym typeface="+mn-ea"/>
              </a:rPr>
              <a:t>https://github.com/Divyathakur273/devops.git</a:t>
            </a:r>
          </a:p>
          <a:p>
            <a:pPr marL="0" indent="0">
              <a:buNone/>
            </a:pPr>
            <a:r>
              <a:rPr lang="en-US" sz="2400"/>
              <a:t>2. git remote -v </a:t>
            </a:r>
          </a:p>
          <a:p>
            <a:pPr marL="0" indent="0">
              <a:buNone/>
            </a:pPr>
            <a:r>
              <a:rPr lang="en-US" sz="2400"/>
              <a:t>3. git branch -r :to see branches </a:t>
            </a:r>
          </a:p>
          <a:p>
            <a:pPr marL="0" indent="0">
              <a:buNone/>
            </a:pPr>
            <a:r>
              <a:rPr lang="en-US" sz="2400"/>
              <a:t>4. git fetch new : fetch the refs from new .</a:t>
            </a:r>
          </a:p>
          <a:p>
            <a:pPr marL="0" indent="0">
              <a:buNone/>
            </a:pPr>
            <a:r>
              <a:rPr lang="en-US" sz="2400"/>
              <a:t>		git  fetch new &lt;branch name&gt;</a:t>
            </a:r>
          </a:p>
          <a:p>
            <a:pPr marL="0" indent="0">
              <a:buNone/>
            </a:pPr>
            <a:r>
              <a:rPr lang="en-US" sz="2400"/>
              <a:t>		git fetch --all</a:t>
            </a:r>
          </a:p>
          <a:p>
            <a:pPr marL="0" indent="0">
              <a:buNone/>
            </a:pPr>
            <a:r>
              <a:rPr lang="en-US" sz="2400"/>
              <a:t>5. git branch -r</a:t>
            </a:r>
          </a:p>
          <a:p>
            <a:pPr marL="0" indent="0">
              <a:buNone/>
            </a:pPr>
            <a:r>
              <a:rPr lang="en-US" sz="2400"/>
              <a:t>6. git log new/main: check the logs of all branches.</a:t>
            </a:r>
          </a:p>
          <a:p>
            <a:pPr marL="0" indent="0">
              <a:buNone/>
            </a:pPr>
            <a:endParaRPr lang="en-US" sz="2400"/>
          </a:p>
          <a:p>
            <a:pPr marL="0" indent="0">
              <a:buNone/>
            </a:pPr>
            <a:r>
              <a:rPr lang="en-US" sz="2400"/>
              <a:t>git fetch has similar behavior to git pull, however, git fetch can be considered a safer, nondestructive version.</a:t>
            </a:r>
          </a:p>
          <a:p>
            <a:pPr marL="0" indent="0">
              <a:buNone/>
            </a:pPr>
            <a:endParaRPr lang="en-US"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6725"/>
          </a:xfrm>
        </p:spPr>
        <p:txBody>
          <a:bodyPr>
            <a:normAutofit fontScale="90000"/>
          </a:bodyPr>
          <a:lstStyle/>
          <a:p>
            <a:r>
              <a:rPr lang="en-US"/>
              <a:t>Git fork </a:t>
            </a:r>
          </a:p>
        </p:txBody>
      </p:sp>
      <p:sp>
        <p:nvSpPr>
          <p:cNvPr id="3" name="Content Placeholder 2"/>
          <p:cNvSpPr>
            <a:spLocks noGrp="1"/>
          </p:cNvSpPr>
          <p:nvPr>
            <p:ph idx="1"/>
          </p:nvPr>
        </p:nvSpPr>
        <p:spPr>
          <a:xfrm>
            <a:off x="838200" y="1096645"/>
            <a:ext cx="10515600" cy="5080635"/>
          </a:xfrm>
        </p:spPr>
        <p:txBody>
          <a:bodyPr>
            <a:normAutofit/>
          </a:bodyPr>
          <a:lstStyle/>
          <a:p>
            <a:r>
              <a:rPr lang="en-US" sz="2000"/>
              <a:t>A fork is a copy of a repository. Forking a repository allows to freely experiment with changes without affecting the original project.</a:t>
            </a:r>
          </a:p>
          <a:p>
            <a:r>
              <a:rPr lang="en-US" sz="2000"/>
              <a:t>When a user forks a repository, all the files in the repository are automatically copied to the user's account on GitHub and it feels like the user's own repository. </a:t>
            </a:r>
          </a:p>
          <a:p>
            <a:r>
              <a:rPr lang="en-US" sz="2000"/>
              <a:t>This process is similar to copying a folder from one drive to another drive on a computer.</a:t>
            </a:r>
          </a:p>
          <a:p>
            <a:r>
              <a:rPr lang="en-US" sz="2000"/>
              <a:t>Through git forking, the users can develop their own modifications to the code that belongs to someone else. </a:t>
            </a:r>
          </a:p>
          <a:p>
            <a:r>
              <a:rPr lang="en-US" sz="2000"/>
              <a:t>To be noted, that this process does not have any effect on the original repository (also called an upstream repository) code.</a:t>
            </a:r>
          </a:p>
          <a:p>
            <a:r>
              <a:rPr lang="en-US" sz="2000"/>
              <a:t>Forking a repository on GitHub is done for two main purposes:</a:t>
            </a:r>
          </a:p>
          <a:p>
            <a:pPr lvl="1"/>
            <a:r>
              <a:rPr lang="en-US" sz="1710"/>
              <a:t>Improving someone's code/software</a:t>
            </a:r>
          </a:p>
          <a:p>
            <a:pPr lvl="1"/>
            <a:r>
              <a:rPr lang="en-US" sz="1710"/>
              <a:t>Reusing the code in a project</a:t>
            </a:r>
          </a:p>
          <a:p>
            <a:r>
              <a:rPr lang="en-US" sz="2000"/>
              <a:t>Forking is allowed for public repositories without permission. But if the repository is private, one can only be able to fork if he or she has permission from the owner of the repository.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17 at 11.43.27 AM"/>
          <p:cNvPicPr>
            <a:picLocks noChangeAspect="1"/>
          </p:cNvPicPr>
          <p:nvPr/>
        </p:nvPicPr>
        <p:blipFill>
          <a:blip r:embed="rId2"/>
          <a:stretch>
            <a:fillRect/>
          </a:stretch>
        </p:blipFill>
        <p:spPr>
          <a:xfrm>
            <a:off x="2658745" y="194945"/>
            <a:ext cx="6371590" cy="653986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230"/>
          </a:xfrm>
        </p:spPr>
        <p:txBody>
          <a:bodyPr>
            <a:normAutofit/>
          </a:bodyPr>
          <a:lstStyle/>
          <a:p>
            <a:r>
              <a:rPr lang="en-US"/>
              <a:t>Cloning a Remote Repository from GitHub</a:t>
            </a:r>
          </a:p>
        </p:txBody>
      </p:sp>
      <p:sp>
        <p:nvSpPr>
          <p:cNvPr id="3" name="Content Placeholder 2"/>
          <p:cNvSpPr>
            <a:spLocks noGrp="1"/>
          </p:cNvSpPr>
          <p:nvPr>
            <p:ph idx="1"/>
          </p:nvPr>
        </p:nvSpPr>
        <p:spPr>
          <a:xfrm>
            <a:off x="838200" y="1266825"/>
            <a:ext cx="10515600" cy="4910455"/>
          </a:xfrm>
        </p:spPr>
        <p:txBody>
          <a:bodyPr/>
          <a:lstStyle/>
          <a:p>
            <a:r>
              <a:rPr lang="en-US"/>
              <a:t>Cloning is a process of creating an identical copy of a Git Remote Repository to the local machine.</a:t>
            </a:r>
          </a:p>
          <a:p>
            <a:r>
              <a:rPr lang="en-US"/>
              <a:t>A repository that is uploaded online for collaboration is called an Upstream Repository or a Central Repository.</a:t>
            </a:r>
          </a:p>
          <a:p>
            <a:r>
              <a:rPr lang="en-US"/>
              <a:t>A central repository indicates that all the changes from all the contributors pushed into this repository only. So, this is the most updated repository instance of itself. Sometimes this is often called the original repository.</a:t>
            </a:r>
          </a:p>
          <a:p>
            <a:pPr marL="0" indent="0">
              <a:buNone/>
            </a:pP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17 at 11.51.02 AM"/>
          <p:cNvPicPr>
            <a:picLocks noChangeAspect="1"/>
          </p:cNvPicPr>
          <p:nvPr/>
        </p:nvPicPr>
        <p:blipFill>
          <a:blip r:embed="rId2"/>
          <a:stretch>
            <a:fillRect/>
          </a:stretch>
        </p:blipFill>
        <p:spPr>
          <a:xfrm>
            <a:off x="2203450" y="439420"/>
            <a:ext cx="6650355" cy="597789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110"/>
            <a:ext cx="10515600" cy="5678170"/>
          </a:xfrm>
        </p:spPr>
        <p:txBody>
          <a:bodyPr/>
          <a:lstStyle/>
          <a:p>
            <a:r>
              <a:rPr lang="en-US" sz="2800">
                <a:sym typeface="+mn-ea"/>
              </a:rPr>
              <a:t>git clone &lt;repoURL&gt;</a:t>
            </a:r>
            <a:endParaRPr lang="en-US" sz="2800"/>
          </a:p>
          <a:p>
            <a:pPr lvl="1"/>
            <a:r>
              <a:rPr lang="en-US" sz="2800">
                <a:sym typeface="+mn-ea"/>
              </a:rPr>
              <a:t>It is a standard GIT command to clone an existing remote repository.</a:t>
            </a:r>
            <a:endParaRPr lang="en-US" sz="2800"/>
          </a:p>
          <a:p>
            <a:endParaRPr lang="en-US" sz="2800"/>
          </a:p>
          <a:p>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8345"/>
          </a:xfrm>
        </p:spPr>
        <p:txBody>
          <a:bodyPr>
            <a:normAutofit/>
          </a:bodyPr>
          <a:lstStyle/>
          <a:p>
            <a:r>
              <a:rPr lang="en-US"/>
              <a:t>Difference btw git clone and git fork </a:t>
            </a:r>
          </a:p>
        </p:txBody>
      </p:sp>
      <p:pic>
        <p:nvPicPr>
          <p:cNvPr id="4" name="Picture 3" descr="Screenshot 2024-09-17 at 11.54.33 AM"/>
          <p:cNvPicPr>
            <a:picLocks noChangeAspect="1"/>
          </p:cNvPicPr>
          <p:nvPr/>
        </p:nvPicPr>
        <p:blipFill>
          <a:blip r:embed="rId2"/>
          <a:stretch>
            <a:fillRect/>
          </a:stretch>
        </p:blipFill>
        <p:spPr>
          <a:xfrm>
            <a:off x="2789555" y="1446530"/>
            <a:ext cx="6195060" cy="506285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3730"/>
          </a:xfrm>
        </p:spPr>
        <p:txBody>
          <a:bodyPr/>
          <a:lstStyle/>
          <a:p>
            <a:r>
              <a:rPr lang="en-US" sz="2800"/>
              <a:t>git push </a:t>
            </a:r>
          </a:p>
        </p:txBody>
      </p:sp>
      <p:sp>
        <p:nvSpPr>
          <p:cNvPr id="3" name="Content Placeholder 2"/>
          <p:cNvSpPr>
            <a:spLocks noGrp="1"/>
          </p:cNvSpPr>
          <p:nvPr>
            <p:ph idx="1"/>
          </p:nvPr>
        </p:nvSpPr>
        <p:spPr>
          <a:xfrm>
            <a:off x="838200" y="1240155"/>
            <a:ext cx="10515600" cy="4937125"/>
          </a:xfrm>
        </p:spPr>
        <p:txBody>
          <a:bodyPr/>
          <a:lstStyle/>
          <a:p>
            <a:r>
              <a:rPr lang="en-US" sz="2400"/>
              <a:t>A git push command, when executed, pushes the changes that the user has made on the local machine to the remote repository.</a:t>
            </a:r>
          </a:p>
          <a:p>
            <a:r>
              <a:rPr lang="en-US" sz="2400"/>
              <a:t>To be able to push to your remote repository, you must ascertain that all your changes to the local repository are committed.</a:t>
            </a:r>
          </a:p>
          <a:p>
            <a:r>
              <a:rPr lang="en-US" sz="2400"/>
              <a:t>Consider Git push as a part of the synchronization process in Git. </a:t>
            </a:r>
          </a:p>
          <a:p>
            <a:r>
              <a:rPr lang="en-US" sz="2400"/>
              <a:t>The synchronization happens between the local and remote repository where the source and the receiver may vary. </a:t>
            </a:r>
          </a:p>
          <a:p>
            <a:r>
              <a:rPr lang="en-US" sz="2400"/>
              <a:t>It uploads the changes done on the local repository to keep the remote repository up to date.</a:t>
            </a:r>
          </a:p>
          <a:p>
            <a:r>
              <a:rPr lang="en-US" sz="2400"/>
              <a:t>command : git push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4-09-18 at 10.03.29 AM"/>
          <p:cNvPicPr>
            <a:picLocks noChangeAspect="1"/>
          </p:cNvPicPr>
          <p:nvPr/>
        </p:nvPicPr>
        <p:blipFill>
          <a:blip r:embed="rId2"/>
          <a:stretch>
            <a:fillRect/>
          </a:stretch>
        </p:blipFill>
        <p:spPr>
          <a:xfrm>
            <a:off x="2761615" y="250190"/>
            <a:ext cx="6668135" cy="614108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7695"/>
            <a:ext cx="10515600" cy="5569585"/>
          </a:xfrm>
        </p:spPr>
        <p:txBody>
          <a:bodyPr/>
          <a:lstStyle/>
          <a:p>
            <a:r>
              <a:rPr lang="en-US"/>
              <a:t>command :</a:t>
            </a:r>
          </a:p>
          <a:p>
            <a:r>
              <a:rPr lang="en-US"/>
              <a:t>git push &lt;remote_repo&gt; &lt;branch_name&gt;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6745"/>
          </a:xfrm>
        </p:spPr>
        <p:txBody>
          <a:bodyPr>
            <a:normAutofit fontScale="90000"/>
          </a:bodyPr>
          <a:lstStyle/>
          <a:p>
            <a:r>
              <a:rPr lang="en-US"/>
              <a:t>Blob </a:t>
            </a:r>
          </a:p>
        </p:txBody>
      </p:sp>
      <p:sp>
        <p:nvSpPr>
          <p:cNvPr id="3" name="Content Placeholder 2"/>
          <p:cNvSpPr>
            <a:spLocks noGrp="1"/>
          </p:cNvSpPr>
          <p:nvPr>
            <p:ph idx="1"/>
          </p:nvPr>
        </p:nvSpPr>
        <p:spPr>
          <a:xfrm>
            <a:off x="838200" y="991870"/>
            <a:ext cx="10515600" cy="5185410"/>
          </a:xfrm>
        </p:spPr>
        <p:txBody>
          <a:bodyPr/>
          <a:lstStyle/>
          <a:p>
            <a:r>
              <a:rPr lang="en-US"/>
              <a:t>Git represents your file’s contents in blobs, which are also leaf nodes in something close to a directory, called a tree.</a:t>
            </a:r>
          </a:p>
          <a:p>
            <a:r>
              <a:rPr lang="en-US"/>
              <a:t>A Git blob (binary large object) is the object type used to store the contents of each file in a repository. </a:t>
            </a:r>
          </a:p>
          <a:p>
            <a:r>
              <a:rPr lang="en-US"/>
              <a:t>The file's SHA-1 hash is computed and stored in the blob object. </a:t>
            </a:r>
          </a:p>
          <a:p>
            <a:r>
              <a:rPr lang="en-US"/>
              <a:t>These endpoints allow you to read and write blob objects to your Git database on GitHub. </a:t>
            </a:r>
          </a:p>
          <a:p>
            <a:r>
              <a:rPr lang="en-US"/>
              <a:t>Blobs leverage these custom media types.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7355"/>
            <a:ext cx="10515600" cy="5749925"/>
          </a:xfrm>
        </p:spPr>
        <p:txBody>
          <a:bodyPr/>
          <a:lstStyle/>
          <a:p>
            <a:r>
              <a:rPr lang="en-US" sz="2400" b="1"/>
              <a:t>git cat-file -p </a:t>
            </a:r>
            <a:r>
              <a:rPr lang="en-US" sz="2400" b="1">
                <a:solidFill>
                  <a:srgbClr val="FF0000"/>
                </a:solidFill>
              </a:rPr>
              <a:t>21</a:t>
            </a:r>
            <a:r>
              <a:rPr lang="en-US" sz="2400" b="1">
                <a:highlight>
                  <a:srgbClr val="FFFF00"/>
                </a:highlight>
              </a:rPr>
              <a:t>a40280c2ce1d4cdd0e6590f154479da9837495</a:t>
            </a:r>
            <a:endParaRPr lang="en-US" sz="2400"/>
          </a:p>
          <a:p>
            <a:pPr lvl="1"/>
            <a:r>
              <a:rPr lang="en-US"/>
              <a:t>Here the command is git cat-file -p hashvalue </a:t>
            </a:r>
          </a:p>
          <a:p>
            <a:pPr lvl="1"/>
            <a:r>
              <a:rPr lang="en-US">
                <a:solidFill>
                  <a:srgbClr val="FF0000"/>
                </a:solidFill>
              </a:rPr>
              <a:t> 21</a:t>
            </a:r>
            <a:r>
              <a:rPr lang="en-US"/>
              <a:t> is the folder inside which the hash is there </a:t>
            </a:r>
          </a:p>
          <a:p>
            <a:pPr lvl="1"/>
            <a:r>
              <a:rPr lang="en-US"/>
              <a:t>and </a:t>
            </a:r>
            <a:r>
              <a:rPr lang="en-US">
                <a:highlight>
                  <a:srgbClr val="FFFF00"/>
                </a:highlight>
                <a:sym typeface="+mn-ea"/>
              </a:rPr>
              <a:t>a40280c2ce1d4cdd0e6590f154479da9837495 </a:t>
            </a:r>
            <a:r>
              <a:rPr lang="en-US">
                <a:sym typeface="+mn-ea"/>
              </a:rPr>
              <a:t>is the actual hash </a:t>
            </a:r>
          </a:p>
          <a:p>
            <a:pPr lvl="1"/>
            <a:r>
              <a:rPr lang="en-US"/>
              <a:t>to check the data of the file through hash </a:t>
            </a:r>
          </a:p>
          <a:p>
            <a:pPr lvl="1"/>
            <a:endParaRPr lang="en-US"/>
          </a:p>
          <a:p>
            <a:r>
              <a:rPr lang="en-US" sz="2400" b="1"/>
              <a:t>git cat-file -t  </a:t>
            </a:r>
            <a:r>
              <a:rPr lang="en-US" sz="2400" b="1">
                <a:solidFill>
                  <a:srgbClr val="FF0000"/>
                </a:solidFill>
              </a:rPr>
              <a:t>21</a:t>
            </a:r>
            <a:r>
              <a:rPr lang="en-US" sz="2400" b="1">
                <a:highlight>
                  <a:srgbClr val="FFFF00"/>
                </a:highlight>
              </a:rPr>
              <a:t>a40280c2ce1d4cdd0e6590f154479da9837495</a:t>
            </a:r>
            <a:endParaRPr lang="en-US" sz="2400" b="1"/>
          </a:p>
          <a:p>
            <a:pPr lvl="1"/>
            <a:r>
              <a:rPr lang="en-US"/>
              <a:t>Command to check the type of file ie, blob, tree etc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10005"/>
          </a:xfrm>
        </p:spPr>
        <p:txBody>
          <a:bodyPr>
            <a:normAutofit/>
          </a:bodyPr>
          <a:lstStyle/>
          <a:p>
            <a:r>
              <a:rPr lang="en-US" sz="2800"/>
              <a:t>Step by step directions:</a:t>
            </a:r>
            <a:br>
              <a:rPr lang="en-US" sz="2800"/>
            </a:br>
            <a:br>
              <a:rPr lang="en-US" sz="2800"/>
            </a:br>
            <a:r>
              <a:rPr lang="en-US" sz="2800">
                <a:highlight>
                  <a:srgbClr val="FFFF00"/>
                </a:highlight>
              </a:rPr>
              <a:t>Step 1:</a:t>
            </a:r>
          </a:p>
        </p:txBody>
      </p:sp>
      <p:pic>
        <p:nvPicPr>
          <p:cNvPr id="4" name="Picture 3" descr="Screenshot 2024-09-26 at 1.31.48 PM"/>
          <p:cNvPicPr>
            <a:picLocks noChangeAspect="1"/>
          </p:cNvPicPr>
          <p:nvPr/>
        </p:nvPicPr>
        <p:blipFill>
          <a:blip r:embed="rId2"/>
          <a:stretch>
            <a:fillRect/>
          </a:stretch>
        </p:blipFill>
        <p:spPr>
          <a:xfrm>
            <a:off x="454660" y="1934845"/>
            <a:ext cx="10724515" cy="366204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1325"/>
          </a:xfrm>
        </p:spPr>
        <p:txBody>
          <a:bodyPr>
            <a:normAutofit fontScale="90000"/>
          </a:bodyPr>
          <a:lstStyle/>
          <a:p>
            <a:r>
              <a:rPr lang="en-US">
                <a:highlight>
                  <a:srgbClr val="FFFF00"/>
                </a:highlight>
              </a:rPr>
              <a:t>Step 2: Adding file to the staging area </a:t>
            </a:r>
          </a:p>
        </p:txBody>
      </p:sp>
      <p:pic>
        <p:nvPicPr>
          <p:cNvPr id="4" name="Picture 3" descr="Screenshot 2024-09-26 at 1.34.21 PM"/>
          <p:cNvPicPr>
            <a:picLocks noChangeAspect="1"/>
          </p:cNvPicPr>
          <p:nvPr/>
        </p:nvPicPr>
        <p:blipFill>
          <a:blip r:embed="rId2"/>
          <a:stretch>
            <a:fillRect/>
          </a:stretch>
        </p:blipFill>
        <p:spPr>
          <a:xfrm>
            <a:off x="908050" y="890270"/>
            <a:ext cx="9236710" cy="576453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2455"/>
          </a:xfrm>
        </p:spPr>
        <p:txBody>
          <a:bodyPr>
            <a:normAutofit fontScale="90000"/>
          </a:bodyPr>
          <a:lstStyle/>
          <a:p>
            <a:r>
              <a:rPr lang="en-US">
                <a:highlight>
                  <a:srgbClr val="FFFF00"/>
                </a:highlight>
              </a:rPr>
              <a:t>Step 2:</a:t>
            </a:r>
          </a:p>
        </p:txBody>
      </p:sp>
      <p:pic>
        <p:nvPicPr>
          <p:cNvPr id="4" name="Picture 3" descr="Screenshot 2024-09-26 at 1.36.35 PM"/>
          <p:cNvPicPr>
            <a:picLocks noChangeAspect="1"/>
          </p:cNvPicPr>
          <p:nvPr/>
        </p:nvPicPr>
        <p:blipFill>
          <a:blip r:embed="rId2"/>
          <a:stretch>
            <a:fillRect/>
          </a:stretch>
        </p:blipFill>
        <p:spPr>
          <a:xfrm>
            <a:off x="838200" y="1242060"/>
            <a:ext cx="8314055" cy="258064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2305"/>
          </a:xfrm>
        </p:spPr>
        <p:txBody>
          <a:bodyPr>
            <a:normAutofit fontScale="90000"/>
          </a:bodyPr>
          <a:lstStyle/>
          <a:p>
            <a:r>
              <a:rPr lang="en-US"/>
              <a:t>Step 3 : from staging to commit </a:t>
            </a:r>
          </a:p>
        </p:txBody>
      </p:sp>
      <p:sp>
        <p:nvSpPr>
          <p:cNvPr id="3" name="Content Placeholder 2"/>
          <p:cNvSpPr>
            <a:spLocks noGrp="1"/>
          </p:cNvSpPr>
          <p:nvPr>
            <p:ph idx="1"/>
          </p:nvPr>
        </p:nvSpPr>
        <p:spPr>
          <a:xfrm>
            <a:off x="838200" y="1231265"/>
            <a:ext cx="10515600" cy="4946015"/>
          </a:xfrm>
        </p:spPr>
        <p:txBody>
          <a:bodyPr/>
          <a:lstStyle/>
          <a:p>
            <a:r>
              <a:rPr lang="en-US"/>
              <a:t>Now , in step 2 , before commit , we have got one file in objects i.e, 58 , which contains hash value of the data inside the file f1.txt , which we created .</a:t>
            </a:r>
          </a:p>
          <a:p>
            <a:r>
              <a:rPr lang="en-US"/>
              <a:t>We have only added the file to the staging area and not commited yet .</a:t>
            </a:r>
          </a:p>
          <a:p>
            <a:endParaRPr lang="en-US"/>
          </a:p>
          <a:p>
            <a:r>
              <a:rPr lang="en-US"/>
              <a:t>In step 3 , we will add the file to the commit  and then in the object folder , 2 new files will appear in which one file will contain hash value of commit and other will contain tree.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6260"/>
          </a:xfrm>
        </p:spPr>
        <p:txBody>
          <a:bodyPr>
            <a:normAutofit fontScale="90000"/>
          </a:bodyPr>
          <a:lstStyle/>
          <a:p>
            <a:r>
              <a:rPr lang="en-US"/>
              <a:t>Step 3 : commit of file f1.txt</a:t>
            </a:r>
          </a:p>
        </p:txBody>
      </p:sp>
      <p:pic>
        <p:nvPicPr>
          <p:cNvPr id="4" name="Picture 3" descr="Screenshot 2024-09-26 at 1.58.44 PM"/>
          <p:cNvPicPr>
            <a:picLocks noChangeAspect="1"/>
          </p:cNvPicPr>
          <p:nvPr/>
        </p:nvPicPr>
        <p:blipFill>
          <a:blip r:embed="rId2"/>
          <a:stretch>
            <a:fillRect/>
          </a:stretch>
        </p:blipFill>
        <p:spPr>
          <a:xfrm>
            <a:off x="1373505" y="1346835"/>
            <a:ext cx="7240905" cy="419925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680"/>
          </a:xfrm>
        </p:spPr>
        <p:txBody>
          <a:bodyPr>
            <a:normAutofit fontScale="90000"/>
          </a:bodyPr>
          <a:lstStyle/>
          <a:p>
            <a:r>
              <a:rPr lang="en-US"/>
              <a:t>After committing , new files created are 25,d8</a:t>
            </a:r>
          </a:p>
        </p:txBody>
      </p:sp>
      <p:pic>
        <p:nvPicPr>
          <p:cNvPr id="4" name="Picture 3" descr="Screenshot 2024-09-26 at 2.04.39 PM"/>
          <p:cNvPicPr>
            <a:picLocks noChangeAspect="1"/>
          </p:cNvPicPr>
          <p:nvPr/>
        </p:nvPicPr>
        <p:blipFill>
          <a:blip r:embed="rId2"/>
          <a:stretch>
            <a:fillRect/>
          </a:stretch>
        </p:blipFill>
        <p:spPr>
          <a:xfrm>
            <a:off x="1192530" y="1243965"/>
            <a:ext cx="8815070" cy="527875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8665"/>
          </a:xfrm>
        </p:spPr>
        <p:txBody>
          <a:bodyPr/>
          <a:lstStyle/>
          <a:p>
            <a:r>
              <a:rPr lang="en-US"/>
              <a:t>Mktree and read tree</a:t>
            </a:r>
          </a:p>
        </p:txBody>
      </p:sp>
      <p:sp>
        <p:nvSpPr>
          <p:cNvPr id="3" name="Content Placeholder 2"/>
          <p:cNvSpPr>
            <a:spLocks noGrp="1"/>
          </p:cNvSpPr>
          <p:nvPr>
            <p:ph idx="1"/>
          </p:nvPr>
        </p:nvSpPr>
        <p:spPr>
          <a:xfrm>
            <a:off x="838200" y="1499870"/>
            <a:ext cx="10515600" cy="4677410"/>
          </a:xfrm>
        </p:spPr>
        <p:txBody>
          <a:bodyPr/>
          <a:lstStyle/>
          <a:p>
            <a:r>
              <a:rPr lang="en-US"/>
              <a:t>Mktree : used to create a tree</a:t>
            </a:r>
          </a:p>
          <a:p>
            <a:pPr marL="0" indent="0">
              <a:buNone/>
            </a:pPr>
            <a:r>
              <a:rPr lang="en-US"/>
              <a:t>git cat-file | git mktree</a:t>
            </a:r>
          </a:p>
          <a:p>
            <a:r>
              <a:rPr lang="en-US"/>
              <a:t>Read tree: To read the contents of the tree.</a:t>
            </a:r>
          </a:p>
          <a:p>
            <a:pPr marL="0" indent="0">
              <a:buNone/>
            </a:pPr>
            <a:r>
              <a:rPr lang="en-US"/>
              <a:t>git read-tree &lt;hashvalue&gt;</a:t>
            </a:r>
          </a:p>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7080</Words>
  <Application>Microsoft Office PowerPoint</Application>
  <PresentationFormat>Widescreen</PresentationFormat>
  <Paragraphs>575</Paragraphs>
  <Slides>89</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Arial Bold</vt:lpstr>
      <vt:lpstr>Calibri</vt:lpstr>
      <vt:lpstr>Calibri Light</vt:lpstr>
      <vt:lpstr>Courier New</vt:lpstr>
      <vt:lpstr>Office Theme</vt:lpstr>
      <vt:lpstr>Basic Git</vt:lpstr>
      <vt:lpstr>Basic Git</vt:lpstr>
      <vt:lpstr>GitHub</vt:lpstr>
      <vt:lpstr>Version Control System </vt:lpstr>
      <vt:lpstr>PowerPoint Presentation</vt:lpstr>
      <vt:lpstr>Introduction to Git </vt:lpstr>
      <vt:lpstr>How do Git and GitHub work together?</vt:lpstr>
      <vt:lpstr>PowerPoint Presentation</vt:lpstr>
      <vt:lpstr>Signing up for a new personal account</vt:lpstr>
      <vt:lpstr>Exercise :  GitHub Essentials</vt:lpstr>
      <vt:lpstr>PowerPoint Presentation</vt:lpstr>
      <vt:lpstr>PowerPoint Presentation</vt:lpstr>
      <vt:lpstr>Step 1: Create and use a repository </vt:lpstr>
      <vt:lpstr>Steps to create a repository </vt:lpstr>
      <vt:lpstr>PowerPoint Presentation</vt:lpstr>
      <vt:lpstr>Step 2: Create a branch</vt:lpstr>
      <vt:lpstr>This diagram shows:  1. The main branch  2. A new branch called feature  3. The journey that feature takes before it's merged into main</vt:lpstr>
      <vt:lpstr>Creating a branch</vt:lpstr>
      <vt:lpstr>Step 3: Make and commit changes</vt:lpstr>
      <vt:lpstr>PowerPoint Presentation</vt:lpstr>
      <vt:lpstr>Step 4: Open a pull request</vt:lpstr>
      <vt:lpstr>PowerPoint Presentation</vt:lpstr>
      <vt:lpstr>Step 5: Merge your pull request</vt:lpstr>
      <vt:lpstr>PowerPoint Presentation</vt:lpstr>
      <vt:lpstr>Other Platforms </vt:lpstr>
      <vt:lpstr>Difference between GIT and GitHub</vt:lpstr>
      <vt:lpstr>PowerPoint Presentation</vt:lpstr>
      <vt:lpstr>PowerPoint Presentation</vt:lpstr>
      <vt:lpstr>The Git Lifecycle</vt:lpstr>
      <vt:lpstr>PowerPoint Presentation</vt:lpstr>
      <vt:lpstr>Create</vt:lpstr>
      <vt:lpstr>PowerPoint Presentation</vt:lpstr>
      <vt:lpstr>Modify</vt:lpstr>
      <vt:lpstr>Stage</vt:lpstr>
      <vt:lpstr>PowerPoint Presentation</vt:lpstr>
      <vt:lpstr>Commit</vt:lpstr>
      <vt:lpstr>PowerPoint Presentation</vt:lpstr>
      <vt:lpstr>PowerPoint Presentation</vt:lpstr>
      <vt:lpstr>Need of Staging Area</vt:lpstr>
      <vt:lpstr>GIT</vt:lpstr>
      <vt:lpstr>Git through Shell</vt:lpstr>
      <vt:lpstr>Git Bash</vt:lpstr>
      <vt:lpstr>Git CMD</vt:lpstr>
      <vt:lpstr>Git through GUI</vt:lpstr>
      <vt:lpstr>Git Download </vt:lpstr>
      <vt:lpstr>Install Git on Windows </vt:lpstr>
      <vt:lpstr>Git Commands</vt:lpstr>
      <vt:lpstr>Set Up Default Credentials for Git Config</vt:lpstr>
      <vt:lpstr>PowerPoint Presentation</vt:lpstr>
      <vt:lpstr>PowerPoint Presentation</vt:lpstr>
      <vt:lpstr>How to create repository in cli </vt:lpstr>
      <vt:lpstr>.git</vt:lpstr>
      <vt:lpstr>PowerPoint Presentation</vt:lpstr>
      <vt:lpstr>PowerPoint Presentation</vt:lpstr>
      <vt:lpstr>Deleting .git Folder </vt:lpstr>
      <vt:lpstr>Git Staging</vt:lpstr>
      <vt:lpstr>Git Status Command </vt:lpstr>
      <vt:lpstr>Git add </vt:lpstr>
      <vt:lpstr>PowerPoint Presentation</vt:lpstr>
      <vt:lpstr>O/P parameters of git status</vt:lpstr>
      <vt:lpstr>Git Commit </vt:lpstr>
      <vt:lpstr>Rename a file in git :</vt:lpstr>
      <vt:lpstr>Inspect &amp; Track Changes </vt:lpstr>
      <vt:lpstr>PowerPoint Presentation</vt:lpstr>
      <vt:lpstr>PowerPoint Presentation</vt:lpstr>
      <vt:lpstr>PowerPoint Presentation</vt:lpstr>
      <vt:lpstr>Git Diff Command output : </vt:lpstr>
      <vt:lpstr>Git Show command</vt:lpstr>
      <vt:lpstr>Connecting a Git local repository with GitHub remote repository.</vt:lpstr>
      <vt:lpstr>PowerPoint Presentation</vt:lpstr>
      <vt:lpstr>PowerPoint Presentation</vt:lpstr>
      <vt:lpstr>Git fork </vt:lpstr>
      <vt:lpstr>PowerPoint Presentation</vt:lpstr>
      <vt:lpstr>Cloning a Remote Repository from GitHub</vt:lpstr>
      <vt:lpstr>PowerPoint Presentation</vt:lpstr>
      <vt:lpstr>PowerPoint Presentation</vt:lpstr>
      <vt:lpstr>Difference btw git clone and git fork </vt:lpstr>
      <vt:lpstr>git push </vt:lpstr>
      <vt:lpstr>PowerPoint Presentation</vt:lpstr>
      <vt:lpstr>PowerPoint Presentation</vt:lpstr>
      <vt:lpstr>Blob </vt:lpstr>
      <vt:lpstr>PowerPoint Presentation</vt:lpstr>
      <vt:lpstr>Step by step directions:  Step 1:</vt:lpstr>
      <vt:lpstr>Step 2: Adding file to the staging area </vt:lpstr>
      <vt:lpstr>Step 2:</vt:lpstr>
      <vt:lpstr>Step 3 : from staging to commit </vt:lpstr>
      <vt:lpstr>Step 3 : commit of file f1.txt</vt:lpstr>
      <vt:lpstr>After committing , new files created are 25,d8</vt:lpstr>
      <vt:lpstr>Mktree and read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Git</dc:title>
  <dc:creator>divya</dc:creator>
  <cp:lastModifiedBy>Sidhant Gagneja</cp:lastModifiedBy>
  <cp:revision>86</cp:revision>
  <dcterms:created xsi:type="dcterms:W3CDTF">2025-06-30T07:32:10Z</dcterms:created>
  <dcterms:modified xsi:type="dcterms:W3CDTF">2025-10-28T05:49:00Z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1033-6.15.0.8733</vt:lpwstr>
  </property>
  <property fmtid="{D5CDD505-2E9C-101B-9397-08002B2CF9AE}" pid="3" name="ICV">
    <vt:lpwstr>DCE54D638666D8697A3D6268D9AE009E_42</vt:lpwstr>
  </property>
</Properties>
</file>