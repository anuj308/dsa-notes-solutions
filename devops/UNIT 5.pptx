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8"/>
  </p:notesMasterIdLst>
  <p:sldIdLst>
    <p:sldId id="256" r:id="rId2"/>
    <p:sldId id="257" r:id="rId3"/>
    <p:sldId id="258" r:id="rId4"/>
    <p:sldId id="261" r:id="rId5"/>
    <p:sldId id="262" r:id="rId6"/>
    <p:sldId id="263" r:id="rId7"/>
    <p:sldId id="260" r:id="rId8"/>
    <p:sldId id="259" r:id="rId9"/>
    <p:sldId id="264" r:id="rId10"/>
    <p:sldId id="265" r:id="rId11"/>
    <p:sldId id="266" r:id="rId12"/>
    <p:sldId id="267" r:id="rId13"/>
    <p:sldId id="268" r:id="rId14"/>
    <p:sldId id="269" r:id="rId15"/>
    <p:sldId id="270" r:id="rId16"/>
    <p:sldId id="271" r:id="rId17"/>
    <p:sldId id="272" r:id="rId18"/>
    <p:sldId id="273" r:id="rId19"/>
    <p:sldId id="274" r:id="rId20"/>
    <p:sldId id="308" r:id="rId21"/>
    <p:sldId id="275" r:id="rId22"/>
    <p:sldId id="276" r:id="rId23"/>
    <p:sldId id="277" r:id="rId24"/>
    <p:sldId id="309" r:id="rId25"/>
    <p:sldId id="279" r:id="rId26"/>
    <p:sldId id="280" r:id="rId27"/>
    <p:sldId id="281" r:id="rId28"/>
    <p:sldId id="310" r:id="rId29"/>
    <p:sldId id="278" r:id="rId30"/>
    <p:sldId id="283" r:id="rId31"/>
    <p:sldId id="284" r:id="rId32"/>
    <p:sldId id="285" r:id="rId33"/>
    <p:sldId id="286" r:id="rId34"/>
    <p:sldId id="287" r:id="rId35"/>
    <p:sldId id="298" r:id="rId36"/>
    <p:sldId id="311" r:id="rId37"/>
    <p:sldId id="312" r:id="rId38"/>
    <p:sldId id="313" r:id="rId39"/>
    <p:sldId id="314" r:id="rId40"/>
    <p:sldId id="315" r:id="rId41"/>
    <p:sldId id="316" r:id="rId42"/>
    <p:sldId id="317" r:id="rId43"/>
    <p:sldId id="318" r:id="rId44"/>
    <p:sldId id="288" r:id="rId45"/>
    <p:sldId id="289" r:id="rId46"/>
    <p:sldId id="341" r:id="rId47"/>
    <p:sldId id="342" r:id="rId48"/>
    <p:sldId id="343" r:id="rId49"/>
    <p:sldId id="344" r:id="rId50"/>
    <p:sldId id="345" r:id="rId51"/>
    <p:sldId id="346" r:id="rId52"/>
    <p:sldId id="355" r:id="rId53"/>
    <p:sldId id="356" r:id="rId54"/>
    <p:sldId id="358" r:id="rId55"/>
    <p:sldId id="347" r:id="rId56"/>
    <p:sldId id="290" r:id="rId57"/>
    <p:sldId id="357" r:id="rId58"/>
    <p:sldId id="361" r:id="rId59"/>
    <p:sldId id="362" r:id="rId60"/>
    <p:sldId id="360" r:id="rId61"/>
    <p:sldId id="363" r:id="rId62"/>
    <p:sldId id="364" r:id="rId63"/>
    <p:sldId id="366" r:id="rId64"/>
    <p:sldId id="365" r:id="rId65"/>
    <p:sldId id="367" r:id="rId66"/>
    <p:sldId id="368" r:id="rId67"/>
    <p:sldId id="370" r:id="rId68"/>
    <p:sldId id="369" r:id="rId69"/>
    <p:sldId id="372" r:id="rId70"/>
    <p:sldId id="379" r:id="rId71"/>
    <p:sldId id="373" r:id="rId72"/>
    <p:sldId id="374" r:id="rId73"/>
    <p:sldId id="292" r:id="rId74"/>
    <p:sldId id="375" r:id="rId75"/>
    <p:sldId id="377" r:id="rId76"/>
    <p:sldId id="378" r:id="rId77"/>
    <p:sldId id="380" r:id="rId78"/>
    <p:sldId id="381" r:id="rId79"/>
    <p:sldId id="382" r:id="rId80"/>
    <p:sldId id="384" r:id="rId81"/>
    <p:sldId id="386" r:id="rId82"/>
    <p:sldId id="388" r:id="rId83"/>
    <p:sldId id="390" r:id="rId84"/>
    <p:sldId id="392" r:id="rId85"/>
    <p:sldId id="393" r:id="rId86"/>
    <p:sldId id="394" r:id="rId87"/>
    <p:sldId id="395" r:id="rId88"/>
    <p:sldId id="396" r:id="rId89"/>
    <p:sldId id="397" r:id="rId90"/>
    <p:sldId id="398" r:id="rId91"/>
    <p:sldId id="399" r:id="rId92"/>
    <p:sldId id="400" r:id="rId93"/>
    <p:sldId id="401" r:id="rId94"/>
    <p:sldId id="410" r:id="rId95"/>
    <p:sldId id="411" r:id="rId96"/>
    <p:sldId id="415" r:id="rId97"/>
    <p:sldId id="413" r:id="rId98"/>
    <p:sldId id="414" r:id="rId99"/>
    <p:sldId id="416" r:id="rId100"/>
    <p:sldId id="417" r:id="rId101"/>
    <p:sldId id="412" r:id="rId102"/>
    <p:sldId id="419" r:id="rId103"/>
    <p:sldId id="420" r:id="rId104"/>
    <p:sldId id="421" r:id="rId105"/>
    <p:sldId id="423" r:id="rId106"/>
    <p:sldId id="424" r:id="rId107"/>
    <p:sldId id="425" r:id="rId108"/>
    <p:sldId id="426" r:id="rId109"/>
    <p:sldId id="427" r:id="rId110"/>
    <p:sldId id="428" r:id="rId111"/>
    <p:sldId id="430" r:id="rId112"/>
    <p:sldId id="294" r:id="rId113"/>
    <p:sldId id="429" r:id="rId114"/>
    <p:sldId id="431" r:id="rId115"/>
    <p:sldId id="433" r:id="rId116"/>
    <p:sldId id="434" r:id="rId117"/>
    <p:sldId id="435" r:id="rId118"/>
    <p:sldId id="437" r:id="rId119"/>
    <p:sldId id="438" r:id="rId120"/>
    <p:sldId id="455" r:id="rId121"/>
    <p:sldId id="439" r:id="rId122"/>
    <p:sldId id="440" r:id="rId123"/>
    <p:sldId id="296" r:id="rId124"/>
    <p:sldId id="436" r:id="rId125"/>
    <p:sldId id="441" r:id="rId126"/>
    <p:sldId id="443" r:id="rId127"/>
    <p:sldId id="445" r:id="rId128"/>
    <p:sldId id="442" r:id="rId129"/>
    <p:sldId id="448" r:id="rId130"/>
    <p:sldId id="447" r:id="rId131"/>
    <p:sldId id="449" r:id="rId132"/>
    <p:sldId id="450" r:id="rId133"/>
    <p:sldId id="451" r:id="rId134"/>
    <p:sldId id="453" r:id="rId135"/>
    <p:sldId id="454" r:id="rId136"/>
    <p:sldId id="409" r:id="rId1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p:scale>
          <a:sx n="69" d="100"/>
          <a:sy n="69" d="100"/>
        </p:scale>
        <p:origin x="73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9" name="Google Shape;519;p7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6" name="Google Shape;526;p7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8" name="Google Shape;538;p7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5" name="Google Shape;545;p7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1" name="Google Shape;551;p7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3" name="Google Shape;563;p7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UNIT 5 </a:t>
            </a:r>
            <a:br>
              <a:rPr lang="en-US"/>
            </a:br>
            <a:r>
              <a:rPr lang="en-US"/>
              <a:t>DevOps Trends</a:t>
            </a:r>
          </a:p>
        </p:txBody>
      </p:sp>
      <p:sp>
        <p:nvSpPr>
          <p:cNvPr id="3" name="Subtitle 2"/>
          <p:cNvSpPr>
            <a:spLocks noGrp="1"/>
          </p:cNvSpPr>
          <p:nvPr>
            <p:ph type="subTitle" idx="1"/>
          </p:nvPr>
        </p:nvSpPr>
        <p:spPr>
          <a:xfrm>
            <a:off x="7414895" y="4544695"/>
            <a:ext cx="3253105" cy="995680"/>
          </a:xfrm>
        </p:spPr>
        <p:txBody>
          <a:bodyPr/>
          <a:lstStyle/>
          <a:p>
            <a:r>
              <a:rPr lang="en-US"/>
              <a:t>Divya Thakur</a:t>
            </a:r>
          </a:p>
          <a:p>
            <a:r>
              <a:rPr lang="en-US"/>
              <a:t>28300</a:t>
            </a:r>
          </a:p>
        </p:txBody>
      </p:sp>
      <p:sp>
        <p:nvSpPr>
          <p:cNvPr id="4" name="Text Box 3"/>
          <p:cNvSpPr txBox="1"/>
          <p:nvPr/>
        </p:nvSpPr>
        <p:spPr>
          <a:xfrm>
            <a:off x="1694180" y="-807085"/>
            <a:ext cx="309880" cy="368300"/>
          </a:xfrm>
          <a:prstGeom prst="rect">
            <a:avLst/>
          </a:prstGeom>
          <a:noFill/>
        </p:spPr>
        <p:txBody>
          <a:bodyPr wrap="none" rtlCol="0">
            <a:spAutoFit/>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48030"/>
          </a:xfrm>
        </p:spPr>
        <p:txBody>
          <a:bodyPr/>
          <a:lstStyle/>
          <a:p>
            <a:r>
              <a:rPr lang="en-US"/>
              <a:t>Syllabus</a:t>
            </a:r>
          </a:p>
        </p:txBody>
      </p:sp>
      <p:sp>
        <p:nvSpPr>
          <p:cNvPr id="3" name="Content Placeholder 2"/>
          <p:cNvSpPr>
            <a:spLocks noGrp="1"/>
          </p:cNvSpPr>
          <p:nvPr>
            <p:ph idx="1"/>
          </p:nvPr>
        </p:nvSpPr>
        <p:spPr>
          <a:xfrm>
            <a:off x="838200" y="1284605"/>
            <a:ext cx="10515600" cy="4892675"/>
          </a:xfrm>
        </p:spPr>
        <p:txBody>
          <a:bodyPr/>
          <a:lstStyle/>
          <a:p>
            <a:r>
              <a:rPr lang="en-US"/>
              <a:t>DevOps Market Trends</a:t>
            </a:r>
          </a:p>
          <a:p>
            <a:r>
              <a:rPr lang="en-US"/>
              <a:t>DevOps Engineer Skills</a:t>
            </a:r>
          </a:p>
          <a:p>
            <a:r>
              <a:rPr lang="en-US"/>
              <a:t>DevOps Delivery Pipeline</a:t>
            </a:r>
          </a:p>
          <a:p>
            <a:r>
              <a:rPr lang="en-US"/>
              <a:t>DevOps Ecosystem</a:t>
            </a:r>
          </a:p>
          <a:p>
            <a:r>
              <a:rPr lang="en-US"/>
              <a:t>Role of a DevOps Engineer</a:t>
            </a:r>
          </a:p>
          <a:p>
            <a:r>
              <a:rPr lang="en-US"/>
              <a:t>Devops Tools: </a:t>
            </a:r>
          </a:p>
          <a:p>
            <a:pPr marL="0" indent="0">
              <a:buNone/>
            </a:pPr>
            <a:r>
              <a:rPr lang="en-US"/>
              <a:t>	Git, Docker, Selenium, Maven, Jenkins, Puppet,Ansible, 	Kubernetes, Nagios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90905"/>
          </a:xfrm>
        </p:spPr>
        <p:txBody>
          <a:bodyPr/>
          <a:lstStyle/>
          <a:p>
            <a:r>
              <a:rPr lang="en-US"/>
              <a:t>Devops</a:t>
            </a:r>
          </a:p>
        </p:txBody>
      </p:sp>
      <p:sp>
        <p:nvSpPr>
          <p:cNvPr id="3" name="Content Placeholder 2"/>
          <p:cNvSpPr>
            <a:spLocks noGrp="1"/>
          </p:cNvSpPr>
          <p:nvPr>
            <p:ph idx="1"/>
          </p:nvPr>
        </p:nvSpPr>
        <p:spPr>
          <a:xfrm>
            <a:off x="838200" y="1578610"/>
            <a:ext cx="10515600" cy="4598670"/>
          </a:xfrm>
        </p:spPr>
        <p:txBody>
          <a:bodyPr/>
          <a:lstStyle/>
          <a:p>
            <a:r>
              <a:rPr lang="en-US"/>
              <a:t>DevOps, a combination of Development and Operations, has become a crucial aspect of software development in recent years. </a:t>
            </a:r>
          </a:p>
          <a:p>
            <a:r>
              <a:rPr lang="en-US"/>
              <a:t>It focuses on collaboration, communication, and integration between software developers and IT operations teams to ensure a smooth and efficient software delivery process. </a:t>
            </a:r>
          </a:p>
          <a:p>
            <a:r>
              <a:rPr lang="en-US"/>
              <a:t>DevOps is expected to grow substantially in the coming years, with an anticipated annual increase of 25% between 2024 and 2032.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6270"/>
            <a:ext cx="10515600" cy="5541010"/>
          </a:xfrm>
        </p:spPr>
        <p:txBody>
          <a:bodyPr>
            <a:normAutofit fontScale="90000" lnSpcReduction="10000"/>
          </a:bodyPr>
          <a:lstStyle/>
          <a:p>
            <a:r>
              <a:rPr lang="en-US"/>
              <a:t>Integrating AI and ML into the software development life cycle is a major growth driver. </a:t>
            </a:r>
          </a:p>
          <a:p>
            <a:r>
              <a:rPr lang="en-US"/>
              <a:t>It improves predictive analytics, automated testing, and intelligent monitoring.</a:t>
            </a:r>
          </a:p>
          <a:p>
            <a:r>
              <a:rPr lang="en-US"/>
              <a:t>Enhanced productivity remains a core focus, driven by automation of repetitive tasks and streamlined workflows. </a:t>
            </a:r>
          </a:p>
          <a:p>
            <a:r>
              <a:rPr lang="en-US"/>
              <a:t>The alignment of DevOps with cloud and microservices architectures is set to continue, offering scalability, resilience, and rapid innovation.</a:t>
            </a:r>
          </a:p>
          <a:p>
            <a:r>
              <a:rPr lang="en-US"/>
              <a:t>Quality assurance will be paramount, with rigorous testing and real-time monitoring integrated into DevOps workflows. </a:t>
            </a:r>
          </a:p>
          <a:p>
            <a:r>
              <a:rPr lang="en-US"/>
              <a:t>Security will advance with access controls, encryption, and AI-driven enhancements in version control systems. </a:t>
            </a:r>
          </a:p>
          <a:p>
            <a:r>
              <a:rPr lang="en-US"/>
              <a:t>To be successful ,DevOps must balance the speed of technology adoption with robust security and quality practices.</a:t>
            </a:r>
          </a:p>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8470"/>
            <a:ext cx="10515600" cy="5718810"/>
          </a:xfrm>
        </p:spPr>
        <p:txBody>
          <a:bodyPr/>
          <a:lstStyle/>
          <a:p>
            <a:r>
              <a:rPr lang="en-US"/>
              <a:t>DevOps is ascending in the digital landscape with wide-scale adoption across industries.</a:t>
            </a:r>
          </a:p>
          <a:p>
            <a:r>
              <a:rPr lang="en-US"/>
              <a:t>Reports suggest the DevOps market will reach USD 66 billion within a decade.</a:t>
            </a:r>
          </a:p>
          <a:p>
            <a:r>
              <a:rPr lang="en-US"/>
              <a:t>2024 trends see DevOps accommodating technologies like IaC, multi-cloud, AI/ML, and more</a:t>
            </a:r>
          </a:p>
          <a:p>
            <a:r>
              <a:rPr lang="en-US"/>
              <a:t>In its security-cognizant version, DevSecOps, DevOps is also making amendments to include security measures within the CI/CD pipelines.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2135"/>
          </a:xfrm>
        </p:spPr>
        <p:txBody>
          <a:bodyPr>
            <a:normAutofit fontScale="90000"/>
          </a:bodyPr>
          <a:lstStyle/>
          <a:p>
            <a:r>
              <a:rPr lang="en-US"/>
              <a:t>Market analysis </a:t>
            </a:r>
          </a:p>
        </p:txBody>
      </p:sp>
      <p:pic>
        <p:nvPicPr>
          <p:cNvPr id="4" name="Picture 3" descr="Screenshot 2024-10-17 at 8.22.50 PM"/>
          <p:cNvPicPr>
            <a:picLocks noChangeAspect="1"/>
          </p:cNvPicPr>
          <p:nvPr/>
        </p:nvPicPr>
        <p:blipFill>
          <a:blip r:embed="rId2"/>
          <a:stretch>
            <a:fillRect/>
          </a:stretch>
        </p:blipFill>
        <p:spPr>
          <a:xfrm>
            <a:off x="2096770" y="937260"/>
            <a:ext cx="8599805" cy="58197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4050"/>
          </a:xfrm>
        </p:spPr>
        <p:txBody>
          <a:bodyPr>
            <a:normAutofit fontScale="90000"/>
          </a:bodyPr>
          <a:lstStyle/>
          <a:p>
            <a:r>
              <a:rPr lang="en-US"/>
              <a:t>Devops Market Trends</a:t>
            </a:r>
          </a:p>
        </p:txBody>
      </p:sp>
      <p:sp>
        <p:nvSpPr>
          <p:cNvPr id="3" name="Content Placeholder 2"/>
          <p:cNvSpPr>
            <a:spLocks noGrp="1"/>
          </p:cNvSpPr>
          <p:nvPr>
            <p:ph idx="1"/>
          </p:nvPr>
        </p:nvSpPr>
        <p:spPr>
          <a:xfrm>
            <a:off x="838200" y="1390650"/>
            <a:ext cx="10515600" cy="4786630"/>
          </a:xfrm>
        </p:spPr>
        <p:txBody>
          <a:bodyPr>
            <a:normAutofit lnSpcReduction="10000"/>
          </a:bodyPr>
          <a:lstStyle/>
          <a:p>
            <a:pPr marL="0" indent="0">
              <a:buNone/>
            </a:pPr>
            <a:r>
              <a:rPr lang="en-US"/>
              <a:t>1. Infrastructure as Code (IaC)</a:t>
            </a:r>
          </a:p>
          <a:p>
            <a:pPr marL="0" indent="0">
              <a:buNone/>
            </a:pPr>
            <a:r>
              <a:rPr lang="en-US"/>
              <a:t>2. Cloud Adoption for DevOps</a:t>
            </a:r>
          </a:p>
          <a:p>
            <a:pPr marL="0" indent="0">
              <a:buNone/>
            </a:pPr>
            <a:r>
              <a:rPr lang="en-US"/>
              <a:t>3. DevSecOps</a:t>
            </a:r>
          </a:p>
          <a:p>
            <a:pPr marL="0" indent="0">
              <a:buNone/>
            </a:pPr>
            <a:r>
              <a:rPr lang="en-US"/>
              <a:t>4. Multi-Cloud Strategies</a:t>
            </a:r>
          </a:p>
          <a:p>
            <a:pPr marL="0" indent="0">
              <a:buNone/>
            </a:pPr>
            <a:r>
              <a:rPr lang="en-US"/>
              <a:t>5. Artificial Intelligence</a:t>
            </a:r>
          </a:p>
          <a:p>
            <a:pPr marL="0" indent="0">
              <a:buNone/>
            </a:pPr>
            <a:r>
              <a:rPr lang="en-US"/>
              <a:t>6. Kubernetes</a:t>
            </a:r>
          </a:p>
          <a:p>
            <a:pPr marL="0" indent="0">
              <a:buNone/>
            </a:pPr>
            <a:r>
              <a:rPr lang="en-US"/>
              <a:t>7. Agile Practices</a:t>
            </a:r>
          </a:p>
          <a:p>
            <a:pPr marL="0" indent="0">
              <a:buNone/>
            </a:pPr>
            <a:r>
              <a:rPr lang="en-US"/>
              <a:t>8. Serverless Architecture</a:t>
            </a:r>
          </a:p>
          <a:p>
            <a:pPr marL="0" indent="0">
              <a:buNone/>
            </a:pPr>
            <a:r>
              <a:rPr lang="en-US"/>
              <a:t>9. Legacy Systems</a:t>
            </a:r>
          </a:p>
          <a:p>
            <a:pPr marL="0" indent="0">
              <a:buNone/>
            </a:pPr>
            <a:r>
              <a:rPr lang="en-US"/>
              <a:t>10.  Implementation of ML in DevOps</a:t>
            </a:r>
          </a:p>
          <a:p>
            <a:pPr marL="0" indent="0">
              <a:buNone/>
            </a:pP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0070"/>
          </a:xfrm>
        </p:spPr>
        <p:txBody>
          <a:bodyPr>
            <a:normAutofit fontScale="90000"/>
          </a:bodyPr>
          <a:lstStyle/>
          <a:p>
            <a:br>
              <a:rPr lang="en-US"/>
            </a:br>
            <a:r>
              <a:rPr lang="en-US"/>
              <a:t>1. Infrastructure as Code (IaC)</a:t>
            </a:r>
          </a:p>
        </p:txBody>
      </p:sp>
      <p:sp>
        <p:nvSpPr>
          <p:cNvPr id="3" name="Content Placeholder 2"/>
          <p:cNvSpPr>
            <a:spLocks noGrp="1"/>
          </p:cNvSpPr>
          <p:nvPr>
            <p:ph idx="1"/>
          </p:nvPr>
        </p:nvSpPr>
        <p:spPr>
          <a:xfrm>
            <a:off x="838200" y="1354455"/>
            <a:ext cx="10515600" cy="4822825"/>
          </a:xfrm>
        </p:spPr>
        <p:txBody>
          <a:bodyPr/>
          <a:lstStyle/>
          <a:p>
            <a:r>
              <a:rPr lang="en-US"/>
              <a:t>Infrastructure as code is more than automation and has become essential in DevOps. </a:t>
            </a:r>
          </a:p>
          <a:p>
            <a:r>
              <a:rPr lang="en-US"/>
              <a:t>IaC takes infrastructure including servers, networks, and storage devices (on-premises or in the cloud), and it is a means to manage IT infrastructure through configuration files. </a:t>
            </a:r>
          </a:p>
          <a:p>
            <a:r>
              <a:rPr lang="en-US"/>
              <a:t>Some of the key benefits of IaC include full speed while setting up a complete infrastructure by running a script, consistency in deploying the same configurations, accountability, traceability, and high efficiency during the entire software development cycle.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4050"/>
          </a:xfrm>
        </p:spPr>
        <p:txBody>
          <a:bodyPr>
            <a:normAutofit fontScale="90000"/>
          </a:bodyPr>
          <a:lstStyle/>
          <a:p>
            <a:r>
              <a:rPr lang="en-US">
                <a:sym typeface="+mn-ea"/>
              </a:rPr>
              <a:t>2. Cloud Adoption for DevOps</a:t>
            </a:r>
            <a:br>
              <a:rPr lang="en-US"/>
            </a:br>
            <a:endParaRPr lang="en-US"/>
          </a:p>
        </p:txBody>
      </p:sp>
      <p:sp>
        <p:nvSpPr>
          <p:cNvPr id="3" name="Content Placeholder 2"/>
          <p:cNvSpPr>
            <a:spLocks noGrp="1"/>
          </p:cNvSpPr>
          <p:nvPr>
            <p:ph idx="1"/>
          </p:nvPr>
        </p:nvSpPr>
        <p:spPr>
          <a:xfrm>
            <a:off x="838200" y="1019175"/>
            <a:ext cx="10515600" cy="5158105"/>
          </a:xfrm>
        </p:spPr>
        <p:txBody>
          <a:bodyPr>
            <a:normAutofit fontScale="97500" lnSpcReduction="10000"/>
          </a:bodyPr>
          <a:lstStyle/>
          <a:p>
            <a:r>
              <a:rPr lang="en-US"/>
              <a:t>As per the report, cloud-based deployment held a 65.2% share of its market presence in 2023. </a:t>
            </a:r>
          </a:p>
          <a:p>
            <a:r>
              <a:rPr lang="en-US"/>
              <a:t>This indicates a cloud adoption trend that is affecting the DevOp strategies in 2024 and beyond. With on-demand resource scaling, flexibility with tool integration, and cost-effective resource management, the cloud offers great advantages for DevOps.</a:t>
            </a:r>
          </a:p>
          <a:p>
            <a:r>
              <a:rPr lang="en-US"/>
              <a:t>With comprehensive cloud strategies, the DevOps team can also ensure adherence to agile processes while offering unhindered support for technologies like AI/ML, IoT, SaaS, and more. </a:t>
            </a:r>
          </a:p>
          <a:p>
            <a:r>
              <a:rPr lang="en-US"/>
              <a:t>This means that DevOps teams need to be more proactive in their cloud roadmap for better efficiency.</a:t>
            </a:r>
          </a:p>
          <a:p>
            <a:r>
              <a:rPr lang="en-US"/>
              <a:t>Cloud-native technology use in DevOps increased by 30% over the past year.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9125"/>
          </a:xfrm>
        </p:spPr>
        <p:txBody>
          <a:bodyPr>
            <a:normAutofit fontScale="90000"/>
          </a:bodyPr>
          <a:lstStyle/>
          <a:p>
            <a:r>
              <a:rPr lang="en-US">
                <a:sym typeface="+mn-ea"/>
              </a:rPr>
              <a:t>3. DevSecOps</a:t>
            </a:r>
            <a:br>
              <a:rPr lang="en-US"/>
            </a:br>
            <a:endParaRPr lang="en-US"/>
          </a:p>
        </p:txBody>
      </p:sp>
      <p:sp>
        <p:nvSpPr>
          <p:cNvPr id="3" name="Content Placeholder 2"/>
          <p:cNvSpPr>
            <a:spLocks noGrp="1"/>
          </p:cNvSpPr>
          <p:nvPr>
            <p:ph idx="1"/>
          </p:nvPr>
        </p:nvSpPr>
        <p:spPr>
          <a:xfrm>
            <a:off x="838200" y="984885"/>
            <a:ext cx="10515600" cy="5192395"/>
          </a:xfrm>
        </p:spPr>
        <p:txBody>
          <a:bodyPr>
            <a:normAutofit fontScale="85000" lnSpcReduction="10000"/>
          </a:bodyPr>
          <a:lstStyle/>
          <a:p>
            <a:r>
              <a:rPr lang="en-US"/>
              <a:t>The report also shows a growing appeal for DevSecOps as security concerns rise in 2024. </a:t>
            </a:r>
          </a:p>
          <a:p>
            <a:r>
              <a:rPr lang="en-US"/>
              <a:t>One of the prime reasons for adopting DevOps was its security benefits. </a:t>
            </a:r>
          </a:p>
          <a:p>
            <a:r>
              <a:rPr lang="en-US"/>
              <a:t>However, with attacks like ransomware, DDoS, and data breaches affecting businesses across industries, CISOs readily embrace the DevSecOps model for its “security first” approach. </a:t>
            </a:r>
          </a:p>
          <a:p>
            <a:r>
              <a:rPr lang="en-US"/>
              <a:t>While there are DevSecOps that integrates security and compliance testing into the development pipelines.</a:t>
            </a:r>
          </a:p>
          <a:p>
            <a:r>
              <a:rPr lang="en-US"/>
              <a:t>It provides swiftness in speed and agility in security mechanisms, prompts responses towards change, and leads to quick detection of vulnerabilities and bugs in code. </a:t>
            </a:r>
          </a:p>
          <a:p>
            <a:r>
              <a:rPr lang="en-US"/>
              <a:t>Despite a lot of ongoing myths around DevSecOps, CISOs are focusing on its security benefits for their modern organizations in 2024.</a:t>
            </a:r>
          </a:p>
          <a:p>
            <a:r>
              <a:rPr lang="en-US"/>
              <a:t>DevOps teams dedicate 54% of their time to observability, monitoring, and security.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48665"/>
          </a:xfrm>
        </p:spPr>
        <p:txBody>
          <a:bodyPr>
            <a:normAutofit fontScale="90000"/>
          </a:bodyPr>
          <a:lstStyle/>
          <a:p>
            <a:r>
              <a:rPr lang="en-US">
                <a:sym typeface="+mn-ea"/>
              </a:rPr>
              <a:t>4. Multi-Cloud Strategies</a:t>
            </a:r>
            <a:br>
              <a:rPr lang="en-US"/>
            </a:br>
            <a:endParaRPr lang="en-US"/>
          </a:p>
        </p:txBody>
      </p:sp>
      <p:sp>
        <p:nvSpPr>
          <p:cNvPr id="3" name="Content Placeholder 2"/>
          <p:cNvSpPr>
            <a:spLocks noGrp="1"/>
          </p:cNvSpPr>
          <p:nvPr>
            <p:ph idx="1"/>
          </p:nvPr>
        </p:nvSpPr>
        <p:spPr>
          <a:xfrm>
            <a:off x="838200" y="1000760"/>
            <a:ext cx="10515600" cy="5176520"/>
          </a:xfrm>
        </p:spPr>
        <p:txBody>
          <a:bodyPr>
            <a:normAutofit lnSpcReduction="10000"/>
          </a:bodyPr>
          <a:lstStyle/>
          <a:p>
            <a:r>
              <a:rPr lang="en-US"/>
              <a:t>Among the many cloud considerations in DevOps, the primary has to be multi-cloud. </a:t>
            </a:r>
          </a:p>
          <a:p>
            <a:r>
              <a:rPr lang="en-US"/>
              <a:t>There is intense competition among the leading cloud providers—AWS, Azure, and Google Cloud. </a:t>
            </a:r>
          </a:p>
          <a:p>
            <a:r>
              <a:rPr lang="en-US"/>
              <a:t>However, the appeal of AWS comes with concerns about vendor lock-in. </a:t>
            </a:r>
          </a:p>
          <a:p>
            <a:r>
              <a:rPr lang="en-US"/>
              <a:t>Therefore, efforts from Azure and GCP to offer multi-cloud capabilities are being seen as a positive step by many businesses.</a:t>
            </a:r>
          </a:p>
          <a:p>
            <a:r>
              <a:rPr lang="en-US"/>
              <a:t>This means that DevOps 2024 is also welcoming multi-cloud strategies for agility and cost-optimization.</a:t>
            </a:r>
          </a:p>
          <a:p>
            <a:r>
              <a:rPr lang="en-US"/>
              <a:t>Most use public clouds for DevOps, with many also adopting hybrid and multi-cloud strategies.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1630"/>
            <a:ext cx="10515600" cy="618490"/>
          </a:xfrm>
        </p:spPr>
        <p:txBody>
          <a:bodyPr>
            <a:normAutofit fontScale="90000"/>
          </a:bodyPr>
          <a:lstStyle/>
          <a:p>
            <a:r>
              <a:rPr lang="en-US">
                <a:sym typeface="+mn-ea"/>
              </a:rPr>
              <a:t>5. Artificial Intelligence</a:t>
            </a:r>
            <a:br>
              <a:rPr lang="en-US"/>
            </a:br>
            <a:endParaRPr lang="en-US"/>
          </a:p>
        </p:txBody>
      </p:sp>
      <p:sp>
        <p:nvSpPr>
          <p:cNvPr id="3" name="Content Placeholder 2"/>
          <p:cNvSpPr>
            <a:spLocks noGrp="1"/>
          </p:cNvSpPr>
          <p:nvPr>
            <p:ph idx="1"/>
          </p:nvPr>
        </p:nvSpPr>
        <p:spPr>
          <a:xfrm>
            <a:off x="838200" y="960120"/>
            <a:ext cx="10515600" cy="5217160"/>
          </a:xfrm>
        </p:spPr>
        <p:txBody>
          <a:bodyPr>
            <a:normAutofit fontScale="92500"/>
          </a:bodyPr>
          <a:lstStyle/>
          <a:p>
            <a:r>
              <a:rPr lang="en-US"/>
              <a:t>The DevOps team can use AI and ML to facilitate their workflow. </a:t>
            </a:r>
          </a:p>
          <a:p>
            <a:r>
              <a:rPr lang="en-US"/>
              <a:t>Businesses are already making a move to AIOps to optimize the DevOps environment for AI adoption. </a:t>
            </a:r>
          </a:p>
          <a:p>
            <a:r>
              <a:rPr lang="en-US"/>
              <a:t>Handling and managing big data is a cumbersome task that requires an AI-driven approach in DevOps. </a:t>
            </a:r>
          </a:p>
          <a:p>
            <a:r>
              <a:rPr lang="en-US"/>
              <a:t>AI has now become a valuable tool that predominantly helps in the decision-making process in DevOps.</a:t>
            </a:r>
          </a:p>
          <a:p>
            <a:r>
              <a:rPr lang="en-US"/>
              <a:t>AI can assist DevOps through data accessibility has always been a significant concern. </a:t>
            </a:r>
          </a:p>
          <a:p>
            <a:r>
              <a:rPr lang="en-US"/>
              <a:t>AI provides data seamlessly to the DevOps team as and when required in no time.</a:t>
            </a:r>
          </a:p>
          <a:p>
            <a:r>
              <a:rPr lang="en-US"/>
              <a:t>Adoption of DevOps automation tools like Jenkins and Ansible went up by 25%.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7235"/>
          </a:xfrm>
        </p:spPr>
        <p:txBody>
          <a:bodyPr>
            <a:normAutofit fontScale="90000"/>
          </a:bodyPr>
          <a:lstStyle/>
          <a:p>
            <a:r>
              <a:rPr lang="en-US">
                <a:sym typeface="+mn-ea"/>
              </a:rPr>
              <a:t>6. Kubernetes</a:t>
            </a:r>
            <a:br>
              <a:rPr lang="en-US"/>
            </a:br>
            <a:endParaRPr lang="en-US"/>
          </a:p>
        </p:txBody>
      </p:sp>
      <p:sp>
        <p:nvSpPr>
          <p:cNvPr id="3" name="Content Placeholder 2"/>
          <p:cNvSpPr>
            <a:spLocks noGrp="1"/>
          </p:cNvSpPr>
          <p:nvPr>
            <p:ph idx="1"/>
          </p:nvPr>
        </p:nvSpPr>
        <p:spPr>
          <a:xfrm>
            <a:off x="838200" y="1000760"/>
            <a:ext cx="10515600" cy="5176520"/>
          </a:xfrm>
        </p:spPr>
        <p:txBody>
          <a:bodyPr>
            <a:normAutofit/>
          </a:bodyPr>
          <a:lstStyle/>
          <a:p>
            <a:r>
              <a:rPr lang="en-US"/>
              <a:t>With Kubernetes, the developers can easily share different software and applications with the IT operations team in real-time. </a:t>
            </a:r>
          </a:p>
          <a:p>
            <a:r>
              <a:rPr lang="en-US"/>
              <a:t>The primary reason for bugs and errors is the difference in the IT environment or infrastructure. </a:t>
            </a:r>
          </a:p>
          <a:p>
            <a:r>
              <a:rPr lang="en-US"/>
              <a:t>Kubernetes helps in combating that hindrance and promotes collaboration and effectiveness between both teams.</a:t>
            </a:r>
          </a:p>
          <a:p>
            <a:r>
              <a:rPr lang="en-US"/>
              <a:t>Kubernetes is helping boost DevOps efficiency by improving development and accommodating features like continuous testing for faster time to market.</a:t>
            </a:r>
          </a:p>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1190"/>
          </a:xfrm>
        </p:spPr>
        <p:txBody>
          <a:bodyPr>
            <a:normAutofit fontScale="90000"/>
          </a:bodyPr>
          <a:lstStyle/>
          <a:p>
            <a:r>
              <a:rPr lang="en-US">
                <a:sym typeface="+mn-ea"/>
              </a:rPr>
              <a:t>7. Agile Practices</a:t>
            </a:r>
            <a:br>
              <a:rPr lang="en-US"/>
            </a:br>
            <a:endParaRPr lang="en-US"/>
          </a:p>
        </p:txBody>
      </p:sp>
      <p:sp>
        <p:nvSpPr>
          <p:cNvPr id="3" name="Content Placeholder 2"/>
          <p:cNvSpPr>
            <a:spLocks noGrp="1"/>
          </p:cNvSpPr>
          <p:nvPr>
            <p:ph idx="1"/>
          </p:nvPr>
        </p:nvSpPr>
        <p:spPr>
          <a:xfrm>
            <a:off x="838200" y="1130935"/>
            <a:ext cx="10515600" cy="5046345"/>
          </a:xfrm>
        </p:spPr>
        <p:txBody>
          <a:bodyPr/>
          <a:lstStyle/>
          <a:p>
            <a:r>
              <a:rPr lang="en-US"/>
              <a:t>The survey conducted by Atlassian suggests positive sentiment for DevOps by 99% of businesses. </a:t>
            </a:r>
          </a:p>
          <a:p>
            <a:r>
              <a:rPr lang="en-US"/>
              <a:t>This can be seen in correlation with businesses' emphasis on agile methodologies. </a:t>
            </a:r>
          </a:p>
          <a:p>
            <a:r>
              <a:rPr lang="en-US"/>
              <a:t>In other words, 2024 continues to witness a symbiotic relationship between DevOps and agile practices.</a:t>
            </a:r>
          </a:p>
          <a:p>
            <a:r>
              <a:rPr lang="en-US"/>
              <a:t>Deployment frequency increased by 30% over traditional methods, reflecting higher agility.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3915"/>
          </a:xfrm>
        </p:spPr>
        <p:txBody>
          <a:bodyPr>
            <a:normAutofit fontScale="90000"/>
          </a:bodyPr>
          <a:lstStyle/>
          <a:p>
            <a:r>
              <a:rPr lang="en-US">
                <a:sym typeface="+mn-ea"/>
              </a:rPr>
              <a:t>8. Serverless Architecture</a:t>
            </a:r>
            <a:br>
              <a:rPr lang="en-US"/>
            </a:br>
            <a:endParaRPr lang="en-US"/>
          </a:p>
        </p:txBody>
      </p:sp>
      <p:sp>
        <p:nvSpPr>
          <p:cNvPr id="3" name="Content Placeholder 2"/>
          <p:cNvSpPr>
            <a:spLocks noGrp="1"/>
          </p:cNvSpPr>
          <p:nvPr>
            <p:ph idx="1"/>
          </p:nvPr>
        </p:nvSpPr>
        <p:spPr>
          <a:xfrm>
            <a:off x="838200" y="1071880"/>
            <a:ext cx="10515600" cy="5105400"/>
          </a:xfrm>
        </p:spPr>
        <p:txBody>
          <a:bodyPr>
            <a:normAutofit/>
          </a:bodyPr>
          <a:lstStyle/>
          <a:p>
            <a:r>
              <a:rPr lang="en-US"/>
              <a:t>The Agile DevOps team helps organizations when they are on the verge of migrating from traditional IT structure to Serverless Architecture, especially in the initial phases when IT support is of utmost need. </a:t>
            </a:r>
          </a:p>
          <a:p>
            <a:r>
              <a:rPr lang="en-US"/>
              <a:t>After the migration gets done to the serverless platform, the DevOps team is left with minimal maintenance work.</a:t>
            </a:r>
          </a:p>
          <a:p>
            <a:r>
              <a:rPr lang="en-US"/>
              <a:t>DevOps is the only successful way to complete the migration process. </a:t>
            </a:r>
          </a:p>
          <a:p>
            <a:r>
              <a:rPr lang="en-US"/>
              <a:t>The duo goes hand in hand with similar objectives and complements each other on various fronts.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4225"/>
          </a:xfrm>
        </p:spPr>
        <p:txBody>
          <a:bodyPr>
            <a:normAutofit fontScale="90000"/>
          </a:bodyPr>
          <a:lstStyle/>
          <a:p>
            <a:r>
              <a:rPr lang="en-US">
                <a:sym typeface="+mn-ea"/>
              </a:rPr>
              <a:t>9. Legacy Systems</a:t>
            </a:r>
            <a:br>
              <a:rPr lang="en-US"/>
            </a:br>
            <a:endParaRPr lang="en-US"/>
          </a:p>
        </p:txBody>
      </p:sp>
      <p:sp>
        <p:nvSpPr>
          <p:cNvPr id="3" name="Content Placeholder 2"/>
          <p:cNvSpPr>
            <a:spLocks noGrp="1"/>
          </p:cNvSpPr>
          <p:nvPr>
            <p:ph idx="1"/>
          </p:nvPr>
        </p:nvSpPr>
        <p:spPr>
          <a:xfrm>
            <a:off x="838200" y="1149985"/>
            <a:ext cx="10515600" cy="5027295"/>
          </a:xfrm>
        </p:spPr>
        <p:txBody>
          <a:bodyPr/>
          <a:lstStyle/>
          <a:p>
            <a:r>
              <a:rPr lang="en-US"/>
              <a:t>Legacy systems and infrastructures are still being modernized owing to the integration and security challenges that arise during DevOps implementation. </a:t>
            </a:r>
          </a:p>
          <a:p>
            <a:r>
              <a:rPr lang="en-US"/>
              <a:t>In 2024, with the acceptance for new technologies and innovations and the advent of DevSecOps, businesses are being more aggressively modernized for DevOps.</a:t>
            </a:r>
          </a:p>
          <a:p>
            <a:r>
              <a:rPr lang="en-US"/>
              <a:t>This modernization is also being done to fulfill compliance requirements as companies plan to expand.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07720"/>
          </a:xfrm>
        </p:spPr>
        <p:txBody>
          <a:bodyPr>
            <a:normAutofit fontScale="90000"/>
          </a:bodyPr>
          <a:lstStyle/>
          <a:p>
            <a:r>
              <a:rPr lang="en-US">
                <a:sym typeface="+mn-ea"/>
              </a:rPr>
              <a:t>10.  Implementation of ML in DevOps</a:t>
            </a:r>
            <a:br>
              <a:rPr lang="en-US"/>
            </a:br>
            <a:endParaRPr lang="en-US"/>
          </a:p>
        </p:txBody>
      </p:sp>
      <p:sp>
        <p:nvSpPr>
          <p:cNvPr id="3" name="Content Placeholder 2"/>
          <p:cNvSpPr>
            <a:spLocks noGrp="1"/>
          </p:cNvSpPr>
          <p:nvPr>
            <p:ph idx="1"/>
          </p:nvPr>
        </p:nvSpPr>
        <p:spPr>
          <a:xfrm>
            <a:off x="838200" y="1259840"/>
            <a:ext cx="10515600" cy="4917440"/>
          </a:xfrm>
        </p:spPr>
        <p:txBody>
          <a:bodyPr/>
          <a:lstStyle/>
          <a:p>
            <a:r>
              <a:rPr lang="en-US"/>
              <a:t>We already talked about AI, but machine learning too is finding its own space in DevOps. </a:t>
            </a:r>
          </a:p>
          <a:p>
            <a:r>
              <a:rPr lang="en-US"/>
              <a:t>The challenges in deploying and managing ML models are being met by MLOps. </a:t>
            </a:r>
          </a:p>
          <a:p>
            <a:r>
              <a:rPr lang="en-US"/>
              <a:t>Extending DevOps for ML models, MLOps is ensuring that the CI/CD benefits are accommodative of model training, monitoring, and governance. </a:t>
            </a:r>
          </a:p>
          <a:p>
            <a:r>
              <a:rPr lang="en-US"/>
              <a:t>Therefore, DevOps 2024 will see more integration with MLOps frameworks.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4995"/>
          </a:xfrm>
        </p:spPr>
        <p:txBody>
          <a:bodyPr>
            <a:normAutofit fontScale="90000"/>
          </a:bodyPr>
          <a:lstStyle/>
          <a:p>
            <a:r>
              <a:rPr lang="en-US"/>
              <a:t>Devops Engineer Skills </a:t>
            </a:r>
          </a:p>
        </p:txBody>
      </p:sp>
      <p:pic>
        <p:nvPicPr>
          <p:cNvPr id="4" name="Picture 3" descr="Screenshot 2024-10-17 at 8.42.30 PM"/>
          <p:cNvPicPr>
            <a:picLocks noChangeAspect="1"/>
          </p:cNvPicPr>
          <p:nvPr/>
        </p:nvPicPr>
        <p:blipFill>
          <a:blip r:embed="rId2"/>
          <a:stretch>
            <a:fillRect/>
          </a:stretch>
        </p:blipFill>
        <p:spPr>
          <a:xfrm>
            <a:off x="1525270" y="1308100"/>
            <a:ext cx="8458200" cy="538416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5020"/>
          </a:xfrm>
        </p:spPr>
        <p:txBody>
          <a:bodyPr>
            <a:normAutofit fontScale="90000"/>
          </a:bodyPr>
          <a:lstStyle/>
          <a:p>
            <a:r>
              <a:rPr lang="en-US">
                <a:sym typeface="+mn-ea"/>
              </a:rPr>
              <a:t>DevOps Delivery Pipeline</a:t>
            </a:r>
            <a:br>
              <a:rPr lang="en-US"/>
            </a:br>
            <a:endParaRPr lang="en-US"/>
          </a:p>
        </p:txBody>
      </p:sp>
      <p:sp>
        <p:nvSpPr>
          <p:cNvPr id="3" name="Content Placeholder 2"/>
          <p:cNvSpPr>
            <a:spLocks noGrp="1"/>
          </p:cNvSpPr>
          <p:nvPr>
            <p:ph idx="1"/>
          </p:nvPr>
        </p:nvSpPr>
        <p:spPr>
          <a:xfrm>
            <a:off x="838200" y="1160145"/>
            <a:ext cx="10515600" cy="5017135"/>
          </a:xfrm>
        </p:spPr>
        <p:txBody>
          <a:bodyPr/>
          <a:lstStyle/>
          <a:p>
            <a:r>
              <a:rPr lang="en-US"/>
              <a:t>A DevOps pipeline is a set of automated processes and tools that allows developers and operations professionals to collaborate on building and deploying code to a production environment.</a:t>
            </a:r>
          </a:p>
          <a:p>
            <a:r>
              <a:rPr lang="en-US"/>
              <a:t>It is a series of automated steps that all the code changes go through from development to production. </a:t>
            </a:r>
          </a:p>
          <a:p>
            <a:r>
              <a:rPr lang="en-US"/>
              <a:t>This pipeline consists of a series of interconnected stages, each performing a specific task.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 name="Google Shape;92;p14" descr="https://www.red-gate.com/simple-talk/wp-content/uploads/2019/07/word-image-46.png"/>
          <p:cNvPicPr preferRelativeResize="0"/>
          <p:nvPr/>
        </p:nvPicPr>
        <p:blipFill rotWithShape="1">
          <a:blip r:embed="rId2"/>
          <a:srcRect/>
          <a:stretch>
            <a:fillRect/>
          </a:stretch>
        </p:blipFill>
        <p:spPr>
          <a:xfrm>
            <a:off x="1524000" y="183515"/>
            <a:ext cx="8474710" cy="2496185"/>
          </a:xfrm>
          <a:prstGeom prst="rect">
            <a:avLst/>
          </a:prstGeom>
          <a:noFill/>
          <a:ln>
            <a:noFill/>
          </a:ln>
        </p:spPr>
      </p:pic>
      <p:pic>
        <p:nvPicPr>
          <p:cNvPr id="99" name="Google Shape;99;p15" descr="DevOps and the application delivery pipeline monitoring and feedback"/>
          <p:cNvPicPr preferRelativeResize="0"/>
          <p:nvPr/>
        </p:nvPicPr>
        <p:blipFill rotWithShape="1">
          <a:blip r:embed="rId3"/>
          <a:srcRect/>
          <a:stretch>
            <a:fillRect/>
          </a:stretch>
        </p:blipFill>
        <p:spPr>
          <a:xfrm>
            <a:off x="1524000" y="2941320"/>
            <a:ext cx="8475345" cy="379031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33045"/>
            <a:ext cx="10515600" cy="5944235"/>
          </a:xfrm>
        </p:spPr>
        <p:txBody>
          <a:bodyPr/>
          <a:lstStyle/>
          <a:p>
            <a:r>
              <a:rPr lang="en-US"/>
              <a:t> These stages typically include:</a:t>
            </a:r>
          </a:p>
          <a:p>
            <a:pPr marL="0" indent="0">
              <a:buNone/>
            </a:pPr>
            <a:r>
              <a:rPr lang="en-US"/>
              <a:t>1. Version Control: </a:t>
            </a:r>
          </a:p>
          <a:p>
            <a:pPr lvl="1"/>
            <a:r>
              <a:rPr lang="en-US"/>
              <a:t>DevOps follows the GitOps trend. </a:t>
            </a:r>
          </a:p>
          <a:p>
            <a:pPr lvl="1"/>
            <a:r>
              <a:rPr lang="en-US"/>
              <a:t>It is a special approach within DevOps that focuses on managing infrastructure and application development by storing them in Git repositories. </a:t>
            </a:r>
          </a:p>
          <a:p>
            <a:pPr lvl="1"/>
            <a:r>
              <a:rPr lang="en-US"/>
              <a:t>This makes it easier for everyone to collaborate and reduces errors. </a:t>
            </a:r>
          </a:p>
          <a:p>
            <a:pPr lvl="1"/>
            <a:r>
              <a:rPr lang="en-US"/>
              <a:t>It also enables teams to easily roll back changes to previous versions in case of issues, minimizing recovery time.</a:t>
            </a:r>
          </a:p>
          <a:p>
            <a:pPr marL="0" indent="0">
              <a:buNone/>
            </a:pPr>
            <a:r>
              <a:rPr lang="en-US"/>
              <a:t>2. Continuous Integration (CI):</a:t>
            </a:r>
          </a:p>
          <a:p>
            <a:pPr lvl="1"/>
            <a:r>
              <a:rPr lang="en-US"/>
              <a:t>Whenever a developer commits a set of updated code, it 	triggers a set of automated builds and tests. </a:t>
            </a:r>
          </a:p>
          <a:p>
            <a:pPr lvl="1"/>
            <a:r>
              <a:rPr lang="en-US"/>
              <a:t>This ensures early detection of bugs and prevents 	regressions from breaking the codebase.</a:t>
            </a:r>
          </a:p>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05460"/>
            <a:ext cx="10515600" cy="5671820"/>
          </a:xfrm>
        </p:spPr>
        <p:txBody>
          <a:bodyPr>
            <a:normAutofit/>
          </a:bodyPr>
          <a:lstStyle/>
          <a:p>
            <a:pPr marL="0" indent="0">
              <a:buNone/>
            </a:pPr>
            <a:r>
              <a:rPr lang="en-US"/>
              <a:t>3. Continuous Delivery (CD): </a:t>
            </a:r>
          </a:p>
          <a:p>
            <a:pPr lvl="1"/>
            <a:r>
              <a:rPr lang="en-US"/>
              <a:t>Once code passes CI, it’s automatically packaged and prepped for deployment. </a:t>
            </a:r>
          </a:p>
          <a:p>
            <a:pPr lvl="1"/>
            <a:r>
              <a:rPr lang="en-US"/>
              <a:t>There is minimal manual intervention and it promotes faster release cycles.</a:t>
            </a:r>
          </a:p>
          <a:p>
            <a:pPr marL="0" indent="0">
              <a:buNone/>
            </a:pPr>
            <a:r>
              <a:rPr lang="en-US"/>
              <a:t>4. Continuous Deployment: </a:t>
            </a:r>
          </a:p>
          <a:p>
            <a:pPr lvl="1"/>
            <a:r>
              <a:rPr lang="en-US"/>
              <a:t>The pipeline automates deployment without the need for manual approval. </a:t>
            </a:r>
          </a:p>
          <a:p>
            <a:pPr lvl="1"/>
            <a:r>
              <a:rPr lang="en-US"/>
              <a:t>This reduces the risk of errors associated with manual deployments, plus no time is wasted promoting faster releases.</a:t>
            </a:r>
          </a:p>
          <a:p>
            <a:pPr marL="0" indent="0">
              <a:buNone/>
            </a:pPr>
            <a:r>
              <a:rPr lang="en-US"/>
              <a:t>5. Continuous Operations: </a:t>
            </a:r>
          </a:p>
          <a:p>
            <a:pPr lvl="1"/>
            <a:r>
              <a:rPr lang="en-US"/>
              <a:t>Post-deployment monitoring ensures the application functions as expected. </a:t>
            </a:r>
          </a:p>
          <a:p>
            <a:pPr lvl="1"/>
            <a:r>
              <a:rPr lang="en-US"/>
              <a:t>This includes tracking performance metrics, identifying errors, and facilitating quick rollbacks if necessary.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5115"/>
            <a:ext cx="10515600" cy="5892165"/>
          </a:xfrm>
        </p:spPr>
        <p:txBody>
          <a:bodyPr>
            <a:normAutofit fontScale="47500" lnSpcReduction="10000"/>
          </a:bodyPr>
          <a:lstStyle/>
          <a:p>
            <a:pPr marL="0" indent="0">
              <a:buNone/>
            </a:pPr>
            <a:r>
              <a:rPr lang="en-US" sz="7000"/>
              <a:t>6. Continuous testing :</a:t>
            </a:r>
          </a:p>
          <a:p>
            <a:r>
              <a:rPr lang="en-US" sz="4800"/>
              <a:t>It is a critical component of every DevOps pipeline and one of the primary enablers of continuous feedback.</a:t>
            </a:r>
          </a:p>
          <a:p>
            <a:r>
              <a:rPr lang="en-US" sz="4800"/>
              <a:t>In a DevOps process, changes move continuously from development to testing to deployment, which leads not only to faster releases, but a higher quality product. </a:t>
            </a:r>
          </a:p>
          <a:p>
            <a:r>
              <a:rPr lang="en-US" sz="4800"/>
              <a:t>This means having automated tests throughout your pipeline, including unit tests that run on every build change, smoke tests, functional tests, and end-to-end tests.  </a:t>
            </a:r>
          </a:p>
          <a:p>
            <a:endParaRPr lang="en-US"/>
          </a:p>
          <a:p>
            <a:pPr marL="0" indent="0">
              <a:buNone/>
            </a:pPr>
            <a:r>
              <a:rPr lang="en-US" sz="7000"/>
              <a:t>7. Continuous monitoring </a:t>
            </a:r>
          </a:p>
          <a:p>
            <a:r>
              <a:rPr lang="en-US" sz="4000"/>
              <a:t> </a:t>
            </a:r>
            <a:r>
              <a:rPr lang="en-US" sz="5000"/>
              <a:t>It is another important component of continuous feedback. </a:t>
            </a:r>
          </a:p>
          <a:p>
            <a:r>
              <a:rPr lang="en-US" sz="5000"/>
              <a:t>A DevOps approach entails using continuous monitoring in the staging, testing, and even development environments. </a:t>
            </a:r>
          </a:p>
          <a:p>
            <a:r>
              <a:rPr lang="en-US" sz="5000"/>
              <a:t>It is sometimes useful to monitor pre-production environments for anomalous behavior, but in general this is an approach used to continuously assess the health and performance of applications in production. </a:t>
            </a:r>
          </a:p>
          <a:p>
            <a:endParaRPr lang="en-US" sz="5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 name="Google Shape;106;p16" descr="DevOps release pipeline | Pega Academy"/>
          <p:cNvPicPr preferRelativeResize="0"/>
          <p:nvPr/>
        </p:nvPicPr>
        <p:blipFill rotWithShape="1">
          <a:blip r:embed="rId2"/>
          <a:srcRect/>
          <a:stretch>
            <a:fillRect/>
          </a:stretch>
        </p:blipFill>
        <p:spPr>
          <a:xfrm>
            <a:off x="1416685" y="288290"/>
            <a:ext cx="9531350" cy="3683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66800"/>
          </a:xfrm>
        </p:spPr>
        <p:txBody>
          <a:bodyPr/>
          <a:lstStyle/>
          <a:p>
            <a:r>
              <a:rPr lang="en-US"/>
              <a:t>Benefits of Delivery Pipelines</a:t>
            </a:r>
          </a:p>
        </p:txBody>
      </p:sp>
      <p:sp>
        <p:nvSpPr>
          <p:cNvPr id="3" name="Content Placeholder 2"/>
          <p:cNvSpPr>
            <a:spLocks noGrp="1"/>
          </p:cNvSpPr>
          <p:nvPr>
            <p:ph idx="1"/>
          </p:nvPr>
        </p:nvSpPr>
        <p:spPr>
          <a:xfrm>
            <a:off x="838200" y="1820545"/>
            <a:ext cx="10515600" cy="4356735"/>
          </a:xfrm>
        </p:spPr>
        <p:txBody>
          <a:bodyPr/>
          <a:lstStyle/>
          <a:p>
            <a:pPr marL="0" indent="0">
              <a:buNone/>
            </a:pPr>
            <a:r>
              <a:rPr lang="en-US"/>
              <a:t>1. Increased Speed and Efficiency</a:t>
            </a:r>
          </a:p>
          <a:p>
            <a:pPr marL="0" indent="0">
              <a:buNone/>
            </a:pPr>
            <a:r>
              <a:rPr lang="en-US"/>
              <a:t>2. Improved Quality</a:t>
            </a:r>
          </a:p>
          <a:p>
            <a:pPr marL="0" indent="0">
              <a:buNone/>
            </a:pPr>
            <a:r>
              <a:rPr lang="en-US"/>
              <a:t>3. Enhanced Collaboration</a:t>
            </a:r>
          </a:p>
          <a:p>
            <a:pPr marL="0" indent="0">
              <a:buNone/>
            </a:pPr>
            <a:r>
              <a:rPr lang="en-US"/>
              <a:t>4. Better Resource Management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5945"/>
          </a:xfrm>
        </p:spPr>
        <p:txBody>
          <a:bodyPr>
            <a:normAutofit fontScale="90000"/>
          </a:bodyPr>
          <a:lstStyle/>
          <a:p>
            <a:r>
              <a:rPr lang="en-US"/>
              <a:t>Types of Delivery Pipelines</a:t>
            </a:r>
          </a:p>
        </p:txBody>
      </p:sp>
      <p:sp>
        <p:nvSpPr>
          <p:cNvPr id="3" name="Content Placeholder 2"/>
          <p:cNvSpPr>
            <a:spLocks noGrp="1"/>
          </p:cNvSpPr>
          <p:nvPr>
            <p:ph idx="1"/>
          </p:nvPr>
        </p:nvSpPr>
        <p:spPr>
          <a:xfrm>
            <a:off x="838200" y="1115060"/>
            <a:ext cx="10515600" cy="5062220"/>
          </a:xfrm>
        </p:spPr>
        <p:txBody>
          <a:bodyPr>
            <a:normAutofit/>
          </a:bodyPr>
          <a:lstStyle/>
          <a:p>
            <a:r>
              <a:rPr lang="en-US"/>
              <a:t>There are various delivery pipeline approaches, each catering to specific needs:</a:t>
            </a:r>
          </a:p>
          <a:p>
            <a:pPr marL="0" indent="0">
              <a:buNone/>
            </a:pPr>
            <a:r>
              <a:rPr lang="en-US"/>
              <a:t>1. Continuous Delivery (CD Pipeline)</a:t>
            </a:r>
          </a:p>
          <a:p>
            <a:pPr lvl="1"/>
            <a:r>
              <a:rPr lang="en-US"/>
              <a:t>This is where the code is automatically packaged after it has passed all tests and is prepped for deployment. The developer just needs to approve and deploy the already-prepped package.</a:t>
            </a:r>
          </a:p>
          <a:p>
            <a:pPr marL="0" indent="0">
              <a:buNone/>
            </a:pPr>
            <a:r>
              <a:rPr lang="en-US"/>
              <a:t>2. Continuous Deployment (CD Pipeline with Automatic Production Deployments)</a:t>
            </a:r>
          </a:p>
          <a:p>
            <a:pPr lvl="1"/>
            <a:r>
              <a:rPr lang="en-US"/>
              <a:t>This is an extension of CD. This process eliminates the need for manual approval and schedules automatic deployments. In this case, the code is pushed to production when it has passed all the previous stages in the pipeline.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5285"/>
            <a:ext cx="10515600" cy="5801995"/>
          </a:xfrm>
        </p:spPr>
        <p:txBody>
          <a:bodyPr>
            <a:normAutofit/>
          </a:bodyPr>
          <a:lstStyle/>
          <a:p>
            <a:pPr marL="0" indent="0">
              <a:buNone/>
            </a:pPr>
            <a:r>
              <a:rPr lang="en-US"/>
              <a:t>3. Feature Flag Pipelines</a:t>
            </a:r>
          </a:p>
          <a:p>
            <a:pPr lvl="1"/>
            <a:r>
              <a:rPr lang="en-US"/>
              <a:t>These pipelines allow some control over who gets access to the new features.</a:t>
            </a:r>
          </a:p>
          <a:p>
            <a:pPr lvl="1"/>
            <a:r>
              <a:rPr lang="en-US"/>
              <a:t> Features can be toggled on or off for specific user groups, facilitating A/B testing.</a:t>
            </a:r>
          </a:p>
          <a:p>
            <a:pPr marL="0" indent="0">
              <a:buNone/>
            </a:pPr>
            <a:r>
              <a:rPr lang="en-US"/>
              <a:t>4. GitOps Pipelines</a:t>
            </a:r>
          </a:p>
          <a:p>
            <a:pPr lvl="1"/>
            <a:r>
              <a:rPr lang="en-US"/>
              <a:t>This approach uses Git as the single source of truth. </a:t>
            </a:r>
          </a:p>
          <a:p>
            <a:pPr lvl="1"/>
            <a:r>
              <a:rPr lang="en-US"/>
              <a:t>This means this approach believes the latest update on the Git repository. </a:t>
            </a:r>
          </a:p>
          <a:p>
            <a:pPr lvl="1"/>
            <a:r>
              <a:rPr lang="en-US"/>
              <a:t>It focuses on managing infrastructure and application development stored in the Git repositories. </a:t>
            </a:r>
          </a:p>
          <a:p>
            <a:pPr lvl="1"/>
            <a:r>
              <a:rPr lang="en-US"/>
              <a:t>This makes it easier for everyone to collaborate and reduces errors. All the changes are made through Git commits. This enables teams to easily roll back changes to previous versions in case of issues, minimizing recovery time. The Git repository has the updated infrastructure and application configurations.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 name="Google Shape;113;p17" descr="Devops Pipeline Template"/>
          <p:cNvPicPr preferRelativeResize="0"/>
          <p:nvPr/>
        </p:nvPicPr>
        <p:blipFill rotWithShape="1">
          <a:blip r:embed="rId2"/>
          <a:srcRect t="10107" b="6459"/>
          <a:stretch>
            <a:fillRect/>
          </a:stretch>
        </p:blipFill>
        <p:spPr>
          <a:xfrm>
            <a:off x="1408430" y="474345"/>
            <a:ext cx="9781540" cy="542734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5310"/>
          </a:xfrm>
        </p:spPr>
        <p:txBody>
          <a:bodyPr>
            <a:normAutofit fontScale="90000"/>
          </a:bodyPr>
          <a:lstStyle/>
          <a:p>
            <a:r>
              <a:rPr lang="en-US">
                <a:sym typeface="+mn-ea"/>
              </a:rPr>
              <a:t>DevOps Ecosystem</a:t>
            </a:r>
            <a:br>
              <a:rPr lang="en-US"/>
            </a:br>
            <a:endParaRPr lang="en-US"/>
          </a:p>
        </p:txBody>
      </p:sp>
      <p:pic>
        <p:nvPicPr>
          <p:cNvPr id="4" name="Picture 3" descr="Screenshot 2024-10-17 at 9.10.52 PM"/>
          <p:cNvPicPr>
            <a:picLocks noChangeAspect="1"/>
          </p:cNvPicPr>
          <p:nvPr/>
        </p:nvPicPr>
        <p:blipFill>
          <a:blip r:embed="rId2"/>
          <a:stretch>
            <a:fillRect/>
          </a:stretch>
        </p:blipFill>
        <p:spPr>
          <a:xfrm>
            <a:off x="1243330" y="1066800"/>
            <a:ext cx="9575800" cy="544957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17550"/>
          </a:xfrm>
        </p:spPr>
        <p:txBody>
          <a:bodyPr>
            <a:normAutofit fontScale="90000"/>
          </a:bodyPr>
          <a:lstStyle/>
          <a:p>
            <a:r>
              <a:rPr lang="en-US">
                <a:sym typeface="+mn-ea"/>
              </a:rPr>
              <a:t>Role of a DevOps Engineer</a:t>
            </a:r>
            <a:br>
              <a:rPr lang="en-US"/>
            </a:br>
            <a:endParaRPr lang="en-US"/>
          </a:p>
        </p:txBody>
      </p:sp>
      <p:sp>
        <p:nvSpPr>
          <p:cNvPr id="3" name="Content Placeholder 2"/>
          <p:cNvSpPr>
            <a:spLocks noGrp="1"/>
          </p:cNvSpPr>
          <p:nvPr>
            <p:ph idx="1"/>
          </p:nvPr>
        </p:nvSpPr>
        <p:spPr>
          <a:xfrm>
            <a:off x="838200" y="1083310"/>
            <a:ext cx="10515600" cy="5443220"/>
          </a:xfrm>
        </p:spPr>
        <p:txBody>
          <a:bodyPr>
            <a:normAutofit/>
          </a:bodyPr>
          <a:lstStyle/>
          <a:p>
            <a:r>
              <a:rPr lang="en-US"/>
              <a:t>A DevOps Engineer Expert has an essential role in integrating the project functions and resources across the product life cycle, right from planning, building, testing, and deployment to support. </a:t>
            </a:r>
          </a:p>
          <a:p>
            <a:r>
              <a:rPr lang="en-US"/>
              <a:t>DevOps Engineers are conversant with all the technical as well as IT operations aspects for integrated operations. </a:t>
            </a:r>
          </a:p>
          <a:p>
            <a:r>
              <a:rPr lang="en-US"/>
              <a:t>They are expected to know about the various automation tools which may be required for process automation and testing.</a:t>
            </a:r>
          </a:p>
          <a:p>
            <a:r>
              <a:rPr lang="en-US"/>
              <a:t>A DevOps engineer’s roles and responsibilities are a combination of technical and management roles. </a:t>
            </a:r>
          </a:p>
          <a:p>
            <a:r>
              <a:rPr lang="en-US"/>
              <a:t>It is essential to have excellent communication and coordination skills to successfully integrate various functions in a coordinated manner and deliver the responsibilities to the customer’s satisfaction.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0885"/>
          </a:xfrm>
        </p:spPr>
        <p:txBody>
          <a:bodyPr>
            <a:normAutofit/>
          </a:bodyPr>
          <a:lstStyle/>
          <a:p>
            <a:r>
              <a:rPr lang="en-US" sz="3110"/>
              <a:t>Some of the core responsibilities of DevOps Engineer include –</a:t>
            </a:r>
          </a:p>
        </p:txBody>
      </p:sp>
      <p:sp>
        <p:nvSpPr>
          <p:cNvPr id="3" name="Content Placeholder 2"/>
          <p:cNvSpPr>
            <a:spLocks noGrp="1"/>
          </p:cNvSpPr>
          <p:nvPr>
            <p:ph idx="1"/>
          </p:nvPr>
        </p:nvSpPr>
        <p:spPr>
          <a:xfrm>
            <a:off x="838200" y="1096010"/>
            <a:ext cx="10515600" cy="5327015"/>
          </a:xfrm>
        </p:spPr>
        <p:txBody>
          <a:bodyPr>
            <a:normAutofit fontScale="77500" lnSpcReduction="10000"/>
          </a:bodyPr>
          <a:lstStyle/>
          <a:p>
            <a:endParaRPr lang="en-US"/>
          </a:p>
          <a:p>
            <a:r>
              <a:rPr lang="en-US"/>
              <a:t>Understanding customer requirements and project KPIs(key performance indicator).</a:t>
            </a:r>
          </a:p>
          <a:p>
            <a:r>
              <a:rPr lang="en-US"/>
              <a:t>Implementing various development, testing, automation tools, and IT infrastructure</a:t>
            </a:r>
          </a:p>
          <a:p>
            <a:r>
              <a:rPr lang="en-US"/>
              <a:t>Planning the team structure, activities, and involvement in project management activities.</a:t>
            </a:r>
          </a:p>
          <a:p>
            <a:r>
              <a:rPr lang="en-US"/>
              <a:t>Managing stakeholders and external interfaces</a:t>
            </a:r>
          </a:p>
          <a:p>
            <a:r>
              <a:rPr lang="en-US"/>
              <a:t>Setting up tools and required infrastructure</a:t>
            </a:r>
          </a:p>
          <a:p>
            <a:r>
              <a:rPr lang="en-US"/>
              <a:t>Defining and setting development, test, release, update, and support processes for DevOps operation</a:t>
            </a:r>
          </a:p>
          <a:p>
            <a:r>
              <a:rPr lang="en-US"/>
              <a:t>Have the technical skill to review, verify, and validate the software code developed in the project.</a:t>
            </a:r>
          </a:p>
          <a:p>
            <a:r>
              <a:rPr lang="en-US"/>
              <a:t>Troubleshooting techniques and fixing the code bugs</a:t>
            </a:r>
          </a:p>
          <a:p>
            <a:r>
              <a:rPr lang="en-US"/>
              <a:t>Monitoring the processes during the entire lifecycle for its adherence and updating or creating new processes for improvement and minimizing the wastage</a:t>
            </a:r>
          </a:p>
          <a:p>
            <a:r>
              <a:rPr lang="en-US"/>
              <a:t>Encouraging and building automated processes wherever possible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57530"/>
            <a:ext cx="10515600" cy="5619750"/>
          </a:xfrm>
        </p:spPr>
        <p:txBody>
          <a:bodyPr>
            <a:normAutofit fontScale="97500"/>
          </a:bodyPr>
          <a:lstStyle/>
          <a:p>
            <a:r>
              <a:rPr lang="en-US"/>
              <a:t>Identifying and deploying cybersecurity measures by continuously performing vulnerability assessment and risk management</a:t>
            </a:r>
          </a:p>
          <a:p>
            <a:r>
              <a:rPr lang="en-US"/>
              <a:t>Incidence management and root cause analysis</a:t>
            </a:r>
          </a:p>
          <a:p>
            <a:r>
              <a:rPr lang="en-US"/>
              <a:t>Coordination and communication within the team and with customers</a:t>
            </a:r>
          </a:p>
          <a:p>
            <a:r>
              <a:rPr lang="en-US"/>
              <a:t>Selecting and deploying appropriate CI/CD tools</a:t>
            </a:r>
          </a:p>
          <a:p>
            <a:r>
              <a:rPr lang="en-US"/>
              <a:t>Strive for continuous improvement and build continuous integration, continuous development, and constant deployment pipeline (CI/CD Pipeline)</a:t>
            </a:r>
          </a:p>
          <a:p>
            <a:r>
              <a:rPr lang="en-US"/>
              <a:t>Mentoring and guiding the team members </a:t>
            </a:r>
          </a:p>
          <a:p>
            <a:r>
              <a:rPr lang="en-US"/>
              <a:t>Monitoring and measuring customer experience and KPIs</a:t>
            </a:r>
          </a:p>
          <a:p>
            <a:r>
              <a:rPr lang="en-US"/>
              <a:t>Managing periodic reporting on the progress to the management and the customer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23875"/>
          </a:xfrm>
        </p:spPr>
        <p:txBody>
          <a:bodyPr>
            <a:normAutofit fontScale="90000"/>
          </a:bodyPr>
          <a:lstStyle/>
          <a:p>
            <a:r>
              <a:rPr lang="en-US"/>
              <a:t>Essential Skills for a DevOps Engineer</a:t>
            </a:r>
          </a:p>
        </p:txBody>
      </p:sp>
      <p:sp>
        <p:nvSpPr>
          <p:cNvPr id="3" name="Content Placeholder 2"/>
          <p:cNvSpPr>
            <a:spLocks noGrp="1"/>
          </p:cNvSpPr>
          <p:nvPr>
            <p:ph idx="1"/>
          </p:nvPr>
        </p:nvSpPr>
        <p:spPr>
          <a:xfrm>
            <a:off x="838200" y="1069975"/>
            <a:ext cx="10515600" cy="5107305"/>
          </a:xfrm>
        </p:spPr>
        <p:txBody>
          <a:bodyPr/>
          <a:lstStyle/>
          <a:p>
            <a:r>
              <a:rPr lang="en-US"/>
              <a:t>Pre-requisite skills required for a DevOps Engineer role include:</a:t>
            </a:r>
          </a:p>
          <a:p>
            <a:pPr marL="0" indent="0">
              <a:buNone/>
            </a:pPr>
            <a:endParaRPr lang="en-US"/>
          </a:p>
          <a:p>
            <a:pPr lvl="1"/>
            <a:r>
              <a:rPr lang="en-US"/>
              <a:t>Experience working on Linux based infrastructure</a:t>
            </a:r>
          </a:p>
          <a:p>
            <a:pPr lvl="1"/>
            <a:r>
              <a:rPr lang="en-US"/>
              <a:t>Excellent understanding of Ruby, Python, Perl, and Java</a:t>
            </a:r>
          </a:p>
          <a:p>
            <a:pPr lvl="1"/>
            <a:r>
              <a:rPr lang="en-US"/>
              <a:t>Configuration and managing databases such as MySQL, Mongo</a:t>
            </a:r>
          </a:p>
          <a:p>
            <a:pPr lvl="1"/>
            <a:r>
              <a:rPr lang="en-US"/>
              <a:t>Excellent troubleshooting</a:t>
            </a:r>
          </a:p>
          <a:p>
            <a:pPr lvl="1"/>
            <a:r>
              <a:rPr lang="en-US"/>
              <a:t>Working knowledge of various tools, open-source technologies, and cloud services</a:t>
            </a:r>
          </a:p>
          <a:p>
            <a:pPr lvl="1"/>
            <a:r>
              <a:rPr lang="en-US"/>
              <a:t>Awareness of critical concepts in DevOps and Agile principles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6745"/>
          </a:xfrm>
        </p:spPr>
        <p:txBody>
          <a:bodyPr>
            <a:normAutofit fontScale="90000"/>
          </a:bodyPr>
          <a:lstStyle/>
          <a:p>
            <a:r>
              <a:rPr lang="en-US">
                <a:sym typeface="+mn-ea"/>
              </a:rPr>
              <a:t>Devops Tools: </a:t>
            </a:r>
            <a:br>
              <a:rPr lang="en-US"/>
            </a:br>
            <a:endParaRPr lang="en-US"/>
          </a:p>
        </p:txBody>
      </p:sp>
      <p:pic>
        <p:nvPicPr>
          <p:cNvPr id="5" name="Picture 4" descr="Screenshot 2024-10-17 at 8.42.02 PM"/>
          <p:cNvPicPr>
            <a:picLocks noChangeAspect="1"/>
          </p:cNvPicPr>
          <p:nvPr/>
        </p:nvPicPr>
        <p:blipFill>
          <a:blip r:embed="rId2"/>
          <a:stretch>
            <a:fillRect/>
          </a:stretch>
        </p:blipFill>
        <p:spPr>
          <a:xfrm>
            <a:off x="1098550" y="664845"/>
            <a:ext cx="9308465" cy="607250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9" name="Google Shape;279;p46"/>
          <p:cNvPicPr preferRelativeResize="0">
            <a:picLocks noGrp="1"/>
          </p:cNvPicPr>
          <p:nvPr>
            <p:ph type="body" idx="1"/>
          </p:nvPr>
        </p:nvPicPr>
        <p:blipFill rotWithShape="1">
          <a:blip r:embed="rId2"/>
          <a:srcRect/>
          <a:stretch>
            <a:fillRect/>
          </a:stretch>
        </p:blipFill>
        <p:spPr>
          <a:xfrm>
            <a:off x="1280160" y="173355"/>
            <a:ext cx="9538970" cy="651065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8025"/>
          </a:xfrm>
        </p:spPr>
        <p:txBody>
          <a:bodyPr>
            <a:normAutofit/>
          </a:bodyPr>
          <a:lstStyle/>
          <a:p>
            <a:r>
              <a:rPr lang="en-US"/>
              <a:t>Containers</a:t>
            </a:r>
          </a:p>
        </p:txBody>
      </p:sp>
      <p:sp>
        <p:nvSpPr>
          <p:cNvPr id="3" name="Content Placeholder 2"/>
          <p:cNvSpPr>
            <a:spLocks noGrp="1"/>
          </p:cNvSpPr>
          <p:nvPr>
            <p:ph idx="1"/>
          </p:nvPr>
        </p:nvSpPr>
        <p:spPr>
          <a:xfrm>
            <a:off x="838200" y="1073150"/>
            <a:ext cx="10515600" cy="5558155"/>
          </a:xfrm>
        </p:spPr>
        <p:txBody>
          <a:bodyPr>
            <a:normAutofit fontScale="77500" lnSpcReduction="10000"/>
          </a:bodyPr>
          <a:lstStyle/>
          <a:p>
            <a:r>
              <a:rPr lang="en-US"/>
              <a:t>Containerization is a virtualization technique that packages an application's components into a single, portable unit called a container. This process allows applications to run independently of the host operating system and consistently across different environments. </a:t>
            </a:r>
          </a:p>
          <a:p>
            <a:r>
              <a:rPr lang="en-US"/>
              <a:t>Containerization has become a key part of modern software development, especially for cloud-native applications and microservices architectures. It offers several benefits, including: </a:t>
            </a:r>
          </a:p>
          <a:p>
            <a:endParaRPr lang="en-US"/>
          </a:p>
          <a:p>
            <a:pPr lvl="1"/>
            <a:r>
              <a:rPr lang="en-US"/>
              <a:t>Resource efficiency</a:t>
            </a:r>
          </a:p>
          <a:p>
            <a:pPr lvl="1"/>
            <a:r>
              <a:rPr lang="en-US"/>
              <a:t>Containers only require the resources they need, which prevents resource waste. </a:t>
            </a:r>
          </a:p>
          <a:p>
            <a:pPr lvl="1"/>
            <a:r>
              <a:rPr lang="en-US"/>
              <a:t>Portability</a:t>
            </a:r>
          </a:p>
          <a:p>
            <a:pPr lvl="1"/>
            <a:r>
              <a:rPr lang="en-US"/>
              <a:t>Containers are lightweight and can be easily moved and run in any environment. </a:t>
            </a:r>
          </a:p>
          <a:p>
            <a:pPr lvl="1"/>
            <a:r>
              <a:rPr lang="en-US"/>
              <a:t>Rapid deployment</a:t>
            </a:r>
          </a:p>
          <a:p>
            <a:pPr lvl="1"/>
            <a:r>
              <a:rPr lang="en-US"/>
              <a:t>Containers can be deployed quickly and scaled easily. </a:t>
            </a:r>
          </a:p>
          <a:p>
            <a:pPr lvl="1"/>
            <a:r>
              <a:rPr lang="en-US"/>
              <a:t>Consistency</a:t>
            </a:r>
          </a:p>
          <a:p>
            <a:pPr lvl="1"/>
            <a:r>
              <a:rPr lang="en-US"/>
              <a:t>Containers ensure that applications run consistently, regardless of the underlying infrastructure. </a:t>
            </a:r>
          </a:p>
          <a:p>
            <a:pPr lvl="1"/>
            <a:r>
              <a:rPr lang="en-US"/>
              <a:t>Containerization platforms like Docker and Kubernetes help with creating, managing, and orchestrating containers.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42315"/>
            <a:ext cx="10515600" cy="5434965"/>
          </a:xfrm>
        </p:spPr>
        <p:txBody>
          <a:bodyPr/>
          <a:lstStyle/>
          <a:p>
            <a:r>
              <a:rPr lang="en-US"/>
              <a:t>Containerization is a software deployment process that bundles an application’s code with all the files and libraries it needs to run on any infrastructure. </a:t>
            </a:r>
          </a:p>
          <a:p>
            <a:r>
              <a:rPr lang="en-US"/>
              <a:t>Traditionally, to run any application on your computer, you had to install the version that matched your machine’s operating system. </a:t>
            </a:r>
          </a:p>
          <a:p>
            <a:r>
              <a:rPr lang="en-US"/>
              <a:t>For example, you needed to install the Windows version of a software package on a Windows machine. </a:t>
            </a:r>
          </a:p>
          <a:p>
            <a:r>
              <a:rPr lang="en-US"/>
              <a:t>However, with containerization, you can create a single software package, or container, that runs on all types of devices and operating systems.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22605"/>
          </a:xfrm>
        </p:spPr>
        <p:txBody>
          <a:bodyPr>
            <a:normAutofit fontScale="90000"/>
          </a:bodyPr>
          <a:lstStyle/>
          <a:p>
            <a:r>
              <a:rPr lang="en-US">
                <a:sym typeface="+mn-ea"/>
              </a:rPr>
              <a:t>What are containerization use cases?</a:t>
            </a:r>
            <a:br>
              <a:rPr lang="en-US"/>
            </a:br>
            <a:endParaRPr lang="en-US"/>
          </a:p>
        </p:txBody>
      </p:sp>
      <p:sp>
        <p:nvSpPr>
          <p:cNvPr id="3" name="Content Placeholder 2"/>
          <p:cNvSpPr>
            <a:spLocks noGrp="1"/>
          </p:cNvSpPr>
          <p:nvPr>
            <p:ph idx="1"/>
          </p:nvPr>
        </p:nvSpPr>
        <p:spPr>
          <a:xfrm>
            <a:off x="838200" y="1114425"/>
            <a:ext cx="10515600" cy="5598160"/>
          </a:xfrm>
        </p:spPr>
        <p:txBody>
          <a:bodyPr>
            <a:noAutofit/>
          </a:bodyPr>
          <a:lstStyle/>
          <a:p>
            <a:r>
              <a:rPr lang="en-US" sz="1900">
                <a:latin typeface="Times New Roman Regular" panose="02020603050405020304" charset="0"/>
                <a:cs typeface="Times New Roman Regular" panose="02020603050405020304" charset="0"/>
              </a:rPr>
              <a:t>The following are some use cases of containerization.</a:t>
            </a:r>
          </a:p>
          <a:p>
            <a:pPr marL="0" indent="0">
              <a:buNone/>
            </a:pPr>
            <a:r>
              <a:rPr lang="en-US" sz="1900">
                <a:latin typeface="Times New Roman Regular" panose="02020603050405020304" charset="0"/>
                <a:cs typeface="Times New Roman Regular" panose="02020603050405020304" charset="0"/>
              </a:rPr>
              <a:t>1. Cloud migration</a:t>
            </a:r>
          </a:p>
          <a:p>
            <a:r>
              <a:rPr lang="en-US" sz="1600">
                <a:latin typeface="Times New Roman Regular" panose="02020603050405020304" charset="0"/>
                <a:cs typeface="Times New Roman Regular" panose="02020603050405020304" charset="0"/>
              </a:rPr>
              <a:t>Cloud migration, or the lift-and-shift approach, is a software strategy that involves encapsulating legacy applications in containers and deploying them in a cloud computing environment. Organizations can modernize their applications without rewriting the entire software code.</a:t>
            </a:r>
            <a:endParaRPr lang="en-US" sz="1900">
              <a:latin typeface="Times New Roman Regular" panose="02020603050405020304" charset="0"/>
              <a:cs typeface="Times New Roman Regular" panose="02020603050405020304" charset="0"/>
            </a:endParaRPr>
          </a:p>
          <a:p>
            <a:pPr marL="0" indent="0">
              <a:buNone/>
            </a:pPr>
            <a:r>
              <a:rPr lang="en-US" sz="1900">
                <a:latin typeface="Times New Roman Regular" panose="02020603050405020304" charset="0"/>
                <a:cs typeface="Times New Roman Regular" panose="02020603050405020304" charset="0"/>
              </a:rPr>
              <a:t>2. Adoption of microservice architecture</a:t>
            </a:r>
          </a:p>
          <a:p>
            <a:r>
              <a:rPr lang="en-US" sz="1600">
                <a:latin typeface="Times New Roman Regular" panose="02020603050405020304" charset="0"/>
                <a:cs typeface="Times New Roman Regular" panose="02020603050405020304" charset="0"/>
              </a:rPr>
              <a:t>Organizations seeking to build cloud applications with microservices require containerization technology. </a:t>
            </a:r>
          </a:p>
          <a:p>
            <a:r>
              <a:rPr lang="en-US" sz="1600">
                <a:latin typeface="Times New Roman Regular" panose="02020603050405020304" charset="0"/>
                <a:cs typeface="Times New Roman Regular" panose="02020603050405020304" charset="0"/>
              </a:rPr>
              <a:t>The microservice architecture is a software development approach that uses multiple, interdependent software components to deliver a functional application. </a:t>
            </a:r>
          </a:p>
          <a:p>
            <a:r>
              <a:rPr lang="en-US" sz="1600">
                <a:latin typeface="Times New Roman Regular" panose="02020603050405020304" charset="0"/>
                <a:cs typeface="Times New Roman Regular" panose="02020603050405020304" charset="0"/>
              </a:rPr>
              <a:t>Each microservice has a unique and specific function.</a:t>
            </a:r>
          </a:p>
          <a:p>
            <a:r>
              <a:rPr lang="en-US" sz="1600">
                <a:latin typeface="Times New Roman Regular" panose="02020603050405020304" charset="0"/>
                <a:cs typeface="Times New Roman Regular" panose="02020603050405020304" charset="0"/>
              </a:rPr>
              <a:t> A modern cloud application consists of multiple microservices. For example, a video streaming application might have microservices for data processing, user tracking, billing, and personalization. </a:t>
            </a:r>
          </a:p>
          <a:p>
            <a:r>
              <a:rPr lang="en-US" sz="1600">
                <a:latin typeface="Times New Roman Regular" panose="02020603050405020304" charset="0"/>
                <a:cs typeface="Times New Roman Regular" panose="02020603050405020304" charset="0"/>
              </a:rPr>
              <a:t>Containerization provides the software tool to pack microservices as deployable programs on different platforms.</a:t>
            </a:r>
          </a:p>
          <a:p>
            <a:endParaRPr lang="en-US" sz="1900">
              <a:latin typeface="Times New Roman Regular" panose="02020603050405020304" charset="0"/>
              <a:cs typeface="Times New Roman Regular" panose="02020603050405020304" charset="0"/>
            </a:endParaRPr>
          </a:p>
          <a:p>
            <a:pPr marL="0" indent="0">
              <a:buNone/>
            </a:pPr>
            <a:r>
              <a:rPr lang="en-US" sz="1900">
                <a:latin typeface="Times New Roman Regular" panose="02020603050405020304" charset="0"/>
                <a:cs typeface="Times New Roman Regular" panose="02020603050405020304" charset="0"/>
              </a:rPr>
              <a:t>3. IoT devices</a:t>
            </a:r>
          </a:p>
          <a:p>
            <a:r>
              <a:rPr lang="en-US" sz="1600">
                <a:latin typeface="Times New Roman Regular" panose="02020603050405020304" charset="0"/>
                <a:cs typeface="Times New Roman Regular" panose="02020603050405020304" charset="0"/>
              </a:rPr>
              <a:t>Internet of Things (IoT) devices contain limited computing resources, making manual software updating a complex process. Containerization allows developers to deploy and update applications across IoT devices easily.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2925"/>
            <a:ext cx="10515600" cy="5634355"/>
          </a:xfrm>
        </p:spPr>
        <p:txBody>
          <a:bodyPr/>
          <a:lstStyle/>
          <a:p>
            <a:r>
              <a:rPr lang="en-US"/>
              <a:t>Containerization involves building self-sufficient software packages that perform consistently, regardless of the machines they run on. </a:t>
            </a:r>
          </a:p>
          <a:p>
            <a:r>
              <a:rPr lang="en-US"/>
              <a:t>Software developers create and deploy container images—that is, files that contain the necessary information to run a containerized application. </a:t>
            </a:r>
          </a:p>
          <a:p>
            <a:r>
              <a:rPr lang="en-US"/>
              <a:t>Developers use containerization tools to build container images based on the Open Container Initiative (OCI) image specification. </a:t>
            </a:r>
          </a:p>
          <a:p>
            <a:r>
              <a:rPr lang="en-US"/>
              <a:t>OCI is an open-source group that provides a standardized format for creating container images. </a:t>
            </a:r>
          </a:p>
          <a:p>
            <a:r>
              <a:rPr lang="en-US"/>
              <a:t>Container images are read-only and cannot be altered by the computer system.</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9070"/>
            <a:ext cx="10515600" cy="1045845"/>
          </a:xfrm>
        </p:spPr>
        <p:txBody>
          <a:bodyPr>
            <a:normAutofit/>
          </a:bodyPr>
          <a:lstStyle/>
          <a:p>
            <a:r>
              <a:rPr lang="en-US" sz="2220"/>
              <a:t>Container images are the top layer in a containerized system that consists of the following layers.</a:t>
            </a:r>
          </a:p>
        </p:txBody>
      </p:sp>
      <p:sp>
        <p:nvSpPr>
          <p:cNvPr id="3" name="Content Placeholder 2"/>
          <p:cNvSpPr>
            <a:spLocks noGrp="1"/>
          </p:cNvSpPr>
          <p:nvPr>
            <p:ph idx="1"/>
          </p:nvPr>
        </p:nvSpPr>
        <p:spPr>
          <a:xfrm>
            <a:off x="838200" y="1393825"/>
            <a:ext cx="10515600" cy="4783455"/>
          </a:xfrm>
        </p:spPr>
        <p:txBody>
          <a:bodyPr>
            <a:normAutofit fontScale="47500" lnSpcReduction="10000"/>
          </a:bodyPr>
          <a:lstStyle/>
          <a:p>
            <a:r>
              <a:rPr lang="en-US" sz="5000"/>
              <a:t>Infrastructure</a:t>
            </a:r>
          </a:p>
          <a:p>
            <a:r>
              <a:rPr lang="en-US"/>
              <a:t>Infrastructure is the hardware layer of the container model. It refers to the physical computer or bare-metal server that runs the containerized application. </a:t>
            </a:r>
          </a:p>
          <a:p>
            <a:endParaRPr lang="en-US"/>
          </a:p>
          <a:p>
            <a:r>
              <a:rPr lang="en-US" sz="6000"/>
              <a:t>Operating system</a:t>
            </a:r>
          </a:p>
          <a:p>
            <a:r>
              <a:rPr lang="en-US"/>
              <a:t>The second layer of the containerization architecture is the operating system. Linux is a popular operating system for containerization with on-premise computers. In cloud computing, developers use cloud services such as AWS EC2 to run containerized applications. </a:t>
            </a:r>
          </a:p>
          <a:p>
            <a:endParaRPr lang="en-US"/>
          </a:p>
          <a:p>
            <a:r>
              <a:rPr lang="en-US" sz="4500"/>
              <a:t>Container engine</a:t>
            </a:r>
          </a:p>
          <a:p>
            <a:r>
              <a:rPr lang="en-US"/>
              <a:t>The container engine, or container runtime, is a software program that creates containers based on the container images. It acts as an intermediary agent between the containers and the operating system, providing and managing resources that the application needs. For example, container engines can manage multiple containers on the same operating system by keeping them independent of the underlying infrastructure and each other. </a:t>
            </a:r>
          </a:p>
          <a:p>
            <a:endParaRPr lang="en-US"/>
          </a:p>
          <a:p>
            <a:r>
              <a:rPr lang="en-US" sz="5000"/>
              <a:t>Application and dependencies</a:t>
            </a:r>
          </a:p>
          <a:p>
            <a:r>
              <a:rPr lang="en-US"/>
              <a:t>The topmost layer of the containerization architecture is the application code and the other files it needs to run, such as library dependencies and related configuration files. This layer might also contain a light guest operating system that gets installed over the host operating system.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57910"/>
          </a:xfrm>
        </p:spPr>
        <p:txBody>
          <a:bodyPr>
            <a:normAutofit fontScale="90000"/>
          </a:bodyPr>
          <a:lstStyle/>
          <a:p>
            <a:r>
              <a:rPr lang="en-US">
                <a:sym typeface="+mn-ea"/>
              </a:rPr>
              <a:t>What is container orchestration?</a:t>
            </a:r>
            <a:br>
              <a:rPr lang="en-US"/>
            </a:br>
            <a:endParaRPr lang="en-US"/>
          </a:p>
        </p:txBody>
      </p:sp>
      <p:sp>
        <p:nvSpPr>
          <p:cNvPr id="3" name="Content Placeholder 2"/>
          <p:cNvSpPr>
            <a:spLocks noGrp="1"/>
          </p:cNvSpPr>
          <p:nvPr>
            <p:ph idx="1"/>
          </p:nvPr>
        </p:nvSpPr>
        <p:spPr/>
        <p:txBody>
          <a:bodyPr>
            <a:normAutofit fontScale="87500" lnSpcReduction="10000"/>
          </a:bodyPr>
          <a:lstStyle/>
          <a:p>
            <a:r>
              <a:rPr lang="en-US"/>
              <a:t>Container orchestration is a software technology that allows the automatic management of containers. This is necessary for modern cloud application development because an application might contain thousands of microservices in their respective containers. The large number of containerized microservices makes it impossible for software developers to manage them manually.</a:t>
            </a:r>
          </a:p>
          <a:p>
            <a:endParaRPr lang="en-US"/>
          </a:p>
          <a:p>
            <a:r>
              <a:rPr lang="en-US"/>
              <a:t>Benefits of container orchestration</a:t>
            </a:r>
          </a:p>
          <a:p>
            <a:r>
              <a:rPr lang="en-US"/>
              <a:t>Developers use container orchestration tools to automatically start, stop, and manage containers. Container orchestrators allow developers to scale cloud applications precisely and avoid human errors. For example, you can verify that containers are deployed with adequate resources from the host platform.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69975"/>
          </a:xfrm>
        </p:spPr>
        <p:txBody>
          <a:bodyPr>
            <a:normAutofit fontScale="90000"/>
          </a:bodyPr>
          <a:lstStyle/>
          <a:p>
            <a:r>
              <a:rPr lang="en-US" sz="2220">
                <a:sym typeface="+mn-ea"/>
              </a:rPr>
              <a:t>The following are some examples of popular technologies that developers use for containerization.</a:t>
            </a:r>
            <a:br>
              <a:rPr lang="en-US"/>
            </a:br>
            <a:endParaRPr lang="en-US"/>
          </a:p>
        </p:txBody>
      </p:sp>
      <p:sp>
        <p:nvSpPr>
          <p:cNvPr id="3" name="Content Placeholder 2"/>
          <p:cNvSpPr>
            <a:spLocks noGrp="1"/>
          </p:cNvSpPr>
          <p:nvPr>
            <p:ph idx="1"/>
          </p:nvPr>
        </p:nvSpPr>
        <p:spPr>
          <a:xfrm>
            <a:off x="838200" y="1149985"/>
            <a:ext cx="10515600" cy="5027295"/>
          </a:xfrm>
        </p:spPr>
        <p:txBody>
          <a:bodyPr>
            <a:normAutofit fontScale="57500" lnSpcReduction="10000"/>
          </a:bodyPr>
          <a:lstStyle/>
          <a:p>
            <a:endParaRPr lang="en-US"/>
          </a:p>
          <a:p>
            <a:r>
              <a:rPr lang="en-US" sz="4000"/>
              <a:t>Docker</a:t>
            </a:r>
          </a:p>
          <a:p>
            <a:r>
              <a:rPr lang="en-US"/>
              <a:t>Docker, or Docker Engine, is a popular open-source container runtime that allows software developers to build, deploy, and test containerized applications on various platforms. Docker containers are self-contained packages of applications and related files that are created with the Docker framework.</a:t>
            </a:r>
          </a:p>
          <a:p>
            <a:endParaRPr lang="en-US"/>
          </a:p>
          <a:p>
            <a:r>
              <a:rPr lang="en-US" sz="4000"/>
              <a:t>Linux</a:t>
            </a:r>
          </a:p>
          <a:p>
            <a:r>
              <a:rPr lang="en-US"/>
              <a:t>Linux is an open-source operating system with built-in container technology. Linux containers are self-contained environments that allow multiple Linux-based applications to run on a single host machine. Software developers use Linux containers to deploy applications that write or read large amounts of data. Linux containers do not copy the entire operating system to their virtualized environment. Instead, the containers consist of necessary functionalities allocated in the Linux namespace.  </a:t>
            </a:r>
          </a:p>
          <a:p>
            <a:endParaRPr lang="en-US"/>
          </a:p>
          <a:p>
            <a:r>
              <a:rPr lang="en-US" sz="4000"/>
              <a:t>Kubernetes</a:t>
            </a:r>
          </a:p>
          <a:p>
            <a:r>
              <a:rPr lang="en-US"/>
              <a:t>Kubernetes is a popular open-source container orchestrator that software developers use to deploy, scale, and manage a vast number of microservices. It has a declarative model that makes automating containers easier. The declarative model ensures that Kubernetes takes the appropriate action to fulfil the requirements based on the configuration files.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31900"/>
          </a:xfrm>
        </p:spPr>
        <p:txBody>
          <a:bodyPr>
            <a:normAutofit/>
          </a:bodyPr>
          <a:lstStyle/>
          <a:p>
            <a:r>
              <a:rPr lang="en-US" sz="2220">
                <a:sym typeface="+mn-ea"/>
              </a:rPr>
              <a:t>Containerization compared to virtual machines</a:t>
            </a:r>
            <a:br>
              <a:rPr lang="en-US"/>
            </a:br>
            <a:endParaRPr lang="en-US"/>
          </a:p>
        </p:txBody>
      </p:sp>
      <p:sp>
        <p:nvSpPr>
          <p:cNvPr id="3" name="Content Placeholder 2"/>
          <p:cNvSpPr>
            <a:spLocks noGrp="1"/>
          </p:cNvSpPr>
          <p:nvPr>
            <p:ph idx="1"/>
          </p:nvPr>
        </p:nvSpPr>
        <p:spPr>
          <a:xfrm>
            <a:off x="838200" y="1872615"/>
            <a:ext cx="10515600" cy="4304665"/>
          </a:xfrm>
        </p:spPr>
        <p:txBody>
          <a:bodyPr/>
          <a:lstStyle/>
          <a:p>
            <a:r>
              <a:rPr lang="en-US"/>
              <a:t>Containerization is a similar but improved concept of a VM. Instead of copying the hardware layer, containerization removes the operating system layer from the self-contained environment. This allows the application to run independently from the host operating system. Containerization prevents resource waste because applications are provided with the exact resources they need.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0885"/>
          </a:xfrm>
        </p:spPr>
        <p:txBody>
          <a:bodyPr>
            <a:normAutofit/>
          </a:bodyPr>
          <a:lstStyle/>
          <a:p>
            <a:r>
              <a:rPr lang="en-US"/>
              <a:t>Git </a:t>
            </a:r>
          </a:p>
        </p:txBody>
      </p:sp>
      <p:sp>
        <p:nvSpPr>
          <p:cNvPr id="3" name="Content Placeholder 2"/>
          <p:cNvSpPr>
            <a:spLocks noGrp="1"/>
          </p:cNvSpPr>
          <p:nvPr>
            <p:ph idx="1"/>
          </p:nvPr>
        </p:nvSpPr>
        <p:spPr>
          <a:xfrm>
            <a:off x="838200" y="1256665"/>
            <a:ext cx="10515600" cy="4920615"/>
          </a:xfrm>
        </p:spPr>
        <p:txBody>
          <a:bodyPr>
            <a:normAutofit fontScale="87500" lnSpcReduction="10000"/>
          </a:bodyPr>
          <a:lstStyle/>
          <a:p>
            <a:r>
              <a:rPr lang="en-US"/>
              <a:t>Git remains indispensable in software development and DevOps due to its pivotal role in version control, collaborative coding, and efficient project management.</a:t>
            </a:r>
          </a:p>
          <a:p>
            <a:r>
              <a:rPr lang="en-US"/>
              <a:t>Git empowers developers to collaborate on codebases, effortlessly creating and merging branches for new features and bug fixes. </a:t>
            </a:r>
          </a:p>
          <a:p>
            <a:r>
              <a:rPr lang="en-US"/>
              <a:t>Its distributed nature ensures developers can work seamlessly offline, an increasingly valuable feature in today's remote and distributed work environments. </a:t>
            </a:r>
          </a:p>
          <a:p>
            <a:r>
              <a:rPr lang="en-US"/>
              <a:t>Additionally, Git facilitates the tracking of code modifications, making it easier to identify when and why specific changes were made, a critical aspect of maintaining code quality and security. </a:t>
            </a:r>
          </a:p>
          <a:p>
            <a:r>
              <a:rPr lang="en-US"/>
              <a:t>Software development is essential in driving innovation and advancing progress, and Git maintains its prominent position as the bedrock of efficient, cooperative, and secure coding methodologies.</a:t>
            </a:r>
          </a:p>
          <a:p>
            <a:endParaRPr lang="en-US"/>
          </a:p>
          <a:p>
            <a:endParaRPr lang="en-US"/>
          </a:p>
          <a:p>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78815"/>
          </a:xfrm>
        </p:spPr>
        <p:txBody>
          <a:bodyPr>
            <a:normAutofit fontScale="90000"/>
          </a:bodyPr>
          <a:lstStyle/>
          <a:p>
            <a:r>
              <a:rPr lang="en-US"/>
              <a:t>Docker</a:t>
            </a:r>
          </a:p>
        </p:txBody>
      </p:sp>
      <p:sp>
        <p:nvSpPr>
          <p:cNvPr id="3" name="Content Placeholder 2"/>
          <p:cNvSpPr>
            <a:spLocks noGrp="1"/>
          </p:cNvSpPr>
          <p:nvPr>
            <p:ph idx="1"/>
          </p:nvPr>
        </p:nvSpPr>
        <p:spPr>
          <a:xfrm>
            <a:off x="838200" y="1282700"/>
            <a:ext cx="10515600" cy="4894580"/>
          </a:xfrm>
        </p:spPr>
        <p:txBody>
          <a:bodyPr>
            <a:normAutofit fontScale="90000"/>
          </a:bodyPr>
          <a:lstStyle/>
          <a:p>
            <a:r>
              <a:rPr lang="en-US"/>
              <a:t>Docker is crucial in modern software development and DevOps practices. </a:t>
            </a:r>
          </a:p>
          <a:p>
            <a:r>
              <a:rPr lang="en-US"/>
              <a:t>It can simplify and streamline the management of applications across various environments. </a:t>
            </a:r>
          </a:p>
          <a:p>
            <a:r>
              <a:rPr lang="en-US"/>
              <a:t>Docker containers encapsulate an app and its dependencies, ensuring consistent and reproducible deployments from development to production.</a:t>
            </a:r>
          </a:p>
          <a:p>
            <a:r>
              <a:rPr lang="en-US"/>
              <a:t>This technology enhances portability and scalability, accelerates development cycles, and reduces the "it works on my machine" problem. </a:t>
            </a:r>
          </a:p>
          <a:p>
            <a:r>
              <a:rPr lang="en-US"/>
              <a:t>In a rapidly evolving software landscape, Docker's containerization approach remains crucial for achieving efficient, isolated, and highly flexible application deployment, making it an essential component of DevOps and continuous delivery pipelines.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4-10-29 at 11.39.11 AM"/>
          <p:cNvPicPr>
            <a:picLocks noChangeAspect="1"/>
          </p:cNvPicPr>
          <p:nvPr/>
        </p:nvPicPr>
        <p:blipFill>
          <a:blip r:embed="rId2"/>
          <a:stretch>
            <a:fillRect/>
          </a:stretch>
        </p:blipFill>
        <p:spPr>
          <a:xfrm>
            <a:off x="635" y="1317625"/>
            <a:ext cx="12190730" cy="396621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1520"/>
          </a:xfrm>
        </p:spPr>
        <p:txBody>
          <a:bodyPr>
            <a:normAutofit/>
          </a:bodyPr>
          <a:lstStyle/>
          <a:p>
            <a:r>
              <a:rPr lang="en-US"/>
              <a:t>Why use Docker</a:t>
            </a:r>
          </a:p>
        </p:txBody>
      </p:sp>
      <p:sp>
        <p:nvSpPr>
          <p:cNvPr id="3" name="Content Placeholder 2"/>
          <p:cNvSpPr>
            <a:spLocks noGrp="1"/>
          </p:cNvSpPr>
          <p:nvPr>
            <p:ph idx="1"/>
          </p:nvPr>
        </p:nvSpPr>
        <p:spPr>
          <a:xfrm>
            <a:off x="838200" y="1219835"/>
            <a:ext cx="10515600" cy="4957445"/>
          </a:xfrm>
        </p:spPr>
        <p:txBody>
          <a:bodyPr/>
          <a:lstStyle/>
          <a:p>
            <a:r>
              <a:rPr lang="en-US"/>
              <a:t>Using Docker lets you ship code faster, standardize application operations, seamlessly move code, and save money by improving resource utilization. </a:t>
            </a:r>
          </a:p>
          <a:p>
            <a:r>
              <a:rPr lang="en-US"/>
              <a:t>With Docker, you get a single object that can reliably run anywhere. </a:t>
            </a:r>
          </a:p>
          <a:p>
            <a:r>
              <a:rPr lang="en-US"/>
              <a:t>Docker's simple and straightforward syntax gives you full control. </a:t>
            </a:r>
          </a:p>
          <a:p>
            <a:r>
              <a:rPr lang="en-US"/>
              <a:t>Wide adoption means there's a robust ecosystem of tools and off-the-shelf applications that are ready to use with Docker.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09905"/>
          </a:xfrm>
        </p:spPr>
        <p:txBody>
          <a:bodyPr>
            <a:normAutofit fontScale="90000"/>
          </a:bodyPr>
          <a:lstStyle/>
          <a:p>
            <a:r>
              <a:rPr lang="en-US"/>
              <a:t>When to use Docker</a:t>
            </a:r>
          </a:p>
        </p:txBody>
      </p:sp>
      <p:sp>
        <p:nvSpPr>
          <p:cNvPr id="3" name="Content Placeholder 2"/>
          <p:cNvSpPr>
            <a:spLocks noGrp="1"/>
          </p:cNvSpPr>
          <p:nvPr>
            <p:ph idx="1"/>
          </p:nvPr>
        </p:nvSpPr>
        <p:spPr>
          <a:xfrm>
            <a:off x="838200" y="1137920"/>
            <a:ext cx="10515600" cy="5039360"/>
          </a:xfrm>
        </p:spPr>
        <p:txBody>
          <a:bodyPr/>
          <a:lstStyle/>
          <a:p>
            <a:r>
              <a:rPr lang="en-US"/>
              <a:t>You can use Docker containers as a core building block creating modern applications and platforms. </a:t>
            </a:r>
          </a:p>
          <a:p>
            <a:r>
              <a:rPr lang="en-US"/>
              <a:t>Docker makes it easy to build and run distributed microservices architecures, deploy your code with standardized continuous integration and delivery pipelines, build highly-scalable data processing systems, and create fully-managed platforms for your developers. </a:t>
            </a:r>
          </a:p>
          <a:p>
            <a:r>
              <a:rPr lang="en-US"/>
              <a:t>The recent collaboration between AWS and Docker makes it easier for you to deploy Docker Compose artifacts to Amazon ECS and AWS Fargate.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4-10-29 at 11.42.37 AM"/>
          <p:cNvPicPr>
            <a:picLocks noChangeAspect="1"/>
          </p:cNvPicPr>
          <p:nvPr/>
        </p:nvPicPr>
        <p:blipFill>
          <a:blip r:embed="rId2"/>
          <a:stretch>
            <a:fillRect/>
          </a:stretch>
        </p:blipFill>
        <p:spPr>
          <a:xfrm>
            <a:off x="-635" y="943610"/>
            <a:ext cx="12192635" cy="499364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8660"/>
          </a:xfrm>
        </p:spPr>
        <p:txBody>
          <a:bodyPr>
            <a:normAutofit/>
          </a:bodyPr>
          <a:lstStyle/>
          <a:p>
            <a:r>
              <a:rPr lang="en-US"/>
              <a:t>Run Docker on AWS</a:t>
            </a:r>
          </a:p>
        </p:txBody>
      </p:sp>
      <p:sp>
        <p:nvSpPr>
          <p:cNvPr id="3" name="Content Placeholder 2"/>
          <p:cNvSpPr>
            <a:spLocks noGrp="1"/>
          </p:cNvSpPr>
          <p:nvPr>
            <p:ph idx="1"/>
          </p:nvPr>
        </p:nvSpPr>
        <p:spPr>
          <a:xfrm>
            <a:off x="838200" y="1406525"/>
            <a:ext cx="10515600" cy="5189855"/>
          </a:xfrm>
        </p:spPr>
        <p:txBody>
          <a:bodyPr>
            <a:normAutofit lnSpcReduction="10000"/>
          </a:bodyPr>
          <a:lstStyle/>
          <a:p>
            <a:r>
              <a:rPr lang="en-US" sz="2220"/>
              <a:t>AWS provides support for both Docker open-source and commercial solutions.</a:t>
            </a:r>
          </a:p>
          <a:p>
            <a:r>
              <a:rPr lang="en-US" sz="2220"/>
              <a:t>There are a number of ways to run containers on AWS, including Amazon Elastic Container Service (ECS) is a highly scalable, high performance container management service. Customers can easily deploy their containerized applications from their local Docker environment straight to Amazon ECS. </a:t>
            </a:r>
          </a:p>
          <a:p>
            <a:r>
              <a:rPr lang="en-US" sz="2220"/>
              <a:t>AWS Fargate is a technology for Amazon ECS that lets you run containers in production without deploying or managing infrastructure. Amazon Elastic Container Service for Kubernetes (EKS) makes it easy for you to run Kubernetes on AWS. </a:t>
            </a:r>
          </a:p>
          <a:p>
            <a:r>
              <a:rPr lang="en-US" sz="2220"/>
              <a:t>AWS Fargate is technology for Amazon ECS that lets you run containers without provisioning or managing servers. </a:t>
            </a:r>
          </a:p>
          <a:p>
            <a:r>
              <a:rPr lang="en-US" sz="2220"/>
              <a:t>Amazon Elastic Container Registry (ECR) is a highly available and secure private container repository that makes it easy to store and manage your Docker container images, encrypting and compressing images at rest so they are fast to pull and secure. </a:t>
            </a:r>
          </a:p>
          <a:p>
            <a:r>
              <a:rPr lang="en-US" sz="2220"/>
              <a:t>AWS Batch lets you run highly-scalable batch processing workloads using Docker containers.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4-10-29 at 11.45.45 AM"/>
          <p:cNvPicPr>
            <a:picLocks noChangeAspect="1"/>
          </p:cNvPicPr>
          <p:nvPr/>
        </p:nvPicPr>
        <p:blipFill>
          <a:blip r:embed="rId2"/>
          <a:stretch>
            <a:fillRect/>
          </a:stretch>
        </p:blipFill>
        <p:spPr>
          <a:xfrm>
            <a:off x="0" y="-635"/>
            <a:ext cx="12191365" cy="6858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4" name="Google Shape;244;p38" descr="Docker Container Architecture and Monitoring for Enterprises"/>
          <p:cNvPicPr preferRelativeResize="0"/>
          <p:nvPr/>
        </p:nvPicPr>
        <p:blipFill rotWithShape="1">
          <a:blip r:embed="rId2"/>
          <a:srcRect/>
          <a:stretch>
            <a:fillRect/>
          </a:stretch>
        </p:blipFill>
        <p:spPr>
          <a:xfrm>
            <a:off x="715645" y="544830"/>
            <a:ext cx="10279380" cy="455231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7" name="Google Shape;257;p40" descr="Docker Architecture | How Docker Works? | Edureka"/>
          <p:cNvPicPr preferRelativeResize="0"/>
          <p:nvPr/>
        </p:nvPicPr>
        <p:blipFill rotWithShape="1">
          <a:blip r:embed="rId2"/>
          <a:srcRect/>
          <a:stretch>
            <a:fillRect/>
          </a:stretch>
        </p:blipFill>
        <p:spPr>
          <a:xfrm>
            <a:off x="1233805" y="533400"/>
            <a:ext cx="9648190" cy="583755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0" name="Google Shape;270;p42" descr="virtual-machine-vs-docker."/>
          <p:cNvPicPr preferRelativeResize="0"/>
          <p:nvPr/>
        </p:nvPicPr>
        <p:blipFill rotWithShape="1">
          <a:blip r:embed="rId2"/>
          <a:srcRect b="11865"/>
          <a:stretch>
            <a:fillRect/>
          </a:stretch>
        </p:blipFill>
        <p:spPr>
          <a:xfrm>
            <a:off x="1056005" y="569595"/>
            <a:ext cx="10567670" cy="539369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Link for Docker</a:t>
            </a:r>
          </a:p>
        </p:txBody>
      </p:sp>
      <p:sp>
        <p:nvSpPr>
          <p:cNvPr id="3" name="Content Placeholder 2"/>
          <p:cNvSpPr>
            <a:spLocks noGrp="1"/>
          </p:cNvSpPr>
          <p:nvPr>
            <p:ph idx="1"/>
          </p:nvPr>
        </p:nvSpPr>
        <p:spPr/>
        <p:txBody>
          <a:bodyPr/>
          <a:lstStyle/>
          <a:p>
            <a:endParaRPr lang="en-US"/>
          </a:p>
          <a:p>
            <a:endParaRPr lang="en-US"/>
          </a:p>
          <a:p>
            <a:r>
              <a:rPr lang="en-US"/>
              <a:t>https://aws.amazon.com/getting-started/hands-on/deploy-docker-containers/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3415"/>
          </a:xfrm>
        </p:spPr>
        <p:txBody>
          <a:bodyPr>
            <a:normAutofit fontScale="90000"/>
          </a:bodyPr>
          <a:lstStyle/>
          <a:p>
            <a:r>
              <a:rPr lang="en-US">
                <a:sym typeface="+mn-ea"/>
              </a:rPr>
              <a:t>Selenium</a:t>
            </a:r>
            <a:endParaRPr lang="en-US"/>
          </a:p>
        </p:txBody>
      </p:sp>
      <p:sp>
        <p:nvSpPr>
          <p:cNvPr id="3" name="Content Placeholder 2"/>
          <p:cNvSpPr>
            <a:spLocks noGrp="1"/>
          </p:cNvSpPr>
          <p:nvPr>
            <p:ph idx="1"/>
          </p:nvPr>
        </p:nvSpPr>
        <p:spPr>
          <a:xfrm>
            <a:off x="838200" y="1165225"/>
            <a:ext cx="10515600" cy="5012055"/>
          </a:xfrm>
        </p:spPr>
        <p:txBody>
          <a:bodyPr>
            <a:normAutofit fontScale="95000" lnSpcReduction="10000"/>
          </a:bodyPr>
          <a:lstStyle/>
          <a:p>
            <a:r>
              <a:rPr lang="en-US"/>
              <a:t>It remains a vital tool in software testing and automation due to its enduring relevance in ensuring the quality of web applications. </a:t>
            </a:r>
          </a:p>
          <a:p>
            <a:r>
              <a:rPr lang="en-US"/>
              <a:t>As technology evolves, web applications become increasingly complex, requiring thorough testing across various browsers and platforms.</a:t>
            </a:r>
          </a:p>
          <a:p>
            <a:r>
              <a:rPr lang="en-US"/>
              <a:t>With its robust automation capabilities and extensive browser compatibility, Selenium allows developers and QA teams to automate repetitive testing tasks efficiently, conduct cross-browser testing, and ensure that web applications function flawlessly across diverse environments.</a:t>
            </a:r>
          </a:p>
          <a:p>
            <a:r>
              <a:rPr lang="en-US"/>
              <a:t>Its open-source nature, active community support, and integration with other DevOps tools make Selenium a go-to choice for organizations striving for continuous delivery and the rapid deployment of high-quality software, a cornerstone of modern software development practices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86410"/>
            <a:ext cx="10515600" cy="5690870"/>
          </a:xfrm>
        </p:spPr>
        <p:txBody>
          <a:bodyPr>
            <a:normAutofit lnSpcReduction="10000"/>
          </a:bodyPr>
          <a:lstStyle/>
          <a:p>
            <a:r>
              <a:rPr lang="en-US"/>
              <a:t>Selenium is a popular open-source software testing framework used for automating web applications. </a:t>
            </a:r>
          </a:p>
          <a:p>
            <a:r>
              <a:rPr lang="en-US"/>
              <a:t>It is widely used for functional testing, regression testing, and performance testing. </a:t>
            </a:r>
          </a:p>
          <a:p>
            <a:r>
              <a:rPr lang="en-US"/>
              <a:t>Selenium supports multiple programming languages, including Java, C#, Python, and Ruby, making it accessible to a wide range of developers.</a:t>
            </a:r>
          </a:p>
          <a:p>
            <a:r>
              <a:rPr lang="en-US">
                <a:solidFill>
                  <a:schemeClr val="accent2"/>
                </a:solidFill>
                <a:latin typeface="Comic Sans MS" panose="030F0702030302020204"/>
                <a:ea typeface="Comic Sans MS" panose="030F0702030302020204"/>
                <a:cs typeface="Comic Sans MS" panose="030F0702030302020204"/>
                <a:sym typeface="Comic Sans MS" panose="030F0702030302020204"/>
              </a:rPr>
              <a:t>It was originally developed by Jason Huggins in 2004 as an internal tool at Thought Works. </a:t>
            </a:r>
          </a:p>
          <a:p>
            <a:r>
              <a:rPr lang="en-US">
                <a:solidFill>
                  <a:schemeClr val="tx1"/>
                </a:solidFill>
                <a:latin typeface="Comic Sans MS" panose="030F0702030302020204"/>
                <a:ea typeface="Comic Sans MS" panose="030F0702030302020204"/>
                <a:cs typeface="Comic Sans MS" panose="030F0702030302020204"/>
                <a:sym typeface="Comic Sans MS" panose="030F0702030302020204"/>
              </a:rPr>
              <a:t>Selenium can be easily deployed on platforms such as Windows, Linux, Solaris and Macintosh. </a:t>
            </a:r>
          </a:p>
          <a:p>
            <a:r>
              <a:rPr lang="en-US">
                <a:solidFill>
                  <a:schemeClr val="tx1"/>
                </a:solidFill>
                <a:latin typeface="Comic Sans MS" panose="030F0702030302020204"/>
                <a:ea typeface="Comic Sans MS" panose="030F0702030302020204"/>
                <a:cs typeface="Comic Sans MS" panose="030F0702030302020204"/>
                <a:sym typeface="Comic Sans MS" panose="030F0702030302020204"/>
              </a:rPr>
              <a:t>Moreover, it supports OS (Operating System) for mobile applications like iOS, windows mobile and android.</a:t>
            </a:r>
            <a:endParaRPr lang="en-US" b="0" i="0" u="none">
              <a:solidFill>
                <a:schemeClr val="tx1"/>
              </a:solidFill>
              <a:latin typeface="Comic Sans MS" panose="030F0702030302020204"/>
              <a:ea typeface="Comic Sans MS" panose="030F0702030302020204"/>
              <a:cs typeface="Comic Sans MS" panose="030F0702030302020204"/>
              <a:sym typeface="Comic Sans MS" panose="030F0702030302020204"/>
            </a:endParaRPr>
          </a:p>
          <a:p>
            <a:endParaRPr lang="en-US" b="0" i="0" u="none">
              <a:solidFill>
                <a:schemeClr val="tx1"/>
              </a:solidFill>
              <a:latin typeface="Comic Sans MS" panose="030F0702030302020204"/>
              <a:ea typeface="Comic Sans MS" panose="030F0702030302020204"/>
              <a:cs typeface="Comic Sans MS" panose="030F0702030302020204"/>
              <a:sym typeface="Comic Sans MS" panose="030F0702030302020204"/>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10540"/>
          </a:xfrm>
        </p:spPr>
        <p:txBody>
          <a:bodyPr>
            <a:normAutofit fontScale="90000"/>
          </a:bodyPr>
          <a:lstStyle/>
          <a:p>
            <a:r>
              <a:rPr lang="en-US"/>
              <a:t>Importance of Testing in Selenium</a:t>
            </a:r>
          </a:p>
        </p:txBody>
      </p:sp>
      <p:sp>
        <p:nvSpPr>
          <p:cNvPr id="3" name="Content Placeholder 2"/>
          <p:cNvSpPr>
            <a:spLocks noGrp="1"/>
          </p:cNvSpPr>
          <p:nvPr>
            <p:ph idx="1"/>
          </p:nvPr>
        </p:nvSpPr>
        <p:spPr>
          <a:xfrm>
            <a:off x="838200" y="1103630"/>
            <a:ext cx="10515600" cy="5469255"/>
          </a:xfrm>
        </p:spPr>
        <p:txBody>
          <a:bodyPr>
            <a:normAutofit lnSpcReduction="10000"/>
          </a:bodyPr>
          <a:lstStyle/>
          <a:p>
            <a:r>
              <a:rPr lang="en-US"/>
              <a:t>Manual testing can be time-consuming and prone to human errors. </a:t>
            </a:r>
          </a:p>
          <a:p>
            <a:r>
              <a:rPr lang="en-US"/>
              <a:t>Selenium Automation allows tests to be executed quickly and accurately, reducing the  human errors and ensuring consistent test results.</a:t>
            </a:r>
          </a:p>
          <a:p>
            <a:r>
              <a:rPr lang="en-US"/>
              <a:t>Importance of selenium :</a:t>
            </a:r>
          </a:p>
          <a:p>
            <a:pPr marL="0" indent="0">
              <a:buNone/>
            </a:pPr>
            <a:r>
              <a:rPr lang="en-US" sz="2000"/>
              <a:t>1.  Language Support</a:t>
            </a:r>
          </a:p>
          <a:p>
            <a:pPr marL="0" indent="0">
              <a:buNone/>
            </a:pPr>
            <a:r>
              <a:rPr lang="en-US" sz="2000"/>
              <a:t>2. Browser Support</a:t>
            </a:r>
          </a:p>
          <a:p>
            <a:pPr marL="0" indent="0">
              <a:buNone/>
            </a:pPr>
            <a:r>
              <a:rPr lang="en-US" sz="2000"/>
              <a:t>3. Scalability</a:t>
            </a:r>
          </a:p>
          <a:p>
            <a:pPr marL="0" indent="0">
              <a:buNone/>
            </a:pPr>
            <a:r>
              <a:rPr lang="en-US" sz="2000"/>
              <a:t>4. Reusable Test Scripts</a:t>
            </a:r>
          </a:p>
          <a:p>
            <a:pPr marL="0" indent="0">
              <a:buNone/>
            </a:pPr>
            <a:r>
              <a:rPr lang="en-US" sz="2000"/>
              <a:t>5. Parallel Testing</a:t>
            </a:r>
          </a:p>
          <a:p>
            <a:pPr marL="0" indent="0">
              <a:buNone/>
            </a:pPr>
            <a:r>
              <a:rPr lang="en-US" sz="2000"/>
              <a:t>6. Documentation and Reporting</a:t>
            </a:r>
          </a:p>
          <a:p>
            <a:pPr marL="0" indent="0">
              <a:buNone/>
            </a:pPr>
            <a:r>
              <a:rPr lang="en-US" sz="2000"/>
              <a:t>7. User Experience Testing</a:t>
            </a:r>
          </a:p>
          <a:p>
            <a:pPr marL="0" indent="0">
              <a:buNone/>
            </a:pPr>
            <a:r>
              <a:rPr lang="en-US" sz="2000"/>
              <a:t>8. Continuous Integration and Continuous Deployment (CI/CD)</a:t>
            </a:r>
          </a:p>
          <a:p>
            <a:endParaRPr lang="en-US" sz="20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5465"/>
          </a:xfrm>
        </p:spPr>
        <p:txBody>
          <a:bodyPr>
            <a:normAutofit fontScale="90000"/>
          </a:bodyPr>
          <a:lstStyle/>
          <a:p>
            <a:r>
              <a:rPr lang="en-US"/>
              <a:t>History</a:t>
            </a:r>
          </a:p>
        </p:txBody>
      </p:sp>
      <p:pic>
        <p:nvPicPr>
          <p:cNvPr id="4" name="Picture 3" descr="Screenshot 2024-11-05 at 11.42.44 AM"/>
          <p:cNvPicPr>
            <a:picLocks noChangeAspect="1"/>
          </p:cNvPicPr>
          <p:nvPr/>
        </p:nvPicPr>
        <p:blipFill>
          <a:blip r:embed="rId2"/>
          <a:stretch>
            <a:fillRect/>
          </a:stretch>
        </p:blipFill>
        <p:spPr>
          <a:xfrm>
            <a:off x="1358900" y="1177925"/>
            <a:ext cx="9170670" cy="540004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2305"/>
          </a:xfrm>
        </p:spPr>
        <p:txBody>
          <a:bodyPr>
            <a:normAutofit fontScale="90000"/>
          </a:bodyPr>
          <a:lstStyle/>
          <a:p>
            <a:r>
              <a:rPr lang="en-US"/>
              <a:t>Selenium Components </a:t>
            </a:r>
          </a:p>
        </p:txBody>
      </p:sp>
      <p:pic>
        <p:nvPicPr>
          <p:cNvPr id="4" name="Picture 3" descr="Screenshot 2024-11-05 at 11.43.38 AM"/>
          <p:cNvPicPr>
            <a:picLocks noChangeAspect="1"/>
          </p:cNvPicPr>
          <p:nvPr/>
        </p:nvPicPr>
        <p:blipFill>
          <a:blip r:embed="rId2"/>
          <a:stretch>
            <a:fillRect/>
          </a:stretch>
        </p:blipFill>
        <p:spPr>
          <a:xfrm>
            <a:off x="1958975" y="1599565"/>
            <a:ext cx="8122920" cy="421894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3885"/>
          </a:xfrm>
        </p:spPr>
        <p:txBody>
          <a:bodyPr>
            <a:normAutofit fontScale="90000"/>
          </a:bodyPr>
          <a:lstStyle/>
          <a:p>
            <a:r>
              <a:rPr lang="en-US"/>
              <a:t>Selenium IDE</a:t>
            </a:r>
          </a:p>
        </p:txBody>
      </p:sp>
      <p:sp>
        <p:nvSpPr>
          <p:cNvPr id="3" name="Content Placeholder 2"/>
          <p:cNvSpPr>
            <a:spLocks noGrp="1"/>
          </p:cNvSpPr>
          <p:nvPr>
            <p:ph idx="1"/>
          </p:nvPr>
        </p:nvSpPr>
        <p:spPr>
          <a:xfrm>
            <a:off x="838200" y="1080135"/>
            <a:ext cx="10515600" cy="5097145"/>
          </a:xfrm>
        </p:spPr>
        <p:txBody>
          <a:bodyPr>
            <a:normAutofit fontScale="97500" lnSpcReduction="10000"/>
          </a:bodyPr>
          <a:lstStyle/>
          <a:p>
            <a:r>
              <a:rPr lang="en-US">
                <a:sym typeface="+mn-ea"/>
              </a:rPr>
              <a:t>A GUI-based application with record, edit, and debugging features.</a:t>
            </a:r>
          </a:p>
          <a:p>
            <a:r>
              <a:rPr lang="en-US"/>
              <a:t>Selenium IDE is a Chrome and Firefox plugin. </a:t>
            </a:r>
          </a:p>
          <a:p>
            <a:r>
              <a:rPr lang="en-US"/>
              <a:t>The primary use of a Selenium IDE is to record user interactions such as clicks, selections etc in the browser and plays them back as automated tests . </a:t>
            </a:r>
          </a:p>
          <a:p>
            <a:r>
              <a:rPr lang="en-US"/>
              <a:t>It then generates the test script (of the automated tests) in programming languages like C#, Java, Python, and Ruby and Selenese (Selenium’s own scripting language).</a:t>
            </a:r>
          </a:p>
          <a:p>
            <a:r>
              <a:rPr lang="en-US"/>
              <a:t>Selenium IDE helps in:</a:t>
            </a:r>
          </a:p>
          <a:p>
            <a:r>
              <a:rPr lang="en-US" sz="2220"/>
              <a:t>Creating automated test scripts and validating them at speed</a:t>
            </a:r>
          </a:p>
          <a:p>
            <a:r>
              <a:rPr lang="en-US" sz="2220"/>
              <a:t>Identifying and highlighting errors during the replay of interactions</a:t>
            </a:r>
          </a:p>
          <a:p>
            <a:r>
              <a:rPr lang="en-US" sz="2220"/>
              <a:t>Cross Browser Testing</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0875"/>
          </a:xfrm>
        </p:spPr>
        <p:txBody>
          <a:bodyPr>
            <a:normAutofit fontScale="90000"/>
          </a:bodyPr>
          <a:lstStyle/>
          <a:p>
            <a:r>
              <a:rPr lang="en-US">
                <a:sym typeface="+mn-ea"/>
              </a:rPr>
              <a:t>Selenium RC</a:t>
            </a:r>
            <a:br>
              <a:rPr lang="en-US"/>
            </a:br>
            <a:endParaRPr lang="en-US"/>
          </a:p>
        </p:txBody>
      </p:sp>
      <p:sp>
        <p:nvSpPr>
          <p:cNvPr id="3" name="Content Placeholder 2"/>
          <p:cNvSpPr>
            <a:spLocks noGrp="1"/>
          </p:cNvSpPr>
          <p:nvPr>
            <p:ph idx="1"/>
          </p:nvPr>
        </p:nvSpPr>
        <p:spPr>
          <a:xfrm>
            <a:off x="838200" y="812165"/>
            <a:ext cx="10515600" cy="5365115"/>
          </a:xfrm>
        </p:spPr>
        <p:txBody>
          <a:bodyPr/>
          <a:lstStyle/>
          <a:p>
            <a:r>
              <a:rPr lang="en-US"/>
              <a:t>Selenium RC was built to automate the testing of web applications by simulating user interactions across different browsers and platforms. </a:t>
            </a:r>
          </a:p>
          <a:p>
            <a:r>
              <a:rPr lang="en-US"/>
              <a:t>It provided a way to browser automation remotely and execute test scripts written in various programming languages.</a:t>
            </a:r>
          </a:p>
          <a:p>
            <a:r>
              <a:rPr lang="en-US">
                <a:sym typeface="+mn-ea"/>
              </a:rPr>
              <a:t>Also known as Selenium 1.0, this was one of the first tools in the Selenium suite. </a:t>
            </a:r>
          </a:p>
          <a:p>
            <a:r>
              <a:rPr lang="en-US">
                <a:sym typeface="+mn-ea"/>
              </a:rPr>
              <a:t>It supported multiple programming languages and browsers. </a:t>
            </a:r>
            <a:endParaRPr lang="en-US"/>
          </a:p>
          <a:p>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0275"/>
          </a:xfrm>
        </p:spPr>
        <p:txBody>
          <a:bodyPr/>
          <a:lstStyle/>
          <a:p>
            <a:r>
              <a:rPr lang="en-US"/>
              <a:t>Limitations OF RC</a:t>
            </a:r>
          </a:p>
        </p:txBody>
      </p:sp>
      <p:sp>
        <p:nvSpPr>
          <p:cNvPr id="3" name="Content Placeholder 2"/>
          <p:cNvSpPr>
            <a:spLocks noGrp="1"/>
          </p:cNvSpPr>
          <p:nvPr>
            <p:ph idx="1"/>
          </p:nvPr>
        </p:nvSpPr>
        <p:spPr>
          <a:xfrm>
            <a:off x="838200" y="1487805"/>
            <a:ext cx="10515600" cy="4689475"/>
          </a:xfrm>
        </p:spPr>
        <p:txBody>
          <a:bodyPr>
            <a:normAutofit/>
          </a:bodyPr>
          <a:lstStyle/>
          <a:p>
            <a:r>
              <a:rPr lang="en-US" sz="2220" b="1"/>
              <a:t>Browser Limitations</a:t>
            </a:r>
            <a:r>
              <a:rPr lang="en-US" sz="2220"/>
              <a:t>: Selenium RC had to work with browsers using a JavaScript-based “proxy” mechanism, which introduced potential instability and limitations, especially when working with modern web applications.</a:t>
            </a:r>
          </a:p>
          <a:p>
            <a:r>
              <a:rPr lang="en-US" sz="2220" b="1"/>
              <a:t>Speed and Performance</a:t>
            </a:r>
            <a:r>
              <a:rPr lang="en-US" sz="2220"/>
              <a:t>: The use of a JavaScript proxy added overhead and affected the speed and performance of test execution.</a:t>
            </a:r>
          </a:p>
          <a:p>
            <a:r>
              <a:rPr lang="en-US" sz="2220" b="1"/>
              <a:t>Maintenance and Compatibility</a:t>
            </a:r>
            <a:r>
              <a:rPr lang="en-US" sz="2220"/>
              <a:t>: Selenium RC required separate “drivers” for each browser, making maintenance and compatibility challenging as browsers continued to update and evolve.</a:t>
            </a:r>
          </a:p>
          <a:p>
            <a:r>
              <a:rPr lang="en-US" sz="2220" b="1"/>
              <a:t>Synchronization Issues</a:t>
            </a:r>
            <a:r>
              <a:rPr lang="en-US" sz="2220"/>
              <a:t>: Selenium RC often faced synchronization problems, where test scripts had to wait for the browser to respond before proceeding to the next step.</a:t>
            </a:r>
          </a:p>
          <a:p>
            <a:r>
              <a:rPr lang="en-US" sz="2220" b="1"/>
              <a:t>Complex Setup</a:t>
            </a:r>
            <a:r>
              <a:rPr lang="en-US" sz="2220"/>
              <a:t>: Setting up Selenium RC involved multiple components, which could be complex and difficult to configure correctly.</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8360"/>
          </a:xfrm>
        </p:spPr>
        <p:txBody>
          <a:bodyPr/>
          <a:lstStyle/>
          <a:p>
            <a:r>
              <a:rPr lang="en-US"/>
              <a:t>Selenium WebDriver</a:t>
            </a:r>
          </a:p>
        </p:txBody>
      </p:sp>
      <p:sp>
        <p:nvSpPr>
          <p:cNvPr id="3" name="Content Placeholder 2"/>
          <p:cNvSpPr>
            <a:spLocks noGrp="1"/>
          </p:cNvSpPr>
          <p:nvPr>
            <p:ph idx="1"/>
          </p:nvPr>
        </p:nvSpPr>
        <p:spPr>
          <a:xfrm>
            <a:off x="838200" y="1214120"/>
            <a:ext cx="10515600" cy="4963160"/>
          </a:xfrm>
        </p:spPr>
        <p:txBody>
          <a:bodyPr/>
          <a:lstStyle/>
          <a:p>
            <a:r>
              <a:rPr lang="en-US"/>
              <a:t>Selenium WebDriver is a powerful and enhanced version of Selenium RC which was developed to overcome the limitations of Selenium RC. </a:t>
            </a:r>
          </a:p>
          <a:p>
            <a:r>
              <a:rPr lang="en-US"/>
              <a:t>WebDriver communicates with browsers directly with the help of browser-specific native methods, thereby completely eliminating the need of Selenium RC.</a:t>
            </a:r>
          </a:p>
          <a:p>
            <a:r>
              <a:rPr lang="en-US"/>
              <a:t>WebDriver works closely with Selenium IDE and Selenium Grid resulting in reliable test execution at speed and scale.</a:t>
            </a:r>
          </a:p>
          <a:p>
            <a:r>
              <a:rPr lang="en-US">
                <a:sym typeface="+mn-ea"/>
              </a:rPr>
              <a:t>Also known as Selenium 2.0/3.0, this tool was developed to address some of the restrictions of Selenium RC. It doesn't require a manual method like the Selenium Server. </a:t>
            </a:r>
            <a:endParaRPr lang="en-US"/>
          </a:p>
          <a:p>
            <a:endParaRPr lang="en-US"/>
          </a:p>
          <a:p>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81635"/>
          </a:xfrm>
        </p:spPr>
        <p:txBody>
          <a:bodyPr>
            <a:normAutofit fontScale="90000"/>
          </a:bodyPr>
          <a:lstStyle/>
          <a:p>
            <a:r>
              <a:rPr lang="en-US"/>
              <a:t>Selenium Grid</a:t>
            </a:r>
          </a:p>
        </p:txBody>
      </p:sp>
      <p:sp>
        <p:nvSpPr>
          <p:cNvPr id="3" name="Content Placeholder 2"/>
          <p:cNvSpPr>
            <a:spLocks noGrp="1"/>
          </p:cNvSpPr>
          <p:nvPr>
            <p:ph idx="1"/>
          </p:nvPr>
        </p:nvSpPr>
        <p:spPr>
          <a:xfrm>
            <a:off x="838200" y="1021080"/>
            <a:ext cx="10515600" cy="5156200"/>
          </a:xfrm>
        </p:spPr>
        <p:txBody>
          <a:bodyPr/>
          <a:lstStyle/>
          <a:p>
            <a:r>
              <a:rPr lang="en-US"/>
              <a:t>Selenium Grid is a smart proxy server that allows QAs to run tests in parallel on multiple machines. </a:t>
            </a:r>
          </a:p>
          <a:p>
            <a:r>
              <a:rPr lang="en-US"/>
              <a:t>This is done by routing commands to remote web browser instances, where one server acts as the hub. </a:t>
            </a:r>
          </a:p>
          <a:p>
            <a:r>
              <a:rPr lang="en-US"/>
              <a:t>This hub routes test commands that are in JSON format to multiple registered Grid nodes.</a:t>
            </a:r>
          </a:p>
          <a:p>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Architecture</a:t>
            </a:r>
          </a:p>
        </p:txBody>
      </p:sp>
      <p:pic>
        <p:nvPicPr>
          <p:cNvPr id="183" name="Google Shape;183;p28" descr="Selenium components | Selenium"/>
          <p:cNvPicPr preferRelativeResize="0">
            <a:picLocks noGrp="1" noChangeAspect="1"/>
          </p:cNvPicPr>
          <p:nvPr>
            <p:ph idx="1"/>
          </p:nvPr>
        </p:nvPicPr>
        <p:blipFill rotWithShape="1">
          <a:blip r:embed="rId2"/>
          <a:srcRect/>
          <a:stretch>
            <a:fillRect/>
          </a:stretch>
        </p:blipFill>
        <p:spPr>
          <a:xfrm>
            <a:off x="1339850" y="1825625"/>
            <a:ext cx="9512300" cy="435165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20725"/>
          </a:xfrm>
        </p:spPr>
        <p:txBody>
          <a:bodyPr>
            <a:normAutofit/>
          </a:bodyPr>
          <a:lstStyle/>
          <a:p>
            <a:r>
              <a:rPr lang="en-US"/>
              <a:t>What is Selenium Grid on cloud?</a:t>
            </a:r>
          </a:p>
        </p:txBody>
      </p:sp>
      <p:sp>
        <p:nvSpPr>
          <p:cNvPr id="3" name="Content Placeholder 2"/>
          <p:cNvSpPr>
            <a:spLocks noGrp="1"/>
          </p:cNvSpPr>
          <p:nvPr>
            <p:ph idx="1"/>
          </p:nvPr>
        </p:nvSpPr>
        <p:spPr>
          <a:xfrm>
            <a:off x="838200" y="1336040"/>
            <a:ext cx="10515600" cy="4841240"/>
          </a:xfrm>
        </p:spPr>
        <p:txBody>
          <a:bodyPr>
            <a:normAutofit fontScale="90000"/>
          </a:bodyPr>
          <a:lstStyle/>
          <a:p>
            <a:r>
              <a:rPr lang="en-US"/>
              <a:t>A Selenium Cloud is basically a Selenium Grid configured on cloud servers. The Cloud Selenium Grid connects to a range of browsers and real devices with different operating systems which are configured and made available 24×7 on-demand. This makes it possible for QA teams to automate tests by executing several test scripts simultaneously on multiple device-browser combinations on the cloud using parallel testing.</a:t>
            </a:r>
          </a:p>
          <a:p>
            <a:endParaRPr lang="en-US"/>
          </a:p>
          <a:p>
            <a:r>
              <a:rPr lang="en-US"/>
              <a:t>A Selenium cloud eliminates the overhead of maintaining and updating the physical infrastructure at regular intervals. That means organizations do not have to purchase, maintain, update devices, browsers and operating systems on-site. While maintaining physical devices require a lot of time and effort, buying subscription of a cloud based grid like BrowserStack can be a more feasible solution. </a:t>
            </a:r>
          </a:p>
          <a:p>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70840"/>
          </a:xfrm>
        </p:spPr>
        <p:txBody>
          <a:bodyPr>
            <a:normAutofit fontScale="90000"/>
          </a:bodyPr>
          <a:lstStyle/>
          <a:p>
            <a:r>
              <a:rPr lang="en-US"/>
              <a:t>Limitations of Selenium</a:t>
            </a:r>
          </a:p>
        </p:txBody>
      </p:sp>
      <p:sp>
        <p:nvSpPr>
          <p:cNvPr id="3" name="Content Placeholder 2"/>
          <p:cNvSpPr>
            <a:spLocks noGrp="1"/>
          </p:cNvSpPr>
          <p:nvPr>
            <p:ph idx="1"/>
          </p:nvPr>
        </p:nvSpPr>
        <p:spPr>
          <a:xfrm>
            <a:off x="838200" y="1172845"/>
            <a:ext cx="10515600" cy="5400040"/>
          </a:xfrm>
        </p:spPr>
        <p:txBody>
          <a:bodyPr>
            <a:normAutofit fontScale="67500" lnSpcReduction="10000"/>
          </a:bodyPr>
          <a:lstStyle/>
          <a:p>
            <a:r>
              <a:rPr lang="en-US"/>
              <a:t>Selenium does not support automation testing for desktop applications.</a:t>
            </a:r>
          </a:p>
          <a:p>
            <a:r>
              <a:rPr lang="en-US"/>
              <a:t>Selenium requires high skill sets in order to automate tests more effectively.</a:t>
            </a:r>
          </a:p>
          <a:p>
            <a:r>
              <a:rPr lang="en-US"/>
              <a:t>Since Selenium is open source software, you have to rely on community forums to get your technical issues resolved.</a:t>
            </a:r>
          </a:p>
          <a:p>
            <a:r>
              <a:rPr lang="en-US"/>
              <a:t>We can't perform automation tests on web services like SOAP or REST using Selenium.</a:t>
            </a:r>
          </a:p>
          <a:p>
            <a:r>
              <a:rPr lang="en-US"/>
              <a:t>We should know at least one of the supported programming languages to create tests scripts in Selenium WebDriver.</a:t>
            </a:r>
          </a:p>
          <a:p>
            <a:r>
              <a:rPr lang="en-US"/>
              <a:t>It does not have built-in Object Repository like UTF/QTP to maintain objects/elements in centralized location. However, we can overcome this limitation using Page Object Model.</a:t>
            </a:r>
          </a:p>
          <a:p>
            <a:r>
              <a:rPr lang="en-US"/>
              <a:t>Selenium does not have any inbuilt reportingcapability; you have to rely on plug-ins like JUnit and TestNG for test reports.</a:t>
            </a:r>
          </a:p>
          <a:p>
            <a:r>
              <a:rPr lang="en-US"/>
              <a:t>It is not possible to perform testing on images. We need to integrate Selenium with Sikuli for image based testing.</a:t>
            </a:r>
          </a:p>
          <a:p>
            <a:r>
              <a:rPr lang="en-US"/>
              <a:t>Creating test environment in Selenium takes more time as compared to vendor tools like UFT, RFT, Silk test, etc.</a:t>
            </a:r>
          </a:p>
          <a:p>
            <a:r>
              <a:rPr lang="en-US"/>
              <a:t>No one is responsible for new features usage; they may or may not work properly.</a:t>
            </a:r>
          </a:p>
          <a:p>
            <a:r>
              <a:rPr lang="en-US"/>
              <a:t>Selenium does not provide any test tool integration for Test Management.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98475"/>
          </a:xfrm>
        </p:spPr>
        <p:txBody>
          <a:bodyPr>
            <a:normAutofit fontScale="90000"/>
          </a:bodyPr>
          <a:lstStyle/>
          <a:p>
            <a:r>
              <a:rPr lang="en-US"/>
              <a:t>Jenkins</a:t>
            </a:r>
          </a:p>
        </p:txBody>
      </p:sp>
      <p:sp>
        <p:nvSpPr>
          <p:cNvPr id="3" name="Content Placeholder 2"/>
          <p:cNvSpPr>
            <a:spLocks noGrp="1"/>
          </p:cNvSpPr>
          <p:nvPr>
            <p:ph idx="1"/>
          </p:nvPr>
        </p:nvSpPr>
        <p:spPr>
          <a:xfrm>
            <a:off x="838200" y="1096010"/>
            <a:ext cx="10515600" cy="5081270"/>
          </a:xfrm>
        </p:spPr>
        <p:txBody>
          <a:bodyPr>
            <a:normAutofit lnSpcReduction="10000"/>
          </a:bodyPr>
          <a:lstStyle/>
          <a:p>
            <a:r>
              <a:rPr lang="en-US"/>
              <a:t>Jenkins is used to build and test your product continuously, so developers can continuously integrate changes into the build.</a:t>
            </a:r>
          </a:p>
          <a:p>
            <a:r>
              <a:rPr lang="en-US"/>
              <a:t>Jenkins is the most popular open source CI/CD tool on the market today and is used in support of DevOps, alongside other cloud native tools.</a:t>
            </a:r>
          </a:p>
          <a:p>
            <a:r>
              <a:rPr lang="en-US"/>
              <a:t>Automation, including CI/CD and test automation, is one of the key practices that allow DevOps teams to deliver “faster, better, cheaper” technology solutions.</a:t>
            </a:r>
          </a:p>
          <a:p>
            <a:r>
              <a:rPr lang="en-US"/>
              <a:t>So, Jenkins has become an indispensable tool in helping them achieve those goals. </a:t>
            </a:r>
          </a:p>
          <a:p>
            <a:r>
              <a:rPr lang="en-US"/>
              <a:t>Jenkins has been a key enabling technology that is increasingly helping DevOps practices gain widespread adoption in many organizations around the world.</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4-11-06 at 10.11.31 AM"/>
          <p:cNvPicPr>
            <a:picLocks noChangeAspect="1"/>
          </p:cNvPicPr>
          <p:nvPr/>
        </p:nvPicPr>
        <p:blipFill>
          <a:blip r:embed="rId2"/>
          <a:stretch>
            <a:fillRect/>
          </a:stretch>
        </p:blipFill>
        <p:spPr>
          <a:xfrm>
            <a:off x="1488440" y="1061720"/>
            <a:ext cx="9344025" cy="4512945"/>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61645"/>
            <a:ext cx="10515600" cy="5715635"/>
          </a:xfrm>
        </p:spPr>
        <p:txBody>
          <a:bodyPr>
            <a:normAutofit fontScale="92500"/>
          </a:bodyPr>
          <a:lstStyle/>
          <a:p>
            <a:r>
              <a:rPr lang="en-US"/>
              <a:t>Jenkins is a tool that is used for automation. </a:t>
            </a:r>
          </a:p>
          <a:p>
            <a:r>
              <a:rPr lang="en-US"/>
              <a:t>It is mainly an open-source server that allows all the developers to build, test and deploy software. </a:t>
            </a:r>
          </a:p>
          <a:p>
            <a:r>
              <a:rPr lang="en-US"/>
              <a:t>It is written in Java and runs on java only. </a:t>
            </a:r>
          </a:p>
          <a:p>
            <a:r>
              <a:rPr lang="en-US"/>
              <a:t>By using Jenkins we can make a continuous integration of projects(jobs) or end-to-endpoint automation</a:t>
            </a:r>
          </a:p>
          <a:p>
            <a:r>
              <a:rPr lang="en-US"/>
              <a:t>Jenkins facilitates the automation of several stages of the software development lifecycle, including application development, testing, and deployment.</a:t>
            </a:r>
          </a:p>
          <a:p>
            <a:r>
              <a:rPr lang="en-US">
                <a:sym typeface="+mn-ea"/>
              </a:rPr>
              <a:t>Continuous delivery (CD) and integration (CI) pipelines can be created and managed with Jenkins. </a:t>
            </a:r>
          </a:p>
          <a:p>
            <a:r>
              <a:rPr lang="en-US">
                <a:sym typeface="+mn-ea"/>
              </a:rPr>
              <a:t>The development, testing, and deployment of software applications are automated using CI/CD pipelines. </a:t>
            </a:r>
          </a:p>
          <a:p>
            <a:r>
              <a:rPr lang="en-US">
                <a:sym typeface="+mn-ea"/>
              </a:rPr>
              <a:t>You will be able to release software more regularly and with fewer problems if you do this.</a:t>
            </a:r>
            <a:endParaRPr lang="en-US"/>
          </a:p>
          <a:p>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4345"/>
            <a:ext cx="10515600" cy="5702935"/>
          </a:xfrm>
        </p:spPr>
        <p:txBody>
          <a:bodyPr/>
          <a:lstStyle/>
          <a:p>
            <a:r>
              <a:rPr lang="en-US"/>
              <a:t>jenkins is flexible.</a:t>
            </a:r>
          </a:p>
          <a:p>
            <a:r>
              <a:rPr lang="en-US"/>
              <a:t>You can add the n no.of plugins you want to add to the jenkins.</a:t>
            </a:r>
          </a:p>
          <a:p>
            <a:r>
              <a:rPr lang="en-US"/>
              <a:t>You can automate the proceses of CI/CD pipelines of all the projects.</a:t>
            </a:r>
          </a:p>
          <a:p>
            <a:r>
              <a:rPr lang="en-US"/>
              <a:t>There are over a thousand plugins that you can use to extend Jenkins’ capabilities and make it more user-specific. </a:t>
            </a:r>
          </a:p>
          <a:p>
            <a:r>
              <a:rPr lang="en-US"/>
              <a:t>All of these plugins and extensions are developed in Java. </a:t>
            </a:r>
          </a:p>
          <a:p>
            <a:r>
              <a:rPr lang="en-US"/>
              <a:t>This means that Jenkins can also be installed on any operating system that runs on Java.</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12115"/>
            <a:ext cx="10515600" cy="5765165"/>
          </a:xfrm>
        </p:spPr>
        <p:txBody>
          <a:bodyPr>
            <a:normAutofit/>
          </a:bodyPr>
          <a:lstStyle/>
          <a:p>
            <a:r>
              <a:rPr lang="en-US"/>
              <a:t>Its importance lies in its role as a powerful automation server that enables continuous integration and continuous delivery (CI/CD) pipelines. </a:t>
            </a:r>
          </a:p>
          <a:p>
            <a:r>
              <a:rPr lang="en-US"/>
              <a:t>With the growing complexity of modern applications, the need for efficient CI/CD processes has become even more paramount.</a:t>
            </a:r>
          </a:p>
          <a:p>
            <a:r>
              <a:rPr lang="en-US"/>
              <a:t>Jenkins provides flexibility, extensibility, and a vast library of plugins that cater to a wide range of technologies and tools, making it adaptable to diverse development environments. </a:t>
            </a:r>
          </a:p>
          <a:p>
            <a:r>
              <a:rPr lang="en-US"/>
              <a:t>As organizations prioritize speed, reliability, and collaboration in their software development practices, Jenkins stands as a cornerstone tool, enabling teams to achieve seamless automation and efficient delivery of software solutions.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01370"/>
          </a:xfrm>
        </p:spPr>
        <p:txBody>
          <a:bodyPr/>
          <a:lstStyle/>
          <a:p>
            <a:r>
              <a:rPr lang="en-US"/>
              <a:t>History</a:t>
            </a:r>
          </a:p>
        </p:txBody>
      </p:sp>
      <p:sp>
        <p:nvSpPr>
          <p:cNvPr id="3" name="Content Placeholder 2"/>
          <p:cNvSpPr>
            <a:spLocks noGrp="1"/>
          </p:cNvSpPr>
          <p:nvPr>
            <p:ph idx="1"/>
          </p:nvPr>
        </p:nvSpPr>
        <p:spPr>
          <a:xfrm>
            <a:off x="838200" y="1499870"/>
            <a:ext cx="10515600" cy="4677410"/>
          </a:xfrm>
        </p:spPr>
        <p:txBody>
          <a:bodyPr/>
          <a:lstStyle/>
          <a:p>
            <a:r>
              <a:rPr lang="en-US"/>
              <a:t>Kohsuke Kawaguchi first developed Hudson in 2004 while working at Sun Microsystems. </a:t>
            </a:r>
          </a:p>
          <a:p>
            <a:r>
              <a:rPr lang="en-US"/>
              <a:t>When Oracle acquired Sun Microsystems in 2010, there was a dispute between Oracle and the Hudson community with respect to the infrastructure used. </a:t>
            </a:r>
          </a:p>
          <a:p>
            <a:r>
              <a:rPr lang="en-US"/>
              <a:t>There was a call for votes to change the project name from Hudson to Jenkins, which was overwhelmingly approved by the Hudson community on January 29, 2011, thereby creating the first “Jenkins” project.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935"/>
            <a:ext cx="10515600" cy="5808345"/>
          </a:xfrm>
        </p:spPr>
        <p:txBody>
          <a:bodyPr/>
          <a:lstStyle/>
          <a:p>
            <a:r>
              <a:rPr lang="en-US">
                <a:solidFill>
                  <a:schemeClr val="accent2"/>
                </a:solidFill>
                <a:latin typeface="Comic Sans MS" panose="030F0702030302020204"/>
                <a:ea typeface="Comic Sans MS" panose="030F0702030302020204"/>
                <a:cs typeface="Comic Sans MS" panose="030F0702030302020204"/>
                <a:sym typeface="Comic Sans MS" panose="030F0702030302020204"/>
              </a:rPr>
              <a:t>Organizations may use Jenkins to automate and speed up the software development process. Jenkins incorporates a variety of development life-cycle operations, such as build, document, test, package, stage, deploy, static analysis, and more.</a:t>
            </a:r>
            <a:endParaRPr lang="en-US"/>
          </a:p>
        </p:txBody>
      </p:sp>
      <p:pic>
        <p:nvPicPr>
          <p:cNvPr id="490" name="Google Shape;490;p77" descr="Nightly build vs Continuous Integration - What is Jenkins - Edureka"/>
          <p:cNvPicPr preferRelativeResize="0"/>
          <p:nvPr/>
        </p:nvPicPr>
        <p:blipFill rotWithShape="1">
          <a:blip r:embed="rId2"/>
          <a:srcRect/>
          <a:stretch>
            <a:fillRect/>
          </a:stretch>
        </p:blipFill>
        <p:spPr>
          <a:xfrm>
            <a:off x="1911985" y="2612390"/>
            <a:ext cx="8682990" cy="310007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9" name="Google Shape;509;p80" descr="Jenkins Standalone Architecture - What is Jenkins - Edureka"/>
          <p:cNvPicPr preferRelativeResize="0">
            <a:picLocks noGrp="1" noChangeAspect="1"/>
          </p:cNvPicPr>
          <p:nvPr>
            <p:ph idx="1"/>
          </p:nvPr>
        </p:nvPicPr>
        <p:blipFill rotWithShape="1">
          <a:blip r:embed="rId2"/>
          <a:srcRect t="18449"/>
          <a:stretch>
            <a:fillRect/>
          </a:stretch>
        </p:blipFill>
        <p:spPr>
          <a:xfrm>
            <a:off x="885190" y="241300"/>
            <a:ext cx="11131550" cy="511873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64540"/>
            <a:ext cx="10515600" cy="5412740"/>
          </a:xfrm>
        </p:spPr>
        <p:txBody>
          <a:bodyPr>
            <a:normAutofit fontScale="90000"/>
          </a:bodyPr>
          <a:lstStyle/>
          <a:p>
            <a:pPr marL="342900" marR="0" lvl="0" indent="-342900" algn="l" rtl="0">
              <a:lnSpc>
                <a:spcPct val="100000"/>
              </a:lnSpc>
              <a:spcBef>
                <a:spcPts val="400"/>
              </a:spcBef>
              <a:spcAft>
                <a:spcPts val="0"/>
              </a:spcAft>
              <a:buClr>
                <a:schemeClr val="accent2"/>
              </a:buClr>
              <a:buSzPts val="2000"/>
              <a:buFont typeface="Comic Sans MS" panose="030F0702030302020204"/>
              <a:buChar char="•"/>
            </a:pPr>
            <a:r>
              <a:rPr lang="en-US">
                <a:solidFill>
                  <a:schemeClr val="accent2"/>
                </a:solidFill>
                <a:latin typeface="Comic Sans MS" panose="030F0702030302020204"/>
                <a:ea typeface="Comic Sans MS" panose="030F0702030302020204"/>
                <a:cs typeface="Comic Sans MS" panose="030F0702030302020204"/>
                <a:sym typeface="Comic Sans MS" panose="030F0702030302020204"/>
              </a:rPr>
              <a:t>First, a developer commits the code to the source code repository. Meanwhile, the Jenkins server checks the repository at regular intervals for changes.</a:t>
            </a:r>
            <a:endParaRPr lang="en-US" b="0" i="0" u="none">
              <a:solidFill>
                <a:schemeClr val="accent2"/>
              </a:solidFill>
              <a:latin typeface="Comic Sans MS" panose="030F0702030302020204"/>
              <a:ea typeface="Comic Sans MS" panose="030F0702030302020204"/>
              <a:cs typeface="Comic Sans MS" panose="030F0702030302020204"/>
              <a:sym typeface="Comic Sans MS" panose="030F0702030302020204"/>
            </a:endParaRPr>
          </a:p>
          <a:p>
            <a:pPr marL="342900" marR="0" lvl="0" indent="-342900" algn="l" rtl="0">
              <a:lnSpc>
                <a:spcPct val="100000"/>
              </a:lnSpc>
              <a:spcBef>
                <a:spcPts val="400"/>
              </a:spcBef>
              <a:spcAft>
                <a:spcPts val="0"/>
              </a:spcAft>
              <a:buClr>
                <a:schemeClr val="accent2"/>
              </a:buClr>
              <a:buSzPts val="2000"/>
              <a:buFont typeface="Comic Sans MS" panose="030F0702030302020204"/>
              <a:buChar char="•"/>
            </a:pPr>
            <a:r>
              <a:rPr lang="en-US">
                <a:solidFill>
                  <a:schemeClr val="accent2"/>
                </a:solidFill>
                <a:latin typeface="Comic Sans MS" panose="030F0702030302020204"/>
                <a:ea typeface="Comic Sans MS" panose="030F0702030302020204"/>
                <a:cs typeface="Comic Sans MS" panose="030F0702030302020204"/>
                <a:sym typeface="Comic Sans MS" panose="030F0702030302020204"/>
              </a:rPr>
              <a:t>Soon after a commit occurs, the Jenkins server detects the changes that have occurred in the source code repository. Jenkins will pull those changes and will start preparing a new build.</a:t>
            </a:r>
            <a:endParaRPr lang="en-US" b="0" i="0" u="none">
              <a:solidFill>
                <a:schemeClr val="accent2"/>
              </a:solidFill>
              <a:latin typeface="Comic Sans MS" panose="030F0702030302020204"/>
              <a:ea typeface="Comic Sans MS" panose="030F0702030302020204"/>
              <a:cs typeface="Comic Sans MS" panose="030F0702030302020204"/>
              <a:sym typeface="Comic Sans MS" panose="030F0702030302020204"/>
            </a:endParaRPr>
          </a:p>
          <a:p>
            <a:pPr marL="342900" marR="0" lvl="0" indent="-342900" algn="l" rtl="0">
              <a:lnSpc>
                <a:spcPct val="100000"/>
              </a:lnSpc>
              <a:spcBef>
                <a:spcPts val="400"/>
              </a:spcBef>
              <a:spcAft>
                <a:spcPts val="0"/>
              </a:spcAft>
              <a:buClr>
                <a:schemeClr val="accent2"/>
              </a:buClr>
              <a:buSzPts val="2000"/>
              <a:buFont typeface="Comic Sans MS" panose="030F0702030302020204"/>
              <a:buChar char="•"/>
            </a:pPr>
            <a:r>
              <a:rPr lang="en-US">
                <a:solidFill>
                  <a:schemeClr val="accent2"/>
                </a:solidFill>
                <a:latin typeface="Comic Sans MS" panose="030F0702030302020204"/>
                <a:ea typeface="Comic Sans MS" panose="030F0702030302020204"/>
                <a:cs typeface="Comic Sans MS" panose="030F0702030302020204"/>
                <a:sym typeface="Comic Sans MS" panose="030F0702030302020204"/>
              </a:rPr>
              <a:t>If the build fails, then the concerned team will be notified.</a:t>
            </a:r>
            <a:endParaRPr lang="en-US" b="0" i="0" u="none">
              <a:solidFill>
                <a:schemeClr val="accent2"/>
              </a:solidFill>
              <a:latin typeface="Comic Sans MS" panose="030F0702030302020204"/>
              <a:ea typeface="Comic Sans MS" panose="030F0702030302020204"/>
              <a:cs typeface="Comic Sans MS" panose="030F0702030302020204"/>
              <a:sym typeface="Comic Sans MS" panose="030F0702030302020204"/>
            </a:endParaRPr>
          </a:p>
          <a:p>
            <a:pPr marL="342900" marR="0" lvl="0" indent="-342900" algn="l" rtl="0">
              <a:lnSpc>
                <a:spcPct val="100000"/>
              </a:lnSpc>
              <a:spcBef>
                <a:spcPts val="400"/>
              </a:spcBef>
              <a:spcAft>
                <a:spcPts val="0"/>
              </a:spcAft>
              <a:buClr>
                <a:schemeClr val="accent2"/>
              </a:buClr>
              <a:buSzPts val="2000"/>
              <a:buFont typeface="Comic Sans MS" panose="030F0702030302020204"/>
              <a:buChar char="•"/>
            </a:pPr>
            <a:r>
              <a:rPr lang="en-US">
                <a:solidFill>
                  <a:schemeClr val="accent2"/>
                </a:solidFill>
                <a:latin typeface="Comic Sans MS" panose="030F0702030302020204"/>
                <a:ea typeface="Comic Sans MS" panose="030F0702030302020204"/>
                <a:cs typeface="Comic Sans MS" panose="030F0702030302020204"/>
                <a:sym typeface="Comic Sans MS" panose="030F0702030302020204"/>
              </a:rPr>
              <a:t>If built is successful, then Jenkins deploys the built in the test server.</a:t>
            </a:r>
            <a:endParaRPr lang="en-US" b="0" i="0" u="none">
              <a:solidFill>
                <a:schemeClr val="accent2"/>
              </a:solidFill>
              <a:latin typeface="Comic Sans MS" panose="030F0702030302020204"/>
              <a:ea typeface="Comic Sans MS" panose="030F0702030302020204"/>
              <a:cs typeface="Comic Sans MS" panose="030F0702030302020204"/>
              <a:sym typeface="Comic Sans MS" panose="030F0702030302020204"/>
            </a:endParaRPr>
          </a:p>
          <a:p>
            <a:pPr marL="342900" marR="0" lvl="0" indent="-342900" algn="l" rtl="0">
              <a:lnSpc>
                <a:spcPct val="100000"/>
              </a:lnSpc>
              <a:spcBef>
                <a:spcPts val="400"/>
              </a:spcBef>
              <a:spcAft>
                <a:spcPts val="0"/>
              </a:spcAft>
              <a:buClr>
                <a:schemeClr val="accent2"/>
              </a:buClr>
              <a:buSzPts val="2000"/>
              <a:buFont typeface="Comic Sans MS" panose="030F0702030302020204"/>
              <a:buChar char="•"/>
            </a:pPr>
            <a:r>
              <a:rPr lang="en-US">
                <a:solidFill>
                  <a:schemeClr val="accent2"/>
                </a:solidFill>
                <a:latin typeface="Comic Sans MS" panose="030F0702030302020204"/>
                <a:ea typeface="Comic Sans MS" panose="030F0702030302020204"/>
                <a:cs typeface="Comic Sans MS" panose="030F0702030302020204"/>
                <a:sym typeface="Comic Sans MS" panose="030F0702030302020204"/>
              </a:rPr>
              <a:t>After testing, Jenkins generates a feedback and then notifies the developers about the build and test results.</a:t>
            </a:r>
            <a:endParaRPr lang="en-US" b="0" i="0" u="none">
              <a:solidFill>
                <a:schemeClr val="accent2"/>
              </a:solidFill>
              <a:latin typeface="Comic Sans MS" panose="030F0702030302020204"/>
              <a:ea typeface="Comic Sans MS" panose="030F0702030302020204"/>
              <a:cs typeface="Comic Sans MS" panose="030F0702030302020204"/>
              <a:sym typeface="Comic Sans MS" panose="030F0702030302020204"/>
            </a:endParaRPr>
          </a:p>
          <a:p>
            <a:pPr marL="342900" marR="0" lvl="0" indent="-342900" algn="l" rtl="0">
              <a:lnSpc>
                <a:spcPct val="100000"/>
              </a:lnSpc>
              <a:spcBef>
                <a:spcPts val="400"/>
              </a:spcBef>
              <a:spcAft>
                <a:spcPts val="0"/>
              </a:spcAft>
              <a:buClr>
                <a:schemeClr val="accent2"/>
              </a:buClr>
              <a:buSzPts val="2000"/>
              <a:buFont typeface="Comic Sans MS" panose="030F0702030302020204"/>
              <a:buChar char="•"/>
            </a:pPr>
            <a:r>
              <a:rPr lang="en-US">
                <a:solidFill>
                  <a:schemeClr val="accent2"/>
                </a:solidFill>
                <a:latin typeface="Comic Sans MS" panose="030F0702030302020204"/>
                <a:ea typeface="Comic Sans MS" panose="030F0702030302020204"/>
                <a:cs typeface="Comic Sans MS" panose="030F0702030302020204"/>
                <a:sym typeface="Comic Sans MS" panose="030F0702030302020204"/>
              </a:rPr>
              <a:t>It will continue to check the  source code repository for changes made in the source code and the whole process keeps on repeating.</a:t>
            </a:r>
            <a:endParaRPr lang="en-US" b="0" i="0" u="none">
              <a:solidFill>
                <a:schemeClr val="accent2"/>
              </a:solidFill>
              <a:latin typeface="Comic Sans MS" panose="030F0702030302020204"/>
              <a:ea typeface="Comic Sans MS" panose="030F0702030302020204"/>
              <a:cs typeface="Comic Sans MS" panose="030F0702030302020204"/>
              <a:sym typeface="Comic Sans MS" panose="030F0702030302020204"/>
            </a:endParaRPr>
          </a:p>
          <a:p>
            <a:pPr marL="342900" marR="0" lvl="0" indent="-215900" algn="l" rtl="0">
              <a:spcBef>
                <a:spcPts val="400"/>
              </a:spcBef>
              <a:spcAft>
                <a:spcPts val="0"/>
              </a:spcAft>
              <a:buClr>
                <a:schemeClr val="accent2"/>
              </a:buClr>
              <a:buSzPts val="2000"/>
              <a:buFont typeface="Comic Sans MS" panose="030F0702030302020204"/>
              <a:buNone/>
            </a:pPr>
            <a:endParaRPr b="0" i="0" u="none">
              <a:solidFill>
                <a:schemeClr val="accent2"/>
              </a:solidFill>
              <a:latin typeface="Comic Sans MS" panose="030F0702030302020204"/>
              <a:ea typeface="Comic Sans MS" panose="030F0702030302020204"/>
              <a:cs typeface="Comic Sans MS" panose="030F0702030302020204"/>
              <a:sym typeface="Comic Sans MS" panose="030F0702030302020204"/>
            </a:endParaRPr>
          </a:p>
          <a:p>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6" name="Google Shape;516;p81"/>
          <p:cNvPicPr preferRelativeResize="0">
            <a:picLocks noGrp="1" noChangeAspect="1"/>
          </p:cNvPicPr>
          <p:nvPr>
            <p:ph idx="1"/>
          </p:nvPr>
        </p:nvPicPr>
        <p:blipFill rotWithShape="1">
          <a:blip r:embed="rId2"/>
          <a:srcRect/>
          <a:stretch>
            <a:fillRect/>
          </a:stretch>
        </p:blipFill>
        <p:spPr>
          <a:xfrm>
            <a:off x="1130300" y="778510"/>
            <a:ext cx="9872345" cy="518350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08635"/>
            <a:ext cx="10515600" cy="5668645"/>
          </a:xfrm>
        </p:spPr>
        <p:txBody>
          <a:bodyPr>
            <a:normAutofit fontScale="87500" lnSpcReduction="10000"/>
          </a:bodyPr>
          <a:lstStyle/>
          <a:p>
            <a:r>
              <a:rPr lang="en-US"/>
              <a:t>Here's how Jenkins elements are put together and interact:</a:t>
            </a:r>
          </a:p>
          <a:p>
            <a:endParaRPr lang="en-US"/>
          </a:p>
          <a:p>
            <a:r>
              <a:rPr lang="en-US"/>
              <a:t>Developers commit changes to the source code, found in the repository.</a:t>
            </a:r>
          </a:p>
          <a:p>
            <a:r>
              <a:rPr lang="en-US"/>
              <a:t>The Jenkins CI server checks the repository at regular intervals and pulls any newly available code.</a:t>
            </a:r>
          </a:p>
          <a:p>
            <a:r>
              <a:rPr lang="en-US"/>
              <a:t>The Build Server builds the code into an executable file. In case the build fails, feedback is sent to the developers.</a:t>
            </a:r>
          </a:p>
          <a:p>
            <a:r>
              <a:rPr lang="en-US"/>
              <a:t>Jenkins deploys the build application to the test server. If the test fails, the developers are alerted.</a:t>
            </a:r>
          </a:p>
          <a:p>
            <a:r>
              <a:rPr lang="en-US"/>
              <a:t>If the code is error-free, the tested application is deployed on the production server.</a:t>
            </a:r>
          </a:p>
          <a:p>
            <a:r>
              <a:rPr lang="en-US"/>
              <a:t>The files can contain different code and be very large, requiring multiple builds. However, a single Jenkins server cannot handle multiple files and builds simultaneously; for that, a distributed Jenkins architecture is necessary.</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82"/>
          <p:cNvSpPr txBox="1">
            <a:spLocks noGrp="1"/>
          </p:cNvSpPr>
          <p:nvPr>
            <p:ph type="title"/>
          </p:nvPr>
        </p:nvSpPr>
        <p:spPr>
          <a:xfrm>
            <a:off x="1676400" y="152400"/>
            <a:ext cx="8839200" cy="609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3600"/>
              <a:buFont typeface="Comic Sans MS" panose="030F0702030302020204"/>
              <a:buNone/>
            </a:pPr>
            <a:r>
              <a:rPr lang="en-US" sz="3600" b="1" i="0" u="none">
                <a:solidFill>
                  <a:schemeClr val="dk2"/>
                </a:solidFill>
                <a:latin typeface="Comic Sans MS" panose="030F0702030302020204"/>
                <a:ea typeface="Comic Sans MS" panose="030F0702030302020204"/>
                <a:cs typeface="Comic Sans MS" panose="030F0702030302020204"/>
                <a:sym typeface="Comic Sans MS" panose="030F0702030302020204"/>
              </a:rPr>
              <a:t>Jenkins Master</a:t>
            </a:r>
          </a:p>
        </p:txBody>
      </p:sp>
      <p:sp>
        <p:nvSpPr>
          <p:cNvPr id="522" name="Google Shape;522;p82"/>
          <p:cNvSpPr txBox="1">
            <a:spLocks noGrp="1"/>
          </p:cNvSpPr>
          <p:nvPr>
            <p:ph type="body" idx="1"/>
          </p:nvPr>
        </p:nvSpPr>
        <p:spPr>
          <a:xfrm>
            <a:off x="523240" y="838200"/>
            <a:ext cx="10936605" cy="583565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accent2"/>
              </a:buClr>
              <a:buSzPts val="2400"/>
              <a:buFont typeface="Comic Sans MS" panose="030F0702030302020204"/>
              <a:buNone/>
            </a:pPr>
            <a:r>
              <a:rPr lang="en-US" sz="2400" b="0" i="0" u="none">
                <a:solidFill>
                  <a:schemeClr val="accent2"/>
                </a:solidFill>
                <a:latin typeface="Comic Sans MS" panose="030F0702030302020204"/>
                <a:ea typeface="Comic Sans MS" panose="030F0702030302020204"/>
                <a:cs typeface="Comic Sans MS" panose="030F0702030302020204"/>
                <a:sym typeface="Comic Sans MS" panose="030F0702030302020204"/>
              </a:rPr>
              <a:t>    Your main Jenkins server is the Master. The Master’s job is to handle:</a:t>
            </a:r>
            <a:endParaRPr sz="2400" b="0" i="0" u="none">
              <a:solidFill>
                <a:schemeClr val="accent2"/>
              </a:solidFill>
              <a:latin typeface="Comic Sans MS" panose="030F0702030302020204"/>
              <a:ea typeface="Comic Sans MS" panose="030F0702030302020204"/>
              <a:cs typeface="Comic Sans MS" panose="030F0702030302020204"/>
              <a:sym typeface="Comic Sans MS" panose="030F0702030302020204"/>
            </a:endParaRPr>
          </a:p>
          <a:p>
            <a:pPr marL="342900" marR="0" lvl="0" indent="-342900" algn="l" rtl="0">
              <a:lnSpc>
                <a:spcPct val="100000"/>
              </a:lnSpc>
              <a:spcBef>
                <a:spcPts val="480"/>
              </a:spcBef>
              <a:spcAft>
                <a:spcPts val="0"/>
              </a:spcAft>
              <a:buClr>
                <a:schemeClr val="accent2"/>
              </a:buClr>
              <a:buSzPts val="2400"/>
              <a:buFont typeface="Comic Sans MS" panose="030F0702030302020204"/>
              <a:buChar char="•"/>
            </a:pPr>
            <a:r>
              <a:rPr lang="en-US" sz="2400" b="0" i="0" u="none">
                <a:solidFill>
                  <a:schemeClr val="accent2"/>
                </a:solidFill>
                <a:latin typeface="Comic Sans MS" panose="030F0702030302020204"/>
                <a:ea typeface="Comic Sans MS" panose="030F0702030302020204"/>
                <a:cs typeface="Comic Sans MS" panose="030F0702030302020204"/>
                <a:sym typeface="Comic Sans MS" panose="030F0702030302020204"/>
              </a:rPr>
              <a:t>Scheduling build jobs.</a:t>
            </a:r>
          </a:p>
          <a:p>
            <a:pPr marL="342900" marR="0" lvl="0" indent="-342900" algn="l" rtl="0">
              <a:lnSpc>
                <a:spcPct val="100000"/>
              </a:lnSpc>
              <a:spcBef>
                <a:spcPts val="480"/>
              </a:spcBef>
              <a:spcAft>
                <a:spcPts val="0"/>
              </a:spcAft>
              <a:buClr>
                <a:schemeClr val="accent2"/>
              </a:buClr>
              <a:buSzPts val="2400"/>
              <a:buFont typeface="Comic Sans MS" panose="030F0702030302020204"/>
              <a:buChar char="•"/>
            </a:pPr>
            <a:r>
              <a:rPr lang="en-US" sz="2400" b="0" i="0" u="none">
                <a:solidFill>
                  <a:schemeClr val="accent2"/>
                </a:solidFill>
                <a:latin typeface="Comic Sans MS" panose="030F0702030302020204"/>
                <a:ea typeface="Comic Sans MS" panose="030F0702030302020204"/>
                <a:cs typeface="Comic Sans MS" panose="030F0702030302020204"/>
                <a:sym typeface="Comic Sans MS" panose="030F0702030302020204"/>
              </a:rPr>
              <a:t>Dispatching builds to the slaves for the actual execution.</a:t>
            </a:r>
          </a:p>
          <a:p>
            <a:pPr marL="342900" marR="0" lvl="0" indent="-342900" algn="l" rtl="0">
              <a:lnSpc>
                <a:spcPct val="100000"/>
              </a:lnSpc>
              <a:spcBef>
                <a:spcPts val="480"/>
              </a:spcBef>
              <a:spcAft>
                <a:spcPts val="0"/>
              </a:spcAft>
              <a:buClr>
                <a:schemeClr val="accent2"/>
              </a:buClr>
              <a:buSzPts val="2400"/>
              <a:buFont typeface="Comic Sans MS" panose="030F0702030302020204"/>
              <a:buChar char="•"/>
            </a:pPr>
            <a:r>
              <a:rPr lang="en-US" sz="2400" b="0" i="0" u="none">
                <a:solidFill>
                  <a:schemeClr val="accent2"/>
                </a:solidFill>
                <a:latin typeface="Comic Sans MS" panose="030F0702030302020204"/>
                <a:ea typeface="Comic Sans MS" panose="030F0702030302020204"/>
                <a:cs typeface="Comic Sans MS" panose="030F0702030302020204"/>
                <a:sym typeface="Comic Sans MS" panose="030F0702030302020204"/>
              </a:rPr>
              <a:t>Monitor the slaves (possibly taking them online and offline as required).</a:t>
            </a:r>
          </a:p>
          <a:p>
            <a:pPr marL="342900" marR="0" lvl="0" indent="-342900" algn="l" rtl="0">
              <a:lnSpc>
                <a:spcPct val="100000"/>
              </a:lnSpc>
              <a:spcBef>
                <a:spcPts val="480"/>
              </a:spcBef>
              <a:spcAft>
                <a:spcPts val="0"/>
              </a:spcAft>
              <a:buClr>
                <a:schemeClr val="accent2"/>
              </a:buClr>
              <a:buSzPts val="2400"/>
              <a:buFont typeface="Comic Sans MS" panose="030F0702030302020204"/>
              <a:buChar char="•"/>
            </a:pPr>
            <a:r>
              <a:rPr lang="en-US" sz="2400" b="0" i="0" u="none">
                <a:solidFill>
                  <a:schemeClr val="accent2"/>
                </a:solidFill>
                <a:latin typeface="Comic Sans MS" panose="030F0702030302020204"/>
                <a:ea typeface="Comic Sans MS" panose="030F0702030302020204"/>
                <a:cs typeface="Comic Sans MS" panose="030F0702030302020204"/>
                <a:sym typeface="Comic Sans MS" panose="030F0702030302020204"/>
              </a:rPr>
              <a:t>Recording and presenting the build results.</a:t>
            </a:r>
          </a:p>
          <a:p>
            <a:pPr marL="342900" marR="0" lvl="0" indent="-342900" algn="l" rtl="0">
              <a:lnSpc>
                <a:spcPct val="100000"/>
              </a:lnSpc>
              <a:spcBef>
                <a:spcPts val="480"/>
              </a:spcBef>
              <a:spcAft>
                <a:spcPts val="0"/>
              </a:spcAft>
              <a:buClr>
                <a:schemeClr val="accent2"/>
              </a:buClr>
              <a:buSzPts val="2400"/>
              <a:buFont typeface="Comic Sans MS" panose="030F0702030302020204"/>
              <a:buChar char="•"/>
            </a:pPr>
            <a:r>
              <a:rPr lang="en-US" sz="2400" b="0" i="0" u="none">
                <a:solidFill>
                  <a:schemeClr val="accent2"/>
                </a:solidFill>
                <a:latin typeface="Comic Sans MS" panose="030F0702030302020204"/>
                <a:ea typeface="Comic Sans MS" panose="030F0702030302020204"/>
                <a:cs typeface="Comic Sans MS" panose="030F0702030302020204"/>
                <a:sym typeface="Comic Sans MS" panose="030F0702030302020204"/>
              </a:rPr>
              <a:t>A Master instance of Jenkins can also execute build jobs directly.</a:t>
            </a:r>
          </a:p>
          <a:p>
            <a:pPr marL="342900" marR="0" lvl="0" indent="-342900" algn="l" rtl="0">
              <a:lnSpc>
                <a:spcPct val="100000"/>
              </a:lnSpc>
              <a:spcBef>
                <a:spcPts val="480"/>
              </a:spcBef>
              <a:spcAft>
                <a:spcPts val="0"/>
              </a:spcAft>
              <a:buClr>
                <a:schemeClr val="accent2"/>
              </a:buClr>
              <a:buSzPts val="2400"/>
              <a:buFont typeface="Comic Sans MS" panose="030F0702030302020204"/>
              <a:buChar char="•"/>
            </a:pPr>
            <a:endParaRPr lang="en-US" sz="2400" b="0" i="0" u="none">
              <a:solidFill>
                <a:schemeClr val="accent2"/>
              </a:solidFill>
              <a:latin typeface="Comic Sans MS" panose="030F0702030302020204"/>
              <a:ea typeface="Comic Sans MS" panose="030F0702030302020204"/>
              <a:cs typeface="Comic Sans MS" panose="030F0702030302020204"/>
              <a:sym typeface="Comic Sans MS" panose="030F0702030302020204"/>
            </a:endParaRPr>
          </a:p>
          <a:p>
            <a:pPr marL="342900" marR="0" lvl="0" indent="-190500" algn="l" rtl="0">
              <a:spcBef>
                <a:spcPts val="480"/>
              </a:spcBef>
              <a:spcAft>
                <a:spcPts val="0"/>
              </a:spcAft>
              <a:buClr>
                <a:schemeClr val="accent2"/>
              </a:buClr>
              <a:buSzPts val="2400"/>
              <a:buFont typeface="Comic Sans MS" panose="030F0702030302020204"/>
              <a:buNone/>
            </a:pPr>
            <a:endParaRPr sz="2400" b="0" i="0" u="none">
              <a:solidFill>
                <a:schemeClr val="accent2"/>
              </a:solidFill>
              <a:latin typeface="Comic Sans MS" panose="030F0702030302020204"/>
              <a:ea typeface="Comic Sans MS" panose="030F0702030302020204"/>
              <a:cs typeface="Comic Sans MS" panose="030F0702030302020204"/>
              <a:sym typeface="Comic Sans MS" panose="030F0702030302020204"/>
            </a:endParaRPr>
          </a:p>
        </p:txBody>
      </p:sp>
      <p:pic>
        <p:nvPicPr>
          <p:cNvPr id="2" name="Google Shape;523;p82" descr="Jenkins Distributed Architecture - Jenkins Tutorial - Edureka"/>
          <p:cNvPicPr preferRelativeResize="0"/>
          <p:nvPr/>
        </p:nvPicPr>
        <p:blipFill rotWithShape="1">
          <a:blip r:embed="rId3"/>
          <a:srcRect l="6294" t="4963" r="9109"/>
          <a:stretch>
            <a:fillRect/>
          </a:stretch>
        </p:blipFill>
        <p:spPr>
          <a:xfrm>
            <a:off x="2341245" y="3521075"/>
            <a:ext cx="6991350" cy="3032125"/>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83"/>
          <p:cNvSpPr txBox="1">
            <a:spLocks noGrp="1"/>
          </p:cNvSpPr>
          <p:nvPr>
            <p:ph type="title"/>
          </p:nvPr>
        </p:nvSpPr>
        <p:spPr>
          <a:xfrm>
            <a:off x="1676400" y="152400"/>
            <a:ext cx="8839200" cy="609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3600"/>
              <a:buFont typeface="Comic Sans MS" panose="030F0702030302020204"/>
              <a:buNone/>
            </a:pPr>
            <a:r>
              <a:rPr lang="en-US" sz="3600" b="1" i="0" u="none">
                <a:solidFill>
                  <a:schemeClr val="dk2"/>
                </a:solidFill>
                <a:latin typeface="Comic Sans MS" panose="030F0702030302020204"/>
                <a:ea typeface="Comic Sans MS" panose="030F0702030302020204"/>
                <a:cs typeface="Comic Sans MS" panose="030F0702030302020204"/>
                <a:sym typeface="Comic Sans MS" panose="030F0702030302020204"/>
              </a:rPr>
              <a:t>Jenkins Slave</a:t>
            </a:r>
            <a:br>
              <a:rPr lang="en-US" sz="3600" b="0" i="0" u="none">
                <a:solidFill>
                  <a:schemeClr val="dk2"/>
                </a:solidFill>
                <a:latin typeface="Comic Sans MS" panose="030F0702030302020204"/>
                <a:ea typeface="Comic Sans MS" panose="030F0702030302020204"/>
                <a:cs typeface="Comic Sans MS" panose="030F0702030302020204"/>
                <a:sym typeface="Comic Sans MS" panose="030F0702030302020204"/>
              </a:rPr>
            </a:br>
            <a:endParaRPr lang="en-US" sz="3600" b="0" i="0" u="none">
              <a:solidFill>
                <a:schemeClr val="dk2"/>
              </a:solidFill>
              <a:latin typeface="Comic Sans MS" panose="030F0702030302020204"/>
              <a:ea typeface="Comic Sans MS" panose="030F0702030302020204"/>
              <a:cs typeface="Comic Sans MS" panose="030F0702030302020204"/>
              <a:sym typeface="Comic Sans MS" panose="030F0702030302020204"/>
            </a:endParaRPr>
          </a:p>
        </p:txBody>
      </p:sp>
      <p:sp>
        <p:nvSpPr>
          <p:cNvPr id="529" name="Google Shape;529;p83"/>
          <p:cNvSpPr txBox="1">
            <a:spLocks noGrp="1"/>
          </p:cNvSpPr>
          <p:nvPr>
            <p:ph type="body" idx="1"/>
          </p:nvPr>
        </p:nvSpPr>
        <p:spPr>
          <a:xfrm>
            <a:off x="499745" y="838200"/>
            <a:ext cx="11110595" cy="54864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accent2"/>
              </a:buClr>
              <a:buSzPts val="2700"/>
              <a:buFont typeface="Comic Sans MS" panose="030F0702030302020204"/>
              <a:buChar char="•"/>
            </a:pPr>
            <a:r>
              <a:rPr lang="en-US" sz="2700" b="0" i="0" u="none">
                <a:solidFill>
                  <a:schemeClr val="accent2"/>
                </a:solidFill>
                <a:latin typeface="Comic Sans MS" panose="030F0702030302020204"/>
                <a:ea typeface="Comic Sans MS" panose="030F0702030302020204"/>
                <a:cs typeface="Comic Sans MS" panose="030F0702030302020204"/>
                <a:sym typeface="Comic Sans MS" panose="030F0702030302020204"/>
              </a:rPr>
              <a:t>A Slave is a Java executable that runs on a remote machine. </a:t>
            </a:r>
          </a:p>
          <a:p>
            <a:pPr marL="0" marR="0" lvl="0" indent="0" algn="l" rtl="0">
              <a:lnSpc>
                <a:spcPct val="100000"/>
              </a:lnSpc>
              <a:spcBef>
                <a:spcPts val="0"/>
              </a:spcBef>
              <a:spcAft>
                <a:spcPts val="0"/>
              </a:spcAft>
              <a:buClr>
                <a:schemeClr val="accent2"/>
              </a:buClr>
              <a:buSzPts val="2700"/>
              <a:buFont typeface="Comic Sans MS" panose="030F0702030302020204"/>
              <a:buNone/>
            </a:pPr>
            <a:endParaRPr lang="en-US" sz="2700" b="0" i="0" u="none">
              <a:solidFill>
                <a:schemeClr val="accent2"/>
              </a:solidFill>
              <a:latin typeface="Comic Sans MS" panose="030F0702030302020204"/>
              <a:ea typeface="Comic Sans MS" panose="030F0702030302020204"/>
              <a:cs typeface="Comic Sans MS" panose="030F0702030302020204"/>
              <a:sym typeface="Comic Sans MS" panose="030F0702030302020204"/>
            </a:endParaRPr>
          </a:p>
          <a:p>
            <a:pPr marL="342900" marR="0" lvl="0" indent="-342900" algn="l" rtl="0">
              <a:lnSpc>
                <a:spcPct val="100000"/>
              </a:lnSpc>
              <a:spcBef>
                <a:spcPts val="0"/>
              </a:spcBef>
              <a:spcAft>
                <a:spcPts val="0"/>
              </a:spcAft>
              <a:buClr>
                <a:schemeClr val="accent2"/>
              </a:buClr>
              <a:buSzPts val="2700"/>
              <a:buFont typeface="Comic Sans MS" panose="030F0702030302020204"/>
              <a:buChar char="•"/>
            </a:pPr>
            <a:r>
              <a:rPr lang="en-US" sz="2700" b="0" i="0" u="none">
                <a:solidFill>
                  <a:schemeClr val="accent2"/>
                </a:solidFill>
                <a:latin typeface="Comic Sans MS" panose="030F0702030302020204"/>
                <a:ea typeface="Comic Sans MS" panose="030F0702030302020204"/>
                <a:cs typeface="Comic Sans MS" panose="030F0702030302020204"/>
                <a:sym typeface="Comic Sans MS" panose="030F0702030302020204"/>
              </a:rPr>
              <a:t>The following are the characteristics of Jenkins Slaves:</a:t>
            </a:r>
          </a:p>
          <a:p>
            <a:pPr marL="342900" marR="0" lvl="0" indent="-342900" algn="l" rtl="0">
              <a:lnSpc>
                <a:spcPct val="100000"/>
              </a:lnSpc>
              <a:spcBef>
                <a:spcPts val="540"/>
              </a:spcBef>
              <a:spcAft>
                <a:spcPts val="0"/>
              </a:spcAft>
              <a:buClr>
                <a:schemeClr val="accent2"/>
              </a:buClr>
              <a:buSzPts val="2700"/>
              <a:buFont typeface="Comic Sans MS" panose="030F0702030302020204"/>
              <a:buChar char="•"/>
            </a:pPr>
            <a:r>
              <a:rPr lang="en-US" sz="2700" b="0" i="0" u="none">
                <a:solidFill>
                  <a:schemeClr val="accent2"/>
                </a:solidFill>
                <a:latin typeface="Comic Sans MS" panose="030F0702030302020204"/>
                <a:ea typeface="Comic Sans MS" panose="030F0702030302020204"/>
                <a:cs typeface="Comic Sans MS" panose="030F0702030302020204"/>
                <a:sym typeface="Comic Sans MS" panose="030F0702030302020204"/>
              </a:rPr>
              <a:t>It hears requests from the Jenkins Master instance.</a:t>
            </a:r>
          </a:p>
          <a:p>
            <a:pPr marL="342900" marR="0" lvl="0" indent="-342900" algn="l" rtl="0">
              <a:lnSpc>
                <a:spcPct val="100000"/>
              </a:lnSpc>
              <a:spcBef>
                <a:spcPts val="540"/>
              </a:spcBef>
              <a:spcAft>
                <a:spcPts val="0"/>
              </a:spcAft>
              <a:buClr>
                <a:schemeClr val="accent2"/>
              </a:buClr>
              <a:buSzPts val="2700"/>
              <a:buFont typeface="Comic Sans MS" panose="030F0702030302020204"/>
              <a:buChar char="•"/>
            </a:pPr>
            <a:r>
              <a:rPr lang="en-US" sz="2700" b="0" i="0" u="none">
                <a:solidFill>
                  <a:schemeClr val="accent2"/>
                </a:solidFill>
                <a:latin typeface="Comic Sans MS" panose="030F0702030302020204"/>
                <a:ea typeface="Comic Sans MS" panose="030F0702030302020204"/>
                <a:cs typeface="Comic Sans MS" panose="030F0702030302020204"/>
                <a:sym typeface="Comic Sans MS" panose="030F0702030302020204"/>
              </a:rPr>
              <a:t>Slaves can run on a variety of operating systems.</a:t>
            </a:r>
          </a:p>
          <a:p>
            <a:pPr marL="342900" marR="0" lvl="0" indent="-342900" algn="l" rtl="0">
              <a:lnSpc>
                <a:spcPct val="100000"/>
              </a:lnSpc>
              <a:spcBef>
                <a:spcPts val="540"/>
              </a:spcBef>
              <a:spcAft>
                <a:spcPts val="0"/>
              </a:spcAft>
              <a:buClr>
                <a:schemeClr val="accent2"/>
              </a:buClr>
              <a:buSzPts val="2700"/>
              <a:buFont typeface="Comic Sans MS" panose="030F0702030302020204"/>
              <a:buChar char="•"/>
            </a:pPr>
            <a:r>
              <a:rPr lang="en-US" sz="2700" b="0" i="0" u="none">
                <a:solidFill>
                  <a:schemeClr val="accent2"/>
                </a:solidFill>
                <a:latin typeface="Comic Sans MS" panose="030F0702030302020204"/>
                <a:ea typeface="Comic Sans MS" panose="030F0702030302020204"/>
                <a:cs typeface="Comic Sans MS" panose="030F0702030302020204"/>
                <a:sym typeface="Comic Sans MS" panose="030F0702030302020204"/>
              </a:rPr>
              <a:t>The job of a Slave is to do as they are told to, which involves executing build jobs dispatched by the Master.</a:t>
            </a:r>
          </a:p>
          <a:p>
            <a:pPr marL="342900" marR="0" lvl="0" indent="-342900" algn="l" rtl="0">
              <a:lnSpc>
                <a:spcPct val="100000"/>
              </a:lnSpc>
              <a:spcBef>
                <a:spcPts val="540"/>
              </a:spcBef>
              <a:spcAft>
                <a:spcPts val="0"/>
              </a:spcAft>
              <a:buClr>
                <a:schemeClr val="accent2"/>
              </a:buClr>
              <a:buSzPts val="2700"/>
              <a:buFont typeface="Comic Sans MS" panose="030F0702030302020204"/>
              <a:buChar char="•"/>
            </a:pPr>
            <a:r>
              <a:rPr lang="en-US" sz="2700" b="0" i="0" u="none">
                <a:solidFill>
                  <a:schemeClr val="accent2"/>
                </a:solidFill>
                <a:latin typeface="Comic Sans MS" panose="030F0702030302020204"/>
                <a:ea typeface="Comic Sans MS" panose="030F0702030302020204"/>
                <a:cs typeface="Comic Sans MS" panose="030F0702030302020204"/>
                <a:sym typeface="Comic Sans MS" panose="030F0702030302020204"/>
              </a:rPr>
              <a:t>You can configure a project to always run on a particular Slave machine or a particular type of Slave machine, or simply let Jenkins pick the next available Slave.</a:t>
            </a:r>
          </a:p>
          <a:p>
            <a:pPr marL="342900" marR="0" lvl="0" indent="-171450" algn="l" rtl="0">
              <a:spcBef>
                <a:spcPts val="540"/>
              </a:spcBef>
              <a:spcAft>
                <a:spcPts val="0"/>
              </a:spcAft>
              <a:buClr>
                <a:schemeClr val="accent2"/>
              </a:buClr>
              <a:buSzPts val="2700"/>
              <a:buFont typeface="Comic Sans MS" panose="030F0702030302020204"/>
              <a:buNone/>
            </a:pPr>
            <a:endParaRPr sz="2700" b="0" i="0" u="none">
              <a:solidFill>
                <a:schemeClr val="accent2"/>
              </a:solidFill>
              <a:latin typeface="Comic Sans MS" panose="030F0702030302020204"/>
              <a:ea typeface="Comic Sans MS" panose="030F0702030302020204"/>
              <a:cs typeface="Comic Sans MS" panose="030F0702030302020204"/>
              <a:sym typeface="Comic Sans MS" panose="030F0702030302020204"/>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8585"/>
            <a:ext cx="10515600" cy="405765"/>
          </a:xfrm>
        </p:spPr>
        <p:txBody>
          <a:bodyPr>
            <a:normAutofit fontScale="90000"/>
          </a:bodyPr>
          <a:lstStyle/>
          <a:p>
            <a:r>
              <a:rPr lang="en-US"/>
              <a:t>Architecture</a:t>
            </a:r>
          </a:p>
        </p:txBody>
      </p:sp>
      <p:pic>
        <p:nvPicPr>
          <p:cNvPr id="4" name="Picture 3" descr="Screenshot 2024-11-06 at 9.45.25 AM"/>
          <p:cNvPicPr>
            <a:picLocks noChangeAspect="1"/>
          </p:cNvPicPr>
          <p:nvPr/>
        </p:nvPicPr>
        <p:blipFill>
          <a:blip r:embed="rId2"/>
          <a:stretch>
            <a:fillRect/>
          </a:stretch>
        </p:blipFill>
        <p:spPr>
          <a:xfrm>
            <a:off x="676910" y="742315"/>
            <a:ext cx="11071225" cy="555117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85"/>
          <p:cNvSpPr txBox="1">
            <a:spLocks noGrp="1"/>
          </p:cNvSpPr>
          <p:nvPr>
            <p:ph type="title"/>
          </p:nvPr>
        </p:nvSpPr>
        <p:spPr>
          <a:xfrm>
            <a:off x="1676400" y="152400"/>
            <a:ext cx="8839200" cy="6096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3600">
              <a:solidFill>
                <a:schemeClr val="dk2"/>
              </a:solidFill>
              <a:latin typeface="Comic Sans MS" panose="030F0702030302020204"/>
              <a:ea typeface="Comic Sans MS" panose="030F0702030302020204"/>
              <a:cs typeface="Comic Sans MS" panose="030F0702030302020204"/>
              <a:sym typeface="Comic Sans MS" panose="030F0702030302020204"/>
            </a:endParaRPr>
          </a:p>
        </p:txBody>
      </p:sp>
      <p:sp>
        <p:nvSpPr>
          <p:cNvPr id="541" name="Google Shape;541;p85"/>
          <p:cNvSpPr txBox="1">
            <a:spLocks noGrp="1"/>
          </p:cNvSpPr>
          <p:nvPr>
            <p:ph type="body" idx="1"/>
          </p:nvPr>
        </p:nvSpPr>
        <p:spPr>
          <a:xfrm>
            <a:off x="1676400" y="838200"/>
            <a:ext cx="8839200" cy="5486400"/>
          </a:xfrm>
          <a:prstGeom prst="rect">
            <a:avLst/>
          </a:prstGeom>
          <a:noFill/>
          <a:ln>
            <a:noFill/>
          </a:ln>
        </p:spPr>
        <p:txBody>
          <a:bodyPr spcFirstLastPara="1" wrap="square" lIns="91425" tIns="45700" rIns="91425" bIns="45700" anchor="t" anchorCtr="0">
            <a:noAutofit/>
          </a:bodyPr>
          <a:lstStyle/>
          <a:p>
            <a:pPr marL="342900" marR="0" lvl="0" indent="-139700" algn="l" rtl="0">
              <a:spcBef>
                <a:spcPts val="0"/>
              </a:spcBef>
              <a:spcAft>
                <a:spcPts val="0"/>
              </a:spcAft>
              <a:buClr>
                <a:schemeClr val="accent2"/>
              </a:buClr>
              <a:buSzPts val="3200"/>
              <a:buFont typeface="Comic Sans MS" panose="030F0702030302020204"/>
              <a:buNone/>
            </a:pPr>
            <a:endParaRPr sz="3200">
              <a:solidFill>
                <a:schemeClr val="accent2"/>
              </a:solidFill>
              <a:latin typeface="Comic Sans MS" panose="030F0702030302020204"/>
              <a:ea typeface="Comic Sans MS" panose="030F0702030302020204"/>
              <a:cs typeface="Comic Sans MS" panose="030F0702030302020204"/>
              <a:sym typeface="Comic Sans MS" panose="030F0702030302020204"/>
            </a:endParaRPr>
          </a:p>
        </p:txBody>
      </p:sp>
      <p:pic>
        <p:nvPicPr>
          <p:cNvPr id="542" name="Google Shape;542;p85"/>
          <p:cNvPicPr preferRelativeResize="0"/>
          <p:nvPr/>
        </p:nvPicPr>
        <p:blipFill rotWithShape="1">
          <a:blip r:embed="rId3"/>
          <a:srcRect/>
          <a:stretch>
            <a:fillRect/>
          </a:stretch>
        </p:blipFill>
        <p:spPr>
          <a:xfrm>
            <a:off x="1992312" y="620712"/>
            <a:ext cx="8728075" cy="5808662"/>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86"/>
          <p:cNvSpPr txBox="1">
            <a:spLocks noGrp="1"/>
          </p:cNvSpPr>
          <p:nvPr>
            <p:ph type="title"/>
          </p:nvPr>
        </p:nvSpPr>
        <p:spPr>
          <a:xfrm>
            <a:off x="1676400" y="152400"/>
            <a:ext cx="8839200" cy="609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3600"/>
              <a:buFont typeface="Comic Sans MS" panose="030F0702030302020204"/>
              <a:buNone/>
            </a:pPr>
            <a:r>
              <a:rPr lang="en-US" sz="3600" b="1" i="0" u="none">
                <a:solidFill>
                  <a:schemeClr val="dk2"/>
                </a:solidFill>
                <a:latin typeface="Comic Sans MS" panose="030F0702030302020204"/>
                <a:ea typeface="Comic Sans MS" panose="030F0702030302020204"/>
                <a:cs typeface="Comic Sans MS" panose="030F0702030302020204"/>
                <a:sym typeface="Comic Sans MS" panose="030F0702030302020204"/>
              </a:rPr>
              <a:t>Advantages of Jenkins include:</a:t>
            </a:r>
            <a:br>
              <a:rPr lang="en-US" sz="3600" b="0" i="0" u="none">
                <a:solidFill>
                  <a:schemeClr val="dk2"/>
                </a:solidFill>
                <a:latin typeface="Comic Sans MS" panose="030F0702030302020204"/>
                <a:ea typeface="Comic Sans MS" panose="030F0702030302020204"/>
                <a:cs typeface="Comic Sans MS" panose="030F0702030302020204"/>
                <a:sym typeface="Comic Sans MS" panose="030F0702030302020204"/>
              </a:rPr>
            </a:br>
            <a:endParaRPr lang="en-US" sz="3600" b="0" i="0" u="none">
              <a:solidFill>
                <a:schemeClr val="dk2"/>
              </a:solidFill>
              <a:latin typeface="Comic Sans MS" panose="030F0702030302020204"/>
              <a:ea typeface="Comic Sans MS" panose="030F0702030302020204"/>
              <a:cs typeface="Comic Sans MS" panose="030F0702030302020204"/>
              <a:sym typeface="Comic Sans MS" panose="030F0702030302020204"/>
            </a:endParaRPr>
          </a:p>
        </p:txBody>
      </p:sp>
      <p:sp>
        <p:nvSpPr>
          <p:cNvPr id="548" name="Google Shape;548;p86"/>
          <p:cNvSpPr txBox="1">
            <a:spLocks noGrp="1"/>
          </p:cNvSpPr>
          <p:nvPr>
            <p:ph type="body" idx="1"/>
          </p:nvPr>
        </p:nvSpPr>
        <p:spPr>
          <a:xfrm>
            <a:off x="1676400" y="838200"/>
            <a:ext cx="8839200" cy="54864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accent2"/>
              </a:buClr>
              <a:buSzPts val="3200"/>
              <a:buFont typeface="Comic Sans MS" panose="030F0702030302020204"/>
              <a:buChar char="•"/>
            </a:pPr>
            <a:r>
              <a:rPr lang="en-US" sz="3200" b="0" i="0" u="none">
                <a:solidFill>
                  <a:schemeClr val="accent2"/>
                </a:solidFill>
                <a:latin typeface="Comic Sans MS" panose="030F0702030302020204"/>
                <a:ea typeface="Comic Sans MS" panose="030F0702030302020204"/>
                <a:cs typeface="Comic Sans MS" panose="030F0702030302020204"/>
                <a:sym typeface="Comic Sans MS" panose="030F0702030302020204"/>
              </a:rPr>
              <a:t>It is an open-source tool with great community support.</a:t>
            </a:r>
          </a:p>
          <a:p>
            <a:pPr marL="342900" marR="0" lvl="0" indent="-342900" algn="l" rtl="0">
              <a:lnSpc>
                <a:spcPct val="100000"/>
              </a:lnSpc>
              <a:spcBef>
                <a:spcPts val="640"/>
              </a:spcBef>
              <a:spcAft>
                <a:spcPts val="0"/>
              </a:spcAft>
              <a:buClr>
                <a:schemeClr val="accent2"/>
              </a:buClr>
              <a:buSzPts val="3200"/>
              <a:buFont typeface="Comic Sans MS" panose="030F0702030302020204"/>
              <a:buChar char="•"/>
            </a:pPr>
            <a:r>
              <a:rPr lang="en-US" sz="3200" b="0" i="0" u="none">
                <a:solidFill>
                  <a:schemeClr val="accent2"/>
                </a:solidFill>
                <a:latin typeface="Comic Sans MS" panose="030F0702030302020204"/>
                <a:ea typeface="Comic Sans MS" panose="030F0702030302020204"/>
                <a:cs typeface="Comic Sans MS" panose="030F0702030302020204"/>
                <a:sym typeface="Comic Sans MS" panose="030F0702030302020204"/>
              </a:rPr>
              <a:t>It is easy to install.</a:t>
            </a:r>
          </a:p>
          <a:p>
            <a:pPr marL="342900" marR="0" lvl="0" indent="-342900" algn="l" rtl="0">
              <a:lnSpc>
                <a:spcPct val="100000"/>
              </a:lnSpc>
              <a:spcBef>
                <a:spcPts val="640"/>
              </a:spcBef>
              <a:spcAft>
                <a:spcPts val="0"/>
              </a:spcAft>
              <a:buClr>
                <a:schemeClr val="accent2"/>
              </a:buClr>
              <a:buSzPts val="3200"/>
              <a:buFont typeface="Comic Sans MS" panose="030F0702030302020204"/>
              <a:buChar char="•"/>
            </a:pPr>
            <a:r>
              <a:rPr lang="en-US" sz="3200" b="0" i="0" u="none">
                <a:solidFill>
                  <a:schemeClr val="accent2"/>
                </a:solidFill>
                <a:latin typeface="Comic Sans MS" panose="030F0702030302020204"/>
                <a:ea typeface="Comic Sans MS" panose="030F0702030302020204"/>
                <a:cs typeface="Comic Sans MS" panose="030F0702030302020204"/>
                <a:sym typeface="Comic Sans MS" panose="030F0702030302020204"/>
              </a:rPr>
              <a:t>It has 1000+ plugins to ease your work. If a plugin does not exist, you can code it and share it with the community.</a:t>
            </a:r>
          </a:p>
          <a:p>
            <a:pPr marL="342900" marR="0" lvl="0" indent="-342900" algn="l" rtl="0">
              <a:lnSpc>
                <a:spcPct val="100000"/>
              </a:lnSpc>
              <a:spcBef>
                <a:spcPts val="640"/>
              </a:spcBef>
              <a:spcAft>
                <a:spcPts val="0"/>
              </a:spcAft>
              <a:buClr>
                <a:schemeClr val="accent2"/>
              </a:buClr>
              <a:buSzPts val="3200"/>
              <a:buFont typeface="Comic Sans MS" panose="030F0702030302020204"/>
              <a:buChar char="•"/>
            </a:pPr>
            <a:r>
              <a:rPr lang="en-US" sz="3200" b="0" i="0" u="none">
                <a:solidFill>
                  <a:schemeClr val="accent2"/>
                </a:solidFill>
                <a:latin typeface="Comic Sans MS" panose="030F0702030302020204"/>
                <a:ea typeface="Comic Sans MS" panose="030F0702030302020204"/>
                <a:cs typeface="Comic Sans MS" panose="030F0702030302020204"/>
                <a:sym typeface="Comic Sans MS" panose="030F0702030302020204"/>
              </a:rPr>
              <a:t>It is free of cost.</a:t>
            </a:r>
          </a:p>
          <a:p>
            <a:pPr marL="342900" marR="0" lvl="0" indent="-342900" algn="l" rtl="0">
              <a:lnSpc>
                <a:spcPct val="100000"/>
              </a:lnSpc>
              <a:spcBef>
                <a:spcPts val="640"/>
              </a:spcBef>
              <a:spcAft>
                <a:spcPts val="0"/>
              </a:spcAft>
              <a:buClr>
                <a:schemeClr val="accent2"/>
              </a:buClr>
              <a:buSzPts val="3200"/>
              <a:buFont typeface="Comic Sans MS" panose="030F0702030302020204"/>
              <a:buChar char="•"/>
            </a:pPr>
            <a:r>
              <a:rPr lang="en-US" sz="3200" b="0" i="0" u="none">
                <a:solidFill>
                  <a:schemeClr val="accent2"/>
                </a:solidFill>
                <a:latin typeface="Comic Sans MS" panose="030F0702030302020204"/>
                <a:ea typeface="Comic Sans MS" panose="030F0702030302020204"/>
                <a:cs typeface="Comic Sans MS" panose="030F0702030302020204"/>
                <a:sym typeface="Comic Sans MS" panose="030F0702030302020204"/>
              </a:rPr>
              <a:t>It is built with Java and hence, it is portable to all the major platforms.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87"/>
          <p:cNvSpPr txBox="1">
            <a:spLocks noGrp="1"/>
          </p:cNvSpPr>
          <p:nvPr>
            <p:ph type="title"/>
          </p:nvPr>
        </p:nvSpPr>
        <p:spPr>
          <a:xfrm>
            <a:off x="1676400" y="152400"/>
            <a:ext cx="8839200" cy="609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3600"/>
              <a:buFont typeface="Comic Sans MS" panose="030F0702030302020204"/>
              <a:buNone/>
            </a:pPr>
            <a:r>
              <a:rPr lang="en-US" sz="3600" b="1" i="0" u="none">
                <a:solidFill>
                  <a:schemeClr val="dk2"/>
                </a:solidFill>
                <a:latin typeface="Comic Sans MS" panose="030F0702030302020204"/>
                <a:ea typeface="Comic Sans MS" panose="030F0702030302020204"/>
                <a:cs typeface="Comic Sans MS" panose="030F0702030302020204"/>
                <a:sym typeface="Comic Sans MS" panose="030F0702030302020204"/>
              </a:rPr>
              <a:t>Jenkins Features</a:t>
            </a:r>
          </a:p>
        </p:txBody>
      </p:sp>
      <p:sp>
        <p:nvSpPr>
          <p:cNvPr id="554" name="Google Shape;554;p87"/>
          <p:cNvSpPr txBox="1">
            <a:spLocks noGrp="1"/>
          </p:cNvSpPr>
          <p:nvPr>
            <p:ph type="body" idx="1"/>
          </p:nvPr>
        </p:nvSpPr>
        <p:spPr>
          <a:xfrm>
            <a:off x="1676400" y="838200"/>
            <a:ext cx="8839200" cy="54864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accent2"/>
              </a:buClr>
              <a:buSzPts val="3200"/>
              <a:buFont typeface="Comic Sans MS" panose="030F0702030302020204"/>
              <a:buChar char="•"/>
            </a:pPr>
            <a:r>
              <a:rPr lang="en-US" sz="3200" b="1" i="0" u="none">
                <a:solidFill>
                  <a:schemeClr val="accent2"/>
                </a:solidFill>
                <a:latin typeface="Comic Sans MS" panose="030F0702030302020204"/>
                <a:ea typeface="Comic Sans MS" panose="030F0702030302020204"/>
                <a:cs typeface="Comic Sans MS" panose="030F0702030302020204"/>
                <a:sym typeface="Comic Sans MS" panose="030F0702030302020204"/>
              </a:rPr>
              <a:t>Adoption:</a:t>
            </a:r>
            <a:r>
              <a:rPr lang="en-US" sz="3200" b="0" i="0" u="none">
                <a:solidFill>
                  <a:schemeClr val="accent2"/>
                </a:solidFill>
                <a:latin typeface="Comic Sans MS" panose="030F0702030302020204"/>
                <a:ea typeface="Comic Sans MS" panose="030F0702030302020204"/>
                <a:cs typeface="Comic Sans MS" panose="030F0702030302020204"/>
                <a:sym typeface="Comic Sans MS" panose="030F0702030302020204"/>
              </a:rPr>
              <a:t> Jenkins is widespread, with more than 147,000 active installations and over 1 million users around the world.</a:t>
            </a:r>
          </a:p>
          <a:p>
            <a:pPr marL="342900" marR="0" lvl="0" indent="-342900" algn="l" rtl="0">
              <a:lnSpc>
                <a:spcPct val="100000"/>
              </a:lnSpc>
              <a:spcBef>
                <a:spcPts val="640"/>
              </a:spcBef>
              <a:spcAft>
                <a:spcPts val="0"/>
              </a:spcAft>
              <a:buClr>
                <a:schemeClr val="accent2"/>
              </a:buClr>
              <a:buSzPts val="3200"/>
              <a:buFont typeface="Comic Sans MS" panose="030F0702030302020204"/>
              <a:buChar char="•"/>
            </a:pPr>
            <a:r>
              <a:rPr lang="en-US" sz="3200" b="1" i="0" u="none">
                <a:solidFill>
                  <a:schemeClr val="accent2"/>
                </a:solidFill>
                <a:latin typeface="Comic Sans MS" panose="030F0702030302020204"/>
                <a:ea typeface="Comic Sans MS" panose="030F0702030302020204"/>
                <a:cs typeface="Comic Sans MS" panose="030F0702030302020204"/>
                <a:sym typeface="Comic Sans MS" panose="030F0702030302020204"/>
              </a:rPr>
              <a:t>Plugins:</a:t>
            </a:r>
            <a:r>
              <a:rPr lang="en-US" sz="3200" b="0" i="0" u="none">
                <a:solidFill>
                  <a:schemeClr val="accent2"/>
                </a:solidFill>
                <a:latin typeface="Comic Sans MS" panose="030F0702030302020204"/>
                <a:ea typeface="Comic Sans MS" panose="030F0702030302020204"/>
                <a:cs typeface="Comic Sans MS" panose="030F0702030302020204"/>
                <a:sym typeface="Comic Sans MS" panose="030F0702030302020204"/>
              </a:rPr>
              <a:t> Jenkins is interconnected with well over 1,000 plugins that allow it to integrate with most of the development, testing and deployment tools.</a:t>
            </a:r>
          </a:p>
          <a:p>
            <a:pPr marL="342900" marR="0" lvl="0" indent="-139700" algn="l" rtl="0">
              <a:spcBef>
                <a:spcPts val="640"/>
              </a:spcBef>
              <a:spcAft>
                <a:spcPts val="0"/>
              </a:spcAft>
              <a:buClr>
                <a:schemeClr val="accent2"/>
              </a:buClr>
              <a:buSzPts val="3200"/>
              <a:buFont typeface="Comic Sans MS" panose="030F0702030302020204"/>
              <a:buNone/>
            </a:pPr>
            <a:endParaRPr sz="3200" b="0" i="0" u="none">
              <a:solidFill>
                <a:schemeClr val="accent2"/>
              </a:solidFill>
              <a:latin typeface="Comic Sans MS" panose="030F0702030302020204"/>
              <a:ea typeface="Comic Sans MS" panose="030F0702030302020204"/>
              <a:cs typeface="Comic Sans MS" panose="030F0702030302020204"/>
              <a:sym typeface="Comic Sans MS" panose="030F0702030302020204"/>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6" name="Google Shape;566;p89"/>
          <p:cNvSpPr txBox="1">
            <a:spLocks noGrp="1"/>
          </p:cNvSpPr>
          <p:nvPr>
            <p:ph type="body" idx="1"/>
          </p:nvPr>
        </p:nvSpPr>
        <p:spPr>
          <a:xfrm>
            <a:off x="1676400" y="838200"/>
            <a:ext cx="8839200" cy="5486400"/>
          </a:xfrm>
          <a:prstGeom prst="rect">
            <a:avLst/>
          </a:prstGeom>
          <a:noFill/>
          <a:ln>
            <a:noFill/>
          </a:ln>
        </p:spPr>
        <p:txBody>
          <a:bodyPr spcFirstLastPara="1" wrap="square" lIns="91425" tIns="45700" rIns="91425" bIns="45700" anchor="t" anchorCtr="0">
            <a:noAutofit/>
          </a:bodyPr>
          <a:lstStyle/>
          <a:p>
            <a:pPr marL="342900" marR="0" lvl="0" indent="-139700" algn="l" rtl="0">
              <a:spcBef>
                <a:spcPts val="0"/>
              </a:spcBef>
              <a:spcAft>
                <a:spcPts val="0"/>
              </a:spcAft>
              <a:buClr>
                <a:schemeClr val="accent2"/>
              </a:buClr>
              <a:buSzPts val="3200"/>
              <a:buFont typeface="Comic Sans MS" panose="030F0702030302020204"/>
              <a:buNone/>
            </a:pPr>
            <a:endParaRPr sz="3200">
              <a:solidFill>
                <a:schemeClr val="accent2"/>
              </a:solidFill>
              <a:latin typeface="Comic Sans MS" panose="030F0702030302020204"/>
              <a:ea typeface="Comic Sans MS" panose="030F0702030302020204"/>
              <a:cs typeface="Comic Sans MS" panose="030F0702030302020204"/>
              <a:sym typeface="Comic Sans MS" panose="030F0702030302020204"/>
            </a:endParaRPr>
          </a:p>
        </p:txBody>
      </p:sp>
      <p:pic>
        <p:nvPicPr>
          <p:cNvPr id="567" name="Google Shape;567;p89"/>
          <p:cNvPicPr preferRelativeResize="0"/>
          <p:nvPr/>
        </p:nvPicPr>
        <p:blipFill rotWithShape="1">
          <a:blip r:embed="rId3"/>
          <a:srcRect/>
          <a:stretch>
            <a:fillRect/>
          </a:stretch>
        </p:blipFill>
        <p:spPr>
          <a:xfrm>
            <a:off x="901065" y="714375"/>
            <a:ext cx="10611485" cy="5182235"/>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5315"/>
          </a:xfrm>
        </p:spPr>
        <p:txBody>
          <a:bodyPr>
            <a:normAutofit fontScale="90000"/>
          </a:bodyPr>
          <a:lstStyle/>
          <a:p>
            <a:r>
              <a:rPr lang="en-US"/>
              <a:t>Jenkins Applications</a:t>
            </a:r>
          </a:p>
        </p:txBody>
      </p:sp>
      <p:sp>
        <p:nvSpPr>
          <p:cNvPr id="3" name="Content Placeholder 2"/>
          <p:cNvSpPr>
            <a:spLocks noGrp="1"/>
          </p:cNvSpPr>
          <p:nvPr>
            <p:ph idx="1"/>
          </p:nvPr>
        </p:nvSpPr>
        <p:spPr>
          <a:xfrm>
            <a:off x="838200" y="1341755"/>
            <a:ext cx="10515600" cy="4835525"/>
          </a:xfrm>
        </p:spPr>
        <p:txBody>
          <a:bodyPr>
            <a:normAutofit/>
          </a:bodyPr>
          <a:lstStyle/>
          <a:p>
            <a:pPr marL="0" indent="0">
              <a:buNone/>
            </a:pPr>
            <a:r>
              <a:rPr lang="en-US"/>
              <a:t>1. Continuous Integration (CI):</a:t>
            </a:r>
          </a:p>
          <a:p>
            <a:pPr marL="457200" lvl="1" indent="0">
              <a:buNone/>
            </a:pPr>
            <a:r>
              <a:rPr lang="en-US" sz="2055"/>
              <a:t>Jenkins is primarily used to automate the process of continuous integration, where it builds and tests code every time a change is committed to a version control system. This helps developers detect issues early in the development cycle, improving code quality and reducing the time needed to validate and release new software updates.</a:t>
            </a:r>
          </a:p>
          <a:p>
            <a:pPr marL="457200" lvl="1" indent="0">
              <a:buNone/>
            </a:pPr>
            <a:r>
              <a:rPr lang="en-US" sz="2055"/>
              <a:t>Automated Builds: Jenkins can compile and build code from various environments and languages.</a:t>
            </a:r>
          </a:p>
          <a:p>
            <a:pPr marL="457200" lvl="1" indent="0">
              <a:buNone/>
            </a:pPr>
            <a:r>
              <a:rPr lang="en-US" sz="2055"/>
              <a:t>Automated Testing: It can run a suite of tests (unit, integration, system) on new code to ensure it doesn't break anything.</a:t>
            </a:r>
          </a:p>
          <a:p>
            <a:pPr marL="457200" lvl="1" indent="0">
              <a:buNone/>
            </a:pPr>
            <a:endParaRPr lang="en-US" sz="2055"/>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26110"/>
            <a:ext cx="10515600" cy="5551170"/>
          </a:xfrm>
        </p:spPr>
        <p:txBody>
          <a:bodyPr/>
          <a:lstStyle/>
          <a:p>
            <a:pPr marL="0" indent="0">
              <a:buNone/>
            </a:pPr>
            <a:r>
              <a:rPr lang="en-US"/>
              <a:t>2.  Continuous Delivery (CD)</a:t>
            </a:r>
          </a:p>
          <a:p>
            <a:pPr lvl="1"/>
            <a:r>
              <a:rPr lang="en-US"/>
              <a:t>Beyond continuous integration, Jenkins can automate steps in software delivery, making it easier to deploy and release new versions. It allows for the automation of the deployment process, making sure that you can release reliably at any time.</a:t>
            </a:r>
          </a:p>
          <a:p>
            <a:pPr lvl="1"/>
            <a:endParaRPr lang="en-US"/>
          </a:p>
          <a:p>
            <a:pPr lvl="1"/>
            <a:r>
              <a:rPr lang="en-US"/>
              <a:t>Automated Deployment: Jenkins can automate the deployment of applications to various environments, including testing, staging, and production.</a:t>
            </a:r>
          </a:p>
          <a:p>
            <a:pPr lvl="1"/>
            <a:r>
              <a:rPr lang="en-US"/>
              <a:t>Rollbacks: It can also automate the rollback of a deployment if the deployment fails, ensuring quick recovery from errors.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0550"/>
            <a:ext cx="10515600" cy="5586730"/>
          </a:xfrm>
        </p:spPr>
        <p:txBody>
          <a:bodyPr>
            <a:normAutofit/>
          </a:bodyPr>
          <a:lstStyle/>
          <a:p>
            <a:pPr marL="0" indent="0">
              <a:buNone/>
            </a:pPr>
            <a:r>
              <a:rPr lang="en-US"/>
              <a:t>3. Infrastructure as Code (IaC)</a:t>
            </a:r>
          </a:p>
          <a:p>
            <a:pPr lvl="1"/>
            <a:r>
              <a:rPr lang="en-US"/>
              <a:t>Jenkins is used to implement Infrastructure as Code practices, which involve managing and provisioning infrastructure through code instead of through manual processes.</a:t>
            </a:r>
          </a:p>
          <a:p>
            <a:pPr lvl="1"/>
            <a:endParaRPr lang="en-US"/>
          </a:p>
          <a:p>
            <a:pPr lvl="1"/>
            <a:r>
              <a:rPr lang="en-US"/>
              <a:t>Configuration Management: Jenkins can integrate with tools like Ansible, Chef, and Puppet to automate the configuration of servers.</a:t>
            </a:r>
          </a:p>
          <a:p>
            <a:pPr lvl="1"/>
            <a:r>
              <a:rPr lang="en-US"/>
              <a:t>Server Provisioning: It can also use scripts or templates to create or update servers.</a:t>
            </a:r>
          </a:p>
          <a:p>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26110"/>
            <a:ext cx="10515600" cy="5551170"/>
          </a:xfrm>
        </p:spPr>
        <p:txBody>
          <a:bodyPr/>
          <a:lstStyle/>
          <a:p>
            <a:pPr marL="0" indent="0">
              <a:buNone/>
            </a:pPr>
            <a:r>
              <a:rPr lang="en-US">
                <a:sym typeface="+mn-ea"/>
              </a:rPr>
              <a:t>4. Monitoring and Reporting</a:t>
            </a:r>
            <a:endParaRPr lang="en-US"/>
          </a:p>
          <a:p>
            <a:pPr lvl="1"/>
            <a:r>
              <a:rPr lang="en-US">
                <a:sym typeface="+mn-ea"/>
              </a:rPr>
              <a:t>Jenkins can be configured to monitor its own performance and to generate reports on various aspects of the development process.</a:t>
            </a:r>
            <a:endParaRPr lang="en-US"/>
          </a:p>
          <a:p>
            <a:pPr lvl="1"/>
            <a:endParaRPr lang="en-US"/>
          </a:p>
          <a:p>
            <a:pPr lvl="1"/>
            <a:r>
              <a:rPr lang="en-US">
                <a:sym typeface="+mn-ea"/>
              </a:rPr>
              <a:t>Build Monitoring: Jenkins can keep track of build success rates and notify developers of failures.</a:t>
            </a:r>
            <a:endParaRPr lang="en-US"/>
          </a:p>
          <a:p>
            <a:pPr lvl="1"/>
            <a:r>
              <a:rPr lang="en-US">
                <a:sym typeface="+mn-ea"/>
              </a:rPr>
              <a:t>Performance Trends: It can generate reports that track performance metrics over time, helping teams understand trends.</a:t>
            </a:r>
            <a:endParaRPr lang="en-US"/>
          </a:p>
          <a:p>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26110"/>
            <a:ext cx="10515600" cy="5551170"/>
          </a:xfrm>
        </p:spPr>
        <p:txBody>
          <a:bodyPr/>
          <a:lstStyle/>
          <a:p>
            <a:pPr marL="0" indent="0">
              <a:buNone/>
            </a:pPr>
            <a:r>
              <a:rPr lang="en-US"/>
              <a:t>5. DevOps and Multibranch Pipeline</a:t>
            </a:r>
          </a:p>
          <a:p>
            <a:pPr lvl="1"/>
            <a:r>
              <a:rPr lang="en-US"/>
              <a:t>Jenkins supports DevOps practices by enabling teams to implement multibranch pipelines, where each branch of the version control system can have its own tailored CI/CD pipeline.</a:t>
            </a:r>
          </a:p>
          <a:p>
            <a:pPr lvl="1"/>
            <a:endParaRPr lang="en-US"/>
          </a:p>
          <a:p>
            <a:pPr lvl="1"/>
            <a:r>
              <a:rPr lang="en-US"/>
              <a:t>Pipeline as Code: Jenkins Pipelines allow defining build, test, and deploy stages that are stored in a Jenkinsfile and versioned along with the code.</a:t>
            </a:r>
          </a:p>
          <a:p>
            <a:pPr lvl="1"/>
            <a:r>
              <a:rPr lang="en-US"/>
              <a:t>Parallel Execution: Jenkins can execute jobs in parallel, reducing the time required for builds and tests.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26110"/>
            <a:ext cx="10515600" cy="5551170"/>
          </a:xfrm>
        </p:spPr>
        <p:txBody>
          <a:bodyPr>
            <a:normAutofit/>
          </a:bodyPr>
          <a:lstStyle/>
          <a:p>
            <a:pPr marL="0" indent="0">
              <a:buNone/>
            </a:pPr>
            <a:r>
              <a:rPr lang="en-US"/>
              <a:t>6. Containerization Support</a:t>
            </a:r>
          </a:p>
          <a:p>
            <a:pPr lvl="1"/>
            <a:r>
              <a:rPr lang="en-US"/>
              <a:t>Jenkins has robust support for Docker and Kubernetes, allowing teams to use containers for builds, tests, and deployments.</a:t>
            </a:r>
          </a:p>
          <a:p>
            <a:pPr lvl="1"/>
            <a:endParaRPr lang="en-US"/>
          </a:p>
          <a:p>
            <a:pPr lvl="1"/>
            <a:r>
              <a:rPr lang="en-US"/>
              <a:t>Docker Integration: Jenkins can build Docker images and push them to Docker registries.</a:t>
            </a:r>
          </a:p>
          <a:p>
            <a:pPr lvl="1"/>
            <a:r>
              <a:rPr lang="en-US"/>
              <a:t>Kubernetes Integration: It can manage Kubernetes pods, enabling dynamic provisioning of agents for builds and tests.</a:t>
            </a:r>
          </a:p>
          <a:p>
            <a:pPr marL="0" indent="0">
              <a:buNone/>
            </a:pPr>
            <a:r>
              <a:rPr lang="en-US"/>
              <a:t>7. Third-Party Integration</a:t>
            </a:r>
          </a:p>
          <a:p>
            <a:pPr lvl="1"/>
            <a:r>
              <a:rPr lang="en-US"/>
              <a:t>Jenkins' extensive plugin ecosystem allows it to integrate with virtually any tool used in software development, from version control systems like Git to issue tracking systems like JIRA, and artifact repositories like Artifactory.</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26110"/>
            <a:ext cx="10515600" cy="5551170"/>
          </a:xfrm>
        </p:spPr>
        <p:txBody>
          <a:bodyPr/>
          <a:lstStyle/>
          <a:p>
            <a:pPr marL="0" indent="0">
              <a:buNone/>
            </a:pPr>
            <a:r>
              <a:rPr lang="en-US"/>
              <a:t>8. Security and Compliance</a:t>
            </a:r>
          </a:p>
          <a:p>
            <a:pPr lvl="1"/>
            <a:r>
              <a:rPr lang="en-US"/>
              <a:t>Jenkins can help enforce security policies and compliance standards by automating security scans and compliance checks.</a:t>
            </a:r>
          </a:p>
          <a:p>
            <a:pPr lvl="1"/>
            <a:endParaRPr lang="en-US"/>
          </a:p>
          <a:p>
            <a:pPr lvl="1"/>
            <a:r>
              <a:rPr lang="en-US"/>
              <a:t>Static Code Analysis: Plugins can scan source code for security vulnerabilities.</a:t>
            </a:r>
          </a:p>
          <a:p>
            <a:pPr lvl="1"/>
            <a:r>
              <a:rPr lang="en-US"/>
              <a:t>Compliance Checks: Jenkins can run scripts or tools that check compliance with various standards.</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0015"/>
            <a:ext cx="10515600" cy="534035"/>
          </a:xfrm>
        </p:spPr>
        <p:txBody>
          <a:bodyPr>
            <a:normAutofit fontScale="90000"/>
          </a:bodyPr>
          <a:lstStyle/>
          <a:p>
            <a:r>
              <a:rPr lang="en-US" sz="2220"/>
              <a:t>The following diagram shows the overall architecture of Jenkins and the connectivity workflow..</a:t>
            </a:r>
          </a:p>
        </p:txBody>
      </p:sp>
      <p:pic>
        <p:nvPicPr>
          <p:cNvPr id="4" name="Picture 3" descr="Screenshot 2024-11-06 at 7.52.45 PM"/>
          <p:cNvPicPr>
            <a:picLocks noChangeAspect="1"/>
          </p:cNvPicPr>
          <p:nvPr/>
        </p:nvPicPr>
        <p:blipFill>
          <a:blip r:embed="rId2"/>
          <a:stretch>
            <a:fillRect/>
          </a:stretch>
        </p:blipFill>
        <p:spPr>
          <a:xfrm>
            <a:off x="2465070" y="524510"/>
            <a:ext cx="7390765" cy="633349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18160"/>
          </a:xfrm>
        </p:spPr>
        <p:txBody>
          <a:bodyPr>
            <a:normAutofit fontScale="90000"/>
          </a:bodyPr>
          <a:lstStyle/>
          <a:p>
            <a:r>
              <a:rPr lang="en-US" sz="2665">
                <a:sym typeface="+mn-ea"/>
              </a:rPr>
              <a:t>Following are the key components in Jenkins</a:t>
            </a:r>
            <a:br>
              <a:rPr lang="en-US"/>
            </a:br>
            <a:endParaRPr lang="en-US"/>
          </a:p>
        </p:txBody>
      </p:sp>
      <p:sp>
        <p:nvSpPr>
          <p:cNvPr id="3" name="Content Placeholder 2"/>
          <p:cNvSpPr>
            <a:spLocks noGrp="1"/>
          </p:cNvSpPr>
          <p:nvPr>
            <p:ph idx="1"/>
          </p:nvPr>
        </p:nvSpPr>
        <p:spPr>
          <a:xfrm>
            <a:off x="838200" y="644525"/>
            <a:ext cx="10515600" cy="5532755"/>
          </a:xfrm>
        </p:spPr>
        <p:txBody>
          <a:bodyPr/>
          <a:lstStyle/>
          <a:p>
            <a:r>
              <a:rPr lang="en-US"/>
              <a:t>Jenkins Master Node:</a:t>
            </a:r>
          </a:p>
          <a:p>
            <a:pPr lvl="1"/>
            <a:r>
              <a:rPr lang="en-US"/>
              <a:t>Jenkins’s server or master node holds all key configurations. </a:t>
            </a:r>
          </a:p>
          <a:p>
            <a:pPr lvl="1"/>
            <a:r>
              <a:rPr lang="en-US"/>
              <a:t>Jenkins master server is like a control server that orchestrates all the workflow defined in the pipelines. </a:t>
            </a:r>
          </a:p>
          <a:p>
            <a:pPr lvl="1"/>
            <a:r>
              <a:rPr lang="en-US"/>
              <a:t>For example, scheduling a job, monitoring the jobs, etc.</a:t>
            </a:r>
          </a:p>
          <a:p>
            <a:r>
              <a:rPr lang="en-US"/>
              <a:t>Jenkins Agent Nodes/Clouds:</a:t>
            </a:r>
          </a:p>
          <a:p>
            <a:pPr lvl="1"/>
            <a:r>
              <a:rPr lang="en-US"/>
              <a:t>Jenkins agents are the worker nodes that actually execute all the steps mentioned in a Job. </a:t>
            </a:r>
          </a:p>
          <a:p>
            <a:pPr lvl="1"/>
            <a:r>
              <a:rPr lang="en-US"/>
              <a:t>When you create a Jenkins job, you have to assign an agent to it.</a:t>
            </a:r>
          </a:p>
          <a:p>
            <a:pPr lvl="1"/>
            <a:r>
              <a:rPr lang="en-US"/>
              <a:t>Every agent has a label as a unique identifier.</a:t>
            </a:r>
          </a:p>
          <a:p>
            <a:r>
              <a:rPr lang="en-US"/>
              <a:t>Jenkins Web Interface</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4155"/>
            <a:ext cx="10515600" cy="1057910"/>
          </a:xfrm>
        </p:spPr>
        <p:txBody>
          <a:bodyPr>
            <a:normAutofit fontScale="90000"/>
          </a:bodyPr>
          <a:lstStyle/>
          <a:p>
            <a:r>
              <a:rPr lang="en-US" sz="2400"/>
              <a:t>Jenkins Web Interface : </a:t>
            </a:r>
            <a:br>
              <a:rPr lang="en-US" sz="2400"/>
            </a:br>
            <a:r>
              <a:rPr lang="en-US" sz="2400" b="1"/>
              <a:t>Jenkins 2.0 introduced a very intuitive web interface called “Jenkins Blue Ocean“. It has a good visual representation of all the pipelines.</a:t>
            </a:r>
          </a:p>
        </p:txBody>
      </p:sp>
      <p:pic>
        <p:nvPicPr>
          <p:cNvPr id="4" name="Picture 3" descr="Screenshot 2024-11-06 at 8.07.32 PM"/>
          <p:cNvPicPr>
            <a:picLocks noChangeAspect="1"/>
          </p:cNvPicPr>
          <p:nvPr/>
        </p:nvPicPr>
        <p:blipFill>
          <a:blip r:embed="rId2"/>
          <a:stretch>
            <a:fillRect/>
          </a:stretch>
        </p:blipFill>
        <p:spPr>
          <a:xfrm>
            <a:off x="838200" y="1598295"/>
            <a:ext cx="10737850" cy="5133975"/>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5885"/>
            <a:ext cx="10515600" cy="577850"/>
          </a:xfrm>
        </p:spPr>
        <p:txBody>
          <a:bodyPr>
            <a:normAutofit/>
          </a:bodyPr>
          <a:lstStyle/>
          <a:p>
            <a:r>
              <a:rPr lang="en-US" sz="2000"/>
              <a:t>Jenkins server-agent Connectivity</a:t>
            </a:r>
          </a:p>
        </p:txBody>
      </p:sp>
      <p:sp>
        <p:nvSpPr>
          <p:cNvPr id="3" name="Content Placeholder 2"/>
          <p:cNvSpPr>
            <a:spLocks noGrp="1"/>
          </p:cNvSpPr>
          <p:nvPr>
            <p:ph idx="1"/>
          </p:nvPr>
        </p:nvSpPr>
        <p:spPr>
          <a:xfrm>
            <a:off x="838200" y="808355"/>
            <a:ext cx="10515600" cy="5368925"/>
          </a:xfrm>
        </p:spPr>
        <p:txBody>
          <a:bodyPr>
            <a:normAutofit fontScale="97500" lnSpcReduction="10000"/>
          </a:bodyPr>
          <a:lstStyle/>
          <a:p>
            <a:r>
              <a:rPr lang="en-US" sz="2400"/>
              <a:t>There are two types of Jenkins agents</a:t>
            </a:r>
          </a:p>
          <a:p>
            <a:pPr lvl="1"/>
            <a:r>
              <a:rPr lang="en-US" sz="2055" b="1"/>
              <a:t>Agent Nodes</a:t>
            </a:r>
            <a:r>
              <a:rPr lang="en-US" sz="2055"/>
              <a:t>: These are servers (Windows/Linux) that will be configured as static agents.These agents will be up and running all the time and stay connected to the Jenkins server. Organizations use custom scripts to shut down and restart the agents when is not used. Typically during nights &amp; weekends.</a:t>
            </a:r>
          </a:p>
          <a:p>
            <a:pPr lvl="1"/>
            <a:r>
              <a:rPr lang="en-US" sz="2055" b="1"/>
              <a:t>Agent Clouds</a:t>
            </a:r>
            <a:r>
              <a:rPr lang="en-US" sz="2055"/>
              <a:t>: Jenkins Cloud agent is a concept of having dynamic agents. Means, whenever you trigger a job, a agent gets deployed as a VM/container on demand and gets deleted once the job is completed. This method saves money in terms of infra cost when you have a huge Jenkins ecosystem and continuous builds.</a:t>
            </a:r>
          </a:p>
          <a:p>
            <a:r>
              <a:rPr lang="en-US" sz="2400"/>
              <a:t>You can connect a Jenkins master and agent in two ways :</a:t>
            </a:r>
          </a:p>
          <a:p>
            <a:pPr lvl="1"/>
            <a:r>
              <a:rPr lang="en-US" sz="2055" b="1"/>
              <a:t>Using the SSH method</a:t>
            </a:r>
            <a:r>
              <a:rPr lang="en-US" sz="2055"/>
              <a:t>: </a:t>
            </a:r>
          </a:p>
          <a:p>
            <a:pPr lvl="2"/>
            <a:r>
              <a:rPr lang="en-US" sz="1710"/>
              <a:t>Uses the ssh protocol to connect to the agent. The connection gets initiated from the Jenkins master. </a:t>
            </a:r>
          </a:p>
          <a:p>
            <a:pPr lvl="2"/>
            <a:r>
              <a:rPr lang="en-US" sz="1710"/>
              <a:t>There should be connectivity over port 22 between master and agent.</a:t>
            </a:r>
          </a:p>
          <a:p>
            <a:pPr lvl="1"/>
            <a:r>
              <a:rPr lang="en-US" sz="2055" b="1"/>
              <a:t>Using the JNLP method</a:t>
            </a:r>
            <a:r>
              <a:rPr lang="en-US" sz="2055"/>
              <a:t>: </a:t>
            </a:r>
          </a:p>
          <a:p>
            <a:pPr lvl="2"/>
            <a:r>
              <a:rPr lang="en-US" sz="1710"/>
              <a:t>Uses java JNLP protocol (Java Network Launch Protocol). In this method, a java agent gets initiated from the agent with Jenkins master details. For this, the master nodes firewall should allow connectivity on specified JNLP port. </a:t>
            </a:r>
          </a:p>
          <a:p>
            <a:pPr lvl="2"/>
            <a:r>
              <a:rPr lang="en-US" sz="1710"/>
              <a:t>Typically the port assigned will be 50000. This value is configurable.</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5735"/>
            <a:ext cx="10515600" cy="647700"/>
          </a:xfrm>
        </p:spPr>
        <p:txBody>
          <a:bodyPr>
            <a:normAutofit fontScale="90000"/>
          </a:bodyPr>
          <a:lstStyle/>
          <a:p>
            <a:r>
              <a:rPr lang="en-US" sz="2220"/>
              <a:t>The following image shows a high-level view of different types of agents and connectivity types.</a:t>
            </a:r>
          </a:p>
        </p:txBody>
      </p:sp>
      <p:pic>
        <p:nvPicPr>
          <p:cNvPr id="4" name="Picture 3" descr="Screenshot 2024-11-06 at 8.03.23 PM"/>
          <p:cNvPicPr>
            <a:picLocks noChangeAspect="1"/>
          </p:cNvPicPr>
          <p:nvPr/>
        </p:nvPicPr>
        <p:blipFill>
          <a:blip r:embed="rId2"/>
          <a:stretch>
            <a:fillRect/>
          </a:stretch>
        </p:blipFill>
        <p:spPr>
          <a:xfrm>
            <a:off x="2312670" y="560070"/>
            <a:ext cx="7706360" cy="6297295"/>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9465"/>
          </a:xfrm>
        </p:spPr>
        <p:txBody>
          <a:bodyPr/>
          <a:lstStyle/>
          <a:p>
            <a:r>
              <a:rPr lang="en-US"/>
              <a:t>Jenkins link </a:t>
            </a:r>
          </a:p>
        </p:txBody>
      </p:sp>
      <p:sp>
        <p:nvSpPr>
          <p:cNvPr id="3" name="Content Placeholder 2"/>
          <p:cNvSpPr>
            <a:spLocks noGrp="1"/>
          </p:cNvSpPr>
          <p:nvPr>
            <p:ph idx="1"/>
          </p:nvPr>
        </p:nvSpPr>
        <p:spPr/>
        <p:txBody>
          <a:bodyPr/>
          <a:lstStyle/>
          <a:p>
            <a:pPr marL="0" indent="0">
              <a:buNone/>
            </a:pPr>
            <a:r>
              <a:rPr lang="en-US"/>
              <a:t>			</a:t>
            </a:r>
            <a:r>
              <a:rPr lang="en-US" b="1"/>
              <a:t>https://www.jenkins.io/</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5735"/>
            <a:ext cx="10515600" cy="636270"/>
          </a:xfrm>
        </p:spPr>
        <p:txBody>
          <a:bodyPr>
            <a:normAutofit fontScale="90000"/>
          </a:bodyPr>
          <a:lstStyle/>
          <a:p>
            <a:r>
              <a:rPr lang="en-US">
                <a:sym typeface="+mn-ea"/>
              </a:rPr>
              <a:t>Puppet</a:t>
            </a:r>
            <a:endParaRPr lang="en-US"/>
          </a:p>
        </p:txBody>
      </p:sp>
      <p:sp>
        <p:nvSpPr>
          <p:cNvPr id="3" name="Content Placeholder 2"/>
          <p:cNvSpPr>
            <a:spLocks noGrp="1"/>
          </p:cNvSpPr>
          <p:nvPr>
            <p:ph idx="1"/>
          </p:nvPr>
        </p:nvSpPr>
        <p:spPr>
          <a:xfrm>
            <a:off x="838200" y="971550"/>
            <a:ext cx="10515600" cy="5205730"/>
          </a:xfrm>
        </p:spPr>
        <p:txBody>
          <a:bodyPr/>
          <a:lstStyle/>
          <a:p>
            <a:r>
              <a:rPr lang="en-US"/>
              <a:t>Puppet has established itself as one of the leading services in DevOps for multiple server management. </a:t>
            </a:r>
          </a:p>
          <a:p>
            <a:r>
              <a:rPr lang="en-US"/>
              <a:t>Traditionally System administrators utilized shell scripting for operating the servers. </a:t>
            </a:r>
          </a:p>
          <a:p>
            <a:r>
              <a:rPr lang="en-US"/>
              <a:t>Still, it was difficult to scale as this requires constant updates to shell scripts for thousands of changing servers and their system configurations. </a:t>
            </a:r>
          </a:p>
          <a:p>
            <a:r>
              <a:rPr lang="en-US"/>
              <a:t>Specific DevOps applications like Puppet and Chef have solved this problem by allowing automated server setup, program installation, and system management.</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6415"/>
            <a:ext cx="10515600" cy="5650865"/>
          </a:xfrm>
        </p:spPr>
        <p:txBody>
          <a:bodyPr>
            <a:normAutofit fontScale="75000" lnSpcReduction="10000"/>
          </a:bodyPr>
          <a:lstStyle/>
          <a:p>
            <a:r>
              <a:rPr lang="en-US"/>
              <a:t>Puppet is an efficient system management tool for centralizing and automating the configuration management process. </a:t>
            </a:r>
          </a:p>
          <a:p>
            <a:r>
              <a:rPr lang="en-US"/>
              <a:t>It can be used as a software deployment tool .</a:t>
            </a:r>
          </a:p>
          <a:p>
            <a:r>
              <a:rPr lang="en-US"/>
              <a:t>It can also be utilized as  open-source configuration management for server configuration, management, deployment, and orchestration.</a:t>
            </a:r>
          </a:p>
          <a:p>
            <a:r>
              <a:rPr lang="en-US"/>
              <a:t>Puppet is specially designed to manage the configuration of Linux and Windows systems. </a:t>
            </a:r>
          </a:p>
          <a:p>
            <a:r>
              <a:rPr lang="en-US"/>
              <a:t>It is written in Ruby and uses its unique Domain Specific Language (DSL) to describe system configuration.</a:t>
            </a:r>
          </a:p>
          <a:p>
            <a:r>
              <a:rPr lang="en-US" b="1"/>
              <a:t>Configuration management</a:t>
            </a:r>
            <a:r>
              <a:rPr lang="en-US"/>
              <a:t> is maintaining software and computer systems (servers, storage, networks) in a known, desired, and consistent state. It also allows access to an accurate historical record of the system state for project management and audit purposes.</a:t>
            </a:r>
          </a:p>
          <a:p>
            <a:r>
              <a:rPr lang="en-US" sz="2800">
                <a:sym typeface="+mn-ea"/>
              </a:rPr>
              <a:t>There are two main versions of Puppet available in the market: </a:t>
            </a:r>
            <a:endParaRPr lang="en-US" sz="2800"/>
          </a:p>
          <a:p>
            <a:pPr lvl="1"/>
            <a:r>
              <a:rPr lang="en-US" sz="2800" b="1">
                <a:sym typeface="+mn-ea"/>
              </a:rPr>
              <a:t>Open Source Puppet:</a:t>
            </a:r>
            <a:r>
              <a:rPr lang="en-US" sz="2800">
                <a:sym typeface="+mn-ea"/>
              </a:rPr>
              <a:t> This is a basic version of the Puppet configuration management tool. It is licensed under the Apache 2.0 system and can be downloaded from Puppet’s website.</a:t>
            </a:r>
            <a:endParaRPr lang="en-US" sz="2800"/>
          </a:p>
          <a:p>
            <a:pPr lvl="1"/>
            <a:r>
              <a:rPr lang="en-US" sz="2800" b="1">
                <a:sym typeface="+mn-ea"/>
              </a:rPr>
              <a:t>Puppet Enterprise:</a:t>
            </a:r>
            <a:r>
              <a:rPr lang="en-US" sz="2800">
                <a:sym typeface="+mn-ea"/>
              </a:rPr>
              <a:t> is a paid version that allows enterprises to manage nodes effectively with features like compliance reporting, orchestration, role-based access control, GUI, API, and command-line tools.</a:t>
            </a:r>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3510"/>
            <a:ext cx="10515600" cy="542290"/>
          </a:xfrm>
        </p:spPr>
        <p:txBody>
          <a:bodyPr>
            <a:normAutofit fontScale="90000"/>
          </a:bodyPr>
          <a:lstStyle/>
          <a:p>
            <a:r>
              <a:rPr lang="en-US"/>
              <a:t>Architecture</a:t>
            </a:r>
          </a:p>
        </p:txBody>
      </p:sp>
      <p:pic>
        <p:nvPicPr>
          <p:cNvPr id="4" name="Picture 3" descr="Screenshot 2024-11-06 at 8.27.00 PM"/>
          <p:cNvPicPr>
            <a:picLocks noChangeAspect="1"/>
          </p:cNvPicPr>
          <p:nvPr/>
        </p:nvPicPr>
        <p:blipFill>
          <a:blip r:embed="rId2"/>
          <a:stretch>
            <a:fillRect/>
          </a:stretch>
        </p:blipFill>
        <p:spPr>
          <a:xfrm>
            <a:off x="1576705" y="1028700"/>
            <a:ext cx="9260840" cy="5245100"/>
          </a:xfrm>
          <a:prstGeom prst="rect">
            <a:avLst/>
          </a:prstGeom>
          <a:solidFill>
            <a:schemeClr val="bg1"/>
          </a:solidFill>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21640"/>
            <a:ext cx="10515600" cy="5755640"/>
          </a:xfrm>
        </p:spPr>
        <p:txBody>
          <a:bodyPr>
            <a:normAutofit lnSpcReduction="10000"/>
          </a:bodyPr>
          <a:lstStyle/>
          <a:p>
            <a:r>
              <a:rPr lang="en-US" sz="2400" b="1">
                <a:sym typeface="+mn-ea"/>
              </a:rPr>
              <a:t>Server-agent communication follows this pattern:</a:t>
            </a:r>
          </a:p>
          <a:p>
            <a:endParaRPr lang="en-US" sz="2400"/>
          </a:p>
          <a:p>
            <a:r>
              <a:rPr lang="en-US" sz="2400"/>
              <a:t>Puppet follows pull-based architecture where there is an agent who polls the master server and if found any changes in that then it will notify the host machine and the host machine then pull those changes. </a:t>
            </a:r>
          </a:p>
          <a:p>
            <a:r>
              <a:rPr lang="en-US" sz="2400"/>
              <a:t>Puppet uses a Master-Slave architecture in which the Master and Slave communicate through a secure encrypted channel with the help of SSL.</a:t>
            </a:r>
          </a:p>
          <a:p>
            <a:r>
              <a:rPr lang="en-US" sz="2400"/>
              <a:t>The Puppet Agent sends the Facts to the Puppet Master. Facts are basically key/value data pair that represents some aspect of a Slave state, such as its IP address, uptime, operating system, or whether it’s a virtual machine.</a:t>
            </a:r>
          </a:p>
          <a:p>
            <a:r>
              <a:rPr lang="en-US" sz="2400"/>
              <a:t>Puppet Master uses the facts to compile a Catalog that defines how the Slave should be configured. The catalog is a document that describes the desired state for each resource that the Puppet Master manages on a Slave.</a:t>
            </a:r>
          </a:p>
          <a:p>
            <a:r>
              <a:rPr lang="en-US" sz="2400"/>
              <a:t>Puppet Slave reports back to Master indicating that Configuration is complete, which is visible in the Puppet dashboard.</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34340"/>
            <a:ext cx="10515600" cy="532130"/>
          </a:xfrm>
        </p:spPr>
        <p:txBody>
          <a:bodyPr>
            <a:normAutofit fontScale="90000"/>
          </a:bodyPr>
          <a:lstStyle/>
          <a:p>
            <a:r>
              <a:rPr lang="en-US" sz="3555" b="1">
                <a:sym typeface="+mn-ea"/>
              </a:rPr>
              <a:t>Master-Slave communication:</a:t>
            </a:r>
            <a:br>
              <a:rPr lang="en-US" sz="2220"/>
            </a:br>
            <a:br>
              <a:rPr lang="en-US" sz="2220"/>
            </a:br>
            <a:endParaRPr lang="en-US" sz="2220"/>
          </a:p>
        </p:txBody>
      </p:sp>
      <p:sp>
        <p:nvSpPr>
          <p:cNvPr id="3" name="Content Placeholder 2"/>
          <p:cNvSpPr>
            <a:spLocks noGrp="1"/>
          </p:cNvSpPr>
          <p:nvPr>
            <p:ph idx="1"/>
          </p:nvPr>
        </p:nvSpPr>
        <p:spPr>
          <a:xfrm>
            <a:off x="838200" y="965835"/>
            <a:ext cx="10515600" cy="5211445"/>
          </a:xfrm>
        </p:spPr>
        <p:txBody>
          <a:bodyPr>
            <a:normAutofit fontScale="92500"/>
          </a:bodyPr>
          <a:lstStyle/>
          <a:p>
            <a:endParaRPr lang="en-US" sz="2800">
              <a:sym typeface="+mn-ea"/>
            </a:endParaRPr>
          </a:p>
          <a:p>
            <a:r>
              <a:rPr lang="en-US" sz="2800">
                <a:sym typeface="+mn-ea"/>
              </a:rPr>
              <a:t>Puppet is configured in an agent-server architecture, in which a primary server node controls configuration information for a fleet of managed agent nodes.</a:t>
            </a:r>
            <a:endParaRPr lang="en-US" sz="2800"/>
          </a:p>
          <a:p>
            <a:endParaRPr lang="en-US" sz="2800" b="1">
              <a:sym typeface="+mn-ea"/>
            </a:endParaRPr>
          </a:p>
          <a:p>
            <a:r>
              <a:rPr lang="en-US" sz="2800" b="1">
                <a:sym typeface="+mn-ea"/>
              </a:rPr>
              <a:t>Communication and security in agent-server installations:</a:t>
            </a:r>
          </a:p>
          <a:p>
            <a:r>
              <a:rPr lang="en-US">
                <a:sym typeface="+mn-ea"/>
              </a:rPr>
              <a:t>Puppet Master and Slave communicate through a secure encrypted channel with the help of SSL.</a:t>
            </a:r>
          </a:p>
          <a:p>
            <a:r>
              <a:rPr lang="en-US" sz="2800">
                <a:sym typeface="+mn-ea"/>
              </a:rPr>
              <a:t>primary servers and agents communicate by HTTPS using SSL certificates.</a:t>
            </a:r>
          </a:p>
          <a:p>
            <a:r>
              <a:rPr lang="en-US" sz="2800">
                <a:sym typeface="+mn-ea"/>
              </a:rPr>
              <a:t>includes a built-in certificate authority for managing certificates. Agents automatically request certificates through the primary server's HTTP endpoint, and you use the puppetserver ca command to inspect requests and sign new certificates.</a:t>
            </a:r>
            <a:endParaRPr lang="en-US" sz="2800"/>
          </a:p>
          <a:p>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4-11-06 at 8.27.12 PM"/>
          <p:cNvPicPr>
            <a:picLocks noChangeAspect="1"/>
          </p:cNvPicPr>
          <p:nvPr/>
        </p:nvPicPr>
        <p:blipFill>
          <a:blip r:embed="rId2"/>
          <a:stretch>
            <a:fillRect/>
          </a:stretch>
        </p:blipFill>
        <p:spPr>
          <a:xfrm>
            <a:off x="1593215" y="600710"/>
            <a:ext cx="9566910" cy="5902960"/>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83870"/>
          </a:xfrm>
        </p:spPr>
        <p:txBody>
          <a:bodyPr>
            <a:normAutofit fontScale="90000"/>
          </a:bodyPr>
          <a:lstStyle/>
          <a:p>
            <a:r>
              <a:rPr lang="en-US"/>
              <a:t>Components of puppet:</a:t>
            </a:r>
          </a:p>
        </p:txBody>
      </p:sp>
      <p:sp>
        <p:nvSpPr>
          <p:cNvPr id="3" name="Content Placeholder 2"/>
          <p:cNvSpPr>
            <a:spLocks noGrp="1"/>
          </p:cNvSpPr>
          <p:nvPr>
            <p:ph idx="1"/>
          </p:nvPr>
        </p:nvSpPr>
        <p:spPr>
          <a:xfrm>
            <a:off x="838200" y="1059180"/>
            <a:ext cx="10515600" cy="5118100"/>
          </a:xfrm>
        </p:spPr>
        <p:txBody>
          <a:bodyPr>
            <a:normAutofit lnSpcReduction="10000"/>
          </a:bodyPr>
          <a:lstStyle/>
          <a:p>
            <a:r>
              <a:rPr lang="en-US" b="1"/>
              <a:t>Manifest File:</a:t>
            </a:r>
          </a:p>
          <a:p>
            <a:pPr lvl="1"/>
            <a:r>
              <a:rPr lang="en-US"/>
              <a:t>Every Slave has got its configuration details in Puppet Master, written in the native Puppet language. </a:t>
            </a:r>
          </a:p>
          <a:p>
            <a:pPr lvl="1"/>
            <a:r>
              <a:rPr lang="en-US"/>
              <a:t>These details are written in the language which Puppet can understand and are termed Manifests. </a:t>
            </a:r>
          </a:p>
          <a:p>
            <a:pPr lvl="1"/>
            <a:r>
              <a:rPr lang="en-US"/>
              <a:t>They are composed of Puppet code and their filenames use the .pp extension. </a:t>
            </a:r>
          </a:p>
          <a:p>
            <a:pPr lvl="1"/>
            <a:r>
              <a:rPr lang="en-US"/>
              <a:t>These are basically Puppet programs.</a:t>
            </a:r>
          </a:p>
          <a:p>
            <a:endParaRPr lang="en-US"/>
          </a:p>
          <a:p>
            <a:r>
              <a:rPr lang="en-US" b="1"/>
              <a:t>Module:</a:t>
            </a:r>
          </a:p>
          <a:p>
            <a:pPr lvl="1"/>
            <a:r>
              <a:rPr lang="en-US"/>
              <a:t>A Puppet Module is a collection of Manifests and data (such as facts, files, and templates), and they have a specific directory structure.</a:t>
            </a:r>
          </a:p>
          <a:p>
            <a:pPr lvl="1"/>
            <a:r>
              <a:rPr lang="en-US"/>
              <a:t>Modules are useful for organizing your Puppet code because they allow you to split your code into multiple Manifests.</a:t>
            </a:r>
          </a:p>
          <a:p>
            <a:pPr lvl="1"/>
            <a:r>
              <a:rPr lang="en-US"/>
              <a:t> Modules are self-contained bundles of code and data.</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6220"/>
            <a:ext cx="10515600" cy="589280"/>
          </a:xfrm>
        </p:spPr>
        <p:txBody>
          <a:bodyPr>
            <a:normAutofit fontScale="90000"/>
          </a:bodyPr>
          <a:lstStyle/>
          <a:p>
            <a:r>
              <a:rPr lang="en-US">
                <a:sym typeface="+mn-ea"/>
              </a:rPr>
              <a:t>Components of puppet:</a:t>
            </a:r>
            <a:endParaRPr lang="en-US"/>
          </a:p>
        </p:txBody>
      </p:sp>
      <p:sp>
        <p:nvSpPr>
          <p:cNvPr id="3" name="Content Placeholder 2"/>
          <p:cNvSpPr>
            <a:spLocks noGrp="1"/>
          </p:cNvSpPr>
          <p:nvPr>
            <p:ph idx="1"/>
          </p:nvPr>
        </p:nvSpPr>
        <p:spPr>
          <a:xfrm>
            <a:off x="838200" y="1112520"/>
            <a:ext cx="10515600" cy="5064760"/>
          </a:xfrm>
        </p:spPr>
        <p:txBody>
          <a:bodyPr>
            <a:normAutofit fontScale="87500"/>
          </a:bodyPr>
          <a:lstStyle/>
          <a:p>
            <a:r>
              <a:rPr lang="en-US" b="1"/>
              <a:t>Resource:</a:t>
            </a:r>
          </a:p>
          <a:p>
            <a:pPr lvl="1"/>
            <a:r>
              <a:rPr lang="en-US"/>
              <a:t>Resources are the fundamental unit for modeling system configurations. </a:t>
            </a:r>
          </a:p>
          <a:p>
            <a:pPr lvl="1"/>
            <a:r>
              <a:rPr lang="en-US"/>
              <a:t>Each Resource describes some aspect of a system, like a specific service or package.</a:t>
            </a:r>
          </a:p>
          <a:p>
            <a:r>
              <a:rPr lang="en-US" b="1"/>
              <a:t>Facter:</a:t>
            </a:r>
          </a:p>
          <a:p>
            <a:pPr lvl="1"/>
            <a:r>
              <a:rPr lang="en-US"/>
              <a:t>Facter gathers basic information (facts) about Puppet Slaves such as hardware details, network settings, OS type and version, IP addresses, MAC addresses, SSH keys, and more. These facts are then made available in Puppet Master’s Manifests as variables.</a:t>
            </a:r>
          </a:p>
          <a:p>
            <a:r>
              <a:rPr lang="en-US" b="1"/>
              <a:t>Catalogs:</a:t>
            </a:r>
          </a:p>
          <a:p>
            <a:pPr lvl="1"/>
            <a:r>
              <a:rPr lang="en-US"/>
              <a:t>A Catalog describes the desired state of each managed resource on a Slave. It is a compilation of all the resources that the Puppet Master applies to a given Slave, as well as the relationships between those resources.</a:t>
            </a:r>
          </a:p>
          <a:p>
            <a:r>
              <a:rPr lang="en-US" b="1"/>
              <a:t>Mcollective:</a:t>
            </a:r>
          </a:p>
          <a:p>
            <a:pPr lvl="1"/>
            <a:r>
              <a:rPr lang="en-US"/>
              <a:t>It is a framework that allows several jobs to be executed in parallel on multiple Slaves.</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6580"/>
          </a:xfrm>
        </p:spPr>
        <p:txBody>
          <a:bodyPr>
            <a:normAutofit fontScale="90000"/>
          </a:bodyPr>
          <a:lstStyle/>
          <a:p>
            <a:r>
              <a:rPr lang="en-US"/>
              <a:t>Why do we use Puppet?</a:t>
            </a:r>
          </a:p>
        </p:txBody>
      </p:sp>
      <p:sp>
        <p:nvSpPr>
          <p:cNvPr id="3" name="Content Placeholder 2"/>
          <p:cNvSpPr>
            <a:spLocks noGrp="1"/>
          </p:cNvSpPr>
          <p:nvPr>
            <p:ph idx="1"/>
          </p:nvPr>
        </p:nvSpPr>
        <p:spPr>
          <a:xfrm>
            <a:off x="838200" y="1315085"/>
            <a:ext cx="10515600" cy="4862195"/>
          </a:xfrm>
        </p:spPr>
        <p:txBody>
          <a:bodyPr/>
          <a:lstStyle/>
          <a:p>
            <a:r>
              <a:rPr lang="en-US" b="1"/>
              <a:t>Large installed base:</a:t>
            </a:r>
            <a:r>
              <a:rPr lang="en-US"/>
              <a:t> Puppet is used by more than 30,000 companies worldwide</a:t>
            </a:r>
          </a:p>
          <a:p>
            <a:r>
              <a:rPr lang="en-US" b="1"/>
              <a:t>Large developer base:</a:t>
            </a:r>
            <a:r>
              <a:rPr lang="en-US"/>
              <a:t> Puppet is so widely used that lots of people develop it. Puppet has many contributors to its core source code.</a:t>
            </a:r>
          </a:p>
          <a:p>
            <a:r>
              <a:rPr lang="en-US" b="1"/>
              <a:t>Long commercial track record:</a:t>
            </a:r>
            <a:r>
              <a:rPr lang="en-US"/>
              <a:t> Puppet has been in commercial use since 2005, and has been continually refined and improved.</a:t>
            </a:r>
          </a:p>
          <a:p>
            <a:r>
              <a:rPr lang="en-US" b="1"/>
              <a:t>Platform support:</a:t>
            </a:r>
            <a:r>
              <a:rPr lang="en-US"/>
              <a:t> Puppet Server can run on any platform that supports Ruby. for eg: CentOS, Microsoft Windows Server, Oracle Enterprise Linux, etc.</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98805"/>
            <a:ext cx="10515600" cy="471805"/>
          </a:xfrm>
        </p:spPr>
        <p:txBody>
          <a:bodyPr>
            <a:normAutofit fontScale="90000"/>
          </a:bodyPr>
          <a:lstStyle/>
          <a:p>
            <a:r>
              <a:rPr lang="en-US" sz="3555">
                <a:sym typeface="+mn-ea"/>
              </a:rPr>
              <a:t>Applications of Puppet:</a:t>
            </a:r>
            <a:br>
              <a:rPr lang="en-US"/>
            </a:br>
            <a:endParaRPr lang="en-US"/>
          </a:p>
        </p:txBody>
      </p:sp>
      <p:sp>
        <p:nvSpPr>
          <p:cNvPr id="3" name="Content Placeholder 2"/>
          <p:cNvSpPr>
            <a:spLocks noGrp="1"/>
          </p:cNvSpPr>
          <p:nvPr>
            <p:ph idx="1"/>
          </p:nvPr>
        </p:nvSpPr>
        <p:spPr>
          <a:xfrm>
            <a:off x="838200" y="1205865"/>
            <a:ext cx="10515600" cy="4971415"/>
          </a:xfrm>
        </p:spPr>
        <p:txBody>
          <a:bodyPr>
            <a:normAutofit fontScale="87500"/>
          </a:bodyPr>
          <a:lstStyle/>
          <a:p>
            <a:r>
              <a:rPr lang="en-US" b="1"/>
              <a:t>Speed of Recovery </a:t>
            </a:r>
            <a:r>
              <a:rPr lang="en-US"/>
              <a:t>— The production operations team can rapidly deploy the right configuration to the right box. If a system gets inappropriately reconfigured Puppet will automatically revert it back to a last stable state, or provide the details necessary to manually remediate a system rapidly.</a:t>
            </a:r>
          </a:p>
          <a:p>
            <a:r>
              <a:rPr lang="en-US" b="1"/>
              <a:t>The speed of Deployment </a:t>
            </a:r>
            <a:r>
              <a:rPr lang="en-US"/>
              <a:t>— Puppet has provided significant time savings in the way the operations team delivers services for the gaming studios.</a:t>
            </a:r>
          </a:p>
          <a:p>
            <a:r>
              <a:rPr lang="en-US" b="1"/>
              <a:t>Consistency of Servers </a:t>
            </a:r>
            <a:r>
              <a:rPr lang="en-US"/>
              <a:t>— Puppet’s model-driven framework ensures consistent deployments.</a:t>
            </a:r>
          </a:p>
          <a:p>
            <a:r>
              <a:rPr lang="en-US" b="1"/>
              <a:t>Collaboration</a:t>
            </a:r>
            <a:r>
              <a:rPr lang="en-US"/>
              <a:t> — Having a model-driven approach makes it easy to share configurations across the organization, enabling developers and operations teams to work together to ensure new service delivery is of extremely high quality.</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2475"/>
          </a:xfrm>
        </p:spPr>
        <p:txBody>
          <a:bodyPr/>
          <a:lstStyle/>
          <a:p>
            <a:r>
              <a:rPr lang="en-US"/>
              <a:t>Puppet Link</a:t>
            </a:r>
          </a:p>
        </p:txBody>
      </p:sp>
      <p:sp>
        <p:nvSpPr>
          <p:cNvPr id="3" name="Content Placeholder 2"/>
          <p:cNvSpPr>
            <a:spLocks noGrp="1"/>
          </p:cNvSpPr>
          <p:nvPr>
            <p:ph idx="1"/>
          </p:nvPr>
        </p:nvSpPr>
        <p:spPr/>
        <p:txBody>
          <a:bodyPr/>
          <a:lstStyle/>
          <a:p>
            <a:pPr marL="0" indent="0">
              <a:buNone/>
            </a:pPr>
            <a:r>
              <a:rPr lang="en-US"/>
              <a:t>	</a:t>
            </a:r>
            <a:r>
              <a:rPr lang="en-US" b="1"/>
              <a:t>	https://www.puppet.com/</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90525"/>
          </a:xfrm>
        </p:spPr>
        <p:txBody>
          <a:bodyPr>
            <a:normAutofit fontScale="90000"/>
          </a:bodyPr>
          <a:lstStyle/>
          <a:p>
            <a:r>
              <a:rPr lang="en-US">
                <a:sym typeface="+mn-ea"/>
              </a:rPr>
              <a:t>Ansible</a:t>
            </a:r>
            <a:br>
              <a:rPr lang="en-US"/>
            </a:br>
            <a:endParaRPr lang="en-US"/>
          </a:p>
        </p:txBody>
      </p:sp>
      <p:sp>
        <p:nvSpPr>
          <p:cNvPr id="3" name="Content Placeholder 2"/>
          <p:cNvSpPr>
            <a:spLocks noGrp="1"/>
          </p:cNvSpPr>
          <p:nvPr>
            <p:ph idx="1"/>
          </p:nvPr>
        </p:nvSpPr>
        <p:spPr>
          <a:xfrm>
            <a:off x="838200" y="878205"/>
            <a:ext cx="10515600" cy="5894705"/>
          </a:xfrm>
        </p:spPr>
        <p:txBody>
          <a:bodyPr>
            <a:normAutofit fontScale="87500" lnSpcReduction="20000"/>
          </a:bodyPr>
          <a:lstStyle/>
          <a:p>
            <a:r>
              <a:rPr lang="en-US"/>
              <a:t>Ansible is a software tool that provides simple but powerful automation for cross-platform computer support. </a:t>
            </a:r>
          </a:p>
          <a:p>
            <a:r>
              <a:rPr lang="en-US"/>
              <a:t>It is primarily intended for IT professionals, who use it for application deployment, updates on workstations and servers, cloud provisioning, configuration management, intra-service orchestration, and nearly anything a systems administrator does on a weekly or daily basis. </a:t>
            </a:r>
          </a:p>
          <a:p>
            <a:r>
              <a:rPr lang="en-US"/>
              <a:t>Ansible doesn't depend on agent software and has no additional security infrastructure, so it's easy to deploy.</a:t>
            </a:r>
          </a:p>
          <a:p>
            <a:r>
              <a:rPr lang="en-US"/>
              <a:t>Because Ansible is all about automation, it requires instructions to accomplish each job. </a:t>
            </a:r>
          </a:p>
          <a:p>
            <a:r>
              <a:rPr lang="en-US"/>
              <a:t>With everything written down in simple script form, it's easy to do version control.</a:t>
            </a:r>
          </a:p>
          <a:p>
            <a:r>
              <a:rPr lang="en-US"/>
              <a:t>Ansible allows you to configure not just one computer, but potentially a whole network of computers at once, and using it requires no programming skills. </a:t>
            </a:r>
          </a:p>
          <a:p>
            <a:r>
              <a:rPr lang="en-US"/>
              <a:t>Instructions written for Ansible are human-readable. </a:t>
            </a:r>
          </a:p>
          <a:p>
            <a:r>
              <a:rPr lang="en-US"/>
              <a:t>Whether you're entirely new to computers or an expert, Ansible files are easy to understand.</a:t>
            </a:r>
          </a:p>
          <a:p>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1685"/>
          </a:xfrm>
        </p:spPr>
        <p:txBody>
          <a:bodyPr/>
          <a:lstStyle/>
          <a:p>
            <a:r>
              <a:rPr lang="en-US">
                <a:sym typeface="+mn-ea"/>
              </a:rPr>
              <a:t>Ansible</a:t>
            </a:r>
            <a:endParaRPr lang="en-US"/>
          </a:p>
        </p:txBody>
      </p:sp>
      <p:sp>
        <p:nvSpPr>
          <p:cNvPr id="3" name="Content Placeholder 2"/>
          <p:cNvSpPr>
            <a:spLocks noGrp="1"/>
          </p:cNvSpPr>
          <p:nvPr>
            <p:ph idx="1"/>
          </p:nvPr>
        </p:nvSpPr>
        <p:spPr>
          <a:xfrm>
            <a:off x="838200" y="1229995"/>
            <a:ext cx="10515600" cy="4947285"/>
          </a:xfrm>
        </p:spPr>
        <p:txBody>
          <a:bodyPr>
            <a:normAutofit fontScale="90000" lnSpcReduction="20000"/>
          </a:bodyPr>
          <a:lstStyle/>
          <a:p>
            <a:r>
              <a:rPr lang="en-US"/>
              <a:t>Ansible is a powerful and widely adopted automation and configuration management tool important in 2024 for several reasons. </a:t>
            </a:r>
          </a:p>
          <a:p>
            <a:r>
              <a:rPr lang="en-US"/>
              <a:t>This tool stands out for its simplicity and versatility. </a:t>
            </a:r>
          </a:p>
          <a:p>
            <a:r>
              <a:rPr lang="en-US"/>
              <a:t>It empowers organizations to automate repetitive tasks, provisioning of infrastructure, and configuration management across diverse environments, making it an invaluable asset for DevOps and IT teams.</a:t>
            </a:r>
          </a:p>
          <a:p>
            <a:r>
              <a:rPr lang="en-US"/>
              <a:t>Furthermore, Ansible's agentless architecture, declarative language, and a vast library of pre-built modules make it accessible to both beginners and seasoned professionals. </a:t>
            </a:r>
          </a:p>
          <a:p>
            <a:r>
              <a:rPr lang="en-US"/>
              <a:t>As organizations prioritize efficiency, scalability, and the rapid deployment of applications and services, </a:t>
            </a:r>
          </a:p>
          <a:p>
            <a:r>
              <a:rPr lang="en-US"/>
              <a:t>Ansible remains an indispensable DevOps toolkit, helping teams streamline operations, enhance security, and maintain infrastructure at scale, all while reducing manual errors and increasing agility in a fast-paced technological landscape.</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71195"/>
          </a:xfrm>
        </p:spPr>
        <p:txBody>
          <a:bodyPr>
            <a:normAutofit fontScale="90000"/>
          </a:bodyPr>
          <a:lstStyle/>
          <a:p>
            <a:r>
              <a:rPr lang="en-US"/>
              <a:t>Understanding Ansible’s Architecture</a:t>
            </a:r>
          </a:p>
        </p:txBody>
      </p:sp>
      <p:sp>
        <p:nvSpPr>
          <p:cNvPr id="3" name="Content Placeholder 2"/>
          <p:cNvSpPr>
            <a:spLocks noGrp="1"/>
          </p:cNvSpPr>
          <p:nvPr>
            <p:ph idx="1"/>
          </p:nvPr>
        </p:nvSpPr>
        <p:spPr>
          <a:xfrm>
            <a:off x="838200" y="1193800"/>
            <a:ext cx="10515600" cy="5392420"/>
          </a:xfrm>
        </p:spPr>
        <p:txBody>
          <a:bodyPr/>
          <a:lstStyle/>
          <a:p>
            <a:r>
              <a:rPr lang="en-US"/>
              <a:t>At its core, Ansible is built on a simple yet powerful architecture, primarily composed of two types of machines: the Control Node and Managed Nodes.</a:t>
            </a:r>
          </a:p>
          <a:p>
            <a:r>
              <a:rPr lang="en-US"/>
              <a:t>Control Node: The machine where Ansible is installed and from which all tasks and playbooks are run. You can have multiple control nodes.</a:t>
            </a:r>
          </a:p>
          <a:p>
            <a:r>
              <a:rPr lang="en-US"/>
              <a:t>Managed Nodes: The servers (nodes) you manage with Ansible. There’s no need to install Ansible on these nodes, as the control node communicates with them using SSH or PowerShell.</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5785"/>
          </a:xfrm>
        </p:spPr>
        <p:txBody>
          <a:bodyPr>
            <a:normAutofit fontScale="90000"/>
          </a:bodyPr>
          <a:lstStyle/>
          <a:p>
            <a:r>
              <a:rPr lang="en-US"/>
              <a:t>Components of Ansible </a:t>
            </a:r>
          </a:p>
        </p:txBody>
      </p:sp>
      <p:sp>
        <p:nvSpPr>
          <p:cNvPr id="3" name="Content Placeholder 2"/>
          <p:cNvSpPr>
            <a:spLocks noGrp="1"/>
          </p:cNvSpPr>
          <p:nvPr>
            <p:ph idx="1"/>
          </p:nvPr>
        </p:nvSpPr>
        <p:spPr>
          <a:xfrm>
            <a:off x="838200" y="1100455"/>
            <a:ext cx="10515600" cy="5076825"/>
          </a:xfrm>
        </p:spPr>
        <p:txBody>
          <a:bodyPr>
            <a:normAutofit fontScale="87500" lnSpcReduction="10000"/>
          </a:bodyPr>
          <a:lstStyle/>
          <a:p>
            <a:r>
              <a:rPr lang="en-US" b="1"/>
              <a:t>Modules</a:t>
            </a:r>
            <a:r>
              <a:rPr lang="en-US"/>
              <a:t>: </a:t>
            </a:r>
          </a:p>
          <a:p>
            <a:pPr lvl="1"/>
            <a:r>
              <a:rPr lang="en-US"/>
              <a:t>Modules are script-like programs written to specify the desired state of the system. These are typically written in a code editor. </a:t>
            </a:r>
          </a:p>
          <a:p>
            <a:pPr lvl="1"/>
            <a:r>
              <a:rPr lang="en-US"/>
              <a:t>Modules are written by the developer and executed via SSH. </a:t>
            </a:r>
          </a:p>
          <a:p>
            <a:pPr lvl="1"/>
            <a:r>
              <a:rPr lang="en-US"/>
              <a:t>Modules are part of a larger program called Playbook. </a:t>
            </a:r>
          </a:p>
          <a:p>
            <a:pPr lvl="1"/>
            <a:r>
              <a:rPr lang="en-US"/>
              <a:t>Ansible module is a standalone script that can be used inside an Ansible Playbook.</a:t>
            </a:r>
          </a:p>
          <a:p>
            <a:r>
              <a:rPr lang="en-US" b="1"/>
              <a:t>Plugins</a:t>
            </a:r>
            <a:r>
              <a:rPr lang="en-US"/>
              <a:t>: </a:t>
            </a:r>
          </a:p>
          <a:p>
            <a:pPr lvl="1"/>
            <a:r>
              <a:rPr lang="en-US"/>
              <a:t>Plugins are pieces of code that enhance the core functionality of Ansible. Plugins execute on the control node.</a:t>
            </a:r>
          </a:p>
          <a:p>
            <a:r>
              <a:rPr lang="en-US" b="1"/>
              <a:t>Inventory:</a:t>
            </a:r>
            <a:r>
              <a:rPr lang="en-US"/>
              <a:t> </a:t>
            </a:r>
          </a:p>
          <a:p>
            <a:pPr lvl="1"/>
            <a:r>
              <a:rPr lang="en-US"/>
              <a:t>Ansible reads information about the machines you manage from the inventory. Inventory is listed in the file which contains IP addresses, databases, and servers.</a:t>
            </a:r>
          </a:p>
          <a:p>
            <a:r>
              <a:rPr lang="en-US" b="1"/>
              <a:t>Playbook:</a:t>
            </a:r>
            <a:r>
              <a:rPr lang="en-US"/>
              <a:t> </a:t>
            </a:r>
          </a:p>
          <a:p>
            <a:pPr lvl="1"/>
            <a:r>
              <a:rPr lang="en-US"/>
              <a:t>Playbooks are files written in YAML. Playbooks describe the tasks to be done by declaring configurations in order to bring a managed node into the desired state.</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7065"/>
          </a:xfrm>
        </p:spPr>
        <p:txBody>
          <a:bodyPr>
            <a:normAutofit fontScale="90000"/>
          </a:bodyPr>
          <a:lstStyle/>
          <a:p>
            <a:r>
              <a:rPr lang="en-US"/>
              <a:t>Architecture</a:t>
            </a:r>
          </a:p>
        </p:txBody>
      </p:sp>
      <p:pic>
        <p:nvPicPr>
          <p:cNvPr id="4" name="Picture 3" descr="Screenshot 2024-11-06 at 8.57.08 PM"/>
          <p:cNvPicPr>
            <a:picLocks noChangeAspect="1"/>
          </p:cNvPicPr>
          <p:nvPr/>
        </p:nvPicPr>
        <p:blipFill>
          <a:blip r:embed="rId2"/>
          <a:stretch>
            <a:fillRect/>
          </a:stretch>
        </p:blipFill>
        <p:spPr>
          <a:xfrm>
            <a:off x="1217295" y="1148080"/>
            <a:ext cx="9805035" cy="5157470"/>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71830"/>
          </a:xfrm>
        </p:spPr>
        <p:txBody>
          <a:bodyPr>
            <a:normAutofit fontScale="90000"/>
          </a:bodyPr>
          <a:lstStyle/>
          <a:p>
            <a:r>
              <a:rPr lang="en-US"/>
              <a:t>Architecture</a:t>
            </a:r>
          </a:p>
        </p:txBody>
      </p:sp>
      <p:sp>
        <p:nvSpPr>
          <p:cNvPr id="3" name="Content Placeholder 2"/>
          <p:cNvSpPr>
            <a:spLocks noGrp="1"/>
          </p:cNvSpPr>
          <p:nvPr>
            <p:ph idx="1"/>
          </p:nvPr>
        </p:nvSpPr>
        <p:spPr>
          <a:xfrm>
            <a:off x="300990" y="1229360"/>
            <a:ext cx="11707495" cy="5485765"/>
          </a:xfrm>
        </p:spPr>
        <p:txBody>
          <a:bodyPr>
            <a:noAutofit/>
          </a:bodyPr>
          <a:lstStyle/>
          <a:p>
            <a:r>
              <a:rPr lang="en-US" sz="1600"/>
              <a:t>Everything from servers to desktop computers to network configurations and applications can all be stored in a Public/Private Cloud.</a:t>
            </a:r>
          </a:p>
          <a:p>
            <a:r>
              <a:rPr lang="en-US" sz="1600"/>
              <a:t>It demonstrates that it has all the features of a sizable cloud platform, but it also allows users to communicate with all of the modules and API. It also demonstrates that it has security measures.</a:t>
            </a:r>
          </a:p>
          <a:p>
            <a:r>
              <a:rPr lang="en-US" sz="1600"/>
              <a:t>An inventory file contains devices, groups, host variables, templates, and tasks. Along with the inventory file, playbooks must be created that describe how to handle all the devices, groups, host variables, and templates.</a:t>
            </a:r>
          </a:p>
          <a:p>
            <a:r>
              <a:rPr lang="en-US" sz="1600"/>
              <a:t>Once Ansible has a task or set of tasks in a playbook to run, it needs to know where to run those tasks. It needs an inventory of hosts. Ansible has a concept called “inventories” that consist of lists of hosts to perform actions stored in files as YAML.</a:t>
            </a:r>
          </a:p>
          <a:p>
            <a:r>
              <a:rPr lang="en-US" sz="1600"/>
              <a:t>Modules in Ansible allow you to interact with the cloud like Azure or on-prem resources like Hyper-V. An Ansible module is a standalone, reusable script that can be used with the Ansible API. They can also be used by Ansible playbooks. One of the key factors of an Ansible module is that they are reusable and not meant for just one environment.</a:t>
            </a:r>
          </a:p>
          <a:p>
            <a:r>
              <a:rPr lang="en-US" sz="1600"/>
              <a:t>The augmented ansible’s core is created by combining all of the cache, logging purposes, ansible’s functioning, and so on.</a:t>
            </a:r>
          </a:p>
          <a:p>
            <a:r>
              <a:rPr lang="en-US" sz="1600"/>
              <a:t>It allows for the creation of various agentless frames that can be utilized in multiple automated networks.</a:t>
            </a:r>
          </a:p>
          <a:p>
            <a:r>
              <a:rPr lang="en-US" sz="1600"/>
              <a:t>A single repository can contain all the computers of an operational or IT infrastructure network.</a:t>
            </a:r>
          </a:p>
          <a:p>
            <a:r>
              <a:rPr lang="en-US" sz="1600"/>
              <a:t>Ansible is being used to make Linux and Unix machines automated.</a:t>
            </a:r>
          </a:p>
          <a:p>
            <a:r>
              <a:rPr lang="en-US" sz="1600"/>
              <a:t>It provides the needed APIs for the interaction of the end-to-end modules</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Link for ansible</a:t>
            </a:r>
          </a:p>
        </p:txBody>
      </p:sp>
      <p:sp>
        <p:nvSpPr>
          <p:cNvPr id="3" name="Content Placeholder 2"/>
          <p:cNvSpPr>
            <a:spLocks noGrp="1"/>
          </p:cNvSpPr>
          <p:nvPr>
            <p:ph idx="1"/>
          </p:nvPr>
        </p:nvSpPr>
        <p:spPr/>
        <p:txBody>
          <a:bodyPr/>
          <a:lstStyle/>
          <a:p>
            <a:pPr marL="0" indent="0">
              <a:buNone/>
            </a:pPr>
            <a:r>
              <a:rPr lang="en-US"/>
              <a:t>		</a:t>
            </a:r>
            <a:r>
              <a:rPr lang="en-US" b="1"/>
              <a:t>https://www.ansible.com/</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9130"/>
          </a:xfrm>
        </p:spPr>
        <p:txBody>
          <a:bodyPr>
            <a:normAutofit fontScale="90000"/>
          </a:bodyPr>
          <a:lstStyle/>
          <a:p>
            <a:r>
              <a:rPr lang="en-US"/>
              <a:t>Continuous monitoring</a:t>
            </a:r>
          </a:p>
        </p:txBody>
      </p:sp>
      <p:sp>
        <p:nvSpPr>
          <p:cNvPr id="3" name="Content Placeholder 2"/>
          <p:cNvSpPr>
            <a:spLocks noGrp="1"/>
          </p:cNvSpPr>
          <p:nvPr>
            <p:ph idx="1"/>
          </p:nvPr>
        </p:nvSpPr>
        <p:spPr>
          <a:xfrm>
            <a:off x="838200" y="1299845"/>
            <a:ext cx="10515600" cy="4877435"/>
          </a:xfrm>
        </p:spPr>
        <p:txBody>
          <a:bodyPr/>
          <a:lstStyle/>
          <a:p>
            <a:r>
              <a:rPr lang="en-US"/>
              <a:t>Continuous monitoring is a mechanism for detecting, reporting, and responding to all attacks on the infrastructure. </a:t>
            </a:r>
          </a:p>
          <a:p>
            <a:r>
              <a:rPr lang="en-US"/>
              <a:t>The task of constant monitoring is started once the application is deployed to the server. </a:t>
            </a:r>
          </a:p>
          <a:p>
            <a:r>
              <a:rPr lang="en-US"/>
              <a:t>The entire process revolves around maintaining and responding to the company’s infrastructure. </a:t>
            </a:r>
          </a:p>
          <a:p>
            <a:r>
              <a:rPr lang="en-US"/>
              <a:t>When the production servers are deployed, continuous monitoring begins.</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83870"/>
          </a:xfrm>
        </p:spPr>
        <p:txBody>
          <a:bodyPr>
            <a:normAutofit fontScale="90000"/>
          </a:bodyPr>
          <a:lstStyle/>
          <a:p>
            <a:r>
              <a:rPr lang="en-US"/>
              <a:t>Need of Nagios</a:t>
            </a:r>
          </a:p>
        </p:txBody>
      </p:sp>
      <p:sp>
        <p:nvSpPr>
          <p:cNvPr id="3" name="Content Placeholder 2"/>
          <p:cNvSpPr>
            <a:spLocks noGrp="1"/>
          </p:cNvSpPr>
          <p:nvPr>
            <p:ph idx="1"/>
          </p:nvPr>
        </p:nvSpPr>
        <p:spPr>
          <a:xfrm>
            <a:off x="838200" y="1152525"/>
            <a:ext cx="10515600" cy="4791075"/>
          </a:xfrm>
        </p:spPr>
        <p:txBody>
          <a:bodyPr>
            <a:normAutofit fontScale="37500" lnSpcReduction="20000"/>
          </a:bodyPr>
          <a:lstStyle/>
          <a:p>
            <a:pPr marL="0" indent="0">
              <a:buNone/>
            </a:pPr>
            <a:r>
              <a:rPr lang="en-US" b="1" dirty="0"/>
              <a:t>Nagios</a:t>
            </a:r>
            <a:r>
              <a:rPr lang="en-US" dirty="0"/>
              <a:t> is needed to </a:t>
            </a:r>
            <a:r>
              <a:rPr lang="en-US" b="1" dirty="0"/>
              <a:t>monitor, manage, and protect IT infrastructure</a:t>
            </a:r>
            <a:r>
              <a:rPr lang="en-US" dirty="0"/>
              <a:t>. It helps organizations keep their systems running smoothly and avoid unexpected failures.</a:t>
            </a:r>
          </a:p>
          <a:p>
            <a:r>
              <a:rPr lang="en-US" b="1" dirty="0"/>
              <a:t>Key Needs / Importance of Nagios</a:t>
            </a:r>
          </a:p>
          <a:p>
            <a:r>
              <a:rPr lang="en-US" b="1" dirty="0"/>
              <a:t>Early Problem Detection</a:t>
            </a:r>
            <a:endParaRPr lang="en-US" dirty="0"/>
          </a:p>
          <a:p>
            <a:pPr lvl="1"/>
            <a:r>
              <a:rPr lang="en-US" dirty="0"/>
              <a:t>Identifies issues in servers, networks, and applications </a:t>
            </a:r>
            <a:r>
              <a:rPr lang="en-US" b="1" dirty="0"/>
              <a:t>before they become serious</a:t>
            </a:r>
            <a:r>
              <a:rPr lang="en-US" dirty="0"/>
              <a:t>.</a:t>
            </a:r>
          </a:p>
          <a:p>
            <a:r>
              <a:rPr lang="en-US" b="1" dirty="0"/>
              <a:t>24/7 System Monitoring</a:t>
            </a:r>
            <a:endParaRPr lang="en-US" dirty="0"/>
          </a:p>
          <a:p>
            <a:pPr lvl="1"/>
            <a:r>
              <a:rPr lang="en-US" dirty="0"/>
              <a:t>Continuously monitors </a:t>
            </a:r>
            <a:r>
              <a:rPr lang="en-US" b="1" dirty="0"/>
              <a:t>servers, switches, routers, databases, and services</a:t>
            </a:r>
            <a:r>
              <a:rPr lang="en-US" dirty="0"/>
              <a:t>.</a:t>
            </a:r>
          </a:p>
          <a:p>
            <a:r>
              <a:rPr lang="en-US" b="1" dirty="0"/>
              <a:t>Reduced Downtime</a:t>
            </a:r>
            <a:endParaRPr lang="en-US" dirty="0"/>
          </a:p>
          <a:p>
            <a:pPr lvl="1"/>
            <a:r>
              <a:rPr lang="en-US" dirty="0"/>
              <a:t>Sends </a:t>
            </a:r>
            <a:r>
              <a:rPr lang="en-US" b="1" dirty="0"/>
              <a:t>instant alerts</a:t>
            </a:r>
            <a:r>
              <a:rPr lang="en-US" dirty="0"/>
              <a:t> (email/SMS) when something goes wrong, helping quick fixes.</a:t>
            </a:r>
          </a:p>
          <a:p>
            <a:r>
              <a:rPr lang="en-US" b="1" dirty="0"/>
              <a:t>Performance Monitoring</a:t>
            </a:r>
            <a:endParaRPr lang="en-US" dirty="0"/>
          </a:p>
          <a:p>
            <a:pPr lvl="1"/>
            <a:r>
              <a:rPr lang="en-US" dirty="0"/>
              <a:t>Tracks CPU usage, memory, disk space, bandwidth, and service response time.</a:t>
            </a:r>
          </a:p>
          <a:p>
            <a:r>
              <a:rPr lang="en-US" b="1" dirty="0"/>
              <a:t>Centralized Monitoring</a:t>
            </a:r>
            <a:endParaRPr lang="en-US" dirty="0"/>
          </a:p>
          <a:p>
            <a:pPr lvl="1"/>
            <a:r>
              <a:rPr lang="en-US" dirty="0"/>
              <a:t>One dashboard to monitor the </a:t>
            </a:r>
            <a:r>
              <a:rPr lang="en-US" b="1" dirty="0"/>
              <a:t>entire IT infrastructure</a:t>
            </a:r>
            <a:r>
              <a:rPr lang="en-US" dirty="0"/>
              <a:t>.</a:t>
            </a:r>
          </a:p>
          <a:p>
            <a:r>
              <a:rPr lang="en-US" b="1" dirty="0"/>
              <a:t>Improved Reliability</a:t>
            </a:r>
            <a:endParaRPr lang="en-US" dirty="0"/>
          </a:p>
          <a:p>
            <a:pPr lvl="1"/>
            <a:r>
              <a:rPr lang="en-US" dirty="0"/>
              <a:t>Ensures critical services like web servers, mail servers, and databases are always available.</a:t>
            </a:r>
          </a:p>
          <a:p>
            <a:r>
              <a:rPr lang="en-US" b="1" dirty="0"/>
              <a:t>Cost Effective</a:t>
            </a:r>
            <a:endParaRPr lang="en-US" dirty="0"/>
          </a:p>
          <a:p>
            <a:pPr lvl="1"/>
            <a:r>
              <a:rPr lang="en-US" dirty="0"/>
              <a:t>Open-source and customizable, reducing dependency on expensive tools.</a:t>
            </a:r>
          </a:p>
          <a:p>
            <a:r>
              <a:rPr lang="en-US" b="1" dirty="0"/>
              <a:t>Scalability</a:t>
            </a:r>
            <a:endParaRPr lang="en-US" dirty="0"/>
          </a:p>
          <a:p>
            <a:pPr lvl="1"/>
            <a:r>
              <a:rPr lang="en-US" dirty="0"/>
              <a:t>Suitable for </a:t>
            </a:r>
            <a:r>
              <a:rPr lang="en-US" b="1" dirty="0"/>
              <a:t>small networks to large enterprise systems</a:t>
            </a:r>
            <a:r>
              <a:rPr lang="en-US" dirty="0"/>
              <a:t>.</a:t>
            </a:r>
          </a:p>
          <a:p>
            <a:r>
              <a:rPr lang="en-US" b="1" dirty="0"/>
              <a:t>Security Support</a:t>
            </a:r>
            <a:endParaRPr lang="en-US" dirty="0"/>
          </a:p>
          <a:p>
            <a:pPr lvl="1"/>
            <a:r>
              <a:rPr lang="en-US" dirty="0"/>
              <a:t>Helps detect abnormal behavior that may indicate </a:t>
            </a:r>
            <a:r>
              <a:rPr lang="en-US" b="1" dirty="0"/>
              <a:t>security threats</a:t>
            </a:r>
            <a:r>
              <a:rPr lang="en-US" dirty="0"/>
              <a:t>.</a:t>
            </a:r>
          </a:p>
          <a:p>
            <a:r>
              <a:rPr lang="en-US" b="1" dirty="0"/>
              <a:t>Better IT Decision Making</a:t>
            </a:r>
            <a:endParaRPr lang="en-US" dirty="0"/>
          </a:p>
          <a:p>
            <a:r>
              <a:rPr lang="en-US" dirty="0"/>
              <a:t>Provides logs and reports for </a:t>
            </a:r>
            <a:r>
              <a:rPr lang="en-US" b="1" dirty="0"/>
              <a:t>capacity planning and system improvement</a:t>
            </a:r>
            <a:r>
              <a:rPr lang="en-US" dirty="0"/>
              <a:t>.</a:t>
            </a:r>
          </a:p>
          <a:p>
            <a:pPr marL="0" indent="0">
              <a:buNone/>
            </a:pPr>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977CF-52F1-635C-CA5A-FBADF9712BBF}"/>
              </a:ext>
            </a:extLst>
          </p:cNvPr>
          <p:cNvSpPr>
            <a:spLocks noGrp="1"/>
          </p:cNvSpPr>
          <p:nvPr>
            <p:ph type="title"/>
          </p:nvPr>
        </p:nvSpPr>
        <p:spPr/>
        <p:txBody>
          <a:bodyPr/>
          <a:lstStyle/>
          <a:p>
            <a:endParaRPr lang="en-CA"/>
          </a:p>
        </p:txBody>
      </p:sp>
      <p:pic>
        <p:nvPicPr>
          <p:cNvPr id="1026" name="Picture 2" descr="Frontends | Nagios Open Source">
            <a:extLst>
              <a:ext uri="{FF2B5EF4-FFF2-40B4-BE49-F238E27FC236}">
                <a16:creationId xmlns:a16="http://schemas.microsoft.com/office/drawing/2014/main" id="{F577FE3D-B2D5-9B75-43E0-FC087E3D7EB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0945" y="-124691"/>
            <a:ext cx="11345214" cy="6982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967224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120"/>
          </a:xfrm>
        </p:spPr>
        <p:txBody>
          <a:bodyPr>
            <a:normAutofit/>
          </a:bodyPr>
          <a:lstStyle/>
          <a:p>
            <a:r>
              <a:rPr lang="en-US"/>
              <a:t>History </a:t>
            </a:r>
          </a:p>
        </p:txBody>
      </p:sp>
      <p:sp>
        <p:nvSpPr>
          <p:cNvPr id="3" name="Content Placeholder 2"/>
          <p:cNvSpPr>
            <a:spLocks noGrp="1"/>
          </p:cNvSpPr>
          <p:nvPr>
            <p:ph idx="1"/>
          </p:nvPr>
        </p:nvSpPr>
        <p:spPr>
          <a:xfrm>
            <a:off x="838200" y="1229360"/>
            <a:ext cx="10515600" cy="5181600"/>
          </a:xfrm>
        </p:spPr>
        <p:txBody>
          <a:bodyPr>
            <a:normAutofit lnSpcReduction="10000"/>
          </a:bodyPr>
          <a:lstStyle/>
          <a:p>
            <a:r>
              <a:rPr lang="en-US"/>
              <a:t>1996-Ethan Galstad builds a new application for Linux OS based on the ideas and design of his previous work. </a:t>
            </a:r>
          </a:p>
          <a:p>
            <a:r>
              <a:rPr lang="en-US"/>
              <a:t>In 1999 the plugins that were initially released as part of the NetSuite distribution are now available as a separate project called Nagios Plugins. </a:t>
            </a:r>
          </a:p>
          <a:p>
            <a:r>
              <a:rPr lang="en-US"/>
              <a:t>Due to copyright problems with the name “NetSaint,” Ethan renamed the project “Nagios” in 2002. </a:t>
            </a:r>
          </a:p>
          <a:p>
            <a:r>
              <a:rPr lang="en-US"/>
              <a:t>In June 2005, Nagios was named Project of the Month on SourceForge.net. </a:t>
            </a:r>
          </a:p>
          <a:p>
            <a:r>
              <a:rPr lang="en-US"/>
              <a:t>Nagios Enterprises launches Nagios XI, the first commercial version, in 2009. </a:t>
            </a:r>
          </a:p>
          <a:p>
            <a:r>
              <a:rPr lang="en-US"/>
              <a:t>In 2016 the foundation of Nagios had been downloaded over 7,500,000 times directly from the SourceForge.net website.</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9465"/>
          </a:xfrm>
        </p:spPr>
        <p:txBody>
          <a:bodyPr>
            <a:normAutofit/>
          </a:bodyPr>
          <a:lstStyle/>
          <a:p>
            <a:r>
              <a:rPr lang="en-US"/>
              <a:t>Features</a:t>
            </a:r>
          </a:p>
        </p:txBody>
      </p:sp>
      <p:sp>
        <p:nvSpPr>
          <p:cNvPr id="3" name="Content Placeholder 2"/>
          <p:cNvSpPr>
            <a:spLocks noGrp="1"/>
          </p:cNvSpPr>
          <p:nvPr>
            <p:ph idx="1"/>
          </p:nvPr>
        </p:nvSpPr>
        <p:spPr>
          <a:xfrm>
            <a:off x="838200" y="1649730"/>
            <a:ext cx="10515600" cy="4527550"/>
          </a:xfrm>
        </p:spPr>
        <p:txBody>
          <a:bodyPr/>
          <a:lstStyle/>
          <a:p>
            <a:r>
              <a:rPr lang="en-US" dirty="0"/>
              <a:t>Nagios is a customizable, functional, and safe monitoring system. </a:t>
            </a:r>
          </a:p>
          <a:p>
            <a:r>
              <a:rPr lang="en-US" dirty="0"/>
              <a:t>It has a good log system. </a:t>
            </a:r>
          </a:p>
          <a:p>
            <a:r>
              <a:rPr lang="en-US" dirty="0"/>
              <a:t>Nagios has a user-friendly and informative web interface, and it sends out updates when a condition changes. </a:t>
            </a:r>
          </a:p>
          <a:p>
            <a:r>
              <a:rPr lang="en-US" dirty="0"/>
              <a:t>Using Nagios, you can track the entire business process and IT infrastructure in a single pass. </a:t>
            </a:r>
          </a:p>
          <a:p>
            <a:r>
              <a:rPr lang="en-US" dirty="0"/>
              <a:t>Writing new plugins in the language of your choice is simple, thanks to the product’s architecture.</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12495"/>
          </a:xfrm>
        </p:spPr>
        <p:txBody>
          <a:bodyPr>
            <a:normAutofit fontScale="90000"/>
          </a:bodyPr>
          <a:lstStyle/>
          <a:p>
            <a:r>
              <a:rPr lang="en-US">
                <a:sym typeface="+mn-ea"/>
              </a:rPr>
              <a:t>Nagios</a:t>
            </a:r>
            <a:br>
              <a:rPr lang="en-US"/>
            </a:br>
            <a:endParaRPr lang="en-US"/>
          </a:p>
        </p:txBody>
      </p:sp>
      <p:sp>
        <p:nvSpPr>
          <p:cNvPr id="3" name="Content Placeholder 2"/>
          <p:cNvSpPr>
            <a:spLocks noGrp="1"/>
          </p:cNvSpPr>
          <p:nvPr>
            <p:ph idx="1"/>
          </p:nvPr>
        </p:nvSpPr>
        <p:spPr>
          <a:xfrm>
            <a:off x="838200" y="1276985"/>
            <a:ext cx="10515600" cy="4900295"/>
          </a:xfrm>
        </p:spPr>
        <p:txBody>
          <a:bodyPr>
            <a:normAutofit fontScale="97500"/>
          </a:bodyPr>
          <a:lstStyle/>
          <a:p>
            <a:r>
              <a:rPr lang="en-US" dirty="0"/>
              <a:t>Nagios, an open-source monitoring and alerting system, remains vital due to its enduring significance in maintaining the reliability and performance of IT infrastructure and applications. </a:t>
            </a:r>
          </a:p>
          <a:p>
            <a:r>
              <a:rPr lang="en-US" dirty="0"/>
              <a:t>Organizations increasingly rely on complex systems and services.</a:t>
            </a:r>
          </a:p>
          <a:p>
            <a:r>
              <a:rPr lang="en-US" dirty="0"/>
              <a:t>Nagios plays a crucial role by providing real-time monitoring and alerting capabilities, allowing IT teams to detect and address issues before they impact users or cause system outages.</a:t>
            </a:r>
          </a:p>
          <a:p>
            <a:r>
              <a:rPr lang="en-US" dirty="0"/>
              <a:t>Its versatility, extensibility, and support for both on-premises and cloud environments make Nagios a valuable tool for ensuring critical systems' availability, stability, and security, aligning perfectly with the demands of modern IT operations and DevOps practices.</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14375"/>
            <a:ext cx="10515600" cy="5380355"/>
          </a:xfrm>
        </p:spPr>
        <p:txBody>
          <a:bodyPr>
            <a:normAutofit/>
          </a:bodyPr>
          <a:lstStyle/>
          <a:p>
            <a:r>
              <a:rPr lang="en-US" dirty="0"/>
              <a:t>It was designed to run on the Linux operating system and can monitor devices running Linux, Windows and.</a:t>
            </a:r>
          </a:p>
          <a:p>
            <a:r>
              <a:rPr lang="en-US" dirty="0"/>
              <a:t>Nagios software runs periodic checks on critical parameters of application, network and server resources. </a:t>
            </a:r>
          </a:p>
          <a:p>
            <a:r>
              <a:rPr lang="en-US" dirty="0"/>
              <a:t>For example, Nagios can monitor memory use, disk use and microprocessor load, as well as the number of currently running processes and log files. </a:t>
            </a:r>
          </a:p>
          <a:p>
            <a:r>
              <a:rPr lang="en-US" dirty="0"/>
              <a:t>Nagios also can monitor services such as Simple Mail Transfer Protocol (SMTP), Post Office Protocol 3, Hypertext Transfer Protocol (HTTP) and other common network protocols. </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4825"/>
            <a:ext cx="10515600" cy="835660"/>
          </a:xfrm>
        </p:spPr>
        <p:txBody>
          <a:bodyPr>
            <a:normAutofit/>
          </a:bodyPr>
          <a:lstStyle/>
          <a:p>
            <a:r>
              <a:rPr lang="en-US"/>
              <a:t>Architecture</a:t>
            </a:r>
          </a:p>
        </p:txBody>
      </p:sp>
      <p:sp>
        <p:nvSpPr>
          <p:cNvPr id="4" name="Rectangle 1">
            <a:extLst>
              <a:ext uri="{FF2B5EF4-FFF2-40B4-BE49-F238E27FC236}">
                <a16:creationId xmlns:a16="http://schemas.microsoft.com/office/drawing/2014/main" id="{B614532A-9E12-6239-C572-D65266C28F14}"/>
              </a:ext>
            </a:extLst>
          </p:cNvPr>
          <p:cNvSpPr>
            <a:spLocks noGrp="1" noChangeArrowheads="1"/>
          </p:cNvSpPr>
          <p:nvPr>
            <p:ph idx="1"/>
          </p:nvPr>
        </p:nvSpPr>
        <p:spPr bwMode="auto">
          <a:xfrm>
            <a:off x="838200" y="1614488"/>
            <a:ext cx="10515600" cy="456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Scheduler runs checks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a:t>
            </a:r>
            <a:r>
              <a:rPr kumimoji="0" lang="en-US" altLang="en-US" sz="1800" b="1" i="0" u="none" strike="noStrike" cap="none" normalizeH="0" baseline="0">
                <a:ln>
                  <a:noFill/>
                </a:ln>
                <a:solidFill>
                  <a:schemeClr val="tx1"/>
                </a:solidFill>
                <a:effectLst/>
                <a:latin typeface="Arial" panose="020B0604020202020204" pitchFamily="34" charset="0"/>
              </a:rPr>
              <a:t>Nagios server</a:t>
            </a:r>
            <a:r>
              <a:rPr kumimoji="0" lang="en-US" altLang="en-US" sz="1800" b="0" i="0" u="none" strike="noStrike" cap="none" normalizeH="0" baseline="0">
                <a:ln>
                  <a:noFill/>
                </a:ln>
                <a:solidFill>
                  <a:schemeClr val="tx1"/>
                </a:solidFill>
                <a:effectLst/>
                <a:latin typeface="Arial" panose="020B0604020202020204" pitchFamily="34" charset="0"/>
              </a:rPr>
              <a:t> has a scheduler.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It decides </a:t>
            </a:r>
            <a:r>
              <a:rPr kumimoji="0" lang="en-US" altLang="en-US" sz="1800" b="1" i="0" u="none" strike="noStrike" cap="none" normalizeH="0" baseline="0">
                <a:ln>
                  <a:noFill/>
                </a:ln>
                <a:solidFill>
                  <a:schemeClr val="tx1"/>
                </a:solidFill>
                <a:effectLst/>
                <a:latin typeface="Arial" panose="020B0604020202020204" pitchFamily="34" charset="0"/>
              </a:rPr>
              <a:t>when to check</a:t>
            </a:r>
            <a:r>
              <a:rPr kumimoji="0" lang="en-US" altLang="en-US" sz="1800" b="0" i="0" u="none" strike="noStrike" cap="none" normalizeH="0" baseline="0">
                <a:ln>
                  <a:noFill/>
                </a:ln>
                <a:solidFill>
                  <a:schemeClr val="tx1"/>
                </a:solidFill>
                <a:effectLst/>
                <a:latin typeface="Arial" panose="020B0604020202020204" pitchFamily="34" charset="0"/>
              </a:rPr>
              <a:t> servers and services and runs small programs called </a:t>
            </a:r>
            <a:r>
              <a:rPr kumimoji="0" lang="en-US" altLang="en-US" sz="1800" b="1" i="0" u="none" strike="noStrike" cap="none" normalizeH="0" baseline="0">
                <a:ln>
                  <a:noFill/>
                </a:ln>
                <a:solidFill>
                  <a:schemeClr val="tx1"/>
                </a:solidFill>
                <a:effectLst/>
                <a:latin typeface="Arial" panose="020B0604020202020204" pitchFamily="34" charset="0"/>
              </a:rPr>
              <a:t>plugins</a:t>
            </a:r>
            <a:r>
              <a:rPr kumimoji="0" lang="en-US" altLang="en-US"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Plugin checks the remote machine</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plugin goes to the </a:t>
            </a:r>
            <a:r>
              <a:rPr kumimoji="0" lang="en-US" altLang="en-US" sz="1800" b="1" i="0" u="none" strike="noStrike" cap="none" normalizeH="0" baseline="0">
                <a:ln>
                  <a:noFill/>
                </a:ln>
                <a:solidFill>
                  <a:schemeClr val="tx1"/>
                </a:solidFill>
                <a:effectLst/>
                <a:latin typeface="Arial" panose="020B0604020202020204" pitchFamily="34" charset="0"/>
              </a:rPr>
              <a:t>remote machine</a:t>
            </a:r>
            <a:r>
              <a:rPr kumimoji="0" lang="en-US" altLang="en-US" sz="1800" b="0" i="0" u="none" strike="noStrike" cap="none" normalizeH="0" baseline="0">
                <a:ln>
                  <a:noFill/>
                </a:ln>
                <a:solidFill>
                  <a:schemeClr val="tx1"/>
                </a:solidFill>
                <a:effectLst/>
                <a:latin typeface="Arial" panose="020B0604020202020204" pitchFamily="34" charset="0"/>
              </a:rPr>
              <a:t> (server, router, service).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It checks things like </a:t>
            </a:r>
            <a:r>
              <a:rPr kumimoji="0" lang="en-US" altLang="en-US" sz="1800" b="1" i="0" u="none" strike="noStrike" cap="none" normalizeH="0" baseline="0">
                <a:ln>
                  <a:noFill/>
                </a:ln>
                <a:solidFill>
                  <a:schemeClr val="tx1"/>
                </a:solidFill>
                <a:effectLst/>
                <a:latin typeface="Arial" panose="020B0604020202020204" pitchFamily="34" charset="0"/>
              </a:rPr>
              <a:t>CPU, disk, memory, or service status</a:t>
            </a:r>
            <a:r>
              <a:rPr kumimoji="0" lang="en-US" altLang="en-US"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Plugin sends result back to Nagios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After checking, the plugin sends the result (</a:t>
            </a:r>
            <a:r>
              <a:rPr kumimoji="0" lang="en-US" altLang="en-US" sz="1800" b="1" i="0" u="none" strike="noStrike" cap="none" normalizeH="0" baseline="0">
                <a:ln>
                  <a:noFill/>
                </a:ln>
                <a:solidFill>
                  <a:schemeClr val="tx1"/>
                </a:solidFill>
                <a:effectLst/>
                <a:latin typeface="Arial" panose="020B0604020202020204" pitchFamily="34" charset="0"/>
              </a:rPr>
              <a:t>OK / Warning / Critical</a:t>
            </a:r>
            <a:r>
              <a:rPr kumimoji="0" lang="en-US" altLang="en-US" sz="1800" b="0" i="0" u="none" strike="noStrike" cap="none" normalizeH="0" baseline="0">
                <a:ln>
                  <a:noFill/>
                </a:ln>
                <a:solidFill>
                  <a:schemeClr val="tx1"/>
                </a:solidFill>
                <a:effectLst/>
                <a:latin typeface="Arial" panose="020B0604020202020204" pitchFamily="34" charset="0"/>
              </a:rPr>
              <a:t>) back to the </a:t>
            </a:r>
            <a:r>
              <a:rPr kumimoji="0" lang="en-US" altLang="en-US" sz="1800" b="1" i="0" u="none" strike="noStrike" cap="none" normalizeH="0" baseline="0">
                <a:ln>
                  <a:noFill/>
                </a:ln>
                <a:solidFill>
                  <a:schemeClr val="tx1"/>
                </a:solidFill>
                <a:effectLst/>
                <a:latin typeface="Arial" panose="020B0604020202020204" pitchFamily="34" charset="0"/>
              </a:rPr>
              <a:t>Nagios server</a:t>
            </a:r>
            <a:r>
              <a:rPr kumimoji="0" lang="en-US" altLang="en-US"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Nagios updates screen and alerts admin</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Nagios shows the status on the </a:t>
            </a:r>
            <a:r>
              <a:rPr kumimoji="0" lang="en-US" altLang="en-US" sz="1800" b="1" i="0" u="none" strike="noStrike" cap="none" normalizeH="0" baseline="0">
                <a:ln>
                  <a:noFill/>
                </a:ln>
                <a:solidFill>
                  <a:schemeClr val="tx1"/>
                </a:solidFill>
                <a:effectLst/>
                <a:latin typeface="Arial" panose="020B0604020202020204" pitchFamily="34" charset="0"/>
              </a:rPr>
              <a:t>web interface (GUI)</a:t>
            </a:r>
            <a:r>
              <a:rPr kumimoji="0" lang="en-US" altLang="en-US"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If there is a problem, it </a:t>
            </a:r>
            <a:r>
              <a:rPr kumimoji="0" lang="en-US" altLang="en-US" sz="1800" b="1" i="0" u="none" strike="noStrike" cap="none" normalizeH="0" baseline="0">
                <a:ln>
                  <a:noFill/>
                </a:ln>
                <a:solidFill>
                  <a:schemeClr val="tx1"/>
                </a:solidFill>
                <a:effectLst/>
                <a:latin typeface="Arial" panose="020B0604020202020204" pitchFamily="34" charset="0"/>
              </a:rPr>
              <a:t>notifies the administrator</a:t>
            </a:r>
            <a:r>
              <a:rPr kumimoji="0" lang="en-US" altLang="en-US" sz="1800" b="0" i="0" u="none" strike="noStrike" cap="none" normalizeH="0" baseline="0">
                <a:ln>
                  <a:noFill/>
                </a:ln>
                <a:solidFill>
                  <a:schemeClr val="tx1"/>
                </a:solidFill>
                <a:effectLst/>
                <a:latin typeface="Arial" panose="020B0604020202020204" pitchFamily="34" charset="0"/>
              </a:rPr>
              <a:t> (email/SMS).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19430"/>
          </a:xfrm>
        </p:spPr>
        <p:txBody>
          <a:bodyPr>
            <a:normAutofit fontScale="90000"/>
          </a:bodyPr>
          <a:lstStyle/>
          <a:p>
            <a:r>
              <a:rPr lang="en-US"/>
              <a:t>Architecture</a:t>
            </a:r>
          </a:p>
        </p:txBody>
      </p:sp>
      <p:pic>
        <p:nvPicPr>
          <p:cNvPr id="6" name="Picture 5" descr="Screenshot 2024-11-06 at 9.21.17 PM"/>
          <p:cNvPicPr>
            <a:picLocks noChangeAspect="1"/>
          </p:cNvPicPr>
          <p:nvPr/>
        </p:nvPicPr>
        <p:blipFill>
          <a:blip r:embed="rId2"/>
          <a:stretch>
            <a:fillRect/>
          </a:stretch>
        </p:blipFill>
        <p:spPr>
          <a:xfrm>
            <a:off x="838835" y="1048385"/>
            <a:ext cx="10391140" cy="5647690"/>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8930"/>
            <a:ext cx="10515600" cy="6141085"/>
          </a:xfrm>
        </p:spPr>
        <p:txBody>
          <a:bodyPr>
            <a:normAutofit/>
          </a:bodyPr>
          <a:lstStyle/>
          <a:p>
            <a:r>
              <a:rPr lang="en-US"/>
              <a:t>The scheduler is a component of server part of Nagios. </a:t>
            </a:r>
          </a:p>
          <a:p>
            <a:r>
              <a:rPr lang="en-US"/>
              <a:t>It sends a signal to execute the plugins at the remote host.</a:t>
            </a:r>
          </a:p>
          <a:p>
            <a:r>
              <a:rPr lang="en-US"/>
              <a:t>The plugin gets the status from the remote host</a:t>
            </a:r>
          </a:p>
          <a:p>
            <a:r>
              <a:rPr lang="en-US"/>
              <a:t>The plugin sends the data to the process scheduler</a:t>
            </a:r>
          </a:p>
          <a:p>
            <a:r>
              <a:rPr lang="en-US"/>
              <a:t>The process scheduler updates the GUI and notifications are sent to admins</a:t>
            </a:r>
          </a:p>
          <a:p>
            <a:r>
              <a:rPr lang="en-US"/>
              <a:t>Plugins:</a:t>
            </a:r>
          </a:p>
          <a:p>
            <a:pPr lvl="1"/>
            <a:r>
              <a:rPr lang="en-US"/>
              <a:t>Nagios plugins provide low-level intelligence on how to monitor anything and everything with Nagios Core. </a:t>
            </a:r>
          </a:p>
          <a:p>
            <a:pPr lvl="1"/>
            <a:r>
              <a:rPr lang="en-US"/>
              <a:t>Plugins operate acts as a standalone application, but they are designed to be executed by Nagios Core. </a:t>
            </a:r>
          </a:p>
          <a:p>
            <a:pPr lvl="1"/>
            <a:r>
              <a:rPr lang="en-US"/>
              <a:t>It connects to Apache that is controlled by CGI to display the result.</a:t>
            </a:r>
          </a:p>
          <a:p>
            <a:pPr lvl="1"/>
            <a:r>
              <a:rPr lang="en-US"/>
              <a:t>Moreover, a database connected to Nagios to keep a log file.</a:t>
            </a:r>
          </a:p>
          <a:p>
            <a:pPr marL="0" indent="0">
              <a:buNone/>
            </a:pPr>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58470"/>
            <a:ext cx="10515600" cy="1033145"/>
          </a:xfrm>
        </p:spPr>
        <p:txBody>
          <a:bodyPr>
            <a:normAutofit fontScale="90000"/>
          </a:bodyPr>
          <a:lstStyle/>
          <a:p>
            <a:r>
              <a:rPr lang="en-US">
                <a:sym typeface="+mn-ea"/>
              </a:rPr>
              <a:t>Application of Nagios</a:t>
            </a:r>
            <a:br>
              <a:rPr lang="en-US"/>
            </a:br>
            <a:endParaRPr lang="en-US"/>
          </a:p>
        </p:txBody>
      </p:sp>
      <p:sp>
        <p:nvSpPr>
          <p:cNvPr id="3" name="Content Placeholder 2"/>
          <p:cNvSpPr>
            <a:spLocks noGrp="1"/>
          </p:cNvSpPr>
          <p:nvPr>
            <p:ph idx="1"/>
          </p:nvPr>
        </p:nvSpPr>
        <p:spPr>
          <a:xfrm>
            <a:off x="838200" y="1713865"/>
            <a:ext cx="10515600" cy="4463415"/>
          </a:xfrm>
        </p:spPr>
        <p:txBody>
          <a:bodyPr>
            <a:normAutofit/>
          </a:bodyPr>
          <a:lstStyle/>
          <a:p>
            <a:r>
              <a:rPr lang="en-US"/>
              <a:t>The Nagios application monitoring tool is a health check and monitoring device for a typical Data Center, and it includes a wide range of equipment, including Nodes in the server and network; from a single console, you can control all of your applications.</a:t>
            </a:r>
          </a:p>
          <a:p>
            <a:r>
              <a:rPr lang="en-US"/>
              <a:t>With transaction-level insights, you can track your application, Middleware and Messaging Components can Be Monitored, Reports and dashboards that can be customized, Backup Power Supply (UPS).</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Link for Nagios</a:t>
            </a:r>
          </a:p>
        </p:txBody>
      </p:sp>
      <p:sp>
        <p:nvSpPr>
          <p:cNvPr id="3" name="Content Placeholder 2"/>
          <p:cNvSpPr>
            <a:spLocks noGrp="1"/>
          </p:cNvSpPr>
          <p:nvPr>
            <p:ph idx="1"/>
          </p:nvPr>
        </p:nvSpPr>
        <p:spPr>
          <a:xfrm>
            <a:off x="838200" y="2282190"/>
            <a:ext cx="10515600" cy="3895090"/>
          </a:xfrm>
        </p:spPr>
        <p:txBody>
          <a:bodyPr/>
          <a:lstStyle/>
          <a:p>
            <a:pPr marL="0" indent="0">
              <a:buNone/>
            </a:pPr>
            <a:r>
              <a:rPr lang="en-US"/>
              <a:t>			</a:t>
            </a:r>
            <a:r>
              <a:rPr lang="en-US" b="1"/>
              <a:t>https://www.nagios.org/</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7375"/>
          </a:xfrm>
        </p:spPr>
        <p:txBody>
          <a:bodyPr>
            <a:normAutofit fontScale="90000"/>
          </a:bodyPr>
          <a:lstStyle/>
          <a:p>
            <a:r>
              <a:rPr lang="en-US" dirty="0"/>
              <a:t>Kubernetes</a:t>
            </a:r>
          </a:p>
        </p:txBody>
      </p:sp>
      <p:sp>
        <p:nvSpPr>
          <p:cNvPr id="3" name="Content Placeholder 2"/>
          <p:cNvSpPr>
            <a:spLocks noGrp="1"/>
          </p:cNvSpPr>
          <p:nvPr>
            <p:ph idx="1"/>
          </p:nvPr>
        </p:nvSpPr>
        <p:spPr>
          <a:xfrm>
            <a:off x="838200" y="1165225"/>
            <a:ext cx="10515600" cy="2866447"/>
          </a:xfrm>
        </p:spPr>
        <p:txBody>
          <a:bodyPr>
            <a:normAutofit fontScale="87500" lnSpcReduction="10000"/>
          </a:bodyPr>
          <a:lstStyle/>
          <a:p>
            <a:r>
              <a:rPr lang="en-US" b="1" dirty="0"/>
              <a:t>Kubernetes</a:t>
            </a:r>
            <a:r>
              <a:rPr lang="en-US" dirty="0"/>
              <a:t> is an </a:t>
            </a:r>
            <a:r>
              <a:rPr lang="en-US" b="1" dirty="0"/>
              <a:t>open-source platform</a:t>
            </a:r>
            <a:r>
              <a:rPr lang="en-US" dirty="0"/>
              <a:t> used to </a:t>
            </a:r>
            <a:r>
              <a:rPr lang="en-US" b="1" dirty="0"/>
              <a:t>automatically manage, run, scale, and monitor containerized applications</a:t>
            </a:r>
            <a:r>
              <a:rPr lang="en-US" dirty="0"/>
              <a:t>.</a:t>
            </a:r>
          </a:p>
          <a:p>
            <a:pPr marL="0" indent="0">
              <a:buNone/>
            </a:pPr>
            <a:r>
              <a:rPr lang="en-US" dirty="0"/>
              <a:t>Kubernetes is a container orchestration system that manages deployment, scaling, and operation of containerized applications.</a:t>
            </a:r>
          </a:p>
          <a:p>
            <a:pPr marL="0" indent="0">
              <a:buNone/>
            </a:pPr>
            <a:endParaRPr lang="en-US" dirty="0"/>
          </a:p>
          <a:p>
            <a:pPr marL="0" indent="0">
              <a:buNone/>
            </a:pPr>
            <a:r>
              <a:rPr lang="en-US" b="1" dirty="0"/>
              <a:t>Orchestration</a:t>
            </a:r>
            <a:r>
              <a:rPr lang="en-US" dirty="0"/>
              <a:t> means </a:t>
            </a:r>
            <a:r>
              <a:rPr lang="en-US" b="1" dirty="0"/>
              <a:t>automatically arranging, managing, and controlling many tasks or systems so they work together smoothly</a:t>
            </a:r>
            <a:r>
              <a:rPr lang="en-US" dirty="0"/>
              <a:t>.</a:t>
            </a:r>
          </a:p>
        </p:txBody>
      </p:sp>
      <p:sp>
        <p:nvSpPr>
          <p:cNvPr id="11" name="Rectangle 2">
            <a:extLst>
              <a:ext uri="{FF2B5EF4-FFF2-40B4-BE49-F238E27FC236}">
                <a16:creationId xmlns:a16="http://schemas.microsoft.com/office/drawing/2014/main" id="{03441D5B-7D67-A73C-C8B8-88481A38DE7F}"/>
              </a:ext>
            </a:extLst>
          </p:cNvPr>
          <p:cNvSpPr>
            <a:spLocks noChangeArrowheads="1"/>
          </p:cNvSpPr>
          <p:nvPr/>
        </p:nvSpPr>
        <p:spPr bwMode="auto">
          <a:xfrm>
            <a:off x="838200" y="47521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If one application container </a:t>
            </a:r>
            <a:r>
              <a:rPr kumimoji="0" lang="en-US" altLang="en-US" sz="1800" b="1" i="0" u="none" strike="noStrike" cap="none" normalizeH="0" baseline="0" dirty="0">
                <a:ln>
                  <a:noFill/>
                </a:ln>
                <a:solidFill>
                  <a:schemeClr val="tx1"/>
                </a:solidFill>
                <a:effectLst/>
                <a:latin typeface="Arial" panose="020B0604020202020204" pitchFamily="34" charset="0"/>
              </a:rPr>
              <a:t>crashes</a:t>
            </a:r>
            <a:r>
              <a:rPr kumimoji="0" lang="en-US" altLang="en-US" sz="1800" b="0" i="0" u="none" strike="noStrike" cap="none" normalizeH="0" baseline="0" dirty="0">
                <a:ln>
                  <a:noFill/>
                </a:ln>
                <a:solidFill>
                  <a:schemeClr val="tx1"/>
                </a:solidFill>
                <a:effectLst/>
                <a:latin typeface="Arial" panose="020B0604020202020204" pitchFamily="34" charset="0"/>
              </a:rPr>
              <a:t>, Kubernetes </a:t>
            </a:r>
            <a:r>
              <a:rPr kumimoji="0" lang="en-US" altLang="en-US" sz="1800" b="1" i="0" u="none" strike="noStrike" cap="none" normalizeH="0" baseline="0" dirty="0">
                <a:ln>
                  <a:noFill/>
                </a:ln>
                <a:solidFill>
                  <a:schemeClr val="tx1"/>
                </a:solidFill>
                <a:effectLst/>
                <a:latin typeface="Arial" panose="020B0604020202020204" pitchFamily="34" charset="0"/>
              </a:rPr>
              <a:t>restarts it automatically</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If many users access an app, Kubernetes </a:t>
            </a:r>
            <a:r>
              <a:rPr kumimoji="0" lang="en-US" altLang="en-US" sz="1800" b="1" i="0" u="none" strike="noStrike" cap="none" normalizeH="0" baseline="0" dirty="0">
                <a:ln>
                  <a:noFill/>
                </a:ln>
                <a:solidFill>
                  <a:schemeClr val="tx1"/>
                </a:solidFill>
                <a:effectLst/>
                <a:latin typeface="Arial" panose="020B0604020202020204" pitchFamily="34" charset="0"/>
              </a:rPr>
              <a:t>adds more containers</a:t>
            </a:r>
            <a:r>
              <a:rPr kumimoji="0" lang="en-US" altLang="en-US" sz="1800" b="0" i="0" u="none" strike="noStrike" cap="none" normalizeH="0" baseline="0" dirty="0">
                <a:ln>
                  <a:noFill/>
                </a:ln>
                <a:solidFill>
                  <a:schemeClr val="tx1"/>
                </a:solidFill>
                <a:effectLst/>
                <a:latin typeface="Arial" panose="020B0604020202020204" pitchFamily="34" charset="0"/>
              </a:rPr>
              <a:t> to handle the load.</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51790"/>
            <a:ext cx="10515600" cy="6292850"/>
          </a:xfrm>
        </p:spPr>
        <p:txBody>
          <a:bodyPr>
            <a:normAutofit fontScale="97500"/>
          </a:bodyPr>
          <a:lstStyle/>
          <a:p>
            <a:r>
              <a:rPr lang="en-US" dirty="0"/>
              <a:t>Kubernetes is an open-source platform that automates the management, scaling, and deployment of containerized applications: </a:t>
            </a:r>
          </a:p>
          <a:p>
            <a:r>
              <a:rPr lang="en-US" dirty="0"/>
              <a:t>Features:</a:t>
            </a:r>
          </a:p>
          <a:p>
            <a:r>
              <a:rPr lang="en-US" dirty="0"/>
              <a:t>Kubernetes deploy applications </a:t>
            </a:r>
          </a:p>
          <a:p>
            <a:r>
              <a:rPr lang="en-US" dirty="0"/>
              <a:t>Roll out changes to applications </a:t>
            </a:r>
          </a:p>
          <a:p>
            <a:r>
              <a:rPr lang="en-US" dirty="0"/>
              <a:t>Scale applications up and down </a:t>
            </a:r>
          </a:p>
          <a:p>
            <a:r>
              <a:rPr lang="en-US" dirty="0"/>
              <a:t>Monitor applications </a:t>
            </a:r>
          </a:p>
          <a:p>
            <a:r>
              <a:rPr lang="en-US" dirty="0"/>
              <a:t>Automatically manage service discovery </a:t>
            </a:r>
          </a:p>
          <a:p>
            <a:r>
              <a:rPr lang="en-US" dirty="0"/>
              <a:t>Incorporate load balancing </a:t>
            </a:r>
          </a:p>
          <a:p>
            <a:r>
              <a:rPr lang="en-US" dirty="0"/>
              <a:t>Track resource allocation </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4825"/>
            <a:ext cx="10515600" cy="939800"/>
          </a:xfrm>
        </p:spPr>
        <p:txBody>
          <a:bodyPr>
            <a:normAutofit/>
          </a:bodyPr>
          <a:lstStyle/>
          <a:p>
            <a:r>
              <a:rPr lang="en-US"/>
              <a:t>Benefits of Kubernetes</a:t>
            </a:r>
          </a:p>
        </p:txBody>
      </p:sp>
      <p:pic>
        <p:nvPicPr>
          <p:cNvPr id="4" name="Picture 3" descr="Screenshot 2024-11-06 at 9.38.29 PM"/>
          <p:cNvPicPr>
            <a:picLocks noChangeAspect="1"/>
          </p:cNvPicPr>
          <p:nvPr/>
        </p:nvPicPr>
        <p:blipFill>
          <a:blip r:embed="rId2"/>
          <a:stretch>
            <a:fillRect/>
          </a:stretch>
        </p:blipFill>
        <p:spPr>
          <a:xfrm>
            <a:off x="330200" y="1444625"/>
            <a:ext cx="11578590" cy="3560445"/>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07365"/>
          </a:xfrm>
        </p:spPr>
        <p:txBody>
          <a:bodyPr>
            <a:normAutofit fontScale="90000"/>
          </a:bodyPr>
          <a:lstStyle/>
          <a:p>
            <a:r>
              <a:rPr lang="en-US" dirty="0"/>
              <a:t>Architecture</a:t>
            </a:r>
          </a:p>
        </p:txBody>
      </p:sp>
      <p:pic>
        <p:nvPicPr>
          <p:cNvPr id="4098" name="Picture 2">
            <a:extLst>
              <a:ext uri="{FF2B5EF4-FFF2-40B4-BE49-F238E27FC236}">
                <a16:creationId xmlns:a16="http://schemas.microsoft.com/office/drawing/2014/main" id="{3EA38DE4-38C2-99E5-FFB5-8651B1737B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6950" y="885825"/>
            <a:ext cx="7658100" cy="50863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83260"/>
            <a:ext cx="10515600" cy="5926455"/>
          </a:xfrm>
        </p:spPr>
        <p:txBody>
          <a:bodyPr>
            <a:normAutofit/>
          </a:bodyPr>
          <a:lstStyle/>
          <a:p>
            <a:pPr marL="0" indent="0">
              <a:buNone/>
            </a:pPr>
            <a:r>
              <a:rPr lang="en-US" b="1"/>
              <a:t>Node Components</a:t>
            </a:r>
          </a:p>
          <a:p>
            <a:r>
              <a:rPr lang="en-US"/>
              <a:t>Run on every node, maintaining running pods and providing the Kubernetes runtime environment:</a:t>
            </a:r>
          </a:p>
          <a:p>
            <a:r>
              <a:rPr lang="en-US" b="1"/>
              <a:t>kubelet</a:t>
            </a:r>
            <a:r>
              <a:rPr lang="en-US"/>
              <a:t> : Ensures that Pods are running, including their containers.</a:t>
            </a:r>
          </a:p>
          <a:p>
            <a:r>
              <a:rPr lang="en-US" b="1"/>
              <a:t>kube-proxy (optional)</a:t>
            </a:r>
            <a:r>
              <a:rPr lang="en-US"/>
              <a:t>: Maintains network rules on nodes to implement Services.</a:t>
            </a:r>
          </a:p>
          <a:p>
            <a:r>
              <a:rPr lang="en-US" b="1"/>
              <a:t>Container runtime : </a:t>
            </a:r>
            <a:r>
              <a:rPr lang="en-US"/>
              <a:t>Software responsible for running containers. Read Container Runtimes to learn more.</a:t>
            </a:r>
          </a:p>
          <a:p>
            <a:endParaRPr lang="en-US"/>
          </a:p>
          <a:p>
            <a:r>
              <a:rPr lang="en-US"/>
              <a:t>Your cluster may require additional software on each node; for example, you might also run systemd on a Linux node to supervise local components.</a:t>
            </a:r>
          </a:p>
          <a:p>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Link</a:t>
            </a:r>
          </a:p>
        </p:txBody>
      </p:sp>
      <p:sp>
        <p:nvSpPr>
          <p:cNvPr id="3" name="Content Placeholder 2"/>
          <p:cNvSpPr>
            <a:spLocks noGrp="1"/>
          </p:cNvSpPr>
          <p:nvPr>
            <p:ph idx="1"/>
          </p:nvPr>
        </p:nvSpPr>
        <p:spPr/>
        <p:txBody>
          <a:bodyPr/>
          <a:lstStyle/>
          <a:p>
            <a:pPr marL="0" indent="0">
              <a:buNone/>
            </a:pPr>
            <a:r>
              <a:rPr lang="en-US"/>
              <a:t>https://kubernetes.io/docs/concepts/architecture/</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98525"/>
          </a:xfrm>
        </p:spPr>
        <p:txBody>
          <a:bodyPr/>
          <a:lstStyle/>
          <a:p>
            <a:r>
              <a:rPr lang="en-US">
                <a:sym typeface="+mn-ea"/>
              </a:rPr>
              <a:t>Maven</a:t>
            </a:r>
            <a:endParaRPr lang="en-US"/>
          </a:p>
        </p:txBody>
      </p:sp>
      <p:sp>
        <p:nvSpPr>
          <p:cNvPr id="3" name="Content Placeholder 2"/>
          <p:cNvSpPr>
            <a:spLocks noGrp="1"/>
          </p:cNvSpPr>
          <p:nvPr>
            <p:ph idx="1"/>
          </p:nvPr>
        </p:nvSpPr>
        <p:spPr>
          <a:xfrm>
            <a:off x="838200" y="1263650"/>
            <a:ext cx="10515600" cy="4913630"/>
          </a:xfrm>
        </p:spPr>
        <p:txBody>
          <a:bodyPr>
            <a:normAutofit fontScale="87500" lnSpcReduction="10000"/>
          </a:bodyPr>
          <a:lstStyle/>
          <a:p>
            <a:r>
              <a:rPr lang="en-US"/>
              <a:t>Due to its enduring significance in managing project dependencies, building, and project lifecycle management, </a:t>
            </a:r>
          </a:p>
          <a:p>
            <a:r>
              <a:rPr lang="en-US"/>
              <a:t>Maven remains a pivotal tool in SD and DevOps. </a:t>
            </a:r>
          </a:p>
          <a:p>
            <a:r>
              <a:rPr lang="en-US"/>
              <a:t>As a robust build automation and project management tool, Maven simplifies the complexities of Java-based project development by streamlining the compilation, testing, packaging, and distribution processes. </a:t>
            </a:r>
          </a:p>
          <a:p>
            <a:r>
              <a:rPr lang="en-US"/>
              <a:t>It ensures consistent and reproducible builds, making it easier for development teams to collaborate efficiently and deliver high-quality software.</a:t>
            </a:r>
          </a:p>
          <a:p>
            <a:r>
              <a:rPr lang="en-US"/>
              <a:t>Maven's role in managing dependencies and facilitating continuous integration and deployment remains crucial. Its ability to handle complex build scenarios and integrate seamlessly with modern DevOps practices makes it indispensable for ensuring software projects' reliability, maintainability, and scalability in 2024 and beyond.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10593</Words>
  <Application>Microsoft Office PowerPoint</Application>
  <PresentationFormat>Widescreen</PresentationFormat>
  <Paragraphs>702</Paragraphs>
  <Slides>136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136</vt:i4>
      </vt:variant>
    </vt:vector>
  </HeadingPairs>
  <TitlesOfParts>
    <vt:vector size="142" baseType="lpstr">
      <vt:lpstr>Arial</vt:lpstr>
      <vt:lpstr>Calibri</vt:lpstr>
      <vt:lpstr>Calibri Light</vt:lpstr>
      <vt:lpstr>Comic Sans MS</vt:lpstr>
      <vt:lpstr>Times New Roman Regular</vt:lpstr>
      <vt:lpstr>Office Theme</vt:lpstr>
      <vt:lpstr>UNIT 5  DevOps Trends</vt:lpstr>
      <vt:lpstr>Syllabus</vt:lpstr>
      <vt:lpstr>Devops</vt:lpstr>
      <vt:lpstr>PowerPoint Presentation</vt:lpstr>
      <vt:lpstr>PowerPoint Presentation</vt:lpstr>
      <vt:lpstr>Market analysis </vt:lpstr>
      <vt:lpstr>Devops Market Trends</vt:lpstr>
      <vt:lpstr> 1. Infrastructure as Code (IaC)</vt:lpstr>
      <vt:lpstr>2. Cloud Adoption for DevOps </vt:lpstr>
      <vt:lpstr>3. DevSecOps </vt:lpstr>
      <vt:lpstr>4. Multi-Cloud Strategies </vt:lpstr>
      <vt:lpstr>5. Artificial Intelligence </vt:lpstr>
      <vt:lpstr>6. Kubernetes </vt:lpstr>
      <vt:lpstr>7. Agile Practices </vt:lpstr>
      <vt:lpstr>8. Serverless Architecture </vt:lpstr>
      <vt:lpstr>9. Legacy Systems </vt:lpstr>
      <vt:lpstr>10.  Implementation of ML in DevOps </vt:lpstr>
      <vt:lpstr>Devops Engineer Skills </vt:lpstr>
      <vt:lpstr>DevOps Delivery Pipeline </vt:lpstr>
      <vt:lpstr>PowerPoint Presentation</vt:lpstr>
      <vt:lpstr>PowerPoint Presentation</vt:lpstr>
      <vt:lpstr>PowerPoint Presentation</vt:lpstr>
      <vt:lpstr>PowerPoint Presentation</vt:lpstr>
      <vt:lpstr>PowerPoint Presentation</vt:lpstr>
      <vt:lpstr>Benefits of Delivery Pipelines</vt:lpstr>
      <vt:lpstr>Types of Delivery Pipelines</vt:lpstr>
      <vt:lpstr>PowerPoint Presentation</vt:lpstr>
      <vt:lpstr>PowerPoint Presentation</vt:lpstr>
      <vt:lpstr>DevOps Ecosystem </vt:lpstr>
      <vt:lpstr>Role of a DevOps Engineer </vt:lpstr>
      <vt:lpstr>Some of the core responsibilities of DevOps Engineer include –</vt:lpstr>
      <vt:lpstr>PowerPoint Presentation</vt:lpstr>
      <vt:lpstr>Essential Skills for a DevOps Engineer</vt:lpstr>
      <vt:lpstr>Devops Tools:  </vt:lpstr>
      <vt:lpstr>PowerPoint Presentation</vt:lpstr>
      <vt:lpstr>Containers</vt:lpstr>
      <vt:lpstr>PowerPoint Presentation</vt:lpstr>
      <vt:lpstr>What are containerization use cases? </vt:lpstr>
      <vt:lpstr>PowerPoint Presentation</vt:lpstr>
      <vt:lpstr>Container images are the top layer in a containerized system that consists of the following layers.</vt:lpstr>
      <vt:lpstr>What is container orchestration? </vt:lpstr>
      <vt:lpstr>The following are some examples of popular technologies that developers use for containerization. </vt:lpstr>
      <vt:lpstr>Containerization compared to virtual machines </vt:lpstr>
      <vt:lpstr>Git </vt:lpstr>
      <vt:lpstr>Docker</vt:lpstr>
      <vt:lpstr>PowerPoint Presentation</vt:lpstr>
      <vt:lpstr>Why use Docker</vt:lpstr>
      <vt:lpstr>When to use Docker</vt:lpstr>
      <vt:lpstr>PowerPoint Presentation</vt:lpstr>
      <vt:lpstr>Run Docker on AWS</vt:lpstr>
      <vt:lpstr>PowerPoint Presentation</vt:lpstr>
      <vt:lpstr>PowerPoint Presentation</vt:lpstr>
      <vt:lpstr>PowerPoint Presentation</vt:lpstr>
      <vt:lpstr>PowerPoint Presentation</vt:lpstr>
      <vt:lpstr>Link for Docker</vt:lpstr>
      <vt:lpstr>Selenium</vt:lpstr>
      <vt:lpstr>PowerPoint Presentation</vt:lpstr>
      <vt:lpstr>Importance of Testing in Selenium</vt:lpstr>
      <vt:lpstr>History</vt:lpstr>
      <vt:lpstr>Selenium Components </vt:lpstr>
      <vt:lpstr>Selenium IDE</vt:lpstr>
      <vt:lpstr>Selenium RC </vt:lpstr>
      <vt:lpstr>Limitations OF RC</vt:lpstr>
      <vt:lpstr>Selenium WebDriver</vt:lpstr>
      <vt:lpstr>Selenium Grid</vt:lpstr>
      <vt:lpstr>Architecture</vt:lpstr>
      <vt:lpstr>What is Selenium Grid on cloud?</vt:lpstr>
      <vt:lpstr>Limitations of Selenium</vt:lpstr>
      <vt:lpstr>Jenkins</vt:lpstr>
      <vt:lpstr>PowerPoint Presentation</vt:lpstr>
      <vt:lpstr>PowerPoint Presentation</vt:lpstr>
      <vt:lpstr>PowerPoint Presentation</vt:lpstr>
      <vt:lpstr>PowerPoint Presentation</vt:lpstr>
      <vt:lpstr>History</vt:lpstr>
      <vt:lpstr>PowerPoint Presentation</vt:lpstr>
      <vt:lpstr>PowerPoint Presentation</vt:lpstr>
      <vt:lpstr>PowerPoint Presentation</vt:lpstr>
      <vt:lpstr>PowerPoint Presentation</vt:lpstr>
      <vt:lpstr>PowerPoint Presentation</vt:lpstr>
      <vt:lpstr>Jenkins Master</vt:lpstr>
      <vt:lpstr>Jenkins Slave </vt:lpstr>
      <vt:lpstr>Architecture</vt:lpstr>
      <vt:lpstr>PowerPoint Presentation</vt:lpstr>
      <vt:lpstr>Advantages of Jenkins include: </vt:lpstr>
      <vt:lpstr>Jenkins Features</vt:lpstr>
      <vt:lpstr>PowerPoint Presentation</vt:lpstr>
      <vt:lpstr>Jenkins Applications</vt:lpstr>
      <vt:lpstr>PowerPoint Presentation</vt:lpstr>
      <vt:lpstr>PowerPoint Presentation</vt:lpstr>
      <vt:lpstr>PowerPoint Presentation</vt:lpstr>
      <vt:lpstr>PowerPoint Presentation</vt:lpstr>
      <vt:lpstr>PowerPoint Presentation</vt:lpstr>
      <vt:lpstr>PowerPoint Presentation</vt:lpstr>
      <vt:lpstr>The following diagram shows the overall architecture of Jenkins and the connectivity workflow..</vt:lpstr>
      <vt:lpstr>Following are the key components in Jenkins </vt:lpstr>
      <vt:lpstr>Jenkins Web Interface :  Jenkins 2.0 introduced a very intuitive web interface called “Jenkins Blue Ocean“. It has a good visual representation of all the pipelines.</vt:lpstr>
      <vt:lpstr>Jenkins server-agent Connectivity</vt:lpstr>
      <vt:lpstr>The following image shows a high-level view of different types of agents and connectivity types.</vt:lpstr>
      <vt:lpstr>Jenkins link </vt:lpstr>
      <vt:lpstr>Puppet</vt:lpstr>
      <vt:lpstr>PowerPoint Presentation</vt:lpstr>
      <vt:lpstr>Architecture</vt:lpstr>
      <vt:lpstr>PowerPoint Presentation</vt:lpstr>
      <vt:lpstr>Master-Slave communication:  </vt:lpstr>
      <vt:lpstr>PowerPoint Presentation</vt:lpstr>
      <vt:lpstr>Components of puppet:</vt:lpstr>
      <vt:lpstr>Components of puppet:</vt:lpstr>
      <vt:lpstr>Why do we use Puppet?</vt:lpstr>
      <vt:lpstr>Applications of Puppet: </vt:lpstr>
      <vt:lpstr>Puppet Link</vt:lpstr>
      <vt:lpstr>Ansible </vt:lpstr>
      <vt:lpstr>Ansible</vt:lpstr>
      <vt:lpstr>Understanding Ansible’s Architecture</vt:lpstr>
      <vt:lpstr>Components of Ansible </vt:lpstr>
      <vt:lpstr>Architecture</vt:lpstr>
      <vt:lpstr>Architecture</vt:lpstr>
      <vt:lpstr>Link for ansible</vt:lpstr>
      <vt:lpstr>Continuous monitoring</vt:lpstr>
      <vt:lpstr>Need of Nagios</vt:lpstr>
      <vt:lpstr>PowerPoint Presentation</vt:lpstr>
      <vt:lpstr>History </vt:lpstr>
      <vt:lpstr>Features</vt:lpstr>
      <vt:lpstr>Nagios </vt:lpstr>
      <vt:lpstr>PowerPoint Presentation</vt:lpstr>
      <vt:lpstr>Architecture</vt:lpstr>
      <vt:lpstr>Architecture</vt:lpstr>
      <vt:lpstr>PowerPoint Presentation</vt:lpstr>
      <vt:lpstr>Application of Nagios </vt:lpstr>
      <vt:lpstr>Link for Nagios</vt:lpstr>
      <vt:lpstr>Kubernetes</vt:lpstr>
      <vt:lpstr>PowerPoint Presentation</vt:lpstr>
      <vt:lpstr>Benefits of Kubernetes</vt:lpstr>
      <vt:lpstr>Architecture</vt:lpstr>
      <vt:lpstr>PowerPoint Presentation</vt:lpstr>
      <vt:lpstr>Link</vt:lpstr>
      <vt:lpstr>Maven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DevOps Trends</dc:title>
  <dc:creator>divya</dc:creator>
  <cp:lastModifiedBy>Sidhant Gagneja</cp:lastModifiedBy>
  <cp:revision>167</cp:revision>
  <dcterms:created xsi:type="dcterms:W3CDTF">2024-11-14T05:20:51Z</dcterms:created>
  <dcterms:modified xsi:type="dcterms:W3CDTF">2026-01-02T05:52:34Z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1033-5.7.1.8092</vt:lpwstr>
  </property>
</Properties>
</file>