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84" r:id="rId4"/>
    <p:sldId id="318" r:id="rId5"/>
    <p:sldId id="320" r:id="rId6"/>
    <p:sldId id="283" r:id="rId7"/>
    <p:sldId id="319" r:id="rId8"/>
    <p:sldId id="312" r:id="rId9"/>
    <p:sldId id="313" r:id="rId10"/>
    <p:sldId id="314" r:id="rId11"/>
    <p:sldId id="282" r:id="rId12"/>
    <p:sldId id="281" r:id="rId13"/>
    <p:sldId id="280" r:id="rId14"/>
    <p:sldId id="279" r:id="rId15"/>
    <p:sldId id="315" r:id="rId16"/>
    <p:sldId id="277" r:id="rId17"/>
    <p:sldId id="276" r:id="rId18"/>
    <p:sldId id="356" r:id="rId19"/>
    <p:sldId id="357" r:id="rId20"/>
    <p:sldId id="358" r:id="rId21"/>
    <p:sldId id="275" r:id="rId22"/>
    <p:sldId id="353" r:id="rId23"/>
    <p:sldId id="354" r:id="rId24"/>
    <p:sldId id="355" r:id="rId25"/>
    <p:sldId id="274" r:id="rId26"/>
    <p:sldId id="272" r:id="rId27"/>
    <p:sldId id="271" r:id="rId28"/>
    <p:sldId id="359" r:id="rId29"/>
    <p:sldId id="360" r:id="rId30"/>
    <p:sldId id="270" r:id="rId31"/>
    <p:sldId id="269" r:id="rId32"/>
    <p:sldId id="268" r:id="rId33"/>
    <p:sldId id="267" r:id="rId34"/>
    <p:sldId id="266" r:id="rId35"/>
    <p:sldId id="369" r:id="rId36"/>
    <p:sldId id="370" r:id="rId37"/>
    <p:sldId id="265" r:id="rId38"/>
    <p:sldId id="264" r:id="rId39"/>
    <p:sldId id="263" r:id="rId40"/>
    <p:sldId id="371" r:id="rId41"/>
    <p:sldId id="262" r:id="rId42"/>
    <p:sldId id="261" r:id="rId43"/>
    <p:sldId id="260" r:id="rId44"/>
    <p:sldId id="259" r:id="rId45"/>
    <p:sldId id="258" r:id="rId46"/>
    <p:sldId id="257" r:id="rId47"/>
    <p:sldId id="363" r:id="rId48"/>
    <p:sldId id="365" r:id="rId49"/>
    <p:sldId id="368" r:id="rId50"/>
    <p:sldId id="367" r:id="rId51"/>
    <p:sldId id="366" r:id="rId52"/>
    <p:sldId id="364" r:id="rId53"/>
    <p:sldId id="380" r:id="rId54"/>
    <p:sldId id="381" r:id="rId55"/>
    <p:sldId id="382" r:id="rId56"/>
    <p:sldId id="383" r:id="rId57"/>
    <p:sldId id="384" r:id="rId58"/>
    <p:sldId id="385" r:id="rId59"/>
    <p:sldId id="379" r:id="rId60"/>
    <p:sldId id="373" r:id="rId61"/>
    <p:sldId id="374" r:id="rId62"/>
    <p:sldId id="375" r:id="rId63"/>
    <p:sldId id="376" r:id="rId64"/>
    <p:sldId id="377" r:id="rId65"/>
    <p:sldId id="378"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UNIT 6</a:t>
            </a:r>
            <a:br>
              <a:rPr lang="en-US"/>
            </a:br>
            <a:r>
              <a:rPr lang="en-US"/>
              <a:t>Working with Maven</a:t>
            </a:r>
            <a:endParaRPr lang="en-US"/>
          </a:p>
        </p:txBody>
      </p:sp>
      <p:sp>
        <p:nvSpPr>
          <p:cNvPr id="3" name="Subtitle 2"/>
          <p:cNvSpPr>
            <a:spLocks noGrp="1"/>
          </p:cNvSpPr>
          <p:nvPr>
            <p:ph type="subTitle" idx="1"/>
          </p:nvPr>
        </p:nvSpPr>
        <p:spPr>
          <a:xfrm>
            <a:off x="8252460" y="4049395"/>
            <a:ext cx="2415540" cy="1208405"/>
          </a:xfrm>
        </p:spPr>
        <p:txBody>
          <a:bodyPr/>
          <a:p>
            <a:r>
              <a:rPr lang="en-US"/>
              <a:t>Divya Thakur</a:t>
            </a:r>
            <a:endParaRPr lang="en-US"/>
          </a:p>
          <a:p>
            <a:r>
              <a:rPr lang="en-US"/>
              <a:t>28300</a:t>
            </a:r>
            <a:endParaRPr lang="en-US"/>
          </a:p>
        </p:txBody>
      </p:sp>
      <p:sp>
        <p:nvSpPr>
          <p:cNvPr id="4" name="Text Box 3"/>
          <p:cNvSpPr txBox="1"/>
          <p:nvPr/>
        </p:nvSpPr>
        <p:spPr>
          <a:xfrm>
            <a:off x="1574800" y="992505"/>
            <a:ext cx="309880" cy="368300"/>
          </a:xfrm>
          <a:prstGeom prst="rect">
            <a:avLst/>
          </a:prstGeom>
          <a:noFill/>
        </p:spPr>
        <p:txBody>
          <a:bodyPr wrap="none" rtlCol="0">
            <a:spAutoFit/>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08355"/>
          </a:xfrm>
        </p:spPr>
        <p:txBody>
          <a:bodyPr/>
          <a:p>
            <a:r>
              <a:rPr lang="en-US"/>
              <a:t>Syllabus</a:t>
            </a:r>
            <a:endParaRPr lang="en-US"/>
          </a:p>
        </p:txBody>
      </p:sp>
      <p:sp>
        <p:nvSpPr>
          <p:cNvPr id="3" name="Content Placeholder 2"/>
          <p:cNvSpPr>
            <a:spLocks noGrp="1"/>
          </p:cNvSpPr>
          <p:nvPr>
            <p:ph idx="1"/>
          </p:nvPr>
        </p:nvSpPr>
        <p:spPr>
          <a:xfrm>
            <a:off x="838200" y="1173480"/>
            <a:ext cx="10515600" cy="5003800"/>
          </a:xfrm>
        </p:spPr>
        <p:txBody>
          <a:bodyPr/>
          <a:p>
            <a:r>
              <a:rPr lang="en-US"/>
              <a:t>Introduction to maven</a:t>
            </a:r>
            <a:endParaRPr lang="en-US"/>
          </a:p>
          <a:p>
            <a:r>
              <a:rPr lang="en-US"/>
              <a:t>maven build lifecycle</a:t>
            </a:r>
            <a:endParaRPr lang="en-US"/>
          </a:p>
          <a:p>
            <a:r>
              <a:rPr lang="en-US"/>
              <a:t>maven repository</a:t>
            </a:r>
            <a:endParaRPr lang="en-US"/>
          </a:p>
          <a:p>
            <a:r>
              <a:rPr lang="en-US"/>
              <a:t>project object model</a:t>
            </a:r>
            <a:endParaRPr lang="en-US"/>
          </a:p>
          <a:p>
            <a:r>
              <a:rPr lang="en-US"/>
              <a:t>maven dependencies</a:t>
            </a:r>
            <a:endParaRPr lang="en-US"/>
          </a:p>
          <a:p>
            <a:r>
              <a:rPr lang="en-US"/>
              <a:t>maven plugins</a:t>
            </a:r>
            <a:endParaRPr lang="en-US"/>
          </a:p>
          <a:p>
            <a:r>
              <a:rPr lang="en-US"/>
              <a:t>maven project structure</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71855"/>
          </a:xfrm>
        </p:spPr>
        <p:txBody>
          <a:bodyPr/>
          <a:p>
            <a:r>
              <a:rPr lang="en-US"/>
              <a:t>What is a Maven Artifact?</a:t>
            </a:r>
            <a:endParaRPr lang="en-US"/>
          </a:p>
        </p:txBody>
      </p:sp>
      <p:sp>
        <p:nvSpPr>
          <p:cNvPr id="3" name="Content Placeholder 2"/>
          <p:cNvSpPr>
            <a:spLocks noGrp="1"/>
          </p:cNvSpPr>
          <p:nvPr>
            <p:ph idx="1"/>
          </p:nvPr>
        </p:nvSpPr>
        <p:spPr>
          <a:xfrm>
            <a:off x="838200" y="1592580"/>
            <a:ext cx="10515600" cy="4584700"/>
          </a:xfrm>
        </p:spPr>
        <p:txBody>
          <a:bodyPr>
            <a:normAutofit fontScale="60000"/>
          </a:bodyPr>
          <a:p>
            <a:r>
              <a:rPr lang="en-US"/>
              <a:t>In Maven, an artifact is any type of file that is used in the software development process. </a:t>
            </a:r>
            <a:endParaRPr lang="en-US"/>
          </a:p>
          <a:p>
            <a:r>
              <a:rPr lang="en-US"/>
              <a:t>The most common of these are Java libraries, also known as ‘JAR files’. Software distribution files, packages, maven project (POM) files , documentation bundles, machine learning models, and any other type of file you can think of can all be artifacts in the maven world.</a:t>
            </a:r>
            <a:endParaRPr lang="en-US"/>
          </a:p>
          <a:p>
            <a:r>
              <a:rPr lang="en-US"/>
              <a:t>Artifacts are used in a Java program for many different purposes. </a:t>
            </a:r>
            <a:endParaRPr lang="en-US"/>
          </a:p>
          <a:p>
            <a:r>
              <a:rPr lang="en-US"/>
              <a:t>When a JAR file artifact is used at compile time it is typically used to bring in Java library code so that code can be reused.</a:t>
            </a:r>
            <a:endParaRPr lang="en-US"/>
          </a:p>
          <a:p>
            <a:r>
              <a:rPr lang="en-US"/>
              <a:t>Some artifacts may be packaged with the software and not used until runtime. These can include artifacts which hold data of some sort: images, machine learning models, documentation, language packs, etc.</a:t>
            </a:r>
            <a:endParaRPr lang="en-US"/>
          </a:p>
          <a:p>
            <a:r>
              <a:rPr lang="en-US"/>
              <a:t>TLDR: Artifacts are files used by Java programs. They can also be Java programs in the case of self executing archives or other type of executable Java file.</a:t>
            </a:r>
            <a:endParaRPr lang="en-US"/>
          </a:p>
          <a:p>
            <a:r>
              <a:rPr lang="en-US"/>
              <a:t>The most common type of artifact you’ll encounter is a dependency - ie. a java library. This brings us to , Maven.</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4-11-18 at 10.54.12 AM"/>
          <p:cNvPicPr>
            <a:picLocks noChangeAspect="1"/>
          </p:cNvPicPr>
          <p:nvPr/>
        </p:nvPicPr>
        <p:blipFill>
          <a:blip r:embed="rId1"/>
          <a:stretch>
            <a:fillRect/>
          </a:stretch>
        </p:blipFill>
        <p:spPr>
          <a:xfrm>
            <a:off x="3463290" y="-635"/>
            <a:ext cx="5556250" cy="68586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24230"/>
          </a:xfrm>
        </p:spPr>
        <p:txBody>
          <a:bodyPr>
            <a:normAutofit fontScale="90000"/>
          </a:bodyPr>
          <a:p>
            <a:r>
              <a:rPr lang="en-US">
                <a:sym typeface="+mn-ea"/>
              </a:rPr>
              <a:t>Introduction to maven</a:t>
            </a:r>
            <a:br>
              <a:rPr lang="en-US"/>
            </a:br>
            <a:endParaRPr lang="en-US"/>
          </a:p>
        </p:txBody>
      </p:sp>
      <p:sp>
        <p:nvSpPr>
          <p:cNvPr id="3" name="Content Placeholder 2"/>
          <p:cNvSpPr>
            <a:spLocks noGrp="1"/>
          </p:cNvSpPr>
          <p:nvPr>
            <p:ph idx="1"/>
          </p:nvPr>
        </p:nvSpPr>
        <p:spPr>
          <a:xfrm>
            <a:off x="838200" y="1021080"/>
            <a:ext cx="10515600" cy="5517515"/>
          </a:xfrm>
        </p:spPr>
        <p:txBody>
          <a:bodyPr>
            <a:normAutofit lnSpcReduction="10000"/>
          </a:bodyPr>
          <a:p>
            <a:r>
              <a:rPr lang="en-US"/>
              <a:t>Apache Maven is a powerful build automation tool primarily used for Java projects, but it can also be used for projects written in other programming languages. </a:t>
            </a:r>
            <a:endParaRPr lang="en-US"/>
          </a:p>
          <a:p>
            <a:r>
              <a:rPr lang="en-US"/>
              <a:t>Maven helps manage a project's build lifecycle, dependencies, documentation, reporting, and more, providing a centralized and standardized approach to software development.</a:t>
            </a:r>
            <a:endParaRPr lang="en-US"/>
          </a:p>
          <a:p>
            <a:r>
              <a:rPr lang="en-US"/>
              <a:t>Maven is widely used in the Java ecosystem to handle tasks like compiling code, running tests, creating JAR/WAR files, and managing dependencies.</a:t>
            </a:r>
            <a:endParaRPr lang="en-US"/>
          </a:p>
          <a:p>
            <a:r>
              <a:rPr lang="en-US"/>
              <a:t>Developed by the Apache Software Foundation, Maven simplifies software project management by addressing the following aspects:</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21945"/>
            <a:ext cx="10515600" cy="5855335"/>
          </a:xfrm>
        </p:spPr>
        <p:txBody>
          <a:bodyPr>
            <a:normAutofit/>
          </a:bodyPr>
          <a:p>
            <a:r>
              <a:rPr lang="en-US"/>
              <a:t>Maven is a software development tool which automates dependency management by defining a project object model (POM) to abstracts the structure of a software project. </a:t>
            </a:r>
            <a:endParaRPr lang="en-US"/>
          </a:p>
          <a:p>
            <a:r>
              <a:rPr lang="en-US"/>
              <a:t>Using POM files to represent the concept of a project, Maven provide a single model of a project that can be used by many different tools in the Java Ecosystem (IDEs, build scripts, etc).</a:t>
            </a:r>
            <a:endParaRPr lang="en-US"/>
          </a:p>
          <a:p>
            <a:r>
              <a:rPr lang="en-US" b="1"/>
              <a:t>Where is Maven used?</a:t>
            </a:r>
            <a:endParaRPr lang="en-US" b="1"/>
          </a:p>
          <a:p>
            <a:r>
              <a:rPr lang="en-US"/>
              <a:t>You can find usages of Maven in build scripts, deployment pipelines, continuous integration builds and pretty much any place where JVM based software is created and deployed.</a:t>
            </a:r>
            <a:endParaRPr lang="en-US"/>
          </a:p>
          <a:p>
            <a:r>
              <a:rPr lang="en-US"/>
              <a:t>It’s in use by teams large and small, throughout the world to compile software into JAR files, build reports and documentation, and automate many other tasks.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34010"/>
            <a:ext cx="10515600" cy="6297295"/>
          </a:xfrm>
        </p:spPr>
        <p:txBody>
          <a:bodyPr>
            <a:normAutofit fontScale="90000"/>
          </a:bodyPr>
          <a:p>
            <a:r>
              <a:rPr lang="en-US"/>
              <a:t>Maven provides different features which make it easy to build the web-application packages we manage complex projects easily.</a:t>
            </a:r>
            <a:endParaRPr lang="en-US"/>
          </a:p>
          <a:p>
            <a:endParaRPr lang="en-US"/>
          </a:p>
          <a:p>
            <a:pPr marL="0" indent="0">
              <a:buNone/>
            </a:pPr>
            <a:r>
              <a:rPr lang="en-US" b="1"/>
              <a:t>1. POM Files:</a:t>
            </a:r>
            <a:r>
              <a:rPr lang="en-US"/>
              <a:t> </a:t>
            </a:r>
            <a:endParaRPr lang="en-US"/>
          </a:p>
          <a:p>
            <a:pPr marL="457200" lvl="1" indent="0">
              <a:buNone/>
            </a:pPr>
            <a:r>
              <a:rPr lang="en-US"/>
              <a:t>Project Object Model(POM) Files are XML file that contains information related to the project and configuration information such as dependencies, source directory, plugin, goals etc. used by Maven to build the project. </a:t>
            </a:r>
            <a:endParaRPr lang="en-US"/>
          </a:p>
          <a:p>
            <a:pPr marL="457200" lvl="1" indent="0">
              <a:buNone/>
            </a:pPr>
            <a:r>
              <a:rPr lang="en-US"/>
              <a:t>When you should execute a maven command you give maven a POM file to execute the commands. </a:t>
            </a:r>
            <a:endParaRPr lang="en-US"/>
          </a:p>
          <a:p>
            <a:pPr marL="457200" lvl="1" indent="0">
              <a:buNone/>
            </a:pPr>
            <a:r>
              <a:rPr lang="en-US"/>
              <a:t>Maven reads pom.xml file to accomplish its configuration and operations.</a:t>
            </a:r>
            <a:endParaRPr lang="en-US"/>
          </a:p>
          <a:p>
            <a:pPr marL="0" indent="0">
              <a:buNone/>
            </a:pPr>
            <a:r>
              <a:rPr lang="en-US" b="1"/>
              <a:t>2. Dependencies and Repositories: </a:t>
            </a:r>
            <a:endParaRPr lang="en-US" b="1"/>
          </a:p>
          <a:p>
            <a:pPr marL="457200" lvl="1" indent="0">
              <a:buNone/>
            </a:pPr>
            <a:r>
              <a:rPr lang="en-US"/>
              <a:t>Dependencies are external Java libraries required for Project and repositories are directories of packaged JAR files. </a:t>
            </a:r>
            <a:endParaRPr lang="en-US"/>
          </a:p>
          <a:p>
            <a:pPr marL="457200" lvl="1" indent="0">
              <a:buNone/>
            </a:pPr>
            <a:r>
              <a:rPr lang="en-US"/>
              <a:t>The local repository is just a directory on your machine’s hard drive. If the dependencies are not found in the local Maven repository, Maven downloads them from a central Maven repository and puts them in your local repository.</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21945"/>
            <a:ext cx="10515600" cy="6111240"/>
          </a:xfrm>
        </p:spPr>
        <p:txBody>
          <a:bodyPr/>
          <a:p>
            <a:pPr marL="0" indent="0">
              <a:buNone/>
            </a:pPr>
            <a:r>
              <a:rPr lang="en-US" b="1"/>
              <a:t>3. Build Life Cycles, Phases, and Goals: </a:t>
            </a:r>
            <a:endParaRPr lang="en-US" b="1"/>
          </a:p>
          <a:p>
            <a:pPr marL="457200" lvl="1" indent="0">
              <a:buNone/>
            </a:pPr>
            <a:r>
              <a:rPr lang="en-US"/>
              <a:t>A build life cycle consists of a sequence of build phases, and each build phase consists of a sequence of goals. </a:t>
            </a:r>
            <a:endParaRPr lang="en-US"/>
          </a:p>
          <a:p>
            <a:pPr marL="457200" lvl="1" indent="0">
              <a:buNone/>
            </a:pPr>
            <a:r>
              <a:rPr lang="en-US"/>
              <a:t>Maven command is the name of a build lifecycle, phase, or goal. </a:t>
            </a:r>
            <a:endParaRPr lang="en-US"/>
          </a:p>
          <a:p>
            <a:pPr marL="457200" lvl="1" indent="0">
              <a:buNone/>
            </a:pPr>
            <a:r>
              <a:rPr lang="en-US"/>
              <a:t>If a lifecycle is requested executed by giving the maven command, all build phases in that life cycle are executed also. </a:t>
            </a:r>
            <a:endParaRPr lang="en-US"/>
          </a:p>
          <a:p>
            <a:pPr marL="457200" lvl="1" indent="0">
              <a:buNone/>
            </a:pPr>
            <a:r>
              <a:rPr lang="en-US"/>
              <a:t>If a build phase is requested executed, all build phases before it in the defined sequence are executed too.</a:t>
            </a:r>
            <a:endParaRPr lang="en-US"/>
          </a:p>
          <a:p>
            <a:pPr marL="0" indent="0">
              <a:buNone/>
            </a:pPr>
            <a:r>
              <a:rPr lang="en-US" b="1"/>
              <a:t>4. Build Profiles: </a:t>
            </a:r>
            <a:endParaRPr lang="en-US" b="1"/>
          </a:p>
          <a:p>
            <a:pPr marL="457200" lvl="1" indent="0">
              <a:buNone/>
            </a:pPr>
            <a:r>
              <a:rPr lang="en-US"/>
              <a:t>Build profiles a set of configuration values that allows you to build your project using different configurations. For example, you may need to build your project for your local computer, for development and test. </a:t>
            </a:r>
            <a:endParaRPr lang="en-US"/>
          </a:p>
          <a:p>
            <a:pPr marL="457200" lvl="1" indent="0">
              <a:buNone/>
            </a:pPr>
            <a:r>
              <a:rPr lang="en-US"/>
              <a:t>To enable different builds you can add different build profiles to your POM files using its profiles elements which are triggered in a variety of ways.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43560"/>
            <a:ext cx="10515600" cy="5633720"/>
          </a:xfrm>
        </p:spPr>
        <p:txBody>
          <a:bodyPr/>
          <a:p>
            <a:pPr marL="0" indent="0">
              <a:buNone/>
            </a:pPr>
            <a:r>
              <a:rPr lang="en-US" b="1"/>
              <a:t>5. Build Plugins: </a:t>
            </a:r>
            <a:endParaRPr lang="en-US" b="1"/>
          </a:p>
          <a:p>
            <a:pPr marL="457200" lvl="1" indent="0">
              <a:buNone/>
            </a:pPr>
            <a:r>
              <a:rPr lang="en-US"/>
              <a:t>Build plugins are used to perform a specific goal. you can add a plugin to the POM file. </a:t>
            </a:r>
            <a:endParaRPr lang="en-US"/>
          </a:p>
          <a:p>
            <a:pPr marL="457200" lvl="1" indent="0">
              <a:buNone/>
            </a:pPr>
            <a:r>
              <a:rPr lang="en-US"/>
              <a:t>Maven has some standard plugins you can use, and you can also implement your own in Java.</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33730"/>
          </a:xfrm>
        </p:spPr>
        <p:txBody>
          <a:bodyPr>
            <a:normAutofit fontScale="90000"/>
          </a:bodyPr>
          <a:p>
            <a:r>
              <a:rPr lang="en-US">
                <a:sym typeface="+mn-ea"/>
              </a:rPr>
              <a:t>Key Features:</a:t>
            </a:r>
            <a:br>
              <a:rPr lang="en-US"/>
            </a:br>
            <a:endParaRPr lang="en-US"/>
          </a:p>
        </p:txBody>
      </p:sp>
      <p:sp>
        <p:nvSpPr>
          <p:cNvPr id="3" name="Content Placeholder 2"/>
          <p:cNvSpPr>
            <a:spLocks noGrp="1"/>
          </p:cNvSpPr>
          <p:nvPr>
            <p:ph idx="1"/>
          </p:nvPr>
        </p:nvSpPr>
        <p:spPr>
          <a:xfrm>
            <a:off x="838200" y="1121410"/>
            <a:ext cx="10515600" cy="5055870"/>
          </a:xfrm>
        </p:spPr>
        <p:txBody>
          <a:bodyPr>
            <a:normAutofit lnSpcReduction="20000"/>
          </a:bodyPr>
          <a:p>
            <a:r>
              <a:rPr lang="en-US"/>
              <a:t>Build Automation: Automates the process of compiling, testing, packaging, and deploying code.</a:t>
            </a:r>
            <a:endParaRPr lang="en-US"/>
          </a:p>
          <a:p>
            <a:r>
              <a:rPr lang="en-US"/>
              <a:t>Dependency Management: Automatically resolves and downloads libraries from repositories.</a:t>
            </a:r>
            <a:endParaRPr lang="en-US"/>
          </a:p>
          <a:p>
            <a:r>
              <a:rPr lang="en-US"/>
              <a:t>Standardized Project Structure: Ensures consistency across projects, improving team collaboration.</a:t>
            </a:r>
            <a:endParaRPr lang="en-US"/>
          </a:p>
          <a:p>
            <a:r>
              <a:rPr lang="en-US"/>
              <a:t>Extensibility through Plugins: Plugins can be added to enhance Maven's capabilities.</a:t>
            </a:r>
            <a:endParaRPr lang="en-US"/>
          </a:p>
          <a:p>
            <a:r>
              <a:rPr lang="en-US"/>
              <a:t>Multi-Module Projects: Supports managing multiple interrelated projects within one build system.</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77215"/>
          </a:xfrm>
        </p:spPr>
        <p:txBody>
          <a:bodyPr>
            <a:normAutofit fontScale="90000"/>
          </a:bodyPr>
          <a:p>
            <a:r>
              <a:rPr lang="en-US">
                <a:sym typeface="+mn-ea"/>
              </a:rPr>
              <a:t>Benefits of Using Maven:</a:t>
            </a:r>
            <a:br>
              <a:rPr lang="en-US"/>
            </a:br>
            <a:endParaRPr lang="en-US" b="1">
              <a:latin typeface="Arial Bold" panose="020B0604020202090204" charset="0"/>
              <a:cs typeface="Arial Bold" panose="020B0604020202090204" charset="0"/>
            </a:endParaRPr>
          </a:p>
        </p:txBody>
      </p:sp>
      <p:sp>
        <p:nvSpPr>
          <p:cNvPr id="3" name="Content Placeholder 2"/>
          <p:cNvSpPr>
            <a:spLocks noGrp="1"/>
          </p:cNvSpPr>
          <p:nvPr>
            <p:ph idx="1"/>
          </p:nvPr>
        </p:nvSpPr>
        <p:spPr>
          <a:xfrm>
            <a:off x="838200" y="1167130"/>
            <a:ext cx="10515600" cy="5010150"/>
          </a:xfrm>
        </p:spPr>
        <p:txBody>
          <a:bodyPr/>
          <a:p>
            <a:r>
              <a:rPr lang="en-US"/>
              <a:t>Simplifies Project Configuration: Uses a central file, pom.xml, to define all configurations.</a:t>
            </a:r>
            <a:endParaRPr lang="en-US"/>
          </a:p>
          <a:p>
            <a:r>
              <a:rPr lang="en-US"/>
              <a:t>Reduces Manual Effort: Automates repetitive tasks in the build lifecycle.</a:t>
            </a:r>
            <a:endParaRPr lang="en-US"/>
          </a:p>
          <a:p>
            <a:r>
              <a:rPr lang="en-US"/>
              <a:t>Enhances Portability: Ensures the project is easy to share and work on across different environments.</a:t>
            </a:r>
            <a:endParaRPr lang="en-US"/>
          </a:p>
          <a:p>
            <a:r>
              <a:rPr lang="en-US"/>
              <a:t>Integration with CI/CD: Seamlessly integrates with modern DevOps tools and CI/CD pipelines.</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92455"/>
          </a:xfrm>
        </p:spPr>
        <p:txBody>
          <a:bodyPr>
            <a:normAutofit fontScale="90000"/>
          </a:bodyPr>
          <a:p>
            <a:r>
              <a:rPr lang="en-US"/>
              <a:t>Maven Lifecycle </a:t>
            </a:r>
            <a:endParaRPr lang="en-US"/>
          </a:p>
        </p:txBody>
      </p:sp>
      <p:sp>
        <p:nvSpPr>
          <p:cNvPr id="3" name="Content Placeholder 2"/>
          <p:cNvSpPr>
            <a:spLocks noGrp="1"/>
          </p:cNvSpPr>
          <p:nvPr>
            <p:ph idx="1"/>
          </p:nvPr>
        </p:nvSpPr>
        <p:spPr>
          <a:xfrm>
            <a:off x="838200" y="1149985"/>
            <a:ext cx="10515600" cy="5410835"/>
          </a:xfrm>
        </p:spPr>
        <p:txBody>
          <a:bodyPr>
            <a:normAutofit fontScale="70000"/>
          </a:bodyPr>
          <a:p>
            <a:r>
              <a:rPr lang="en-US"/>
              <a:t>Maven is an most powerful tool to build the artifacts of the java projects by using the POM.XML file. </a:t>
            </a:r>
            <a:endParaRPr lang="en-US"/>
          </a:p>
          <a:p>
            <a:r>
              <a:rPr lang="en-US"/>
              <a:t>A build lifecycle in Apache Maven is a prearranged set of goals and phases that are carried out in a particular order to construct and oversee a project. There are three built in build lifecycles :</a:t>
            </a:r>
            <a:endParaRPr lang="en-US"/>
          </a:p>
          <a:p>
            <a:pPr marL="0" indent="0">
              <a:buNone/>
            </a:pPr>
            <a:r>
              <a:rPr lang="en-US" b="1"/>
              <a:t>1. Clean Lifecycle: </a:t>
            </a:r>
            <a:endParaRPr lang="en-US" b="1"/>
          </a:p>
          <a:p>
            <a:pPr marL="457200" lvl="1" indent="0">
              <a:buNone/>
            </a:pPr>
            <a:r>
              <a:rPr lang="en-US"/>
              <a:t>In this cycle maven will clean all the dependence  which are previously stored in the local repository which have have been used for another project.</a:t>
            </a:r>
            <a:endParaRPr lang="en-US"/>
          </a:p>
          <a:p>
            <a:pPr marL="0" indent="0">
              <a:buNone/>
            </a:pPr>
            <a:r>
              <a:rPr lang="en-US" b="1"/>
              <a:t>2. Default Lifecycle:  Handles project deployment </a:t>
            </a:r>
            <a:endParaRPr lang="en-US" b="1"/>
          </a:p>
          <a:p>
            <a:pPr marL="457200" lvl="1" indent="0">
              <a:buNone/>
            </a:pPr>
            <a:r>
              <a:rPr lang="en-US"/>
              <a:t>This lifecycle had another sub cycles as mentioned below.</a:t>
            </a:r>
            <a:endParaRPr lang="en-US"/>
          </a:p>
          <a:p>
            <a:pPr lvl="1"/>
            <a:r>
              <a:rPr lang="en-US"/>
              <a:t>validate: Validates the project configuration.</a:t>
            </a:r>
            <a:endParaRPr lang="en-US"/>
          </a:p>
          <a:p>
            <a:pPr lvl="1"/>
            <a:r>
              <a:rPr lang="en-US"/>
              <a:t>compile: Compiles the source code into bytecode.</a:t>
            </a:r>
            <a:endParaRPr lang="en-US"/>
          </a:p>
          <a:p>
            <a:pPr lvl="1"/>
            <a:r>
              <a:rPr lang="en-US"/>
              <a:t>test: Runs the tests for the project.</a:t>
            </a:r>
            <a:endParaRPr lang="en-US"/>
          </a:p>
          <a:p>
            <a:pPr lvl="1"/>
            <a:r>
              <a:rPr lang="en-US"/>
              <a:t>package: Packages the compiled code and resources into an artifact (e.g., JAR, WAR).</a:t>
            </a:r>
            <a:endParaRPr lang="en-US"/>
          </a:p>
          <a:p>
            <a:pPr lvl="1"/>
            <a:r>
              <a:rPr lang="en-US"/>
              <a:t>install: Installs the artifact in the local repository.</a:t>
            </a:r>
            <a:endParaRPr lang="en-US"/>
          </a:p>
          <a:p>
            <a:pPr lvl="1"/>
            <a:r>
              <a:rPr lang="en-US"/>
              <a:t>deploy: Copies the artifact to a remote repository.</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50215"/>
            <a:ext cx="10515600" cy="5727065"/>
          </a:xfrm>
        </p:spPr>
        <p:txBody>
          <a:bodyPr/>
          <a:p>
            <a:pPr marL="0" indent="0">
              <a:buNone/>
            </a:pPr>
            <a:r>
              <a:rPr lang="en-US" b="1"/>
              <a:t>3. Site lifecycle  :</a:t>
            </a:r>
            <a:endParaRPr lang="en-US" b="1"/>
          </a:p>
          <a:p>
            <a:pPr marL="0" indent="0">
              <a:buNone/>
            </a:pPr>
            <a:r>
              <a:rPr lang="en-US"/>
              <a:t>	Handles the creation of project's site documentation.</a:t>
            </a:r>
            <a:endParaRPr lang="en-US"/>
          </a:p>
          <a:p>
            <a:endParaRPr lang="en-US"/>
          </a:p>
        </p:txBody>
      </p:sp>
      <p:pic>
        <p:nvPicPr>
          <p:cNvPr id="5" name="Picture 4" descr="Screenshot 2024-11-18 at 10.45.41 AM"/>
          <p:cNvPicPr>
            <a:picLocks noChangeAspect="1"/>
          </p:cNvPicPr>
          <p:nvPr/>
        </p:nvPicPr>
        <p:blipFill>
          <a:blip r:embed="rId1"/>
          <a:stretch>
            <a:fillRect/>
          </a:stretch>
        </p:blipFill>
        <p:spPr>
          <a:xfrm>
            <a:off x="1915795" y="1458595"/>
            <a:ext cx="8780780" cy="539940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sz="3110" b="1">
                <a:sym typeface="+mn-ea"/>
              </a:rPr>
              <a:t>The clean lifecycle of Maven is a series of steps that deletes all files created by the previous build, and then completes the project's cleanup:</a:t>
            </a:r>
            <a:br>
              <a:rPr lang="en-US"/>
            </a:br>
            <a:endParaRPr lang="en-US"/>
          </a:p>
        </p:txBody>
      </p:sp>
      <p:sp>
        <p:nvSpPr>
          <p:cNvPr id="3" name="Content Placeholder 2"/>
          <p:cNvSpPr>
            <a:spLocks noGrp="1"/>
          </p:cNvSpPr>
          <p:nvPr>
            <p:ph idx="1"/>
          </p:nvPr>
        </p:nvSpPr>
        <p:spPr/>
        <p:txBody>
          <a:bodyPr>
            <a:normAutofit/>
          </a:bodyPr>
          <a:p>
            <a:r>
              <a:rPr lang="en-US"/>
              <a:t>Pre-clean: Completes the steps before the actual project cleaning</a:t>
            </a:r>
            <a:endParaRPr lang="en-US"/>
          </a:p>
          <a:p>
            <a:r>
              <a:rPr lang="en-US"/>
              <a:t>Clean: Deletes all files produced by the previous build, including compiled files from the output directory</a:t>
            </a:r>
            <a:endParaRPr lang="en-US"/>
          </a:p>
          <a:p>
            <a:r>
              <a:rPr lang="en-US"/>
              <a:t>Post-clean: Completes the steps required to finish the project's cleanup </a:t>
            </a:r>
            <a:endParaRPr lang="en-US"/>
          </a:p>
          <a:p>
            <a:r>
              <a:rPr lang="en-US" b="1"/>
              <a:t>The mvn clean command deletes the target directory to clean the Maven project. </a:t>
            </a:r>
            <a:endParaRPr lang="en-US"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127125"/>
          </a:xfrm>
        </p:spPr>
        <p:txBody>
          <a:bodyPr>
            <a:normAutofit fontScale="90000"/>
          </a:bodyPr>
          <a:p>
            <a:r>
              <a:rPr lang="en-US">
                <a:sym typeface="+mn-ea"/>
              </a:rPr>
              <a:t>Here's a brief description of each phase in the default lifecycle:</a:t>
            </a:r>
            <a:br>
              <a:rPr lang="en-US"/>
            </a:br>
            <a:endParaRPr lang="en-US"/>
          </a:p>
        </p:txBody>
      </p:sp>
      <p:sp>
        <p:nvSpPr>
          <p:cNvPr id="3" name="Content Placeholder 2"/>
          <p:cNvSpPr>
            <a:spLocks noGrp="1"/>
          </p:cNvSpPr>
          <p:nvPr>
            <p:ph idx="1"/>
          </p:nvPr>
        </p:nvSpPr>
        <p:spPr>
          <a:xfrm>
            <a:off x="838200" y="1231265"/>
            <a:ext cx="10515600" cy="4946015"/>
          </a:xfrm>
        </p:spPr>
        <p:txBody>
          <a:bodyPr>
            <a:normAutofit fontScale="80000"/>
          </a:bodyPr>
          <a:p>
            <a:endParaRPr lang="en-US"/>
          </a:p>
          <a:p>
            <a:r>
              <a:rPr lang="en-US" b="1"/>
              <a:t>validate: </a:t>
            </a:r>
            <a:r>
              <a:rPr lang="en-US"/>
              <a:t>It validates the project is correct and all necessary information is available.</a:t>
            </a:r>
            <a:endParaRPr lang="en-US"/>
          </a:p>
          <a:p>
            <a:r>
              <a:rPr lang="en-US" b="1"/>
              <a:t>compile: </a:t>
            </a:r>
            <a:r>
              <a:rPr lang="en-US"/>
              <a:t>It compiles the source code of the project.</a:t>
            </a:r>
            <a:endParaRPr lang="en-US"/>
          </a:p>
          <a:p>
            <a:r>
              <a:rPr lang="en-US" b="1"/>
              <a:t>test:</a:t>
            </a:r>
            <a:r>
              <a:rPr lang="en-US"/>
              <a:t> It tests the compiled source code using a suitable unit testing framework.</a:t>
            </a:r>
            <a:endParaRPr lang="en-US"/>
          </a:p>
          <a:p>
            <a:r>
              <a:rPr lang="en-US" b="1"/>
              <a:t>package:</a:t>
            </a:r>
            <a:r>
              <a:rPr lang="en-US"/>
              <a:t> It takes the compiled code and packages it in its distributable format, such as a JAR file.</a:t>
            </a:r>
            <a:endParaRPr lang="en-US"/>
          </a:p>
          <a:p>
            <a:r>
              <a:rPr lang="en-US" b="1"/>
              <a:t>verify: </a:t>
            </a:r>
            <a:r>
              <a:rPr lang="en-US"/>
              <a:t>To run any checks to verify the package is valid and meets quality criteria.</a:t>
            </a:r>
            <a:endParaRPr lang="en-US"/>
          </a:p>
          <a:p>
            <a:r>
              <a:rPr lang="en-US" b="1"/>
              <a:t>install:</a:t>
            </a:r>
            <a:r>
              <a:rPr lang="en-US"/>
              <a:t> To install the package into the local repository, for use as a dependency in other projects.</a:t>
            </a:r>
            <a:endParaRPr lang="en-US"/>
          </a:p>
          <a:p>
            <a:r>
              <a:rPr lang="en-US" b="1"/>
              <a:t>deploy:</a:t>
            </a:r>
            <a:r>
              <a:rPr lang="en-US"/>
              <a:t> To copy the final package to the remote repository for sharing with other developers and projects.</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US" sz="3555">
                <a:sym typeface="+mn-ea"/>
              </a:rPr>
              <a:t>The Maven site lifecycle is a set of phases that are executed to create a project's site documentation:</a:t>
            </a:r>
            <a:endParaRPr lang="en-US" sz="3555"/>
          </a:p>
        </p:txBody>
      </p:sp>
      <p:sp>
        <p:nvSpPr>
          <p:cNvPr id="3" name="Content Placeholder 2"/>
          <p:cNvSpPr>
            <a:spLocks noGrp="1"/>
          </p:cNvSpPr>
          <p:nvPr>
            <p:ph idx="1"/>
          </p:nvPr>
        </p:nvSpPr>
        <p:spPr/>
        <p:txBody>
          <a:bodyPr/>
          <a:p>
            <a:pPr marL="0" indent="0">
              <a:buNone/>
            </a:pPr>
            <a:endParaRPr lang="en-US"/>
          </a:p>
          <a:p>
            <a:r>
              <a:rPr lang="en-US"/>
              <a:t>Pre-site: A phase that is executed before the site phase </a:t>
            </a:r>
            <a:endParaRPr lang="en-US"/>
          </a:p>
          <a:p>
            <a:r>
              <a:rPr lang="en-US"/>
              <a:t>Site: A phase that creates the project's site documentation </a:t>
            </a:r>
            <a:endParaRPr lang="en-US"/>
          </a:p>
          <a:p>
            <a:r>
              <a:rPr lang="en-US"/>
              <a:t>Post-site: A phase that is executed after the site phase </a:t>
            </a:r>
            <a:endParaRPr lang="en-US"/>
          </a:p>
          <a:p>
            <a:r>
              <a:rPr lang="en-US"/>
              <a:t>Site-deploy: A phase that executes all of the other phases in the site lifecycle </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52780"/>
          </a:xfrm>
        </p:spPr>
        <p:txBody>
          <a:bodyPr>
            <a:normAutofit fontScale="90000"/>
          </a:bodyPr>
          <a:p>
            <a:r>
              <a:rPr lang="en-US">
                <a:sym typeface="+mn-ea"/>
              </a:rPr>
              <a:t>JAR Files </a:t>
            </a:r>
            <a:endParaRPr lang="en-US"/>
          </a:p>
        </p:txBody>
      </p:sp>
      <p:sp>
        <p:nvSpPr>
          <p:cNvPr id="3" name="Content Placeholder 2"/>
          <p:cNvSpPr>
            <a:spLocks noGrp="1"/>
          </p:cNvSpPr>
          <p:nvPr>
            <p:ph idx="1"/>
          </p:nvPr>
        </p:nvSpPr>
        <p:spPr>
          <a:xfrm>
            <a:off x="838200" y="1202055"/>
            <a:ext cx="10515600" cy="5436870"/>
          </a:xfrm>
        </p:spPr>
        <p:txBody>
          <a:bodyPr>
            <a:normAutofit fontScale="70000"/>
          </a:bodyPr>
          <a:p>
            <a:r>
              <a:rPr lang="en-US"/>
              <a:t>JAR stands for Java ARchive. </a:t>
            </a:r>
            <a:endParaRPr lang="en-US"/>
          </a:p>
          <a:p>
            <a:r>
              <a:rPr lang="en-US"/>
              <a:t>It's a file format that's used to bundle many files into one, and is based on the ZIP file format. JAR files are typically used to aggregate Java class files, metadata, and resources into one file for distribution. </a:t>
            </a:r>
            <a:endParaRPr lang="en-US"/>
          </a:p>
          <a:p>
            <a:r>
              <a:rPr lang="en-US"/>
              <a:t>In Maven, you can use the Apache Maven JAR Plugin to build JAR files:</a:t>
            </a:r>
            <a:endParaRPr lang="en-US"/>
          </a:p>
          <a:p>
            <a:r>
              <a:rPr lang="en-US"/>
              <a:t>Create a pom.xml file</a:t>
            </a:r>
            <a:endParaRPr lang="en-US"/>
          </a:p>
          <a:p>
            <a:r>
              <a:rPr lang="en-US"/>
              <a:t>Locate the Java source files in src/main/java</a:t>
            </a:r>
            <a:endParaRPr lang="en-US"/>
          </a:p>
          <a:p>
            <a:r>
              <a:rPr lang="en-US"/>
              <a:t>Locate extra resources in src/main/resources</a:t>
            </a:r>
            <a:endParaRPr lang="en-US"/>
          </a:p>
          <a:p>
            <a:r>
              <a:rPr lang="en-US"/>
              <a:t>Use the command mvn package to create the JAR file </a:t>
            </a:r>
            <a:endParaRPr lang="en-US"/>
          </a:p>
          <a:p>
            <a:r>
              <a:rPr lang="en-US"/>
              <a:t>The JAR file will contain the compiled Java class files and the files from src/main/resources. </a:t>
            </a:r>
            <a:endParaRPr lang="en-US"/>
          </a:p>
          <a:p>
            <a:r>
              <a:rPr lang="en-US"/>
              <a:t>You can also use other Maven plugins to generate JAR files with dependencies, which are called Fat Jars. Fat Jars are useful for building executable JAR files. For example, you can use the Maven Assembly plugin to combine project output into a single distributable archive that contains dependencies, modules, and other files.</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39115"/>
          </a:xfrm>
        </p:spPr>
        <p:txBody>
          <a:bodyPr/>
          <a:p>
            <a:r>
              <a:rPr lang="en-US" sz="2800">
                <a:sym typeface="+mn-ea"/>
              </a:rPr>
              <a:t>WAR Files</a:t>
            </a:r>
            <a:endParaRPr lang="en-US" sz="2800"/>
          </a:p>
        </p:txBody>
      </p:sp>
      <p:sp>
        <p:nvSpPr>
          <p:cNvPr id="3" name="Content Placeholder 2"/>
          <p:cNvSpPr>
            <a:spLocks noGrp="1"/>
          </p:cNvSpPr>
          <p:nvPr>
            <p:ph idx="1"/>
          </p:nvPr>
        </p:nvSpPr>
        <p:spPr>
          <a:xfrm>
            <a:off x="838200" y="1039495"/>
            <a:ext cx="10515600" cy="5598795"/>
          </a:xfrm>
        </p:spPr>
        <p:txBody>
          <a:bodyPr>
            <a:normAutofit fontScale="60000"/>
          </a:bodyPr>
          <a:p>
            <a:r>
              <a:rPr lang="en-US"/>
              <a:t>A WAR file, or Web Archive file, is a packaged web application that contains resources used to build a web application:</a:t>
            </a:r>
            <a:endParaRPr lang="en-US"/>
          </a:p>
          <a:p>
            <a:r>
              <a:rPr lang="en-US" b="1"/>
              <a:t>Java classes</a:t>
            </a:r>
            <a:endParaRPr lang="en-US" b="1"/>
          </a:p>
          <a:p>
            <a:r>
              <a:rPr lang="en-US" b="1"/>
              <a:t>JavaServer Pages (JSP)</a:t>
            </a:r>
            <a:endParaRPr lang="en-US" b="1"/>
          </a:p>
          <a:p>
            <a:r>
              <a:rPr lang="en-US" b="1"/>
              <a:t>Java servlets</a:t>
            </a:r>
            <a:endParaRPr lang="en-US" b="1"/>
          </a:p>
          <a:p>
            <a:r>
              <a:rPr lang="en-US" b="1"/>
              <a:t>XML files</a:t>
            </a:r>
            <a:endParaRPr lang="en-US" b="1"/>
          </a:p>
          <a:p>
            <a:r>
              <a:rPr lang="en-US" b="1"/>
              <a:t>Tag libraries</a:t>
            </a:r>
            <a:endParaRPr lang="en-US" b="1"/>
          </a:p>
          <a:p>
            <a:r>
              <a:rPr lang="en-US" b="1"/>
              <a:t>Static web pages</a:t>
            </a:r>
            <a:endParaRPr lang="en-US" b="1"/>
          </a:p>
          <a:p>
            <a:r>
              <a:rPr lang="en-US" b="1"/>
              <a:t>Static images </a:t>
            </a:r>
            <a:endParaRPr lang="en-US" b="1"/>
          </a:p>
          <a:p>
            <a:r>
              <a:rPr lang="en-US"/>
              <a:t>WAR files are similar to JAR files, but they also include a web deployment descriptor file, which is an XML file that contains: Deployment information, MIME types, Session configuration details, and Other settings for the web application. </a:t>
            </a:r>
            <a:endParaRPr lang="en-US"/>
          </a:p>
          <a:p>
            <a:r>
              <a:rPr lang="en-US"/>
              <a:t>WAR files can be used to import a web application into a web server. </a:t>
            </a:r>
            <a:endParaRPr lang="en-US"/>
          </a:p>
          <a:p>
            <a:r>
              <a:rPr lang="en-US"/>
              <a:t>The web deployment descriptor file is shared with developers, assemblers, and deployers in a Java EE environment. </a:t>
            </a:r>
            <a:endParaRPr lang="en-US"/>
          </a:p>
          <a:p>
            <a:r>
              <a:rPr lang="en-US"/>
              <a:t>You can install Apache Tomcat from a WAR file. </a:t>
            </a:r>
            <a:endParaRPr lang="en-US"/>
          </a:p>
          <a:p>
            <a:r>
              <a:rPr lang="en-US"/>
              <a:t>You can import WAR files. </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789940"/>
            <a:ext cx="10515600" cy="5387340"/>
          </a:xfrm>
        </p:spPr>
        <p:txBody>
          <a:bodyPr/>
          <a:p>
            <a:r>
              <a:rPr lang="en-US"/>
              <a:t>A WAR file is used to deploy a Java EE web application in an application server. Inside a WAR file, all the web components are packed into one single unit. These include JAR files, JavaServer Pages, Java servlets, Java class files, XML files, HTML files, and other resource files that we need for web applications.</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78510"/>
          </a:xfrm>
        </p:spPr>
        <p:txBody>
          <a:bodyPr/>
          <a:p>
            <a:r>
              <a:rPr lang="en-US"/>
              <a:t>What Is Maven Repository?</a:t>
            </a:r>
            <a:endParaRPr lang="en-US"/>
          </a:p>
        </p:txBody>
      </p:sp>
      <p:sp>
        <p:nvSpPr>
          <p:cNvPr id="3" name="Content Placeholder 2"/>
          <p:cNvSpPr>
            <a:spLocks noGrp="1"/>
          </p:cNvSpPr>
          <p:nvPr>
            <p:ph idx="1"/>
          </p:nvPr>
        </p:nvSpPr>
        <p:spPr>
          <a:xfrm>
            <a:off x="838200" y="1313180"/>
            <a:ext cx="10515600" cy="4864100"/>
          </a:xfrm>
        </p:spPr>
        <p:txBody>
          <a:bodyPr>
            <a:normAutofit lnSpcReduction="10000"/>
          </a:bodyPr>
          <a:p>
            <a:r>
              <a:rPr lang="en-US"/>
              <a:t>Maven repositories are directories of packaged JAR files with some metadata. </a:t>
            </a:r>
            <a:endParaRPr lang="en-US"/>
          </a:p>
          <a:p>
            <a:r>
              <a:rPr lang="en-US"/>
              <a:t>The metadata are POM files related to the projects each packaged JAR file belongs to, including what external dependencies each packaged JAR has. </a:t>
            </a:r>
            <a:endParaRPr lang="en-US"/>
          </a:p>
          <a:p>
            <a:r>
              <a:rPr lang="en-US"/>
              <a:t>This metadata enables Maven to download dependencies of your dependencies recursively until all dependencies are download and put into your local machine. </a:t>
            </a:r>
            <a:endParaRPr lang="en-US"/>
          </a:p>
          <a:p>
            <a:r>
              <a:rPr lang="en-US"/>
              <a:t>Maven has three types of repository :Maven searches for dependencies in this repositories. First maven searches in Local repository then Central repository then Remote repository if Remote repository specified in the POM.</a:t>
            </a:r>
            <a:endParaRPr lang="en-US"/>
          </a:p>
        </p:txBody>
      </p:sp>
      <p:sp>
        <p:nvSpPr>
          <p:cNvPr id="4" name="Text Box 3"/>
          <p:cNvSpPr txBox="1"/>
          <p:nvPr/>
        </p:nvSpPr>
        <p:spPr>
          <a:xfrm>
            <a:off x="675640" y="589915"/>
            <a:ext cx="309880" cy="368300"/>
          </a:xfrm>
          <a:prstGeom prst="rect">
            <a:avLst/>
          </a:prstGeom>
          <a:noFill/>
        </p:spPr>
        <p:txBody>
          <a:bodyPr wrap="none" rtlCol="0">
            <a:spAutoFit/>
          </a:bodyPr>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4-11-19 at 10.41.53 AM"/>
          <p:cNvPicPr>
            <a:picLocks noChangeAspect="1"/>
          </p:cNvPicPr>
          <p:nvPr/>
        </p:nvPicPr>
        <p:blipFill>
          <a:blip r:embed="rId1"/>
          <a:stretch>
            <a:fillRect/>
          </a:stretch>
        </p:blipFill>
        <p:spPr>
          <a:xfrm>
            <a:off x="330200" y="643890"/>
            <a:ext cx="10757535" cy="525843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1980" y="377825"/>
            <a:ext cx="11126470" cy="6086475"/>
          </a:xfrm>
        </p:spPr>
        <p:txBody>
          <a:bodyPr>
            <a:normAutofit fontScale="80000"/>
          </a:bodyPr>
          <a:p>
            <a:r>
              <a:rPr lang="en-US" b="1"/>
              <a:t>Local repository-</a:t>
            </a:r>
            <a:r>
              <a:rPr lang="en-US"/>
              <a:t> </a:t>
            </a:r>
            <a:endParaRPr lang="en-US"/>
          </a:p>
          <a:p>
            <a:pPr lvl="1"/>
            <a:r>
              <a:rPr lang="en-US"/>
              <a:t>A local repository is a directory on the machine of developer. </a:t>
            </a:r>
            <a:endParaRPr lang="en-US"/>
          </a:p>
          <a:p>
            <a:pPr lvl="1"/>
            <a:r>
              <a:rPr lang="en-US"/>
              <a:t>This repository contains all the dependencies Maven downloads. </a:t>
            </a:r>
            <a:endParaRPr lang="en-US"/>
          </a:p>
          <a:p>
            <a:pPr lvl="1"/>
            <a:r>
              <a:rPr lang="en-US"/>
              <a:t>Maven only needs to download the dependencies once, even if multiple projects depends on them (e.g. ODBC). </a:t>
            </a:r>
            <a:endParaRPr lang="en-US"/>
          </a:p>
          <a:p>
            <a:pPr lvl="1"/>
            <a:r>
              <a:rPr lang="en-US"/>
              <a:t>By default, maven local repository is user_home/m2 directory.</a:t>
            </a:r>
            <a:endParaRPr lang="en-US"/>
          </a:p>
          <a:p>
            <a:r>
              <a:rPr lang="en-US" b="1"/>
              <a:t>Central repository- </a:t>
            </a:r>
            <a:endParaRPr lang="en-US" b="1"/>
          </a:p>
          <a:p>
            <a:pPr lvl="1"/>
            <a:r>
              <a:rPr lang="en-US"/>
              <a:t>The central Maven repository is created Maven community. </a:t>
            </a:r>
            <a:endParaRPr lang="en-US"/>
          </a:p>
          <a:p>
            <a:pPr lvl="1"/>
            <a:r>
              <a:rPr lang="en-US"/>
              <a:t>Maven looks in this central repository for any dependencies needed but not found in your local repository. </a:t>
            </a:r>
            <a:endParaRPr lang="en-US"/>
          </a:p>
          <a:p>
            <a:pPr lvl="1"/>
            <a:r>
              <a:rPr lang="en-US"/>
              <a:t>Maven then downloads these dependencies into your local repository.</a:t>
            </a:r>
            <a:endParaRPr lang="en-US"/>
          </a:p>
          <a:p>
            <a:pPr lvl="1"/>
            <a:r>
              <a:rPr lang="en-US"/>
              <a:t>You can view central repository by this link.</a:t>
            </a:r>
            <a:endParaRPr lang="en-US"/>
          </a:p>
          <a:p>
            <a:r>
              <a:rPr lang="en-US" b="1"/>
              <a:t>Remote repository- </a:t>
            </a:r>
            <a:endParaRPr lang="en-US" b="1"/>
          </a:p>
          <a:p>
            <a:pPr lvl="1"/>
            <a:r>
              <a:rPr lang="en-US"/>
              <a:t>Remote repository is a repository on a web server from which Maven can download dependencies.it often used for hosting projects internal to the organization. </a:t>
            </a:r>
            <a:endParaRPr lang="en-US"/>
          </a:p>
          <a:p>
            <a:pPr lvl="1"/>
            <a:r>
              <a:rPr lang="en-US"/>
              <a:t>Maven then downloads these dependencies into your local repository.</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88975"/>
            <a:ext cx="10515600" cy="5786755"/>
          </a:xfrm>
        </p:spPr>
        <p:txBody>
          <a:bodyPr>
            <a:normAutofit fontScale="60000"/>
          </a:bodyPr>
          <a:p>
            <a:r>
              <a:rPr lang="en-US"/>
              <a:t>Maven can add all the dependencies required for the project automatically by reading pom file.</a:t>
            </a:r>
            <a:endParaRPr lang="en-US"/>
          </a:p>
          <a:p>
            <a:r>
              <a:rPr lang="en-US"/>
              <a:t>One can easily build their project to jar, war etc. as per their requirements using Maven.</a:t>
            </a:r>
            <a:endParaRPr lang="en-US"/>
          </a:p>
          <a:p>
            <a:r>
              <a:rPr lang="en-US"/>
              <a:t>Maven makes easy to start project in different environments and one doesn’t needs to handle the dependencies injection, builds, processing, etc.</a:t>
            </a:r>
            <a:endParaRPr lang="en-US"/>
          </a:p>
          <a:p>
            <a:r>
              <a:rPr lang="en-US"/>
              <a:t>Adding a new dependency is very easy. One has to just write the dependency code in pom file.</a:t>
            </a:r>
            <a:endParaRPr lang="en-US"/>
          </a:p>
          <a:p>
            <a:r>
              <a:rPr lang="en-US"/>
              <a:t>Maven needs the maven installation in the system for working and maven plugin for the ide.</a:t>
            </a:r>
            <a:endParaRPr lang="en-US"/>
          </a:p>
          <a:p>
            <a:r>
              <a:rPr lang="en-US"/>
              <a:t>If the maven code for an existing dependency is not available, then one cannot add that dependency using maven.</a:t>
            </a:r>
            <a:endParaRPr lang="en-US"/>
          </a:p>
          <a:p>
            <a:r>
              <a:rPr lang="en-US"/>
              <a:t>When there are a lot of dependencies for the project. Then it is easy to handle those dependencies using maven.</a:t>
            </a:r>
            <a:endParaRPr lang="en-US"/>
          </a:p>
          <a:p>
            <a:r>
              <a:rPr lang="en-US"/>
              <a:t>When dependency version update frequently. Then one has to only update version ID in pom file to update dependencies.</a:t>
            </a:r>
            <a:endParaRPr lang="en-US"/>
          </a:p>
          <a:p>
            <a:r>
              <a:rPr lang="en-US"/>
              <a:t>Continuous builds, integration, and testing can be easily handled by using maven.</a:t>
            </a:r>
            <a:endParaRPr lang="en-US"/>
          </a:p>
          <a:p>
            <a:r>
              <a:rPr lang="en-US"/>
              <a:t>When one needs an easy way to Generating documentation from the source code, Compiling source code, Packaging compiled code into JAR files or ZIP files.</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4-11-18 at 10.57.54 AM"/>
          <p:cNvPicPr>
            <a:picLocks noChangeAspect="1"/>
          </p:cNvPicPr>
          <p:nvPr/>
        </p:nvPicPr>
        <p:blipFill>
          <a:blip r:embed="rId1"/>
          <a:stretch>
            <a:fillRect/>
          </a:stretch>
        </p:blipFill>
        <p:spPr>
          <a:xfrm>
            <a:off x="3025140" y="635"/>
            <a:ext cx="5616575" cy="67767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51840"/>
          </a:xfrm>
        </p:spPr>
        <p:txBody>
          <a:bodyPr/>
          <a:p>
            <a:r>
              <a:rPr lang="en-US"/>
              <a:t>What Is Maven Architecture?</a:t>
            </a:r>
            <a:endParaRPr lang="en-US"/>
          </a:p>
        </p:txBody>
      </p:sp>
      <p:sp>
        <p:nvSpPr>
          <p:cNvPr id="3" name="Content Placeholder 2"/>
          <p:cNvSpPr>
            <a:spLocks noGrp="1"/>
          </p:cNvSpPr>
          <p:nvPr>
            <p:ph idx="1"/>
          </p:nvPr>
        </p:nvSpPr>
        <p:spPr>
          <a:xfrm>
            <a:off x="838200" y="1276985"/>
            <a:ext cx="10515600" cy="4900295"/>
          </a:xfrm>
        </p:spPr>
        <p:txBody>
          <a:bodyPr/>
          <a:p>
            <a:r>
              <a:rPr lang="en-US"/>
              <a:t>Maven repository is a place where the maven artefacts or dependencies of the JAR file is going to store which are written in the file called the POM.XML. </a:t>
            </a:r>
            <a:endParaRPr lang="en-US"/>
          </a:p>
          <a:p>
            <a:r>
              <a:rPr lang="en-US"/>
              <a:t>POM.XML contains the Java classes, resources, and other dependencies.</a:t>
            </a:r>
            <a:endParaRPr lang="en-US"/>
          </a:p>
          <a:p>
            <a:r>
              <a:rPr lang="en-US"/>
              <a:t>Maven reads the pom.xml file.</a:t>
            </a:r>
            <a:endParaRPr lang="en-US"/>
          </a:p>
          <a:p>
            <a:r>
              <a:rPr lang="en-US"/>
              <a:t>Maven downloads the dependencies defined in the pom.xml file into the local repository from the central or remote repository.</a:t>
            </a:r>
            <a:endParaRPr lang="en-US"/>
          </a:p>
          <a:p>
            <a:r>
              <a:rPr lang="en-US"/>
              <a:t>Maven executes the life cycles, phases, goals, and plugins defined in the pom.xml file.</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4-11-19 at 10.53.01 AM"/>
          <p:cNvPicPr>
            <a:picLocks noChangeAspect="1"/>
          </p:cNvPicPr>
          <p:nvPr/>
        </p:nvPicPr>
        <p:blipFill>
          <a:blip r:embed="rId1"/>
          <a:stretch>
            <a:fillRect/>
          </a:stretch>
        </p:blipFill>
        <p:spPr>
          <a:xfrm>
            <a:off x="633730" y="524510"/>
            <a:ext cx="10698480" cy="590994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789940"/>
            <a:ext cx="10515600" cy="5387340"/>
          </a:xfrm>
        </p:spPr>
        <p:txBody>
          <a:bodyPr/>
          <a:p>
            <a:r>
              <a:rPr lang="en-US"/>
              <a:t>Maven is a build tool that automates the process of developing and building applications. </a:t>
            </a:r>
            <a:endParaRPr lang="en-US"/>
          </a:p>
          <a:p>
            <a:r>
              <a:rPr lang="en-US"/>
              <a:t>It's written in Java and uses the Project Object Model (POM) to: </a:t>
            </a:r>
            <a:endParaRPr lang="en-US"/>
          </a:p>
          <a:p>
            <a:pPr marL="0" indent="0">
              <a:buNone/>
            </a:pPr>
            <a:r>
              <a:rPr lang="en-US"/>
              <a:t>	Create projects from templates </a:t>
            </a:r>
            <a:endParaRPr lang="en-US"/>
          </a:p>
          <a:p>
            <a:pPr marL="0" indent="0">
              <a:buNone/>
            </a:pPr>
            <a:r>
              <a:rPr lang="en-US"/>
              <a:t>	Manage project details, such as change logs, 	dependencies, and unit test reports </a:t>
            </a:r>
            <a:endParaRPr lang="en-US"/>
          </a:p>
          <a:p>
            <a:pPr marL="0" indent="0">
              <a:buNone/>
            </a:pPr>
            <a:r>
              <a:rPr lang="en-US"/>
              <a:t>	Preserve project metadata in a central repository </a:t>
            </a:r>
            <a:endParaRPr lang="en-US"/>
          </a:p>
          <a:p>
            <a:pPr marL="0" indent="0">
              <a:buNone/>
            </a:pPr>
            <a:r>
              <a:rPr lang="en-US"/>
              <a:t>	Simplify and standardize the building process </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39775"/>
          </a:xfrm>
        </p:spPr>
        <p:txBody>
          <a:bodyPr>
            <a:normAutofit fontScale="90000"/>
          </a:bodyPr>
          <a:p>
            <a:r>
              <a:rPr lang="en-US"/>
              <a:t>Uses of Maven </a:t>
            </a:r>
            <a:endParaRPr lang="en-US"/>
          </a:p>
        </p:txBody>
      </p:sp>
      <p:sp>
        <p:nvSpPr>
          <p:cNvPr id="3" name="Content Placeholder 2"/>
          <p:cNvSpPr>
            <a:spLocks noGrp="1"/>
          </p:cNvSpPr>
          <p:nvPr>
            <p:ph idx="1"/>
          </p:nvPr>
        </p:nvSpPr>
        <p:spPr>
          <a:xfrm>
            <a:off x="838200" y="1263650"/>
            <a:ext cx="10515600" cy="4913630"/>
          </a:xfrm>
        </p:spPr>
        <p:txBody>
          <a:bodyPr>
            <a:normAutofit fontScale="70000"/>
          </a:bodyPr>
          <a:p>
            <a:r>
              <a:rPr lang="en-US"/>
              <a:t>Create projects: Maven creates Java projects from templates and a project directory. </a:t>
            </a:r>
            <a:endParaRPr lang="en-US"/>
          </a:p>
          <a:p>
            <a:r>
              <a:rPr lang="en-US"/>
              <a:t>Manage project details: Maven manages project details in the form of project reports and project information. </a:t>
            </a:r>
            <a:endParaRPr lang="en-US"/>
          </a:p>
          <a:p>
            <a:r>
              <a:rPr lang="en-US"/>
              <a:t>Use plugins: Maven uses plugins to build projects. </a:t>
            </a:r>
            <a:endParaRPr lang="en-US"/>
          </a:p>
          <a:p>
            <a:r>
              <a:rPr lang="en-US"/>
              <a:t>Help with project workflow: Maven helps with project workflow such as release, issue management, specification, execution, and reporting of unit tests. </a:t>
            </a:r>
            <a:endParaRPr lang="en-US"/>
          </a:p>
          <a:p>
            <a:r>
              <a:rPr lang="en-US"/>
              <a:t>Use convention over configuration: Maven uses convention over configuration, which means that developers only need to create a Maven project. </a:t>
            </a:r>
            <a:endParaRPr lang="en-US"/>
          </a:p>
          <a:p>
            <a:r>
              <a:rPr lang="en-US"/>
              <a:t>Handle multi-module projects: Maven uses the reactor to handle multi-module projects. The reactor collects all the available modules to build, sorts them into the correct build order, and builds them in order. </a:t>
            </a:r>
            <a:endParaRPr lang="en-US"/>
          </a:p>
          <a:p>
            <a:r>
              <a:rPr lang="en-US"/>
              <a:t>Use the Maven build lifecycle: Maven has three built-in lifecycles: default, clean, and site. The default lifecycle handles the regular build process, the clean life cycle removes generated artifacts, and the site life cycle generates project documentation and reports. </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64540"/>
          </a:xfrm>
        </p:spPr>
        <p:txBody>
          <a:bodyPr/>
          <a:p>
            <a:r>
              <a:rPr lang="en-US"/>
              <a:t>Importance and uses of Maven </a:t>
            </a:r>
            <a:endParaRPr lang="en-US"/>
          </a:p>
        </p:txBody>
      </p:sp>
      <p:sp>
        <p:nvSpPr>
          <p:cNvPr id="3" name="Content Placeholder 2"/>
          <p:cNvSpPr>
            <a:spLocks noGrp="1"/>
          </p:cNvSpPr>
          <p:nvPr>
            <p:ph idx="1"/>
          </p:nvPr>
        </p:nvSpPr>
        <p:spPr>
          <a:xfrm>
            <a:off x="838200" y="1129665"/>
            <a:ext cx="10515600" cy="5534025"/>
          </a:xfrm>
        </p:spPr>
        <p:txBody>
          <a:bodyPr>
            <a:noAutofit/>
          </a:bodyPr>
          <a:p>
            <a:r>
              <a:rPr lang="en-US" sz="1500"/>
              <a:t>We can easily build a project using maven.</a:t>
            </a:r>
            <a:endParaRPr lang="en-US" sz="1500"/>
          </a:p>
          <a:p>
            <a:r>
              <a:rPr lang="en-US" sz="1500"/>
              <a:t>We can add jars and other dependencies of the project easily using the help of maven.</a:t>
            </a:r>
            <a:endParaRPr lang="en-US" sz="1500"/>
          </a:p>
          <a:p>
            <a:r>
              <a:rPr lang="en-US" sz="1500"/>
              <a:t>Maven provides project information (log document, dependency list, unit test reports, etc.)</a:t>
            </a:r>
            <a:endParaRPr lang="en-US" sz="1500"/>
          </a:p>
          <a:p>
            <a:r>
              <a:rPr lang="en-US" sz="1500"/>
              <a:t>Maven is very helpful for a project while updating the central repository of JARs and other dependencies.</a:t>
            </a:r>
            <a:endParaRPr lang="en-US" sz="1500"/>
          </a:p>
          <a:p>
            <a:r>
              <a:rPr lang="en-US" sz="1500"/>
              <a:t>With the help of Maven, we can build any number of projects into output types like the JAR, WAR, etc without doing any scripting.</a:t>
            </a:r>
            <a:endParaRPr lang="en-US" sz="1500"/>
          </a:p>
          <a:p>
            <a:r>
              <a:rPr lang="en-US" sz="1500"/>
              <a:t>Using maven we can easily integrate our project with a source control systems (such as Subversion or Git).</a:t>
            </a:r>
            <a:endParaRPr lang="en-US" sz="1500"/>
          </a:p>
          <a:p>
            <a:r>
              <a:rPr lang="en-US" sz="1500"/>
              <a:t>Maven also helps in managing the project’s build lifecycle, including tasks like compiling, testing, packaging, and deploying the code.</a:t>
            </a:r>
            <a:endParaRPr lang="en-US" sz="1500"/>
          </a:p>
          <a:p>
            <a:r>
              <a:rPr lang="en-US" sz="1500"/>
              <a:t>Maven provides a standard project structure, making it easy for developers to understand the layout of the project and locate specific files.</a:t>
            </a:r>
            <a:endParaRPr lang="en-US" sz="1500"/>
          </a:p>
          <a:p>
            <a:r>
              <a:rPr lang="en-US" sz="1500"/>
              <a:t>Maven supports multi-module projects, allowing developers to work on multiple related projects simultaneously and manage their dependencies efficiently.</a:t>
            </a:r>
            <a:endParaRPr lang="en-US" sz="1500"/>
          </a:p>
          <a:p>
            <a:r>
              <a:rPr lang="en-US" sz="1500"/>
              <a:t>Maven plugins can be used to add additional functionality to the build process, such as code coverage analysis, static code analysis, and more.</a:t>
            </a:r>
            <a:endParaRPr lang="en-US" sz="1500"/>
          </a:p>
          <a:p>
            <a:r>
              <a:rPr lang="en-US" sz="1500"/>
              <a:t>Maven is highly customizable, allowing developers to configure the build process to meet their specific needs and requirements.</a:t>
            </a:r>
            <a:endParaRPr lang="en-US" sz="1500"/>
          </a:p>
          <a:p>
            <a:r>
              <a:rPr lang="en-US" sz="1500"/>
              <a:t>Maven simplifies the process of managing project dependencies, ensuring that the correct versions of libraries and frameworks are used throughout the project.</a:t>
            </a:r>
            <a:endParaRPr lang="en-US" sz="15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26745"/>
          </a:xfrm>
        </p:spPr>
        <p:txBody>
          <a:bodyPr>
            <a:normAutofit fontScale="90000"/>
          </a:bodyPr>
          <a:p>
            <a:r>
              <a:rPr lang="en-US" sz="3110">
                <a:sym typeface="+mn-ea"/>
              </a:rPr>
              <a:t>Maven's architecture works by:</a:t>
            </a:r>
            <a:r>
              <a:rPr lang="en-US">
                <a:sym typeface="+mn-ea"/>
              </a:rPr>
              <a:t> </a:t>
            </a:r>
            <a:br>
              <a:rPr lang="en-US"/>
            </a:br>
            <a:endParaRPr lang="en-US"/>
          </a:p>
        </p:txBody>
      </p:sp>
      <p:sp>
        <p:nvSpPr>
          <p:cNvPr id="3" name="Content Placeholder 2"/>
          <p:cNvSpPr>
            <a:spLocks noGrp="1"/>
          </p:cNvSpPr>
          <p:nvPr>
            <p:ph idx="1"/>
          </p:nvPr>
        </p:nvSpPr>
        <p:spPr>
          <a:xfrm>
            <a:off x="838200" y="991870"/>
            <a:ext cx="10515600" cy="5472430"/>
          </a:xfrm>
        </p:spPr>
        <p:txBody>
          <a:bodyPr>
            <a:normAutofit fontScale="60000"/>
          </a:bodyPr>
          <a:p>
            <a:r>
              <a:rPr lang="en-US" b="1"/>
              <a:t>Configuring Maven</a:t>
            </a:r>
            <a:endParaRPr lang="en-US" b="1"/>
          </a:p>
          <a:p>
            <a:pPr marL="0" indent="0">
              <a:buNone/>
            </a:pPr>
            <a:r>
              <a:rPr lang="en-US"/>
              <a:t>	The first step is to configure Maven in a pom.xml file. This file includes all the configurations that 	Maven needs. </a:t>
            </a:r>
            <a:endParaRPr lang="en-US"/>
          </a:p>
          <a:p>
            <a:r>
              <a:rPr lang="en-US" b="1"/>
              <a:t>Downloading dependencies</a:t>
            </a:r>
            <a:endParaRPr lang="en-US" b="1"/>
          </a:p>
          <a:p>
            <a:pPr marL="0" indent="0">
              <a:buNone/>
            </a:pPr>
            <a:r>
              <a:rPr lang="en-US"/>
              <a:t>	Maven downloads dependencies from the central repository into the local repository. </a:t>
            </a:r>
            <a:endParaRPr lang="en-US"/>
          </a:p>
          <a:p>
            <a:r>
              <a:rPr lang="en-US" b="1"/>
              <a:t>Using default settings</a:t>
            </a:r>
            <a:endParaRPr lang="en-US" b="1"/>
          </a:p>
          <a:p>
            <a:pPr marL="0" indent="0">
              <a:buNone/>
            </a:pPr>
            <a:r>
              <a:rPr lang="en-US"/>
              <a:t>	Maven provides default settings so that users don't need to add every configuration in the 	pom.xml. </a:t>
            </a:r>
            <a:endParaRPr lang="en-US"/>
          </a:p>
          <a:p>
            <a:r>
              <a:rPr lang="en-US" b="1"/>
              <a:t>Using conventions</a:t>
            </a:r>
            <a:endParaRPr lang="en-US" b="1"/>
          </a:p>
          <a:p>
            <a:pPr marL="0" indent="0">
              <a:buNone/>
            </a:pPr>
            <a:r>
              <a:rPr lang="en-US"/>
              <a:t>	Maven uses conventions for the build procedure, so only exceptions need to be written down. </a:t>
            </a:r>
            <a:endParaRPr lang="en-US"/>
          </a:p>
          <a:p>
            <a:r>
              <a:rPr lang="en-US" b="1"/>
              <a:t>Using a local cache</a:t>
            </a:r>
            <a:endParaRPr lang="en-US" b="1"/>
          </a:p>
          <a:p>
            <a:pPr marL="0" indent="0">
              <a:buNone/>
            </a:pPr>
            <a:r>
              <a:rPr lang="en-US"/>
              <a:t>	Maven dynamically downloads Java libraries and plugins from repositories and stores them in a 	local cache. </a:t>
            </a:r>
            <a:endParaRPr lang="en-US"/>
          </a:p>
          <a:p>
            <a:r>
              <a:rPr lang="en-US" b="1"/>
              <a:t>Using a build lifecycle</a:t>
            </a:r>
            <a:endParaRPr lang="en-US" b="1"/>
          </a:p>
          <a:p>
            <a:pPr marL="0" indent="0">
              <a:buNone/>
            </a:pPr>
            <a:r>
              <a:rPr lang="en-US"/>
              <a:t>	Maven follows a build lifecycle to deploy and distribute the target project. </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28015"/>
            <a:ext cx="10515600" cy="5960745"/>
          </a:xfrm>
        </p:spPr>
        <p:txBody>
          <a:bodyPr>
            <a:normAutofit fontScale="90000" lnSpcReduction="20000"/>
          </a:bodyPr>
          <a:p>
            <a:r>
              <a:rPr lang="en-US" b="1"/>
              <a:t>Using dependency management</a:t>
            </a:r>
            <a:endParaRPr lang="en-US" b="1"/>
          </a:p>
          <a:p>
            <a:pPr marL="0" indent="0">
              <a:buNone/>
            </a:pPr>
            <a:r>
              <a:rPr lang="en-US"/>
              <a:t>	Maven's dependency management examines pom files for plugins 	and dependencies, and then accesses specific repositories. </a:t>
            </a:r>
            <a:endParaRPr lang="en-US"/>
          </a:p>
          <a:p>
            <a:r>
              <a:rPr lang="en-US" b="1"/>
              <a:t>Using packaging</a:t>
            </a:r>
            <a:endParaRPr lang="en-US" b="1"/>
          </a:p>
          <a:p>
            <a:pPr marL="0" indent="0">
              <a:buNone/>
            </a:pPr>
            <a:r>
              <a:rPr lang="en-US"/>
              <a:t>	Users can set the packaging for their project via the &lt;packaging&gt; 	element in the pom.xml file. </a:t>
            </a:r>
            <a:endParaRPr lang="en-US"/>
          </a:p>
          <a:p>
            <a:r>
              <a:rPr lang="en-US" b="1"/>
              <a:t>Using the Super POM</a:t>
            </a:r>
            <a:endParaRPr lang="en-US" b="1"/>
          </a:p>
          <a:p>
            <a:pPr marL="0" indent="0">
              <a:buNone/>
            </a:pPr>
            <a:r>
              <a:rPr lang="en-US"/>
              <a:t>	The Super POM is Maven's default POM, and all POMs extend it 	unless explicitly set. </a:t>
            </a:r>
            <a:endParaRPr lang="en-US"/>
          </a:p>
          <a:p>
            <a:r>
              <a:rPr lang="en-US" b="1"/>
              <a:t>Maven is a tool that helps users develop projects by: </a:t>
            </a:r>
            <a:endParaRPr lang="en-US" b="1"/>
          </a:p>
          <a:p>
            <a:pPr marL="0" indent="0">
              <a:buNone/>
            </a:pPr>
            <a:r>
              <a:rPr lang="en-US"/>
              <a:t>	1. Describing how software is built and dependencies </a:t>
            </a:r>
            <a:endParaRPr lang="en-US"/>
          </a:p>
          <a:p>
            <a:pPr marL="0" indent="0">
              <a:buNone/>
            </a:pPr>
            <a:r>
              <a:rPr lang="en-US"/>
              <a:t>	2. Providing project information, such as log documents, 	  			dependency lists, and unit test reports </a:t>
            </a:r>
            <a:endParaRPr lang="en-US"/>
          </a:p>
          <a:p>
            <a:pPr marL="0" indent="0">
              <a:buNone/>
            </a:pPr>
            <a:r>
              <a:rPr lang="en-US"/>
              <a:t>	3. Facilitating the acquisition of plugins and dependencies </a:t>
            </a:r>
            <a:endParaRPr lang="en-US"/>
          </a:p>
          <a:p>
            <a:pPr marL="0" indent="0">
              <a:buNone/>
            </a:pPr>
            <a:r>
              <a:rPr lang="en-US"/>
              <a:t>	4. Encouraging better development practices </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14095"/>
          </a:xfrm>
        </p:spPr>
        <p:txBody>
          <a:bodyPr/>
          <a:p>
            <a:r>
              <a:rPr lang="en-US"/>
              <a:t>Project Object Model (POM)</a:t>
            </a:r>
            <a:endParaRPr lang="en-US"/>
          </a:p>
        </p:txBody>
      </p:sp>
      <p:sp>
        <p:nvSpPr>
          <p:cNvPr id="3" name="Content Placeholder 2"/>
          <p:cNvSpPr>
            <a:spLocks noGrp="1"/>
          </p:cNvSpPr>
          <p:nvPr>
            <p:ph idx="1"/>
          </p:nvPr>
        </p:nvSpPr>
        <p:spPr>
          <a:xfrm>
            <a:off x="838200" y="1379220"/>
            <a:ext cx="10515600" cy="5096510"/>
          </a:xfrm>
        </p:spPr>
        <p:txBody>
          <a:bodyPr>
            <a:normAutofit fontScale="90000"/>
          </a:bodyPr>
          <a:p>
            <a:r>
              <a:rPr lang="en-US"/>
              <a:t>POM stands for Project Object Model, and it's a fundamental component of Maven, a build automation tool for Java projects.</a:t>
            </a:r>
            <a:endParaRPr lang="en-US"/>
          </a:p>
          <a:p>
            <a:r>
              <a:rPr lang="en-US"/>
              <a:t>A POM is an XML file that contains information about a Maven project, including its configuration and dependencies.</a:t>
            </a:r>
            <a:endParaRPr lang="en-US"/>
          </a:p>
          <a:p>
            <a:r>
              <a:rPr lang="en-US"/>
              <a:t>Maven uses the POM to build a project by reading it for configuration information and then executing the desired goal or task.</a:t>
            </a:r>
            <a:endParaRPr lang="en-US"/>
          </a:p>
          <a:p>
            <a:r>
              <a:rPr lang="en-US"/>
              <a:t>A POM can include information such as the project's version, description, developers, dependencies, build profiles, and more. </a:t>
            </a:r>
            <a:endParaRPr lang="en-US"/>
          </a:p>
          <a:p>
            <a:r>
              <a:rPr lang="en-US"/>
              <a:t>The POM file is located in the root directory of the project it belongs to.</a:t>
            </a:r>
            <a:endParaRPr lang="en-US"/>
          </a:p>
          <a:p>
            <a:r>
              <a:rPr lang="en-US"/>
              <a:t>In larger projects, a project can import managed dependencies from other projects by declaring a POM artifact as a dependency with a scope of "import". </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15595"/>
            <a:ext cx="10515600" cy="5861685"/>
          </a:xfrm>
        </p:spPr>
        <p:txBody>
          <a:bodyPr/>
          <a:p>
            <a:r>
              <a:rPr lang="en-US"/>
              <a:t>POM means Project Object Model is key to operate Maven.</a:t>
            </a:r>
            <a:endParaRPr lang="en-US"/>
          </a:p>
          <a:p>
            <a:r>
              <a:rPr lang="en-US"/>
              <a:t>Maven reads pom.xml file to accomplish its configuration and operations. </a:t>
            </a:r>
            <a:endParaRPr lang="en-US"/>
          </a:p>
          <a:p>
            <a:r>
              <a:rPr lang="en-US"/>
              <a:t>It is an XML file that contains information related to the project and configuration information such as dependencies, source directory, plugin, goals etc. used by Maven to build the project.</a:t>
            </a:r>
            <a:endParaRPr lang="en-US"/>
          </a:p>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476885"/>
            <a:ext cx="10515600" cy="603250"/>
          </a:xfrm>
        </p:spPr>
        <p:txBody>
          <a:bodyPr>
            <a:normAutofit fontScale="90000"/>
          </a:bodyPr>
          <a:p>
            <a:r>
              <a:rPr lang="en-US" sz="4000"/>
              <a:t>Maven Workflow</a:t>
            </a:r>
            <a:endParaRPr lang="en-US" sz="4000"/>
          </a:p>
        </p:txBody>
      </p:sp>
      <p:pic>
        <p:nvPicPr>
          <p:cNvPr id="4" name="Picture 3" descr="Screenshot 2024-11-19 at 2.03.26 PM"/>
          <p:cNvPicPr>
            <a:picLocks noChangeAspect="1"/>
          </p:cNvPicPr>
          <p:nvPr/>
        </p:nvPicPr>
        <p:blipFill>
          <a:blip r:embed="rId1"/>
          <a:stretch>
            <a:fillRect/>
          </a:stretch>
        </p:blipFill>
        <p:spPr>
          <a:xfrm>
            <a:off x="1235075" y="1552575"/>
            <a:ext cx="9210675" cy="47529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52145"/>
          </a:xfrm>
        </p:spPr>
        <p:txBody>
          <a:bodyPr>
            <a:normAutofit fontScale="90000"/>
          </a:bodyPr>
          <a:p>
            <a:r>
              <a:rPr lang="en-US"/>
              <a:t>Workflow of POM</a:t>
            </a:r>
            <a:endParaRPr lang="en-US"/>
          </a:p>
        </p:txBody>
      </p:sp>
      <p:sp>
        <p:nvSpPr>
          <p:cNvPr id="3" name="Content Placeholder 2"/>
          <p:cNvSpPr>
            <a:spLocks noGrp="1"/>
          </p:cNvSpPr>
          <p:nvPr>
            <p:ph idx="1"/>
          </p:nvPr>
        </p:nvSpPr>
        <p:spPr>
          <a:xfrm>
            <a:off x="838200" y="1176655"/>
            <a:ext cx="10515600" cy="5212080"/>
          </a:xfrm>
        </p:spPr>
        <p:txBody>
          <a:bodyPr>
            <a:normAutofit fontScale="90000"/>
          </a:bodyPr>
          <a:p>
            <a:r>
              <a:rPr lang="en-US"/>
              <a:t>Initialization: The Maven reads the pom.xml file and initializes the build process.</a:t>
            </a:r>
            <a:endParaRPr lang="en-US"/>
          </a:p>
          <a:p>
            <a:r>
              <a:rPr lang="en-US"/>
              <a:t>Dependency Resolution: Downloads the Specified dependencies from remote repositories.</a:t>
            </a:r>
            <a:endParaRPr lang="en-US"/>
          </a:p>
          <a:p>
            <a:r>
              <a:rPr lang="en-US"/>
              <a:t>Build Life cycle Execution: Executes the build life cycle phases like compile, test, package, verify and other phases.</a:t>
            </a:r>
            <a:endParaRPr lang="en-US"/>
          </a:p>
          <a:p>
            <a:r>
              <a:rPr lang="en-US"/>
              <a:t>Plugin Execution: Runs the configured plugins for various takes like code analysis and other tasks.</a:t>
            </a:r>
            <a:endParaRPr lang="en-US"/>
          </a:p>
          <a:p>
            <a:r>
              <a:rPr lang="en-US"/>
              <a:t>Packaging: Packages the compiled code into specified format like JAR, WAR and other formats.</a:t>
            </a:r>
            <a:endParaRPr lang="en-US"/>
          </a:p>
          <a:p>
            <a:r>
              <a:rPr lang="en-US"/>
              <a:t>Deployment: Deploys the packaged code to a remote repository or server.</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89280"/>
          </a:xfrm>
        </p:spPr>
        <p:txBody>
          <a:bodyPr>
            <a:normAutofit fontScale="90000"/>
          </a:bodyPr>
          <a:p>
            <a:r>
              <a:rPr lang="en-US" sz="3110">
                <a:sym typeface="+mn-ea"/>
              </a:rPr>
              <a:t>The sample of pom.xml</a:t>
            </a:r>
            <a:r>
              <a:rPr lang="en-US">
                <a:sym typeface="+mn-ea"/>
              </a:rPr>
              <a:t> </a:t>
            </a:r>
            <a:br>
              <a:rPr lang="en-US"/>
            </a:br>
            <a:endParaRPr lang="en-US"/>
          </a:p>
        </p:txBody>
      </p:sp>
      <p:pic>
        <p:nvPicPr>
          <p:cNvPr id="4" name="Picture 3" descr="Screenshot 2024-11-19 at 11.14.07 AM"/>
          <p:cNvPicPr>
            <a:picLocks noChangeAspect="1"/>
          </p:cNvPicPr>
          <p:nvPr/>
        </p:nvPicPr>
        <p:blipFill>
          <a:blip r:embed="rId1"/>
          <a:stretch>
            <a:fillRect/>
          </a:stretch>
        </p:blipFill>
        <p:spPr>
          <a:xfrm>
            <a:off x="837565" y="739140"/>
            <a:ext cx="10418445" cy="592963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52450"/>
          </a:xfrm>
        </p:spPr>
        <p:txBody>
          <a:bodyPr>
            <a:normAutofit fontScale="90000"/>
          </a:bodyPr>
          <a:p>
            <a:r>
              <a:rPr lang="en-US"/>
              <a:t>Key Components of a POM File:</a:t>
            </a:r>
            <a:endParaRPr lang="en-US"/>
          </a:p>
        </p:txBody>
      </p:sp>
      <p:sp>
        <p:nvSpPr>
          <p:cNvPr id="3" name="Content Placeholder 2"/>
          <p:cNvSpPr>
            <a:spLocks noGrp="1"/>
          </p:cNvSpPr>
          <p:nvPr>
            <p:ph idx="1"/>
          </p:nvPr>
        </p:nvSpPr>
        <p:spPr>
          <a:xfrm>
            <a:off x="838200" y="1076960"/>
            <a:ext cx="10515600" cy="5586730"/>
          </a:xfrm>
        </p:spPr>
        <p:txBody>
          <a:bodyPr>
            <a:normAutofit fontScale="60000"/>
          </a:bodyPr>
          <a:p>
            <a:r>
              <a:rPr lang="en-US" b="1"/>
              <a:t>Project Coordinates:</a:t>
            </a:r>
            <a:endParaRPr lang="en-US" b="1"/>
          </a:p>
          <a:p>
            <a:pPr lvl="1"/>
            <a:r>
              <a:rPr lang="en-US" sz="2665"/>
              <a:t>&lt;groupId&gt;: Defines the group or organization to which the project belongs.</a:t>
            </a:r>
            <a:endParaRPr lang="en-US" sz="2665"/>
          </a:p>
          <a:p>
            <a:pPr lvl="1"/>
            <a:r>
              <a:rPr lang="en-US" sz="2665"/>
              <a:t>&lt;artifactId&gt;: The unique name of the project.</a:t>
            </a:r>
            <a:endParaRPr lang="en-US" sz="2665"/>
          </a:p>
          <a:p>
            <a:pPr lvl="1"/>
            <a:r>
              <a:rPr lang="en-US" sz="2665"/>
              <a:t>&lt;version&gt;: The specific version of the project.</a:t>
            </a:r>
            <a:endParaRPr lang="en-US" sz="2665"/>
          </a:p>
          <a:p>
            <a:r>
              <a:rPr lang="en-US" b="1"/>
              <a:t>Build Configuration:</a:t>
            </a:r>
            <a:endParaRPr lang="en-US" b="1"/>
          </a:p>
          <a:p>
            <a:pPr lvl="1"/>
            <a:r>
              <a:rPr lang="en-US" sz="2665"/>
              <a:t>&lt;build&gt;: Contains the build configuration for the project, such as the source directory, test source directory, and output directory.</a:t>
            </a:r>
            <a:endParaRPr lang="en-US" sz="2665"/>
          </a:p>
          <a:p>
            <a:r>
              <a:rPr lang="en-US" b="1"/>
              <a:t>Dependencies:</a:t>
            </a:r>
            <a:endParaRPr lang="en-US" b="1"/>
          </a:p>
          <a:p>
            <a:pPr lvl="1"/>
            <a:r>
              <a:rPr lang="en-US" sz="2665"/>
              <a:t>&lt;dependencies&gt;: Contains the list of dependencies required by the project. Each dependency is defined by its groupId, artifactId, version, and scope.</a:t>
            </a:r>
            <a:endParaRPr lang="en-US" sz="2665"/>
          </a:p>
          <a:p>
            <a:r>
              <a:rPr lang="en-US" b="1"/>
              <a:t>Plugins:</a:t>
            </a:r>
            <a:endParaRPr lang="en-US" b="1"/>
          </a:p>
          <a:p>
            <a:pPr lvl="1"/>
            <a:r>
              <a:rPr lang="en-US" sz="2665"/>
              <a:t>&lt;plugins&gt;: Defines the list of plugins that are used in the build process.</a:t>
            </a:r>
            <a:endParaRPr lang="en-US" sz="2665"/>
          </a:p>
          <a:p>
            <a:r>
              <a:rPr lang="en-US" b="1"/>
              <a:t>Repositories:</a:t>
            </a:r>
            <a:endParaRPr lang="en-US" b="1"/>
          </a:p>
          <a:p>
            <a:pPr lvl="1"/>
            <a:r>
              <a:rPr lang="en-US" sz="2665"/>
              <a:t>&lt;repositories&gt;: Defines the list of remote repositories from which dependencies and plugins can be downloaded.</a:t>
            </a:r>
            <a:endParaRPr lang="en-US" sz="2665"/>
          </a:p>
          <a:p>
            <a:r>
              <a:rPr lang="en-US" b="1"/>
              <a:t>Profiles:</a:t>
            </a:r>
            <a:endParaRPr lang="en-US" b="1"/>
          </a:p>
          <a:p>
            <a:pPr lvl="1"/>
            <a:r>
              <a:rPr lang="en-US" sz="2665"/>
              <a:t>&lt;profiles&gt;: Allows the definition of different configurations for different environments, such as development, testing, and production.</a:t>
            </a:r>
            <a:endParaRPr lang="en-US" sz="2665"/>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77545"/>
          </a:xfrm>
        </p:spPr>
        <p:txBody>
          <a:bodyPr/>
          <a:p>
            <a:r>
              <a:rPr lang="en-US" sz="2400"/>
              <a:t>uses of pom</a:t>
            </a:r>
            <a:endParaRPr lang="en-US" sz="2400"/>
          </a:p>
        </p:txBody>
      </p:sp>
      <p:sp>
        <p:nvSpPr>
          <p:cNvPr id="3" name="Content Placeholder 2"/>
          <p:cNvSpPr>
            <a:spLocks noGrp="1"/>
          </p:cNvSpPr>
          <p:nvPr>
            <p:ph idx="1"/>
          </p:nvPr>
        </p:nvSpPr>
        <p:spPr>
          <a:xfrm>
            <a:off x="838200" y="1042670"/>
            <a:ext cx="10515600" cy="5134610"/>
          </a:xfrm>
        </p:spPr>
        <p:txBody>
          <a:bodyPr/>
          <a:p>
            <a:r>
              <a:rPr lang="en-US"/>
              <a:t>Dependency Management: It can declares and manages project dependencies.</a:t>
            </a:r>
            <a:endParaRPr lang="en-US"/>
          </a:p>
          <a:p>
            <a:r>
              <a:rPr lang="en-US"/>
              <a:t>Build Configuration: It can specifies plugins and their configuration for various build tasks.</a:t>
            </a:r>
            <a:endParaRPr lang="en-US"/>
          </a:p>
          <a:p>
            <a:r>
              <a:rPr lang="en-US"/>
              <a:t>Project Information: It contains metadata like project version, description, developers and other things.</a:t>
            </a:r>
            <a:endParaRPr lang="en-US"/>
          </a:p>
          <a:p>
            <a:r>
              <a:rPr lang="en-US"/>
              <a:t>Reporting: Defines reporting plugins for generating Project reports like Java Docs.</a:t>
            </a:r>
            <a:endParaRPr lang="en-US"/>
          </a:p>
          <a:p>
            <a:r>
              <a:rPr lang="en-US"/>
              <a:t>Build Profiles: It configures Different build profiles for various environments.</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527685"/>
            <a:ext cx="10515600" cy="690245"/>
          </a:xfrm>
        </p:spPr>
        <p:txBody>
          <a:bodyPr>
            <a:normAutofit fontScale="90000"/>
          </a:bodyPr>
          <a:p>
            <a:r>
              <a:rPr lang="en-US" sz="2220">
                <a:sym typeface="+mn-ea"/>
              </a:rPr>
              <a:t>Advantages of Maven POM</a:t>
            </a:r>
            <a:br>
              <a:rPr lang="en-US"/>
            </a:br>
            <a:endParaRPr lang="en-US"/>
          </a:p>
        </p:txBody>
      </p:sp>
      <p:sp>
        <p:nvSpPr>
          <p:cNvPr id="3" name="Content Placeholder 2"/>
          <p:cNvSpPr>
            <a:spLocks noGrp="1"/>
          </p:cNvSpPr>
          <p:nvPr>
            <p:ph idx="1"/>
          </p:nvPr>
        </p:nvSpPr>
        <p:spPr>
          <a:xfrm>
            <a:off x="838200" y="1217930"/>
            <a:ext cx="10515600" cy="4959350"/>
          </a:xfrm>
        </p:spPr>
        <p:txBody>
          <a:bodyPr>
            <a:normAutofit fontScale="90000"/>
          </a:bodyPr>
          <a:p>
            <a:r>
              <a:rPr lang="en-US"/>
              <a:t>The Maven Tools provides lot of advantages listed below :</a:t>
            </a:r>
            <a:endParaRPr lang="en-US"/>
          </a:p>
          <a:p>
            <a:endParaRPr lang="en-US"/>
          </a:p>
          <a:p>
            <a:r>
              <a:rPr lang="en-US"/>
              <a:t>Standardization: Provides a standard way to manage project builds.</a:t>
            </a:r>
            <a:endParaRPr lang="en-US"/>
          </a:p>
          <a:p>
            <a:r>
              <a:rPr lang="en-US"/>
              <a:t>Dependency Management: Automatically handles dependency resolution and version conflicts.</a:t>
            </a:r>
            <a:endParaRPr lang="en-US"/>
          </a:p>
          <a:p>
            <a:r>
              <a:rPr lang="en-US"/>
              <a:t>Reproducibility: It Builds are reproducible by using versioned dependencies.</a:t>
            </a:r>
            <a:endParaRPr lang="en-US"/>
          </a:p>
          <a:p>
            <a:r>
              <a:rPr lang="en-US"/>
              <a:t>Integration with CI/CD: Easily integrates with continuous integration and delivery pipelines.</a:t>
            </a:r>
            <a:endParaRPr lang="en-US"/>
          </a:p>
          <a:p>
            <a:r>
              <a:rPr lang="en-US"/>
              <a:t>Extensibility: Supports a wide range of plugins to extend build functionality.</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64210"/>
          </a:xfrm>
        </p:spPr>
        <p:txBody>
          <a:bodyPr>
            <a:normAutofit fontScale="90000"/>
          </a:bodyPr>
          <a:p>
            <a:r>
              <a:rPr lang="en-US"/>
              <a:t>Maven Dependencies</a:t>
            </a:r>
            <a:endParaRPr lang="en-US"/>
          </a:p>
        </p:txBody>
      </p:sp>
      <p:sp>
        <p:nvSpPr>
          <p:cNvPr id="3" name="Content Placeholder 2"/>
          <p:cNvSpPr>
            <a:spLocks noGrp="1"/>
          </p:cNvSpPr>
          <p:nvPr>
            <p:ph idx="1"/>
          </p:nvPr>
        </p:nvSpPr>
        <p:spPr>
          <a:xfrm>
            <a:off x="838200" y="1351280"/>
            <a:ext cx="10515600" cy="4826000"/>
          </a:xfrm>
        </p:spPr>
        <p:txBody>
          <a:bodyPr>
            <a:normAutofit fontScale="90000" lnSpcReduction="20000"/>
          </a:bodyPr>
          <a:p>
            <a:r>
              <a:rPr lang="en-US"/>
              <a:t>A dependency is an external object or library on which a Maven project depends for compilation, build, and execution. </a:t>
            </a:r>
            <a:endParaRPr lang="en-US"/>
          </a:p>
          <a:p>
            <a:r>
              <a:rPr lang="en-US"/>
              <a:t>In Java, a dependency is usually a Java Archive (JAR) file that contains compiled code or other resources that are required for the project.</a:t>
            </a:r>
            <a:endParaRPr lang="en-US"/>
          </a:p>
          <a:p>
            <a:r>
              <a:rPr lang="en-US"/>
              <a:t>Maven defines dependencies in the POM (Project Object Model) file.</a:t>
            </a:r>
            <a:endParaRPr lang="en-US"/>
          </a:p>
          <a:p>
            <a:r>
              <a:rPr lang="en-US"/>
              <a:t>The POM defines the external artifacts and the versions of those artifacts. </a:t>
            </a:r>
            <a:endParaRPr lang="en-US"/>
          </a:p>
          <a:p>
            <a:r>
              <a:rPr lang="en-US"/>
              <a:t>When you build your Maven project, your Maven build system will automatically download and include these dependencies. </a:t>
            </a:r>
            <a:endParaRPr lang="en-US"/>
          </a:p>
          <a:p>
            <a:r>
              <a:rPr lang="en-US"/>
              <a:t>This ensures that your project will have access to the classes and resources you need during build and execution. </a:t>
            </a:r>
            <a:endParaRPr lang="en-US"/>
          </a:p>
          <a:p>
            <a:r>
              <a:rPr lang="en-US"/>
              <a:t>Importance of Dependencies  : Dependencies help a project be modular, maintainable, and reusable by allowing developers to seamlessly integrate external functionality into their projects.</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27355"/>
            <a:ext cx="10515600" cy="6087110"/>
          </a:xfrm>
        </p:spPr>
        <p:txBody>
          <a:bodyPr>
            <a:normAutofit lnSpcReduction="20000"/>
          </a:bodyPr>
          <a:p>
            <a:r>
              <a:rPr lang="en-US"/>
              <a:t>In Maven, a dependency is an archive file like JAR, ZIP, etc., that your project needs to compile, build, test, and run. </a:t>
            </a:r>
            <a:endParaRPr lang="en-US"/>
          </a:p>
          <a:p>
            <a:r>
              <a:rPr lang="en-US"/>
              <a:t>These project dependencies are defined in the pom.xml file.</a:t>
            </a:r>
            <a:endParaRPr lang="en-US"/>
          </a:p>
          <a:p>
            <a:r>
              <a:rPr lang="en-US"/>
              <a:t>When executing a maven build or goal, these project dependencies are resolved and then fetched from the local repository. </a:t>
            </a:r>
            <a:endParaRPr lang="en-US"/>
          </a:p>
          <a:p>
            <a:r>
              <a:rPr lang="en-US"/>
              <a:t>You can also install the dependencies manually.</a:t>
            </a:r>
            <a:endParaRPr lang="en-US"/>
          </a:p>
          <a:p>
            <a:r>
              <a:rPr lang="en-US"/>
              <a:t>There are two types of Maven dependencies:</a:t>
            </a:r>
            <a:endParaRPr lang="en-US"/>
          </a:p>
          <a:p>
            <a:r>
              <a:rPr lang="en-US" b="1"/>
              <a:t>Direct dependency:</a:t>
            </a:r>
            <a:r>
              <a:rPr lang="en-US"/>
              <a:t> It allows you to explicitly include dependencies in your project using &lt;dependency&gt; tags.</a:t>
            </a:r>
            <a:endParaRPr lang="en-US"/>
          </a:p>
          <a:p>
            <a:r>
              <a:rPr lang="en-US" b="1"/>
              <a:t>Transitive dependency: </a:t>
            </a:r>
            <a:r>
              <a:rPr lang="en-US"/>
              <a:t>These dependencies are required by direct dependencies Maven automatically includes in your project.</a:t>
            </a:r>
            <a:endParaRPr lang="en-US"/>
          </a:p>
          <a:p>
            <a:r>
              <a:rPr lang="en-US" b="1"/>
              <a:t>To list all your project's and transitive dependencies, use the </a:t>
            </a:r>
            <a:r>
              <a:rPr lang="en-US" b="1">
                <a:solidFill>
                  <a:srgbClr val="FF0000"/>
                </a:solidFill>
              </a:rPr>
              <a:t>mvn dependency:tree command</a:t>
            </a:r>
            <a:r>
              <a:rPr lang="en-US" b="1"/>
              <a:t>.</a:t>
            </a:r>
            <a:endParaRPr lang="en-US" b="1"/>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89280"/>
          </a:xfrm>
        </p:spPr>
        <p:txBody>
          <a:bodyPr>
            <a:normAutofit fontScale="90000"/>
          </a:bodyPr>
          <a:p>
            <a:r>
              <a:rPr lang="en-US" sz="4000" b="1">
                <a:sym typeface="+mn-ea"/>
              </a:rPr>
              <a:t>Maven plugins </a:t>
            </a:r>
            <a:endParaRPr lang="en-US" sz="4000" b="1"/>
          </a:p>
        </p:txBody>
      </p:sp>
      <p:sp>
        <p:nvSpPr>
          <p:cNvPr id="3" name="Content Placeholder 2"/>
          <p:cNvSpPr>
            <a:spLocks noGrp="1"/>
          </p:cNvSpPr>
          <p:nvPr>
            <p:ph idx="1"/>
          </p:nvPr>
        </p:nvSpPr>
        <p:spPr>
          <a:xfrm>
            <a:off x="838200" y="1154430"/>
            <a:ext cx="10515600" cy="5022850"/>
          </a:xfrm>
        </p:spPr>
        <p:txBody>
          <a:bodyPr/>
          <a:p>
            <a:r>
              <a:rPr lang="en-US"/>
              <a:t>Maven plugins are essential components in the Apache Maven build system designed to extend its functionality. </a:t>
            </a:r>
            <a:endParaRPr lang="en-US"/>
          </a:p>
          <a:p>
            <a:r>
              <a:rPr lang="en-US"/>
              <a:t>They perform tasks such as compilation, testing, packaging, deployment, and others. </a:t>
            </a:r>
            <a:endParaRPr lang="en-US"/>
          </a:p>
          <a:p>
            <a:r>
              <a:rPr lang="en-US"/>
              <a:t>In Maven, the plugins are divided into two types.</a:t>
            </a:r>
            <a:endParaRPr lang="en-US"/>
          </a:p>
          <a:p>
            <a:pPr lvl="1"/>
            <a:r>
              <a:rPr lang="en-US"/>
              <a:t>Build Plugins</a:t>
            </a:r>
            <a:endParaRPr lang="en-US"/>
          </a:p>
          <a:p>
            <a:pPr lvl="1"/>
            <a:r>
              <a:rPr lang="en-US"/>
              <a:t>Reporting Plugins</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38860"/>
          </a:xfrm>
        </p:spPr>
        <p:txBody>
          <a:bodyPr>
            <a:normAutofit fontScale="90000"/>
          </a:bodyPr>
          <a:p>
            <a:r>
              <a:rPr lang="en-US" sz="3110">
                <a:sym typeface="+mn-ea"/>
              </a:rPr>
              <a:t>Maven Build Plugins</a:t>
            </a:r>
            <a:br>
              <a:rPr lang="en-US"/>
            </a:br>
            <a:endParaRPr lang="en-US"/>
          </a:p>
        </p:txBody>
      </p:sp>
      <p:sp>
        <p:nvSpPr>
          <p:cNvPr id="3" name="Content Placeholder 2"/>
          <p:cNvSpPr>
            <a:spLocks noGrp="1"/>
          </p:cNvSpPr>
          <p:nvPr>
            <p:ph idx="1"/>
          </p:nvPr>
        </p:nvSpPr>
        <p:spPr>
          <a:xfrm>
            <a:off x="838200" y="989965"/>
            <a:ext cx="10515600" cy="5187315"/>
          </a:xfrm>
        </p:spPr>
        <p:txBody>
          <a:bodyPr/>
          <a:p>
            <a:r>
              <a:rPr lang="en-US"/>
              <a:t>These plugins are executed during the build process and these are defined in the &lt;build&gt; section in the pom.xml file. </a:t>
            </a:r>
            <a:endParaRPr lang="en-US"/>
          </a:p>
          <a:p>
            <a:r>
              <a:rPr lang="en-US"/>
              <a:t>For example, Compiler Plugin, Surefire Plugin, and Assembly Plugin.</a:t>
            </a:r>
            <a:endParaRPr lang="en-US"/>
          </a:p>
        </p:txBody>
      </p:sp>
      <p:pic>
        <p:nvPicPr>
          <p:cNvPr id="4" name="Picture 3" descr="Screenshot 2024-11-19 at 11.33.59 AM"/>
          <p:cNvPicPr>
            <a:picLocks noChangeAspect="1"/>
          </p:cNvPicPr>
          <p:nvPr/>
        </p:nvPicPr>
        <p:blipFill>
          <a:blip r:embed="rId1"/>
          <a:stretch>
            <a:fillRect/>
          </a:stretch>
        </p:blipFill>
        <p:spPr>
          <a:xfrm>
            <a:off x="3267710" y="2464435"/>
            <a:ext cx="6381750" cy="39687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25830"/>
          </a:xfrm>
        </p:spPr>
        <p:txBody>
          <a:bodyPr>
            <a:normAutofit fontScale="90000"/>
          </a:bodyPr>
          <a:p>
            <a:r>
              <a:rPr lang="en-US">
                <a:sym typeface="+mn-ea"/>
              </a:rPr>
              <a:t>Maven Reporting Plugins</a:t>
            </a:r>
            <a:br>
              <a:rPr lang="en-US"/>
            </a:br>
            <a:endParaRPr lang="en-US"/>
          </a:p>
        </p:txBody>
      </p:sp>
      <p:sp>
        <p:nvSpPr>
          <p:cNvPr id="3" name="Content Placeholder 2"/>
          <p:cNvSpPr>
            <a:spLocks noGrp="1"/>
          </p:cNvSpPr>
          <p:nvPr>
            <p:ph idx="1"/>
          </p:nvPr>
        </p:nvSpPr>
        <p:spPr>
          <a:xfrm>
            <a:off x="838200" y="1102360"/>
            <a:ext cx="10515600" cy="5074920"/>
          </a:xfrm>
        </p:spPr>
        <p:txBody>
          <a:bodyPr/>
          <a:p>
            <a:r>
              <a:rPr lang="en-US"/>
              <a:t>These plugins are used for generating reports about the project.</a:t>
            </a:r>
            <a:endParaRPr lang="en-US"/>
          </a:p>
          <a:p>
            <a:r>
              <a:rPr lang="en-US"/>
              <a:t>These are defined in the &lt;reporting&gt; section in the pom.xml file.</a:t>
            </a:r>
            <a:endParaRPr lang="en-US"/>
          </a:p>
          <a:p>
            <a:r>
              <a:rPr lang="en-US"/>
              <a:t>Examples include the Surefire Report Plugin for generating test reports and Javadoc Plugin for generating API documentation.</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4-11-19 at 11.35.30 AM"/>
          <p:cNvPicPr>
            <a:picLocks noChangeAspect="1"/>
          </p:cNvPicPr>
          <p:nvPr/>
        </p:nvPicPr>
        <p:blipFill>
          <a:blip r:embed="rId1"/>
          <a:stretch>
            <a:fillRect/>
          </a:stretch>
        </p:blipFill>
        <p:spPr>
          <a:xfrm>
            <a:off x="2296795" y="108585"/>
            <a:ext cx="7748270" cy="674941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39470"/>
          </a:xfrm>
        </p:spPr>
        <p:txBody>
          <a:bodyPr>
            <a:normAutofit fontScale="90000"/>
          </a:bodyPr>
          <a:p>
            <a:r>
              <a:rPr lang="en-US" sz="3555">
                <a:sym typeface="+mn-ea"/>
              </a:rPr>
              <a:t>Different types of Maven Plugins</a:t>
            </a:r>
            <a:br>
              <a:rPr lang="en-US"/>
            </a:br>
            <a:endParaRPr lang="en-US"/>
          </a:p>
        </p:txBody>
      </p:sp>
      <p:sp>
        <p:nvSpPr>
          <p:cNvPr id="3" name="Content Placeholder 2"/>
          <p:cNvSpPr>
            <a:spLocks noGrp="1"/>
          </p:cNvSpPr>
          <p:nvPr>
            <p:ph idx="1"/>
          </p:nvPr>
        </p:nvSpPr>
        <p:spPr>
          <a:xfrm>
            <a:off x="838200" y="1204595"/>
            <a:ext cx="10515600" cy="4972685"/>
          </a:xfrm>
        </p:spPr>
        <p:txBody>
          <a:bodyPr>
            <a:normAutofit fontScale="90000"/>
          </a:bodyPr>
          <a:p>
            <a:r>
              <a:rPr lang="en-US"/>
              <a:t>Compiler Plugin: It is used for Compiles the project source code.</a:t>
            </a:r>
            <a:endParaRPr lang="en-US"/>
          </a:p>
          <a:p>
            <a:r>
              <a:rPr lang="en-US"/>
              <a:t>Surefire Plugin: It is used for Run the Project unit Tests.</a:t>
            </a:r>
            <a:endParaRPr lang="en-US"/>
          </a:p>
          <a:p>
            <a:r>
              <a:rPr lang="en-US"/>
              <a:t>Failsafe Plugin: It is used for Runs the project integration tests.</a:t>
            </a:r>
            <a:endParaRPr lang="en-US"/>
          </a:p>
          <a:p>
            <a:r>
              <a:rPr lang="en-US"/>
              <a:t>JAR Plugin: It is used for Packages the compiled code into a JAR file.</a:t>
            </a:r>
            <a:endParaRPr lang="en-US"/>
          </a:p>
          <a:p>
            <a:r>
              <a:rPr lang="en-US"/>
              <a:t>War Plugin: It is used for Packages the compiled code into a WAR file.</a:t>
            </a:r>
            <a:endParaRPr lang="en-US"/>
          </a:p>
          <a:p>
            <a:r>
              <a:rPr lang="en-US"/>
              <a:t>Assembly Plugin: It is used for Creates distributions from the project.</a:t>
            </a:r>
            <a:endParaRPr lang="en-US"/>
          </a:p>
          <a:p>
            <a:r>
              <a:rPr lang="en-US"/>
              <a:t>Javadoc Plugin: It is used for Generates Javadoc documentation for the project.</a:t>
            </a:r>
            <a:endParaRPr lang="en-US"/>
          </a:p>
          <a:p>
            <a:r>
              <a:rPr lang="en-US"/>
              <a:t>Checkstyle Plugin: It is used for Checks the code against coding standards.</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527050"/>
            <a:ext cx="10515600" cy="789940"/>
          </a:xfrm>
        </p:spPr>
        <p:txBody>
          <a:bodyPr>
            <a:normAutofit fontScale="90000"/>
          </a:bodyPr>
          <a:p>
            <a:r>
              <a:rPr lang="en-US" sz="3555">
                <a:sym typeface="+mn-ea"/>
              </a:rPr>
              <a:t>Working Process of Plugins in a Maven Project</a:t>
            </a:r>
            <a:br>
              <a:rPr lang="en-US"/>
            </a:br>
            <a:endParaRPr lang="en-US"/>
          </a:p>
        </p:txBody>
      </p:sp>
      <p:sp>
        <p:nvSpPr>
          <p:cNvPr id="3" name="Content Placeholder 2"/>
          <p:cNvSpPr>
            <a:spLocks noGrp="1"/>
          </p:cNvSpPr>
          <p:nvPr>
            <p:ph idx="1"/>
          </p:nvPr>
        </p:nvSpPr>
        <p:spPr>
          <a:xfrm>
            <a:off x="838200" y="1427480"/>
            <a:ext cx="10515600" cy="4177665"/>
          </a:xfrm>
        </p:spPr>
        <p:txBody>
          <a:bodyPr/>
          <a:p>
            <a:r>
              <a:rPr lang="en-US"/>
              <a:t>Define the project configuration and project structure and build plugins configurations in the POM file</a:t>
            </a:r>
            <a:endParaRPr lang="en-US"/>
          </a:p>
          <a:p>
            <a:r>
              <a:rPr lang="en-US"/>
              <a:t>Now configure the required plugins in the maven project.</a:t>
            </a:r>
            <a:endParaRPr lang="en-US"/>
          </a:p>
          <a:p>
            <a:r>
              <a:rPr lang="en-US"/>
              <a:t>After that maven build process is started by help of different phases in the maven build like validate, compile, test, package, verify, install, and deploy.</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Javadocs Plugin</a:t>
            </a:r>
            <a:endParaRPr lang="en-US"/>
          </a:p>
        </p:txBody>
      </p:sp>
      <p:sp>
        <p:nvSpPr>
          <p:cNvPr id="3" name="Content Placeholder 2"/>
          <p:cNvSpPr>
            <a:spLocks noGrp="1"/>
          </p:cNvSpPr>
          <p:nvPr>
            <p:ph idx="1"/>
          </p:nvPr>
        </p:nvSpPr>
        <p:spPr/>
        <p:txBody>
          <a:bodyPr/>
          <a:p>
            <a:r>
              <a:rPr lang="en-US"/>
              <a:t>Javadoc is a documentation generator created by Sun Microsystems for the Java language  for generating API documentation in HTML format from Java source code.</a:t>
            </a:r>
            <a:endParaRPr lang="en-US"/>
          </a:p>
          <a:p>
            <a:r>
              <a:rPr lang="en-US"/>
              <a:t>The Javadoc Plugin uses the Javadoc tool to generate javadocs for the specified project.</a:t>
            </a:r>
            <a:endParaRPr lang="en-US"/>
          </a:p>
          <a:p>
            <a:r>
              <a:rPr lang="en-US">
                <a:sym typeface="+mn-ea"/>
              </a:rPr>
              <a:t>The Javadoc Plugin generates javadocs using the Javadoc tool. The following examples describe the basic usage of the Plugin.</a:t>
            </a:r>
            <a:endParaRPr lang="en-US"/>
          </a:p>
          <a:p>
            <a:r>
              <a:rPr lang="en-US"/>
              <a:t>The Javadoc generation can be skipped by setting the property maven. javadoc. skip to true.</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52145"/>
          </a:xfrm>
        </p:spPr>
        <p:txBody>
          <a:bodyPr>
            <a:normAutofit fontScale="90000"/>
          </a:bodyPr>
          <a:p>
            <a:br>
              <a:rPr lang="en-US"/>
            </a:br>
            <a:r>
              <a:rPr lang="en-US" sz="3110"/>
              <a:t>Generate Javadocs As Part Of Project Reports</a:t>
            </a:r>
            <a:endParaRPr lang="en-US" sz="3110"/>
          </a:p>
        </p:txBody>
      </p:sp>
      <p:sp>
        <p:nvSpPr>
          <p:cNvPr id="3" name="Content Placeholder 2"/>
          <p:cNvSpPr>
            <a:spLocks noGrp="1"/>
          </p:cNvSpPr>
          <p:nvPr>
            <p:ph idx="1"/>
          </p:nvPr>
        </p:nvSpPr>
        <p:spPr>
          <a:xfrm>
            <a:off x="838200" y="1563370"/>
            <a:ext cx="10515600" cy="4613910"/>
          </a:xfrm>
        </p:spPr>
        <p:txBody>
          <a:bodyPr/>
          <a:p>
            <a:r>
              <a:rPr lang="en-US"/>
              <a:t>To generate javadocs as part of the site generation, you should add the Javadoc Plugin in the &lt;reporting&gt; section of your pom.</a:t>
            </a:r>
            <a:endParaRPr lang="en-US"/>
          </a:p>
          <a:p>
            <a:r>
              <a:rPr lang="en-US"/>
              <a:t>When you execute mvn site, the javadocs will be generated and included in the generated site. A link to the javadocs will be added in the Project Reports menu.</a:t>
            </a:r>
            <a:endParaRPr lang="en-US"/>
          </a:p>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64235"/>
          </a:xfrm>
        </p:spPr>
        <p:txBody>
          <a:bodyPr>
            <a:normAutofit fontScale="90000"/>
          </a:bodyPr>
          <a:p>
            <a:r>
              <a:rPr lang="en-US" sz="3110">
                <a:sym typeface="+mn-ea"/>
              </a:rPr>
              <a:t>Generate Standalone Javadocs</a:t>
            </a:r>
            <a:br>
              <a:rPr lang="en-US"/>
            </a:br>
            <a:endParaRPr lang="en-US"/>
          </a:p>
        </p:txBody>
      </p:sp>
      <p:sp>
        <p:nvSpPr>
          <p:cNvPr id="3" name="Content Placeholder 2"/>
          <p:cNvSpPr>
            <a:spLocks noGrp="1"/>
          </p:cNvSpPr>
          <p:nvPr>
            <p:ph idx="1"/>
          </p:nvPr>
        </p:nvSpPr>
        <p:spPr>
          <a:xfrm>
            <a:off x="838200" y="1139190"/>
            <a:ext cx="10515600" cy="5038090"/>
          </a:xfrm>
        </p:spPr>
        <p:txBody>
          <a:bodyPr/>
          <a:p>
            <a:r>
              <a:rPr lang="en-US"/>
              <a:t>To generate standalone javadocs for the project, you could add the Javadoc Plugin in the &lt;build&gt; section of your pom (if no configuration defined, the plugin uses default values.</a:t>
            </a:r>
            <a:endParaRPr lang="en-US"/>
          </a:p>
          <a:p>
            <a:r>
              <a:rPr lang="en-US"/>
              <a:t>And execute command:</a:t>
            </a:r>
            <a:endParaRPr lang="en-US"/>
          </a:p>
          <a:p>
            <a:pPr marL="0" indent="0">
              <a:buNone/>
            </a:pPr>
            <a:r>
              <a:rPr lang="en-US"/>
              <a:t>			mvn javadoc:javadoc</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26135"/>
          </a:xfrm>
        </p:spPr>
        <p:txBody>
          <a:bodyPr/>
          <a:p>
            <a:r>
              <a:rPr lang="en-US"/>
              <a:t>Maven Project Structure </a:t>
            </a:r>
            <a:endParaRPr lang="en-US"/>
          </a:p>
        </p:txBody>
      </p:sp>
      <p:sp>
        <p:nvSpPr>
          <p:cNvPr id="3" name="Content Placeholder 2"/>
          <p:cNvSpPr>
            <a:spLocks noGrp="1"/>
          </p:cNvSpPr>
          <p:nvPr>
            <p:ph idx="1"/>
          </p:nvPr>
        </p:nvSpPr>
        <p:spPr>
          <a:xfrm>
            <a:off x="838200" y="1576070"/>
            <a:ext cx="10515600" cy="5074920"/>
          </a:xfrm>
        </p:spPr>
        <p:txBody>
          <a:bodyPr>
            <a:normAutofit fontScale="70000"/>
          </a:bodyPr>
          <a:p>
            <a:r>
              <a:rPr lang="en-US"/>
              <a:t>When you create a Maven project, the directory structure that is created includes the project object model (POM) file.</a:t>
            </a:r>
            <a:endParaRPr lang="en-US"/>
          </a:p>
          <a:p>
            <a:r>
              <a:rPr lang="en-US"/>
              <a:t>The Maven project wizard creates src and target folders under the main project folder. </a:t>
            </a:r>
            <a:endParaRPr lang="en-US"/>
          </a:p>
          <a:p>
            <a:r>
              <a:rPr lang="en-US"/>
              <a:t>As the name suggests, all source files go under src. However, Java package structure starts under the main folder. </a:t>
            </a:r>
            <a:endParaRPr lang="en-US"/>
          </a:p>
          <a:p>
            <a:r>
              <a:rPr lang="en-US"/>
              <a:t>By convention, Maven expects Java source files under the java folder. </a:t>
            </a:r>
            <a:endParaRPr lang="en-US"/>
          </a:p>
          <a:p>
            <a:r>
              <a:rPr lang="en-US"/>
              <a:t>Therefore, create a java folder under src/main. </a:t>
            </a:r>
            <a:endParaRPr lang="en-US"/>
          </a:p>
          <a:p>
            <a:r>
              <a:rPr lang="en-US"/>
              <a:t>The Java package structure starts from the java folder, that is, src/main/java/&lt;java-packages&gt;. </a:t>
            </a:r>
            <a:endParaRPr lang="en-US"/>
          </a:p>
          <a:p>
            <a:r>
              <a:rPr lang="en-US"/>
              <a:t>Web content such as HTML, JS, CSS, and JSP goes in the webapp folder under src/main. </a:t>
            </a:r>
            <a:endParaRPr lang="en-US"/>
          </a:p>
          <a:p>
            <a:r>
              <a:rPr lang="en-US"/>
              <a:t>Compiled classes and other output files generated by the Maven build process are stored in the target folder.</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551815"/>
            <a:ext cx="10515600" cy="539750"/>
          </a:xfrm>
        </p:spPr>
        <p:txBody>
          <a:bodyPr>
            <a:normAutofit fontScale="90000"/>
          </a:bodyPr>
          <a:p>
            <a:r>
              <a:rPr lang="en-US"/>
              <a:t>Maven Project Structure</a:t>
            </a:r>
            <a:endParaRPr lang="en-US"/>
          </a:p>
        </p:txBody>
      </p:sp>
      <p:pic>
        <p:nvPicPr>
          <p:cNvPr id="4" name="Picture 3" descr="Screenshot 2024-11-19 at 3.17.35 PM"/>
          <p:cNvPicPr>
            <a:picLocks noChangeAspect="1"/>
          </p:cNvPicPr>
          <p:nvPr/>
        </p:nvPicPr>
        <p:blipFill>
          <a:blip r:embed="rId1"/>
          <a:stretch>
            <a:fillRect/>
          </a:stretch>
        </p:blipFill>
        <p:spPr>
          <a:xfrm>
            <a:off x="2155190" y="1532890"/>
            <a:ext cx="6470650" cy="50266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401955"/>
          </a:xfrm>
        </p:spPr>
        <p:txBody>
          <a:bodyPr>
            <a:normAutofit fontScale="90000"/>
          </a:bodyPr>
          <a:p>
            <a:r>
              <a:rPr lang="en-US" sz="3200" b="1"/>
              <a:t>Key Directories in Maven Structure</a:t>
            </a:r>
            <a:endParaRPr lang="en-US" sz="3200" b="1"/>
          </a:p>
        </p:txBody>
      </p:sp>
      <p:sp>
        <p:nvSpPr>
          <p:cNvPr id="3" name="Content Placeholder 2"/>
          <p:cNvSpPr>
            <a:spLocks noGrp="1"/>
          </p:cNvSpPr>
          <p:nvPr>
            <p:ph idx="1"/>
          </p:nvPr>
        </p:nvSpPr>
        <p:spPr>
          <a:xfrm>
            <a:off x="838200" y="1051560"/>
            <a:ext cx="10515600" cy="5549265"/>
          </a:xfrm>
        </p:spPr>
        <p:txBody>
          <a:bodyPr>
            <a:normAutofit/>
          </a:bodyPr>
          <a:p>
            <a:pPr marL="0" indent="0">
              <a:buNone/>
            </a:pPr>
            <a:r>
              <a:rPr lang="en-US" b="1"/>
              <a:t>a. src/</a:t>
            </a:r>
            <a:endParaRPr lang="en-US" b="1"/>
          </a:p>
          <a:p>
            <a:r>
              <a:rPr lang="en-US"/>
              <a:t>This is the main source directory where all your code and resources reside.</a:t>
            </a:r>
            <a:endParaRPr lang="en-US"/>
          </a:p>
          <a:p>
            <a:pPr lvl="1"/>
            <a:r>
              <a:rPr lang="en-US" b="1"/>
              <a:t>src/main/:</a:t>
            </a:r>
            <a:endParaRPr lang="en-US" b="1"/>
          </a:p>
          <a:p>
            <a:pPr lvl="2"/>
            <a:r>
              <a:rPr lang="en-US"/>
              <a:t>Contains production code (the code used in the actual application).</a:t>
            </a:r>
            <a:endParaRPr lang="en-US"/>
          </a:p>
          <a:p>
            <a:pPr lvl="1"/>
            <a:r>
              <a:rPr lang="en-US" b="1"/>
              <a:t>src/main/java/:</a:t>
            </a:r>
            <a:endParaRPr lang="en-US" b="1"/>
          </a:p>
          <a:p>
            <a:pPr lvl="2"/>
            <a:r>
              <a:rPr lang="en-US"/>
              <a:t>The directory for Java source files.</a:t>
            </a:r>
            <a:endParaRPr lang="en-US"/>
          </a:p>
          <a:p>
            <a:pPr lvl="2"/>
            <a:r>
              <a:rPr lang="en-US"/>
              <a:t>Example: com/example/MyApp.java</a:t>
            </a:r>
            <a:endParaRPr lang="en-US"/>
          </a:p>
          <a:p>
            <a:pPr lvl="1"/>
            <a:r>
              <a:rPr lang="en-US" b="1"/>
              <a:t>src/main/resources/:</a:t>
            </a:r>
            <a:endParaRPr lang="en-US" b="1"/>
          </a:p>
          <a:p>
            <a:pPr lvl="2"/>
            <a:r>
              <a:rPr lang="en-US"/>
              <a:t>Contains resources required for the application (e.g., configuration files like application.properties, XMLs, or files loaded at runtime).</a:t>
            </a:r>
            <a:endParaRPr lang="en-US"/>
          </a:p>
          <a:p>
            <a:pPr lvl="2"/>
            <a:r>
              <a:rPr lang="en-US"/>
              <a:t>These files are included in the compiled JAR/WAR.</a:t>
            </a:r>
            <a:endParaRPr lang="en-US"/>
          </a:p>
          <a:p>
            <a:pPr lvl="2"/>
            <a:r>
              <a:rPr lang="en-US"/>
              <a:t>Example: src/main/resources/log4j.properties.</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14985"/>
            <a:ext cx="10515600" cy="5662295"/>
          </a:xfrm>
        </p:spPr>
        <p:txBody>
          <a:bodyPr>
            <a:normAutofit/>
          </a:bodyPr>
          <a:p>
            <a:r>
              <a:rPr lang="en-US" b="1"/>
              <a:t>src/main/webapp/ (optional):</a:t>
            </a:r>
            <a:endParaRPr lang="en-US" b="1"/>
          </a:p>
          <a:p>
            <a:pPr lvl="1"/>
            <a:r>
              <a:rPr lang="en-US"/>
              <a:t>Used for web applications (WAR packaging).</a:t>
            </a:r>
            <a:endParaRPr lang="en-US"/>
          </a:p>
          <a:p>
            <a:pPr lvl="1"/>
            <a:r>
              <a:rPr lang="en-US"/>
              <a:t>Contains web resources like HTML, JSP files, CSS, JS, and WEB-INF configurations.</a:t>
            </a:r>
            <a:endParaRPr lang="en-US"/>
          </a:p>
          <a:p>
            <a:pPr lvl="1"/>
            <a:r>
              <a:rPr lang="en-US"/>
              <a:t>Example: src/main/webapp/WEB-INF/web.xml.</a:t>
            </a:r>
            <a:endParaRPr lang="en-US"/>
          </a:p>
          <a:p>
            <a:r>
              <a:rPr lang="en-US" b="1"/>
              <a:t>src/test/:</a:t>
            </a:r>
            <a:endParaRPr lang="en-US" b="1"/>
          </a:p>
          <a:p>
            <a:pPr lvl="1"/>
            <a:r>
              <a:rPr lang="en-US"/>
              <a:t>Contains test code and test-related resources.</a:t>
            </a:r>
            <a:endParaRPr lang="en-US"/>
          </a:p>
          <a:p>
            <a:r>
              <a:rPr lang="en-US" b="1"/>
              <a:t>src/test/java/:</a:t>
            </a:r>
            <a:endParaRPr lang="en-US" b="1"/>
          </a:p>
          <a:p>
            <a:pPr lvl="1"/>
            <a:r>
              <a:rPr lang="en-US"/>
              <a:t>Test Java source files (e.g., JUnit or TestNG test cases).</a:t>
            </a:r>
            <a:endParaRPr lang="en-US"/>
          </a:p>
          <a:p>
            <a:pPr lvl="1"/>
            <a:r>
              <a:rPr lang="en-US"/>
              <a:t>Example: com/example/MyAppTest.java.</a:t>
            </a:r>
            <a:endParaRPr lang="en-US"/>
          </a:p>
          <a:p>
            <a:r>
              <a:rPr lang="en-US" b="1"/>
              <a:t>src/test/resources/:</a:t>
            </a:r>
            <a:endParaRPr lang="en-US" b="1"/>
          </a:p>
          <a:p>
            <a:pPr lvl="1"/>
            <a:r>
              <a:rPr lang="en-US"/>
              <a:t>Test-specific resources like test configuration files or mock data.</a:t>
            </a:r>
            <a:endParaRPr lang="en-US"/>
          </a:p>
          <a:p>
            <a:pPr lvl="1"/>
            <a:r>
              <a:rPr lang="en-US"/>
              <a:t>Example: test-database.properties.</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15010"/>
          </a:xfrm>
        </p:spPr>
        <p:txBody>
          <a:bodyPr>
            <a:normAutofit fontScale="90000"/>
          </a:bodyPr>
          <a:p>
            <a:r>
              <a:rPr lang="en-US">
                <a:sym typeface="+mn-ea"/>
              </a:rPr>
              <a:t>b. target/</a:t>
            </a:r>
            <a:endParaRPr lang="en-US"/>
          </a:p>
        </p:txBody>
      </p:sp>
      <p:sp>
        <p:nvSpPr>
          <p:cNvPr id="3" name="Content Placeholder 2"/>
          <p:cNvSpPr>
            <a:spLocks noGrp="1"/>
          </p:cNvSpPr>
          <p:nvPr>
            <p:ph idx="1"/>
          </p:nvPr>
        </p:nvSpPr>
        <p:spPr>
          <a:xfrm>
            <a:off x="838200" y="1313180"/>
            <a:ext cx="10515600" cy="4864100"/>
          </a:xfrm>
        </p:spPr>
        <p:txBody>
          <a:bodyPr/>
          <a:p>
            <a:r>
              <a:rPr lang="en-US"/>
              <a:t>The target/ directory is where Maven places compiled files, packaged artifacts (JAR/WAR files), and other build outputs.</a:t>
            </a:r>
            <a:endParaRPr lang="en-US"/>
          </a:p>
          <a:p>
            <a:r>
              <a:rPr lang="en-US"/>
              <a:t>Examples of contents:</a:t>
            </a:r>
            <a:endParaRPr lang="en-US"/>
          </a:p>
          <a:p>
            <a:r>
              <a:rPr lang="en-US"/>
              <a:t>classes/: Compiled .class files from src/main/java.</a:t>
            </a:r>
            <a:endParaRPr lang="en-US"/>
          </a:p>
          <a:p>
            <a:r>
              <a:rPr lang="en-US"/>
              <a:t>test-classes/: Compiled test .class files from src/test/java.</a:t>
            </a:r>
            <a:endParaRPr lang="en-US"/>
          </a:p>
          <a:p>
            <a:r>
              <a:rPr lang="en-US"/>
              <a:t>app.jar or app.war: The packaged application.</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64210"/>
          </a:xfrm>
        </p:spPr>
        <p:txBody>
          <a:bodyPr>
            <a:normAutofit fontScale="90000"/>
          </a:bodyPr>
          <a:p>
            <a:r>
              <a:rPr lang="en-US">
                <a:sym typeface="+mn-ea"/>
              </a:rPr>
              <a:t>c. pom.xml</a:t>
            </a:r>
            <a:endParaRPr lang="en-US"/>
          </a:p>
        </p:txBody>
      </p:sp>
      <p:sp>
        <p:nvSpPr>
          <p:cNvPr id="3" name="Content Placeholder 2"/>
          <p:cNvSpPr>
            <a:spLocks noGrp="1"/>
          </p:cNvSpPr>
          <p:nvPr>
            <p:ph idx="1"/>
          </p:nvPr>
        </p:nvSpPr>
        <p:spPr>
          <a:xfrm>
            <a:off x="838200" y="1154430"/>
            <a:ext cx="10515600" cy="5022850"/>
          </a:xfrm>
        </p:spPr>
        <p:txBody>
          <a:bodyPr>
            <a:normAutofit fontScale="90000"/>
          </a:bodyPr>
          <a:p>
            <a:r>
              <a:rPr lang="en-US"/>
              <a:t>The Project Object Model (POM) file is the heart of a Maven project.</a:t>
            </a:r>
            <a:endParaRPr lang="en-US"/>
          </a:p>
          <a:p>
            <a:r>
              <a:rPr lang="en-US"/>
              <a:t>It defines:</a:t>
            </a:r>
            <a:endParaRPr lang="en-US"/>
          </a:p>
          <a:p>
            <a:pPr lvl="1"/>
            <a:r>
              <a:rPr lang="en-US"/>
              <a:t>Project Information:</a:t>
            </a:r>
            <a:endParaRPr lang="en-US"/>
          </a:p>
          <a:p>
            <a:pPr lvl="1"/>
            <a:r>
              <a:rPr lang="en-US"/>
              <a:t>Name, version, description, and more.</a:t>
            </a:r>
            <a:endParaRPr lang="en-US"/>
          </a:p>
          <a:p>
            <a:pPr lvl="1"/>
            <a:r>
              <a:rPr lang="en-US"/>
              <a:t>Dependencies:</a:t>
            </a:r>
            <a:endParaRPr lang="en-US"/>
          </a:p>
          <a:p>
            <a:pPr lvl="1"/>
            <a:r>
              <a:rPr lang="en-US"/>
              <a:t>Libraries and frameworks your project uses.</a:t>
            </a:r>
            <a:endParaRPr lang="en-US"/>
          </a:p>
          <a:p>
            <a:pPr lvl="1"/>
            <a:r>
              <a:rPr lang="en-US"/>
              <a:t>Example: Spring Boot, Hibernate, etc.</a:t>
            </a:r>
            <a:endParaRPr lang="en-US"/>
          </a:p>
          <a:p>
            <a:pPr lvl="1"/>
            <a:r>
              <a:rPr lang="en-US"/>
              <a:t>Build Plugins:</a:t>
            </a:r>
            <a:endParaRPr lang="en-US"/>
          </a:p>
          <a:p>
            <a:pPr lvl="1"/>
            <a:r>
              <a:rPr lang="en-US"/>
              <a:t>Tools like compilers, package managers, etc.</a:t>
            </a:r>
            <a:endParaRPr lang="en-US"/>
          </a:p>
          <a:p>
            <a:pPr lvl="1"/>
            <a:r>
              <a:rPr lang="en-US"/>
              <a:t>Example: Maven Compiler Plugin for setting Java versions.</a:t>
            </a:r>
            <a:endParaRPr lang="en-US"/>
          </a:p>
          <a:p>
            <a:pPr lvl="1"/>
            <a:r>
              <a:rPr lang="en-US"/>
              <a:t>Project Structure and Packaging:</a:t>
            </a:r>
            <a:endParaRPr lang="en-US"/>
          </a:p>
          <a:p>
            <a:pPr lvl="1"/>
            <a:r>
              <a:rPr lang="en-US"/>
              <a:t>Packaging type (jar, war, etc.).</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39775"/>
          </a:xfrm>
        </p:spPr>
        <p:txBody>
          <a:bodyPr>
            <a:normAutofit fontScale="90000"/>
          </a:bodyPr>
          <a:p>
            <a:r>
              <a:rPr lang="en-US" sz="4000">
                <a:sym typeface="+mn-ea"/>
              </a:rPr>
              <a:t>Benefits of Maven's Standard Project Structure</a:t>
            </a:r>
            <a:endParaRPr lang="en-US" sz="4000"/>
          </a:p>
        </p:txBody>
      </p:sp>
      <p:sp>
        <p:nvSpPr>
          <p:cNvPr id="3" name="Content Placeholder 2"/>
          <p:cNvSpPr>
            <a:spLocks noGrp="1"/>
          </p:cNvSpPr>
          <p:nvPr>
            <p:ph idx="1"/>
          </p:nvPr>
        </p:nvSpPr>
        <p:spPr>
          <a:xfrm>
            <a:off x="838200" y="1426845"/>
            <a:ext cx="10515600" cy="4750435"/>
          </a:xfrm>
        </p:spPr>
        <p:txBody>
          <a:bodyPr>
            <a:normAutofit fontScale="90000"/>
          </a:bodyPr>
          <a:p>
            <a:r>
              <a:rPr lang="en-US"/>
              <a:t>Consistency:</a:t>
            </a:r>
            <a:endParaRPr lang="en-US"/>
          </a:p>
          <a:p>
            <a:pPr lvl="1"/>
            <a:r>
              <a:rPr lang="en-US"/>
              <a:t>Teams follow the same layout, making projects easier to understand and maintain.</a:t>
            </a:r>
            <a:endParaRPr lang="en-US"/>
          </a:p>
          <a:p>
            <a:r>
              <a:rPr lang="en-US"/>
              <a:t>Tool Support:</a:t>
            </a:r>
            <a:endParaRPr lang="en-US"/>
          </a:p>
          <a:p>
            <a:pPr lvl="1"/>
            <a:r>
              <a:rPr lang="en-US"/>
              <a:t>Many IDEs and tools (e.g., IntelliJ IDEA, Eclipse, Jenkins) recognize and work seamlessly with Maven projects.</a:t>
            </a:r>
            <a:endParaRPr lang="en-US"/>
          </a:p>
          <a:p>
            <a:r>
              <a:rPr lang="en-US"/>
              <a:t>Convention Over Configuration:</a:t>
            </a:r>
            <a:endParaRPr lang="en-US"/>
          </a:p>
          <a:p>
            <a:pPr lvl="1"/>
            <a:r>
              <a:rPr lang="en-US"/>
              <a:t>By following conventions, you reduce the need for extensive configuration.</a:t>
            </a:r>
            <a:endParaRPr lang="en-US"/>
          </a:p>
          <a:p>
            <a:r>
              <a:rPr lang="en-US"/>
              <a:t>Simplified Builds:</a:t>
            </a:r>
            <a:endParaRPr lang="en-US"/>
          </a:p>
          <a:p>
            <a:pPr lvl="1"/>
            <a:r>
              <a:rPr lang="en-US"/>
              <a:t>Maven plugins assume this directory structure, minimizing manual setup.</a:t>
            </a: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472690" y="1892300"/>
            <a:ext cx="6059805" cy="2660650"/>
          </a:xfrm>
        </p:spPr>
        <p:txBody>
          <a:bodyPr>
            <a:normAutofit/>
          </a:bodyPr>
          <a:p>
            <a:pPr algn="l"/>
            <a:r>
              <a:rPr lang="en-US"/>
              <a:t>            Installation </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26465"/>
          </a:xfrm>
        </p:spPr>
        <p:txBody>
          <a:bodyPr>
            <a:normAutofit/>
          </a:bodyPr>
          <a:p>
            <a:r>
              <a:rPr lang="en-US" sz="3110" b="1">
                <a:highlight>
                  <a:srgbClr val="808080"/>
                </a:highlight>
              </a:rPr>
              <a:t>Detailed installation of Maven for Windows</a:t>
            </a:r>
            <a:r>
              <a:rPr lang="en-US" b="1">
                <a:highlight>
                  <a:srgbClr val="808080"/>
                </a:highlight>
              </a:rPr>
              <a:t> </a:t>
            </a:r>
            <a:endParaRPr lang="en-US" b="1">
              <a:highlight>
                <a:srgbClr val="808080"/>
              </a:highlight>
            </a:endParaRPr>
          </a:p>
        </p:txBody>
      </p:sp>
      <p:sp>
        <p:nvSpPr>
          <p:cNvPr id="3" name="Content Placeholder 2"/>
          <p:cNvSpPr>
            <a:spLocks noGrp="1"/>
          </p:cNvSpPr>
          <p:nvPr>
            <p:ph idx="1"/>
          </p:nvPr>
        </p:nvSpPr>
        <p:spPr>
          <a:xfrm>
            <a:off x="838200" y="1426845"/>
            <a:ext cx="10515600" cy="5099685"/>
          </a:xfrm>
        </p:spPr>
        <p:txBody>
          <a:bodyPr/>
          <a:p>
            <a:pPr marL="0" indent="0">
              <a:buNone/>
            </a:pPr>
            <a:r>
              <a:rPr lang="en-US" b="1">
                <a:solidFill>
                  <a:srgbClr val="FF0000"/>
                </a:solidFill>
              </a:rPr>
              <a:t>Ensure Java is installed: Maven requires Java to run. Verify your Java installation with:</a:t>
            </a:r>
            <a:endParaRPr lang="en-US" b="1">
              <a:solidFill>
                <a:srgbClr val="FF0000"/>
              </a:solidFill>
            </a:endParaRPr>
          </a:p>
          <a:p>
            <a:pPr marL="0" indent="0">
              <a:buNone/>
            </a:pPr>
            <a:r>
              <a:rPr lang="en-US" b="1">
                <a:solidFill>
                  <a:srgbClr val="FF0000"/>
                </a:solidFill>
              </a:rPr>
              <a:t>			java -version</a:t>
            </a:r>
            <a:endParaRPr lang="en-US" b="1">
              <a:solidFill>
                <a:srgbClr val="FF0000"/>
              </a:solidFill>
            </a:endParaRPr>
          </a:p>
          <a:p>
            <a:pPr marL="0" indent="0">
              <a:buNone/>
            </a:pPr>
            <a:r>
              <a:rPr lang="en-US" b="1">
                <a:solidFill>
                  <a:srgbClr val="FF0000"/>
                </a:solidFill>
              </a:rPr>
              <a:t>If Java is not installed, download and install the Java JDK from Oracle or OpenJDK.</a:t>
            </a:r>
            <a:endParaRPr lang="en-US" b="1">
              <a:solidFill>
                <a:srgbClr val="FF0000"/>
              </a:solidFill>
            </a:endParaRPr>
          </a:p>
          <a:p>
            <a:pPr marL="0" indent="0">
              <a:buNone/>
            </a:pPr>
            <a:r>
              <a:rPr lang="en-US" b="1"/>
              <a:t>Step 1: Download Maven</a:t>
            </a:r>
            <a:endParaRPr lang="en-US" b="1"/>
          </a:p>
          <a:p>
            <a:pPr lvl="1"/>
            <a:r>
              <a:rPr lang="en-US" sz="2800">
                <a:sym typeface="+mn-ea"/>
              </a:rPr>
              <a:t>Go to the Apache Maven Download Page.</a:t>
            </a:r>
            <a:endParaRPr lang="en-US" sz="2800"/>
          </a:p>
          <a:p>
            <a:pPr lvl="1"/>
            <a:r>
              <a:rPr lang="en-US" sz="2800">
                <a:sym typeface="+mn-ea"/>
              </a:rPr>
              <a:t>Under the Files section, click the link to download the latest Binary zip archive. </a:t>
            </a:r>
            <a:endParaRPr lang="en-US" sz="2800"/>
          </a:p>
          <a:p>
            <a:pPr lvl="1"/>
            <a:r>
              <a:rPr lang="en-US" sz="2800">
                <a:sym typeface="+mn-ea"/>
              </a:rPr>
              <a:t>File  : apache-maven-3.9.9-bin.zip </a:t>
            </a:r>
            <a:endParaRPr lang="en-US" sz="2800"/>
          </a:p>
          <a:p>
            <a:pPr lvl="1"/>
            <a:r>
              <a:rPr lang="en-US" sz="2800">
                <a:sym typeface="+mn-ea"/>
              </a:rPr>
              <a:t>Link : https://maven.apache.org/download.cgi</a:t>
            </a:r>
            <a:endParaRPr lang="en-US" b="1"/>
          </a:p>
          <a:p>
            <a:pPr marL="0" indent="0">
              <a:buNone/>
            </a:pPr>
            <a:endParaRPr lang="en-US" b="1"/>
          </a:p>
          <a:p>
            <a:pPr lvl="1"/>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26745"/>
          </a:xfrm>
        </p:spPr>
        <p:txBody>
          <a:bodyPr>
            <a:normAutofit fontScale="90000"/>
          </a:bodyPr>
          <a:p>
            <a:r>
              <a:rPr lang="en-US">
                <a:sym typeface="+mn-ea"/>
              </a:rPr>
              <a:t>Step 2 : </a:t>
            </a:r>
            <a:r>
              <a:rPr lang="en-US" b="1">
                <a:sym typeface="+mn-ea"/>
              </a:rPr>
              <a:t>Extract the Archive</a:t>
            </a:r>
            <a:endParaRPr lang="en-US"/>
          </a:p>
        </p:txBody>
      </p:sp>
      <p:sp>
        <p:nvSpPr>
          <p:cNvPr id="3" name="Content Placeholder 2"/>
          <p:cNvSpPr>
            <a:spLocks noGrp="1"/>
          </p:cNvSpPr>
          <p:nvPr>
            <p:ph idx="1"/>
          </p:nvPr>
        </p:nvSpPr>
        <p:spPr>
          <a:xfrm>
            <a:off x="838200" y="1239520"/>
            <a:ext cx="10515600" cy="4937760"/>
          </a:xfrm>
        </p:spPr>
        <p:txBody>
          <a:bodyPr>
            <a:normAutofit/>
          </a:bodyPr>
          <a:p>
            <a:r>
              <a:rPr lang="en-US"/>
              <a:t>Locate the downloaded zip file (</a:t>
            </a:r>
            <a:r>
              <a:rPr lang="en-US">
                <a:solidFill>
                  <a:srgbClr val="FF0000"/>
                </a:solidFill>
                <a:sym typeface="+mn-ea"/>
              </a:rPr>
              <a:t>apache-maven-3.9.9-bin.zip</a:t>
            </a:r>
            <a:r>
              <a:rPr lang="en-US"/>
              <a:t>) in your Downloads folder.</a:t>
            </a:r>
            <a:endParaRPr lang="en-US"/>
          </a:p>
          <a:p>
            <a:r>
              <a:rPr lang="en-US"/>
              <a:t>Right-click the file and choose Extract All or use a tool like WinRAR to extract it.</a:t>
            </a:r>
            <a:endParaRPr lang="en-US"/>
          </a:p>
          <a:p>
            <a:r>
              <a:rPr lang="en-US"/>
              <a:t>Extract the contents to a directory, for example:</a:t>
            </a:r>
            <a:endParaRPr lang="en-US"/>
          </a:p>
          <a:p>
            <a:pPr lvl="1"/>
            <a:r>
              <a:rPr lang="en-US" sz="3000">
                <a:solidFill>
                  <a:srgbClr val="FF0000"/>
                </a:solidFill>
              </a:rPr>
              <a:t>C:\Program Files\Apache\Maven</a:t>
            </a:r>
            <a:endParaRPr lang="en-US" sz="3000">
              <a:solidFill>
                <a:srgbClr val="FF0000"/>
              </a:solidFill>
            </a:endParaRPr>
          </a:p>
          <a:p>
            <a:r>
              <a:rPr lang="en-US"/>
              <a:t>After extraction, the folder structure will look something like:</a:t>
            </a:r>
            <a:endParaRPr lang="en-US"/>
          </a:p>
          <a:p>
            <a:pPr lvl="1"/>
            <a:r>
              <a:rPr lang="en-US" sz="2800">
                <a:solidFill>
                  <a:srgbClr val="FF0000"/>
                </a:solidFill>
              </a:rPr>
              <a:t>C:\Program Files\Apache\Maven\apache-maven-3.9.9</a:t>
            </a:r>
            <a:endParaRPr lang="en-US" sz="2800">
              <a:solidFill>
                <a:srgbClr val="FF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802640"/>
          </a:xfrm>
        </p:spPr>
        <p:txBody>
          <a:bodyPr/>
          <a:p>
            <a:r>
              <a:rPr lang="en-US" sz="3200"/>
              <a:t>Step 3: </a:t>
            </a:r>
            <a:r>
              <a:rPr lang="en-US" sz="3200" b="1"/>
              <a:t>Set Environment Variables</a:t>
            </a:r>
            <a:endParaRPr lang="en-US" sz="3200" b="1"/>
          </a:p>
        </p:txBody>
      </p:sp>
      <p:sp>
        <p:nvSpPr>
          <p:cNvPr id="3" name="Content Placeholder 2"/>
          <p:cNvSpPr>
            <a:spLocks noGrp="1"/>
          </p:cNvSpPr>
          <p:nvPr>
            <p:ph idx="1"/>
          </p:nvPr>
        </p:nvSpPr>
        <p:spPr>
          <a:xfrm>
            <a:off x="838200" y="1167130"/>
            <a:ext cx="10515600" cy="5109845"/>
          </a:xfrm>
        </p:spPr>
        <p:txBody>
          <a:bodyPr>
            <a:normAutofit/>
          </a:bodyPr>
          <a:p>
            <a:r>
              <a:rPr lang="en-US"/>
              <a:t>Open the System Properties:</a:t>
            </a:r>
            <a:endParaRPr lang="en-US"/>
          </a:p>
          <a:p>
            <a:pPr lvl="1"/>
            <a:r>
              <a:rPr lang="en-US"/>
              <a:t>Press Windows + R, type sysdm.cpl, and press Enter.</a:t>
            </a:r>
            <a:endParaRPr lang="en-US"/>
          </a:p>
          <a:p>
            <a:r>
              <a:rPr lang="en-US"/>
              <a:t>In the System Properties window:</a:t>
            </a:r>
            <a:endParaRPr lang="en-US"/>
          </a:p>
          <a:p>
            <a:pPr lvl="1"/>
            <a:r>
              <a:rPr lang="en-US"/>
              <a:t>Go to the Advanced tab.</a:t>
            </a:r>
            <a:endParaRPr lang="en-US"/>
          </a:p>
          <a:p>
            <a:pPr lvl="1"/>
            <a:r>
              <a:rPr lang="en-US"/>
              <a:t>Click on Environment Variables.</a:t>
            </a:r>
            <a:endParaRPr lang="en-US"/>
          </a:p>
          <a:p>
            <a:r>
              <a:rPr lang="en-US"/>
              <a:t>Add MAVEN_HOME:</a:t>
            </a:r>
            <a:endParaRPr lang="en-US"/>
          </a:p>
          <a:p>
            <a:pPr lvl="1"/>
            <a:r>
              <a:rPr lang="en-US"/>
              <a:t>In the Environment Variables window, under System Variables, click New.</a:t>
            </a:r>
            <a:endParaRPr lang="en-US"/>
          </a:p>
          <a:p>
            <a:pPr lvl="1"/>
            <a:r>
              <a:rPr lang="en-US"/>
              <a:t>Enter the following:</a:t>
            </a:r>
            <a:endParaRPr lang="en-US"/>
          </a:p>
          <a:p>
            <a:pPr lvl="1"/>
            <a:r>
              <a:rPr lang="en-US"/>
              <a:t>Variable Name: MAVEN_HOME</a:t>
            </a:r>
            <a:endParaRPr lang="en-US"/>
          </a:p>
          <a:p>
            <a:pPr lvl="1"/>
            <a:r>
              <a:rPr lang="en-US"/>
              <a:t>Variable Value: The directory where Maven is extracted (e.g., C:\Program Files\Apache\Maven\apache-maven-x.x.x).</a:t>
            </a:r>
            <a:endParaRPr lang="en-US"/>
          </a:p>
          <a:p>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589915"/>
            <a:ext cx="10515600" cy="5587365"/>
          </a:xfrm>
        </p:spPr>
        <p:txBody>
          <a:bodyPr/>
          <a:p>
            <a:r>
              <a:rPr lang="en-US"/>
              <a:t>Add Maven to PATH:</a:t>
            </a:r>
            <a:endParaRPr lang="en-US"/>
          </a:p>
          <a:p>
            <a:pPr lvl="1"/>
            <a:r>
              <a:rPr lang="en-US"/>
              <a:t>Under System Variables, find and select the Path variable, then click Edit.</a:t>
            </a:r>
            <a:endParaRPr lang="en-US"/>
          </a:p>
          <a:p>
            <a:pPr lvl="1"/>
            <a:r>
              <a:rPr lang="en-US"/>
              <a:t>In the Edit Environment Variable window:</a:t>
            </a:r>
            <a:endParaRPr lang="en-US"/>
          </a:p>
          <a:p>
            <a:pPr lvl="1"/>
            <a:r>
              <a:rPr lang="en-US"/>
              <a:t>Click New and add : : %MAVEN_HOME%\bin</a:t>
            </a:r>
            <a:endParaRPr lang="en-US"/>
          </a:p>
          <a:p>
            <a:endParaRPr lang="en-US"/>
          </a:p>
          <a:p>
            <a:r>
              <a:rPr lang="en-US"/>
              <a:t>Save and Close:</a:t>
            </a:r>
            <a:endParaRPr lang="en-US"/>
          </a:p>
          <a:p>
            <a:pPr lvl="1"/>
            <a:r>
              <a:rPr lang="en-US"/>
              <a:t>Click OK to close all windows and save your changes.</a:t>
            </a: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601980"/>
          </a:xfrm>
        </p:spPr>
        <p:txBody>
          <a:bodyPr>
            <a:normAutofit fontScale="90000"/>
          </a:bodyPr>
          <a:p>
            <a:r>
              <a:rPr lang="en-US"/>
              <a:t>Step 4: Verify the Installation</a:t>
            </a:r>
            <a:endParaRPr lang="en-US"/>
          </a:p>
        </p:txBody>
      </p:sp>
      <p:sp>
        <p:nvSpPr>
          <p:cNvPr id="3" name="Content Placeholder 2"/>
          <p:cNvSpPr>
            <a:spLocks noGrp="1"/>
          </p:cNvSpPr>
          <p:nvPr>
            <p:ph idx="1"/>
          </p:nvPr>
        </p:nvSpPr>
        <p:spPr>
          <a:xfrm>
            <a:off x="838200" y="1313815"/>
            <a:ext cx="10515600" cy="4863465"/>
          </a:xfrm>
        </p:spPr>
        <p:txBody>
          <a:bodyPr>
            <a:normAutofit/>
          </a:bodyPr>
          <a:p>
            <a:r>
              <a:rPr lang="en-US"/>
              <a:t>Open a Command Prompt:</a:t>
            </a:r>
            <a:endParaRPr lang="en-US"/>
          </a:p>
          <a:p>
            <a:pPr lvl="1"/>
            <a:r>
              <a:rPr lang="en-US"/>
              <a:t>Press Windows + R, type cmd, and press Enter.</a:t>
            </a:r>
            <a:endParaRPr lang="en-US"/>
          </a:p>
          <a:p>
            <a:r>
              <a:rPr lang="en-US"/>
              <a:t>Run the following command to verify Maven is installed:</a:t>
            </a:r>
            <a:endParaRPr lang="en-US"/>
          </a:p>
          <a:p>
            <a:pPr marL="0" indent="0">
              <a:buNone/>
            </a:pPr>
            <a:r>
              <a:rPr lang="en-US"/>
              <a:t>			</a:t>
            </a:r>
            <a:r>
              <a:rPr lang="en-US">
                <a:solidFill>
                  <a:srgbClr val="FF0000"/>
                </a:solidFill>
              </a:rPr>
              <a:t>mvn -version</a:t>
            </a:r>
            <a:endParaRPr lang="en-US"/>
          </a:p>
          <a:p>
            <a:r>
              <a:rPr lang="en-US"/>
              <a:t>Output :</a:t>
            </a:r>
            <a:endParaRPr lang="en-US"/>
          </a:p>
          <a:p>
            <a:pPr lvl="1"/>
            <a:r>
              <a:rPr lang="en-US"/>
              <a:t>Apache Maven 3.9.9</a:t>
            </a:r>
            <a:endParaRPr lang="en-US"/>
          </a:p>
          <a:p>
            <a:pPr lvl="1"/>
            <a:r>
              <a:rPr lang="en-US"/>
              <a:t>Maven home: C:\Program Files\Apache\Maven\apache-maven-3.9.9</a:t>
            </a:r>
            <a:endParaRPr lang="en-US"/>
          </a:p>
          <a:p>
            <a:pPr lvl="1"/>
            <a:r>
              <a:rPr lang="en-US"/>
              <a:t>Java version: 1.x.x</a:t>
            </a:r>
            <a:endParaRPr lang="en-US"/>
          </a:p>
          <a:p>
            <a:pPr lvl="1"/>
            <a:r>
              <a:rPr lang="en-US"/>
              <a:t>Java home: C:\Program Files\Java\jdk-x.x.x</a:t>
            </a:r>
            <a:endParaRPr lang="en-US"/>
          </a:p>
          <a:p>
            <a:pPr lvl="1"/>
            <a:r>
              <a:rPr lang="en-US"/>
              <a:t>Default locale: en_US, platform encoding: UTF-8</a:t>
            </a:r>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564515"/>
            <a:ext cx="10515600" cy="788670"/>
          </a:xfrm>
        </p:spPr>
        <p:txBody>
          <a:bodyPr>
            <a:normAutofit/>
          </a:bodyPr>
          <a:p>
            <a:r>
              <a:rPr lang="en-US" sz="3555">
                <a:sym typeface="+mn-ea"/>
              </a:rPr>
              <a:t>Step 5: Troubleshooting</a:t>
            </a:r>
            <a:endParaRPr lang="en-US"/>
          </a:p>
        </p:txBody>
      </p:sp>
      <p:sp>
        <p:nvSpPr>
          <p:cNvPr id="3" name="Content Placeholder 2"/>
          <p:cNvSpPr>
            <a:spLocks noGrp="1"/>
          </p:cNvSpPr>
          <p:nvPr>
            <p:ph idx="1"/>
          </p:nvPr>
        </p:nvSpPr>
        <p:spPr>
          <a:xfrm>
            <a:off x="838200" y="1501775"/>
            <a:ext cx="10515600" cy="4675505"/>
          </a:xfrm>
        </p:spPr>
        <p:txBody>
          <a:bodyPr/>
          <a:p>
            <a:r>
              <a:rPr lang="en-US"/>
              <a:t>If mvn is not recognized:</a:t>
            </a:r>
            <a:endParaRPr lang="en-US"/>
          </a:p>
          <a:p>
            <a:pPr lvl="1"/>
            <a:r>
              <a:rPr lang="en-US"/>
              <a:t>Double-check the MAVEN_HOME variable and Path entries for typos.</a:t>
            </a:r>
            <a:endParaRPr lang="en-US"/>
          </a:p>
          <a:p>
            <a:pPr lvl="1"/>
            <a:r>
              <a:rPr lang="en-US"/>
              <a:t>Ensure the %MAVEN_HOME%\bin path is correctly appended to the Path variable.</a:t>
            </a:r>
            <a:endParaRPr lang="en-US"/>
          </a:p>
          <a:p>
            <a:pPr lvl="1"/>
            <a:r>
              <a:rPr lang="en-US"/>
              <a:t>Restart the Command Prompt or your computer to apply the changes.</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30015</Words>
  <Application>WPS Presentation</Application>
  <PresentationFormat>Widescreen</PresentationFormat>
  <Paragraphs>524</Paragraphs>
  <Slides>64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64</vt:i4>
      </vt:variant>
    </vt:vector>
  </HeadingPairs>
  <TitlesOfParts>
    <vt:vector size="75" baseType="lpstr">
      <vt:lpstr>Arial</vt:lpstr>
      <vt:lpstr>SimSun</vt:lpstr>
      <vt:lpstr>Wingdings</vt:lpstr>
      <vt:lpstr>Calibri Light</vt:lpstr>
      <vt:lpstr>Helvetica Neue</vt:lpstr>
      <vt:lpstr>Calibri</vt:lpstr>
      <vt:lpstr>Microsoft YaHei</vt:lpstr>
      <vt:lpstr>汉仪旗黑</vt:lpstr>
      <vt:lpstr>Arial Unicode MS</vt:lpstr>
      <vt:lpstr>Arial Bold</vt:lpstr>
      <vt:lpstr>Office Theme</vt:lpstr>
      <vt:lpstr>UNIT 5  Working with Maven</vt:lpstr>
      <vt:lpstr>Syllabus</vt:lpstr>
      <vt:lpstr>What is a Maven Artifact?</vt:lpstr>
      <vt:lpstr>PowerPoint 演示文稿</vt:lpstr>
      <vt:lpstr>Introduction to maven </vt:lpstr>
      <vt:lpstr>PowerPoint 演示文稿</vt:lpstr>
      <vt:lpstr>PowerPoint 演示文稿</vt:lpstr>
      <vt:lpstr>PowerPoint 演示文稿</vt:lpstr>
      <vt:lpstr>PowerPoint 演示文稿</vt:lpstr>
      <vt:lpstr>Key Features: </vt:lpstr>
      <vt:lpstr>Benefits of Using Maven: </vt:lpstr>
      <vt:lpstr>Maven Lifecycle </vt:lpstr>
      <vt:lpstr>PowerPoint 演示文稿</vt:lpstr>
      <vt:lpstr>The clean lifecycle of Maven is a series of steps that deletes all files created by the previous build, and then completes the project's cleanup: </vt:lpstr>
      <vt:lpstr>Here's a brief description of each phase in the default lifecycle: </vt:lpstr>
      <vt:lpstr>The Maven site lifecycle is a set of phases that are executed to create a project's site documentation:</vt:lpstr>
      <vt:lpstr>JAR Files </vt:lpstr>
      <vt:lpstr>WAR Files</vt:lpstr>
      <vt:lpstr>PowerPoint 演示文稿</vt:lpstr>
      <vt:lpstr>What Is Maven Repository?</vt:lpstr>
      <vt:lpstr>PowerPoint 演示文稿</vt:lpstr>
      <vt:lpstr>PowerPoint 演示文稿</vt:lpstr>
      <vt:lpstr>PowerPoint 演示文稿</vt:lpstr>
      <vt:lpstr>PowerPoint 演示文稿</vt:lpstr>
      <vt:lpstr>What Is Maven Architecture?</vt:lpstr>
      <vt:lpstr>PowerPoint 演示文稿</vt:lpstr>
      <vt:lpstr>PowerPoint 演示文稿</vt:lpstr>
      <vt:lpstr>Uses of Maven </vt:lpstr>
      <vt:lpstr>Importance and uses of Maven </vt:lpstr>
      <vt:lpstr>Maven's architecture works by:  </vt:lpstr>
      <vt:lpstr>PowerPoint 演示文稿</vt:lpstr>
      <vt:lpstr>Project Object Model (POM)</vt:lpstr>
      <vt:lpstr>PowerPoint 演示文稿</vt:lpstr>
      <vt:lpstr>Maven Workflow</vt:lpstr>
      <vt:lpstr>Workflow of POM</vt:lpstr>
      <vt:lpstr>The sample of pom.xml  </vt:lpstr>
      <vt:lpstr>Key Components of a POM File:</vt:lpstr>
      <vt:lpstr>uses of pom</vt:lpstr>
      <vt:lpstr>Advantages of Maven POM </vt:lpstr>
      <vt:lpstr>Maven Dependencies</vt:lpstr>
      <vt:lpstr>PowerPoint 演示文稿</vt:lpstr>
      <vt:lpstr>Maven plugins </vt:lpstr>
      <vt:lpstr>Maven Build Plugins </vt:lpstr>
      <vt:lpstr>Maven Reporting Plugins </vt:lpstr>
      <vt:lpstr>PowerPoint 演示文稿</vt:lpstr>
      <vt:lpstr>Different types of Maven Plugins </vt:lpstr>
      <vt:lpstr>Working Process of Plugins in a Maven Project </vt:lpstr>
      <vt:lpstr>Javadocs Plugin</vt:lpstr>
      <vt:lpstr> Generate Javadocs As Part Of Project Reports</vt:lpstr>
      <vt:lpstr>Generate Standalone Javadocs </vt:lpstr>
      <vt:lpstr>Maven Project Structure </vt:lpstr>
      <vt:lpstr>Maven Project Structure</vt:lpstr>
      <vt:lpstr>Key Directories in Maven Structure</vt:lpstr>
      <vt:lpstr>PowerPoint 演示文稿</vt:lpstr>
      <vt:lpstr>b. target/</vt:lpstr>
      <vt:lpstr>c. pom.xml</vt:lpstr>
      <vt:lpstr>Benefits of Maven's Standard Project Structure</vt:lpstr>
      <vt:lpstr>            Installation </vt:lpstr>
      <vt:lpstr>Detailed installation of Maven for Windows </vt:lpstr>
      <vt:lpstr>Step 2 : Extract the Archive</vt:lpstr>
      <vt:lpstr>Step 3: Set Environment Variables</vt:lpstr>
      <vt:lpstr>PowerPoint 演示文稿</vt:lpstr>
      <vt:lpstr>Step 4: Verify the Installation</vt:lpstr>
      <vt:lpstr>Step 5: Troubleshooting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Working with Maven</dc:title>
  <dc:creator>divya</dc:creator>
  <cp:lastModifiedBy>divya thakur</cp:lastModifiedBy>
  <cp:revision>82</cp:revision>
  <dcterms:created xsi:type="dcterms:W3CDTF">2025-07-17T06:32:07Z</dcterms:created>
  <dcterms:modified xsi:type="dcterms:W3CDTF">2025-07-17T06:32:07Z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1033-6.15.0.8733</vt:lpwstr>
  </property>
  <property fmtid="{D5CDD505-2E9C-101B-9397-08002B2CF9AE}" pid="3" name="ICV">
    <vt:lpwstr>D89F1411D15309ABE7987868DA046472_42</vt:lpwstr>
  </property>
</Properties>
</file>