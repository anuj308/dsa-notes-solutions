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81" r:id="rId5"/>
    <p:sldId id="280" r:id="rId6"/>
    <p:sldId id="279" r:id="rId7"/>
    <p:sldId id="278" r:id="rId8"/>
    <p:sldId id="282" r:id="rId9"/>
    <p:sldId id="277" r:id="rId10"/>
    <p:sldId id="276" r:id="rId11"/>
    <p:sldId id="275" r:id="rId12"/>
    <p:sldId id="274" r:id="rId13"/>
    <p:sldId id="273" r:id="rId14"/>
    <p:sldId id="272" r:id="rId15"/>
    <p:sldId id="271" r:id="rId16"/>
    <p:sldId id="270" r:id="rId17"/>
    <p:sldId id="269" r:id="rId18"/>
    <p:sldId id="268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4" r:id="rId28"/>
    <p:sldId id="305" r:id="rId29"/>
    <p:sldId id="312" r:id="rId30"/>
    <p:sldId id="313" r:id="rId31"/>
    <p:sldId id="306" r:id="rId32"/>
    <p:sldId id="311" r:id="rId33"/>
    <p:sldId id="308" r:id="rId34"/>
    <p:sldId id="309" r:id="rId35"/>
    <p:sldId id="310" r:id="rId36"/>
    <p:sldId id="307" r:id="rId37"/>
    <p:sldId id="314" r:id="rId38"/>
    <p:sldId id="315" r:id="rId39"/>
    <p:sldId id="318" r:id="rId40"/>
    <p:sldId id="316" r:id="rId41"/>
    <p:sldId id="317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Unit 4</a:t>
            </a:r>
            <a:br>
              <a:rPr lang="en-US"/>
            </a:br>
            <a:r>
              <a:rPr lang="en-US"/>
              <a:t>Advanced Git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71510" y="4313555"/>
            <a:ext cx="3095625" cy="1655445"/>
          </a:xfrm>
        </p:spPr>
        <p:txBody>
          <a:bodyPr/>
          <a:p>
            <a:r>
              <a:rPr lang="en-US"/>
              <a:t>By:</a:t>
            </a:r>
            <a:endParaRPr lang="en-US"/>
          </a:p>
          <a:p>
            <a:r>
              <a:rPr lang="en-US"/>
              <a:t>Name :Divya Thakur</a:t>
            </a:r>
            <a:endParaRPr lang="en-US"/>
          </a:p>
          <a:p>
            <a:r>
              <a:rPr lang="en-US"/>
              <a:t>UID : 28300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6780"/>
          </a:xfrm>
        </p:spPr>
        <p:txBody>
          <a:bodyPr/>
          <a:p>
            <a:r>
              <a:rPr lang="en-US"/>
              <a:t>Unit 4 Topics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Source Code Management with git</a:t>
            </a:r>
            <a:endParaRPr lang="en-US"/>
          </a:p>
          <a:p>
            <a:r>
              <a:rPr lang="en-US"/>
              <a:t>Comparison Commands</a:t>
            </a:r>
            <a:endParaRPr lang="en-US"/>
          </a:p>
          <a:p>
            <a:r>
              <a:rPr lang="en-US"/>
              <a:t>Branching and Merging</a:t>
            </a:r>
            <a:endParaRPr lang="en-US"/>
          </a:p>
          <a:p>
            <a:r>
              <a:rPr lang="en-US"/>
              <a:t>Rebasing </a:t>
            </a:r>
            <a:endParaRPr lang="en-US"/>
          </a:p>
          <a:p>
            <a:r>
              <a:rPr lang="en-US"/>
              <a:t>Stashing</a:t>
            </a:r>
            <a:endParaRPr lang="en-US"/>
          </a:p>
          <a:p>
            <a:r>
              <a:rPr lang="en-US"/>
              <a:t>Tagging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1370"/>
          </a:xfrm>
        </p:spPr>
        <p:txBody>
          <a:bodyPr>
            <a:normAutofit fontScale="90000"/>
          </a:bodyPr>
          <a:p>
            <a:r>
              <a:rPr lang="en-US">
                <a:sym typeface="+mn-ea"/>
              </a:rPr>
              <a:t>Source Code Management with git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66495"/>
            <a:ext cx="10515600" cy="5010785"/>
          </a:xfrm>
        </p:spPr>
        <p:txBody>
          <a:bodyPr/>
          <a:p>
            <a:r>
              <a:rPr lang="en-US"/>
              <a:t>Source Code Management (SCM) is a set of processes and tools used to manage and track changes in the source code of software projects. </a:t>
            </a:r>
            <a:endParaRPr lang="en-US"/>
          </a:p>
          <a:p>
            <a:r>
              <a:rPr lang="en-US"/>
              <a:t>It involves version control, which is the practice of tracking and managing changes to the source code, as well as other related practices like branching and merging.\</a:t>
            </a:r>
            <a:endParaRPr lang="en-US"/>
          </a:p>
          <a:p>
            <a:r>
              <a:rPr lang="en-US"/>
              <a:t>Common SCM tools include Git, Subversion, and Mercurial. These tools provide functionalities for version control, branching, merging, and other SCM practices.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40435"/>
            <a:ext cx="10515600" cy="5236845"/>
          </a:xfrm>
        </p:spPr>
        <p:txBody>
          <a:bodyPr>
            <a:normAutofit/>
          </a:bodyPr>
          <a:p>
            <a:r>
              <a:rPr lang="en-US" b="1"/>
              <a:t>SCM is crucial for software development projects for several reasons:</a:t>
            </a:r>
            <a:endParaRPr lang="en-US" b="1"/>
          </a:p>
          <a:p>
            <a:endParaRPr lang="en-US"/>
          </a:p>
          <a:p>
            <a:r>
              <a:rPr lang="en-US" sz="2400"/>
              <a:t>Collaboration</a:t>
            </a:r>
            <a:endParaRPr lang="en-US" sz="2400"/>
          </a:p>
          <a:p>
            <a:r>
              <a:rPr lang="en-US" sz="2400"/>
              <a:t>History</a:t>
            </a:r>
            <a:endParaRPr lang="en-US" sz="2400"/>
          </a:p>
          <a:p>
            <a:r>
              <a:rPr lang="en-US" sz="2400"/>
              <a:t>Reverting: If a change introduces a bug or causes other problems, SCM tools make it possible to revert the code back to a previous, stable state.</a:t>
            </a:r>
            <a:endParaRPr lang="en-US" sz="2400"/>
          </a:p>
          <a:p>
            <a:r>
              <a:rPr lang="en-US" sz="2400"/>
              <a:t>Branching and Merging</a:t>
            </a:r>
            <a:endParaRPr lang="en-US" sz="2400"/>
          </a:p>
          <a:p>
            <a:r>
              <a:rPr lang="en-US" sz="2400"/>
              <a:t>Conflict Resolution: When multiple developers work on the same part of the code, there is a risk of conflicts. SCM tools help in identifying and resolving these conflicts.</a:t>
            </a:r>
            <a:endParaRPr lang="en-US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1520"/>
          </a:xfrm>
        </p:spPr>
        <p:txBody>
          <a:bodyPr>
            <a:normAutofit fontScale="90000"/>
          </a:bodyPr>
          <a:p>
            <a:r>
              <a:rPr lang="en-US"/>
              <a:t>Types of Source Code Management: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9535"/>
            <a:ext cx="10515600" cy="4817745"/>
          </a:xfrm>
        </p:spPr>
        <p:txBody>
          <a:bodyPr/>
          <a:p>
            <a:pPr marL="0" indent="0">
              <a:buNone/>
            </a:pPr>
            <a:r>
              <a:rPr lang="en-US" b="1"/>
              <a:t>Centralized Version Control Systems (CVCS):</a:t>
            </a:r>
            <a:r>
              <a:rPr lang="en-US"/>
              <a:t> </a:t>
            </a:r>
            <a:endParaRPr lang="en-US"/>
          </a:p>
          <a:p>
            <a:pPr lvl="1"/>
            <a:r>
              <a:rPr lang="en-US"/>
              <a:t>These systems use a central server to store all the files and histories of a project. </a:t>
            </a:r>
            <a:endParaRPr lang="en-US"/>
          </a:p>
          <a:p>
            <a:pPr lvl="1"/>
            <a:r>
              <a:rPr lang="en-US"/>
              <a:t>Developers can check out the latest version or any previous version of the files from this central repository to their local machines. </a:t>
            </a:r>
            <a:endParaRPr lang="en-US"/>
          </a:p>
          <a:p>
            <a:pPr lvl="1"/>
            <a:r>
              <a:rPr lang="en-US"/>
              <a:t>However, all the changes and new versions are recorded back in the central server. </a:t>
            </a:r>
            <a:endParaRPr lang="en-US"/>
          </a:p>
          <a:p>
            <a:pPr lvl="1"/>
            <a:r>
              <a:rPr lang="en-US"/>
              <a:t>Examples of CVCS include:</a:t>
            </a:r>
            <a:endParaRPr lang="en-US"/>
          </a:p>
          <a:p>
            <a:pPr lvl="2"/>
            <a:r>
              <a:rPr lang="en-US"/>
              <a:t>Subversion (SVN)</a:t>
            </a:r>
            <a:endParaRPr lang="en-US"/>
          </a:p>
          <a:p>
            <a:pPr lvl="2"/>
            <a:r>
              <a:rPr lang="en-US"/>
              <a:t>Perforce</a:t>
            </a:r>
            <a:endParaRPr lang="en-US"/>
          </a:p>
          <a:p>
            <a:pPr lvl="2"/>
            <a:r>
              <a:rPr lang="en-US"/>
              <a:t>Microsoft Team Foundation Server (TFS)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83285"/>
            <a:ext cx="10515600" cy="4641850"/>
          </a:xfrm>
        </p:spPr>
        <p:txBody>
          <a:bodyPr/>
          <a:p>
            <a:r>
              <a:rPr lang="en-US" b="1"/>
              <a:t>Distributed Version Control Systems (DVCS): </a:t>
            </a:r>
            <a:endParaRPr lang="en-US" b="1"/>
          </a:p>
          <a:p>
            <a:pPr lvl="1"/>
            <a:r>
              <a:rPr lang="en-US"/>
              <a:t>These systems do not rely on a central server to store all the files and histories. </a:t>
            </a:r>
            <a:endParaRPr lang="en-US"/>
          </a:p>
          <a:p>
            <a:pPr lvl="1"/>
            <a:r>
              <a:rPr lang="en-US"/>
              <a:t>Instead, every user has a complete copy of the entire repository, including the history, on their local machine. </a:t>
            </a:r>
            <a:endParaRPr lang="en-US"/>
          </a:p>
          <a:p>
            <a:pPr lvl="1"/>
            <a:r>
              <a:rPr lang="en-US"/>
              <a:t>This allows developers to work offline and makes the repository more resilient because there are multiple copies of the repository. </a:t>
            </a:r>
            <a:endParaRPr lang="en-US"/>
          </a:p>
          <a:p>
            <a:pPr lvl="1"/>
            <a:r>
              <a:rPr lang="en-US"/>
              <a:t>Examples of DVCS include:</a:t>
            </a:r>
            <a:endParaRPr lang="en-US"/>
          </a:p>
          <a:p>
            <a:pPr lvl="2"/>
            <a:r>
              <a:rPr lang="en-US"/>
              <a:t>Git</a:t>
            </a:r>
            <a:endParaRPr lang="en-US"/>
          </a:p>
          <a:p>
            <a:pPr lvl="2"/>
            <a:r>
              <a:rPr lang="en-US"/>
              <a:t>Mercurial</a:t>
            </a:r>
            <a:endParaRPr lang="en-US"/>
          </a:p>
          <a:p>
            <a:pPr lvl="2"/>
            <a:r>
              <a:rPr lang="en-US"/>
              <a:t>Bazaar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1855"/>
          </a:xfrm>
        </p:spPr>
        <p:txBody>
          <a:bodyPr/>
          <a:p>
            <a:r>
              <a:rPr lang="en-US"/>
              <a:t>Source code management best practices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7615"/>
            <a:ext cx="10515600" cy="5335905"/>
          </a:xfrm>
        </p:spPr>
        <p:txBody>
          <a:bodyPr>
            <a:normAutofit fontScale="80000"/>
          </a:bodyPr>
          <a:p>
            <a:r>
              <a:rPr lang="en-US"/>
              <a:t>Commit often:</a:t>
            </a:r>
            <a:endParaRPr lang="en-US"/>
          </a:p>
          <a:p>
            <a:pPr lvl="1"/>
            <a:r>
              <a:rPr lang="en-US"/>
              <a:t>Each commit is a snapshot that the codebase can be reverted to if needed. Frequent commits give many opportunities to revert or undo work</a:t>
            </a:r>
            <a:endParaRPr lang="en-US"/>
          </a:p>
          <a:p>
            <a:r>
              <a:rPr lang="en-US"/>
              <a:t>Ensure you're working from latest version :</a:t>
            </a:r>
            <a:endParaRPr lang="en-US"/>
          </a:p>
          <a:p>
            <a:pPr lvl="1"/>
            <a:r>
              <a:rPr lang="en-US"/>
              <a:t>SCM enables rapid updates from multiple developers.</a:t>
            </a:r>
            <a:endParaRPr lang="en-US"/>
          </a:p>
          <a:p>
            <a:r>
              <a:rPr lang="en-US"/>
              <a:t>Make detailed notes</a:t>
            </a:r>
            <a:endParaRPr lang="en-US"/>
          </a:p>
          <a:p>
            <a:pPr lvl="1"/>
            <a:r>
              <a:rPr lang="en-US"/>
              <a:t>Each commit has a corresponding log entry.</a:t>
            </a:r>
            <a:endParaRPr lang="en-US"/>
          </a:p>
          <a:p>
            <a:r>
              <a:rPr lang="en-US"/>
              <a:t>Review changes before committing</a:t>
            </a:r>
            <a:endParaRPr lang="en-US"/>
          </a:p>
          <a:p>
            <a:pPr lvl="1"/>
            <a:r>
              <a:rPr lang="en-US"/>
              <a:t>SCM’s offer a ‘staging area’. </a:t>
            </a:r>
            <a:endParaRPr lang="en-US"/>
          </a:p>
          <a:p>
            <a:r>
              <a:rPr lang="en-US"/>
              <a:t>Use Branches</a:t>
            </a:r>
            <a:endParaRPr lang="en-US"/>
          </a:p>
          <a:p>
            <a:pPr lvl="1"/>
            <a:r>
              <a:rPr lang="en-US"/>
              <a:t>Branching is a powerful SCM mechanism that allows developers to create a separate line of development. </a:t>
            </a:r>
            <a:endParaRPr lang="en-US"/>
          </a:p>
          <a:p>
            <a:r>
              <a:rPr lang="en-US"/>
              <a:t>Agree on a Workflow</a:t>
            </a:r>
            <a:endParaRPr lang="en-US"/>
          </a:p>
          <a:p>
            <a:pPr lvl="1"/>
            <a:r>
              <a:rPr lang="en-US"/>
              <a:t>By default SCMs offer very free form methods of contribution. 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51485"/>
            <a:ext cx="10515600" cy="5725795"/>
          </a:xfrm>
        </p:spPr>
        <p:txBody>
          <a:bodyPr/>
          <a:p>
            <a:r>
              <a:rPr lang="en-US"/>
              <a:t>Git is currently the most popular SCM tool, used by many open-source projects and companies worldwide.</a:t>
            </a:r>
            <a:endParaRPr lang="en-US"/>
          </a:p>
          <a:p>
            <a:r>
              <a:rPr lang="en-US"/>
              <a:t>It is a distributed version control system, which means that every developer has a complete copy of the entire repository on their local machine. </a:t>
            </a:r>
            <a:endParaRPr lang="en-US"/>
          </a:p>
          <a:p>
            <a:r>
              <a:rPr lang="en-US"/>
              <a:t>Git allows multiple developers to work on the same project simultaneously, and it provides functionalities for branching, merging, and conflict resolution. </a:t>
            </a:r>
            <a:endParaRPr lang="en-US"/>
          </a:p>
          <a:p>
            <a:r>
              <a:rPr lang="en-US"/>
              <a:t>This enables a collaborative and efficient development process.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8475"/>
          </a:xfrm>
        </p:spPr>
        <p:txBody>
          <a:bodyPr>
            <a:normAutofit fontScale="90000"/>
          </a:bodyPr>
          <a:p>
            <a:r>
              <a:rPr lang="en-US"/>
              <a:t>Branching and Merging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3330"/>
            <a:ext cx="10515600" cy="4933950"/>
          </a:xfrm>
        </p:spPr>
        <p:txBody>
          <a:bodyPr/>
          <a:p>
            <a:r>
              <a:rPr lang="en-US" sz="2400"/>
              <a:t>A branch in Git is a way to keep developing and coding a new feature or modification to the software and still not affecting the main part of the project. </a:t>
            </a:r>
            <a:endParaRPr lang="en-US" sz="2400"/>
          </a:p>
          <a:p>
            <a:r>
              <a:rPr lang="en-US" sz="2400"/>
              <a:t>We can also say that branches create another line of development in the project. </a:t>
            </a:r>
            <a:endParaRPr lang="en-US" sz="2400"/>
          </a:p>
          <a:p>
            <a:r>
              <a:rPr lang="en-US" sz="2400"/>
              <a:t>The primary or default branch in Git is the master branch .</a:t>
            </a:r>
            <a:endParaRPr lang="en-US" sz="2400"/>
          </a:p>
          <a:p>
            <a:r>
              <a:rPr lang="en-US" sz="2400"/>
              <a:t>As soon as the repository creates, so does the main branch (or the default branch).</a:t>
            </a:r>
            <a:endParaRPr lang="en-US" sz="2400"/>
          </a:p>
          <a:p>
            <a:r>
              <a:rPr lang="en-US" sz="2400"/>
              <a:t>Branches give you the freedom to independently work on different modules and merge the modules when you finish developing them.</a:t>
            </a:r>
            <a:endParaRPr lang="en-US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93065"/>
          </a:xfrm>
        </p:spPr>
        <p:txBody>
          <a:bodyPr>
            <a:normAutofit fontScale="90000"/>
          </a:bodyPr>
          <a:p>
            <a:r>
              <a:rPr lang="en-US"/>
              <a:t>Different Operations On Branches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68705"/>
            <a:ext cx="10515600" cy="5387340"/>
          </a:xfrm>
        </p:spPr>
        <p:txBody>
          <a:bodyPr>
            <a:normAutofit lnSpcReduction="20000"/>
          </a:bodyPr>
          <a:p>
            <a:r>
              <a:rPr lang="en-US" sz="2220"/>
              <a:t>Branches are the heart of Git. </a:t>
            </a:r>
            <a:endParaRPr lang="en-US" sz="2220"/>
          </a:p>
          <a:p>
            <a:r>
              <a:rPr lang="en-US" sz="2220"/>
              <a:t>From the time of creating the repository until its deletion, everything will involve branches.</a:t>
            </a:r>
            <a:endParaRPr lang="en-US" sz="2220"/>
          </a:p>
          <a:p>
            <a:r>
              <a:rPr lang="en-US" sz="2220" b="1"/>
              <a:t>Create a Branch: </a:t>
            </a:r>
            <a:endParaRPr lang="en-US" sz="2220" b="1"/>
          </a:p>
          <a:p>
            <a:pPr lvl="1"/>
            <a:r>
              <a:rPr lang="en-US" sz="1900"/>
              <a:t>This is the first step in the process, you can start on a default branch or create a new branch for the development.</a:t>
            </a:r>
            <a:endParaRPr lang="en-US" sz="1900"/>
          </a:p>
          <a:p>
            <a:r>
              <a:rPr lang="en-US" sz="2220" b="1"/>
              <a:t>Merge A Branch: </a:t>
            </a:r>
            <a:endParaRPr lang="en-US" sz="2220" b="1"/>
          </a:p>
          <a:p>
            <a:pPr lvl="1"/>
            <a:r>
              <a:rPr lang="en-US" sz="1900"/>
              <a:t>An already running branch can merge with any other branch in your Git repository. Merging a branch can help when you are done with the branch and want the code to integrate into another branch code.</a:t>
            </a:r>
            <a:endParaRPr lang="en-US" sz="1900"/>
          </a:p>
          <a:p>
            <a:r>
              <a:rPr lang="en-US" sz="2220" b="1"/>
              <a:t>Delete A Branch:</a:t>
            </a:r>
            <a:r>
              <a:rPr lang="en-US" sz="2220"/>
              <a:t> </a:t>
            </a:r>
            <a:endParaRPr lang="en-US" sz="2220"/>
          </a:p>
          <a:p>
            <a:pPr lvl="1"/>
            <a:r>
              <a:rPr lang="en-US" sz="1900"/>
              <a:t>Deleting a branch can help when the branch has done its job, i.e., it's already merged, or you no longer need it in your repository for any reason.</a:t>
            </a:r>
            <a:endParaRPr lang="en-US" sz="1900"/>
          </a:p>
          <a:p>
            <a:r>
              <a:rPr lang="en-US" sz="2220" b="1"/>
              <a:t>Checkout A Branch: </a:t>
            </a:r>
            <a:endParaRPr lang="en-US" sz="2220" b="1"/>
          </a:p>
          <a:p>
            <a:pPr lvl="1"/>
            <a:r>
              <a:rPr lang="en-US" sz="1900"/>
              <a:t>An already running branch can pull or checkout to make a clone of the branch so that the user can work on any of them. </a:t>
            </a:r>
            <a:endParaRPr lang="en-US" sz="1900"/>
          </a:p>
          <a:p>
            <a:pPr lvl="1"/>
            <a:r>
              <a:rPr lang="en-US" sz="1900"/>
              <a:t>Pulling a branch can help when you don't want to disturb the older branch and experiment on the new one. </a:t>
            </a:r>
            <a:endParaRPr lang="en-US" sz="1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89915"/>
            <a:ext cx="10515600" cy="5587365"/>
          </a:xfrm>
        </p:spPr>
        <p:txBody>
          <a:bodyPr>
            <a:normAutofit/>
          </a:bodyPr>
          <a:p>
            <a:r>
              <a:rPr lang="en-US"/>
              <a:t>git branch:</a:t>
            </a:r>
            <a:br>
              <a:rPr lang="en-US"/>
            </a:br>
            <a:r>
              <a:rPr lang="en-US"/>
              <a:t> To view all the branches </a:t>
            </a:r>
            <a:endParaRPr lang="en-US"/>
          </a:p>
          <a:p>
            <a:r>
              <a:rPr lang="en-US"/>
              <a:t>git branch -a : </a:t>
            </a:r>
            <a:endParaRPr lang="en-US"/>
          </a:p>
          <a:p>
            <a:pPr lvl="1"/>
            <a:r>
              <a:rPr lang="en-US"/>
              <a:t>To view branches including remote branches.</a:t>
            </a:r>
            <a:endParaRPr lang="en-US"/>
          </a:p>
          <a:p>
            <a:r>
              <a:rPr lang="en-US"/>
              <a:t>git branch &lt;branch_name&gt;:</a:t>
            </a:r>
            <a:endParaRPr lang="en-US"/>
          </a:p>
          <a:p>
            <a:pPr lvl="1"/>
            <a:r>
              <a:rPr lang="en-US"/>
              <a:t>Create a new branch </a:t>
            </a:r>
            <a:endParaRPr lang="en-US"/>
          </a:p>
          <a:p>
            <a:r>
              <a:rPr lang="en-US"/>
              <a:t>git push -u origin prod:</a:t>
            </a:r>
            <a:endParaRPr lang="en-US"/>
          </a:p>
          <a:p>
            <a:pPr lvl="1"/>
            <a:r>
              <a:rPr lang="en-US"/>
              <a:t>command to update the local branch on the GitHub repository.</a:t>
            </a:r>
            <a:endParaRPr lang="en-US"/>
          </a:p>
          <a:p>
            <a:pPr lvl="1"/>
            <a:r>
              <a:rPr lang="en-US"/>
              <a:t>The -u flag adds the tracking reference for the prod branch so that your upcoming pushes do not require any extra arguments, and the local branch links to the remote branch.</a:t>
            </a:r>
            <a:endParaRPr lang="en-US"/>
          </a:p>
          <a:p>
            <a:r>
              <a:rPr lang="en-US"/>
              <a:t>git checkout &lt;BRANCH_NAME &gt;:</a:t>
            </a:r>
            <a:endParaRPr lang="en-US"/>
          </a:p>
          <a:p>
            <a:pPr lvl="1"/>
            <a:r>
              <a:rPr lang="en-US"/>
              <a:t>command to switch to the branch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7805"/>
            <a:ext cx="10515600" cy="5959475"/>
          </a:xfrm>
        </p:spPr>
        <p:txBody>
          <a:bodyPr/>
          <a:p>
            <a:r>
              <a:rPr lang="en-US" b="1">
                <a:sym typeface="+mn-ea"/>
              </a:rPr>
              <a:t>git checkout -b &lt;name_of_branch&gt; : </a:t>
            </a:r>
            <a:endParaRPr lang="en-US" b="1"/>
          </a:p>
          <a:p>
            <a:pPr lvl="1"/>
            <a:r>
              <a:rPr lang="en-US"/>
              <a:t>Create and Switch a branch with a single Git command:</a:t>
            </a:r>
            <a:endParaRPr lang="en-US"/>
          </a:p>
          <a:p>
            <a:pPr lvl="1"/>
            <a:r>
              <a:rPr lang="en-US"/>
              <a:t>The flag "b" here tells Git to create a new branch with the branch name succeeding in the flag. 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3100"/>
          </a:xfrm>
        </p:spPr>
        <p:txBody>
          <a:bodyPr>
            <a:normAutofit fontScale="90000"/>
          </a:bodyPr>
          <a:p>
            <a:r>
              <a:rPr lang="en-US">
                <a:sym typeface="+mn-ea"/>
              </a:rPr>
              <a:t>Deletion of branches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3680"/>
            <a:ext cx="10515600" cy="4673600"/>
          </a:xfrm>
        </p:spPr>
        <p:txBody>
          <a:bodyPr>
            <a:normAutofit lnSpcReduction="10000"/>
          </a:bodyPr>
          <a:p>
            <a:r>
              <a:rPr lang="en-US"/>
              <a:t>Deletion of branches from our local systems and push them to the remote repository. </a:t>
            </a:r>
            <a:endParaRPr lang="en-US"/>
          </a:p>
          <a:p>
            <a:r>
              <a:rPr lang="en-US"/>
              <a:t>git branch -d &lt;branch_name&gt;:</a:t>
            </a:r>
            <a:endParaRPr lang="en-US"/>
          </a:p>
          <a:p>
            <a:pPr lvl="1"/>
            <a:r>
              <a:rPr lang="en-US"/>
              <a:t>The "d" flag used here specifies that we intend to delete a branch.</a:t>
            </a:r>
            <a:endParaRPr lang="en-US"/>
          </a:p>
          <a:p>
            <a:pPr lvl="1"/>
            <a:r>
              <a:rPr lang="en-US"/>
              <a:t>Make sure you are not running the command on the same branch , checkout from the branch and then run the command </a:t>
            </a:r>
            <a:endParaRPr lang="en-US"/>
          </a:p>
          <a:p>
            <a:r>
              <a:rPr lang="en-US"/>
              <a:t> git branch -D &lt;branch_name&gt;:</a:t>
            </a:r>
            <a:endParaRPr lang="en-US"/>
          </a:p>
          <a:p>
            <a:pPr lvl="1"/>
            <a:r>
              <a:rPr lang="en-US"/>
              <a:t>Command to force delete the branch without checking the merged status of the branch. </a:t>
            </a:r>
            <a:endParaRPr lang="en-US"/>
          </a:p>
          <a:p>
            <a:pPr lvl="1"/>
            <a:r>
              <a:rPr lang="en-US"/>
              <a:t>Doing so, Git won't give any warnings even if the branch does not merge in.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8025"/>
          </a:xfrm>
        </p:spPr>
        <p:txBody>
          <a:bodyPr>
            <a:normAutofit fontScale="90000"/>
          </a:bodyPr>
          <a:p>
            <a:r>
              <a:rPr lang="en-US"/>
              <a:t>Delete A Remote Branch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245"/>
            <a:ext cx="10515600" cy="4852035"/>
          </a:xfrm>
        </p:spPr>
        <p:txBody>
          <a:bodyPr/>
          <a:p>
            <a:r>
              <a:rPr lang="en-US"/>
              <a:t>Check the remote branches first by command.</a:t>
            </a:r>
            <a:endParaRPr lang="en-US"/>
          </a:p>
          <a:p>
            <a:pPr lvl="1"/>
            <a:r>
              <a:rPr lang="en-US"/>
              <a:t>git branch -a</a:t>
            </a:r>
            <a:endParaRPr lang="en-US"/>
          </a:p>
          <a:p>
            <a:r>
              <a:rPr lang="en-US" b="1"/>
              <a:t>git push &lt;remote_repo_name&gt; --delete &lt;branch_name&gt;:</a:t>
            </a:r>
            <a:endParaRPr lang="en-US" b="1"/>
          </a:p>
          <a:p>
            <a:pPr lvl="1"/>
            <a:r>
              <a:rPr lang="en-US"/>
              <a:t>Command to delete a remote branch .</a:t>
            </a:r>
            <a:endParaRPr lang="en-US"/>
          </a:p>
          <a:p>
            <a:r>
              <a:rPr lang="en-US"/>
              <a:t>To recover the deleted branches:</a:t>
            </a:r>
            <a:endParaRPr lang="en-US"/>
          </a:p>
          <a:p>
            <a:pPr lvl="1"/>
            <a:r>
              <a:rPr lang="en-US" b="1"/>
              <a:t>git reflog</a:t>
            </a:r>
            <a:r>
              <a:rPr lang="en-US"/>
              <a:t> </a:t>
            </a:r>
            <a:endParaRPr lang="en-US"/>
          </a:p>
          <a:p>
            <a:pPr lvl="1"/>
            <a:r>
              <a:rPr lang="en-US"/>
              <a:t>Reflog is short for Reference Logs, which records the points when the updating of the branches and other references happened in the repository. </a:t>
            </a:r>
            <a:endParaRPr lang="en-US"/>
          </a:p>
          <a:p>
            <a:pPr lvl="1"/>
            <a:r>
              <a:rPr lang="en-US"/>
              <a:t>One can recover the branches by going back to a particular log.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9605"/>
          </a:xfrm>
        </p:spPr>
        <p:txBody>
          <a:bodyPr>
            <a:normAutofit fontScale="90000"/>
          </a:bodyPr>
          <a:p>
            <a:r>
              <a:rPr lang="en-US">
                <a:sym typeface="+mn-ea"/>
              </a:rPr>
              <a:t>Practice Excercise: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15695"/>
            <a:ext cx="10515600" cy="5061585"/>
          </a:xfrm>
        </p:spPr>
        <p:txBody>
          <a:bodyPr>
            <a:normAutofit lnSpcReduction="20000"/>
          </a:bodyPr>
          <a:p>
            <a:r>
              <a:rPr lang="en-US"/>
              <a:t>Create a branch locally by the name "new".</a:t>
            </a:r>
            <a:endParaRPr lang="en-US"/>
          </a:p>
          <a:p>
            <a:r>
              <a:rPr lang="en-US"/>
              <a:t>Switch to the branch and make some changes by creating a new file etc.</a:t>
            </a:r>
            <a:endParaRPr lang="en-US"/>
          </a:p>
          <a:p>
            <a:r>
              <a:rPr lang="en-US"/>
              <a:t>Commit these changes and look at the Git Logfile of the "new" branch.</a:t>
            </a:r>
            <a:endParaRPr lang="en-US"/>
          </a:p>
          <a:p>
            <a:r>
              <a:rPr lang="en-US"/>
              <a:t>Push this branch to the remote repository.</a:t>
            </a:r>
            <a:endParaRPr lang="en-US"/>
          </a:p>
          <a:p>
            <a:r>
              <a:rPr lang="en-US"/>
              <a:t>View all the remote and local branches to confirm.</a:t>
            </a:r>
            <a:endParaRPr lang="en-US"/>
          </a:p>
          <a:p>
            <a:r>
              <a:rPr lang="en-US"/>
              <a:t>Delete this branch locally from Git.</a:t>
            </a:r>
            <a:endParaRPr lang="en-US"/>
          </a:p>
          <a:p>
            <a:r>
              <a:rPr lang="en-US"/>
              <a:t>Delete this branch from a remote repository.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2950"/>
          </a:xfrm>
        </p:spPr>
        <p:txBody>
          <a:bodyPr/>
          <a:p>
            <a:r>
              <a:rPr lang="en-US"/>
              <a:t>Merge Branches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08710"/>
            <a:ext cx="10515600" cy="5068570"/>
          </a:xfrm>
        </p:spPr>
        <p:txBody>
          <a:bodyPr/>
          <a:p>
            <a:r>
              <a:rPr lang="en-US"/>
              <a:t>A merge operation can be executed by typing the command:</a:t>
            </a:r>
            <a:endParaRPr lang="en-US"/>
          </a:p>
          <a:p>
            <a:r>
              <a:rPr lang="en-US"/>
              <a:t>git merge &lt;branch_name&gt;</a:t>
            </a:r>
            <a:endParaRPr lang="en-US"/>
          </a:p>
          <a:p>
            <a:endParaRPr lang="en-US"/>
          </a:p>
          <a:p>
            <a:r>
              <a:rPr lang="en-US">
                <a:sym typeface="+mn-ea"/>
              </a:rPr>
              <a:t>The changes done by the git merge command can be undone through</a:t>
            </a:r>
            <a:r>
              <a:rPr lang="en-US" b="1">
                <a:sym typeface="+mn-ea"/>
              </a:rPr>
              <a:t> git reflog</a:t>
            </a:r>
            <a:r>
              <a:rPr lang="en-US">
                <a:sym typeface="+mn-ea"/>
              </a:rPr>
              <a:t> and </a:t>
            </a:r>
            <a:r>
              <a:rPr lang="en-US" b="1">
                <a:sym typeface="+mn-ea"/>
              </a:rPr>
              <a:t>git hard reset</a:t>
            </a:r>
            <a:r>
              <a:rPr lang="en-US">
                <a:sym typeface="+mn-ea"/>
              </a:rPr>
              <a:t> commands.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8015"/>
          </a:xfrm>
        </p:spPr>
        <p:txBody>
          <a:bodyPr>
            <a:normAutofit/>
          </a:bodyPr>
          <a:p>
            <a:r>
              <a:rPr lang="en-US" sz="3110"/>
              <a:t>How to merge branch in Git to another branch?</a:t>
            </a:r>
            <a:endParaRPr lang="en-US" sz="311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80770"/>
            <a:ext cx="10515600" cy="5096510"/>
          </a:xfrm>
        </p:spPr>
        <p:txBody>
          <a:bodyPr>
            <a:normAutofit fontScale="90000"/>
          </a:bodyPr>
          <a:p>
            <a:pPr marL="0" indent="0">
              <a:buNone/>
            </a:pPr>
            <a:endParaRPr lang="en-US"/>
          </a:p>
          <a:p>
            <a:r>
              <a:rPr lang="en-US"/>
              <a:t>Task :</a:t>
            </a:r>
            <a:endParaRPr lang="en-US"/>
          </a:p>
          <a:p>
            <a:r>
              <a:rPr lang="en-US"/>
              <a:t> </a:t>
            </a:r>
            <a:r>
              <a:rPr lang="en-US" sz="2400"/>
              <a:t>Merge a branch called "new" into another branch called the "master" branch. </a:t>
            </a:r>
            <a:endParaRPr lang="en-US" sz="2400"/>
          </a:p>
          <a:p>
            <a:r>
              <a:rPr lang="en-US" sz="2400"/>
              <a:t> Before merging ,switch to the branch and log some changes into the branch “new”.</a:t>
            </a:r>
            <a:endParaRPr lang="en-US" sz="2400"/>
          </a:p>
          <a:p>
            <a:r>
              <a:rPr lang="en-US" sz="2400"/>
              <a:t>Commit these changes.</a:t>
            </a:r>
            <a:endParaRPr lang="en-US" sz="2400"/>
          </a:p>
          <a:p>
            <a:r>
              <a:rPr lang="en-US" sz="2400"/>
              <a:t>Check the commit using oneline flag .</a:t>
            </a:r>
            <a:endParaRPr lang="en-US" sz="2400"/>
          </a:p>
          <a:p>
            <a:r>
              <a:rPr lang="en-US" sz="2400"/>
              <a:t>Now switch to the branch to which we will merge the changes.</a:t>
            </a:r>
            <a:endParaRPr lang="en-US" sz="2400"/>
          </a:p>
          <a:p>
            <a:r>
              <a:rPr lang="en-US" sz="2400"/>
              <a:t> Execute the following command to merge the branch “new” to the  master branch.</a:t>
            </a:r>
            <a:endParaRPr lang="en-US" sz="2400"/>
          </a:p>
          <a:p>
            <a:r>
              <a:rPr lang="en-US" sz="2400"/>
              <a:t>Recheck the log to see the merge.</a:t>
            </a:r>
            <a:endParaRPr lang="en-US" sz="2400"/>
          </a:p>
          <a:p>
            <a:r>
              <a:rPr lang="en-US" sz="2400"/>
              <a:t>Once done, we can delete the branch.</a:t>
            </a:r>
            <a:endParaRPr lang="en-US" sz="2400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7715"/>
          </a:xfrm>
        </p:spPr>
        <p:txBody>
          <a:bodyPr/>
          <a:p>
            <a:r>
              <a:rPr lang="en-US"/>
              <a:t>Comparison Commands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2840"/>
            <a:ext cx="10515600" cy="5044440"/>
          </a:xfrm>
        </p:spPr>
        <p:txBody>
          <a:bodyPr>
            <a:normAutofit lnSpcReduction="10000"/>
          </a:bodyPr>
          <a:p>
            <a:r>
              <a:rPr lang="en-US"/>
              <a:t>The git diff command shows the code changes between two commits or between the current repository and an earlier commit. </a:t>
            </a:r>
            <a:endParaRPr lang="en-US"/>
          </a:p>
          <a:p>
            <a:r>
              <a:rPr lang="en-US"/>
              <a:t>This command displays changes indicated by file headers and metadata for changed files</a:t>
            </a:r>
            <a:endParaRPr lang="en-US"/>
          </a:p>
          <a:p>
            <a:r>
              <a:rPr lang="en-US"/>
              <a:t>The syntax for the git diff command is as follows::</a:t>
            </a:r>
            <a:endParaRPr lang="en-US"/>
          </a:p>
          <a:p>
            <a:pPr marL="0" indent="0">
              <a:buNone/>
            </a:pPr>
            <a:r>
              <a:rPr lang="en-US"/>
              <a:t>			git diff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91160"/>
            <a:ext cx="10515600" cy="5786120"/>
          </a:xfrm>
        </p:spPr>
        <p:txBody>
          <a:bodyPr/>
          <a:p>
            <a:r>
              <a:rPr lang="en-US">
                <a:sym typeface="+mn-ea"/>
              </a:rPr>
              <a:t>Git Diff Between two branches (Two Dots Method)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		Syntax: git diff branch1..branch2</a:t>
            </a:r>
            <a:endParaRPr lang="en-US"/>
          </a:p>
          <a:p>
            <a:r>
              <a:rPr lang="en-US">
                <a:sym typeface="+mn-ea"/>
              </a:rPr>
              <a:t>This will show you all of the commits that branch2 has that branch1 doesn't have.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>
            <a:normAutofit fontScale="90000"/>
          </a:bodyPr>
          <a:p>
            <a:r>
              <a:rPr lang="en-US"/>
              <a:t>Git tagging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8080"/>
            <a:ext cx="10515600" cy="5029200"/>
          </a:xfrm>
        </p:spPr>
        <p:txBody>
          <a:bodyPr>
            <a:normAutofit lnSpcReduction="10000"/>
          </a:bodyPr>
          <a:p>
            <a:r>
              <a:rPr lang="en-US"/>
              <a:t>Tags in Git are the reference points in the Git history that denotes special events.</a:t>
            </a:r>
            <a:endParaRPr lang="en-US"/>
          </a:p>
          <a:p>
            <a:r>
              <a:rPr lang="en-US"/>
              <a:t> You can tag any commit for any purpose you want. </a:t>
            </a:r>
            <a:endParaRPr lang="en-US"/>
          </a:p>
          <a:p>
            <a:r>
              <a:rPr lang="en-US"/>
              <a:t>Tags can be associated with either the commit to which the HEAD points or a specific commit that the user likes.</a:t>
            </a:r>
            <a:endParaRPr lang="en-US"/>
          </a:p>
          <a:p>
            <a:r>
              <a:rPr lang="en-US"/>
              <a:t>Tags are ref's that point to specific points in Git history.</a:t>
            </a:r>
            <a:endParaRPr lang="en-US"/>
          </a:p>
          <a:p>
            <a:r>
              <a:rPr lang="en-US"/>
              <a:t>Tagging is generally used to capture a point in history that is used for a marked version release (i.e. v1.0.1).</a:t>
            </a:r>
            <a:endParaRPr lang="en-US"/>
          </a:p>
          <a:p>
            <a:r>
              <a:rPr lang="en-US"/>
              <a:t>A tag is like a branch that doesn’t change. Unlike branches, tags, after being created, have no further history of commits. 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625" y="364490"/>
            <a:ext cx="11804015" cy="6177280"/>
          </a:xfrm>
        </p:spPr>
        <p:txBody>
          <a:bodyPr>
            <a:normAutofit lnSpcReduction="20000"/>
          </a:bodyPr>
          <a:p>
            <a:r>
              <a:rPr lang="en-US"/>
              <a:t>Command to create a tag: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			</a:t>
            </a:r>
            <a:r>
              <a:rPr lang="en-US" b="1">
                <a:sym typeface="+mn-ea"/>
              </a:rPr>
              <a:t>git tag &lt;tagname&gt;</a:t>
            </a:r>
            <a:endParaRPr lang="en-US"/>
          </a:p>
          <a:p>
            <a:endParaRPr lang="en-US" sz="2400"/>
          </a:p>
          <a:p>
            <a:r>
              <a:rPr lang="en-US" sz="2400"/>
              <a:t>View/List  Tags In Git:</a:t>
            </a:r>
            <a:endParaRPr lang="en-US" sz="2400"/>
          </a:p>
          <a:p>
            <a:pPr marL="0" indent="0">
              <a:buNone/>
            </a:pPr>
            <a:r>
              <a:rPr lang="en-US" sz="2400"/>
              <a:t>				</a:t>
            </a:r>
            <a:r>
              <a:rPr lang="en-US" sz="2400" b="1"/>
              <a:t>git tag </a:t>
            </a:r>
            <a:endParaRPr lang="en-US" sz="2400"/>
          </a:p>
          <a:p>
            <a:endParaRPr lang="en-US" sz="2400"/>
          </a:p>
          <a:p>
            <a:r>
              <a:rPr lang="en-US" sz="2400"/>
              <a:t>Push Tags to GitHub:</a:t>
            </a:r>
            <a:endParaRPr lang="en-US" sz="2400"/>
          </a:p>
          <a:p>
            <a:pPr lvl="1"/>
            <a:r>
              <a:rPr lang="en-US" sz="2055"/>
              <a:t>Pushing the tags is similar to pushing anything on the remote repository.</a:t>
            </a:r>
            <a:endParaRPr lang="en-US" sz="2055"/>
          </a:p>
          <a:p>
            <a:pPr marL="0" indent="0">
              <a:buNone/>
            </a:pPr>
            <a:r>
              <a:rPr lang="en-US" altLang="en-US" sz="2400" dirty="0">
                <a:sym typeface="+mn-ea"/>
              </a:rPr>
              <a:t>			</a:t>
            </a:r>
            <a:r>
              <a:rPr lang="en-US" altLang="en-US" sz="2400" b="1" dirty="0">
                <a:sym typeface="+mn-ea"/>
              </a:rPr>
              <a:t>git push origin v1.4</a:t>
            </a:r>
            <a:endParaRPr lang="en-US" altLang="en-US" sz="2400" dirty="0">
              <a:sym typeface="+mn-ea"/>
            </a:endParaRPr>
          </a:p>
          <a:p>
            <a:pPr marL="0" indent="0">
              <a:buNone/>
            </a:pPr>
            <a:endParaRPr lang="en-US" sz="2400"/>
          </a:p>
          <a:p>
            <a:r>
              <a:rPr lang="en-US" altLang="en-US" sz="2400" dirty="0">
                <a:sym typeface="+mn-ea"/>
              </a:rPr>
              <a:t>Delete a tag:</a:t>
            </a:r>
            <a:endParaRPr lang="en-US" altLang="en-US" sz="2400" dirty="0">
              <a:sym typeface="+mn-ea"/>
            </a:endParaRPr>
          </a:p>
          <a:p>
            <a:pPr marL="0" indent="0">
              <a:buNone/>
            </a:pPr>
            <a:r>
              <a:rPr lang="en-US" altLang="en-US" sz="2400" b="1" dirty="0">
                <a:sym typeface="+mn-ea"/>
              </a:rPr>
              <a:t>				git tag -d v1</a:t>
            </a:r>
            <a:endParaRPr lang="en-US" altLang="en-US" sz="2400" b="1" dirty="0">
              <a:sym typeface="+mn-ea"/>
            </a:endParaRPr>
          </a:p>
          <a:p>
            <a:pPr marL="0" indent="0">
              <a:buNone/>
            </a:pPr>
            <a:endParaRPr lang="en-US" altLang="en-US" sz="2400" b="1" dirty="0"/>
          </a:p>
          <a:p>
            <a:r>
              <a:rPr lang="en-US" sz="2400"/>
              <a:t>Checkout a tag :</a:t>
            </a:r>
            <a:r>
              <a:rPr lang="en-US" sz="2400" kern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view the state of a repo at a tag. This puts the repo in a detached HEAD state. </a:t>
            </a:r>
            <a:endParaRPr lang="en-US" sz="2400"/>
          </a:p>
          <a:p>
            <a:pPr marL="0" indent="0">
              <a:buNone/>
            </a:pPr>
            <a:r>
              <a:rPr lang="en-US" sz="2400"/>
              <a:t>				</a:t>
            </a:r>
            <a:r>
              <a:rPr lang="en-US" sz="2400" b="1"/>
              <a:t>git checkout tagname</a:t>
            </a:r>
            <a:endParaRPr lang="en-US" sz="2400"/>
          </a:p>
          <a:p>
            <a:endParaRPr lang="en-US"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9135"/>
          </a:xfrm>
        </p:spPr>
        <p:txBody>
          <a:bodyPr>
            <a:normAutofit fontScale="90000"/>
          </a:bodyPr>
          <a:p>
            <a:r>
              <a:rPr lang="en-US" altLang="en-US" dirty="0">
                <a:sym typeface="+mn-ea"/>
              </a:rPr>
              <a:t>Git supports two different types of tags,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2555"/>
            <a:ext cx="10515600" cy="5114290"/>
          </a:xfrm>
        </p:spPr>
        <p:txBody>
          <a:bodyPr>
            <a:normAutofit fontScale="80000"/>
          </a:bodyPr>
          <a:p>
            <a:pPr eaLnBrk="1" hangingPunct="1">
              <a:buNone/>
            </a:pPr>
            <a:r>
              <a:rPr lang="en-US" altLang="en-US" dirty="0">
                <a:sym typeface="+mn-ea"/>
              </a:rPr>
              <a:t>1.  Annotated  </a:t>
            </a:r>
            <a:endParaRPr lang="en-US" altLang="en-US" dirty="0"/>
          </a:p>
          <a:p>
            <a:pPr eaLnBrk="1" hangingPunct="1">
              <a:buNone/>
            </a:pPr>
            <a:r>
              <a:rPr lang="en-US" altLang="en-US" dirty="0">
                <a:sym typeface="+mn-ea"/>
              </a:rPr>
              <a:t>2. lightweight tags</a:t>
            </a:r>
            <a:endParaRPr lang="en-US" altLang="en-US" dirty="0">
              <a:sym typeface="+mn-ea"/>
            </a:endParaRPr>
          </a:p>
          <a:p>
            <a:pPr eaLnBrk="1" hangingPunct="1">
              <a:buNone/>
            </a:pPr>
            <a:endParaRPr lang="en-US" altLang="en-US" dirty="0">
              <a:sym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lang="en-US" kern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Lightweight tags and Annotated tags differ in the amount of accompanying meta data they store.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lang="en-US" kern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 A best practice is to consider Annotated tags as public, and Lightweight tags as private. 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lang="en-US" kern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Annotated tags store extra meta data such as: the tagger name, email, and date. 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lang="en-US" kern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This is important data for a public release.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lang="en-US" kern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 Lightweight tags are essentially 'bookmarks' to a commit, they are just a name and a pointer to a commit, useful for creating quick links to relevant commits.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eaLnBrk="1" hangingPunct="1">
              <a:buNone/>
            </a:pPr>
            <a:endParaRPr lang="en-US" altLang="en-US" dirty="0"/>
          </a:p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2620"/>
          </a:xfrm>
        </p:spPr>
        <p:txBody>
          <a:bodyPr>
            <a:normAutofit fontScale="90000"/>
          </a:bodyPr>
          <a:p>
            <a:r>
              <a:rPr lang="en-US" kern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sym typeface="+mn-ea"/>
              </a:rPr>
              <a:t>Annotated tags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3180"/>
            <a:ext cx="10515600" cy="4864100"/>
          </a:xfrm>
        </p:spPr>
        <p:txBody>
          <a:bodyPr>
            <a:normAutofit/>
          </a:bodyPr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lang="en-US" kern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Annotated tags are stored as full objects in the </a:t>
            </a:r>
            <a:r>
              <a:rPr lang="en-US" kern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Git</a:t>
            </a:r>
            <a:r>
              <a:rPr lang="en-US" kern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 database. 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lang="en-US" kern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To reiterate, They store extra meta data such as: the tagger name, email, and date. 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lang="en-US" kern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Similar to commits and commit messages Annotated tags have a tagging message. 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lang="en-US" kern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Additionally, for security, annotated tags can be signed and verified with GNU Privacy Guard (GPG). </a:t>
            </a:r>
            <a:endParaRPr lang="en-US" kern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lang="en-US" kern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Suggested best practices for </a:t>
            </a:r>
            <a:r>
              <a:rPr lang="en-US" kern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git</a:t>
            </a:r>
            <a:r>
              <a:rPr lang="en-US" kern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 tagging is to prefer annotated tags over lightweight so you can have all the associated meta-data.</a:t>
            </a: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Command for annotated tags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250" y="1825625"/>
            <a:ext cx="11312525" cy="4351655"/>
          </a:xfrm>
        </p:spPr>
        <p:txBody>
          <a:bodyPr/>
          <a:p>
            <a:r>
              <a:rPr lang="en-US" altLang="en-US" dirty="0">
                <a:sym typeface="+mn-ea"/>
              </a:rPr>
              <a:t>Executing this command will create a new annotated tag identified with v1.5 :</a:t>
            </a:r>
            <a:endParaRPr lang="en-US" altLang="en-US" dirty="0">
              <a:sym typeface="+mn-ea"/>
            </a:endParaRPr>
          </a:p>
          <a:p>
            <a:pPr marL="0" indent="0">
              <a:buNone/>
            </a:pPr>
            <a:r>
              <a:rPr lang="en-US" altLang="en-US" dirty="0">
                <a:sym typeface="+mn-ea"/>
              </a:rPr>
              <a:t>				git tag -a v1.5</a:t>
            </a:r>
            <a:endParaRPr lang="en-US" altLang="en-US" dirty="0">
              <a:sym typeface="+mn-ea"/>
            </a:endParaRPr>
          </a:p>
          <a:p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Tag with a message  In Git:</a:t>
            </a:r>
            <a:endParaRPr lang="en-US"/>
          </a:p>
          <a:p>
            <a:pPr marL="0" indent="0">
              <a:buNone/>
            </a:pPr>
            <a:r>
              <a:rPr lang="en-US" sz="2400">
                <a:sym typeface="+mn-ea"/>
              </a:rPr>
              <a:t>	git tag -a &lt;tag_name&gt; -m "&lt;Message_for_commit&gt;"&lt;commit_hash_code&gt;</a:t>
            </a:r>
            <a:endParaRPr lang="en-US" sz="2400"/>
          </a:p>
          <a:p>
            <a:endParaRPr lang="en-US" altLang="en-US" dirty="0"/>
          </a:p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4230"/>
          </a:xfrm>
        </p:spPr>
        <p:txBody>
          <a:bodyPr/>
          <a:p>
            <a:r>
              <a:rPr lang="en-US" kern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sym typeface="+mn-ea"/>
              </a:rPr>
              <a:t>Lightweight tags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0320"/>
            <a:ext cx="10515600" cy="4886960"/>
          </a:xfrm>
        </p:spPr>
        <p:txBody>
          <a:bodyPr/>
          <a:p>
            <a:pPr eaLnBrk="1" hangingPunct="1"/>
            <a:r>
              <a:rPr lang="en-US" altLang="en-US" dirty="0">
                <a:sym typeface="+mn-ea"/>
              </a:rPr>
              <a:t>Lightweight tags are created with the absence of the -a, -s, or -m options.</a:t>
            </a:r>
            <a:endParaRPr lang="en-US" altLang="en-US" dirty="0"/>
          </a:p>
          <a:p>
            <a:pPr eaLnBrk="1" hangingPunct="1"/>
            <a:r>
              <a:rPr lang="en-US" altLang="en-US" dirty="0">
                <a:sym typeface="+mn-ea"/>
              </a:rPr>
              <a:t> Lightweight tags create a new tag checksum and store it in the .git/ directory of the project's repo.</a:t>
            </a:r>
            <a:endParaRPr lang="en-US" altLang="en-US" dirty="0"/>
          </a:p>
          <a:p>
            <a:pPr eaLnBrk="1" hangingPunct="1"/>
            <a:endParaRPr lang="en-US" altLang="en-US" dirty="0"/>
          </a:p>
          <a:p>
            <a:pPr marL="0" indent="0" eaLnBrk="1" hangingPunct="1">
              <a:buNone/>
            </a:pPr>
            <a:r>
              <a:rPr lang="en-US" altLang="en-US" b="1" dirty="0">
                <a:sym typeface="+mn-ea"/>
              </a:rPr>
              <a:t>				git tag v1.4-lw</a:t>
            </a:r>
            <a:endParaRPr lang="en-US" altLang="en-US" b="1" dirty="0"/>
          </a:p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0545"/>
          </a:xfrm>
        </p:spPr>
        <p:txBody>
          <a:bodyPr>
            <a:normAutofit fontScale="90000"/>
          </a:bodyPr>
          <a:p>
            <a:r>
              <a:rPr lang="en-US" altLang="en-US" dirty="0">
                <a:sym typeface="+mn-ea"/>
              </a:rPr>
              <a:t>Tagging old/Specific commits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76655"/>
            <a:ext cx="10515600" cy="5000625"/>
          </a:xfrm>
        </p:spPr>
        <p:txBody>
          <a:bodyPr>
            <a:normAutofit lnSpcReduction="10000"/>
          </a:bodyPr>
          <a:p>
            <a:r>
              <a:rPr lang="en-US"/>
              <a:t>By default, git tag will create a tag on the commit that HEAD is referencing. </a:t>
            </a:r>
            <a:endParaRPr lang="en-US"/>
          </a:p>
          <a:p>
            <a:r>
              <a:rPr lang="en-US"/>
              <a:t>Alternatively git tag can be passed as a ref to a specific commit.</a:t>
            </a:r>
            <a:endParaRPr lang="en-US"/>
          </a:p>
          <a:p>
            <a:r>
              <a:rPr lang="en-US"/>
              <a:t>This will tag the passed commit instead of defaulting to HEAD.</a:t>
            </a:r>
            <a:endParaRPr lang="en-US"/>
          </a:p>
          <a:p>
            <a:r>
              <a:rPr lang="en-US"/>
              <a:t>To gather a list of older commits execute the git log command.</a:t>
            </a:r>
            <a:endParaRPr lang="en-US"/>
          </a:p>
          <a:p>
            <a:pPr marL="0" indent="0">
              <a:buNone/>
            </a:pPr>
            <a:endParaRPr lang="en-US" altLang="en-US" dirty="0">
              <a:sym typeface="+mn-ea"/>
            </a:endParaRPr>
          </a:p>
          <a:p>
            <a:pPr marL="0" indent="0">
              <a:buNone/>
            </a:pPr>
            <a:r>
              <a:rPr lang="en-US" altLang="en-US" dirty="0">
                <a:sym typeface="+mn-ea"/>
              </a:rPr>
              <a:t>		git tag -a &lt;tagname&gt; &lt;commit_hash&gt;</a:t>
            </a:r>
            <a:endParaRPr lang="en-US" altLang="en-US" dirty="0">
              <a:sym typeface="+mn-ea"/>
            </a:endParaRPr>
          </a:p>
          <a:p>
            <a:pPr marL="0" indent="0">
              <a:buNone/>
            </a:pPr>
            <a:endParaRPr lang="en-US" altLang="en-US" dirty="0"/>
          </a:p>
          <a:p>
            <a:r>
              <a:rPr lang="en-US"/>
              <a:t>Note ,use git log to see the previous commits , then select the commit to which you wish to add a tag and then run the above command.</a:t>
            </a:r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790"/>
          </a:xfrm>
        </p:spPr>
        <p:txBody>
          <a:bodyPr>
            <a:normAutofit fontScale="90000"/>
          </a:bodyPr>
          <a:p>
            <a:r>
              <a:rPr lang="en-US"/>
              <a:t>Retagging/Replacing old tags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8900"/>
            <a:ext cx="10515600" cy="4818380"/>
          </a:xfrm>
        </p:spPr>
        <p:txBody>
          <a:bodyPr>
            <a:normAutofit/>
          </a:bodyPr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lang="en-US" kern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If you try to create a tag with the same identifier as an existing tag, </a:t>
            </a:r>
            <a:r>
              <a:rPr lang="en-US" kern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Git</a:t>
            </a:r>
            <a:r>
              <a:rPr lang="en-US" kern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 will throw an error like: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lang="en-US" kern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fatal: tag 'v0.4' already exists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lang="en-US" kern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Additionally if you try to tag an older commit with an existing tag identifier </a:t>
            </a:r>
            <a:r>
              <a:rPr lang="en-US" kern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Git</a:t>
            </a:r>
            <a:r>
              <a:rPr lang="en-US" kern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 will throw the same error.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lang="en-US" kern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In the event that you must update an existing tag, the -f FORCE option must be used.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b="1" kern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		git</a:t>
            </a:r>
            <a:r>
              <a:rPr lang="en-US" b="1" kern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 tag -a -f &lt;tagname&gt; &lt;commit_hash&gt;</a:t>
            </a: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995"/>
          </a:xfrm>
        </p:spPr>
        <p:txBody>
          <a:bodyPr>
            <a:normAutofit fontScale="90000"/>
          </a:bodyPr>
          <a:p>
            <a:r>
              <a:rPr lang="en-US"/>
              <a:t>Rebasing</a:t>
            </a:r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70000" y="1825625"/>
            <a:ext cx="965136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16635" y="1061720"/>
            <a:ext cx="995362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1190"/>
          </a:xfrm>
        </p:spPr>
        <p:txBody>
          <a:bodyPr>
            <a:normAutofit fontScale="90000"/>
          </a:bodyPr>
          <a:p>
            <a:r>
              <a:rPr dirty="0">
                <a:sym typeface="+mn-ea"/>
              </a:rPr>
              <a:t>Rebasing</a:t>
            </a:r>
            <a:br>
              <a:rPr dirty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6950"/>
            <a:ext cx="10515600" cy="5180330"/>
          </a:xfrm>
        </p:spPr>
        <p:txBody>
          <a:bodyPr/>
          <a:p>
            <a:r>
              <a:rPr lang="en-US"/>
              <a:t>Rebase is one of two Git utilities that specializes in integrating changes from one branch onto another. </a:t>
            </a:r>
            <a:endParaRPr lang="en-US"/>
          </a:p>
          <a:p>
            <a:r>
              <a:rPr lang="en-US"/>
              <a:t>The other change integration utility is git merge.</a:t>
            </a:r>
            <a:endParaRPr lang="en-US"/>
          </a:p>
          <a:p>
            <a:r>
              <a:rPr lang="en-US"/>
              <a:t>Rebasing is the process of moving or combining a sequence of commits to a new base commit. </a:t>
            </a:r>
            <a:endParaRPr lang="en-US"/>
          </a:p>
          <a:p>
            <a:r>
              <a:rPr lang="en-US"/>
              <a:t>Rebasing is most useful and easily visualized in the context of a feature branching workflow.</a:t>
            </a:r>
            <a:endParaRPr lang="en-US"/>
          </a:p>
          <a:p>
            <a:r>
              <a:rPr lang="en-US"/>
              <a:t>The primary reason for rebasing is to maintain a linear project history.</a:t>
            </a:r>
            <a:endParaRPr lang="en-US"/>
          </a:p>
          <a:p>
            <a:r>
              <a:rPr lang="en-US"/>
              <a:t>Rebase itself has 2 main modes: </a:t>
            </a:r>
            <a:endParaRPr lang="en-US"/>
          </a:p>
          <a:p>
            <a:pPr marL="0" indent="0">
              <a:buNone/>
            </a:pPr>
            <a:r>
              <a:rPr lang="en-US"/>
              <a:t>		"manual/standard" and "interactive" mode.</a:t>
            </a: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13765"/>
            <a:ext cx="10515600" cy="5263515"/>
          </a:xfrm>
        </p:spPr>
        <p:txBody>
          <a:bodyPr/>
          <a:p>
            <a:r>
              <a:rPr lang="en-US"/>
              <a:t>You have two options for integrating your feature into the main branch: merging directly or rebasing and then merging. </a:t>
            </a:r>
            <a:endParaRPr lang="en-US"/>
          </a:p>
          <a:p>
            <a:r>
              <a:rPr lang="en-US"/>
              <a:t>The former option results in a 3-way merge and a merge commit, while the latter results in a fast-forward merge and a perfectly linear history. </a:t>
            </a:r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9115"/>
          </a:xfrm>
        </p:spPr>
        <p:txBody>
          <a:bodyPr>
            <a:normAutofit fontScale="90000"/>
          </a:bodyPr>
          <a:p>
            <a:r>
              <a:rPr lang="en-US"/>
              <a:t>Standard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19505"/>
            <a:ext cx="10515600" cy="5057775"/>
          </a:xfrm>
        </p:spPr>
        <p:txBody>
          <a:bodyPr/>
          <a:p>
            <a:pPr marL="0" indent="0">
              <a:buNone/>
            </a:pPr>
            <a:r>
              <a:rPr lang="en-US">
                <a:sym typeface="+mn-ea"/>
              </a:rPr>
              <a:t>				git rebase &lt;base&gt;</a:t>
            </a:r>
            <a:endParaRPr lang="en-US"/>
          </a:p>
          <a:p>
            <a:r>
              <a:rPr lang="en-US">
                <a:sym typeface="+mn-ea"/>
              </a:rPr>
              <a:t>This automatically rebases the current branch onto ＜base＞, which can be any kind of commit reference (for example an ID, a branch name, a tag, or a relative reference to HEAD).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1190"/>
          </a:xfrm>
        </p:spPr>
        <p:txBody>
          <a:bodyPr>
            <a:normAutofit fontScale="90000"/>
          </a:bodyPr>
          <a:p>
            <a:r>
              <a:rPr lang="en-US"/>
              <a:t>Interactive Rebasing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905" y="1244600"/>
            <a:ext cx="10970895" cy="5342890"/>
          </a:xfrm>
        </p:spPr>
        <p:txBody>
          <a:bodyPr>
            <a:normAutofit fontScale="90000"/>
          </a:bodyPr>
          <a:p>
            <a:r>
              <a:rPr lang="en-US"/>
              <a:t>Running git rebase with the -i flag begins an interactive rebasing session. </a:t>
            </a:r>
            <a:endParaRPr lang="en-US"/>
          </a:p>
          <a:p>
            <a:r>
              <a:rPr lang="en-US"/>
              <a:t>Instead of blindly moving all of the commits to the new base, interactive rebasing gives you the opportunity to alter individual commits in the process. </a:t>
            </a:r>
            <a:endParaRPr lang="en-US"/>
          </a:p>
          <a:p>
            <a:r>
              <a:rPr lang="en-US"/>
              <a:t>This lets you clean up history by removing, splitting, and altering an existing series of commits.</a:t>
            </a:r>
            <a:endParaRPr lang="en-US"/>
          </a:p>
          <a:p>
            <a:pPr marL="0" indent="0">
              <a:buNone/>
            </a:pPr>
            <a:r>
              <a:rPr lang="en-US"/>
              <a:t>			</a:t>
            </a:r>
            <a:r>
              <a:rPr lang="en-US" b="1"/>
              <a:t>git rebase --interactive &lt;base&gt;</a:t>
            </a:r>
            <a:endParaRPr lang="en-US"/>
          </a:p>
          <a:p>
            <a:r>
              <a:rPr lang="en-US"/>
              <a:t>This rebases the current branch onto ＜base＞ but uses an interactive rebasing session. </a:t>
            </a:r>
            <a:endParaRPr lang="en-US"/>
          </a:p>
          <a:p>
            <a:r>
              <a:rPr lang="en-US"/>
              <a:t>This opens an editor where you can enter commands for each commit to be rebased. </a:t>
            </a:r>
            <a:endParaRPr lang="en-US"/>
          </a:p>
          <a:p>
            <a:r>
              <a:rPr lang="en-US"/>
              <a:t>These commands determine how individual commits will be transferred to the new base. </a:t>
            </a:r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77875"/>
            <a:ext cx="10515600" cy="4613910"/>
          </a:xfrm>
        </p:spPr>
        <p:txBody>
          <a:bodyPr/>
          <a:p>
            <a:r>
              <a:rPr lang="en-US"/>
              <a:t>Interactive rebasing gives you complete control over what your project history looks like. </a:t>
            </a:r>
            <a:endParaRPr lang="en-US"/>
          </a:p>
          <a:p>
            <a:r>
              <a:rPr lang="en-US"/>
              <a:t>Most developers like to use an interactive rebase to polish a feature branch before merging it into the main code base. </a:t>
            </a:r>
            <a:endParaRPr lang="en-US"/>
          </a:p>
          <a:p>
            <a:r>
              <a:rPr lang="en-US"/>
              <a:t>The real power of interactive rebasing can be seen in the history of the resulting main branch.</a:t>
            </a:r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Task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 Create a new branch based off of main </a:t>
            </a:r>
            <a:endParaRPr lang="en-US"/>
          </a:p>
          <a:p>
            <a:pPr marL="0" indent="0">
              <a:buNone/>
            </a:pPr>
            <a:r>
              <a:rPr lang="en-US"/>
              <a:t>		git checkout -b new master</a:t>
            </a:r>
            <a:endParaRPr lang="en-US"/>
          </a:p>
          <a:p>
            <a:r>
              <a:rPr lang="en-US"/>
              <a:t>Add file and edit it. </a:t>
            </a:r>
            <a:endParaRPr lang="en-US"/>
          </a:p>
          <a:p>
            <a:r>
              <a:rPr lang="en-US"/>
              <a:t>commit the changes with message  : </a:t>
            </a:r>
            <a:endParaRPr lang="en-US"/>
          </a:p>
          <a:p>
            <a:pPr marL="0" indent="0">
              <a:buNone/>
            </a:pPr>
            <a:r>
              <a:rPr lang="en-US"/>
              <a:t>		git commit -a -m "Adds new feature"</a:t>
            </a:r>
            <a:endParaRPr lang="en-US"/>
          </a:p>
          <a:p>
            <a:r>
              <a:rPr lang="en-US"/>
              <a:t>Rebase in both the modes and see the difference .</a:t>
            </a:r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200"/>
          </a:xfrm>
        </p:spPr>
        <p:txBody>
          <a:bodyPr>
            <a:normAutofit fontScale="90000"/>
          </a:bodyPr>
          <a:p>
            <a:r>
              <a:rPr lang="en-US"/>
              <a:t>	Git Stashing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9695"/>
            <a:ext cx="10515600" cy="4807585"/>
          </a:xfrm>
        </p:spPr>
        <p:txBody>
          <a:bodyPr>
            <a:normAutofit/>
          </a:bodyPr>
          <a:p>
            <a:r>
              <a:rPr lang="en-US" dirty="0">
                <a:sym typeface="+mn-ea"/>
              </a:rPr>
              <a:t>The git stash command takes your uncommitted changes (both staged and unstaged), saves them away for later use, and then reverts them from your working copy. </a:t>
            </a:r>
            <a:endParaRPr lang="en-US" dirty="0">
              <a:sym typeface="+mn-ea"/>
            </a:endParaRPr>
          </a:p>
          <a:p>
            <a:pPr marL="0" indent="0">
              <a:buNone/>
            </a:pPr>
            <a:r>
              <a:rPr lang="en-US" dirty="0">
                <a:sym typeface="+mn-ea"/>
              </a:rPr>
              <a:t>				git stash </a:t>
            </a:r>
            <a:endParaRPr lang="en-US" dirty="0">
              <a:sym typeface="+mn-ea"/>
            </a:endParaRPr>
          </a:p>
          <a:p>
            <a:pPr marL="2286000" lvl="5" indent="457200">
              <a:buNone/>
            </a:pPr>
            <a:r>
              <a:rPr lang="en-US" sz="2500" b="1" dirty="0">
                <a:sym typeface="+mn-ea"/>
              </a:rPr>
              <a:t>eg : </a:t>
            </a:r>
            <a:r>
              <a:rPr lang="en-US" altLang="en-US" sz="2500" b="1" dirty="0">
                <a:sym typeface="+mn-ea"/>
              </a:rPr>
              <a:t>git stash push -m "WIP: notes edit"</a:t>
            </a:r>
            <a:endParaRPr lang="en-US" altLang="en-US" sz="2500" b="1" dirty="0">
              <a:sym typeface="+mn-ea"/>
            </a:endParaRPr>
          </a:p>
          <a:p>
            <a:r>
              <a:rPr lang="en-US">
                <a:sym typeface="+mn-ea"/>
              </a:rPr>
              <a:t>List all the stashes: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				git stash list</a:t>
            </a:r>
            <a:endParaRPr lang="en-US">
              <a:sym typeface="+mn-ea"/>
            </a:endParaRPr>
          </a:p>
          <a:p>
            <a:r>
              <a:rPr lang="en-US" altLang="en-US"/>
              <a:t>To see whats inside stash :</a:t>
            </a:r>
            <a:endParaRPr lang="en-US" altLang="en-US"/>
          </a:p>
          <a:p>
            <a:pPr marL="3200400" lvl="7" indent="457200">
              <a:buNone/>
            </a:pPr>
            <a:r>
              <a:rPr lang="en-US" altLang="en-US" sz="3335"/>
              <a:t>git stash show -p stash@{0}</a:t>
            </a:r>
            <a:endParaRPr lang="en-US" altLang="en-US" sz="3335"/>
          </a:p>
          <a:p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2885"/>
            <a:ext cx="10515600" cy="5954395"/>
          </a:xfrm>
        </p:spPr>
        <p:txBody>
          <a:bodyPr>
            <a:normAutofit fontScale="80000"/>
          </a:bodyPr>
          <a:p>
            <a:r>
              <a:rPr lang="en-US" dirty="0">
                <a:sym typeface="+mn-ea"/>
              </a:rPr>
              <a:t>To revert all the changes/reapply previously stashed changes with git stash pop.(Reapply  or Restore )</a:t>
            </a:r>
            <a:endParaRPr lang="en-US" dirty="0">
              <a:sym typeface="+mn-ea"/>
            </a:endParaRPr>
          </a:p>
          <a:p>
            <a:pPr marL="0" indent="0">
              <a:buNone/>
            </a:pPr>
            <a:r>
              <a:rPr lang="en-US" dirty="0">
                <a:sym typeface="+mn-ea"/>
              </a:rPr>
              <a:t>				</a:t>
            </a:r>
            <a:r>
              <a:rPr lang="en-US" b="1" dirty="0">
                <a:sym typeface="+mn-ea"/>
              </a:rPr>
              <a:t>git stash pop</a:t>
            </a:r>
            <a:endParaRPr lang="en-US" dirty="0">
              <a:sym typeface="+mn-ea"/>
            </a:endParaRPr>
          </a:p>
          <a:p>
            <a:pPr marL="0" indent="0">
              <a:buNone/>
            </a:pPr>
            <a:r>
              <a:rPr lang="en-US" dirty="0">
                <a:sym typeface="+mn-ea"/>
              </a:rPr>
              <a:t>Popping your stash removes the changes from your stash and reapplies them to your working copy.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ym typeface="+mn-ea"/>
              </a:rPr>
              <a:t>Alternatively, you can reapply the changes to your working copy and keep them in your stash with 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ym typeface="+mn-ea"/>
              </a:rPr>
              <a:t>				</a:t>
            </a:r>
            <a:r>
              <a:rPr lang="en-US" b="1" dirty="0">
                <a:sym typeface="+mn-ea"/>
              </a:rPr>
              <a:t>git stash apply</a:t>
            </a:r>
            <a:endParaRPr lang="en-US" dirty="0">
              <a:sym typeface="+mn-ea"/>
            </a:endParaRPr>
          </a:p>
          <a:p>
            <a:pPr marL="457200" lvl="1" indent="457200">
              <a:buNone/>
            </a:pPr>
            <a:r>
              <a:rPr lang="en-US" altLang="en-US" sz="3000" b="1"/>
              <a:t>If you used git stash apply instead of pop, you can remove stash manually</a:t>
            </a:r>
            <a:endParaRPr lang="en-US" altLang="en-US" sz="3000" b="1"/>
          </a:p>
          <a:p>
            <a:r>
              <a:rPr lang="en-US" altLang="en-US"/>
              <a:t>Drop or Clear Stashes :</a:t>
            </a:r>
            <a:endParaRPr lang="en-US" altLang="en-US"/>
          </a:p>
          <a:p>
            <a:pPr marL="2286000" lvl="5" indent="457200">
              <a:buNone/>
            </a:pPr>
            <a:r>
              <a:rPr lang="en-US" altLang="en-US" sz="3200" b="1"/>
              <a:t>git stash drop stash@{0}</a:t>
            </a:r>
            <a:endParaRPr lang="en-US" altLang="en-US" sz="3200" b="1"/>
          </a:p>
          <a:p>
            <a:pPr marL="2286000" lvl="5" indent="457200">
              <a:buNone/>
            </a:pPr>
            <a:endParaRPr lang="en-US" altLang="en-US"/>
          </a:p>
          <a:p>
            <a:pPr lvl="8"/>
            <a:r>
              <a:rPr lang="en-US" altLang="en-US" sz="2570"/>
              <a:t>To remove all :</a:t>
            </a:r>
            <a:endParaRPr lang="en-US" altLang="en-US" sz="2570"/>
          </a:p>
          <a:p>
            <a:pPr marL="2743200" lvl="6" indent="457200">
              <a:buNone/>
            </a:pPr>
            <a:r>
              <a:rPr lang="en-US" altLang="en-US" sz="4000" b="1"/>
              <a:t>git stash clear</a:t>
            </a:r>
            <a:endParaRPr lang="en-US" altLang="en-US" sz="4000" b="1"/>
          </a:p>
          <a:p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85775"/>
            <a:ext cx="10515600" cy="5691505"/>
          </a:xfrm>
        </p:spPr>
        <p:txBody>
          <a:bodyPr/>
          <a:p>
            <a:r>
              <a:rPr lang="en-US">
                <a:sym typeface="+mn-ea"/>
              </a:rPr>
              <a:t>Adding the -u option (or --include-untracked) tells git stash to also stash your untracked files</a:t>
            </a:r>
            <a:endParaRPr lang="en-US"/>
          </a:p>
          <a:p>
            <a:pPr marL="0" indent="0">
              <a:buNone/>
            </a:pPr>
            <a:r>
              <a:rPr lang="en-US" dirty="0">
                <a:sym typeface="+mn-ea"/>
              </a:rPr>
              <a:t>			</a:t>
            </a:r>
            <a:endParaRPr lang="en-US" dirty="0">
              <a:sym typeface="+mn-ea"/>
            </a:endParaRPr>
          </a:p>
          <a:p>
            <a:pPr marL="0" indent="0">
              <a:buNone/>
            </a:pPr>
            <a:r>
              <a:rPr lang="en-US" dirty="0">
                <a:sym typeface="+mn-ea"/>
              </a:rPr>
              <a:t>				Git stash - u</a:t>
            </a:r>
            <a:endParaRPr lang="en-US" dirty="0"/>
          </a:p>
          <a:p>
            <a:r>
              <a:rPr lang="en-US">
                <a:sym typeface="+mn-ea"/>
              </a:rPr>
              <a:t>To provide a bit more context, it's good practice to annotate your stashes with a description, using : 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			git stash save "message"</a:t>
            </a:r>
            <a:endParaRPr lang="en-US"/>
          </a:p>
          <a:p>
            <a:r>
              <a:rPr lang="en-US">
                <a:sym typeface="+mn-ea"/>
              </a:rPr>
              <a:t>You can view a summary of a stash with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				 git stash show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13385"/>
            <a:ext cx="10515600" cy="5763895"/>
          </a:xfrm>
        </p:spPr>
        <p:txBody>
          <a:bodyPr/>
          <a:p>
            <a:r>
              <a:rPr lang="en-US"/>
              <a:t>Delete a particular stash:</a:t>
            </a:r>
            <a:endParaRPr lang="en-US"/>
          </a:p>
          <a:p>
            <a:pPr marL="0" indent="0">
              <a:buNone/>
            </a:pPr>
            <a:r>
              <a:rPr lang="en-US"/>
              <a:t>			git stash drop stash@{1}</a:t>
            </a:r>
            <a:endParaRPr lang="en-US"/>
          </a:p>
          <a:p>
            <a:r>
              <a:rPr lang="en-US"/>
              <a:t>Delete all the stashes:</a:t>
            </a:r>
            <a:endParaRPr lang="en-US"/>
          </a:p>
          <a:p>
            <a:pPr marL="0" indent="0">
              <a:buNone/>
            </a:pPr>
            <a:r>
              <a:rPr lang="en-US"/>
              <a:t>				git stash clear</a:t>
            </a:r>
            <a:endParaRPr lang="en-US"/>
          </a:p>
          <a:p>
            <a:r>
              <a:rPr lang="en-US"/>
              <a:t>Creating a branch from your stash:</a:t>
            </a:r>
            <a:endParaRPr lang="en-US"/>
          </a:p>
          <a:p>
            <a:pPr marL="0" indent="0">
              <a:buNone/>
            </a:pPr>
            <a:r>
              <a:rPr lang="en-US"/>
              <a:t>	you can use git stash branch to create a new branch to 	apply your stashed changes to:</a:t>
            </a:r>
            <a:endParaRPr lang="en-US"/>
          </a:p>
          <a:p>
            <a:pPr marL="0" indent="0">
              <a:buNone/>
            </a:pPr>
            <a:r>
              <a:rPr lang="en-US"/>
              <a:t>		git stash branch branchname stash@{1}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2945"/>
          </a:xfrm>
        </p:spPr>
        <p:txBody>
          <a:bodyPr>
            <a:normAutofit fontScale="90000"/>
          </a:bodyPr>
          <a:p>
            <a:r>
              <a:rPr lang="en-US"/>
              <a:t>Task  on Stashing: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8100"/>
            <a:ext cx="10515600" cy="4869180"/>
          </a:xfrm>
        </p:spPr>
        <p:txBody>
          <a:bodyPr/>
          <a:p>
            <a:r>
              <a:rPr lang="en-US" altLang="en-US"/>
              <a:t>Scenario: You're Editing a Text File and Need to Switch Branches</a:t>
            </a:r>
            <a:endParaRPr lang="en-US" altLang="en-US"/>
          </a:p>
          <a:p>
            <a:r>
              <a:rPr lang="en-US" altLang="en-US" sz="2000"/>
              <a:t>Let’s say you're working in a folder called demo-stash</a:t>
            </a:r>
            <a:r>
              <a:rPr lang="en-US" altLang="en-US" sz="2000" b="1">
                <a:latin typeface="Arial Bold" panose="020B0604020202090204" charset="0"/>
                <a:cs typeface="Arial Bold" panose="020B0604020202090204" charset="0"/>
              </a:rPr>
              <a:t>.</a:t>
            </a:r>
            <a:endParaRPr lang="en-US" altLang="en-US" sz="2000" b="1">
              <a:latin typeface="Arial Bold" panose="020B0604020202090204" charset="0"/>
              <a:cs typeface="Arial Bold" panose="020B0604020202090204" charset="0"/>
            </a:endParaRPr>
          </a:p>
          <a:p>
            <a:r>
              <a:rPr lang="en-US" altLang="en-US" sz="2000" b="1">
                <a:latin typeface="Arial Bold" panose="020B0604020202090204" charset="0"/>
                <a:cs typeface="Arial Bold" panose="020B0604020202090204" charset="0"/>
              </a:rPr>
              <a:t>Create and Commit a File.</a:t>
            </a:r>
            <a:endParaRPr lang="en-US" altLang="en-US" sz="2000" b="1">
              <a:latin typeface="Arial Bold" panose="020B0604020202090204" charset="0"/>
              <a:cs typeface="Arial Bold" panose="020B0604020202090204" charset="0"/>
            </a:endParaRPr>
          </a:p>
          <a:p>
            <a:r>
              <a:rPr lang="en-US" altLang="en-US" sz="2000" b="1">
                <a:latin typeface="Arial Bold" panose="020B0604020202090204" charset="0"/>
                <a:cs typeface="Arial Bold" panose="020B0604020202090204" charset="0"/>
              </a:rPr>
              <a:t>Now you edit the file but don't commit</a:t>
            </a:r>
            <a:r>
              <a:rPr lang="en-US" altLang="en-US" sz="2000">
                <a:latin typeface="Arial Bold" panose="020B0604020202090204" charset="0"/>
                <a:cs typeface="Arial Bold" panose="020B0604020202090204" charset="0"/>
              </a:rPr>
              <a:t>.</a:t>
            </a:r>
            <a:endParaRPr lang="en-US" altLang="en-US" sz="2000">
              <a:latin typeface="Arial Bold" panose="020B0604020202090204" charset="0"/>
              <a:cs typeface="Arial Bold" panose="020B0604020202090204" charset="0"/>
            </a:endParaRPr>
          </a:p>
          <a:p>
            <a:r>
              <a:rPr lang="en-US" altLang="en-US" sz="2000">
                <a:latin typeface="Arial Bold" panose="020B0604020202090204" charset="0"/>
                <a:cs typeface="Arial Bold" panose="020B0604020202090204" charset="0"/>
              </a:rPr>
              <a:t>Check status.</a:t>
            </a:r>
            <a:endParaRPr lang="en-US" altLang="en-US" sz="2000">
              <a:latin typeface="Arial Bold" panose="020B0604020202090204" charset="0"/>
              <a:cs typeface="Arial Bold" panose="020B0604020202090204" charset="0"/>
            </a:endParaRPr>
          </a:p>
          <a:p>
            <a:r>
              <a:rPr lang="en-US" altLang="en-US" sz="2000">
                <a:latin typeface="Arial Bold" panose="020B0604020202090204" charset="0"/>
                <a:cs typeface="Arial Bold" panose="020B0604020202090204" charset="0"/>
              </a:rPr>
              <a:t>Try to Switch Branches( create a new branch and checkout).</a:t>
            </a:r>
            <a:endParaRPr lang="en-US" altLang="en-US" sz="2000">
              <a:latin typeface="Arial Bold" panose="020B0604020202090204" charset="0"/>
              <a:cs typeface="Arial Bold" panose="020B0604020202090204" charset="0"/>
            </a:endParaRPr>
          </a:p>
          <a:p>
            <a:r>
              <a:rPr lang="en-US" altLang="en-US" sz="2000">
                <a:latin typeface="Arial Bold" panose="020B0604020202090204" charset="0"/>
                <a:cs typeface="Arial Bold" panose="020B0604020202090204" charset="0"/>
              </a:rPr>
              <a:t>Stash the Changes.</a:t>
            </a:r>
            <a:endParaRPr lang="en-US" altLang="en-US" sz="2000">
              <a:latin typeface="Arial Bold" panose="020B0604020202090204" charset="0"/>
              <a:cs typeface="Arial Bold" panose="020B0604020202090204" charset="0"/>
            </a:endParaRPr>
          </a:p>
          <a:p>
            <a:r>
              <a:rPr lang="en-US" altLang="en-US" sz="2000">
                <a:latin typeface="Arial Bold" panose="020B0604020202090204" charset="0"/>
                <a:cs typeface="Arial Bold" panose="020B0604020202090204" charset="0"/>
              </a:rPr>
              <a:t>Now check status.(Your changes are saved safely in the stash)</a:t>
            </a:r>
            <a:endParaRPr lang="en-US" altLang="en-US" sz="2000">
              <a:latin typeface="Arial Bold" panose="020B0604020202090204" charset="0"/>
              <a:cs typeface="Arial Bold" panose="020B0604020202090204" charset="0"/>
            </a:endParaRPr>
          </a:p>
          <a:p>
            <a:r>
              <a:rPr lang="en-US" altLang="en-US" sz="2000">
                <a:latin typeface="Arial Bold" panose="020B0604020202090204" charset="0"/>
                <a:cs typeface="Arial Bold" panose="020B0604020202090204" charset="0"/>
              </a:rPr>
              <a:t>Switch Branches and Do Other Work(create a new file and commit changes).</a:t>
            </a:r>
            <a:endParaRPr lang="en-US" altLang="en-US" sz="2000">
              <a:latin typeface="Arial Bold" panose="020B0604020202090204" charset="0"/>
              <a:cs typeface="Arial Bold" panose="020B0604020202090204" charset="0"/>
            </a:endParaRPr>
          </a:p>
          <a:p>
            <a:r>
              <a:rPr lang="en-US" altLang="en-US" sz="2000">
                <a:latin typeface="Arial Bold" panose="020B0604020202090204" charset="0"/>
                <a:cs typeface="Arial Bold" panose="020B0604020202090204" charset="0"/>
              </a:rPr>
              <a:t>Go Back and Restore Stash.</a:t>
            </a:r>
            <a:endParaRPr lang="en-US" altLang="en-US" sz="2000">
              <a:latin typeface="Arial Bold" panose="020B0604020202090204" charset="0"/>
              <a:cs typeface="Arial Bold" panose="020B0604020202090204" charset="0"/>
            </a:endParaRPr>
          </a:p>
          <a:p>
            <a:endParaRPr lang="en-US" altLang="en-US" sz="1800">
              <a:latin typeface="Arial Bold" panose="020B0604020202090204" charset="0"/>
              <a:cs typeface="Arial Bold" panose="020B0604020202090204" charset="0"/>
            </a:endParaRPr>
          </a:p>
          <a:p>
            <a:endParaRPr lang="en-US" altLang="en-US" sz="1800">
              <a:latin typeface="Arial Bold" panose="020B0604020202090204" charset="0"/>
              <a:cs typeface="Arial Bold" panose="020B0604020202090204" charset="0"/>
            </a:endParaRPr>
          </a:p>
          <a:p>
            <a:endParaRPr lang="en-US" altLang="en-US">
              <a:latin typeface="Arial Bold" panose="020B0604020202090204" charset="0"/>
              <a:cs typeface="Arial Bold" panose="020B0604020202090204" charset="0"/>
            </a:endParaRPr>
          </a:p>
          <a:p>
            <a:endParaRPr lang="en-US" altLang="en-US">
              <a:latin typeface="Arial Bold" panose="020B0604020202090204" charset="0"/>
              <a:cs typeface="Arial Bold" panose="020B0604020202090204" charset="0"/>
            </a:endParaRPr>
          </a:p>
          <a:p>
            <a:endParaRPr lang="en-US" altLang="en-US">
              <a:latin typeface="Arial Bold" panose="020B0604020202090204" charset="0"/>
              <a:cs typeface="Arial Bold" panose="020B0604020202090204" charset="0"/>
            </a:endParaRPr>
          </a:p>
          <a:p>
            <a:endParaRPr lang="en-US" altLang="en-US">
              <a:latin typeface="Arial Bold" panose="020B0604020202090204" charset="0"/>
              <a:cs typeface="Arial Bold" panose="020B060402020209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14646</Words>
  <Application>WPS Presentation</Application>
  <PresentationFormat>Widescreen</PresentationFormat>
  <Paragraphs>368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2" baseType="lpstr">
      <vt:lpstr>Arial</vt:lpstr>
      <vt:lpstr>SimSun</vt:lpstr>
      <vt:lpstr>Wingdings</vt:lpstr>
      <vt:lpstr>Calibri Light</vt:lpstr>
      <vt:lpstr>Helvetica Neue</vt:lpstr>
      <vt:lpstr>Calibri</vt:lpstr>
      <vt:lpstr>Microsoft YaHei</vt:lpstr>
      <vt:lpstr>汉仪旗黑</vt:lpstr>
      <vt:lpstr>Arial Unicode MS</vt:lpstr>
      <vt:lpstr>宋体-简</vt:lpstr>
      <vt:lpstr>Arial Bold</vt:lpstr>
      <vt:lpstr>Office Theme</vt:lpstr>
      <vt:lpstr>Unit 4 Advanced Git</vt:lpstr>
      <vt:lpstr>Unit 4 Topics</vt:lpstr>
      <vt:lpstr>Source Code Management with git </vt:lpstr>
      <vt:lpstr>PowerPoint 演示文稿</vt:lpstr>
      <vt:lpstr>Types of Source Code Management:</vt:lpstr>
      <vt:lpstr>PowerPoint 演示文稿</vt:lpstr>
      <vt:lpstr>Source code management best practices</vt:lpstr>
      <vt:lpstr>PowerPoint 演示文稿</vt:lpstr>
      <vt:lpstr>Branching and Merging </vt:lpstr>
      <vt:lpstr>Different Operations On Branches</vt:lpstr>
      <vt:lpstr>PowerPoint 演示文稿</vt:lpstr>
      <vt:lpstr>PowerPoint 演示文稿</vt:lpstr>
      <vt:lpstr>Deletion of branches</vt:lpstr>
      <vt:lpstr>Delete A Remote Branch</vt:lpstr>
      <vt:lpstr>Practice Excercise: </vt:lpstr>
      <vt:lpstr>Merge Branches</vt:lpstr>
      <vt:lpstr>How to merge branch in Git to another branch?</vt:lpstr>
      <vt:lpstr>Comparison Commands </vt:lpstr>
      <vt:lpstr>PowerPoint 演示文稿</vt:lpstr>
      <vt:lpstr>Git tagging </vt:lpstr>
      <vt:lpstr>PowerPoint 演示文稿</vt:lpstr>
      <vt:lpstr>Git supports two different types of tags,</vt:lpstr>
      <vt:lpstr>Annotated tags</vt:lpstr>
      <vt:lpstr>Command for annotated tags</vt:lpstr>
      <vt:lpstr>Lightweight tags</vt:lpstr>
      <vt:lpstr>Tagging old/Specific commits</vt:lpstr>
      <vt:lpstr>Retagging/Replacing old tags</vt:lpstr>
      <vt:lpstr>Rebasing</vt:lpstr>
      <vt:lpstr>PowerPoint 演示文稿</vt:lpstr>
      <vt:lpstr>Rebasing </vt:lpstr>
      <vt:lpstr>PowerPoint 演示文稿</vt:lpstr>
      <vt:lpstr>Standard</vt:lpstr>
      <vt:lpstr>Interactive Rebasing</vt:lpstr>
      <vt:lpstr>PowerPoint 演示文稿</vt:lpstr>
      <vt:lpstr>Task </vt:lpstr>
      <vt:lpstr>	Git Stashing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Advanced Git</dc:title>
  <dc:creator>divya</dc:creator>
  <cp:lastModifiedBy>divya thakur</cp:lastModifiedBy>
  <cp:revision>75</cp:revision>
  <dcterms:created xsi:type="dcterms:W3CDTF">2025-07-10T05:31:32Z</dcterms:created>
  <dcterms:modified xsi:type="dcterms:W3CDTF">2025-07-10T05:31:32Z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1033-6.15.0.8733</vt:lpwstr>
  </property>
  <property fmtid="{D5CDD505-2E9C-101B-9397-08002B2CF9AE}" pid="3" name="ICV">
    <vt:lpwstr>035413B0DCA1EA2A554C6F68A0041189_42</vt:lpwstr>
  </property>
</Properties>
</file>